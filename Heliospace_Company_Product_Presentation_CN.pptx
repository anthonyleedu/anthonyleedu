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media/image-1-1.jpg" ContentType="image/jpg"/>
  <Override PartName="/ppt/media/image-10-1.jpg" ContentType="image/jpg"/>
  <Override PartName="/ppt/media/image-10-2.jpg" ContentType="image/jpg"/>
  <Override PartName="/ppt/media/image-10-3.jpg" ContentType="image/jpg"/>
  <Override PartName="/ppt/media/image-10-4.jpg" ContentType="image/jpg"/>
  <Override PartName="/ppt/media/image-10-5.jpg" ContentType="image/jpg"/>
  <Override PartName="/ppt/media/image-10-6.jpg" ContentType="image/jpg"/>
  <Override PartName="/ppt/media/image-11-1.jpg" ContentType="image/jpg"/>
  <Override PartName="/ppt/media/image-12-1.jpg" ContentType="image/jpg"/>
  <Override PartName="/ppt/media/image-13-1.jpg" ContentType="image/jpg"/>
  <Override PartName="/ppt/media/image-13-2.jpg" ContentType="image/jpg"/>
  <Override PartName="/ppt/media/image-14-1.jpg" ContentType="image/jpg"/>
  <Override PartName="/ppt/media/image-16-1.jpg" ContentType="image/jpg"/>
  <Override PartName="/ppt/media/image-2-1.jpg" ContentType="image/jpg"/>
  <Override PartName="/ppt/media/image-2-2.jpg" ContentType="image/jpg"/>
  <Override PartName="/ppt/media/image-3-1.jpg" ContentType="image/jpg"/>
  <Override PartName="/ppt/media/image-3-2.jpg" ContentType="image/jpg"/>
  <Override PartName="/ppt/media/image-3-3.jpg" ContentType="image/jpg"/>
  <Override PartName="/ppt/media/image-3-4.jpg" ContentType="image/jpg"/>
  <Override PartName="/ppt/media/image-4-1.jpg" ContentType="image/jpg"/>
  <Override PartName="/ppt/media/image-4-2.jpg" ContentType="image/jpg"/>
  <Override PartName="/ppt/media/image-4-3.jpg" ContentType="image/jpg"/>
  <Override PartName="/ppt/media/image-4-4.jpg" ContentType="image/jpg"/>
  <Override PartName="/ppt/media/image-4-5.jpg" ContentType="image/jpg"/>
  <Override PartName="/ppt/media/image-4-6.jpg" ContentType="image/jpg"/>
  <Override PartName="/ppt/media/image-4-7.jpg" ContentType="image/jpg"/>
  <Override PartName="/ppt/media/image-5-1.jpg" ContentType="image/jpg"/>
  <Override PartName="/ppt/media/image-5-2.jpg" ContentType="image/jpg"/>
  <Override PartName="/ppt/media/image-5-3.jpg" ContentType="image/jpg"/>
  <Override PartName="/ppt/media/image-5-4.jpg" ContentType="image/jpg"/>
  <Override PartName="/ppt/media/image-6-1.jpg" ContentType="image/jpg"/>
  <Override PartName="/ppt/media/image-6-2.jpg" ContentType="image/jpg"/>
  <Override PartName="/ppt/media/image-6-3.jpg" ContentType="image/jpg"/>
  <Override PartName="/ppt/media/image-7-1.jpg" ContentType="image/jpg"/>
  <Override PartName="/ppt/media/image-7-2.jpg" ContentType="image/jpg"/>
  <Override PartName="/ppt/media/image-7-3.jpg" ContentType="image/jpg"/>
  <Override PartName="/ppt/media/image-8-1.jpg" ContentType="image/jpg"/>
  <Override PartName="/ppt/media/image-8-2.jpg" ContentType="image/jpg"/>
  <Override PartName="/ppt/media/image-9-1.jpg" ContentType="image/jpg"/>
  <Override PartName="/ppt/media/image-9-2.jpg" ContentType="image/jpg"/>
  <Override PartName="/ppt/media/image-9-3.jpg" ContentType="image/jpg"/>
  <Override PartName="/ppt/media/image-9-4.jpg" ContentType="image/jpg"/>
  <Override PartName="/ppt/media/image-9-5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2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电力能源市场</c:v>
                </c:pt>
              </c:strCache>
            </c:strRef>
          </c:tx>
          <c:spPr>
            <a:solidFill>
              <a:srgbClr val="007BCB"/>
            </a:solidFill>
            <a:effectLst/>
          </c:spPr>
          <c:invertIfNegative val="0"/>
          <c:dLbls>
            <c:numFmt formatCode="&quot;$&quot;0&quot;T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0222F"/>
                    </a:solidFill>
                    <a:latin typeface="Garamon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2025</c:v>
                </c:pt>
                <c:pt idx="1">
                  <c:v>2035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4</c:v>
                </c:pt>
              </c:numCache>
            </c:numRef>
          </c:val>
        </c:ser>
        <c:dLbls>
          <c:numFmt formatCode="&quot;$&quot;0&quot;T&quot;" sourceLinked="0"/>
          <c:txPr>
            <a:bodyPr/>
            <a:lstStyle/>
            <a:p>
              <a:pPr>
                <a:defRPr b="1" i="0" strike="noStrike" sz="1100" u="none">
                  <a:solidFill>
                    <a:srgbClr val="10222F"/>
                  </a:solidFill>
                  <a:latin typeface="Garamond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5C6B76"/>
                </a:solidFill>
                <a:latin typeface="Garamon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image" Target="../media/image-3-3.jpg"/><Relationship Id="rId4" Type="http://schemas.openxmlformats.org/officeDocument/2006/relationships/image" Target="../media/image-3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image" Target="../media/image-4-3.jpg"/><Relationship Id="rId4" Type="http://schemas.openxmlformats.org/officeDocument/2006/relationships/image" Target="../media/image-4-4.jpg"/><Relationship Id="rId5" Type="http://schemas.openxmlformats.org/officeDocument/2006/relationships/image" Target="../media/image-4-5.jpg"/><Relationship Id="rId6" Type="http://schemas.openxmlformats.org/officeDocument/2006/relationships/image" Target="../media/image-4-6.jpg"/><Relationship Id="rId7" Type="http://schemas.openxmlformats.org/officeDocument/2006/relationships/image" Target="../media/image-4-7.jp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image" Target="../media/image-5-3.jpg"/><Relationship Id="rId4" Type="http://schemas.openxmlformats.org/officeDocument/2006/relationships/image" Target="../media/image-5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image" Target="../media/image-6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image" Target="../media/image-7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image" Target="../media/image-9-3.jpg"/><Relationship Id="rId4" Type="http://schemas.openxmlformats.org/officeDocument/2006/relationships/image" Target="../media/image-9-4.jpg"/><Relationship Id="rId5" Type="http://schemas.openxmlformats.org/officeDocument/2006/relationships/image" Target="../media/image-9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image" Target="../media/image-10-3.jpg"/><Relationship Id="rId4" Type="http://schemas.openxmlformats.org/officeDocument/2006/relationships/image" Target="../media/image-10-4.jpg"/><Relationship Id="rId5" Type="http://schemas.openxmlformats.org/officeDocument/2006/relationships/image" Target="../media/image-10-5.jpg"/><Relationship Id="rId6" Type="http://schemas.openxmlformats.org/officeDocument/2006/relationships/image" Target="../media/image-10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chart" Target="../charts/chart1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7" Type="http://schemas.openxmlformats.org/officeDocument/2006/relationships/image" Target="../media/image3.png"/><Relationship Id="rId8" Type="http://schemas.openxmlformats.org/officeDocument/2006/relationships/image" Target="../media/image4.png"/><Relationship Id="rId9" Type="http://schemas.openxmlformats.org/officeDocument/2006/relationships/image" Target="../media/image5.png"/><Relationship Id="rId10" Type="http://schemas.openxmlformats.org/officeDocument/2006/relationships/image" Target="../media/image6.png"/><Relationship Id="rId11" Type="http://schemas.openxmlformats.org/officeDocument/2006/relationships/image" Target="../media/image7.png"/><Relationship Id="rId12" Type="http://schemas.openxmlformats.org/officeDocument/2006/relationships/image" Target="../media/image8.png"/><Relationship Id="rId13" Type="http://schemas.openxmlformats.org/officeDocument/2006/relationships/image" Target="../media/image9.png"/><Relationship Id="rId14" Type="http://schemas.openxmlformats.org/officeDocument/2006/relationships/image" Target="../media/image-1-1.jpg"/><Relationship Id="rId15" Type="http://schemas.openxmlformats.org/officeDocument/2006/relationships/image" Target="../media/image-2-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14-1.jpg"/><Relationship Id="rId3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title_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assets/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685800"/>
            <a:ext cx="2514600" cy="7040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22960" y="2606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50" kern="0" dirty="0">
                <a:solidFill>
                  <a:srgbClr val="6FBCE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公司与产品介绍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822960" y="292608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Heliospace Corporation</a:t>
            </a:r>
            <a:endParaRPr lang="en-US" sz="4600" dirty="0"/>
          </a:p>
        </p:txBody>
      </p:sp>
      <p:sp>
        <p:nvSpPr>
          <p:cNvPr id="6" name="Text 2"/>
          <p:cNvSpPr/>
          <p:nvPr/>
        </p:nvSpPr>
        <p:spPr>
          <a:xfrm>
            <a:off x="822960" y="388620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CE8F1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经飞行验证的可展开天线、伸杆与机构，服务不断扩展的太空经济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822960" y="4846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50" kern="0" dirty="0">
                <a:solidFill>
                  <a:srgbClr val="9FC5D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新太空愿景   ×   真实太空经验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822960" y="6172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C7D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2026年8月    |    加利福尼亚州伯克利    |    专有保密信息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BC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公司概览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713232"/>
            <a:ext cx="8961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22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Heliospace一览</a:t>
            </a:r>
            <a:endParaRPr lang="en-US" sz="2900" dirty="0"/>
          </a:p>
        </p:txBody>
      </p:sp>
      <p:pic>
        <p:nvPicPr>
          <p:cNvPr id="4" name="Image 0" descr="assets/logo_dar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0" y="475488"/>
            <a:ext cx="1325880" cy="37216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6492240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7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Heliospace Corporation   |   专有保密信息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064240" y="6492240"/>
            <a:ext cx="320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B7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2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822960" y="1417320"/>
            <a:ext cx="5440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E2A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Helio正在开创一类全新的能源基础设施：天基电力系统，又称“太空发电站”，在地球大气层之外采集太阳能，并安全、高效地传输至地面。我们的愿景是将轨道能源平台打造为全球电网的基础层，规模化提供不间断、无碳电力，重塑各国为城市、工业与关键系统供电的方式。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22960" y="3310128"/>
            <a:ext cx="5440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E2A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自2018年成立以来，Helio专注于交付尖端航天硬件、系统工程与任务服务。从小型项目到旗舰太空任务，我们支持NASA、私营企业、大学及全球航天机构在太空取得成功。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537960" y="4846320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7BC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40+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6537960" y="528523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7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已支持的航天飞行任务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9052560" y="4846320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7BC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125+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9052560" y="528523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7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已研制的仪器与系统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537960" y="5623560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7BC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30+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6537960" y="606247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7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团队工程师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9052560" y="5623560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7BC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$50M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9052560" y="606247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7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营业收入，2018至2025年</a:t>
            </a:r>
            <a:endParaRPr lang="en-US" sz="1050" dirty="0"/>
          </a:p>
        </p:txBody>
      </p:sp>
      <p:pic>
        <p:nvPicPr>
          <p:cNvPr id="17" name="Image 1" descr="assets/s2_her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8020" y="1417320"/>
            <a:ext cx="3867912" cy="2886282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7018020" y="1417320"/>
            <a:ext cx="3867912" cy="2886282"/>
          </a:xfrm>
          <a:prstGeom prst="rect">
            <a:avLst/>
          </a:prstGeom>
          <a:ln w="12700">
            <a:solidFill>
              <a:srgbClr val="C6D2DA"/>
            </a:solidFill>
            <a:prstDash val="solid"/>
          </a:ln>
        </p:spPr>
        <p:txBody>
          <a:bodyPr/>
          <a:p/>
        </p:txBody>
      </p:sp>
      <p:sp>
        <p:nvSpPr>
          <p:cNvPr id="19" name="Text 15"/>
          <p:cNvSpPr/>
          <p:nvPr/>
        </p:nvSpPr>
        <p:spPr>
          <a:xfrm>
            <a:off x="6537960" y="4370832"/>
            <a:ext cx="4828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B7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欧罗巴快船搭载Heliospace研制的REASON雷达天线展开示意。图片来源：NASA。</a:t>
            </a:r>
            <a:endParaRPr lang="en-US" sz="950" dirty="0"/>
          </a:p>
        </p:txBody>
      </p:sp>
      <p:sp>
        <p:nvSpPr>
          <p:cNvPr id="20" name="Text 5"/>
          <p:cNvSpPr/>
          <p:nvPr/>
        </p:nvSpPr>
        <p:spPr>
          <a:xfrm>
            <a:off x="822960" y="4553712"/>
            <a:ext cx="54406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E2A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我们自豪地成为全球十余家航天机构、组织与企业的可信赖合作伙伴。我们的产品已在从太阳到木星的广阔空间运行。从NASA与欧洲航天局，到新兴民营航天企业与学术机构，我们与太空产业中最具创新力与前瞻性的伙伴携手合作。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BC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能力体系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713232"/>
            <a:ext cx="8961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22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我们的业务</a:t>
            </a:r>
            <a:endParaRPr lang="en-US" sz="2900" dirty="0"/>
          </a:p>
        </p:txBody>
      </p:sp>
      <p:pic>
        <p:nvPicPr>
          <p:cNvPr id="4" name="Image 0" descr="assets/logo_dar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0" y="475488"/>
            <a:ext cx="1325880" cy="37216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6492240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7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Heliospace Corporation   |   专有保密信息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064240" y="6492240"/>
            <a:ext cx="320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B7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3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822960" y="135331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五大产品与收入领域，依托伯克利同一生产基地与质量体系，覆盖从初始设计到在轨运行的全流程。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822960" y="1874519"/>
            <a:ext cx="3392424" cy="2057400"/>
          </a:xfrm>
          <a:prstGeom prst="roundRect">
            <a:avLst>
              <a:gd name="adj" fmla="val 1724"/>
            </a:avLst>
          </a:prstGeom>
          <a:solidFill>
            <a:srgbClr val="F3F7FA"/>
          </a:solidFill>
          <a:ln/>
        </p:spPr>
        <p:txBody>
          <a:bodyPr/>
          <a:p/>
        </p:txBody>
      </p:sp>
      <p:sp>
        <p:nvSpPr>
          <p:cNvPr id="9" name="Text 12"/>
          <p:cNvSpPr/>
          <p:nvPr/>
        </p:nvSpPr>
        <p:spPr>
          <a:xfrm>
            <a:off x="987552" y="2020823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22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航天级合格硬件</a:t>
            </a:r>
            <a:endParaRPr lang="en-US" sz="1550" dirty="0"/>
          </a:p>
        </p:txBody>
      </p:sp>
      <p:sp>
        <p:nvSpPr>
          <p:cNvPr id="10" name="Text 13"/>
          <p:cNvSpPr/>
          <p:nvPr/>
        </p:nvSpPr>
        <p:spPr>
          <a:xfrm>
            <a:off x="987552" y="2660903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A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可展开天线</a:t>
            </a:r>
            <a:endParaRPr lang="en-US" sz="1100" dirty="0"/>
          </a:p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A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传感器与科学仪器</a:t>
            </a:r>
            <a:endParaRPr lang="en-US" sz="1100" dirty="0"/>
          </a:p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A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航天器机械系统与结构</a:t>
            </a:r>
            <a:endParaRPr lang="en-US" sz="1100" dirty="0"/>
          </a:p>
        </p:txBody>
      </p:sp>
      <p:sp>
        <p:nvSpPr>
          <p:cNvPr id="11" name="Shape 4"/>
          <p:cNvSpPr/>
          <p:nvPr/>
        </p:nvSpPr>
        <p:spPr>
          <a:xfrm>
            <a:off x="4398264" y="1874519"/>
            <a:ext cx="3392424" cy="2057400"/>
          </a:xfrm>
          <a:prstGeom prst="roundRect">
            <a:avLst>
              <a:gd name="adj" fmla="val 1724"/>
            </a:avLst>
          </a:prstGeom>
          <a:solidFill>
            <a:srgbClr val="F3F7FA"/>
          </a:solidFill>
          <a:ln/>
        </p:spPr>
        <p:txBody>
          <a:bodyPr/>
          <a:p/>
        </p:txBody>
      </p:sp>
      <p:sp>
        <p:nvSpPr>
          <p:cNvPr id="12" name="Text 12"/>
          <p:cNvSpPr/>
          <p:nvPr/>
        </p:nvSpPr>
        <p:spPr>
          <a:xfrm>
            <a:off x="4562856" y="2020823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22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任务系统与工程服务</a:t>
            </a:r>
            <a:endParaRPr lang="en-US" sz="1550" dirty="0"/>
          </a:p>
        </p:txBody>
      </p:sp>
      <p:sp>
        <p:nvSpPr>
          <p:cNvPr id="13" name="Text 13"/>
          <p:cNvSpPr/>
          <p:nvPr/>
        </p:nvSpPr>
        <p:spPr>
          <a:xfrm>
            <a:off x="4562856" y="2660903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A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航天器系统设计</a:t>
            </a:r>
            <a:endParaRPr lang="en-US" sz="1100" dirty="0"/>
          </a:p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A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集成与测试</a:t>
            </a:r>
            <a:endParaRPr lang="en-US" sz="1100" dirty="0"/>
          </a:p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A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面向政府与商业太空任务的工程支持</a:t>
            </a:r>
            <a:endParaRPr lang="en-US" sz="1100" dirty="0"/>
          </a:p>
        </p:txBody>
      </p:sp>
      <p:sp>
        <p:nvSpPr>
          <p:cNvPr id="14" name="Shape 4"/>
          <p:cNvSpPr/>
          <p:nvPr/>
        </p:nvSpPr>
        <p:spPr>
          <a:xfrm>
            <a:off x="7973568" y="1874519"/>
            <a:ext cx="3392424" cy="2057400"/>
          </a:xfrm>
          <a:prstGeom prst="roundRect">
            <a:avLst>
              <a:gd name="adj" fmla="val 1724"/>
            </a:avLst>
          </a:prstGeom>
          <a:solidFill>
            <a:srgbClr val="F3F7FA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8138160" y="2020823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22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可展开太空系统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8138160" y="2660903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A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大型可展开天线</a:t>
            </a:r>
            <a:endParaRPr lang="en-US" sz="1100" dirty="0"/>
          </a:p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A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太阳电池阵及其他可展开结构</a:t>
            </a:r>
            <a:endParaRPr lang="en-US" sz="1100" dirty="0"/>
          </a:p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A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卫星、月球与深空任务用组件</a:t>
            </a:r>
            <a:endParaRPr lang="en-US" sz="1100" dirty="0"/>
          </a:p>
        </p:txBody>
      </p:sp>
      <p:sp>
        <p:nvSpPr>
          <p:cNvPr id="17" name="Shape 4"/>
          <p:cNvSpPr/>
          <p:nvPr/>
        </p:nvSpPr>
        <p:spPr>
          <a:xfrm>
            <a:off x="822960" y="4114800"/>
            <a:ext cx="5175504" cy="2057400"/>
          </a:xfrm>
          <a:prstGeom prst="roundRect">
            <a:avLst>
              <a:gd name="adj" fmla="val 1724"/>
            </a:avLst>
          </a:prstGeom>
          <a:solidFill>
            <a:srgbClr val="F3F7FA"/>
          </a:solidFill>
          <a:ln/>
        </p:spPr>
        <p:txBody>
          <a:bodyPr/>
          <a:p/>
        </p:txBody>
      </p:sp>
      <p:sp>
        <p:nvSpPr>
          <p:cNvPr id="18" name="Text 12"/>
          <p:cNvSpPr/>
          <p:nvPr/>
        </p:nvSpPr>
        <p:spPr>
          <a:xfrm>
            <a:off x="987552" y="4261104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22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天基太阳能发电技术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987552" y="4901184"/>
            <a:ext cx="4846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A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轨道太阳能发电平台，即太空发电站</a:t>
            </a:r>
            <a:endParaRPr lang="en-US" sz="1100" dirty="0"/>
          </a:p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A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旨在将轨道太阳能无线传输至地球的能量传输系统</a:t>
            </a:r>
            <a:endParaRPr lang="en-US" sz="1100" dirty="0"/>
          </a:p>
        </p:txBody>
      </p:sp>
      <p:sp>
        <p:nvSpPr>
          <p:cNvPr id="20" name="Shape 4"/>
          <p:cNvSpPr/>
          <p:nvPr/>
        </p:nvSpPr>
        <p:spPr>
          <a:xfrm>
            <a:off x="6190488" y="4114800"/>
            <a:ext cx="5175504" cy="2057400"/>
          </a:xfrm>
          <a:prstGeom prst="roundRect">
            <a:avLst>
              <a:gd name="adj" fmla="val 1724"/>
            </a:avLst>
          </a:prstGeom>
          <a:solidFill>
            <a:srgbClr val="F3F7FA"/>
          </a:solidFill>
          <a:ln/>
        </p:spPr>
        <p:txBody>
          <a:bodyPr/>
          <a:p/>
        </p:txBody>
      </p:sp>
      <p:sp>
        <p:nvSpPr>
          <p:cNvPr id="21" name="Text 12"/>
          <p:cNvSpPr/>
          <p:nvPr/>
        </p:nvSpPr>
        <p:spPr>
          <a:xfrm>
            <a:off x="6355080" y="4261104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22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未来制造与许可授权</a:t>
            </a:r>
            <a:endParaRPr lang="en-US" sz="1550" dirty="0"/>
          </a:p>
        </p:txBody>
      </p:sp>
      <p:sp>
        <p:nvSpPr>
          <p:cNvPr id="22" name="Text 13"/>
          <p:cNvSpPr/>
          <p:nvPr/>
        </p:nvSpPr>
        <p:spPr>
          <a:xfrm>
            <a:off x="6355080" y="4901184"/>
            <a:ext cx="4846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A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航天级硬件的规模化量产</a:t>
            </a:r>
            <a:endParaRPr lang="en-US" sz="1100" dirty="0"/>
          </a:p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A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专有太空技术的许可授权</a:t>
            </a:r>
            <a:endParaRPr lang="en-US" sz="1100" dirty="0"/>
          </a:p>
        </p:txBody>
      </p:sp>
      <p:sp>
        <p:nvSpPr>
          <p:cNvPr id="23" name="Text 5"/>
          <p:cNvSpPr/>
          <p:nvPr/>
        </p:nvSpPr>
        <p:spPr>
          <a:xfrm>
            <a:off x="822960" y="6254496"/>
            <a:ext cx="10543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B7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飞行遗产示例：NASA欧罗巴快船等任务硬件、詹姆斯·韦伯太空望远镜项目支持、太阳科学任务以及月球相关系统。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BC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飞行遗产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713232"/>
            <a:ext cx="8961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22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从木星、太阳到月球</a:t>
            </a:r>
            <a:endParaRPr lang="en-US" sz="2900" dirty="0"/>
          </a:p>
        </p:txBody>
      </p:sp>
      <p:pic>
        <p:nvPicPr>
          <p:cNvPr id="4" name="Image 0" descr="assets/logo_dar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0" y="475488"/>
            <a:ext cx="1325880" cy="37216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6492240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7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Heliospace Corporation   |   专有保密信息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064240" y="6492240"/>
            <a:ext cx="320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B7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4</a:t>
            </a:r>
            <a:endParaRPr lang="en-US" sz="850" dirty="0"/>
          </a:p>
        </p:txBody>
      </p:sp>
      <p:pic>
        <p:nvPicPr>
          <p:cNvPr id="7" name="Image 1" descr="assets/s4_europa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17320"/>
            <a:ext cx="3419856" cy="176479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22960" y="1417320"/>
            <a:ext cx="3419856" cy="1764792"/>
          </a:xfrm>
          <a:prstGeom prst="rect">
            <a:avLst/>
          </a:prstGeom>
          <a:ln w="12700">
            <a:solidFill>
              <a:srgbClr val="C6D2DA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822960" y="3246120"/>
            <a:ext cx="3419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222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欧罗巴快船，REASON（NASA/JPL）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822960" y="3474720"/>
            <a:ext cx="3419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6B7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两副17.6米雷达偶极天线，已展开并在前往欧罗巴途中正常工作。</a:t>
            </a:r>
            <a:endParaRPr lang="en-US" sz="950" dirty="0"/>
          </a:p>
        </p:txBody>
      </p:sp>
      <p:pic>
        <p:nvPicPr>
          <p:cNvPr id="11" name="Image 2" descr="assets/s4_solo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832" y="1417320"/>
            <a:ext cx="3419856" cy="1764792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4370832" y="1417320"/>
            <a:ext cx="3419856" cy="1764792"/>
          </a:xfrm>
          <a:prstGeom prst="rect">
            <a:avLst/>
          </a:prstGeom>
          <a:ln w="12700">
            <a:solidFill>
              <a:srgbClr val="C6D2DA"/>
            </a:solidFill>
            <a:prstDash val="solid"/>
          </a:ln>
        </p:spPr>
        <p:txBody>
          <a:bodyPr/>
          <a:p/>
        </p:txBody>
      </p:sp>
      <p:sp>
        <p:nvSpPr>
          <p:cNvPr id="13" name="Text 8"/>
          <p:cNvSpPr/>
          <p:nvPr/>
        </p:nvSpPr>
        <p:spPr>
          <a:xfrm>
            <a:off x="4370832" y="3246120"/>
            <a:ext cx="3419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222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太阳轨道器，RPW（ESA）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4370832" y="3474720"/>
            <a:ext cx="3419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6B7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三副6.5米天线在近太阳环境中标称运行。</a:t>
            </a:r>
            <a:endParaRPr lang="en-US" sz="950" dirty="0"/>
          </a:p>
        </p:txBody>
      </p:sp>
      <p:pic>
        <p:nvPicPr>
          <p:cNvPr id="15" name="Image 3" descr="assets/s4_sunrise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8704" y="1417320"/>
            <a:ext cx="3419856" cy="1764792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7918704" y="1417320"/>
            <a:ext cx="3419856" cy="1764792"/>
          </a:xfrm>
          <a:prstGeom prst="rect">
            <a:avLst/>
          </a:prstGeom>
          <a:ln w="12700">
            <a:solidFill>
              <a:srgbClr val="C6D2DA"/>
            </a:solidFill>
            <a:prstDash val="solid"/>
          </a:ln>
        </p:spPr>
        <p:txBody>
          <a:bodyPr/>
          <a:p/>
        </p:txBody>
      </p:sp>
      <p:sp>
        <p:nvSpPr>
          <p:cNvPr id="17" name="Text 11"/>
          <p:cNvSpPr/>
          <p:nvPr/>
        </p:nvSpPr>
        <p:spPr>
          <a:xfrm>
            <a:off x="7918704" y="3246120"/>
            <a:ext cx="3419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222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SunRISE（NASA/JPL）</a:t>
            </a:r>
            <a:endParaRPr lang="en-US" sz="1150" dirty="0"/>
          </a:p>
        </p:txBody>
      </p:sp>
      <p:sp>
        <p:nvSpPr>
          <p:cNvPr id="18" name="Text 12"/>
          <p:cNvSpPr/>
          <p:nvPr/>
        </p:nvSpPr>
        <p:spPr>
          <a:xfrm>
            <a:off x="7918704" y="3474720"/>
            <a:ext cx="3419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6B7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交付28根兼容立方星的单极天线，达到批产规模。</a:t>
            </a:r>
            <a:endParaRPr lang="en-US" sz="950" dirty="0"/>
          </a:p>
        </p:txBody>
      </p:sp>
      <p:pic>
        <p:nvPicPr>
          <p:cNvPr id="19" name="Image 4" descr="assets/s4_jwst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941064"/>
            <a:ext cx="3419856" cy="1764792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822960" y="3941064"/>
            <a:ext cx="3419856" cy="1764792"/>
          </a:xfrm>
          <a:prstGeom prst="rect">
            <a:avLst/>
          </a:prstGeom>
          <a:ln w="12700">
            <a:solidFill>
              <a:srgbClr val="C6D2DA"/>
            </a:solidFill>
            <a:prstDash val="solid"/>
          </a:ln>
        </p:spPr>
        <p:txBody>
          <a:bodyPr/>
          <a:p/>
        </p:txBody>
      </p:sp>
      <p:sp>
        <p:nvSpPr>
          <p:cNvPr id="21" name="Text 14"/>
          <p:cNvSpPr/>
          <p:nvPr/>
        </p:nvSpPr>
        <p:spPr>
          <a:xfrm>
            <a:off x="822960" y="5769864"/>
            <a:ext cx="3419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222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詹姆斯·韦伯太空望远镜</a:t>
            </a:r>
            <a:endParaRPr lang="en-US" sz="1150" dirty="0"/>
          </a:p>
        </p:txBody>
      </p:sp>
      <p:sp>
        <p:nvSpPr>
          <p:cNvPr id="22" name="Text 15"/>
          <p:cNvSpPr/>
          <p:nvPr/>
        </p:nvSpPr>
        <p:spPr>
          <a:xfrm>
            <a:off x="822960" y="5998464"/>
            <a:ext cx="3419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6B7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提供系统工程、集成与测试支持，直至在轨调试完成。</a:t>
            </a:r>
            <a:endParaRPr lang="en-US" sz="950" dirty="0"/>
          </a:p>
        </p:txBody>
      </p:sp>
      <p:pic>
        <p:nvPicPr>
          <p:cNvPr id="23" name="Image 5" descr="assets/s4_bg1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70832" y="3941064"/>
            <a:ext cx="3419856" cy="1764792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4370832" y="3941064"/>
            <a:ext cx="3419856" cy="1764792"/>
          </a:xfrm>
          <a:prstGeom prst="rect">
            <a:avLst/>
          </a:prstGeom>
          <a:ln w="12700">
            <a:solidFill>
              <a:srgbClr val="C6D2DA"/>
            </a:solidFill>
            <a:prstDash val="solid"/>
          </a:ln>
        </p:spPr>
        <p:txBody>
          <a:bodyPr/>
          <a:p/>
        </p:txBody>
      </p:sp>
      <p:sp>
        <p:nvSpPr>
          <p:cNvPr id="25" name="Text 17"/>
          <p:cNvSpPr/>
          <p:nvPr/>
        </p:nvSpPr>
        <p:spPr>
          <a:xfrm>
            <a:off x="4370832" y="5769864"/>
            <a:ext cx="3419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222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蓝幽灵任务1（Firefly / SwRI）</a:t>
            </a:r>
            <a:endParaRPr lang="en-US" sz="1150" dirty="0"/>
          </a:p>
        </p:txBody>
      </p:sp>
      <p:sp>
        <p:nvSpPr>
          <p:cNvPr id="26" name="Text 18"/>
          <p:cNvSpPr/>
          <p:nvPr/>
        </p:nvSpPr>
        <p:spPr>
          <a:xfrm>
            <a:off x="4370832" y="5998464"/>
            <a:ext cx="3419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6B7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在NASA CLPS计划下交付LMS月球科学载荷。</a:t>
            </a:r>
            <a:endParaRPr lang="en-US" sz="950" dirty="0"/>
          </a:p>
        </p:txBody>
      </p:sp>
      <p:pic>
        <p:nvPicPr>
          <p:cNvPr id="27" name="Image 6" descr="assets/s4_im1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18704" y="3941064"/>
            <a:ext cx="3419856" cy="1764792"/>
          </a:xfrm>
          <a:prstGeom prst="rect">
            <a:avLst/>
          </a:prstGeom>
        </p:spPr>
      </p:pic>
      <p:sp>
        <p:nvSpPr>
          <p:cNvPr id="28" name="Shape 19"/>
          <p:cNvSpPr/>
          <p:nvPr/>
        </p:nvSpPr>
        <p:spPr>
          <a:xfrm>
            <a:off x="7918704" y="3941064"/>
            <a:ext cx="3419856" cy="1764792"/>
          </a:xfrm>
          <a:prstGeom prst="rect">
            <a:avLst/>
          </a:prstGeom>
          <a:ln w="12700">
            <a:solidFill>
              <a:srgbClr val="C6D2DA"/>
            </a:solidFill>
            <a:prstDash val="solid"/>
          </a:ln>
        </p:spPr>
        <p:txBody>
          <a:bodyPr/>
          <a:p/>
        </p:txBody>
      </p:sp>
      <p:sp>
        <p:nvSpPr>
          <p:cNvPr id="29" name="Text 20"/>
          <p:cNvSpPr/>
          <p:nvPr/>
        </p:nvSpPr>
        <p:spPr>
          <a:xfrm>
            <a:off x="7918704" y="5769864"/>
            <a:ext cx="3419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222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IM-1（Intuitive Machines / NASA）</a:t>
            </a:r>
            <a:endParaRPr lang="en-US" sz="1150" dirty="0"/>
          </a:p>
        </p:txBody>
      </p:sp>
      <p:sp>
        <p:nvSpPr>
          <p:cNvPr id="30" name="Text 21"/>
          <p:cNvSpPr/>
          <p:nvPr/>
        </p:nvSpPr>
        <p:spPr>
          <a:xfrm>
            <a:off x="7918704" y="5998464"/>
            <a:ext cx="3419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6B7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ROLSES天线随首次美国商业月球着陆任务飞行。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BC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产品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713232"/>
            <a:ext cx="8961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22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SABER可展开伸杆产品线</a:t>
            </a:r>
            <a:endParaRPr lang="en-US" sz="2900" dirty="0"/>
          </a:p>
        </p:txBody>
      </p:sp>
      <p:pic>
        <p:nvPicPr>
          <p:cNvPr id="4" name="Image 0" descr="assets/logo_dar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0" y="475488"/>
            <a:ext cx="1325880" cy="37216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6492240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7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Heliospace Corporation   |   专有保密信息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064240" y="6492240"/>
            <a:ext cx="320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B7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5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822960" y="135331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将任务定制遗产产品化：标准化机构、公开接口、更短交付周期，配置涵盖单极、偶极至定制几何。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22960" y="1828800"/>
            <a:ext cx="5175504" cy="2788920"/>
          </a:xfrm>
          <a:prstGeom prst="roundRect">
            <a:avLst>
              <a:gd name="adj" fmla="val 1639"/>
            </a:avLst>
          </a:prstGeom>
          <a:solidFill>
            <a:srgbClr val="F3F7FA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987552" y="195681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22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型号 SB1</a:t>
            </a:r>
            <a:endParaRPr lang="en-US" sz="1650" dirty="0"/>
          </a:p>
        </p:txBody>
      </p:sp>
      <p:pic>
        <p:nvPicPr>
          <p:cNvPr id="10" name="Image 1" descr="assets/s5_sb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377440"/>
            <a:ext cx="2377440" cy="170078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960120" y="2377440"/>
            <a:ext cx="2377440" cy="1700784"/>
          </a:xfrm>
          <a:prstGeom prst="rect">
            <a:avLst/>
          </a:prstGeom>
          <a:ln w="12700">
            <a:solidFill>
              <a:srgbClr val="C6D2DA"/>
            </a:solidFill>
            <a:prstDash val="solid"/>
          </a:ln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3520440" y="2395728"/>
            <a:ext cx="2377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A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展开长度1.0米至10.0米</a:t>
            </a:r>
            <a:endParaRPr lang="en-US" sz="1100" dirty="0"/>
          </a:p>
          <a:p>
            <a:pPr algn="l" marL="127000" indent="-1270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A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收纳比最高达30:1</a:t>
            </a:r>
            <a:endParaRPr lang="en-US" sz="1100" dirty="0"/>
          </a:p>
          <a:p>
            <a:pPr algn="l" marL="127000" indent="-1270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A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质量量级3.5至5.0千克</a:t>
            </a:r>
            <a:endParaRPr lang="en-US" sz="1100" dirty="0"/>
          </a:p>
          <a:p>
            <a:pPr algn="l" marL="127000" indent="-1270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A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具备MAVEN、太阳轨道器与欧罗巴快船飞行遗产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960120" y="41330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B7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SB1级飞行机构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190488" y="1828800"/>
            <a:ext cx="5175504" cy="2788920"/>
          </a:xfrm>
          <a:prstGeom prst="roundRect">
            <a:avLst>
              <a:gd name="adj" fmla="val 1639"/>
            </a:avLst>
          </a:prstGeom>
          <a:solidFill>
            <a:srgbClr val="F3F7FA"/>
          </a:solidFill>
          <a:ln/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6355080" y="195681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22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型号 SB2</a:t>
            </a:r>
            <a:endParaRPr lang="en-US" sz="1650" dirty="0"/>
          </a:p>
        </p:txBody>
      </p:sp>
      <p:pic>
        <p:nvPicPr>
          <p:cNvPr id="16" name="Image 2" descr="assets/s5_sb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2377440"/>
            <a:ext cx="2377440" cy="1700784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6327648" y="2377440"/>
            <a:ext cx="2377440" cy="1700784"/>
          </a:xfrm>
          <a:prstGeom prst="rect">
            <a:avLst/>
          </a:prstGeom>
          <a:ln w="12700">
            <a:solidFill>
              <a:srgbClr val="C6D2DA"/>
            </a:solidFill>
            <a:prstDash val="solid"/>
          </a:ln>
        </p:spPr>
        <p:txBody>
          <a:bodyPr/>
          <a:p/>
        </p:txBody>
      </p:sp>
      <p:sp>
        <p:nvSpPr>
          <p:cNvPr id="18" name="Text 13"/>
          <p:cNvSpPr/>
          <p:nvPr/>
        </p:nvSpPr>
        <p:spPr>
          <a:xfrm>
            <a:off x="8887968" y="2395728"/>
            <a:ext cx="2377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A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展开长度1.0米至6.0米</a:t>
            </a:r>
            <a:endParaRPr lang="en-US" sz="1100" dirty="0"/>
          </a:p>
          <a:p>
            <a:pPr algn="l" marL="127000" indent="-1270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A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收纳比最高达50:1</a:t>
            </a:r>
            <a:endParaRPr lang="en-US" sz="1100" dirty="0"/>
          </a:p>
          <a:p>
            <a:pPr algn="l" marL="127000" indent="-1270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A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质量量级200克</a:t>
            </a:r>
            <a:endParaRPr lang="en-US" sz="1100" dirty="0"/>
          </a:p>
          <a:p>
            <a:pPr algn="l" marL="127000" indent="-1270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A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额定温度-200°C至+200°C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327648" y="41330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B7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SB2机构效果图</a:t>
            </a:r>
            <a:endParaRPr lang="en-US" sz="950" dirty="0"/>
          </a:p>
        </p:txBody>
      </p:sp>
      <p:pic>
        <p:nvPicPr>
          <p:cNvPr id="20" name="Image 3" descr="assets/s5_strip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828032"/>
            <a:ext cx="10543032" cy="137160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822960" y="4828032"/>
            <a:ext cx="10543032" cy="1371600"/>
          </a:xfrm>
          <a:prstGeom prst="rect">
            <a:avLst/>
          </a:prstGeom>
          <a:ln w="12700">
            <a:solidFill>
              <a:srgbClr val="C6D2DA"/>
            </a:solidFill>
            <a:prstDash val="solid"/>
          </a:ln>
        </p:spPr>
        <p:txBody>
          <a:bodyPr/>
          <a:p/>
        </p:txBody>
      </p:sp>
      <p:sp>
        <p:nvSpPr>
          <p:cNvPr id="22" name="Text 16"/>
          <p:cNvSpPr/>
          <p:nvPr/>
        </p:nvSpPr>
        <p:spPr>
          <a:xfrm>
            <a:off x="822960" y="6236208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B7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欧罗巴快船REASON高频天线构型：端到端展开长度58英尺（17.6米）。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BC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产品详情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713232"/>
            <a:ext cx="8961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22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型号SB1：经飞行验证的主力产品</a:t>
            </a:r>
            <a:endParaRPr lang="en-US" sz="2900" dirty="0"/>
          </a:p>
        </p:txBody>
      </p:sp>
      <p:pic>
        <p:nvPicPr>
          <p:cNvPr id="4" name="Image 0" descr="assets/logo_dar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0" y="475488"/>
            <a:ext cx="1325880" cy="37216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6492240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7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Heliospace Corporation   |   专有保密信息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064240" y="6492240"/>
            <a:ext cx="320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B7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6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822960" y="1371600"/>
            <a:ext cx="5806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A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低质量、紧凑、高可靠的伸杆，适用于天线、传感器与展开硬件，可精确控制展开至最长10.0米。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148840"/>
          <a:ext cx="580644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384048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222F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展开长度</a:t>
                      </a:r>
                      <a:endParaRPr lang="en-US" sz="10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6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3.3至32.8英尺（1.0至10.0米），可选</a:t>
                      </a:r>
                      <a:endParaRPr lang="en-US" sz="10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6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222F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质量</a:t>
                      </a:r>
                      <a:endParaRPr lang="en-US" sz="10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6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4.0米时7.7磅（3.5千克）；10.0米时11.0磅（5.0千克）</a:t>
                      </a:r>
                      <a:endParaRPr lang="en-US" sz="10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6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222F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收纳包络</a:t>
                      </a:r>
                      <a:endParaRPr lang="en-US" sz="10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6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4.2 × 5.3 × 13.6英寸（11 × 13 × 35厘米）</a:t>
                      </a:r>
                      <a:endParaRPr lang="en-US" sz="10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6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222F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展开功耗</a:t>
                      </a:r>
                      <a:endParaRPr lang="en-US" sz="10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6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典型25瓦（+28伏、0.9安），持续30秒</a:t>
                      </a:r>
                      <a:endParaRPr lang="en-US" sz="10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6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222F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展开控制</a:t>
                      </a:r>
                      <a:endParaRPr lang="en-US" sz="10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6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约0.5米/秒；长度精度±0.25英寸</a:t>
                      </a:r>
                      <a:endParaRPr lang="en-US" sz="10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6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222F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展开后热环境</a:t>
                      </a:r>
                      <a:endParaRPr lang="en-US" sz="10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6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-135°C至+120°C</a:t>
                      </a:r>
                      <a:endParaRPr lang="en-US" sz="10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6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222F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结构</a:t>
                      </a:r>
                      <a:endParaRPr lang="en-US" sz="10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6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收纳态一阶模态高于200赫兹</a:t>
                      </a:r>
                      <a:endParaRPr lang="en-US" sz="10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6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222F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随机振动</a:t>
                      </a:r>
                      <a:endParaRPr lang="en-US" sz="10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6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GSFC-STD-7000B原型飞行级</a:t>
                      </a:r>
                      <a:endParaRPr lang="en-US" sz="10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6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Image 1" descr="assets/s6_test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1417320"/>
            <a:ext cx="4114800" cy="210312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6995160" y="1417320"/>
            <a:ext cx="4114800" cy="2103120"/>
          </a:xfrm>
          <a:prstGeom prst="rect">
            <a:avLst/>
          </a:prstGeom>
          <a:ln w="12700">
            <a:solidFill>
              <a:srgbClr val="C6D2DA"/>
            </a:solidFill>
            <a:prstDash val="solid"/>
          </a:ln>
        </p:spPr>
        <p:txBody>
          <a:bodyPr/>
          <a:p/>
        </p:txBody>
      </p:sp>
      <p:sp>
        <p:nvSpPr>
          <p:cNvPr id="11" name="Text 6"/>
          <p:cNvSpPr/>
          <p:nvPr/>
        </p:nvSpPr>
        <p:spPr>
          <a:xfrm>
            <a:off x="6995160" y="35478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B7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在伯克利设施进行的受控展开测试。</a:t>
            </a:r>
            <a:endParaRPr lang="en-US" sz="950" dirty="0"/>
          </a:p>
        </p:txBody>
      </p:sp>
      <p:pic>
        <p:nvPicPr>
          <p:cNvPr id="12" name="Image 2" descr="assets/s6_array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3913632"/>
            <a:ext cx="4114800" cy="210312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6995160" y="3913632"/>
            <a:ext cx="4114800" cy="2103120"/>
          </a:xfrm>
          <a:prstGeom prst="rect">
            <a:avLst/>
          </a:prstGeom>
          <a:ln w="12700">
            <a:solidFill>
              <a:srgbClr val="C6D2DA"/>
            </a:solidFill>
            <a:prstDash val="solid"/>
          </a:ln>
        </p:spPr>
        <p:txBody>
          <a:bodyPr/>
          <a:p/>
        </p:txBody>
      </p:sp>
      <p:sp>
        <p:nvSpPr>
          <p:cNvPr id="14" name="Text 8"/>
          <p:cNvSpPr/>
          <p:nvPr/>
        </p:nvSpPr>
        <p:spPr>
          <a:xfrm>
            <a:off x="6995160" y="604418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B7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集成于飞行太阳电池阵的SB1级机构。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BC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产品详情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713232"/>
            <a:ext cx="8961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22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型号SB2：面向小型平台的SABER</a:t>
            </a:r>
            <a:endParaRPr lang="en-US" sz="2900" dirty="0"/>
          </a:p>
        </p:txBody>
      </p:sp>
      <p:pic>
        <p:nvPicPr>
          <p:cNvPr id="4" name="Image 0" descr="assets/logo_dar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0" y="475488"/>
            <a:ext cx="1325880" cy="37216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6492240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7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Heliospace Corporation   |   专有保密信息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064240" y="6492240"/>
            <a:ext cx="320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B7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7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822960" y="13716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A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200克级可展开伸杆，将完整SABER能力带入立方星、月球载荷与质量受限平台。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22960" y="205740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BC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展开长度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22960" y="227685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最长19.7英尺（6.0米）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069080" y="205740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BC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质量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069080" y="227685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0.44磅（200克）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22960" y="271576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BC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收纳包络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822960" y="293522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1.4 × 1.8 × 3.2英寸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069080" y="271576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BC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收纳比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069080" y="293522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最高达50:1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822960" y="337413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BC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热能力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22960" y="35935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-200°C至+200°C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4069080" y="337413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BC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展开功耗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069080" y="35935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134瓦脉冲，短于10毫秒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822960" y="4160520"/>
            <a:ext cx="6400800" cy="2057400"/>
          </a:xfrm>
          <a:prstGeom prst="roundRect">
            <a:avLst>
              <a:gd name="adj" fmla="val 2222"/>
            </a:avLst>
          </a:prstGeom>
          <a:solidFill>
            <a:srgbClr val="F3F7FA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1005840" y="431596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22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专有释放机构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1005840" y="4663440"/>
            <a:ext cx="6035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A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熔丝设计，具备冗余驱动机构与电路</a:t>
            </a:r>
            <a:endParaRPr lang="en-US" sz="1100" dirty="0"/>
          </a:p>
          <a:p>
            <a:pPr algn="l" marL="127000" indent="-1270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A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可重复使用、非爆炸释放；无需火工品操作</a:t>
            </a:r>
            <a:endParaRPr lang="en-US" sz="1100" dirty="0"/>
          </a:p>
          <a:p>
            <a:pPr algn="l" marL="127000" indent="-1270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A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可在150°C以上工作，超越SMA驱动器通常90至120°C的限制</a:t>
            </a:r>
            <a:endParaRPr lang="en-US" sz="1100" dirty="0"/>
          </a:p>
          <a:p>
            <a:pPr algn="l" marL="127000" indent="-1270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A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收纳长度约为同类装置的三分之一，成本更低、交付周期更短</a:t>
            </a:r>
            <a:endParaRPr lang="en-US" sz="1100" dirty="0"/>
          </a:p>
        </p:txBody>
      </p:sp>
      <p:pic>
        <p:nvPicPr>
          <p:cNvPr id="23" name="Image 1" descr="assets/s7_render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1417320"/>
            <a:ext cx="3200400" cy="2926080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7635240" y="1417320"/>
            <a:ext cx="3200400" cy="2926080"/>
          </a:xfrm>
          <a:prstGeom prst="rect">
            <a:avLst/>
          </a:prstGeom>
          <a:ln w="12700">
            <a:solidFill>
              <a:srgbClr val="C6D2DA"/>
            </a:solidFill>
            <a:prstDash val="solid"/>
          </a:ln>
        </p:spPr>
        <p:txBody>
          <a:bodyPr/>
          <a:p/>
        </p:txBody>
      </p:sp>
      <p:sp>
        <p:nvSpPr>
          <p:cNvPr id="25" name="Text 21"/>
          <p:cNvSpPr/>
          <p:nvPr/>
        </p:nvSpPr>
        <p:spPr>
          <a:xfrm>
            <a:off x="7635240" y="43708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B7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可展开元件以红色标示。</a:t>
            </a:r>
            <a:endParaRPr lang="en-US" sz="950" dirty="0"/>
          </a:p>
        </p:txBody>
      </p:sp>
      <p:pic>
        <p:nvPicPr>
          <p:cNvPr id="26" name="Image 2" descr="assets/s7_dims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4754880"/>
            <a:ext cx="3200400" cy="1828800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7635240" y="4754880"/>
            <a:ext cx="3200400" cy="1828800"/>
          </a:xfrm>
          <a:prstGeom prst="rect">
            <a:avLst/>
          </a:prstGeom>
          <a:ln w="12700">
            <a:solidFill>
              <a:srgbClr val="C6D2DA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BC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产品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713232"/>
            <a:ext cx="8961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22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可展开天线系统</a:t>
            </a:r>
            <a:endParaRPr lang="en-US" sz="2900" dirty="0"/>
          </a:p>
        </p:txBody>
      </p:sp>
      <p:pic>
        <p:nvPicPr>
          <p:cNvPr id="4" name="Image 0" descr="assets/logo_dar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0" y="475488"/>
            <a:ext cx="1325880" cy="37216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6492240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7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Heliospace Corporation   |   专有保密信息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064240" y="6492240"/>
            <a:ext cx="320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B7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8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822960" y="135331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B7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基于Stacer的飞行天线，适用于灵敏接收机、发射机与雷达，可配置为单极、偶极、折叠偶极及带尖端仪器的定制阵列。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212140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22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构型与选项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22960" y="2450592"/>
            <a:ext cx="53949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振子长度1米至10米，材料为铍铜或Elgiloy</a:t>
            </a:r>
            <a:endParaRPr lang="en-US" sz="1150" dirty="0"/>
          </a:p>
          <a:p>
            <a:pPr algn="l" marL="127000" indent="-1270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单极、偶极、折叠偶极及定制几何</a:t>
            </a:r>
            <a:endParaRPr lang="en-US" sz="1150" dirty="0"/>
          </a:p>
          <a:p>
            <a:pPr algn="l" marL="127000" indent="-1270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接地、隔离或有源驱动天线单元</a:t>
            </a:r>
            <a:endParaRPr lang="en-US" sz="1150" dirty="0"/>
          </a:p>
          <a:p>
            <a:pPr algn="l" marL="127000" indent="-1270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传感器与仪器可集成于伸杆尖端</a:t>
            </a:r>
            <a:endParaRPr lang="en-US" sz="1150" dirty="0"/>
          </a:p>
          <a:p>
            <a:pPr algn="l" marL="127000" indent="-1270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按任务要求完成全部鉴定后交付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22960" y="4343400"/>
            <a:ext cx="5394960" cy="1828800"/>
          </a:xfrm>
          <a:prstGeom prst="roundRect">
            <a:avLst>
              <a:gd name="adj" fmla="val 2500"/>
            </a:avLst>
          </a:prstGeom>
          <a:solidFill>
            <a:srgbClr val="F3F7FA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987552" y="44805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22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示例：18米端到端偶极（REASON高频级）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987552" y="4828032"/>
            <a:ext cx="5074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A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偶极质量低于11.3千克；每侧收纳尺寸20 × 30 × 10厘米</a:t>
            </a:r>
            <a:endParaRPr lang="en-US" sz="1100" dirty="0"/>
          </a:p>
          <a:p>
            <a:pPr algn="l" marL="127000" indent="-1270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A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自供电展开，非爆炸驱动</a:t>
            </a:r>
            <a:endParaRPr lang="en-US" sz="1100" dirty="0"/>
          </a:p>
          <a:p>
            <a:pPr algn="l" marL="127000" indent="-1270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A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数百次成功的Stacer在轨展开</a:t>
            </a:r>
            <a:endParaRPr lang="en-US" sz="1100" dirty="0"/>
          </a:p>
        </p:txBody>
      </p:sp>
      <p:pic>
        <p:nvPicPr>
          <p:cNvPr id="13" name="Image 1" descr="assets/s8a_dipol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121408"/>
            <a:ext cx="4873752" cy="160934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492240" y="2121408"/>
            <a:ext cx="4873752" cy="1609344"/>
          </a:xfrm>
          <a:prstGeom prst="rect">
            <a:avLst/>
          </a:prstGeom>
          <a:ln w="12700">
            <a:solidFill>
              <a:srgbClr val="C6D2DA"/>
            </a:solidFill>
            <a:prstDash val="solid"/>
          </a:ln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6492240" y="37581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B7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18米级偶极与中央机构，展开示意。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6492240" y="413308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22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飞行遗产</a:t>
            </a:r>
            <a:endParaRPr lang="en-US" sz="13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4462272"/>
          <a:ext cx="4873752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299923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0222F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太阳轨道器 RPW（ESA）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6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三副6.5米天线，直流至20兆赫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6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0222F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欧罗巴快船 REASON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6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两副18米偶极；四副2.5米折叠偶极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6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0222F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SunRISE（NASA/JPL）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6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立方星星座用28根单极天线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6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BC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产品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713232"/>
            <a:ext cx="8961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22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传感器、机构与仪器</a:t>
            </a:r>
            <a:endParaRPr lang="en-US" sz="2900" dirty="0"/>
          </a:p>
        </p:txBody>
      </p:sp>
      <p:pic>
        <p:nvPicPr>
          <p:cNvPr id="4" name="Image 0" descr="assets/logo_dar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0" y="475488"/>
            <a:ext cx="1325880" cy="37216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6492240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7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Heliospace Corporation   |   专有保密信息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064240" y="6492240"/>
            <a:ext cx="320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B7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9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822960" y="135331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B7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除伸杆与天线外，Heliospace还交付配套飞行硬件：载荷传感器、释放与保持机构、仪器结构，以及极端环境热防护。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22960" y="1938528"/>
            <a:ext cx="5175504" cy="2084832"/>
          </a:xfrm>
          <a:prstGeom prst="roundRect">
            <a:avLst>
              <a:gd name="adj" fmla="val 2193"/>
            </a:avLst>
          </a:prstGeom>
          <a:solidFill>
            <a:srgbClr val="F3F7FA"/>
          </a:solidFill>
          <a:ln/>
        </p:spPr>
        <p:txBody>
          <a:bodyPr/>
          <a:p/>
        </p:txBody>
      </p:sp>
      <p:pic>
        <p:nvPicPr>
          <p:cNvPr id="9" name="Image 1" descr="assets/s9_lm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084832"/>
            <a:ext cx="1792224" cy="179222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960120" y="2084832"/>
            <a:ext cx="1792224" cy="1792224"/>
          </a:xfrm>
          <a:prstGeom prst="rect">
            <a:avLst/>
          </a:prstGeom>
          <a:ln w="12700">
            <a:solidFill>
              <a:srgbClr val="C6D2DA"/>
            </a:solidFill>
            <a:prstDash val="solid"/>
          </a:ln>
        </p:spPr>
        <p:txBody>
          <a:bodyPr/>
          <a:p/>
        </p:txBody>
      </p:sp>
      <p:sp>
        <p:nvSpPr>
          <p:cNvPr id="11" name="Text 7"/>
          <p:cNvSpPr/>
          <p:nvPr/>
        </p:nvSpPr>
        <p:spPr>
          <a:xfrm>
            <a:off x="2907792" y="208483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22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月球与亚轨道载荷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2907792" y="2414016"/>
            <a:ext cx="2971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1E2A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LMS仪器用电场传感器组件与发射弹射器、ROLSES月球天线，以及SEED探空火箭项目用7米四臂伸杆组件。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190488" y="1938528"/>
            <a:ext cx="5175504" cy="2084832"/>
          </a:xfrm>
          <a:prstGeom prst="roundRect">
            <a:avLst>
              <a:gd name="adj" fmla="val 2193"/>
            </a:avLst>
          </a:prstGeom>
          <a:solidFill>
            <a:srgbClr val="F3F7FA"/>
          </a:solidFill>
          <a:ln/>
        </p:spPr>
        <p:txBody>
          <a:bodyPr/>
          <a:p/>
        </p:txBody>
      </p:sp>
      <p:pic>
        <p:nvPicPr>
          <p:cNvPr id="14" name="Image 2" descr="assets/s9_msr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2084832"/>
            <a:ext cx="1792224" cy="1792224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6327648" y="2084832"/>
            <a:ext cx="1792224" cy="1792224"/>
          </a:xfrm>
          <a:prstGeom prst="rect">
            <a:avLst/>
          </a:prstGeom>
          <a:ln w="12700">
            <a:solidFill>
              <a:srgbClr val="C6D2DA"/>
            </a:solidFill>
            <a:prstDash val="solid"/>
          </a:ln>
        </p:spPr>
        <p:txBody>
          <a:bodyPr/>
          <a:p/>
        </p:txBody>
      </p:sp>
      <p:sp>
        <p:nvSpPr>
          <p:cNvPr id="16" name="Text 11"/>
          <p:cNvSpPr/>
          <p:nvPr/>
        </p:nvSpPr>
        <p:spPr>
          <a:xfrm>
            <a:off x="8275320" y="208483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22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释放机构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8275320" y="2414016"/>
            <a:ext cx="2971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1E2A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为火星样品返回概念研制的精密保持、释放与操作机构，以及专有SABER熔丝释放装置。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822960" y="4151376"/>
            <a:ext cx="5175504" cy="2084832"/>
          </a:xfrm>
          <a:prstGeom prst="roundRect">
            <a:avLst>
              <a:gd name="adj" fmla="val 2193"/>
            </a:avLst>
          </a:prstGeom>
          <a:solidFill>
            <a:srgbClr val="F3F7FA"/>
          </a:solidFill>
          <a:ln/>
        </p:spPr>
        <p:txBody>
          <a:bodyPr/>
          <a:p/>
        </p:txBody>
      </p:sp>
      <p:pic>
        <p:nvPicPr>
          <p:cNvPr id="19" name="Image 3" descr="assets/s9_gaps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297680"/>
            <a:ext cx="1792224" cy="1792224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960120" y="4297680"/>
            <a:ext cx="1792224" cy="1792224"/>
          </a:xfrm>
          <a:prstGeom prst="rect">
            <a:avLst/>
          </a:prstGeom>
          <a:ln w="12700">
            <a:solidFill>
              <a:srgbClr val="C6D2DA"/>
            </a:solidFill>
            <a:prstDash val="solid"/>
          </a:ln>
        </p:spPr>
        <p:txBody>
          <a:bodyPr/>
          <a:p/>
        </p:txBody>
      </p:sp>
      <p:sp>
        <p:nvSpPr>
          <p:cNvPr id="21" name="Text 15"/>
          <p:cNvSpPr/>
          <p:nvPr/>
        </p:nvSpPr>
        <p:spPr>
          <a:xfrm>
            <a:off x="2907792" y="429768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22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仪器与结构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2907792" y="4626864"/>
            <a:ext cx="2971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1E2A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COSI伽马射线仪器低温杜瓦与屏蔽、GAPS反物质探测器吊舱，以及UVEX紫外望远镜结构概念。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6190488" y="4151376"/>
            <a:ext cx="5175504" cy="2084832"/>
          </a:xfrm>
          <a:prstGeom prst="roundRect">
            <a:avLst>
              <a:gd name="adj" fmla="val 2193"/>
            </a:avLst>
          </a:prstGeom>
          <a:solidFill>
            <a:srgbClr val="F3F7FA"/>
          </a:solidFill>
          <a:ln/>
        </p:spPr>
        <p:txBody>
          <a:bodyPr/>
          <a:p/>
        </p:txBody>
      </p:sp>
      <p:pic>
        <p:nvPicPr>
          <p:cNvPr id="24" name="Image 4" descr="assets/s9_solo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7648" y="4297680"/>
            <a:ext cx="1792224" cy="1792224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6327648" y="4297680"/>
            <a:ext cx="1792224" cy="1792224"/>
          </a:xfrm>
          <a:prstGeom prst="rect">
            <a:avLst/>
          </a:prstGeom>
          <a:ln w="12700">
            <a:solidFill>
              <a:srgbClr val="C6D2DA"/>
            </a:solidFill>
            <a:prstDash val="solid"/>
          </a:ln>
        </p:spPr>
        <p:txBody>
          <a:bodyPr/>
          <a:p/>
        </p:txBody>
      </p:sp>
      <p:sp>
        <p:nvSpPr>
          <p:cNvPr id="26" name="Text 19"/>
          <p:cNvSpPr/>
          <p:nvPr/>
        </p:nvSpPr>
        <p:spPr>
          <a:xfrm>
            <a:off x="8275320" y="429768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22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极端环境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8275320" y="4626864"/>
            <a:ext cx="2971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1E2A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全铌多层隔热与热设计，保护在15倍太阳强度环境下温度接近500°C的太阳轨道器天线。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BC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设施与所在地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713232"/>
            <a:ext cx="8961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22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专为生产打造的伯克利基地</a:t>
            </a:r>
            <a:endParaRPr lang="en-US" sz="2900" dirty="0"/>
          </a:p>
        </p:txBody>
      </p:sp>
      <p:pic>
        <p:nvPicPr>
          <p:cNvPr id="4" name="Image 0" descr="assets/logo_dar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0" y="475488"/>
            <a:ext cx="1325880" cy="37216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6492240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7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Heliospace Corporation   |   专有保密信息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064240" y="6492240"/>
            <a:ext cx="320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B7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10</a:t>
            </a:r>
            <a:endParaRPr lang="en-US" sz="850" dirty="0"/>
          </a:p>
        </p:txBody>
      </p:sp>
      <p:pic>
        <p:nvPicPr>
          <p:cNvPr id="7" name="Image 1" descr="assets/s8_bldg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17320"/>
            <a:ext cx="6583680" cy="28803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22960" y="1417320"/>
            <a:ext cx="6583680" cy="2880360"/>
          </a:xfrm>
          <a:prstGeom prst="rect">
            <a:avLst/>
          </a:prstGeom>
          <a:ln w="12700">
            <a:solidFill>
              <a:srgbClr val="C6D2DA"/>
            </a:solidFill>
            <a:prstDash val="solid"/>
          </a:ln>
        </p:spPr>
        <p:txBody>
          <a:bodyPr/>
          <a:p/>
        </p:txBody>
      </p:sp>
      <p:pic>
        <p:nvPicPr>
          <p:cNvPr id="9" name="Image 2" descr="assets/s8_bay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480560"/>
            <a:ext cx="2130552" cy="169164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822960" y="4480560"/>
            <a:ext cx="2130552" cy="1691640"/>
          </a:xfrm>
          <a:prstGeom prst="rect">
            <a:avLst/>
          </a:prstGeom>
          <a:ln w="12700">
            <a:solidFill>
              <a:srgbClr val="C6D2DA"/>
            </a:solidFill>
            <a:prstDash val="solid"/>
          </a:ln>
        </p:spPr>
        <p:txBody>
          <a:bodyPr/>
          <a:p/>
        </p:txBody>
      </p:sp>
      <p:sp>
        <p:nvSpPr>
          <p:cNvPr id="11" name="Text 6"/>
          <p:cNvSpPr/>
          <p:nvPr/>
        </p:nvSpPr>
        <p:spPr>
          <a:xfrm>
            <a:off x="822960" y="6199632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B7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高架装配区</a:t>
            </a:r>
            <a:endParaRPr lang="en-US" sz="950" dirty="0"/>
          </a:p>
        </p:txBody>
      </p:sp>
      <p:pic>
        <p:nvPicPr>
          <p:cNvPr id="12" name="Image 3" descr="assets/s8_tvac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4096" y="4480560"/>
            <a:ext cx="2130552" cy="169164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3054096" y="4480560"/>
            <a:ext cx="2130552" cy="1691640"/>
          </a:xfrm>
          <a:prstGeom prst="rect">
            <a:avLst/>
          </a:prstGeom>
          <a:ln w="12700">
            <a:solidFill>
              <a:srgbClr val="C6D2DA"/>
            </a:solidFill>
            <a:prstDash val="solid"/>
          </a:ln>
        </p:spPr>
        <p:txBody>
          <a:bodyPr/>
          <a:p/>
        </p:txBody>
      </p:sp>
      <p:sp>
        <p:nvSpPr>
          <p:cNvPr id="14" name="Text 8"/>
          <p:cNvSpPr/>
          <p:nvPr/>
        </p:nvSpPr>
        <p:spPr>
          <a:xfrm>
            <a:off x="3054096" y="6199632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B7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热真空</a:t>
            </a:r>
            <a:endParaRPr lang="en-US" sz="950" dirty="0"/>
          </a:p>
        </p:txBody>
      </p:sp>
      <p:pic>
        <p:nvPicPr>
          <p:cNvPr id="15" name="Image 4" descr="assets/s8_clean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5232" y="4480560"/>
            <a:ext cx="2130552" cy="1691640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5285232" y="4480560"/>
            <a:ext cx="2130552" cy="1691640"/>
          </a:xfrm>
          <a:prstGeom prst="rect">
            <a:avLst/>
          </a:prstGeom>
          <a:ln w="12700">
            <a:solidFill>
              <a:srgbClr val="C6D2DA"/>
            </a:solidFill>
            <a:prstDash val="solid"/>
          </a:ln>
        </p:spPr>
        <p:txBody>
          <a:bodyPr/>
          <a:p/>
        </p:txBody>
      </p:sp>
      <p:sp>
        <p:nvSpPr>
          <p:cNvPr id="17" name="Text 10"/>
          <p:cNvSpPr/>
          <p:nvPr/>
        </p:nvSpPr>
        <p:spPr>
          <a:xfrm>
            <a:off x="5285232" y="6199632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B7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洁净室</a:t>
            </a:r>
            <a:endParaRPr lang="en-US" sz="950" dirty="0"/>
          </a:p>
        </p:txBody>
      </p:sp>
      <p:sp>
        <p:nvSpPr>
          <p:cNvPr id="18" name="Text 11"/>
          <p:cNvSpPr/>
          <p:nvPr/>
        </p:nvSpPr>
        <p:spPr>
          <a:xfrm>
            <a:off x="7726680" y="13716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7BC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20,000平方英尺</a:t>
            </a:r>
            <a:endParaRPr lang="en-US" sz="2200" dirty="0"/>
          </a:p>
        </p:txBody>
      </p:sp>
      <p:sp>
        <p:nvSpPr>
          <p:cNvPr id="19" name="Text 12"/>
          <p:cNvSpPr/>
          <p:nvPr/>
        </p:nvSpPr>
        <p:spPr>
          <a:xfrm>
            <a:off x="7726680" y="1773936"/>
            <a:ext cx="3639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7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的生产能力：高架装配与测试区、洁净室、热真空舱与机加车间。</a:t>
            </a:r>
            <a:endParaRPr lang="en-US" sz="1050" dirty="0"/>
          </a:p>
        </p:txBody>
      </p:sp>
      <p:pic>
        <p:nvPicPr>
          <p:cNvPr id="20" name="Image 5" descr="assets/s8_map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26680" y="2450592"/>
            <a:ext cx="3639312" cy="2331720"/>
          </a:xfrm>
          <a:prstGeom prst="rect">
            <a:avLst/>
          </a:prstGeom>
        </p:spPr>
      </p:pic>
      <p:sp>
        <p:nvSpPr>
          <p:cNvPr id="21" name="Shape 13"/>
          <p:cNvSpPr/>
          <p:nvPr/>
        </p:nvSpPr>
        <p:spPr>
          <a:xfrm>
            <a:off x="7726680" y="2450592"/>
            <a:ext cx="3639312" cy="2331720"/>
          </a:xfrm>
          <a:prstGeom prst="rect">
            <a:avLst/>
          </a:prstGeom>
          <a:ln w="12700">
            <a:solidFill>
              <a:srgbClr val="C6D2DA"/>
            </a:solidFill>
            <a:prstDash val="solid"/>
          </a:ln>
        </p:spPr>
        <p:txBody>
          <a:bodyPr/>
          <a:p/>
        </p:txBody>
      </p:sp>
      <p:sp>
        <p:nvSpPr>
          <p:cNvPr id="22" name="Shape 14"/>
          <p:cNvSpPr/>
          <p:nvPr/>
        </p:nvSpPr>
        <p:spPr>
          <a:xfrm>
            <a:off x="7726680" y="4937760"/>
            <a:ext cx="3639312" cy="1298448"/>
          </a:xfrm>
          <a:prstGeom prst="roundRect">
            <a:avLst>
              <a:gd name="adj" fmla="val 3521"/>
            </a:avLst>
          </a:prstGeom>
          <a:solidFill>
            <a:srgbClr val="F3F7FA"/>
          </a:solidFill>
          <a:ln/>
        </p:spPr>
        <p:txBody>
          <a:bodyPr/>
          <a:p/>
        </p:txBody>
      </p:sp>
      <p:sp>
        <p:nvSpPr>
          <p:cNvPr id="23" name="Text 15"/>
          <p:cNvSpPr/>
          <p:nvPr/>
        </p:nvSpPr>
        <p:spPr>
          <a:xfrm>
            <a:off x="7882128" y="5056632"/>
            <a:ext cx="33649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E2A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Heliospace Corporation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E2A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2448 Sixth Street, Berkeley, CA 94710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E2A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/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E2A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位于旧金山湾区：邻近NASA艾姆斯研究中心、加州大学伯克利分校及西海岸供应链。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BC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市场机遇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713232"/>
            <a:ext cx="8961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22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结构性扩张的市场</a:t>
            </a:r>
            <a:endParaRPr lang="en-US" sz="2900" dirty="0"/>
          </a:p>
        </p:txBody>
      </p:sp>
      <p:pic>
        <p:nvPicPr>
          <p:cNvPr id="4" name="Image 0" descr="assets/logo_dar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0" y="475488"/>
            <a:ext cx="1325880" cy="37216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6492240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7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Heliospace Corporation   |   专有保密信息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064240" y="6492240"/>
            <a:ext cx="320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B7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11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822960" y="146304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22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全球电力能源市场，单位：万亿美元</a:t>
            </a:r>
            <a:endParaRPr lang="en-US" sz="13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822960" y="1828800"/>
          <a:ext cx="585216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822960" y="594360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B7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来源：Helio Corporation投资者演示材料，2026年。</a:t>
            </a:r>
            <a:endParaRPr lang="en-US" sz="900" dirty="0"/>
          </a:p>
        </p:txBody>
      </p:sp>
      <p:sp>
        <p:nvSpPr>
          <p:cNvPr id="10" name="Text 5"/>
          <p:cNvSpPr/>
          <p:nvPr/>
        </p:nvSpPr>
        <p:spPr>
          <a:xfrm>
            <a:off x="7178040" y="1773936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B7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2025至2030年平均预计市场规模</a:t>
            </a:r>
            <a:endParaRPr lang="en-US" sz="900" dirty="0"/>
          </a:p>
        </p:txBody>
      </p:sp>
      <p:sp>
        <p:nvSpPr>
          <p:cNvPr id="11" name="Text 11"/>
          <p:cNvSpPr/>
          <p:nvPr/>
        </p:nvSpPr>
        <p:spPr>
          <a:xfrm>
            <a:off x="7178040" y="21488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7BC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$2.8T</a:t>
            </a:r>
            <a:endParaRPr lang="en-US" sz="2200" dirty="0"/>
          </a:p>
        </p:txBody>
      </p:sp>
      <p:sp>
        <p:nvSpPr>
          <p:cNvPr id="12" name="Text 5"/>
          <p:cNvSpPr/>
          <p:nvPr/>
        </p:nvSpPr>
        <p:spPr>
          <a:xfrm>
            <a:off x="8641080" y="2203704"/>
            <a:ext cx="2724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A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天基发电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178040" y="280720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7BC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$5.2B</a:t>
            </a:r>
            <a:endParaRPr lang="en-US" sz="2200" dirty="0"/>
          </a:p>
        </p:txBody>
      </p:sp>
      <p:sp>
        <p:nvSpPr>
          <p:cNvPr id="14" name="Text 5"/>
          <p:cNvSpPr/>
          <p:nvPr/>
        </p:nvSpPr>
        <p:spPr>
          <a:xfrm>
            <a:off x="8641080" y="2862072"/>
            <a:ext cx="2724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A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太空态势感知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7178040" y="346557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7BC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$2.3B</a:t>
            </a:r>
            <a:endParaRPr lang="en-US" sz="2200" dirty="0"/>
          </a:p>
        </p:txBody>
      </p:sp>
      <p:sp>
        <p:nvSpPr>
          <p:cNvPr id="16" name="Text 5"/>
          <p:cNvSpPr/>
          <p:nvPr/>
        </p:nvSpPr>
        <p:spPr>
          <a:xfrm>
            <a:off x="8641080" y="3520440"/>
            <a:ext cx="2724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A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科学与技术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7178040" y="412394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7BC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$1.5B</a:t>
            </a:r>
            <a:endParaRPr lang="en-US" sz="2200" dirty="0"/>
          </a:p>
        </p:txBody>
      </p:sp>
      <p:sp>
        <p:nvSpPr>
          <p:cNvPr id="18" name="Text 5"/>
          <p:cNvSpPr/>
          <p:nvPr/>
        </p:nvSpPr>
        <p:spPr>
          <a:xfrm>
            <a:off x="8641080" y="4178808"/>
            <a:ext cx="2724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A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在轨服务</a:t>
            </a:r>
            <a:endParaRPr lang="en-US" sz="1150" dirty="0"/>
          </a:p>
        </p:txBody>
      </p:sp>
      <p:sp>
        <p:nvSpPr>
          <p:cNvPr id="19" name="Text 11"/>
          <p:cNvSpPr/>
          <p:nvPr/>
        </p:nvSpPr>
        <p:spPr>
          <a:xfrm>
            <a:off x="7178040" y="478231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7BC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$750M</a:t>
            </a:r>
            <a:endParaRPr lang="en-US" sz="2200" dirty="0"/>
          </a:p>
        </p:txBody>
      </p:sp>
      <p:sp>
        <p:nvSpPr>
          <p:cNvPr id="20" name="Text 5"/>
          <p:cNvSpPr/>
          <p:nvPr/>
        </p:nvSpPr>
        <p:spPr>
          <a:xfrm>
            <a:off x="8641080" y="4837176"/>
            <a:ext cx="2724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A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对地观测</a:t>
            </a:r>
            <a:endParaRPr lang="en-US" sz="1150" dirty="0"/>
          </a:p>
        </p:txBody>
      </p:sp>
      <p:sp>
        <p:nvSpPr>
          <p:cNvPr id="21" name="Text 5"/>
          <p:cNvSpPr/>
          <p:nvPr/>
        </p:nvSpPr>
        <p:spPr>
          <a:xfrm>
            <a:off x="7178040" y="550468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A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太空产业预计到2040年将达到万亿美元规模。</a:t>
            </a:r>
            <a:endParaRPr lang="en-US" sz="1150" dirty="0"/>
          </a:p>
        </p:txBody>
      </p:sp>
      <p:sp>
        <p:nvSpPr>
          <p:cNvPr id="22" name="Text 5"/>
          <p:cNvSpPr/>
          <p:nvPr/>
        </p:nvSpPr>
        <p:spPr>
          <a:xfrm>
            <a:off x="7178040" y="587044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B7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来源：Analysys Mason、Northern Sky Research 2022年第四季度及Enerdata（细分市场平均值）；摩根士丹利与花旗预测，2021至2022年；Helio Corporation投资者演示材料，2026年。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BC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竞争优势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713232"/>
            <a:ext cx="8961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22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客户为何选择Heliospace</a:t>
            </a:r>
            <a:endParaRPr lang="en-US" sz="2900" dirty="0"/>
          </a:p>
        </p:txBody>
      </p:sp>
      <p:pic>
        <p:nvPicPr>
          <p:cNvPr id="4" name="Image 0" descr="assets/logo_dar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0" y="475488"/>
            <a:ext cx="1325880" cy="37216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6492240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7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Heliospace Corporation   |   专有保密信息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064240" y="6492240"/>
            <a:ext cx="320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B7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12</a:t>
            </a:r>
            <a:endParaRPr lang="en-US" sz="850" dirty="0"/>
          </a:p>
        </p:txBody>
      </p:sp>
      <p:sp>
        <p:nvSpPr>
          <p:cNvPr id="30" name="Shape 4"/>
          <p:cNvSpPr/>
          <p:nvPr/>
        </p:nvSpPr>
        <p:spPr>
          <a:xfrm>
            <a:off x="822960" y="1444752"/>
            <a:ext cx="347472" cy="347472"/>
          </a:xfrm>
          <a:prstGeom prst="ellipse">
            <a:avLst/>
          </a:prstGeom>
          <a:solidFill>
            <a:srgbClr val="007BCB"/>
          </a:solidFill>
          <a:ln/>
        </p:spPr>
        <p:txBody>
          <a:bodyPr/>
          <a:p/>
        </p:txBody>
      </p:sp>
      <p:sp>
        <p:nvSpPr>
          <p:cNvPr id="31" name="Text 5"/>
          <p:cNvSpPr/>
          <p:nvPr/>
        </p:nvSpPr>
        <p:spPr>
          <a:xfrm>
            <a:off x="822960" y="1444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1</a:t>
            </a:r>
            <a:endParaRPr lang="en-US" sz="1400" dirty="0"/>
          </a:p>
        </p:txBody>
      </p:sp>
      <p:sp>
        <p:nvSpPr>
          <p:cNvPr id="32" name="Text 6"/>
          <p:cNvSpPr/>
          <p:nvPr/>
        </p:nvSpPr>
        <p:spPr>
          <a:xfrm>
            <a:off x="1325880" y="141732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22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经证实的太空飞行遗产</a:t>
            </a:r>
            <a:endParaRPr lang="en-US" sz="1450" dirty="0"/>
          </a:p>
        </p:txBody>
      </p:sp>
      <p:sp>
        <p:nvSpPr>
          <p:cNvPr id="33" name="Text 7"/>
          <p:cNvSpPr/>
          <p:nvPr/>
        </p:nvSpPr>
        <p:spPr>
          <a:xfrm>
            <a:off x="1325880" y="1700784"/>
            <a:ext cx="4617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E2A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Helio已支持超过40次航天飞行任务，研制并部署超过125台仪器与系统，使客户相信其硬件能够经受严苛太空环境。相关技术已用于重大任务，包括NASA欧罗巴快船，以及与詹姆斯·韦伯太空望远镜相关的支持工作。</a:t>
            </a:r>
            <a:endParaRPr lang="en-US" sz="1100" dirty="0"/>
          </a:p>
        </p:txBody>
      </p:sp>
      <p:sp>
        <p:nvSpPr>
          <p:cNvPr id="34" name="Shape 4"/>
          <p:cNvSpPr/>
          <p:nvPr/>
        </p:nvSpPr>
        <p:spPr>
          <a:xfrm>
            <a:off x="822960" y="3154680"/>
            <a:ext cx="347472" cy="347472"/>
          </a:xfrm>
          <a:prstGeom prst="ellipse">
            <a:avLst/>
          </a:prstGeom>
          <a:solidFill>
            <a:srgbClr val="007BCB"/>
          </a:solidFill>
          <a:ln/>
        </p:spPr>
        <p:txBody>
          <a:bodyPr/>
          <a:p/>
        </p:txBody>
      </p:sp>
      <p:sp>
        <p:nvSpPr>
          <p:cNvPr id="35" name="Text 5"/>
          <p:cNvSpPr/>
          <p:nvPr/>
        </p:nvSpPr>
        <p:spPr>
          <a:xfrm>
            <a:off x="822960" y="3154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2</a:t>
            </a:r>
            <a:endParaRPr lang="en-US" sz="1400" dirty="0"/>
          </a:p>
        </p:txBody>
      </p:sp>
      <p:sp>
        <p:nvSpPr>
          <p:cNvPr id="36" name="Text 6"/>
          <p:cNvSpPr/>
          <p:nvPr/>
        </p:nvSpPr>
        <p:spPr>
          <a:xfrm>
            <a:off x="1325880" y="3127248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22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专业工程能力</a:t>
            </a:r>
            <a:endParaRPr lang="en-US" sz="1450" dirty="0"/>
          </a:p>
        </p:txBody>
      </p:sp>
      <p:sp>
        <p:nvSpPr>
          <p:cNvPr id="37" name="Text 7"/>
          <p:cNvSpPr/>
          <p:nvPr/>
        </p:nvSpPr>
        <p:spPr>
          <a:xfrm>
            <a:off x="1325880" y="3410712"/>
            <a:ext cx="4617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E2A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太空任务往往需要定制方案，而非现成产品。Helio专注于可展开天线、传感器、大型可展开结构、航天器机构以及系统工程与设计。客户选择Helio，是因为这些部件必须在无法维修的极端条件下可靠工作。</a:t>
            </a:r>
            <a:endParaRPr lang="en-US" sz="1100" dirty="0"/>
          </a:p>
        </p:txBody>
      </p:sp>
      <p:sp>
        <p:nvSpPr>
          <p:cNvPr id="38" name="Shape 4"/>
          <p:cNvSpPr/>
          <p:nvPr/>
        </p:nvSpPr>
        <p:spPr>
          <a:xfrm>
            <a:off x="822960" y="4864608"/>
            <a:ext cx="347472" cy="347472"/>
          </a:xfrm>
          <a:prstGeom prst="ellipse">
            <a:avLst/>
          </a:prstGeom>
          <a:solidFill>
            <a:srgbClr val="007BCB"/>
          </a:solidFill>
          <a:ln/>
        </p:spPr>
        <p:txBody>
          <a:bodyPr/>
          <a:p/>
        </p:txBody>
      </p:sp>
      <p:sp>
        <p:nvSpPr>
          <p:cNvPr id="39" name="Text 5"/>
          <p:cNvSpPr/>
          <p:nvPr/>
        </p:nvSpPr>
        <p:spPr>
          <a:xfrm>
            <a:off x="822960" y="4864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3</a:t>
            </a:r>
            <a:endParaRPr lang="en-US" sz="1400" dirty="0"/>
          </a:p>
        </p:txBody>
      </p:sp>
      <p:sp>
        <p:nvSpPr>
          <p:cNvPr id="40" name="Text 6"/>
          <p:cNvSpPr/>
          <p:nvPr/>
        </p:nvSpPr>
        <p:spPr>
          <a:xfrm>
            <a:off x="1325880" y="4837176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22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更低的任务风险</a:t>
            </a:r>
            <a:endParaRPr lang="en-US" sz="1450" dirty="0"/>
          </a:p>
        </p:txBody>
      </p:sp>
      <p:sp>
        <p:nvSpPr>
          <p:cNvPr id="41" name="Text 7"/>
          <p:cNvSpPr/>
          <p:nvPr/>
        </p:nvSpPr>
        <p:spPr>
          <a:xfrm>
            <a:off x="1325880" y="5120640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E2A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航天机构与航天企业重视具有成功任务记录的供应商，因为太空失败代价极为高昂。Helio以“难题解决者”自居，专注攻克困难的航天硬件挑战，帮助客户降低技术风险。</a:t>
            </a:r>
            <a:endParaRPr lang="en-US" sz="1100" dirty="0"/>
          </a:p>
        </p:txBody>
      </p:sp>
      <p:sp>
        <p:nvSpPr>
          <p:cNvPr id="42" name="Shape 4"/>
          <p:cNvSpPr/>
          <p:nvPr/>
        </p:nvSpPr>
        <p:spPr>
          <a:xfrm>
            <a:off x="6217920" y="1444752"/>
            <a:ext cx="347472" cy="347472"/>
          </a:xfrm>
          <a:prstGeom prst="ellipse">
            <a:avLst/>
          </a:prstGeom>
          <a:solidFill>
            <a:srgbClr val="007BCB"/>
          </a:solidFill>
          <a:ln/>
        </p:spPr>
        <p:txBody>
          <a:bodyPr/>
          <a:p/>
        </p:txBody>
      </p:sp>
      <p:sp>
        <p:nvSpPr>
          <p:cNvPr id="43" name="Text 5"/>
          <p:cNvSpPr/>
          <p:nvPr/>
        </p:nvSpPr>
        <p:spPr>
          <a:xfrm>
            <a:off x="6217920" y="1444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4</a:t>
            </a:r>
            <a:endParaRPr lang="en-US" sz="1400" dirty="0"/>
          </a:p>
        </p:txBody>
      </p:sp>
      <p:sp>
        <p:nvSpPr>
          <p:cNvPr id="44" name="Text 6"/>
          <p:cNvSpPr/>
          <p:nvPr/>
        </p:nvSpPr>
        <p:spPr>
          <a:xfrm>
            <a:off x="6720840" y="141732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22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创新与未来技术</a:t>
            </a:r>
            <a:endParaRPr lang="en-US" sz="1450" dirty="0"/>
          </a:p>
        </p:txBody>
      </p:sp>
      <p:sp>
        <p:nvSpPr>
          <p:cNvPr id="45" name="Text 7"/>
          <p:cNvSpPr/>
          <p:nvPr/>
        </p:nvSpPr>
        <p:spPr>
          <a:xfrm>
            <a:off x="6720840" y="1700784"/>
            <a:ext cx="4617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E2A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除现有航天硬件外，Helio正在开发天基太阳能发电系统，旨在轨道采集太阳能并向地球输电。关注未来太空基础设施的客户与合作伙伴，重视Helio既有工程能力与长期能源技术目标的结合。</a:t>
            </a:r>
            <a:endParaRPr lang="en-US" sz="1100" dirty="0"/>
          </a:p>
        </p:txBody>
      </p:sp>
      <p:sp>
        <p:nvSpPr>
          <p:cNvPr id="46" name="Shape 4"/>
          <p:cNvSpPr/>
          <p:nvPr/>
        </p:nvSpPr>
        <p:spPr>
          <a:xfrm>
            <a:off x="6217920" y="3099816"/>
            <a:ext cx="347472" cy="347472"/>
          </a:xfrm>
          <a:prstGeom prst="ellipse">
            <a:avLst/>
          </a:prstGeom>
          <a:solidFill>
            <a:srgbClr val="007BCB"/>
          </a:solidFill>
          <a:ln/>
        </p:spPr>
        <p:txBody>
          <a:bodyPr/>
          <a:p/>
        </p:txBody>
      </p:sp>
      <p:sp>
        <p:nvSpPr>
          <p:cNvPr id="47" name="Text 5"/>
          <p:cNvSpPr/>
          <p:nvPr/>
        </p:nvSpPr>
        <p:spPr>
          <a:xfrm>
            <a:off x="6217920" y="30998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5</a:t>
            </a:r>
            <a:endParaRPr lang="en-US" sz="1400" dirty="0"/>
          </a:p>
        </p:txBody>
      </p:sp>
      <p:sp>
        <p:nvSpPr>
          <p:cNvPr id="48" name="Text 6"/>
          <p:cNvSpPr/>
          <p:nvPr/>
        </p:nvSpPr>
        <p:spPr>
          <a:xfrm>
            <a:off x="6720840" y="3072384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22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服务政府与商业客户的灵活伙伴</a:t>
            </a:r>
            <a:endParaRPr lang="en-US" sz="1450" dirty="0"/>
          </a:p>
        </p:txBody>
      </p:sp>
      <p:sp>
        <p:nvSpPr>
          <p:cNvPr id="49" name="Text 7"/>
          <p:cNvSpPr/>
          <p:nvPr/>
        </p:nvSpPr>
        <p:spPr>
          <a:xfrm>
            <a:off x="6720840" y="365760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E2A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Helio与政府机构、民营航天企业、大学及研究机构合作，提供定制化系统，而非仅限于标准化产品。</a:t>
            </a:r>
            <a:endParaRPr lang="en-US" sz="1100" dirty="0"/>
          </a:p>
        </p:txBody>
      </p:sp>
      <p:sp>
        <p:nvSpPr>
          <p:cNvPr id="50" name="Shape 20"/>
          <p:cNvSpPr/>
          <p:nvPr/>
        </p:nvSpPr>
        <p:spPr>
          <a:xfrm>
            <a:off x="6217920" y="4663440"/>
            <a:ext cx="5148072" cy="1325880"/>
          </a:xfrm>
          <a:prstGeom prst="roundRect">
            <a:avLst>
              <a:gd name="adj" fmla="val 3704"/>
            </a:avLst>
          </a:prstGeom>
          <a:solidFill>
            <a:srgbClr val="EDF3F8"/>
          </a:solidFill>
          <a:ln w="9525">
            <a:solidFill>
              <a:srgbClr val="C6D2DA"/>
            </a:solidFill>
            <a:prstDash val="solid"/>
          </a:ln>
        </p:spPr>
        <p:txBody>
          <a:bodyPr/>
          <a:p/>
        </p:txBody>
      </p:sp>
      <p:sp>
        <p:nvSpPr>
          <p:cNvPr id="51" name="Text 21"/>
          <p:cNvSpPr/>
          <p:nvPr/>
        </p:nvSpPr>
        <p:spPr>
          <a:xfrm>
            <a:off x="6400800" y="479145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22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总结</a:t>
            </a:r>
            <a:endParaRPr lang="en-US" sz="1250" dirty="0"/>
          </a:p>
        </p:txBody>
      </p:sp>
      <p:sp>
        <p:nvSpPr>
          <p:cNvPr id="52" name="Text 22"/>
          <p:cNvSpPr/>
          <p:nvPr/>
        </p:nvSpPr>
        <p:spPr>
          <a:xfrm>
            <a:off x="6400800" y="5084064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E2A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客户选择Helio，是因为它提供经飞行验证的航天级硬件、专业工程能力、任务可靠性，以及通往下一代太空基础设施的路径。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BC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客户基础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713232"/>
            <a:ext cx="8961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22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以客户验证技术实力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822960" y="6492240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7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Heliospace Corporation   |   专有保密信息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064240" y="6492240"/>
            <a:ext cx="320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B7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13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822960" y="146304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7BC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航天机构与计划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22960" y="1737360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A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NASA、NASA JPL、NASA戈达德航天飞行中心、CNES，以及NASA SBIR与STTR美国种子基金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22960" y="2359152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7BC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商业航天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22960" y="263347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A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Firefly Aerospace、Intuitive Machines、Honeybee Robotics、Blue Origin、Aerodyne与ASES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22960" y="3255264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7BC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研究机构与大学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822960" y="3529584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A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西南研究院、加州大学伯克利分校、哥伦比亚大学与安柏瑞德航空大学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822960" y="4151376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7BC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科学与公益项目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822960" y="4425696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A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Breakthrough Listen与Earth Guard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822960" y="5074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22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他们为何长期合作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22960" y="539496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A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在标志性任务中担任正式供应商</a:t>
            </a:r>
            <a:endParaRPr lang="en-US" sz="1100" dirty="0"/>
          </a:p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A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为发射关键载荷按时交付</a:t>
            </a:r>
            <a:endParaRPr lang="en-US" sz="1100" dirty="0"/>
          </a:p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A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跨计划与平台获得重复订单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7360920" y="4160520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B7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伯克利设施的飞行硬件装配现场。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7360920" y="4617720"/>
            <a:ext cx="4005072" cy="1554480"/>
          </a:xfrm>
          <a:prstGeom prst="roundRect">
            <a:avLst>
              <a:gd name="adj" fmla="val 2941"/>
            </a:avLst>
          </a:prstGeom>
          <a:solidFill>
            <a:srgbClr val="F3F7FA"/>
          </a:solidFill>
          <a:ln/>
        </p:spPr>
        <p:txBody>
          <a:bodyPr/>
          <a:p/>
        </p:txBody>
      </p:sp>
      <p:sp>
        <p:nvSpPr>
          <p:cNvPr id="21" name="Text 17"/>
          <p:cNvSpPr/>
          <p:nvPr/>
        </p:nvSpPr>
        <p:spPr>
          <a:xfrm>
            <a:off x="7589520" y="482803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7BC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5+</a:t>
            </a:r>
            <a:endParaRPr lang="en-US" sz="3000" dirty="0"/>
          </a:p>
        </p:txBody>
      </p:sp>
      <p:sp>
        <p:nvSpPr>
          <p:cNvPr id="22" name="Text 18"/>
          <p:cNvSpPr/>
          <p:nvPr/>
        </p:nvSpPr>
        <p:spPr>
          <a:xfrm>
            <a:off x="8732520" y="4864608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A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搭载Helio硬件的在轨活跃任务，另有两项任务将于2026年及之后发射</a:t>
            </a:r>
            <a:endParaRPr lang="en-US" sz="1150" dirty="0"/>
          </a:p>
        </p:txBody>
      </p:sp>
      <p:pic>
        <p:nvPicPr>
          <p:cNvPr id="32" name="Picture 3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1463040"/>
            <a:ext cx="4005072" cy="2670048"/>
          </a:xfrm>
          <a:prstGeom prst="rect">
            <a:avLst/>
          </a:prstGeom>
        </p:spPr>
      </p:pic>
      <p:pic>
        <p:nvPicPr>
          <p:cNvPr id="33" name="Image 0" descr="assets/logo_dark.jp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058400" y="475488"/>
            <a:ext cx="1325880" cy="37490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822960" y="4572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BC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客户基础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713232"/>
            <a:ext cx="8961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22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客户与合作伙伴</a:t>
            </a:r>
            <a:endParaRPr lang="en-US" sz="2900" dirty="0"/>
          </a:p>
        </p:txBody>
      </p:sp>
      <p:pic>
        <p:nvPicPr>
          <p:cNvPr id="4" name="Image 0" descr="assets/logo_dark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475488"/>
            <a:ext cx="1325880" cy="37216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6492240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7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Heliospace Corporation   |   专有保密信息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064240" y="6492240"/>
            <a:ext cx="320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B7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14</a:t>
            </a:r>
            <a:endParaRPr lang="en-US" sz="850" dirty="0"/>
          </a:p>
        </p:txBody>
      </p:sp>
      <p:pic>
        <p:nvPicPr>
          <p:cNvPr id="7" name="Picture 6" descr="partners_w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9527" y="1691640"/>
            <a:ext cx="9692640" cy="451597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lose_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assets/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731520"/>
            <a:ext cx="2377440" cy="66568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22960" y="23317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50" kern="0" dirty="0">
                <a:solidFill>
                  <a:srgbClr val="6FBCE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谢谢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822960" y="265176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欢迎提问与交流</a:t>
            </a:r>
            <a:endParaRPr lang="en-US" sz="3600" dirty="0"/>
          </a:p>
        </p:txBody>
      </p:sp>
      <p:sp>
        <p:nvSpPr>
          <p:cNvPr id="6" name="Shape 2"/>
          <p:cNvSpPr/>
          <p:nvPr/>
        </p:nvSpPr>
        <p:spPr>
          <a:xfrm>
            <a:off x="822960" y="3657600"/>
            <a:ext cx="5577840" cy="1783080"/>
          </a:xfrm>
          <a:prstGeom prst="roundRect">
            <a:avLst>
              <a:gd name="adj" fmla="val 2400"/>
            </a:avLst>
          </a:prstGeom>
          <a:solidFill>
            <a:srgbClr val="0E2233">
              <a:alpha val="82000"/>
            </a:srgbClr>
          </a:solidFill>
          <a:ln w="9525">
            <a:solidFill>
              <a:srgbClr val="3C5A72"/>
            </a:solidFill>
            <a:prstDash val="solid"/>
          </a:ln>
        </p:spPr>
        <p:txBody>
          <a:bodyPr/>
          <a:p/>
        </p:txBody>
      </p:sp>
      <p:sp>
        <p:nvSpPr>
          <p:cNvPr id="7" name="Text 3"/>
          <p:cNvSpPr/>
          <p:nvPr/>
        </p:nvSpPr>
        <p:spPr>
          <a:xfrm>
            <a:off x="1097280" y="393192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Rocky Chen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AFC7D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中国区独家销售代理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AFC7D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rocky@helio.space   |   19921169641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9509760" y="6473952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B2C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专有保密信息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2026-08-07T08:46:16Z</dcterms:created>
  <dcterms:modified xsi:type="dcterms:W3CDTF">2026-08-07T08:46:16Z</dcterms:modified>
</cp:coreProperties>
</file>