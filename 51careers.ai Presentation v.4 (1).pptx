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Garamon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jV0lCDV4kkH8wPRu2oGZSlObw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Garamond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Garamond-italic.fntdata"/><Relationship Id="rId14" Type="http://schemas.openxmlformats.org/officeDocument/2006/relationships/slide" Target="slides/slide9.xml"/><Relationship Id="rId36" Type="http://schemas.openxmlformats.org/officeDocument/2006/relationships/font" Target="fonts/Garamond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Garamon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Marketing &amp; acquisition</c:v>
                </c:pt>
                <c:pt idx="1">
                  <c:v>Product &amp; AI development</c:v>
                </c:pt>
                <c:pt idx="2">
                  <c:v>U.S. market expansion</c:v>
                </c:pt>
                <c:pt idx="3">
                  <c:v>China market &amp; B2B</c:v>
                </c:pt>
                <c:pt idx="4">
                  <c:v>Brand &amp; events</c:v>
                </c:pt>
                <c:pt idx="5">
                  <c:v>Ops / legal / finance</c:v>
                </c:pt>
                <c:pt idx="6">
                  <c:v>Cash reserve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22.5</c:v>
                </c:pt>
                <c:pt idx="2">
                  <c:v>12.5</c:v>
                </c:pt>
                <c:pt idx="3">
                  <c:v>7.5</c:v>
                </c:pt>
                <c:pt idx="4">
                  <c:v>7.5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BA-44E7-BF68-3360DADA26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_bg.jp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1careers_logo_light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685800"/>
            <a:ext cx="2514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822960" y="1481328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CONFIDENTIAL INVESTOR PRESENTATION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173736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51 Careers.AI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239572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Building the global AI career platform — from resume to opportunity.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2761488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FC5DE"/>
                </a:solidFill>
                <a:latin typeface="Garamond"/>
                <a:ea typeface="Garamond"/>
                <a:cs typeface="Garamond"/>
                <a:sym typeface="Garamond"/>
              </a:rPr>
              <a:t>AI RESUME   ×   AI CAREER   ×   GLOBAL TALENT ECOSYSTEM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22960" y="3090672"/>
            <a:ext cx="3392424" cy="202996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42416" y="3255264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PRE-MONEY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1042416" y="3566160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RMB 180M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042416" y="4352544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≈ US$26.7 million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4398264" y="3090672"/>
            <a:ext cx="3392424" cy="202996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617720" y="3255264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RAISE  ·  10% EQUITY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4617720" y="3566160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RMB 20M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4617720" y="4352544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≈ US$2.97 million</a:t>
            </a:r>
            <a:endParaRPr/>
          </a:p>
        </p:txBody>
      </p:sp>
      <p:sp>
        <p:nvSpPr>
          <p:cNvPr id="98" name="Google Shape;98;p1"/>
          <p:cNvSpPr/>
          <p:nvPr/>
        </p:nvSpPr>
        <p:spPr>
          <a:xfrm>
            <a:off x="7973568" y="3090672"/>
            <a:ext cx="3392424" cy="202996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193024" y="3255264"/>
            <a:ext cx="2953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POST-MONEY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8193024" y="3566160"/>
            <a:ext cx="29535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RMB 200M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8193024" y="4352544"/>
            <a:ext cx="29535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≈ US$29.7 million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822960" y="5285232"/>
            <a:ext cx="10543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The resume is the entry point. The ambition is the global AI career platform.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822960" y="5614416"/>
            <a:ext cx="10543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Connecting job seekers, employers, career services, education, and the talent ecosystem.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822960" y="6035040"/>
            <a:ext cx="10543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9C7D2"/>
                </a:solidFill>
                <a:latin typeface="Garamond"/>
                <a:ea typeface="Garamond"/>
                <a:cs typeface="Garamond"/>
                <a:sym typeface="Garamond"/>
              </a:rPr>
              <a:t>September 2026    |    New York  ·  Shanghai    |    China R&amp;D  ·  U.S. GTM  ·  Global distribution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COMPANY OVERVIEW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51 Careers at a Glance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Career services  →  AI Resume  →  AI Career Platform  →  Global Marketplace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22960" y="1298448"/>
            <a:ext cx="5669280" cy="34564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1024128" y="1426464"/>
            <a:ext cx="52669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Who we are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51 Careers is building a global AI Career Platform to help job seekers create better resumes, discover opportunities, improve outcomes, and access professional career services.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Entry point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An AI Resume Platform that turns unstructured career experience into professional, quantified, job-specific resumes.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This round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The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RMB 20 million </a:t>
            </a: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will be primarily used for product development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, </a:t>
            </a: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talent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acquisition, and </a:t>
            </a: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commercial expansion.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6675120" y="1298448"/>
            <a:ext cx="4690872" cy="34564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858000" y="1408176"/>
            <a:ext cx="4343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Investment highlights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858000" y="173736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01    AI Resume demo already developed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858000" y="210312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02    Initial testing with promising results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858000" y="246888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03    Stronger positioning vs. general AI models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6858000" y="283464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04    Global product from day one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6858000" y="320040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05    Existing career-services expertise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858000" y="356616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06    The U.S. as our first international beachhead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858000" y="393192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07    Multiple revenue streams beyond AI Resume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6858000" y="4297680"/>
            <a:ext cx="4343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08    RMB 20M </a:t>
            </a: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funding to scale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product, user</a:t>
            </a: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 &amp;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GTM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822960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969264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2016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969264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Founded in New York</a:t>
            </a:r>
            <a:endParaRPr/>
          </a:p>
        </p:txBody>
      </p:sp>
      <p:sp>
        <p:nvSpPr>
          <p:cNvPr id="127" name="Google Shape;127;p2"/>
          <p:cNvSpPr/>
          <p:nvPr/>
        </p:nvSpPr>
        <p:spPr>
          <a:xfrm>
            <a:off x="3483864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3630168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RMB 20M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3630168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Growth capital this round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6144768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6291072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10%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6291072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Equity at RMB 200M post</a:t>
            </a:r>
            <a:endParaRPr/>
          </a:p>
        </p:txBody>
      </p:sp>
      <p:sp>
        <p:nvSpPr>
          <p:cNvPr id="133" name="Google Shape;133;p2"/>
          <p:cNvSpPr/>
          <p:nvPr/>
        </p:nvSpPr>
        <p:spPr>
          <a:xfrm>
            <a:off x="8805672" y="4882896"/>
            <a:ext cx="2560320" cy="14996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8951976" y="5029200"/>
            <a:ext cx="226771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RMB 180M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8951976" y="5577840"/>
            <a:ext cx="22677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Pre-money valuation</a:t>
            </a:r>
            <a:endParaRPr/>
          </a:p>
        </p:txBody>
      </p:sp>
      <p:pic>
        <p:nvPicPr>
          <p:cNvPr descr="51careers_logo_dark.png" id="136" name="Google Shape;1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PROBLEM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Job Seeking Is Still Highly Inefficient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Job search </a:t>
            </a: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remains fragmented, expensive, and low-signal.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822960" y="1298448"/>
            <a:ext cx="20208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987552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987552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969264" y="1975104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Fragmented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969264" y="2670048"/>
            <a:ext cx="17282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Candidates navigate multiple platforms, tools, and service providers.</a:t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2953512" y="1298448"/>
            <a:ext cx="20208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3118104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3118104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154" name="Google Shape;154;p3"/>
          <p:cNvSpPr txBox="1"/>
          <p:nvPr/>
        </p:nvSpPr>
        <p:spPr>
          <a:xfrm>
            <a:off x="3099816" y="1975104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Expensive</a:t>
            </a:r>
            <a:endParaRPr/>
          </a:p>
        </p:txBody>
      </p:sp>
      <p:sp>
        <p:nvSpPr>
          <p:cNvPr id="155" name="Google Shape;155;p3"/>
          <p:cNvSpPr txBox="1"/>
          <p:nvPr/>
        </p:nvSpPr>
        <p:spPr>
          <a:xfrm>
            <a:off x="3099816" y="2670048"/>
            <a:ext cx="17282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Career coaching, applications, assessments, and preparation can add significant time and financial costs.</a:t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5084064" y="1298448"/>
            <a:ext cx="20208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248656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5248656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5230368" y="1975104"/>
            <a:ext cx="17282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Low-Signal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5230368" y="2670048"/>
            <a:ext cx="1728216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Resumes and keyword-based matching often fail to capture candidates’ true capabilities and fit.</a:t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</a:t>
            </a:r>
            <a:r>
              <a:rPr b="1" lang="en-US" sz="1100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SOLUTION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1005840" y="5943600"/>
            <a:ext cx="1017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51 Careers.AI</a:t>
            </a: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 turns a fragmented, expensive, low-signal job search into an AI-native career operating system.</a:t>
            </a:r>
            <a:endParaRPr/>
          </a:p>
        </p:txBody>
      </p:sp>
      <p:pic>
        <p:nvPicPr>
          <p:cNvPr descr="51careers_logo_dark.png" id="164" name="Google Shape;1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OPPORTUNITY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Is Reshaping Career Services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Generative AI has changed how people create, communicate, and consume professional information.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822960" y="1298448"/>
            <a:ext cx="508406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1024128" y="144475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Traditional model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024128" y="177393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Human consultant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1024128" y="21945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Manual analysis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1024128" y="281635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Manual resume writing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1024128" y="343814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Manual job search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1024128" y="40599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High cost per user</a:t>
            </a:r>
            <a:endParaRPr/>
          </a:p>
        </p:txBody>
      </p:sp>
      <p:sp>
        <p:nvSpPr>
          <p:cNvPr id="181" name="Google Shape;181;p4"/>
          <p:cNvSpPr txBox="1"/>
          <p:nvPr/>
        </p:nvSpPr>
        <p:spPr>
          <a:xfrm>
            <a:off x="1024128" y="468172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Limited scalability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6281928" y="1298448"/>
            <a:ext cx="508406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6483096" y="1444752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AI-enabled model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6483096" y="1773936"/>
            <a:ext cx="4754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Career platform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6483096" y="21945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Automated career analysis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483096" y="281635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resume generation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483096" y="343814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Intelligent job matching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6483096" y="405993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Continuous optimization</a:t>
            </a:r>
            <a:endParaRPr/>
          </a:p>
        </p:txBody>
      </p:sp>
      <p:sp>
        <p:nvSpPr>
          <p:cNvPr id="189" name="Google Shape;189;p4"/>
          <p:cNvSpPr txBox="1"/>
          <p:nvPr/>
        </p:nvSpPr>
        <p:spPr>
          <a:xfrm>
            <a:off x="6483096" y="468172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Global scalability</a:t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OUR OPPORTUNITY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Turn high-cost, labor-intensive career services into a scalable AI-powered platform.</a:t>
            </a:r>
            <a:endParaRPr/>
          </a:p>
        </p:txBody>
      </p:sp>
      <p:pic>
        <p:nvPicPr>
          <p:cNvPr descr="51careers_logo_dark.png" id="193" name="Google Shape;19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WHY NOW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Three Structural Trends Are Converging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adoption, data-driven hiring, and fragmented career services are moving together.</a:t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822960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024128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1024128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1024128" y="199339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Mass AI adoption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1024128" y="2560320"/>
            <a:ext cx="299008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Consumers now use AI for professional work. That habit is the distribution opening for an AI career product.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4398264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4599432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4599432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4599432" y="199339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Data-driven hiring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599432" y="2560320"/>
            <a:ext cx="299008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Employers screen on keywords, structure, and measurable results. Candidates need a product written to that standard.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7973568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174736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8174736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8174736" y="199339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Fragmented services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8174736" y="2560320"/>
            <a:ext cx="299008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Advice is still manual, expensive, and local. That gap is the opening for a scalable AI + human platform.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51 CAREERS SITS AT THE INTERSECTION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  ×   Employment   ×   Career Services</a:t>
            </a:r>
            <a:endParaRPr/>
          </a:p>
        </p:txBody>
      </p:sp>
      <p:pic>
        <p:nvPicPr>
          <p:cNvPr descr="51careers_logo_dark.png" id="221" name="Google Shape;2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MARKET SIZE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TAM, SAM, SOM, and Three-Year Revenue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From global job seekers to paid AI career users. Illustrative, for discussion.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822960" y="1298448"/>
            <a:ext cx="3392424" cy="24688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1024128" y="1426464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TAM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1024128" y="168249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US$ 200B+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1024128" y="2157984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RMB 1.35T+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1024128" y="2487168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Global recruitment, talent-acquisition, and career-development spend.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398264" y="1298448"/>
            <a:ext cx="3392424" cy="24688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4599432" y="1426464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SAM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4599432" y="168249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US$ 30B+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4599432" y="2157984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RMB 200B+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4599432" y="2487168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Digital and AI-enabled hiring tools, resume products, and online career prep.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7973568" y="1298448"/>
            <a:ext cx="3392424" cy="24688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8174736" y="1426464"/>
            <a:ext cx="2990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SOM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8174736" y="168249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US$ 1.5B+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8174736" y="2157984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RMB 10B+</a:t>
            </a:r>
            <a:endParaRPr/>
          </a:p>
        </p:txBody>
      </p:sp>
      <p:sp>
        <p:nvSpPr>
          <p:cNvPr id="245" name="Google Shape;245;p6"/>
          <p:cNvSpPr txBox="1"/>
          <p:nvPr/>
        </p:nvSpPr>
        <p:spPr>
          <a:xfrm>
            <a:off x="8174736" y="2487168"/>
            <a:ext cx="29900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AI resume and career-assistant demand in </a:t>
            </a:r>
            <a:r>
              <a:rPr lang="en-US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North America, Europe, Asia, Middle East, Latin America</a:t>
            </a: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.</a:t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822960" y="3895344"/>
            <a:ext cx="10543032" cy="16276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1024128" y="4005072"/>
            <a:ext cx="101406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51 CAREERS  ·  2027E–2029E REVENUE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1024128" y="42976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1024128" y="45537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US$ 2.0M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1024128" y="5029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≈ RMB 13.5M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4498848" y="42976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4498848" y="45537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US$ 8.0M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4498848" y="5029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≈ RMB 53.8M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973568" y="429768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7973568" y="4553712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US$ 28.0M</a:t>
            </a:r>
            <a:endParaRPr/>
          </a:p>
        </p:txBody>
      </p:sp>
      <p:sp>
        <p:nvSpPr>
          <p:cNvPr id="256" name="Google Shape;256;p6"/>
          <p:cNvSpPr txBox="1"/>
          <p:nvPr/>
        </p:nvSpPr>
        <p:spPr>
          <a:xfrm>
            <a:off x="7973568" y="502920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≈ RMB 188.4M</a:t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LOGIC</a:t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Job seekers  →  AI Resume users  →  paid conversion  →  stacked revenue</a:t>
            </a:r>
            <a:endParaRPr/>
          </a:p>
        </p:txBody>
      </p:sp>
      <p:pic>
        <p:nvPicPr>
          <p:cNvPr descr="51careers_logo_dark.png" id="260" name="Google Shape;2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6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OUR SOLUTION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51 Careers AI Career Platform</a:t>
            </a:r>
            <a:endParaRPr/>
          </a:p>
        </p:txBody>
      </p:sp>
      <p:sp>
        <p:nvSpPr>
          <p:cNvPr id="269" name="Google Shape;269;p7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Not another AI writing tool — an AI-powered career infrastructure layer.</a:t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822960" y="129844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987552" y="145650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 txBox="1"/>
          <p:nvPr/>
        </p:nvSpPr>
        <p:spPr>
          <a:xfrm>
            <a:off x="987552" y="145650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1481328" y="129844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Understand professional experience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22960" y="2035193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987552" y="2193253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987552" y="2193253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481328" y="2035193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Build a stronger professional profile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822960" y="277193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987552" y="292999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 txBox="1"/>
          <p:nvPr/>
        </p:nvSpPr>
        <p:spPr>
          <a:xfrm>
            <a:off x="987552" y="292999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281" name="Google Shape;281;p7"/>
          <p:cNvSpPr txBox="1"/>
          <p:nvPr/>
        </p:nvSpPr>
        <p:spPr>
          <a:xfrm>
            <a:off x="1481328" y="277193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Generate optimized resumes</a:t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822960" y="3508683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987552" y="3666744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987552" y="366674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285" name="Google Shape;285;p7"/>
          <p:cNvSpPr txBox="1"/>
          <p:nvPr/>
        </p:nvSpPr>
        <p:spPr>
          <a:xfrm>
            <a:off x="1481328" y="3508683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Match with relevant opportunities</a:t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822960" y="424542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987552" y="4403489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987552" y="4403489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1481328" y="424542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Prepare for interviews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822960" y="4982173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987552" y="5140234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987552" y="514023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1481328" y="4982173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Make better career decisions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822960" y="5718918"/>
            <a:ext cx="6537960" cy="663593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987552" y="5876979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987552" y="5876979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1481328" y="5718918"/>
            <a:ext cx="5669280" cy="663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Access professional services</a:t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7543800" y="1298448"/>
            <a:ext cx="3822191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7744968" y="1444752"/>
            <a:ext cx="34381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Starting point</a:t>
            </a:r>
            <a:endParaRPr/>
          </a:p>
        </p:txBody>
      </p:sp>
      <p:sp>
        <p:nvSpPr>
          <p:cNvPr id="300" name="Google Shape;300;p7"/>
          <p:cNvSpPr txBox="1"/>
          <p:nvPr/>
        </p:nvSpPr>
        <p:spPr>
          <a:xfrm>
            <a:off x="7744968" y="1755648"/>
            <a:ext cx="343814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Resume</a:t>
            </a:r>
            <a:endParaRPr/>
          </a:p>
        </p:txBody>
      </p:sp>
      <p:sp>
        <p:nvSpPr>
          <p:cNvPr id="301" name="Google Shape;301;p7"/>
          <p:cNvSpPr txBox="1"/>
          <p:nvPr/>
        </p:nvSpPr>
        <p:spPr>
          <a:xfrm>
            <a:off x="7744968" y="2468880"/>
            <a:ext cx="3438144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The resume is the first touchpoint with the 51 Careers ecosystem — the on-ramp to AI Career tools, services, matching, and the marketplace.</a:t>
            </a:r>
            <a:b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</a:br>
            <a:b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One product. One profile. Multiple monetization paths across the career journey.</a:t>
            </a:r>
            <a:endParaRPr/>
          </a:p>
        </p:txBody>
      </p:sp>
      <p:pic>
        <p:nvPicPr>
          <p:cNvPr descr="51careers_logo_dark.png" id="302" name="Google Shape;3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304" name="Google Shape;304;p7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PRODUCT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From Experience to Professional Value</a:t>
            </a:r>
            <a:endParaRPr/>
          </a:p>
        </p:txBody>
      </p:sp>
      <p:sp>
        <p:nvSpPr>
          <p:cNvPr id="311" name="Google Shape;311;p8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Users provide career facts. Our AI generates professional, quantified, job-specific resumes.</a:t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822960" y="1298448"/>
            <a:ext cx="338328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1024128" y="1426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Users provide</a:t>
            </a:r>
            <a:endParaRPr/>
          </a:p>
        </p:txBody>
      </p:sp>
      <p:sp>
        <p:nvSpPr>
          <p:cNvPr id="314" name="Google Shape;314;p8"/>
          <p:cNvSpPr txBox="1"/>
          <p:nvPr/>
        </p:nvSpPr>
        <p:spPr>
          <a:xfrm>
            <a:off x="1024128" y="17922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Education</a:t>
            </a:r>
            <a:endParaRPr/>
          </a:p>
        </p:txBody>
      </p:sp>
      <p:sp>
        <p:nvSpPr>
          <p:cNvPr id="315" name="Google Shape;315;p8"/>
          <p:cNvSpPr txBox="1"/>
          <p:nvPr/>
        </p:nvSpPr>
        <p:spPr>
          <a:xfrm>
            <a:off x="1024128" y="241401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Work experience</a:t>
            </a:r>
            <a:endParaRPr/>
          </a:p>
        </p:txBody>
      </p:sp>
      <p:sp>
        <p:nvSpPr>
          <p:cNvPr id="316" name="Google Shape;316;p8"/>
          <p:cNvSpPr txBox="1"/>
          <p:nvPr/>
        </p:nvSpPr>
        <p:spPr>
          <a:xfrm>
            <a:off x="1024128" y="30358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Projects</a:t>
            </a:r>
            <a:endParaRPr/>
          </a:p>
        </p:txBody>
      </p:sp>
      <p:sp>
        <p:nvSpPr>
          <p:cNvPr id="317" name="Google Shape;317;p8"/>
          <p:cNvSpPr txBox="1"/>
          <p:nvPr/>
        </p:nvSpPr>
        <p:spPr>
          <a:xfrm>
            <a:off x="1024128" y="36576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Skills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1024128" y="427939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Achievements</a:t>
            </a:r>
            <a:endParaRPr/>
          </a:p>
        </p:txBody>
      </p:sp>
      <p:sp>
        <p:nvSpPr>
          <p:cNvPr id="319" name="Google Shape;319;p8"/>
          <p:cNvSpPr txBox="1"/>
          <p:nvPr/>
        </p:nvSpPr>
        <p:spPr>
          <a:xfrm>
            <a:off x="1024128" y="490118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goals</a:t>
            </a:r>
            <a:endParaRPr/>
          </a:p>
        </p:txBody>
      </p:sp>
      <p:sp>
        <p:nvSpPr>
          <p:cNvPr id="320" name="Google Shape;320;p8"/>
          <p:cNvSpPr txBox="1"/>
          <p:nvPr/>
        </p:nvSpPr>
        <p:spPr>
          <a:xfrm>
            <a:off x="1024128" y="552297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Target job descriptions</a:t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4389120" y="1298448"/>
            <a:ext cx="338328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 txBox="1"/>
          <p:nvPr/>
        </p:nvSpPr>
        <p:spPr>
          <a:xfrm>
            <a:off x="4590288" y="1426464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Our AI generates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4590288" y="179222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Professional positioning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4590288" y="241401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Quantified achievements</a:t>
            </a:r>
            <a:endParaRPr/>
          </a:p>
        </p:txBody>
      </p:sp>
      <p:sp>
        <p:nvSpPr>
          <p:cNvPr id="325" name="Google Shape;325;p8"/>
          <p:cNvSpPr txBox="1"/>
          <p:nvPr/>
        </p:nvSpPr>
        <p:spPr>
          <a:xfrm>
            <a:off x="4590288" y="30358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Job-specific language</a:t>
            </a:r>
            <a:endParaRPr/>
          </a:p>
        </p:txBody>
      </p:sp>
      <p:sp>
        <p:nvSpPr>
          <p:cNvPr id="326" name="Google Shape;326;p8"/>
          <p:cNvSpPr txBox="1"/>
          <p:nvPr/>
        </p:nvSpPr>
        <p:spPr>
          <a:xfrm>
            <a:off x="4590288" y="365760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ATS-ready structure</a:t>
            </a:r>
            <a:endParaRPr/>
          </a:p>
        </p:txBody>
      </p:sp>
      <p:sp>
        <p:nvSpPr>
          <p:cNvPr id="327" name="Google Shape;327;p8"/>
          <p:cNvSpPr txBox="1"/>
          <p:nvPr/>
        </p:nvSpPr>
        <p:spPr>
          <a:xfrm>
            <a:off x="4590288" y="427939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Role and employer fit</a:t>
            </a:r>
            <a:endParaRPr/>
          </a:p>
        </p:txBody>
      </p:sp>
      <p:sp>
        <p:nvSpPr>
          <p:cNvPr id="328" name="Google Shape;328;p8"/>
          <p:cNvSpPr txBox="1"/>
          <p:nvPr/>
        </p:nvSpPr>
        <p:spPr>
          <a:xfrm>
            <a:off x="4590288" y="4901184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Geography conventions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4590288" y="552297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One profile, many versions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7955279" y="1298448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 txBox="1"/>
          <p:nvPr/>
        </p:nvSpPr>
        <p:spPr>
          <a:xfrm>
            <a:off x="8119872" y="1298448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Resume Generation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7955279" y="1933956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8119872" y="1933956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Resume Optimization</a:t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7955279" y="2569464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8119872" y="2569464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Job-Specific Versions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7955279" y="3204972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8119872" y="3204972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Achievement Quantification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7955279" y="3840480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8119872" y="3840480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ATS Optimization</a:t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7955279" y="4475988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8119872" y="4475988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Multiple Resume Versions</a:t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7955279" y="5111496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8119872" y="5111496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Cover Letter Generation</a:t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7955279" y="5747004"/>
            <a:ext cx="3410712" cy="585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8119872" y="5747004"/>
            <a:ext cx="31089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Profile Creation</a:t>
            </a:r>
            <a:endParaRPr/>
          </a:p>
        </p:txBody>
      </p:sp>
      <p:pic>
        <p:nvPicPr>
          <p:cNvPr descr="51careers_logo_dark.png" id="346" name="Google Shape;34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8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348" name="Google Shape;348;p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PRODUCT VALIDATION</a:t>
            </a:r>
            <a:endParaRPr/>
          </a:p>
        </p:txBody>
      </p:sp>
      <p:sp>
        <p:nvSpPr>
          <p:cNvPr id="354" name="Google Shape;354;p9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Built, Tested, and Internally Benchmarked</a:t>
            </a:r>
            <a:endParaRPr/>
          </a:p>
        </p:txBody>
      </p:sp>
      <p:sp>
        <p:nvSpPr>
          <p:cNvPr id="355" name="Google Shape;355;p9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Working demo in hand. Early tests vs. general-purpose models are encouraging.</a:t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822960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1024128" y="1426464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Demo developed</a:t>
            </a:r>
            <a:endParaRPr/>
          </a:p>
        </p:txBody>
      </p:sp>
      <p:sp>
        <p:nvSpPr>
          <p:cNvPr id="358" name="Google Shape;358;p9"/>
          <p:cNvSpPr txBox="1"/>
          <p:nvPr/>
        </p:nvSpPr>
        <p:spPr>
          <a:xfrm>
            <a:off x="1024128" y="182880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 working AI Resume product is available for demonstration today.</a:t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4398264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4599432" y="1426464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Initial testing</a:t>
            </a:r>
            <a:endParaRPr/>
          </a:p>
        </p:txBody>
      </p:sp>
      <p:sp>
        <p:nvSpPr>
          <p:cNvPr id="361" name="Google Shape;361;p9"/>
          <p:cNvSpPr txBox="1"/>
          <p:nvPr/>
        </p:nvSpPr>
        <p:spPr>
          <a:xfrm>
            <a:off x="4599432" y="182880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Early users and internal reviews show promising output quality.</a:t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7973568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8174736" y="1426464"/>
            <a:ext cx="299008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Internal benchmarks</a:t>
            </a:r>
            <a:endParaRPr/>
          </a:p>
        </p:txBody>
      </p:sp>
      <p:sp>
        <p:nvSpPr>
          <p:cNvPr id="364" name="Google Shape;364;p9"/>
          <p:cNvSpPr txBox="1"/>
          <p:nvPr/>
        </p:nvSpPr>
        <p:spPr>
          <a:xfrm>
            <a:off x="8174736" y="1828800"/>
            <a:ext cx="299008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Compared against direct outputs from leading general-purpose models.</a:t>
            </a:r>
            <a:endParaRPr/>
          </a:p>
        </p:txBody>
      </p:sp>
      <p:sp>
        <p:nvSpPr>
          <p:cNvPr id="365" name="Google Shape;365;p9"/>
          <p:cNvSpPr txBox="1"/>
          <p:nvPr/>
        </p:nvSpPr>
        <p:spPr>
          <a:xfrm>
            <a:off x="822960" y="3401568"/>
            <a:ext cx="10543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Initial testing indicates stronger performance in</a:t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822960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950976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Positioning</a:t>
            </a:r>
            <a:endParaRPr/>
          </a:p>
        </p:txBody>
      </p:sp>
      <p:sp>
        <p:nvSpPr>
          <p:cNvPr id="368" name="Google Shape;368;p9"/>
          <p:cNvSpPr txBox="1"/>
          <p:nvPr/>
        </p:nvSpPr>
        <p:spPr>
          <a:xfrm>
            <a:off x="950976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Professional framing of the candidate</a:t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2953512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3081528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Quantification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3081528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Measurable achievements, not duties</a:t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5084064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5212080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Job relevance</a:t>
            </a:r>
            <a:endParaRPr/>
          </a:p>
        </p:txBody>
      </p:sp>
      <p:sp>
        <p:nvSpPr>
          <p:cNvPr id="374" name="Google Shape;374;p9"/>
          <p:cNvSpPr txBox="1"/>
          <p:nvPr/>
        </p:nvSpPr>
        <p:spPr>
          <a:xfrm>
            <a:off x="5212080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Language matched to the target role</a:t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7214616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9"/>
          <p:cNvSpPr txBox="1"/>
          <p:nvPr/>
        </p:nvSpPr>
        <p:spPr>
          <a:xfrm>
            <a:off x="7342632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Extraction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7342632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Career facts pulled from messy input</a:t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9345168" y="3675887"/>
            <a:ext cx="2020824" cy="184708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9473184" y="3803904"/>
            <a:ext cx="1764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Structure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9473184" y="4206240"/>
            <a:ext cx="1764792" cy="1133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ATS-ready resume architecture</a:t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IMPORTANT NOTE</a:t>
            </a:r>
            <a:endParaRPr/>
          </a:p>
        </p:txBody>
      </p:sp>
      <p:sp>
        <p:nvSpPr>
          <p:cNvPr id="383" name="Google Shape;383;p9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Results are internal. Next: larger-scale, structured, blind A/B tests vs. general-purpose models.</a:t>
            </a:r>
            <a:endParaRPr/>
          </a:p>
        </p:txBody>
      </p:sp>
      <p:pic>
        <p:nvPicPr>
          <p:cNvPr descr="51careers_logo_dark.png" id="384" name="Google Shape;3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386" name="Google Shape;386;p9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TECHNOLOGY</a:t>
            </a:r>
            <a:endParaRPr/>
          </a:p>
        </p:txBody>
      </p:sp>
      <p:sp>
        <p:nvSpPr>
          <p:cNvPr id="392" name="Google Shape;392;p10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Not Simply an LLM Wrapper</a:t>
            </a:r>
            <a:endParaRPr/>
          </a:p>
        </p:txBody>
      </p:sp>
      <p:sp>
        <p:nvSpPr>
          <p:cNvPr id="393" name="Google Shape;393;p10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LLM  +  career knowledge  +  resume framework  +  job intelligence  +  user data</a:t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22960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969264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Experience extract</a:t>
            </a:r>
            <a:endParaRPr/>
          </a:p>
        </p:txBody>
      </p:sp>
      <p:sp>
        <p:nvSpPr>
          <p:cNvPr id="396" name="Google Shape;396;p10"/>
          <p:cNvSpPr/>
          <p:nvPr/>
        </p:nvSpPr>
        <p:spPr>
          <a:xfrm>
            <a:off x="3483864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 txBox="1"/>
          <p:nvPr/>
        </p:nvSpPr>
        <p:spPr>
          <a:xfrm>
            <a:off x="3630168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Achievement scoring</a:t>
            </a:r>
            <a:endParaRPr/>
          </a:p>
        </p:txBody>
      </p:sp>
      <p:sp>
        <p:nvSpPr>
          <p:cNvPr id="398" name="Google Shape;398;p10"/>
          <p:cNvSpPr/>
          <p:nvPr/>
        </p:nvSpPr>
        <p:spPr>
          <a:xfrm>
            <a:off x="6144768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 txBox="1"/>
          <p:nvPr/>
        </p:nvSpPr>
        <p:spPr>
          <a:xfrm>
            <a:off x="6291072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JD analysis</a:t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8805672" y="1298448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 txBox="1"/>
          <p:nvPr/>
        </p:nvSpPr>
        <p:spPr>
          <a:xfrm>
            <a:off x="8951976" y="1298448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Resume optimization</a:t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822960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 txBox="1"/>
          <p:nvPr/>
        </p:nvSpPr>
        <p:spPr>
          <a:xfrm>
            <a:off x="969264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Industry terms</a:t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3483864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 txBox="1"/>
          <p:nvPr/>
        </p:nvSpPr>
        <p:spPr>
          <a:xfrm>
            <a:off x="3630168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Role requirements</a:t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6144768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 txBox="1"/>
          <p:nvPr/>
        </p:nvSpPr>
        <p:spPr>
          <a:xfrm>
            <a:off x="6291072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Geo conventions</a:t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8805672" y="237744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 txBox="1"/>
          <p:nvPr/>
        </p:nvSpPr>
        <p:spPr>
          <a:xfrm>
            <a:off x="8951976" y="2377440"/>
            <a:ext cx="2267712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ATS optimization</a:t>
            </a:r>
            <a:endParaRPr/>
          </a:p>
        </p:txBody>
      </p:sp>
      <p:sp>
        <p:nvSpPr>
          <p:cNvPr id="410" name="Google Shape;410;p10"/>
          <p:cNvSpPr txBox="1"/>
          <p:nvPr/>
        </p:nvSpPr>
        <p:spPr>
          <a:xfrm>
            <a:off x="822960" y="3547872"/>
            <a:ext cx="10543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Data feedback loop</a:t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82296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 txBox="1"/>
          <p:nvPr/>
        </p:nvSpPr>
        <p:spPr>
          <a:xfrm>
            <a:off x="91440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01</a:t>
            </a:r>
            <a:endParaRPr/>
          </a:p>
        </p:txBody>
      </p:sp>
      <p:sp>
        <p:nvSpPr>
          <p:cNvPr id="413" name="Google Shape;413;p10"/>
          <p:cNvSpPr txBox="1"/>
          <p:nvPr/>
        </p:nvSpPr>
        <p:spPr>
          <a:xfrm>
            <a:off x="91440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Input</a:t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214884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 txBox="1"/>
          <p:nvPr/>
        </p:nvSpPr>
        <p:spPr>
          <a:xfrm>
            <a:off x="224028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02</a:t>
            </a:r>
            <a:endParaRPr/>
          </a:p>
        </p:txBody>
      </p:sp>
      <p:sp>
        <p:nvSpPr>
          <p:cNvPr id="416" name="Google Shape;416;p10"/>
          <p:cNvSpPr txBox="1"/>
          <p:nvPr/>
        </p:nvSpPr>
        <p:spPr>
          <a:xfrm>
            <a:off x="224028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Analysis</a:t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347472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 txBox="1"/>
          <p:nvPr/>
        </p:nvSpPr>
        <p:spPr>
          <a:xfrm>
            <a:off x="356616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03</a:t>
            </a:r>
            <a:endParaRPr/>
          </a:p>
        </p:txBody>
      </p:sp>
      <p:sp>
        <p:nvSpPr>
          <p:cNvPr id="419" name="Google Shape;419;p10"/>
          <p:cNvSpPr txBox="1"/>
          <p:nvPr/>
        </p:nvSpPr>
        <p:spPr>
          <a:xfrm>
            <a:off x="356616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Resume</a:t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480060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489204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04</a:t>
            </a:r>
            <a:endParaRPr/>
          </a:p>
        </p:txBody>
      </p:sp>
      <p:sp>
        <p:nvSpPr>
          <p:cNvPr id="422" name="Google Shape;422;p10"/>
          <p:cNvSpPr txBox="1"/>
          <p:nvPr/>
        </p:nvSpPr>
        <p:spPr>
          <a:xfrm>
            <a:off x="489204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Apply</a:t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612648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 txBox="1"/>
          <p:nvPr/>
        </p:nvSpPr>
        <p:spPr>
          <a:xfrm>
            <a:off x="621792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05</a:t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621792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Feedback</a:t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745236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 txBox="1"/>
          <p:nvPr/>
        </p:nvSpPr>
        <p:spPr>
          <a:xfrm>
            <a:off x="754380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06</a:t>
            </a:r>
            <a:endParaRPr/>
          </a:p>
        </p:txBody>
      </p:sp>
      <p:sp>
        <p:nvSpPr>
          <p:cNvPr id="428" name="Google Shape;428;p10"/>
          <p:cNvSpPr txBox="1"/>
          <p:nvPr/>
        </p:nvSpPr>
        <p:spPr>
          <a:xfrm>
            <a:off x="754380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Upgrade</a:t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877824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 txBox="1"/>
          <p:nvPr/>
        </p:nvSpPr>
        <p:spPr>
          <a:xfrm>
            <a:off x="886968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07</a:t>
            </a:r>
            <a:endParaRPr/>
          </a:p>
        </p:txBody>
      </p:sp>
      <p:sp>
        <p:nvSpPr>
          <p:cNvPr id="431" name="Google Shape;431;p10"/>
          <p:cNvSpPr txBox="1"/>
          <p:nvPr/>
        </p:nvSpPr>
        <p:spPr>
          <a:xfrm>
            <a:off x="886968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Outcomes</a:t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10104120" y="3822191"/>
            <a:ext cx="1234440" cy="17007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 txBox="1"/>
          <p:nvPr/>
        </p:nvSpPr>
        <p:spPr>
          <a:xfrm>
            <a:off x="10195560" y="3950208"/>
            <a:ext cx="1060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08</a:t>
            </a:r>
            <a:endParaRPr/>
          </a:p>
        </p:txBody>
      </p:sp>
      <p:sp>
        <p:nvSpPr>
          <p:cNvPr id="434" name="Google Shape;434;p10"/>
          <p:cNvSpPr txBox="1"/>
          <p:nvPr/>
        </p:nvSpPr>
        <p:spPr>
          <a:xfrm>
            <a:off x="10195560" y="4297680"/>
            <a:ext cx="1060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Users</a:t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COMPOUNDING ADVANTAGE</a:t>
            </a:r>
            <a:endParaRPr/>
          </a:p>
        </p:txBody>
      </p:sp>
      <p:sp>
        <p:nvSpPr>
          <p:cNvPr id="437" name="Google Shape;437;p10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Each cycle builds proprietary career intelligence that generic chat models do not accumulate.</a:t>
            </a:r>
            <a:endParaRPr/>
          </a:p>
        </p:txBody>
      </p:sp>
      <p:pic>
        <p:nvPicPr>
          <p:cNvPr descr="51careers_logo_dark.png" id="438" name="Google Shape;4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440" name="Google Shape;440;p1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GLOBAL MARKET</a:t>
            </a:r>
            <a:endParaRPr/>
          </a:p>
        </p:txBody>
      </p:sp>
      <p:sp>
        <p:nvSpPr>
          <p:cNvPr id="446" name="Google Shape;446;p11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Resume Is a Naturally Global Product</a:t>
            </a:r>
            <a:endParaRPr/>
          </a:p>
        </p:txBody>
      </p:sp>
      <p:sp>
        <p:nvSpPr>
          <p:cNvPr id="447" name="Google Shape;447;p11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 resume is a universal component of the global employment market.</a:t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22960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 txBox="1"/>
          <p:nvPr/>
        </p:nvSpPr>
        <p:spPr>
          <a:xfrm>
            <a:off x="950976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United States</a:t>
            </a:r>
            <a:endParaRPr/>
          </a:p>
        </p:txBody>
      </p:sp>
      <p:sp>
        <p:nvSpPr>
          <p:cNvPr id="450" name="Google Shape;450;p11"/>
          <p:cNvSpPr txBox="1"/>
          <p:nvPr/>
        </p:nvSpPr>
        <p:spPr>
          <a:xfrm>
            <a:off x="950976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First beachhead</a:t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2953512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 txBox="1"/>
          <p:nvPr/>
        </p:nvSpPr>
        <p:spPr>
          <a:xfrm>
            <a:off x="3081528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Canada</a:t>
            </a:r>
            <a:endParaRPr/>
          </a:p>
        </p:txBody>
      </p:sp>
      <p:sp>
        <p:nvSpPr>
          <p:cNvPr id="453" name="Google Shape;453;p11"/>
          <p:cNvSpPr txBox="1"/>
          <p:nvPr/>
        </p:nvSpPr>
        <p:spPr>
          <a:xfrm>
            <a:off x="3081528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English-speaking NA</a:t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5084064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 txBox="1"/>
          <p:nvPr/>
        </p:nvSpPr>
        <p:spPr>
          <a:xfrm>
            <a:off x="5212080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Central America</a:t>
            </a:r>
            <a:endParaRPr/>
          </a:p>
        </p:txBody>
      </p:sp>
      <p:sp>
        <p:nvSpPr>
          <p:cNvPr id="456" name="Google Shape;456;p11"/>
          <p:cNvSpPr txBox="1"/>
          <p:nvPr/>
        </p:nvSpPr>
        <p:spPr>
          <a:xfrm>
            <a:off x="5212080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Adjacent expansion</a:t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7214616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 txBox="1"/>
          <p:nvPr/>
        </p:nvSpPr>
        <p:spPr>
          <a:xfrm>
            <a:off x="7342632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United Kingdom</a:t>
            </a:r>
            <a:endParaRPr/>
          </a:p>
        </p:txBody>
      </p:sp>
      <p:sp>
        <p:nvSpPr>
          <p:cNvPr id="459" name="Google Shape;459;p11"/>
          <p:cNvSpPr txBox="1"/>
          <p:nvPr/>
        </p:nvSpPr>
        <p:spPr>
          <a:xfrm>
            <a:off x="7342632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European English</a:t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9345168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 txBox="1"/>
          <p:nvPr/>
        </p:nvSpPr>
        <p:spPr>
          <a:xfrm>
            <a:off x="9473184" y="162763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Australia</a:t>
            </a:r>
            <a:endParaRPr/>
          </a:p>
        </p:txBody>
      </p:sp>
      <p:sp>
        <p:nvSpPr>
          <p:cNvPr id="462" name="Google Shape;462;p11"/>
          <p:cNvSpPr txBox="1"/>
          <p:nvPr/>
        </p:nvSpPr>
        <p:spPr>
          <a:xfrm>
            <a:off x="9473184" y="246888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APAC English</a:t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822960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 txBox="1"/>
          <p:nvPr/>
        </p:nvSpPr>
        <p:spPr>
          <a:xfrm>
            <a:off x="950976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Singapore</a:t>
            </a:r>
            <a:endParaRPr/>
          </a:p>
        </p:txBody>
      </p:sp>
      <p:sp>
        <p:nvSpPr>
          <p:cNvPr id="465" name="Google Shape;465;p11"/>
          <p:cNvSpPr txBox="1"/>
          <p:nvPr/>
        </p:nvSpPr>
        <p:spPr>
          <a:xfrm>
            <a:off x="950976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APAC hub</a:t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2953512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 txBox="1"/>
          <p:nvPr/>
        </p:nvSpPr>
        <p:spPr>
          <a:xfrm>
            <a:off x="3081528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Hong Kong</a:t>
            </a:r>
            <a:endParaRPr/>
          </a:p>
        </p:txBody>
      </p:sp>
      <p:sp>
        <p:nvSpPr>
          <p:cNvPr id="468" name="Google Shape;468;p11"/>
          <p:cNvSpPr txBox="1"/>
          <p:nvPr/>
        </p:nvSpPr>
        <p:spPr>
          <a:xfrm>
            <a:off x="3081528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Greater China English</a:t>
            </a:r>
            <a:endParaRPr/>
          </a:p>
        </p:txBody>
      </p:sp>
      <p:sp>
        <p:nvSpPr>
          <p:cNvPr id="469" name="Google Shape;469;p11"/>
          <p:cNvSpPr/>
          <p:nvPr/>
        </p:nvSpPr>
        <p:spPr>
          <a:xfrm>
            <a:off x="5084064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 txBox="1"/>
          <p:nvPr/>
        </p:nvSpPr>
        <p:spPr>
          <a:xfrm>
            <a:off x="5212080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China</a:t>
            </a:r>
            <a:endParaRPr/>
          </a:p>
        </p:txBody>
      </p:sp>
      <p:sp>
        <p:nvSpPr>
          <p:cNvPr id="471" name="Google Shape;471;p11"/>
          <p:cNvSpPr txBox="1"/>
          <p:nvPr/>
        </p:nvSpPr>
        <p:spPr>
          <a:xfrm>
            <a:off x="5212080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R&amp;D and users</a:t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7214616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7342632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Europe</a:t>
            </a:r>
            <a:endParaRPr/>
          </a:p>
        </p:txBody>
      </p:sp>
      <p:sp>
        <p:nvSpPr>
          <p:cNvPr id="474" name="Google Shape;474;p11"/>
          <p:cNvSpPr txBox="1"/>
          <p:nvPr/>
        </p:nvSpPr>
        <p:spPr>
          <a:xfrm>
            <a:off x="7342632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Localized later</a:t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9345168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 txBox="1"/>
          <p:nvPr/>
        </p:nvSpPr>
        <p:spPr>
          <a:xfrm>
            <a:off x="9473184" y="3730752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Middle East</a:t>
            </a:r>
            <a:endParaRPr/>
          </a:p>
        </p:txBody>
      </p:sp>
      <p:sp>
        <p:nvSpPr>
          <p:cNvPr id="477" name="Google Shape;477;p11"/>
          <p:cNvSpPr txBox="1"/>
          <p:nvPr/>
        </p:nvSpPr>
        <p:spPr>
          <a:xfrm>
            <a:off x="9473184" y="4572000"/>
            <a:ext cx="17647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English professional</a:t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UNIVERSAL QUESTION</a:t>
            </a:r>
            <a:endParaRPr/>
          </a:p>
        </p:txBody>
      </p:sp>
      <p:sp>
        <p:nvSpPr>
          <p:cNvPr id="480" name="Google Shape;480;p11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How do I present my professional value to employers? A global problem. A scalable product.</a:t>
            </a:r>
            <a:endParaRPr/>
          </a:p>
        </p:txBody>
      </p:sp>
      <p:pic>
        <p:nvPicPr>
          <p:cNvPr descr="51careers_logo_dark.png" id="481" name="Google Shape;4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1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PRODUCT STRATEGY</a:t>
            </a:r>
            <a:endParaRPr/>
          </a:p>
        </p:txBody>
      </p:sp>
      <p:sp>
        <p:nvSpPr>
          <p:cNvPr id="489" name="Google Shape;489;p12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One Platform. Multiple Labor Markets.</a:t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One career profile can be localized across geography, industry, level, role, and employer.</a:t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822960" y="1298448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 txBox="1"/>
          <p:nvPr/>
        </p:nvSpPr>
        <p:spPr>
          <a:xfrm>
            <a:off x="1024128" y="1298448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Geography</a:t>
            </a:r>
            <a:endParaRPr/>
          </a:p>
        </p:txBody>
      </p:sp>
      <p:sp>
        <p:nvSpPr>
          <p:cNvPr id="493" name="Google Shape;493;p12"/>
          <p:cNvSpPr txBox="1"/>
          <p:nvPr/>
        </p:nvSpPr>
        <p:spPr>
          <a:xfrm>
            <a:off x="3383280" y="1298448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US · Canada · Central America · UK · Australia · Europe · Asia · ME</a:t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822960" y="2157984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 txBox="1"/>
          <p:nvPr/>
        </p:nvSpPr>
        <p:spPr>
          <a:xfrm>
            <a:off x="1024128" y="2157984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Industry</a:t>
            </a:r>
            <a:endParaRPr/>
          </a:p>
        </p:txBody>
      </p:sp>
      <p:sp>
        <p:nvSpPr>
          <p:cNvPr id="496" name="Google Shape;496;p12"/>
          <p:cNvSpPr txBox="1"/>
          <p:nvPr/>
        </p:nvSpPr>
        <p:spPr>
          <a:xfrm>
            <a:off x="3383280" y="2157984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Tech, Fintech, Finance, Manufacturing, Consulting, Healthcare, Marketing, Education</a:t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822960" y="3017520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 txBox="1"/>
          <p:nvPr/>
        </p:nvSpPr>
        <p:spPr>
          <a:xfrm>
            <a:off x="1024128" y="3017520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level</a:t>
            </a:r>
            <a:endParaRPr/>
          </a:p>
        </p:txBody>
      </p:sp>
      <p:sp>
        <p:nvSpPr>
          <p:cNvPr id="499" name="Google Shape;499;p12"/>
          <p:cNvSpPr txBox="1"/>
          <p:nvPr/>
        </p:nvSpPr>
        <p:spPr>
          <a:xfrm>
            <a:off x="3383280" y="3017520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Student  ·  Graduate  ·  Professional  ·  Manager  ·  Executive</a:t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822960" y="3877056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 txBox="1"/>
          <p:nvPr/>
        </p:nvSpPr>
        <p:spPr>
          <a:xfrm>
            <a:off x="1024128" y="3877056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Target role</a:t>
            </a:r>
            <a:endParaRPr/>
          </a:p>
        </p:txBody>
      </p:sp>
      <p:sp>
        <p:nvSpPr>
          <p:cNvPr id="502" name="Google Shape;502;p12"/>
          <p:cNvSpPr txBox="1"/>
          <p:nvPr/>
        </p:nvSpPr>
        <p:spPr>
          <a:xfrm>
            <a:off x="3383280" y="3877056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Software Engineer  ·  PM  ·  Data Scientist  ·  Marketing  ·  Finance  ·  more</a:t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822960" y="4736592"/>
            <a:ext cx="10543032" cy="78638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 txBox="1"/>
          <p:nvPr/>
        </p:nvSpPr>
        <p:spPr>
          <a:xfrm>
            <a:off x="1024128" y="4736592"/>
            <a:ext cx="21945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Employer</a:t>
            </a:r>
            <a:endParaRPr/>
          </a:p>
        </p:txBody>
      </p:sp>
      <p:sp>
        <p:nvSpPr>
          <p:cNvPr id="505" name="Google Shape;505;p12"/>
          <p:cNvSpPr txBox="1"/>
          <p:nvPr/>
        </p:nvSpPr>
        <p:spPr>
          <a:xfrm>
            <a:off x="3383280" y="4736592"/>
            <a:ext cx="768096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Startup  ·  SME  ·  Enterprise  ·  Multinational</a:t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DESIGN PRINCIPLE</a:t>
            </a:r>
            <a:endParaRPr/>
          </a:p>
        </p:txBody>
      </p:sp>
      <p:sp>
        <p:nvSpPr>
          <p:cNvPr id="508" name="Google Shape;508;p12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Build once. Localize the output. Serve many labor markets from a single platform.</a:t>
            </a:r>
            <a:endParaRPr/>
          </a:p>
        </p:txBody>
      </p:sp>
      <p:pic>
        <p:nvPicPr>
          <p:cNvPr descr="51careers_logo_dark.png" id="509" name="Google Shape;5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1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511" name="Google Shape;511;p1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PRODUCT ROADMAP</a:t>
            </a:r>
            <a:endParaRPr/>
          </a:p>
        </p:txBody>
      </p:sp>
      <p:sp>
        <p:nvSpPr>
          <p:cNvPr id="517" name="Google Shape;517;p13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Resume Is the Entry Point</a:t>
            </a:r>
            <a:endParaRPr/>
          </a:p>
        </p:txBody>
      </p:sp>
      <p:sp>
        <p:nvSpPr>
          <p:cNvPr id="518" name="Google Shape;518;p13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The resume on-ramps the user. The destination is the global AI career platform.</a:t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822960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987552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 txBox="1"/>
          <p:nvPr/>
        </p:nvSpPr>
        <p:spPr>
          <a:xfrm>
            <a:off x="987552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522" name="Google Shape;522;p13"/>
          <p:cNvSpPr txBox="1"/>
          <p:nvPr/>
        </p:nvSpPr>
        <p:spPr>
          <a:xfrm>
            <a:off x="987552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1</a:t>
            </a:r>
            <a:endParaRPr/>
          </a:p>
        </p:txBody>
      </p:sp>
      <p:sp>
        <p:nvSpPr>
          <p:cNvPr id="523" name="Google Shape;523;p13"/>
          <p:cNvSpPr txBox="1"/>
          <p:nvPr/>
        </p:nvSpPr>
        <p:spPr>
          <a:xfrm>
            <a:off x="987552" y="2212848"/>
            <a:ext cx="22311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</a:t>
            </a:r>
            <a:r>
              <a:rPr b="1" lang="en-US" sz="20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Toolkit</a:t>
            </a:r>
            <a:endParaRPr/>
          </a:p>
        </p:txBody>
      </p:sp>
      <p:sp>
        <p:nvSpPr>
          <p:cNvPr id="524" name="Google Shape;524;p13"/>
          <p:cNvSpPr txBox="1"/>
          <p:nvPr/>
        </p:nvSpPr>
        <p:spPr>
          <a:xfrm>
            <a:off x="987552" y="2743200"/>
            <a:ext cx="2231136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Resume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Applications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Interview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3483864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3648456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 txBox="1"/>
          <p:nvPr/>
        </p:nvSpPr>
        <p:spPr>
          <a:xfrm>
            <a:off x="3648456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528" name="Google Shape;528;p13"/>
          <p:cNvSpPr txBox="1"/>
          <p:nvPr/>
        </p:nvSpPr>
        <p:spPr>
          <a:xfrm>
            <a:off x="3648456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2</a:t>
            </a:r>
            <a:endParaRPr/>
          </a:p>
        </p:txBody>
      </p:sp>
      <p:sp>
        <p:nvSpPr>
          <p:cNvPr id="529" name="Google Shape;529;p13"/>
          <p:cNvSpPr txBox="1"/>
          <p:nvPr/>
        </p:nvSpPr>
        <p:spPr>
          <a:xfrm>
            <a:off x="3648456" y="2212848"/>
            <a:ext cx="22311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Career Agent</a:t>
            </a:r>
            <a:endParaRPr/>
          </a:p>
        </p:txBody>
      </p:sp>
      <p:sp>
        <p:nvSpPr>
          <p:cNvPr id="530" name="Google Shape;530;p13"/>
          <p:cNvSpPr txBox="1"/>
          <p:nvPr/>
        </p:nvSpPr>
        <p:spPr>
          <a:xfrm>
            <a:off x="3648456" y="2743200"/>
            <a:ext cx="2231136" cy="135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Discover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Apply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Prepare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Execute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6144768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6309360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 txBox="1"/>
          <p:nvPr/>
        </p:nvSpPr>
        <p:spPr>
          <a:xfrm>
            <a:off x="630936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534" name="Google Shape;534;p13"/>
          <p:cNvSpPr txBox="1"/>
          <p:nvPr/>
        </p:nvSpPr>
        <p:spPr>
          <a:xfrm>
            <a:off x="6309360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3</a:t>
            </a:r>
            <a:endParaRPr/>
          </a:p>
        </p:txBody>
      </p:sp>
      <p:sp>
        <p:nvSpPr>
          <p:cNvPr id="535" name="Google Shape;535;p13"/>
          <p:cNvSpPr txBox="1"/>
          <p:nvPr/>
        </p:nvSpPr>
        <p:spPr>
          <a:xfrm>
            <a:off x="6309350" y="2212849"/>
            <a:ext cx="228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Operating System</a:t>
            </a:r>
            <a:endParaRPr/>
          </a:p>
        </p:txBody>
      </p:sp>
      <p:sp>
        <p:nvSpPr>
          <p:cNvPr id="536" name="Google Shape;536;p13"/>
          <p:cNvSpPr txBox="1"/>
          <p:nvPr/>
        </p:nvSpPr>
        <p:spPr>
          <a:xfrm>
            <a:off x="6309350" y="2999227"/>
            <a:ext cx="2231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Plan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Learn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Match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Garamond"/>
                <a:ea typeface="Garamond"/>
                <a:cs typeface="Garamond"/>
                <a:sym typeface="Garamond"/>
              </a:rPr>
              <a:t>Advance</a:t>
            </a:r>
            <a:endParaRPr sz="15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8805672" y="1298448"/>
            <a:ext cx="2560320" cy="299923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8970264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 txBox="1"/>
          <p:nvPr/>
        </p:nvSpPr>
        <p:spPr>
          <a:xfrm>
            <a:off x="8970264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540" name="Google Shape;540;p13"/>
          <p:cNvSpPr txBox="1"/>
          <p:nvPr/>
        </p:nvSpPr>
        <p:spPr>
          <a:xfrm>
            <a:off x="8970264" y="1920240"/>
            <a:ext cx="22311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4</a:t>
            </a:r>
            <a:endParaRPr/>
          </a:p>
        </p:txBody>
      </p:sp>
      <p:sp>
        <p:nvSpPr>
          <p:cNvPr id="541" name="Google Shape;541;p13"/>
          <p:cNvSpPr txBox="1"/>
          <p:nvPr/>
        </p:nvSpPr>
        <p:spPr>
          <a:xfrm>
            <a:off x="8970264" y="2212848"/>
            <a:ext cx="22311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Global Career Network</a:t>
            </a:r>
            <a:endParaRPr/>
          </a:p>
        </p:txBody>
      </p:sp>
      <p:sp>
        <p:nvSpPr>
          <p:cNvPr id="542" name="Google Shape;542;p13"/>
          <p:cNvSpPr txBox="1"/>
          <p:nvPr/>
        </p:nvSpPr>
        <p:spPr>
          <a:xfrm>
            <a:off x="8970275" y="2999102"/>
            <a:ext cx="2231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Candidates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Employers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Matching</a:t>
            </a:r>
            <a:endParaRPr sz="1500">
              <a:solidFill>
                <a:srgbClr val="1E2A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822960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 txBox="1"/>
          <p:nvPr/>
        </p:nvSpPr>
        <p:spPr>
          <a:xfrm>
            <a:off x="896112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Resume</a:t>
            </a:r>
            <a:endParaRPr/>
          </a:p>
        </p:txBody>
      </p:sp>
      <p:sp>
        <p:nvSpPr>
          <p:cNvPr id="545" name="Google Shape;545;p13"/>
          <p:cNvSpPr/>
          <p:nvPr/>
        </p:nvSpPr>
        <p:spPr>
          <a:xfrm>
            <a:off x="2340864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 txBox="1"/>
          <p:nvPr/>
        </p:nvSpPr>
        <p:spPr>
          <a:xfrm>
            <a:off x="2414016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Discovery</a:t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3858768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 txBox="1"/>
          <p:nvPr/>
        </p:nvSpPr>
        <p:spPr>
          <a:xfrm>
            <a:off x="3931920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Matching</a:t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5376672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 txBox="1"/>
          <p:nvPr/>
        </p:nvSpPr>
        <p:spPr>
          <a:xfrm>
            <a:off x="5449824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Applications</a:t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6894576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 txBox="1"/>
          <p:nvPr/>
        </p:nvSpPr>
        <p:spPr>
          <a:xfrm>
            <a:off x="6967728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Cover letters</a:t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8412480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3"/>
          <p:cNvSpPr txBox="1"/>
          <p:nvPr/>
        </p:nvSpPr>
        <p:spPr>
          <a:xfrm>
            <a:off x="8485632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Interviews</a:t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9930384" y="4425696"/>
            <a:ext cx="1417320" cy="10972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 txBox="1"/>
          <p:nvPr/>
        </p:nvSpPr>
        <p:spPr>
          <a:xfrm>
            <a:off x="10003536" y="4425696"/>
            <a:ext cx="127101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Planning</a:t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SEQUENCE</a:t>
            </a:r>
            <a:endParaRPr/>
          </a:p>
        </p:txBody>
      </p:sp>
      <p:sp>
        <p:nvSpPr>
          <p:cNvPr id="559" name="Google Shape;559;p13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Resume creation  →  job discovery  →  matching  →  applications  →  interviews  →  career planning</a:t>
            </a:r>
            <a:endParaRPr/>
          </a:p>
        </p:txBody>
      </p:sp>
      <p:pic>
        <p:nvPicPr>
          <p:cNvPr descr="51careers_logo_dark.png" id="560" name="Google Shape;5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3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562" name="Google Shape;562;p1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4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BUSINESS MODEL</a:t>
            </a:r>
            <a:endParaRPr/>
          </a:p>
        </p:txBody>
      </p:sp>
      <p:sp>
        <p:nvSpPr>
          <p:cNvPr id="568" name="Google Shape;568;p14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Monetization Across the Career Journey</a:t>
            </a:r>
            <a:endParaRPr/>
          </a:p>
        </p:txBody>
      </p:sp>
      <p:sp>
        <p:nvSpPr>
          <p:cNvPr id="569" name="Google Shape;569;p14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One user. Multiple revenue paths. Not a single AI Resume transaction.</a:t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822960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1005840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 txBox="1"/>
          <p:nvPr/>
        </p:nvSpPr>
        <p:spPr>
          <a:xfrm>
            <a:off x="1005840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573" name="Google Shape;573;p14"/>
          <p:cNvSpPr txBox="1"/>
          <p:nvPr/>
        </p:nvSpPr>
        <p:spPr>
          <a:xfrm>
            <a:off x="1481328" y="1481328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product</a:t>
            </a:r>
            <a:endParaRPr/>
          </a:p>
        </p:txBody>
      </p:sp>
      <p:sp>
        <p:nvSpPr>
          <p:cNvPr id="574" name="Google Shape;574;p14"/>
          <p:cNvSpPr txBox="1"/>
          <p:nvPr/>
        </p:nvSpPr>
        <p:spPr>
          <a:xfrm>
            <a:off x="1005840" y="1956816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Subscription, premium AI features, resume packages, and AI Career tools.</a:t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4398264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4581144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 txBox="1"/>
          <p:nvPr/>
        </p:nvSpPr>
        <p:spPr>
          <a:xfrm>
            <a:off x="4581144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578" name="Google Shape;578;p14"/>
          <p:cNvSpPr txBox="1"/>
          <p:nvPr/>
        </p:nvSpPr>
        <p:spPr>
          <a:xfrm>
            <a:off x="5056632" y="1481328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services</a:t>
            </a:r>
            <a:endParaRPr/>
          </a:p>
        </p:txBody>
      </p:sp>
      <p:sp>
        <p:nvSpPr>
          <p:cNvPr id="579" name="Google Shape;579;p14"/>
          <p:cNvSpPr txBox="1"/>
          <p:nvPr/>
        </p:nvSpPr>
        <p:spPr>
          <a:xfrm>
            <a:off x="4581144" y="1956816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Resume consulting, career consulting, interview coaching, premium services.</a:t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7973568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8156448" y="148132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 txBox="1"/>
          <p:nvPr/>
        </p:nvSpPr>
        <p:spPr>
          <a:xfrm>
            <a:off x="8156448" y="14813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583" name="Google Shape;583;p14"/>
          <p:cNvSpPr txBox="1"/>
          <p:nvPr/>
        </p:nvSpPr>
        <p:spPr>
          <a:xfrm>
            <a:off x="8631936" y="1481328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Referral</a:t>
            </a:r>
            <a:endParaRPr/>
          </a:p>
        </p:txBody>
      </p:sp>
      <p:sp>
        <p:nvSpPr>
          <p:cNvPr id="584" name="Google Shape;584;p14"/>
          <p:cNvSpPr txBox="1"/>
          <p:nvPr/>
        </p:nvSpPr>
        <p:spPr>
          <a:xfrm>
            <a:off x="8156448" y="1956816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CPA / CPS / revenue share with education, training, and recruitment partners.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822960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1005840" y="3602736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 txBox="1"/>
          <p:nvPr/>
        </p:nvSpPr>
        <p:spPr>
          <a:xfrm>
            <a:off x="1005840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588" name="Google Shape;588;p14"/>
          <p:cNvSpPr txBox="1"/>
          <p:nvPr/>
        </p:nvSpPr>
        <p:spPr>
          <a:xfrm>
            <a:off x="1481328" y="360273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B2B / employers</a:t>
            </a:r>
            <a:endParaRPr/>
          </a:p>
        </p:txBody>
      </p:sp>
      <p:sp>
        <p:nvSpPr>
          <p:cNvPr id="589" name="Google Shape;589;p14"/>
          <p:cNvSpPr txBox="1"/>
          <p:nvPr/>
        </p:nvSpPr>
        <p:spPr>
          <a:xfrm>
            <a:off x="1005840" y="4078224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Talent acquisition, employer branding, recruitment campaigns, job promotion.</a:t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4398264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4581144" y="3602736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 txBox="1"/>
          <p:nvPr/>
        </p:nvSpPr>
        <p:spPr>
          <a:xfrm>
            <a:off x="4581144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593" name="Google Shape;593;p14"/>
          <p:cNvSpPr txBox="1"/>
          <p:nvPr/>
        </p:nvSpPr>
        <p:spPr>
          <a:xfrm>
            <a:off x="5056632" y="360273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Advertising</a:t>
            </a:r>
            <a:endParaRPr/>
          </a:p>
        </p:txBody>
      </p:sp>
      <p:sp>
        <p:nvSpPr>
          <p:cNvPr id="594" name="Google Shape;594;p14"/>
          <p:cNvSpPr txBox="1"/>
          <p:nvPr/>
        </p:nvSpPr>
        <p:spPr>
          <a:xfrm>
            <a:off x="4581144" y="4078224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As traffic scales: relevant brands reaching a targeted career audience.</a:t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7973568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8156448" y="3602736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 txBox="1"/>
          <p:nvPr/>
        </p:nvSpPr>
        <p:spPr>
          <a:xfrm>
            <a:off x="8156448" y="360273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598" name="Google Shape;598;p14"/>
          <p:cNvSpPr txBox="1"/>
          <p:nvPr/>
        </p:nvSpPr>
        <p:spPr>
          <a:xfrm>
            <a:off x="8631936" y="3602736"/>
            <a:ext cx="25420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Sponsorship</a:t>
            </a:r>
            <a:endParaRPr/>
          </a:p>
        </p:txBody>
      </p:sp>
      <p:sp>
        <p:nvSpPr>
          <p:cNvPr id="599" name="Google Shape;599;p14"/>
          <p:cNvSpPr txBox="1"/>
          <p:nvPr/>
        </p:nvSpPr>
        <p:spPr>
          <a:xfrm>
            <a:off x="8156448" y="4078224"/>
            <a:ext cx="30175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Career fairs, conferences, recruitment events, and AI career events.</a:t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MODEL</a:t>
            </a:r>
            <a:endParaRPr/>
          </a:p>
        </p:txBody>
      </p:sp>
      <p:sp>
        <p:nvSpPr>
          <p:cNvPr id="602" name="Google Shape;602;p14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Stack AI + services + commission + B2B + ads + sponsorship on a single career profile.</a:t>
            </a:r>
            <a:endParaRPr/>
          </a:p>
        </p:txBody>
      </p:sp>
      <p:pic>
        <p:nvPicPr>
          <p:cNvPr descr="51careers_logo_dark.png" id="603" name="Google Shape;6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605" name="Google Shape;605;p14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5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FLYWHEEL</a:t>
            </a:r>
            <a:endParaRPr/>
          </a:p>
        </p:txBody>
      </p:sp>
      <p:sp>
        <p:nvSpPr>
          <p:cNvPr id="611" name="Google Shape;611;p15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One User, Multiple Revenue Paths</a:t>
            </a:r>
            <a:endParaRPr/>
          </a:p>
        </p:txBody>
      </p:sp>
      <p:sp>
        <p:nvSpPr>
          <p:cNvPr id="612" name="Google Shape;612;p15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Free AI Resume is the top of funnel. Lifetime value is the objective.</a:t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822960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5"/>
          <p:cNvSpPr txBox="1"/>
          <p:nvPr/>
        </p:nvSpPr>
        <p:spPr>
          <a:xfrm>
            <a:off x="950976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01</a:t>
            </a:r>
            <a:endParaRPr/>
          </a:p>
        </p:txBody>
      </p:sp>
      <p:sp>
        <p:nvSpPr>
          <p:cNvPr id="615" name="Google Shape;615;p15"/>
          <p:cNvSpPr txBox="1"/>
          <p:nvPr/>
        </p:nvSpPr>
        <p:spPr>
          <a:xfrm>
            <a:off x="950976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Free AI Resume</a:t>
            </a:r>
            <a:endParaRPr/>
          </a:p>
        </p:txBody>
      </p:sp>
      <p:sp>
        <p:nvSpPr>
          <p:cNvPr id="616" name="Google Shape;616;p15"/>
          <p:cNvSpPr txBox="1"/>
          <p:nvPr/>
        </p:nvSpPr>
        <p:spPr>
          <a:xfrm>
            <a:off x="950976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Top of funnel</a:t>
            </a:r>
            <a:endParaRPr/>
          </a:p>
        </p:txBody>
      </p:sp>
      <p:sp>
        <p:nvSpPr>
          <p:cNvPr id="617" name="Google Shape;617;p15"/>
          <p:cNvSpPr/>
          <p:nvPr/>
        </p:nvSpPr>
        <p:spPr>
          <a:xfrm>
            <a:off x="2953512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5"/>
          <p:cNvSpPr txBox="1"/>
          <p:nvPr/>
        </p:nvSpPr>
        <p:spPr>
          <a:xfrm>
            <a:off x="3081528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02</a:t>
            </a:r>
            <a:endParaRPr/>
          </a:p>
        </p:txBody>
      </p:sp>
      <p:sp>
        <p:nvSpPr>
          <p:cNvPr id="619" name="Google Shape;619;p15"/>
          <p:cNvSpPr txBox="1"/>
          <p:nvPr/>
        </p:nvSpPr>
        <p:spPr>
          <a:xfrm>
            <a:off x="3081528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Acquisition</a:t>
            </a:r>
            <a:endParaRPr/>
          </a:p>
        </p:txBody>
      </p:sp>
      <p:sp>
        <p:nvSpPr>
          <p:cNvPr id="620" name="Google Shape;620;p15"/>
          <p:cNvSpPr txBox="1"/>
          <p:nvPr/>
        </p:nvSpPr>
        <p:spPr>
          <a:xfrm>
            <a:off x="3081528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Paid and organic</a:t>
            </a:r>
            <a:endParaRPr/>
          </a:p>
        </p:txBody>
      </p:sp>
      <p:sp>
        <p:nvSpPr>
          <p:cNvPr id="621" name="Google Shape;621;p15"/>
          <p:cNvSpPr/>
          <p:nvPr/>
        </p:nvSpPr>
        <p:spPr>
          <a:xfrm>
            <a:off x="5084064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 txBox="1"/>
          <p:nvPr/>
        </p:nvSpPr>
        <p:spPr>
          <a:xfrm>
            <a:off x="5212080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03</a:t>
            </a:r>
            <a:endParaRPr/>
          </a:p>
        </p:txBody>
      </p:sp>
      <p:sp>
        <p:nvSpPr>
          <p:cNvPr id="623" name="Google Shape;623;p15"/>
          <p:cNvSpPr txBox="1"/>
          <p:nvPr/>
        </p:nvSpPr>
        <p:spPr>
          <a:xfrm>
            <a:off x="5212080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profile</a:t>
            </a:r>
            <a:endParaRPr/>
          </a:p>
        </p:txBody>
      </p:sp>
      <p:sp>
        <p:nvSpPr>
          <p:cNvPr id="624" name="Google Shape;624;p15"/>
          <p:cNvSpPr txBox="1"/>
          <p:nvPr/>
        </p:nvSpPr>
        <p:spPr>
          <a:xfrm>
            <a:off x="5212080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Persistent record</a:t>
            </a:r>
            <a:endParaRPr/>
          </a:p>
        </p:txBody>
      </p:sp>
      <p:sp>
        <p:nvSpPr>
          <p:cNvPr id="625" name="Google Shape;625;p15"/>
          <p:cNvSpPr/>
          <p:nvPr/>
        </p:nvSpPr>
        <p:spPr>
          <a:xfrm>
            <a:off x="7214616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 txBox="1"/>
          <p:nvPr/>
        </p:nvSpPr>
        <p:spPr>
          <a:xfrm>
            <a:off x="7342632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04</a:t>
            </a:r>
            <a:endParaRPr/>
          </a:p>
        </p:txBody>
      </p:sp>
      <p:sp>
        <p:nvSpPr>
          <p:cNvPr id="627" name="Google Shape;627;p15"/>
          <p:cNvSpPr txBox="1"/>
          <p:nvPr/>
        </p:nvSpPr>
        <p:spPr>
          <a:xfrm>
            <a:off x="7342632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Career tools</a:t>
            </a:r>
            <a:endParaRPr/>
          </a:p>
        </p:txBody>
      </p:sp>
      <p:sp>
        <p:nvSpPr>
          <p:cNvPr id="628" name="Google Shape;628;p15"/>
          <p:cNvSpPr txBox="1"/>
          <p:nvPr/>
        </p:nvSpPr>
        <p:spPr>
          <a:xfrm>
            <a:off x="7342632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Repeat usage</a:t>
            </a:r>
            <a:endParaRPr/>
          </a:p>
        </p:txBody>
      </p:sp>
      <p:sp>
        <p:nvSpPr>
          <p:cNvPr id="629" name="Google Shape;629;p15"/>
          <p:cNvSpPr/>
          <p:nvPr/>
        </p:nvSpPr>
        <p:spPr>
          <a:xfrm>
            <a:off x="9345168" y="129844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 txBox="1"/>
          <p:nvPr/>
        </p:nvSpPr>
        <p:spPr>
          <a:xfrm>
            <a:off x="9473184" y="146304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05</a:t>
            </a:r>
            <a:endParaRPr/>
          </a:p>
        </p:txBody>
      </p:sp>
      <p:sp>
        <p:nvSpPr>
          <p:cNvPr id="631" name="Google Shape;631;p15"/>
          <p:cNvSpPr txBox="1"/>
          <p:nvPr/>
        </p:nvSpPr>
        <p:spPr>
          <a:xfrm>
            <a:off x="9473184" y="179222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Premium</a:t>
            </a:r>
            <a:endParaRPr/>
          </a:p>
        </p:txBody>
      </p:sp>
      <p:sp>
        <p:nvSpPr>
          <p:cNvPr id="632" name="Google Shape;632;p15"/>
          <p:cNvSpPr txBox="1"/>
          <p:nvPr/>
        </p:nvSpPr>
        <p:spPr>
          <a:xfrm>
            <a:off x="9473184" y="259689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Paid conversion</a:t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822960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5"/>
          <p:cNvSpPr txBox="1"/>
          <p:nvPr/>
        </p:nvSpPr>
        <p:spPr>
          <a:xfrm>
            <a:off x="950976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06</a:t>
            </a:r>
            <a:endParaRPr/>
          </a:p>
        </p:txBody>
      </p:sp>
      <p:sp>
        <p:nvSpPr>
          <p:cNvPr id="635" name="Google Shape;635;p15"/>
          <p:cNvSpPr txBox="1"/>
          <p:nvPr/>
        </p:nvSpPr>
        <p:spPr>
          <a:xfrm>
            <a:off x="950976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Services</a:t>
            </a:r>
            <a:endParaRPr/>
          </a:p>
        </p:txBody>
      </p:sp>
      <p:sp>
        <p:nvSpPr>
          <p:cNvPr id="636" name="Google Shape;636;p15"/>
          <p:cNvSpPr txBox="1"/>
          <p:nvPr/>
        </p:nvSpPr>
        <p:spPr>
          <a:xfrm>
            <a:off x="950976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Human attach</a:t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2953512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5"/>
          <p:cNvSpPr txBox="1"/>
          <p:nvPr/>
        </p:nvSpPr>
        <p:spPr>
          <a:xfrm>
            <a:off x="3081528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07</a:t>
            </a:r>
            <a:endParaRPr/>
          </a:p>
        </p:txBody>
      </p:sp>
      <p:sp>
        <p:nvSpPr>
          <p:cNvPr id="639" name="Google Shape;639;p15"/>
          <p:cNvSpPr txBox="1"/>
          <p:nvPr/>
        </p:nvSpPr>
        <p:spPr>
          <a:xfrm>
            <a:off x="3081528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Matching</a:t>
            </a:r>
            <a:endParaRPr/>
          </a:p>
        </p:txBody>
      </p:sp>
      <p:sp>
        <p:nvSpPr>
          <p:cNvPr id="640" name="Google Shape;640;p15"/>
          <p:cNvSpPr txBox="1"/>
          <p:nvPr/>
        </p:nvSpPr>
        <p:spPr>
          <a:xfrm>
            <a:off x="3081528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Job fit</a:t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5084064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5"/>
          <p:cNvSpPr txBox="1"/>
          <p:nvPr/>
        </p:nvSpPr>
        <p:spPr>
          <a:xfrm>
            <a:off x="5212080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08</a:t>
            </a:r>
            <a:endParaRPr/>
          </a:p>
        </p:txBody>
      </p:sp>
      <p:sp>
        <p:nvSpPr>
          <p:cNvPr id="643" name="Google Shape;643;p15"/>
          <p:cNvSpPr txBox="1"/>
          <p:nvPr/>
        </p:nvSpPr>
        <p:spPr>
          <a:xfrm>
            <a:off x="5212080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Referral</a:t>
            </a:r>
            <a:endParaRPr/>
          </a:p>
        </p:txBody>
      </p:sp>
      <p:sp>
        <p:nvSpPr>
          <p:cNvPr id="644" name="Google Shape;644;p15"/>
          <p:cNvSpPr txBox="1"/>
          <p:nvPr/>
        </p:nvSpPr>
        <p:spPr>
          <a:xfrm>
            <a:off x="5212080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Partner take-rate</a:t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7214616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 txBox="1"/>
          <p:nvPr/>
        </p:nvSpPr>
        <p:spPr>
          <a:xfrm>
            <a:off x="7342632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09</a:t>
            </a:r>
            <a:endParaRPr/>
          </a:p>
        </p:txBody>
      </p:sp>
      <p:sp>
        <p:nvSpPr>
          <p:cNvPr id="647" name="Google Shape;647;p15"/>
          <p:cNvSpPr txBox="1"/>
          <p:nvPr/>
        </p:nvSpPr>
        <p:spPr>
          <a:xfrm>
            <a:off x="7342632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Advertising</a:t>
            </a:r>
            <a:endParaRPr/>
          </a:p>
        </p:txBody>
      </p:sp>
      <p:sp>
        <p:nvSpPr>
          <p:cNvPr id="648" name="Google Shape;648;p15"/>
          <p:cNvSpPr txBox="1"/>
          <p:nvPr/>
        </p:nvSpPr>
        <p:spPr>
          <a:xfrm>
            <a:off x="7342632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Audience scale</a:t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9345168" y="3401568"/>
            <a:ext cx="20208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 txBox="1"/>
          <p:nvPr/>
        </p:nvSpPr>
        <p:spPr>
          <a:xfrm>
            <a:off x="9473184" y="3566160"/>
            <a:ext cx="17647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  <a:endParaRPr/>
          </a:p>
        </p:txBody>
      </p:sp>
      <p:sp>
        <p:nvSpPr>
          <p:cNvPr id="651" name="Google Shape;651;p15"/>
          <p:cNvSpPr txBox="1"/>
          <p:nvPr/>
        </p:nvSpPr>
        <p:spPr>
          <a:xfrm>
            <a:off x="9473184" y="3895344"/>
            <a:ext cx="17647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Employers</a:t>
            </a:r>
            <a:endParaRPr/>
          </a:p>
        </p:txBody>
      </p:sp>
      <p:sp>
        <p:nvSpPr>
          <p:cNvPr id="652" name="Google Shape;652;p15"/>
          <p:cNvSpPr txBox="1"/>
          <p:nvPr/>
        </p:nvSpPr>
        <p:spPr>
          <a:xfrm>
            <a:off x="9473184" y="4700016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B2B demand</a:t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5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THEREFORE</a:t>
            </a:r>
            <a:endParaRPr/>
          </a:p>
        </p:txBody>
      </p:sp>
      <p:sp>
        <p:nvSpPr>
          <p:cNvPr id="655" name="Google Shape;655;p15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Revenue is not limited to the first AI Resume transaction. Optimize for lifetime value.</a:t>
            </a:r>
            <a:endParaRPr/>
          </a:p>
        </p:txBody>
      </p:sp>
      <p:pic>
        <p:nvPicPr>
          <p:cNvPr descr="51careers_logo_dark.png" id="656" name="Google Shape;6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658" name="Google Shape;658;p1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6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USER ACQUISITION</a:t>
            </a:r>
            <a:endParaRPr/>
          </a:p>
        </p:txBody>
      </p:sp>
      <p:sp>
        <p:nvSpPr>
          <p:cNvPr id="664" name="Google Shape;664;p16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Digital  +  Offline  +  Organic</a:t>
            </a:r>
            <a:endParaRPr/>
          </a:p>
        </p:txBody>
      </p:sp>
      <p:sp>
        <p:nvSpPr>
          <p:cNvPr id="665" name="Google Shape;665;p16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 free AI product is a low-friction, globally distributable top of funnel.</a:t>
            </a:r>
            <a:endParaRPr/>
          </a:p>
        </p:txBody>
      </p:sp>
      <p:sp>
        <p:nvSpPr>
          <p:cNvPr id="666" name="Google Shape;666;p16"/>
          <p:cNvSpPr/>
          <p:nvPr/>
        </p:nvSpPr>
        <p:spPr>
          <a:xfrm>
            <a:off x="822960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 txBox="1"/>
          <p:nvPr/>
        </p:nvSpPr>
        <p:spPr>
          <a:xfrm>
            <a:off x="1024128" y="1408176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Digital</a:t>
            </a:r>
            <a:endParaRPr/>
          </a:p>
        </p:txBody>
      </p:sp>
      <p:sp>
        <p:nvSpPr>
          <p:cNvPr id="668" name="Google Shape;668;p16"/>
          <p:cNvSpPr txBox="1"/>
          <p:nvPr/>
        </p:nvSpPr>
        <p:spPr>
          <a:xfrm>
            <a:off x="1024128" y="17922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Google</a:t>
            </a:r>
            <a:endParaRPr/>
          </a:p>
        </p:txBody>
      </p:sp>
      <p:sp>
        <p:nvSpPr>
          <p:cNvPr id="669" name="Google Shape;669;p16"/>
          <p:cNvSpPr txBox="1"/>
          <p:nvPr/>
        </p:nvSpPr>
        <p:spPr>
          <a:xfrm>
            <a:off x="1024128" y="230428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Meta</a:t>
            </a:r>
            <a:endParaRPr/>
          </a:p>
        </p:txBody>
      </p:sp>
      <p:sp>
        <p:nvSpPr>
          <p:cNvPr id="670" name="Google Shape;670;p16"/>
          <p:cNvSpPr txBox="1"/>
          <p:nvPr/>
        </p:nvSpPr>
        <p:spPr>
          <a:xfrm>
            <a:off x="1024128" y="281635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TikTok</a:t>
            </a:r>
            <a:endParaRPr/>
          </a:p>
        </p:txBody>
      </p:sp>
      <p:sp>
        <p:nvSpPr>
          <p:cNvPr id="671" name="Google Shape;671;p16"/>
          <p:cNvSpPr txBox="1"/>
          <p:nvPr/>
        </p:nvSpPr>
        <p:spPr>
          <a:xfrm>
            <a:off x="1024128" y="332841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YouTube</a:t>
            </a:r>
            <a:endParaRPr/>
          </a:p>
        </p:txBody>
      </p:sp>
      <p:sp>
        <p:nvSpPr>
          <p:cNvPr id="672" name="Google Shape;672;p16"/>
          <p:cNvSpPr txBox="1"/>
          <p:nvPr/>
        </p:nvSpPr>
        <p:spPr>
          <a:xfrm>
            <a:off x="1024128" y="3840480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LinkedIn</a:t>
            </a:r>
            <a:endParaRPr/>
          </a:p>
        </p:txBody>
      </p:sp>
      <p:sp>
        <p:nvSpPr>
          <p:cNvPr id="673" name="Google Shape;673;p16"/>
          <p:cNvSpPr txBox="1"/>
          <p:nvPr/>
        </p:nvSpPr>
        <p:spPr>
          <a:xfrm>
            <a:off x="1024128" y="435254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Search / social</a:t>
            </a:r>
            <a:endParaRPr/>
          </a:p>
        </p:txBody>
      </p:sp>
      <p:sp>
        <p:nvSpPr>
          <p:cNvPr id="674" name="Google Shape;674;p16"/>
          <p:cNvSpPr txBox="1"/>
          <p:nvPr/>
        </p:nvSpPr>
        <p:spPr>
          <a:xfrm>
            <a:off x="1024128" y="486460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Content marketing</a:t>
            </a: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4398264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6"/>
          <p:cNvSpPr txBox="1"/>
          <p:nvPr/>
        </p:nvSpPr>
        <p:spPr>
          <a:xfrm>
            <a:off x="4599432" y="1408176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Organic</a:t>
            </a:r>
            <a:endParaRPr/>
          </a:p>
        </p:txBody>
      </p:sp>
      <p:sp>
        <p:nvSpPr>
          <p:cNvPr id="677" name="Google Shape;677;p16"/>
          <p:cNvSpPr txBox="1"/>
          <p:nvPr/>
        </p:nvSpPr>
        <p:spPr>
          <a:xfrm>
            <a:off x="4599432" y="17922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SEO</a:t>
            </a:r>
            <a:endParaRPr/>
          </a:p>
        </p:txBody>
      </p:sp>
      <p:sp>
        <p:nvSpPr>
          <p:cNvPr id="678" name="Google Shape;678;p16"/>
          <p:cNvSpPr txBox="1"/>
          <p:nvPr/>
        </p:nvSpPr>
        <p:spPr>
          <a:xfrm>
            <a:off x="4599432" y="230428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AI-search optimization</a:t>
            </a:r>
            <a:endParaRPr/>
          </a:p>
        </p:txBody>
      </p:sp>
      <p:sp>
        <p:nvSpPr>
          <p:cNvPr id="679" name="Google Shape;679;p16"/>
          <p:cNvSpPr txBox="1"/>
          <p:nvPr/>
        </p:nvSpPr>
        <p:spPr>
          <a:xfrm>
            <a:off x="4599432" y="281635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Career content</a:t>
            </a:r>
            <a:endParaRPr/>
          </a:p>
        </p:txBody>
      </p:sp>
      <p:sp>
        <p:nvSpPr>
          <p:cNvPr id="680" name="Google Shape;680;p16"/>
          <p:cNvSpPr txBox="1"/>
          <p:nvPr/>
        </p:nvSpPr>
        <p:spPr>
          <a:xfrm>
            <a:off x="4599432" y="332841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Educational content</a:t>
            </a:r>
            <a:endParaRPr/>
          </a:p>
        </p:txBody>
      </p:sp>
      <p:sp>
        <p:nvSpPr>
          <p:cNvPr id="681" name="Google Shape;681;p16"/>
          <p:cNvSpPr txBox="1"/>
          <p:nvPr/>
        </p:nvSpPr>
        <p:spPr>
          <a:xfrm>
            <a:off x="4599432" y="3840480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Referral programs</a:t>
            </a:r>
            <a:endParaRPr/>
          </a:p>
        </p:txBody>
      </p:sp>
      <p:sp>
        <p:nvSpPr>
          <p:cNvPr id="682" name="Google Shape;682;p16"/>
          <p:cNvSpPr txBox="1"/>
          <p:nvPr/>
        </p:nvSpPr>
        <p:spPr>
          <a:xfrm>
            <a:off x="4599432" y="435254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Affiliate partners</a:t>
            </a:r>
            <a:endParaRPr/>
          </a:p>
        </p:txBody>
      </p:sp>
      <p:sp>
        <p:nvSpPr>
          <p:cNvPr id="683" name="Google Shape;683;p16"/>
          <p:cNvSpPr txBox="1"/>
          <p:nvPr/>
        </p:nvSpPr>
        <p:spPr>
          <a:xfrm>
            <a:off x="4599432" y="486460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Community</a:t>
            </a: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7973568" y="1298448"/>
            <a:ext cx="3392424" cy="42245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6"/>
          <p:cNvSpPr txBox="1"/>
          <p:nvPr/>
        </p:nvSpPr>
        <p:spPr>
          <a:xfrm>
            <a:off x="8174736" y="1408176"/>
            <a:ext cx="2990088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Offline</a:t>
            </a:r>
            <a:endParaRPr/>
          </a:p>
        </p:txBody>
      </p:sp>
      <p:sp>
        <p:nvSpPr>
          <p:cNvPr id="686" name="Google Shape;686;p16"/>
          <p:cNvSpPr txBox="1"/>
          <p:nvPr/>
        </p:nvSpPr>
        <p:spPr>
          <a:xfrm>
            <a:off x="8174736" y="179222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Universities</a:t>
            </a:r>
            <a:endParaRPr/>
          </a:p>
        </p:txBody>
      </p:sp>
      <p:sp>
        <p:nvSpPr>
          <p:cNvPr id="687" name="Google Shape;687;p16"/>
          <p:cNvSpPr txBox="1"/>
          <p:nvPr/>
        </p:nvSpPr>
        <p:spPr>
          <a:xfrm>
            <a:off x="8174736" y="230428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Career fairs</a:t>
            </a:r>
            <a:endParaRPr/>
          </a:p>
        </p:txBody>
      </p:sp>
      <p:sp>
        <p:nvSpPr>
          <p:cNvPr id="688" name="Google Shape;688;p16"/>
          <p:cNvSpPr txBox="1"/>
          <p:nvPr/>
        </p:nvSpPr>
        <p:spPr>
          <a:xfrm>
            <a:off x="8174736" y="2816352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Student organizations</a:t>
            </a:r>
            <a:endParaRPr/>
          </a:p>
        </p:txBody>
      </p:sp>
      <p:sp>
        <p:nvSpPr>
          <p:cNvPr id="689" name="Google Shape;689;p16"/>
          <p:cNvSpPr txBox="1"/>
          <p:nvPr/>
        </p:nvSpPr>
        <p:spPr>
          <a:xfrm>
            <a:off x="8174736" y="3328416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Professional orgs</a:t>
            </a:r>
            <a:endParaRPr/>
          </a:p>
        </p:txBody>
      </p:sp>
      <p:sp>
        <p:nvSpPr>
          <p:cNvPr id="690" name="Google Shape;690;p16"/>
          <p:cNvSpPr txBox="1"/>
          <p:nvPr/>
        </p:nvSpPr>
        <p:spPr>
          <a:xfrm>
            <a:off x="8174736" y="3840480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Community events</a:t>
            </a:r>
            <a:endParaRPr/>
          </a:p>
        </p:txBody>
      </p:sp>
      <p:sp>
        <p:nvSpPr>
          <p:cNvPr id="691" name="Google Shape;691;p16"/>
          <p:cNvSpPr txBox="1"/>
          <p:nvPr/>
        </p:nvSpPr>
        <p:spPr>
          <a:xfrm>
            <a:off x="8174736" y="4352544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Employer events</a:t>
            </a:r>
            <a:endParaRPr/>
          </a:p>
        </p:txBody>
      </p:sp>
      <p:sp>
        <p:nvSpPr>
          <p:cNvPr id="692" name="Google Shape;692;p16"/>
          <p:cNvSpPr txBox="1"/>
          <p:nvPr/>
        </p:nvSpPr>
        <p:spPr>
          <a:xfrm>
            <a:off x="8174736" y="4864608"/>
            <a:ext cx="2990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Campus ambassadors</a:t>
            </a: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CORE GROWTH STRATEGY</a:t>
            </a:r>
            <a:endParaRPr/>
          </a:p>
        </p:txBody>
      </p:sp>
      <p:sp>
        <p:nvSpPr>
          <p:cNvPr id="695" name="Google Shape;695;p16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Free AI product  →  acquisition  →  registration  →  engagement  →  monetization</a:t>
            </a:r>
            <a:endParaRPr/>
          </a:p>
        </p:txBody>
      </p:sp>
      <p:pic>
        <p:nvPicPr>
          <p:cNvPr descr="51careers_logo_dark.png" id="696" name="Google Shape;6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16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698" name="Google Shape;698;p1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7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GEOGRAPHY</a:t>
            </a:r>
            <a:endParaRPr/>
          </a:p>
        </p:txBody>
      </p:sp>
      <p:sp>
        <p:nvSpPr>
          <p:cNvPr id="704" name="Google Shape;704;p17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China R&amp;D · U.S. Commercialization</a:t>
            </a:r>
            <a:endParaRPr/>
          </a:p>
        </p:txBody>
      </p:sp>
      <p:sp>
        <p:nvSpPr>
          <p:cNvPr id="705" name="Google Shape;705;p17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Build in China. Commercialize in the U.S. Expand globally from product-market fit.</a:t>
            </a:r>
            <a:endParaRPr/>
          </a:p>
        </p:txBody>
      </p:sp>
      <p:sp>
        <p:nvSpPr>
          <p:cNvPr id="706" name="Google Shape;706;p17"/>
          <p:cNvSpPr/>
          <p:nvPr/>
        </p:nvSpPr>
        <p:spPr>
          <a:xfrm>
            <a:off x="822960" y="1298448"/>
            <a:ext cx="10543032" cy="1347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7"/>
          <p:cNvSpPr/>
          <p:nvPr/>
        </p:nvSpPr>
        <p:spPr>
          <a:xfrm>
            <a:off x="1024128" y="1798319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7"/>
          <p:cNvSpPr txBox="1"/>
          <p:nvPr/>
        </p:nvSpPr>
        <p:spPr>
          <a:xfrm>
            <a:off x="1024128" y="1798319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709" name="Google Shape;709;p17"/>
          <p:cNvSpPr txBox="1"/>
          <p:nvPr/>
        </p:nvSpPr>
        <p:spPr>
          <a:xfrm>
            <a:off x="1554480" y="1444752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China  ·  R&amp;D and product</a:t>
            </a:r>
            <a:endParaRPr/>
          </a:p>
        </p:txBody>
      </p:sp>
      <p:sp>
        <p:nvSpPr>
          <p:cNvPr id="710" name="Google Shape;710;p17"/>
          <p:cNvSpPr txBox="1"/>
          <p:nvPr/>
        </p:nvSpPr>
        <p:spPr>
          <a:xfrm>
            <a:off x="1554480" y="1810512"/>
            <a:ext cx="95097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Product, design, engineering, AI, testing, marketing operations, and B2B business development — the cost-efficient build base.</a:t>
            </a:r>
            <a:endParaRPr/>
          </a:p>
        </p:txBody>
      </p:sp>
      <p:sp>
        <p:nvSpPr>
          <p:cNvPr id="711" name="Google Shape;711;p17"/>
          <p:cNvSpPr/>
          <p:nvPr/>
        </p:nvSpPr>
        <p:spPr>
          <a:xfrm>
            <a:off x="822960" y="2737104"/>
            <a:ext cx="10543032" cy="1347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1024128" y="3236975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7"/>
          <p:cNvSpPr txBox="1"/>
          <p:nvPr/>
        </p:nvSpPr>
        <p:spPr>
          <a:xfrm>
            <a:off x="1024128" y="3236975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714" name="Google Shape;714;p17"/>
          <p:cNvSpPr txBox="1"/>
          <p:nvPr/>
        </p:nvSpPr>
        <p:spPr>
          <a:xfrm>
            <a:off x="1554480" y="2883408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United States  ·  International GTM</a:t>
            </a:r>
            <a:endParaRPr/>
          </a:p>
        </p:txBody>
      </p:sp>
      <p:sp>
        <p:nvSpPr>
          <p:cNvPr id="715" name="Google Shape;715;p17"/>
          <p:cNvSpPr txBox="1"/>
          <p:nvPr/>
        </p:nvSpPr>
        <p:spPr>
          <a:xfrm>
            <a:off x="1554480" y="3249168"/>
            <a:ext cx="95097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User acquisition, local partnerships, employer and university relationships, offline events, and brand building — the first growth market.</a:t>
            </a:r>
            <a:endParaRPr/>
          </a:p>
        </p:txBody>
      </p:sp>
      <p:sp>
        <p:nvSpPr>
          <p:cNvPr id="716" name="Google Shape;716;p17"/>
          <p:cNvSpPr/>
          <p:nvPr/>
        </p:nvSpPr>
        <p:spPr>
          <a:xfrm>
            <a:off x="822960" y="4175760"/>
            <a:ext cx="10543032" cy="1347216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7"/>
          <p:cNvSpPr/>
          <p:nvPr/>
        </p:nvSpPr>
        <p:spPr>
          <a:xfrm>
            <a:off x="1024128" y="4675631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7"/>
          <p:cNvSpPr txBox="1"/>
          <p:nvPr/>
        </p:nvSpPr>
        <p:spPr>
          <a:xfrm>
            <a:off x="1024128" y="4675631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719" name="Google Shape;719;p17"/>
          <p:cNvSpPr txBox="1"/>
          <p:nvPr/>
        </p:nvSpPr>
        <p:spPr>
          <a:xfrm>
            <a:off x="1554480" y="4322064"/>
            <a:ext cx="9509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Global expansion</a:t>
            </a:r>
            <a:endParaRPr/>
          </a:p>
        </p:txBody>
      </p:sp>
      <p:sp>
        <p:nvSpPr>
          <p:cNvPr id="720" name="Google Shape;720;p17"/>
          <p:cNvSpPr txBox="1"/>
          <p:nvPr/>
        </p:nvSpPr>
        <p:spPr>
          <a:xfrm>
            <a:off x="1554480" y="4687824"/>
            <a:ext cx="950976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Once product-market fit is proven: North America  →  U.K.  →  Australia  →  Europe  →  Asia  →  other  markets.</a:t>
            </a: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7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OPERATING MODEL</a:t>
            </a:r>
            <a:endParaRPr/>
          </a:p>
        </p:txBody>
      </p:sp>
      <p:sp>
        <p:nvSpPr>
          <p:cNvPr id="723" name="Google Shape;723;p17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China builds the product. The U.S. proves GTM. Global distribution follows.</a:t>
            </a:r>
            <a:endParaRPr/>
          </a:p>
        </p:txBody>
      </p:sp>
      <p:pic>
        <p:nvPicPr>
          <p:cNvPr descr="51careers_logo_dark.png" id="724" name="Google Shape;7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726" name="Google Shape;726;p17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8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COMPETITIVE LANDSCAPE</a:t>
            </a:r>
            <a:endParaRPr/>
          </a:p>
        </p:txBody>
      </p:sp>
      <p:sp>
        <p:nvSpPr>
          <p:cNvPr id="732" name="Google Shape;732;p18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Infrastructure, Not a Resume Tool</a:t>
            </a:r>
            <a:endParaRPr/>
          </a:p>
        </p:txBody>
      </p:sp>
      <p:sp>
        <p:nvSpPr>
          <p:cNvPr id="733" name="Google Shape;733;p18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Each category has a strength. None combine AI, career expertise, services, and marketplace.</a:t>
            </a: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822960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8"/>
          <p:cNvSpPr txBox="1"/>
          <p:nvPr/>
        </p:nvSpPr>
        <p:spPr>
          <a:xfrm>
            <a:off x="1042416" y="155448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Job platforms</a:t>
            </a:r>
            <a:endParaRPr/>
          </a:p>
        </p:txBody>
      </p:sp>
      <p:sp>
        <p:nvSpPr>
          <p:cNvPr id="736" name="Google Shape;736;p18"/>
          <p:cNvSpPr txBox="1"/>
          <p:nvPr/>
        </p:nvSpPr>
        <p:spPr>
          <a:xfrm>
            <a:off x="1042416" y="206654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Large user base. Limited personalized career intelligence.</a:t>
            </a:r>
            <a:endParaRPr/>
          </a:p>
        </p:txBody>
      </p:sp>
      <p:sp>
        <p:nvSpPr>
          <p:cNvPr id="737" name="Google Shape;737;p18"/>
          <p:cNvSpPr/>
          <p:nvPr/>
        </p:nvSpPr>
        <p:spPr>
          <a:xfrm>
            <a:off x="6190488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8"/>
          <p:cNvSpPr txBox="1"/>
          <p:nvPr/>
        </p:nvSpPr>
        <p:spPr>
          <a:xfrm>
            <a:off x="6409944" y="155448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General-purpose AI</a:t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6409944" y="206654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High AI capability. Limited career specialization.</a:t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822960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8"/>
          <p:cNvSpPr txBox="1"/>
          <p:nvPr/>
        </p:nvSpPr>
        <p:spPr>
          <a:xfrm>
            <a:off x="1042416" y="365760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Traditional services</a:t>
            </a:r>
            <a:endParaRPr/>
          </a:p>
        </p:txBody>
      </p:sp>
      <p:sp>
        <p:nvSpPr>
          <p:cNvPr id="742" name="Google Shape;742;p18"/>
          <p:cNvSpPr txBox="1"/>
          <p:nvPr/>
        </p:nvSpPr>
        <p:spPr>
          <a:xfrm>
            <a:off x="1042416" y="416966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High human service. Low scalability.</a:t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6190488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18"/>
          <p:cNvSpPr txBox="1"/>
          <p:nvPr/>
        </p:nvSpPr>
        <p:spPr>
          <a:xfrm>
            <a:off x="6409944" y="3657600"/>
            <a:ext cx="473659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resume tools</a:t>
            </a:r>
            <a:endParaRPr/>
          </a:p>
        </p:txBody>
      </p:sp>
      <p:sp>
        <p:nvSpPr>
          <p:cNvPr id="745" name="Google Shape;745;p18"/>
          <p:cNvSpPr txBox="1"/>
          <p:nvPr/>
        </p:nvSpPr>
        <p:spPr>
          <a:xfrm>
            <a:off x="6409944" y="4169664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Resume-focused. Limited ecosystem beyond the document.</a:t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8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51 CAREERS</a:t>
            </a:r>
            <a:endParaRPr/>
          </a:p>
        </p:txBody>
      </p:sp>
      <p:sp>
        <p:nvSpPr>
          <p:cNvPr id="748" name="Google Shape;748;p18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+ career expertise + services + marketplace. Infrastructure, not another resume builder.</a:t>
            </a:r>
            <a:endParaRPr/>
          </a:p>
        </p:txBody>
      </p:sp>
      <p:pic>
        <p:nvPicPr>
          <p:cNvPr descr="51careers_logo_dark.png" id="749" name="Google Shape;7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8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751" name="Google Shape;751;p18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9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COMPETITIVE POSITION</a:t>
            </a:r>
            <a:endParaRPr/>
          </a:p>
        </p:txBody>
      </p:sp>
      <p:sp>
        <p:nvSpPr>
          <p:cNvPr id="757" name="Google Shape;757;p19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Why Customers Will Choose 51 Careers</a:t>
            </a:r>
            <a:endParaRPr/>
          </a:p>
        </p:txBody>
      </p:sp>
      <p:sp>
        <p:nvSpPr>
          <p:cNvPr id="758" name="Google Shape;758;p19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Operating experience, a working product, and a platform that monetizes beyond the resume.</a:t>
            </a: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822960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9"/>
          <p:cNvSpPr/>
          <p:nvPr/>
        </p:nvSpPr>
        <p:spPr>
          <a:xfrm>
            <a:off x="1005840" y="14630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9"/>
          <p:cNvSpPr txBox="1"/>
          <p:nvPr/>
        </p:nvSpPr>
        <p:spPr>
          <a:xfrm>
            <a:off x="1005840" y="1463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762" name="Google Shape;762;p19"/>
          <p:cNvSpPr txBox="1"/>
          <p:nvPr/>
        </p:nvSpPr>
        <p:spPr>
          <a:xfrm>
            <a:off x="1005840" y="19202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Career-services foundation</a:t>
            </a:r>
            <a:endParaRPr/>
          </a:p>
        </p:txBody>
      </p:sp>
      <p:sp>
        <p:nvSpPr>
          <p:cNvPr id="763" name="Google Shape;763;p19"/>
          <p:cNvSpPr txBox="1"/>
          <p:nvPr/>
        </p:nvSpPr>
        <p:spPr>
          <a:xfrm>
            <a:off x="1005840" y="2414016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We understand the industry from an operating perspective, not a slide deck.</a:t>
            </a:r>
            <a:endParaRPr/>
          </a:p>
        </p:txBody>
      </p:sp>
      <p:sp>
        <p:nvSpPr>
          <p:cNvPr id="764" name="Google Shape;764;p19"/>
          <p:cNvSpPr/>
          <p:nvPr/>
        </p:nvSpPr>
        <p:spPr>
          <a:xfrm>
            <a:off x="4398264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9"/>
          <p:cNvSpPr/>
          <p:nvPr/>
        </p:nvSpPr>
        <p:spPr>
          <a:xfrm>
            <a:off x="4581144" y="14630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9"/>
          <p:cNvSpPr txBox="1"/>
          <p:nvPr/>
        </p:nvSpPr>
        <p:spPr>
          <a:xfrm>
            <a:off x="4581144" y="1463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767" name="Google Shape;767;p19"/>
          <p:cNvSpPr txBox="1"/>
          <p:nvPr/>
        </p:nvSpPr>
        <p:spPr>
          <a:xfrm>
            <a:off x="4581144" y="19202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Product already built</a:t>
            </a:r>
            <a:endParaRPr/>
          </a:p>
        </p:txBody>
      </p:sp>
      <p:sp>
        <p:nvSpPr>
          <p:cNvPr id="768" name="Google Shape;768;p19"/>
          <p:cNvSpPr txBox="1"/>
          <p:nvPr/>
        </p:nvSpPr>
        <p:spPr>
          <a:xfrm>
            <a:off x="4581144" y="2414016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Not a concept company. Demo built, tested, and internally benchmarked.</a:t>
            </a:r>
            <a:endParaRPr/>
          </a:p>
        </p:txBody>
      </p:sp>
      <p:sp>
        <p:nvSpPr>
          <p:cNvPr id="769" name="Google Shape;769;p19"/>
          <p:cNvSpPr/>
          <p:nvPr/>
        </p:nvSpPr>
        <p:spPr>
          <a:xfrm>
            <a:off x="7973568" y="1298448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8156448" y="1463040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9"/>
          <p:cNvSpPr txBox="1"/>
          <p:nvPr/>
        </p:nvSpPr>
        <p:spPr>
          <a:xfrm>
            <a:off x="8156448" y="14630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772" name="Google Shape;772;p19"/>
          <p:cNvSpPr txBox="1"/>
          <p:nvPr/>
        </p:nvSpPr>
        <p:spPr>
          <a:xfrm>
            <a:off x="8156448" y="192024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Global scalability</a:t>
            </a:r>
            <a:endParaRPr/>
          </a:p>
        </p:txBody>
      </p:sp>
      <p:sp>
        <p:nvSpPr>
          <p:cNvPr id="773" name="Google Shape;773;p19"/>
          <p:cNvSpPr txBox="1"/>
          <p:nvPr/>
        </p:nvSpPr>
        <p:spPr>
          <a:xfrm>
            <a:off x="8156448" y="2414016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Resume can be distributed worldwide through digital channels from day one.</a:t>
            </a:r>
            <a:endParaRPr/>
          </a:p>
        </p:txBody>
      </p:sp>
      <p:sp>
        <p:nvSpPr>
          <p:cNvPr id="774" name="Google Shape;774;p19"/>
          <p:cNvSpPr/>
          <p:nvPr/>
        </p:nvSpPr>
        <p:spPr>
          <a:xfrm>
            <a:off x="822960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9"/>
          <p:cNvSpPr/>
          <p:nvPr/>
        </p:nvSpPr>
        <p:spPr>
          <a:xfrm>
            <a:off x="1005840" y="35844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9"/>
          <p:cNvSpPr txBox="1"/>
          <p:nvPr/>
        </p:nvSpPr>
        <p:spPr>
          <a:xfrm>
            <a:off x="1005840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777" name="Google Shape;777;p19"/>
          <p:cNvSpPr txBox="1"/>
          <p:nvPr/>
        </p:nvSpPr>
        <p:spPr>
          <a:xfrm>
            <a:off x="1005840" y="4041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Multiple monetization paths</a:t>
            </a:r>
            <a:endParaRPr/>
          </a:p>
        </p:txBody>
      </p:sp>
      <p:sp>
        <p:nvSpPr>
          <p:cNvPr id="778" name="Google Shape;778;p19"/>
          <p:cNvSpPr txBox="1"/>
          <p:nvPr/>
        </p:nvSpPr>
        <p:spPr>
          <a:xfrm>
            <a:off x="1005840" y="4535424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Subscription + services + commission + B2B + ads + sponsorship.</a:t>
            </a:r>
            <a:endParaRPr/>
          </a:p>
        </p:txBody>
      </p:sp>
      <p:sp>
        <p:nvSpPr>
          <p:cNvPr id="779" name="Google Shape;779;p19"/>
          <p:cNvSpPr/>
          <p:nvPr/>
        </p:nvSpPr>
        <p:spPr>
          <a:xfrm>
            <a:off x="4398264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9"/>
          <p:cNvSpPr/>
          <p:nvPr/>
        </p:nvSpPr>
        <p:spPr>
          <a:xfrm>
            <a:off x="4581144" y="35844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9"/>
          <p:cNvSpPr txBox="1"/>
          <p:nvPr/>
        </p:nvSpPr>
        <p:spPr>
          <a:xfrm>
            <a:off x="4581144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782" name="Google Shape;782;p19"/>
          <p:cNvSpPr txBox="1"/>
          <p:nvPr/>
        </p:nvSpPr>
        <p:spPr>
          <a:xfrm>
            <a:off x="4581144" y="4041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+ human hybrid</a:t>
            </a:r>
            <a:endParaRPr/>
          </a:p>
        </p:txBody>
      </p:sp>
      <p:sp>
        <p:nvSpPr>
          <p:cNvPr id="783" name="Google Shape;783;p19"/>
          <p:cNvSpPr txBox="1"/>
          <p:nvPr/>
        </p:nvSpPr>
        <p:spPr>
          <a:xfrm>
            <a:off x="4581144" y="4535424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for scalable work. Humans for high-value, complex career services.</a:t>
            </a:r>
            <a:endParaRPr/>
          </a:p>
        </p:txBody>
      </p:sp>
      <p:sp>
        <p:nvSpPr>
          <p:cNvPr id="784" name="Google Shape;784;p19"/>
          <p:cNvSpPr/>
          <p:nvPr/>
        </p:nvSpPr>
        <p:spPr>
          <a:xfrm>
            <a:off x="7973568" y="3419856"/>
            <a:ext cx="3392424" cy="2011680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9"/>
          <p:cNvSpPr/>
          <p:nvPr/>
        </p:nvSpPr>
        <p:spPr>
          <a:xfrm>
            <a:off x="8156448" y="3584448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9"/>
          <p:cNvSpPr txBox="1"/>
          <p:nvPr/>
        </p:nvSpPr>
        <p:spPr>
          <a:xfrm>
            <a:off x="8156448" y="35844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787" name="Google Shape;787;p19"/>
          <p:cNvSpPr txBox="1"/>
          <p:nvPr/>
        </p:nvSpPr>
        <p:spPr>
          <a:xfrm>
            <a:off x="8156448" y="4041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Platform potential</a:t>
            </a:r>
            <a:endParaRPr/>
          </a:p>
        </p:txBody>
      </p:sp>
      <p:sp>
        <p:nvSpPr>
          <p:cNvPr id="788" name="Google Shape;788;p19"/>
          <p:cNvSpPr txBox="1"/>
          <p:nvPr/>
        </p:nvSpPr>
        <p:spPr>
          <a:xfrm>
            <a:off x="8156448" y="4535424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The long-term opportunity extends beyond resumes into the career ecosystem.</a:t>
            </a:r>
            <a:endParaRPr/>
          </a:p>
        </p:txBody>
      </p:sp>
      <p:sp>
        <p:nvSpPr>
          <p:cNvPr id="789" name="Google Shape;789;p19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POSITIONING</a:t>
            </a:r>
            <a:endParaRPr/>
          </a:p>
        </p:txBody>
      </p:sp>
      <p:sp>
        <p:nvSpPr>
          <p:cNvPr id="791" name="Google Shape;791;p19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 working AI product on a career-services operating base — built to become infrastructure.</a:t>
            </a:r>
            <a:endParaRPr/>
          </a:p>
        </p:txBody>
      </p:sp>
      <p:pic>
        <p:nvPicPr>
          <p:cNvPr descr="51careers_logo_dark.png" id="792" name="Google Shape;7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9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794" name="Google Shape;794;p19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LEADERSHIP</a:t>
            </a:r>
            <a:endParaRPr/>
          </a:p>
        </p:txBody>
      </p:sp>
      <p:sp>
        <p:nvSpPr>
          <p:cNvPr id="800" name="Google Shape;800;p20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Executive Leadership Team</a:t>
            </a:r>
            <a:endParaRPr/>
          </a:p>
        </p:txBody>
      </p:sp>
      <p:sp>
        <p:nvSpPr>
          <p:cNvPr id="801" name="Google Shape;801;p20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Founder-led. Globally distributed. All six in place.</a:t>
            </a:r>
            <a:endParaRPr/>
          </a:p>
        </p:txBody>
      </p:sp>
      <p:sp>
        <p:nvSpPr>
          <p:cNvPr id="802" name="Google Shape;802;p20"/>
          <p:cNvSpPr/>
          <p:nvPr/>
        </p:nvSpPr>
        <p:spPr>
          <a:xfrm>
            <a:off x="822960" y="1298448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0"/>
          <p:cNvSpPr txBox="1"/>
          <p:nvPr/>
        </p:nvSpPr>
        <p:spPr>
          <a:xfrm>
            <a:off x="987552" y="144475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Rocky Chen</a:t>
            </a:r>
            <a:endParaRPr/>
          </a:p>
        </p:txBody>
      </p:sp>
      <p:sp>
        <p:nvSpPr>
          <p:cNvPr id="804" name="Google Shape;804;p20"/>
          <p:cNvSpPr txBox="1"/>
          <p:nvPr/>
        </p:nvSpPr>
        <p:spPr>
          <a:xfrm>
            <a:off x="987552" y="1773936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FOUNDER &amp; CEO</a:t>
            </a:r>
            <a:endParaRPr/>
          </a:p>
        </p:txBody>
      </p:sp>
      <p:sp>
        <p:nvSpPr>
          <p:cNvPr id="805" name="Google Shape;805;p20"/>
          <p:cNvSpPr txBox="1"/>
          <p:nvPr/>
        </p:nvSpPr>
        <p:spPr>
          <a:xfrm>
            <a:off x="987552" y="2103120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Founded 51 Careers in New York in 2016 and built a multi-market career-services and technology business.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Founder of 51 Careers.AI; Managing Director at listed Helio. Architect of the AI-first strategy and 2025 Alibaba Cloud partnership.</a:t>
            </a:r>
            <a:endParaRPr/>
          </a:p>
        </p:txBody>
      </p:sp>
      <p:sp>
        <p:nvSpPr>
          <p:cNvPr id="806" name="Google Shape;806;p20"/>
          <p:cNvSpPr/>
          <p:nvPr/>
        </p:nvSpPr>
        <p:spPr>
          <a:xfrm>
            <a:off x="4398264" y="1298448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0"/>
          <p:cNvSpPr txBox="1"/>
          <p:nvPr/>
        </p:nvSpPr>
        <p:spPr>
          <a:xfrm>
            <a:off x="4562856" y="144475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Stephanie Li</a:t>
            </a:r>
            <a:endParaRPr/>
          </a:p>
        </p:txBody>
      </p:sp>
      <p:sp>
        <p:nvSpPr>
          <p:cNvPr id="808" name="Google Shape;808;p20"/>
          <p:cNvSpPr txBox="1"/>
          <p:nvPr/>
        </p:nvSpPr>
        <p:spPr>
          <a:xfrm>
            <a:off x="4562856" y="1773936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CO-FOUNDER &amp; CFO</a:t>
            </a:r>
            <a:endParaRPr/>
          </a:p>
        </p:txBody>
      </p:sp>
      <p:sp>
        <p:nvSpPr>
          <p:cNvPr id="809" name="Google Shape;809;p20"/>
          <p:cNvSpPr txBox="1"/>
          <p:nvPr/>
        </p:nvSpPr>
        <p:spPr>
          <a:xfrm>
            <a:off x="4562856" y="2103120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Co-founder since 2016. U.S. CPA; M.S. Accounting, Pace University.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Oversees financial strategy, corporate governance, and sustainable growth for 51 Careers and 51 Careers.AI.</a:t>
            </a:r>
            <a:endParaRPr/>
          </a:p>
        </p:txBody>
      </p:sp>
      <p:sp>
        <p:nvSpPr>
          <p:cNvPr id="810" name="Google Shape;810;p20"/>
          <p:cNvSpPr/>
          <p:nvPr/>
        </p:nvSpPr>
        <p:spPr>
          <a:xfrm>
            <a:off x="7973568" y="1298448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 txBox="1"/>
          <p:nvPr/>
        </p:nvSpPr>
        <p:spPr>
          <a:xfrm>
            <a:off x="8138160" y="144475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Gavin Ding</a:t>
            </a:r>
            <a:endParaRPr/>
          </a:p>
        </p:txBody>
      </p:sp>
      <p:sp>
        <p:nvSpPr>
          <p:cNvPr id="812" name="Google Shape;812;p20"/>
          <p:cNvSpPr txBox="1"/>
          <p:nvPr/>
        </p:nvSpPr>
        <p:spPr>
          <a:xfrm>
            <a:off x="8138160" y="1773936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CO-FOUNDER, CTO &amp; COO</a:t>
            </a:r>
            <a:endParaRPr/>
          </a:p>
        </p:txBody>
      </p:sp>
      <p:sp>
        <p:nvSpPr>
          <p:cNvPr id="813" name="Google Shape;813;p20"/>
          <p:cNvSpPr txBox="1"/>
          <p:nvPr/>
        </p:nvSpPr>
        <p:spPr>
          <a:xfrm>
            <a:off x="8138160" y="2103120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Serial entrepreneur (10+ years) across SaaS, AI, and digital business; B.S. Computer Science, ECUST.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Prior CTO roles and multiple co-founded ventures. Leads technology, operations, and AI.</a:t>
            </a:r>
            <a:endParaRPr/>
          </a:p>
        </p:txBody>
      </p:sp>
      <p:sp>
        <p:nvSpPr>
          <p:cNvPr id="814" name="Google Shape;814;p20"/>
          <p:cNvSpPr/>
          <p:nvPr/>
        </p:nvSpPr>
        <p:spPr>
          <a:xfrm>
            <a:off x="822960" y="3803904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0"/>
          <p:cNvSpPr txBox="1"/>
          <p:nvPr/>
        </p:nvSpPr>
        <p:spPr>
          <a:xfrm>
            <a:off x="987552" y="395020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Robin Zhu</a:t>
            </a:r>
            <a:endParaRPr/>
          </a:p>
        </p:txBody>
      </p:sp>
      <p:sp>
        <p:nvSpPr>
          <p:cNvPr id="816" name="Google Shape;816;p20"/>
          <p:cNvSpPr txBox="1"/>
          <p:nvPr/>
        </p:nvSpPr>
        <p:spPr>
          <a:xfrm>
            <a:off x="987552" y="4279392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HEAD OF PRODUCT</a:t>
            </a:r>
            <a:endParaRPr/>
          </a:p>
        </p:txBody>
      </p:sp>
      <p:sp>
        <p:nvSpPr>
          <p:cNvPr id="817" name="Google Shape;817;p20"/>
          <p:cNvSpPr txBox="1"/>
          <p:nvPr/>
        </p:nvSpPr>
        <p:spPr>
          <a:xfrm>
            <a:off x="987552" y="4608576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Leads product strategy, architecture, and development of the AI-powered career platform.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Former CTO &amp; Director of Product at Ci Finance; senior product roles at CPIC, Allinpay, and Noah.</a:t>
            </a:r>
            <a:endParaRPr/>
          </a:p>
        </p:txBody>
      </p:sp>
      <p:sp>
        <p:nvSpPr>
          <p:cNvPr id="818" name="Google Shape;818;p20"/>
          <p:cNvSpPr/>
          <p:nvPr/>
        </p:nvSpPr>
        <p:spPr>
          <a:xfrm>
            <a:off x="4398264" y="3803904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0"/>
          <p:cNvSpPr txBox="1"/>
          <p:nvPr/>
        </p:nvSpPr>
        <p:spPr>
          <a:xfrm>
            <a:off x="4562856" y="395020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Chris Lin</a:t>
            </a:r>
            <a:endParaRPr/>
          </a:p>
        </p:txBody>
      </p:sp>
      <p:sp>
        <p:nvSpPr>
          <p:cNvPr id="820" name="Google Shape;820;p20"/>
          <p:cNvSpPr txBox="1"/>
          <p:nvPr/>
        </p:nvSpPr>
        <p:spPr>
          <a:xfrm>
            <a:off x="4562856" y="4279392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NORTH AMERICAN PARTNER</a:t>
            </a:r>
            <a:endParaRPr/>
          </a:p>
        </p:txBody>
      </p:sp>
      <p:sp>
        <p:nvSpPr>
          <p:cNvPr id="821" name="Google Shape;821;p20"/>
          <p:cNvSpPr txBox="1"/>
          <p:nvPr/>
        </p:nvSpPr>
        <p:spPr>
          <a:xfrm>
            <a:off x="4562856" y="4608576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Full-stack engineer; previously at Amazon Web Services (AWS). B.S. Northwestern; M.S. Robotics.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Extensive hiring-panel experience and professional mentorship across North America.</a:t>
            </a:r>
            <a:endParaRPr/>
          </a:p>
        </p:txBody>
      </p:sp>
      <p:sp>
        <p:nvSpPr>
          <p:cNvPr id="822" name="Google Shape;822;p20"/>
          <p:cNvSpPr/>
          <p:nvPr/>
        </p:nvSpPr>
        <p:spPr>
          <a:xfrm>
            <a:off x="7973568" y="3803904"/>
            <a:ext cx="3392424" cy="2395728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"/>
          <p:cNvSpPr txBox="1"/>
          <p:nvPr/>
        </p:nvSpPr>
        <p:spPr>
          <a:xfrm>
            <a:off x="8138160" y="3950208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Jon Serbin</a:t>
            </a:r>
            <a:endParaRPr/>
          </a:p>
        </p:txBody>
      </p:sp>
      <p:sp>
        <p:nvSpPr>
          <p:cNvPr id="824" name="Google Shape;824;p20"/>
          <p:cNvSpPr txBox="1"/>
          <p:nvPr/>
        </p:nvSpPr>
        <p:spPr>
          <a:xfrm>
            <a:off x="8138160" y="4279392"/>
            <a:ext cx="3063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SENIOR ADVISOR</a:t>
            </a:r>
            <a:endParaRPr/>
          </a:p>
        </p:txBody>
      </p:sp>
      <p:sp>
        <p:nvSpPr>
          <p:cNvPr id="825" name="Google Shape;825;p20"/>
          <p:cNvSpPr txBox="1"/>
          <p:nvPr/>
        </p:nvSpPr>
        <p:spPr>
          <a:xfrm>
            <a:off x="8138160" y="4608576"/>
            <a:ext cx="306324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Harvard and MIT; former senior executive at Morgan Stanley; founder of Cedar.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40+ years in technology M&amp;A and capital raising. Advises 51 Careers on growth and expansion.</a:t>
            </a:r>
            <a:endParaRPr/>
          </a:p>
        </p:txBody>
      </p:sp>
      <p:pic>
        <p:nvPicPr>
          <p:cNvPr descr="51careers_logo_dark.png" id="826" name="Google Shape;8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20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828" name="Google Shape;828;p20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1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TEAM</a:t>
            </a:r>
            <a:endParaRPr/>
          </a:p>
        </p:txBody>
      </p:sp>
      <p:sp>
        <p:nvSpPr>
          <p:cNvPr id="834" name="Google Shape;834;p21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Founding Team in Place · Planned Hiring</a:t>
            </a:r>
            <a:endParaRPr/>
          </a:p>
        </p:txBody>
      </p:sp>
      <p:sp>
        <p:nvSpPr>
          <p:cNvPr id="835" name="Google Shape;835;p21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Four founders in place. This round funds China tech, China growth, and U.S. growth.</a:t>
            </a:r>
            <a:endParaRPr/>
          </a:p>
        </p:txBody>
      </p:sp>
      <p:sp>
        <p:nvSpPr>
          <p:cNvPr id="836" name="Google Shape;836;p21"/>
          <p:cNvSpPr/>
          <p:nvPr/>
        </p:nvSpPr>
        <p:spPr>
          <a:xfrm>
            <a:off x="822960" y="1298448"/>
            <a:ext cx="338328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1"/>
          <p:cNvSpPr txBox="1"/>
          <p:nvPr/>
        </p:nvSpPr>
        <p:spPr>
          <a:xfrm>
            <a:off x="1024128" y="1426464"/>
            <a:ext cx="3017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Existing</a:t>
            </a:r>
            <a:endParaRPr/>
          </a:p>
        </p:txBody>
      </p:sp>
      <p:sp>
        <p:nvSpPr>
          <p:cNvPr id="838" name="Google Shape;838;p21"/>
          <p:cNvSpPr txBox="1"/>
          <p:nvPr/>
        </p:nvSpPr>
        <p:spPr>
          <a:xfrm>
            <a:off x="1024128" y="1682496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Founding team</a:t>
            </a:r>
            <a:endParaRPr/>
          </a:p>
        </p:txBody>
      </p:sp>
      <p:sp>
        <p:nvSpPr>
          <p:cNvPr id="839" name="Google Shape;839;p21"/>
          <p:cNvSpPr txBox="1"/>
          <p:nvPr/>
        </p:nvSpPr>
        <p:spPr>
          <a:xfrm>
            <a:off x="1024128" y="204825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840" name="Google Shape;840;p21"/>
          <p:cNvSpPr txBox="1"/>
          <p:nvPr/>
        </p:nvSpPr>
        <p:spPr>
          <a:xfrm>
            <a:off x="1024128" y="270662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In place today</a:t>
            </a:r>
            <a:endParaRPr/>
          </a:p>
        </p:txBody>
      </p:sp>
      <p:sp>
        <p:nvSpPr>
          <p:cNvPr id="841" name="Google Shape;841;p21"/>
          <p:cNvSpPr txBox="1"/>
          <p:nvPr/>
        </p:nvSpPr>
        <p:spPr>
          <a:xfrm>
            <a:off x="1024128" y="3273552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Product, capital, and GTM</a:t>
            </a:r>
            <a:endParaRPr/>
          </a:p>
        </p:txBody>
      </p:sp>
      <p:sp>
        <p:nvSpPr>
          <p:cNvPr id="842" name="Google Shape;842;p21"/>
          <p:cNvSpPr txBox="1"/>
          <p:nvPr/>
        </p:nvSpPr>
        <p:spPr>
          <a:xfrm>
            <a:off x="1024128" y="3840480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Additional seats not yet hired</a:t>
            </a:r>
            <a:endParaRPr/>
          </a:p>
        </p:txBody>
      </p:sp>
      <p:sp>
        <p:nvSpPr>
          <p:cNvPr id="843" name="Google Shape;843;p21"/>
          <p:cNvSpPr txBox="1"/>
          <p:nvPr/>
        </p:nvSpPr>
        <p:spPr>
          <a:xfrm>
            <a:off x="1024128" y="4407408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This round funds the team</a:t>
            </a:r>
            <a:endParaRPr/>
          </a:p>
        </p:txBody>
      </p:sp>
      <p:sp>
        <p:nvSpPr>
          <p:cNvPr id="844" name="Google Shape;844;p21"/>
          <p:cNvSpPr txBox="1"/>
          <p:nvPr/>
        </p:nvSpPr>
        <p:spPr>
          <a:xfrm>
            <a:off x="1024128" y="4974336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China tech, growth, U.S. growth</a:t>
            </a:r>
            <a:endParaRPr/>
          </a:p>
        </p:txBody>
      </p:sp>
      <p:sp>
        <p:nvSpPr>
          <p:cNvPr id="845" name="Google Shape;845;p21"/>
          <p:cNvSpPr txBox="1"/>
          <p:nvPr/>
        </p:nvSpPr>
        <p:spPr>
          <a:xfrm>
            <a:off x="1024128" y="5541264"/>
            <a:ext cx="30175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Hire against product and GTM</a:t>
            </a:r>
            <a:endParaRPr/>
          </a:p>
        </p:txBody>
      </p:sp>
      <p:sp>
        <p:nvSpPr>
          <p:cNvPr id="846" name="Google Shape;846;p21"/>
          <p:cNvSpPr/>
          <p:nvPr/>
        </p:nvSpPr>
        <p:spPr>
          <a:xfrm>
            <a:off x="4389120" y="1298448"/>
            <a:ext cx="237744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1"/>
          <p:cNvSpPr txBox="1"/>
          <p:nvPr/>
        </p:nvSpPr>
        <p:spPr>
          <a:xfrm>
            <a:off x="4517136" y="140817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Planned</a:t>
            </a:r>
            <a:endParaRPr/>
          </a:p>
        </p:txBody>
      </p:sp>
      <p:sp>
        <p:nvSpPr>
          <p:cNvPr id="848" name="Google Shape;848;p21"/>
          <p:cNvSpPr txBox="1"/>
          <p:nvPr/>
        </p:nvSpPr>
        <p:spPr>
          <a:xfrm>
            <a:off x="4517136" y="162763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China technology</a:t>
            </a:r>
            <a:endParaRPr/>
          </a:p>
        </p:txBody>
      </p:sp>
      <p:sp>
        <p:nvSpPr>
          <p:cNvPr id="849" name="Google Shape;849;p21"/>
          <p:cNvSpPr txBox="1"/>
          <p:nvPr/>
        </p:nvSpPr>
        <p:spPr>
          <a:xfrm>
            <a:off x="4517136" y="19385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  <a:endParaRPr/>
          </a:p>
        </p:txBody>
      </p:sp>
      <p:sp>
        <p:nvSpPr>
          <p:cNvPr id="850" name="Google Shape;850;p21"/>
          <p:cNvSpPr txBox="1"/>
          <p:nvPr/>
        </p:nvSpPr>
        <p:spPr>
          <a:xfrm>
            <a:off x="4517136" y="241401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Product Manager</a:t>
            </a:r>
            <a:endParaRPr/>
          </a:p>
        </p:txBody>
      </p:sp>
      <p:sp>
        <p:nvSpPr>
          <p:cNvPr id="851" name="Google Shape;851;p21"/>
          <p:cNvSpPr txBox="1"/>
          <p:nvPr/>
        </p:nvSpPr>
        <p:spPr>
          <a:xfrm>
            <a:off x="5943600" y="241401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2" name="Google Shape;852;p21"/>
          <p:cNvSpPr txBox="1"/>
          <p:nvPr/>
        </p:nvSpPr>
        <p:spPr>
          <a:xfrm>
            <a:off x="4517136" y="305409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Designer</a:t>
            </a:r>
            <a:endParaRPr/>
          </a:p>
        </p:txBody>
      </p:sp>
      <p:sp>
        <p:nvSpPr>
          <p:cNvPr id="853" name="Google Shape;853;p21"/>
          <p:cNvSpPr txBox="1"/>
          <p:nvPr/>
        </p:nvSpPr>
        <p:spPr>
          <a:xfrm>
            <a:off x="5943600" y="305409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4" name="Google Shape;854;p21"/>
          <p:cNvSpPr txBox="1"/>
          <p:nvPr/>
        </p:nvSpPr>
        <p:spPr>
          <a:xfrm>
            <a:off x="4517136" y="369417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QA / Testing</a:t>
            </a:r>
            <a:endParaRPr/>
          </a:p>
        </p:txBody>
      </p:sp>
      <p:sp>
        <p:nvSpPr>
          <p:cNvPr id="855" name="Google Shape;855;p21"/>
          <p:cNvSpPr txBox="1"/>
          <p:nvPr/>
        </p:nvSpPr>
        <p:spPr>
          <a:xfrm>
            <a:off x="5943600" y="369417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6" name="Google Shape;856;p21"/>
          <p:cNvSpPr txBox="1"/>
          <p:nvPr/>
        </p:nvSpPr>
        <p:spPr>
          <a:xfrm>
            <a:off x="4517136" y="433425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Front-End Engineer</a:t>
            </a:r>
            <a:endParaRPr/>
          </a:p>
        </p:txBody>
      </p:sp>
      <p:sp>
        <p:nvSpPr>
          <p:cNvPr id="857" name="Google Shape;857;p21"/>
          <p:cNvSpPr txBox="1"/>
          <p:nvPr/>
        </p:nvSpPr>
        <p:spPr>
          <a:xfrm>
            <a:off x="5943600" y="433425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58" name="Google Shape;858;p21"/>
          <p:cNvSpPr txBox="1"/>
          <p:nvPr/>
        </p:nvSpPr>
        <p:spPr>
          <a:xfrm>
            <a:off x="4517136" y="497433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Back-End Engineers</a:t>
            </a:r>
            <a:endParaRPr/>
          </a:p>
        </p:txBody>
      </p:sp>
      <p:sp>
        <p:nvSpPr>
          <p:cNvPr id="859" name="Google Shape;859;p21"/>
          <p:cNvSpPr txBox="1"/>
          <p:nvPr/>
        </p:nvSpPr>
        <p:spPr>
          <a:xfrm>
            <a:off x="5943600" y="497433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860" name="Google Shape;860;p21"/>
          <p:cNvSpPr txBox="1"/>
          <p:nvPr/>
        </p:nvSpPr>
        <p:spPr>
          <a:xfrm>
            <a:off x="4517136" y="5614416"/>
            <a:ext cx="14813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Engineer</a:t>
            </a:r>
            <a:endParaRPr/>
          </a:p>
        </p:txBody>
      </p:sp>
      <p:sp>
        <p:nvSpPr>
          <p:cNvPr id="861" name="Google Shape;861;p21"/>
          <p:cNvSpPr txBox="1"/>
          <p:nvPr/>
        </p:nvSpPr>
        <p:spPr>
          <a:xfrm>
            <a:off x="5943600" y="5614416"/>
            <a:ext cx="65836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62" name="Google Shape;862;p21"/>
          <p:cNvSpPr/>
          <p:nvPr/>
        </p:nvSpPr>
        <p:spPr>
          <a:xfrm>
            <a:off x="6903720" y="1298448"/>
            <a:ext cx="237744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1"/>
          <p:cNvSpPr txBox="1"/>
          <p:nvPr/>
        </p:nvSpPr>
        <p:spPr>
          <a:xfrm>
            <a:off x="7031736" y="140817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Planned</a:t>
            </a:r>
            <a:endParaRPr/>
          </a:p>
        </p:txBody>
      </p:sp>
      <p:sp>
        <p:nvSpPr>
          <p:cNvPr id="864" name="Google Shape;864;p21"/>
          <p:cNvSpPr txBox="1"/>
          <p:nvPr/>
        </p:nvSpPr>
        <p:spPr>
          <a:xfrm>
            <a:off x="7031736" y="162763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China growth</a:t>
            </a:r>
            <a:endParaRPr/>
          </a:p>
        </p:txBody>
      </p:sp>
      <p:sp>
        <p:nvSpPr>
          <p:cNvPr id="865" name="Google Shape;865;p21"/>
          <p:cNvSpPr txBox="1"/>
          <p:nvPr/>
        </p:nvSpPr>
        <p:spPr>
          <a:xfrm>
            <a:off x="7031736" y="19385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2+</a:t>
            </a:r>
            <a:endParaRPr/>
          </a:p>
        </p:txBody>
      </p:sp>
      <p:sp>
        <p:nvSpPr>
          <p:cNvPr id="866" name="Google Shape;866;p21"/>
          <p:cNvSpPr txBox="1"/>
          <p:nvPr/>
        </p:nvSpPr>
        <p:spPr>
          <a:xfrm>
            <a:off x="7031736" y="2414016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Performance ads</a:t>
            </a:r>
            <a:endParaRPr/>
          </a:p>
        </p:txBody>
      </p:sp>
      <p:sp>
        <p:nvSpPr>
          <p:cNvPr id="867" name="Google Shape;867;p21"/>
          <p:cNvSpPr txBox="1"/>
          <p:nvPr/>
        </p:nvSpPr>
        <p:spPr>
          <a:xfrm>
            <a:off x="8458200" y="2414016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68" name="Google Shape;868;p21"/>
          <p:cNvSpPr txBox="1"/>
          <p:nvPr/>
        </p:nvSpPr>
        <p:spPr>
          <a:xfrm>
            <a:off x="7031736" y="28529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B2B development</a:t>
            </a:r>
            <a:endParaRPr/>
          </a:p>
        </p:txBody>
      </p:sp>
      <p:sp>
        <p:nvSpPr>
          <p:cNvPr id="869" name="Google Shape;869;p21"/>
          <p:cNvSpPr txBox="1"/>
          <p:nvPr/>
        </p:nvSpPr>
        <p:spPr>
          <a:xfrm>
            <a:off x="8458200" y="2852928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1+</a:t>
            </a:r>
            <a:endParaRPr/>
          </a:p>
        </p:txBody>
      </p:sp>
      <p:sp>
        <p:nvSpPr>
          <p:cNvPr id="870" name="Google Shape;870;p21"/>
          <p:cNvSpPr txBox="1"/>
          <p:nvPr/>
        </p:nvSpPr>
        <p:spPr>
          <a:xfrm>
            <a:off x="7031736" y="3474720"/>
            <a:ext cx="212140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Same seats also cover campus, content, partnerships, and China brand operations.</a:t>
            </a:r>
            <a:endParaRPr/>
          </a:p>
        </p:txBody>
      </p:sp>
      <p:sp>
        <p:nvSpPr>
          <p:cNvPr id="871" name="Google Shape;871;p21"/>
          <p:cNvSpPr/>
          <p:nvPr/>
        </p:nvSpPr>
        <p:spPr>
          <a:xfrm>
            <a:off x="9418320" y="1298448"/>
            <a:ext cx="2377440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1"/>
          <p:cNvSpPr txBox="1"/>
          <p:nvPr/>
        </p:nvSpPr>
        <p:spPr>
          <a:xfrm>
            <a:off x="9546336" y="1408176"/>
            <a:ext cx="21214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Planned</a:t>
            </a:r>
            <a:endParaRPr/>
          </a:p>
        </p:txBody>
      </p:sp>
      <p:sp>
        <p:nvSpPr>
          <p:cNvPr id="873" name="Google Shape;873;p21"/>
          <p:cNvSpPr txBox="1"/>
          <p:nvPr/>
        </p:nvSpPr>
        <p:spPr>
          <a:xfrm>
            <a:off x="9546336" y="1627632"/>
            <a:ext cx="21214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U.S. growth</a:t>
            </a:r>
            <a:endParaRPr/>
          </a:p>
        </p:txBody>
      </p:sp>
      <p:sp>
        <p:nvSpPr>
          <p:cNvPr id="874" name="Google Shape;874;p21"/>
          <p:cNvSpPr txBox="1"/>
          <p:nvPr/>
        </p:nvSpPr>
        <p:spPr>
          <a:xfrm>
            <a:off x="9546336" y="1938528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875" name="Google Shape;875;p21"/>
          <p:cNvSpPr txBox="1"/>
          <p:nvPr/>
        </p:nvSpPr>
        <p:spPr>
          <a:xfrm>
            <a:off x="9546336" y="2414016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Performance ads</a:t>
            </a:r>
            <a:endParaRPr/>
          </a:p>
        </p:txBody>
      </p:sp>
      <p:sp>
        <p:nvSpPr>
          <p:cNvPr id="876" name="Google Shape;876;p21"/>
          <p:cNvSpPr txBox="1"/>
          <p:nvPr/>
        </p:nvSpPr>
        <p:spPr>
          <a:xfrm>
            <a:off x="10972800" y="2414016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877" name="Google Shape;877;p21"/>
          <p:cNvSpPr txBox="1"/>
          <p:nvPr/>
        </p:nvSpPr>
        <p:spPr>
          <a:xfrm>
            <a:off x="9546336" y="2852928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Local / field</a:t>
            </a:r>
            <a:endParaRPr/>
          </a:p>
        </p:txBody>
      </p:sp>
      <p:sp>
        <p:nvSpPr>
          <p:cNvPr id="878" name="Google Shape;878;p21"/>
          <p:cNvSpPr txBox="1"/>
          <p:nvPr/>
        </p:nvSpPr>
        <p:spPr>
          <a:xfrm>
            <a:off x="10972800" y="2852928"/>
            <a:ext cx="658368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879" name="Google Shape;879;p21"/>
          <p:cNvSpPr txBox="1"/>
          <p:nvPr/>
        </p:nvSpPr>
        <p:spPr>
          <a:xfrm>
            <a:off x="9546336" y="3474720"/>
            <a:ext cx="2121408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Same seats also cover universities, employer events, English brand, and community.</a:t>
            </a:r>
            <a:endParaRPr/>
          </a:p>
        </p:txBody>
      </p:sp>
      <p:pic>
        <p:nvPicPr>
          <p:cNvPr descr="51careers_logo_dark.png" id="880" name="Google Shape;8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21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882" name="Google Shape;882;p21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2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USE OF FUNDS</a:t>
            </a:r>
            <a:endParaRPr/>
          </a:p>
        </p:txBody>
      </p:sp>
      <p:sp>
        <p:nvSpPr>
          <p:cNvPr id="888" name="Google Shape;888;p22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20 Million Growth Financing</a:t>
            </a:r>
            <a:endParaRPr/>
          </a:p>
        </p:txBody>
      </p:sp>
      <p:sp>
        <p:nvSpPr>
          <p:cNvPr id="889" name="Google Shape;889;p22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RMB 13.1M is planned P+A. Remaining capital funds product, ops, events, and runway.</a:t>
            </a:r>
            <a:endParaRPr/>
          </a:p>
        </p:txBody>
      </p:sp>
      <p:graphicFrame>
        <p:nvGraphicFramePr>
          <p:cNvPr id="890" name="Google Shape;890;p22"/>
          <p:cNvGraphicFramePr/>
          <p:nvPr/>
        </p:nvGraphicFramePr>
        <p:xfrm>
          <a:off x="457200" y="1298448"/>
          <a:ext cx="4389120" cy="3108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891" name="Google Shape;891;p22"/>
          <p:cNvSpPr txBox="1"/>
          <p:nvPr/>
        </p:nvSpPr>
        <p:spPr>
          <a:xfrm>
            <a:off x="5029200" y="135331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Marketing &amp; User Acquisition-US &amp; China Ads</a:t>
            </a:r>
            <a:endParaRPr/>
          </a:p>
        </p:txBody>
      </p:sp>
      <p:sp>
        <p:nvSpPr>
          <p:cNvPr id="892" name="Google Shape;892;p22"/>
          <p:cNvSpPr txBox="1"/>
          <p:nvPr/>
        </p:nvSpPr>
        <p:spPr>
          <a:xfrm>
            <a:off x="9326880" y="1353312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40%  ·  RMB 8.0M</a:t>
            </a:r>
            <a:endParaRPr/>
          </a:p>
        </p:txBody>
      </p:sp>
      <p:sp>
        <p:nvSpPr>
          <p:cNvPr id="893" name="Google Shape;893;p22"/>
          <p:cNvSpPr txBox="1"/>
          <p:nvPr/>
        </p:nvSpPr>
        <p:spPr>
          <a:xfrm>
            <a:off x="5029200" y="177393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Product &amp; AI development</a:t>
            </a:r>
            <a:endParaRPr/>
          </a:p>
        </p:txBody>
      </p:sp>
      <p:sp>
        <p:nvSpPr>
          <p:cNvPr id="894" name="Google Shape;894;p22"/>
          <p:cNvSpPr txBox="1"/>
          <p:nvPr/>
        </p:nvSpPr>
        <p:spPr>
          <a:xfrm>
            <a:off x="9326880" y="177393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22.5%  ·  RMB 4.5M</a:t>
            </a:r>
            <a:endParaRPr/>
          </a:p>
        </p:txBody>
      </p:sp>
      <p:sp>
        <p:nvSpPr>
          <p:cNvPr id="895" name="Google Shape;895;p22"/>
          <p:cNvSpPr txBox="1"/>
          <p:nvPr/>
        </p:nvSpPr>
        <p:spPr>
          <a:xfrm>
            <a:off x="5029200" y="219456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People</a:t>
            </a: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 &amp; Talent-planned hiring</a:t>
            </a:r>
            <a:endParaRPr/>
          </a:p>
        </p:txBody>
      </p:sp>
      <p:sp>
        <p:nvSpPr>
          <p:cNvPr id="896" name="Google Shape;896;p22"/>
          <p:cNvSpPr txBox="1"/>
          <p:nvPr/>
        </p:nvSpPr>
        <p:spPr>
          <a:xfrm>
            <a:off x="9326880" y="2194560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25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.5%  ·  RMB </a:t>
            </a: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5.1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897" name="Google Shape;897;p22"/>
          <p:cNvSpPr txBox="1"/>
          <p:nvPr/>
        </p:nvSpPr>
        <p:spPr>
          <a:xfrm>
            <a:off x="5029200" y="2615184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Operations &amp; Working Capital</a:t>
            </a:r>
            <a:endParaRPr/>
          </a:p>
        </p:txBody>
      </p:sp>
      <p:sp>
        <p:nvSpPr>
          <p:cNvPr id="898" name="Google Shape;898;p22"/>
          <p:cNvSpPr txBox="1"/>
          <p:nvPr/>
        </p:nvSpPr>
        <p:spPr>
          <a:xfrm>
            <a:off x="9326880" y="2615184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%  ·  RMB </a:t>
            </a: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2.4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899" name="Google Shape;899;p22"/>
          <p:cNvSpPr txBox="1"/>
          <p:nvPr/>
        </p:nvSpPr>
        <p:spPr>
          <a:xfrm>
            <a:off x="5029200" y="303580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    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Brand &amp; events</a:t>
            </a:r>
            <a:endParaRPr/>
          </a:p>
        </p:txBody>
      </p:sp>
      <p:sp>
        <p:nvSpPr>
          <p:cNvPr id="900" name="Google Shape;900;p22"/>
          <p:cNvSpPr txBox="1"/>
          <p:nvPr/>
        </p:nvSpPr>
        <p:spPr>
          <a:xfrm>
            <a:off x="9326880" y="3035808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%  ·  RMB </a:t>
            </a:r>
            <a:r>
              <a:rPr b="1" lang="en-US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0.4</a:t>
            </a: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M</a:t>
            </a:r>
            <a:endParaRPr/>
          </a:p>
        </p:txBody>
      </p:sp>
      <p:sp>
        <p:nvSpPr>
          <p:cNvPr id="901" name="Google Shape;901;p22"/>
          <p:cNvSpPr txBox="1"/>
          <p:nvPr/>
        </p:nvSpPr>
        <p:spPr>
          <a:xfrm>
            <a:off x="5029200" y="345643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    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Ops / legal / finance</a:t>
            </a:r>
            <a:endParaRPr/>
          </a:p>
        </p:txBody>
      </p:sp>
      <p:sp>
        <p:nvSpPr>
          <p:cNvPr id="902" name="Google Shape;902;p22"/>
          <p:cNvSpPr txBox="1"/>
          <p:nvPr/>
        </p:nvSpPr>
        <p:spPr>
          <a:xfrm>
            <a:off x="9326880" y="3456432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5%  ·  RMB 1.0M</a:t>
            </a:r>
            <a:endParaRPr/>
          </a:p>
        </p:txBody>
      </p:sp>
      <p:sp>
        <p:nvSpPr>
          <p:cNvPr id="903" name="Google Shape;903;p22"/>
          <p:cNvSpPr txBox="1"/>
          <p:nvPr/>
        </p:nvSpPr>
        <p:spPr>
          <a:xfrm>
            <a:off x="5029200" y="387705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     </a:t>
            </a:r>
            <a:r>
              <a:rPr b="0" i="0" lang="en-US" sz="14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Cash reserve</a:t>
            </a:r>
            <a:endParaRPr/>
          </a:p>
        </p:txBody>
      </p:sp>
      <p:sp>
        <p:nvSpPr>
          <p:cNvPr id="904" name="Google Shape;904;p22"/>
          <p:cNvSpPr txBox="1"/>
          <p:nvPr/>
        </p:nvSpPr>
        <p:spPr>
          <a:xfrm>
            <a:off x="9326880" y="3877056"/>
            <a:ext cx="203911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5%  ·  RMB 1.0M</a:t>
            </a:r>
            <a:endParaRPr/>
          </a:p>
        </p:txBody>
      </p:sp>
      <p:sp>
        <p:nvSpPr>
          <p:cNvPr id="905" name="Google Shape;905;p22"/>
          <p:cNvSpPr/>
          <p:nvPr/>
        </p:nvSpPr>
        <p:spPr>
          <a:xfrm>
            <a:off x="822960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2"/>
          <p:cNvSpPr txBox="1"/>
          <p:nvPr/>
        </p:nvSpPr>
        <p:spPr>
          <a:xfrm>
            <a:off x="969264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TEAM EXPANSION</a:t>
            </a:r>
            <a:endParaRPr/>
          </a:p>
        </p:txBody>
      </p:sp>
      <p:sp>
        <p:nvSpPr>
          <p:cNvPr id="907" name="Google Shape;907;p22"/>
          <p:cNvSpPr txBox="1"/>
          <p:nvPr/>
        </p:nvSpPr>
        <p:spPr>
          <a:xfrm>
            <a:off x="969264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5.1M</a:t>
            </a:r>
            <a:endParaRPr/>
          </a:p>
        </p:txBody>
      </p:sp>
      <p:sp>
        <p:nvSpPr>
          <p:cNvPr id="908" name="Google Shape;908;p22"/>
          <p:cNvSpPr txBox="1"/>
          <p:nvPr/>
        </p:nvSpPr>
        <p:spPr>
          <a:xfrm>
            <a:off x="969264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Planned </a:t>
            </a:r>
            <a:r>
              <a:rPr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hires</a:t>
            </a:r>
            <a:endParaRPr/>
          </a:p>
        </p:txBody>
      </p:sp>
      <p:sp>
        <p:nvSpPr>
          <p:cNvPr id="909" name="Google Shape;909;p22"/>
          <p:cNvSpPr/>
          <p:nvPr/>
        </p:nvSpPr>
        <p:spPr>
          <a:xfrm>
            <a:off x="3483864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2"/>
          <p:cNvSpPr txBox="1"/>
          <p:nvPr/>
        </p:nvSpPr>
        <p:spPr>
          <a:xfrm>
            <a:off x="3630168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CHINA ADS</a:t>
            </a:r>
            <a:endParaRPr/>
          </a:p>
        </p:txBody>
      </p:sp>
      <p:sp>
        <p:nvSpPr>
          <p:cNvPr id="911" name="Google Shape;911;p22"/>
          <p:cNvSpPr txBox="1"/>
          <p:nvPr/>
        </p:nvSpPr>
        <p:spPr>
          <a:xfrm>
            <a:off x="3630168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1.0M</a:t>
            </a:r>
            <a:endParaRPr/>
          </a:p>
        </p:txBody>
      </p:sp>
      <p:sp>
        <p:nvSpPr>
          <p:cNvPr id="912" name="Google Shape;912;p22"/>
          <p:cNvSpPr txBox="1"/>
          <p:nvPr/>
        </p:nvSpPr>
        <p:spPr>
          <a:xfrm>
            <a:off x="3630168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Planned annual spend</a:t>
            </a:r>
            <a:endParaRPr/>
          </a:p>
        </p:txBody>
      </p:sp>
      <p:sp>
        <p:nvSpPr>
          <p:cNvPr id="913" name="Google Shape;913;p22"/>
          <p:cNvSpPr/>
          <p:nvPr/>
        </p:nvSpPr>
        <p:spPr>
          <a:xfrm>
            <a:off x="6144768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2"/>
          <p:cNvSpPr txBox="1"/>
          <p:nvPr/>
        </p:nvSpPr>
        <p:spPr>
          <a:xfrm>
            <a:off x="6291072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U.S. ADS</a:t>
            </a:r>
            <a:endParaRPr/>
          </a:p>
        </p:txBody>
      </p:sp>
      <p:sp>
        <p:nvSpPr>
          <p:cNvPr id="915" name="Google Shape;915;p22"/>
          <p:cNvSpPr txBox="1"/>
          <p:nvPr/>
        </p:nvSpPr>
        <p:spPr>
          <a:xfrm>
            <a:off x="6291072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7.0M</a:t>
            </a:r>
            <a:endParaRPr/>
          </a:p>
        </p:txBody>
      </p:sp>
      <p:sp>
        <p:nvSpPr>
          <p:cNvPr id="916" name="Google Shape;916;p22"/>
          <p:cNvSpPr txBox="1"/>
          <p:nvPr/>
        </p:nvSpPr>
        <p:spPr>
          <a:xfrm>
            <a:off x="6291072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Planned annual spend</a:t>
            </a:r>
            <a:endParaRPr/>
          </a:p>
        </p:txBody>
      </p:sp>
      <p:sp>
        <p:nvSpPr>
          <p:cNvPr id="917" name="Google Shape;917;p22"/>
          <p:cNvSpPr/>
          <p:nvPr/>
        </p:nvSpPr>
        <p:spPr>
          <a:xfrm>
            <a:off x="8805672" y="4572000"/>
            <a:ext cx="2560320" cy="98755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2"/>
          <p:cNvSpPr txBox="1"/>
          <p:nvPr/>
        </p:nvSpPr>
        <p:spPr>
          <a:xfrm>
            <a:off x="8951976" y="4663440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P+A BUDGET</a:t>
            </a:r>
            <a:endParaRPr/>
          </a:p>
        </p:txBody>
      </p:sp>
      <p:sp>
        <p:nvSpPr>
          <p:cNvPr id="919" name="Google Shape;919;p22"/>
          <p:cNvSpPr txBox="1"/>
          <p:nvPr/>
        </p:nvSpPr>
        <p:spPr>
          <a:xfrm>
            <a:off x="8951976" y="4882896"/>
            <a:ext cx="2267712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13.1M</a:t>
            </a:r>
            <a:endParaRPr/>
          </a:p>
        </p:txBody>
      </p:sp>
      <p:sp>
        <p:nvSpPr>
          <p:cNvPr id="920" name="Google Shape;920;p22"/>
          <p:cNvSpPr txBox="1"/>
          <p:nvPr/>
        </p:nvSpPr>
        <p:spPr>
          <a:xfrm>
            <a:off x="8951976" y="5248656"/>
            <a:ext cx="22677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Personnel + advertising</a:t>
            </a:r>
            <a:endParaRPr/>
          </a:p>
        </p:txBody>
      </p:sp>
      <p:sp>
        <p:nvSpPr>
          <p:cNvPr id="921" name="Google Shape;921;p22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2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CAPITAL PLAN</a:t>
            </a:r>
            <a:endParaRPr/>
          </a:p>
        </p:txBody>
      </p:sp>
      <p:sp>
        <p:nvSpPr>
          <p:cNvPr id="923" name="Google Shape;923;p22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Build the product, acquire users, prove unit economics, and keep a cash reserve.</a:t>
            </a:r>
            <a:endParaRPr/>
          </a:p>
        </p:txBody>
      </p:sp>
      <p:pic>
        <p:nvPicPr>
          <p:cNvPr descr="51careers_logo_dark.png" id="924" name="Google Shape;9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22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926" name="Google Shape;926;p22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3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GROWTH ROADMAP</a:t>
            </a:r>
            <a:endParaRPr/>
          </a:p>
        </p:txBody>
      </p:sp>
      <p:sp>
        <p:nvSpPr>
          <p:cNvPr id="932" name="Google Shape;932;p23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Validation → Growth → Global Expansion</a:t>
            </a:r>
            <a:endParaRPr/>
          </a:p>
        </p:txBody>
      </p:sp>
      <p:sp>
        <p:nvSpPr>
          <p:cNvPr id="933" name="Google Shape;933;p23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Twelve to twenty-four months from launch to multi-market distribution.</a:t>
            </a:r>
            <a:endParaRPr/>
          </a:p>
        </p:txBody>
      </p:sp>
      <p:sp>
        <p:nvSpPr>
          <p:cNvPr id="934" name="Google Shape;934;p23"/>
          <p:cNvSpPr/>
          <p:nvPr/>
        </p:nvSpPr>
        <p:spPr>
          <a:xfrm>
            <a:off x="822960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23"/>
          <p:cNvSpPr/>
          <p:nvPr/>
        </p:nvSpPr>
        <p:spPr>
          <a:xfrm>
            <a:off x="1005840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3"/>
          <p:cNvSpPr txBox="1"/>
          <p:nvPr/>
        </p:nvSpPr>
        <p:spPr>
          <a:xfrm>
            <a:off x="1005840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937" name="Google Shape;937;p23"/>
          <p:cNvSpPr txBox="1"/>
          <p:nvPr/>
        </p:nvSpPr>
        <p:spPr>
          <a:xfrm>
            <a:off x="1463040" y="14447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1  ·  0–6 months</a:t>
            </a:r>
            <a:endParaRPr/>
          </a:p>
        </p:txBody>
      </p:sp>
      <p:sp>
        <p:nvSpPr>
          <p:cNvPr id="938" name="Google Shape;938;p23"/>
          <p:cNvSpPr txBox="1"/>
          <p:nvPr/>
        </p:nvSpPr>
        <p:spPr>
          <a:xfrm>
            <a:off x="1005840" y="1901952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Product validation</a:t>
            </a:r>
            <a:endParaRPr/>
          </a:p>
        </p:txBody>
      </p:sp>
      <p:sp>
        <p:nvSpPr>
          <p:cNvPr id="939" name="Google Shape;939;p23"/>
          <p:cNvSpPr txBox="1"/>
          <p:nvPr/>
        </p:nvSpPr>
        <p:spPr>
          <a:xfrm>
            <a:off x="1005840" y="23408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Launch AI Resume</a:t>
            </a:r>
            <a:endParaRPr/>
          </a:p>
        </p:txBody>
      </p:sp>
      <p:sp>
        <p:nvSpPr>
          <p:cNvPr id="940" name="Google Shape;940;p23"/>
          <p:cNvSpPr txBox="1"/>
          <p:nvPr/>
        </p:nvSpPr>
        <p:spPr>
          <a:xfrm>
            <a:off x="1005840" y="298094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Improve AI quality</a:t>
            </a:r>
            <a:endParaRPr/>
          </a:p>
        </p:txBody>
      </p:sp>
      <p:sp>
        <p:nvSpPr>
          <p:cNvPr id="941" name="Google Shape;941;p23"/>
          <p:cNvSpPr txBox="1"/>
          <p:nvPr/>
        </p:nvSpPr>
        <p:spPr>
          <a:xfrm>
            <a:off x="1005840" y="362102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Structured A/B testing</a:t>
            </a:r>
            <a:endParaRPr/>
          </a:p>
        </p:txBody>
      </p:sp>
      <p:sp>
        <p:nvSpPr>
          <p:cNvPr id="942" name="Google Shape;942;p23"/>
          <p:cNvSpPr txBox="1"/>
          <p:nvPr/>
        </p:nvSpPr>
        <p:spPr>
          <a:xfrm>
            <a:off x="1005840" y="426110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Initial CAC benchmarks</a:t>
            </a:r>
            <a:endParaRPr/>
          </a:p>
        </p:txBody>
      </p:sp>
      <p:sp>
        <p:nvSpPr>
          <p:cNvPr id="943" name="Google Shape;943;p23"/>
          <p:cNvSpPr txBox="1"/>
          <p:nvPr/>
        </p:nvSpPr>
        <p:spPr>
          <a:xfrm>
            <a:off x="1005840" y="490118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Conversion funnel</a:t>
            </a:r>
            <a:endParaRPr/>
          </a:p>
        </p:txBody>
      </p:sp>
      <p:sp>
        <p:nvSpPr>
          <p:cNvPr id="944" name="Google Shape;944;p23"/>
          <p:cNvSpPr txBox="1"/>
          <p:nvPr/>
        </p:nvSpPr>
        <p:spPr>
          <a:xfrm>
            <a:off x="1005840" y="55412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Validate pricing</a:t>
            </a:r>
            <a:endParaRPr/>
          </a:p>
        </p:txBody>
      </p:sp>
      <p:sp>
        <p:nvSpPr>
          <p:cNvPr id="945" name="Google Shape;945;p23"/>
          <p:cNvSpPr/>
          <p:nvPr/>
        </p:nvSpPr>
        <p:spPr>
          <a:xfrm>
            <a:off x="4398264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3"/>
          <p:cNvSpPr/>
          <p:nvPr/>
        </p:nvSpPr>
        <p:spPr>
          <a:xfrm>
            <a:off x="4581144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3"/>
          <p:cNvSpPr txBox="1"/>
          <p:nvPr/>
        </p:nvSpPr>
        <p:spPr>
          <a:xfrm>
            <a:off x="4581144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948" name="Google Shape;948;p23"/>
          <p:cNvSpPr txBox="1"/>
          <p:nvPr/>
        </p:nvSpPr>
        <p:spPr>
          <a:xfrm>
            <a:off x="5038344" y="14447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2  ·  6–12 months</a:t>
            </a:r>
            <a:endParaRPr/>
          </a:p>
        </p:txBody>
      </p:sp>
      <p:sp>
        <p:nvSpPr>
          <p:cNvPr id="949" name="Google Shape;949;p23"/>
          <p:cNvSpPr txBox="1"/>
          <p:nvPr/>
        </p:nvSpPr>
        <p:spPr>
          <a:xfrm>
            <a:off x="4581144" y="1901952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Growth</a:t>
            </a:r>
            <a:endParaRPr/>
          </a:p>
        </p:txBody>
      </p:sp>
      <p:sp>
        <p:nvSpPr>
          <p:cNvPr id="950" name="Google Shape;950;p23"/>
          <p:cNvSpPr txBox="1"/>
          <p:nvPr/>
        </p:nvSpPr>
        <p:spPr>
          <a:xfrm>
            <a:off x="4581144" y="23408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Scale paid acquisition</a:t>
            </a:r>
            <a:endParaRPr/>
          </a:p>
        </p:txBody>
      </p:sp>
      <p:sp>
        <p:nvSpPr>
          <p:cNvPr id="951" name="Google Shape;951;p23"/>
          <p:cNvSpPr txBox="1"/>
          <p:nvPr/>
        </p:nvSpPr>
        <p:spPr>
          <a:xfrm>
            <a:off x="4581144" y="298094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Build SEO engine</a:t>
            </a:r>
            <a:endParaRPr/>
          </a:p>
        </p:txBody>
      </p:sp>
      <p:sp>
        <p:nvSpPr>
          <p:cNvPr id="952" name="Google Shape;952;p23"/>
          <p:cNvSpPr txBox="1"/>
          <p:nvPr/>
        </p:nvSpPr>
        <p:spPr>
          <a:xfrm>
            <a:off x="4581144" y="362102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Expand U.S. acquisition</a:t>
            </a:r>
            <a:endParaRPr/>
          </a:p>
        </p:txBody>
      </p:sp>
      <p:sp>
        <p:nvSpPr>
          <p:cNvPr id="953" name="Google Shape;953;p23"/>
          <p:cNvSpPr txBox="1"/>
          <p:nvPr/>
        </p:nvSpPr>
        <p:spPr>
          <a:xfrm>
            <a:off x="4581144" y="426110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B2B partnerships</a:t>
            </a:r>
            <a:endParaRPr/>
          </a:p>
        </p:txBody>
      </p:sp>
      <p:sp>
        <p:nvSpPr>
          <p:cNvPr id="954" name="Google Shape;954;p23"/>
          <p:cNvSpPr txBox="1"/>
          <p:nvPr/>
        </p:nvSpPr>
        <p:spPr>
          <a:xfrm>
            <a:off x="4581144" y="490118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More AI Career features</a:t>
            </a:r>
            <a:endParaRPr/>
          </a:p>
        </p:txBody>
      </p:sp>
      <p:sp>
        <p:nvSpPr>
          <p:cNvPr id="955" name="Google Shape;955;p23"/>
          <p:cNvSpPr txBox="1"/>
          <p:nvPr/>
        </p:nvSpPr>
        <p:spPr>
          <a:xfrm>
            <a:off x="4581144" y="55412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Expand monetization</a:t>
            </a:r>
            <a:endParaRPr/>
          </a:p>
        </p:txBody>
      </p:sp>
      <p:sp>
        <p:nvSpPr>
          <p:cNvPr id="956" name="Google Shape;956;p23"/>
          <p:cNvSpPr/>
          <p:nvPr/>
        </p:nvSpPr>
        <p:spPr>
          <a:xfrm>
            <a:off x="7973568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3"/>
          <p:cNvSpPr/>
          <p:nvPr/>
        </p:nvSpPr>
        <p:spPr>
          <a:xfrm>
            <a:off x="8156448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3"/>
          <p:cNvSpPr txBox="1"/>
          <p:nvPr/>
        </p:nvSpPr>
        <p:spPr>
          <a:xfrm>
            <a:off x="8156448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959" name="Google Shape;959;p23"/>
          <p:cNvSpPr txBox="1"/>
          <p:nvPr/>
        </p:nvSpPr>
        <p:spPr>
          <a:xfrm>
            <a:off x="8613648" y="14447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Phase 3  ·  12–24 months</a:t>
            </a:r>
            <a:endParaRPr/>
          </a:p>
        </p:txBody>
      </p:sp>
      <p:sp>
        <p:nvSpPr>
          <p:cNvPr id="960" name="Google Shape;960;p23"/>
          <p:cNvSpPr txBox="1"/>
          <p:nvPr/>
        </p:nvSpPr>
        <p:spPr>
          <a:xfrm>
            <a:off x="8156448" y="1901952"/>
            <a:ext cx="30266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Global expansion</a:t>
            </a:r>
            <a:endParaRPr/>
          </a:p>
        </p:txBody>
      </p:sp>
      <p:sp>
        <p:nvSpPr>
          <p:cNvPr id="961" name="Google Shape;961;p23"/>
          <p:cNvSpPr txBox="1"/>
          <p:nvPr/>
        </p:nvSpPr>
        <p:spPr>
          <a:xfrm>
            <a:off x="8156448" y="234086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More</a:t>
            </a:r>
            <a:r>
              <a:rPr lang="en-US" sz="1500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markets</a:t>
            </a:r>
            <a:endParaRPr/>
          </a:p>
        </p:txBody>
      </p:sp>
      <p:sp>
        <p:nvSpPr>
          <p:cNvPr id="962" name="Google Shape;962;p23"/>
          <p:cNvSpPr txBox="1"/>
          <p:nvPr/>
        </p:nvSpPr>
        <p:spPr>
          <a:xfrm>
            <a:off x="8156448" y="298094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Localized products</a:t>
            </a:r>
            <a:endParaRPr/>
          </a:p>
        </p:txBody>
      </p:sp>
      <p:sp>
        <p:nvSpPr>
          <p:cNvPr id="963" name="Google Shape;963;p23"/>
          <p:cNvSpPr txBox="1"/>
          <p:nvPr/>
        </p:nvSpPr>
        <p:spPr>
          <a:xfrm>
            <a:off x="8156448" y="362102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Global partnerships</a:t>
            </a:r>
            <a:endParaRPr/>
          </a:p>
        </p:txBody>
      </p:sp>
      <p:sp>
        <p:nvSpPr>
          <p:cNvPr id="964" name="Google Shape;964;p23"/>
          <p:cNvSpPr txBox="1"/>
          <p:nvPr/>
        </p:nvSpPr>
        <p:spPr>
          <a:xfrm>
            <a:off x="8156448" y="426110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Employer ecosystem</a:t>
            </a:r>
            <a:endParaRPr/>
          </a:p>
        </p:txBody>
      </p:sp>
      <p:sp>
        <p:nvSpPr>
          <p:cNvPr id="965" name="Google Shape;965;p23"/>
          <p:cNvSpPr txBox="1"/>
          <p:nvPr/>
        </p:nvSpPr>
        <p:spPr>
          <a:xfrm>
            <a:off x="8156448" y="4901184"/>
            <a:ext cx="3026664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Marketplace capabilities</a:t>
            </a:r>
            <a:endParaRPr/>
          </a:p>
        </p:txBody>
      </p:sp>
      <p:pic>
        <p:nvPicPr>
          <p:cNvPr descr="51careers_logo_dark.png" id="966" name="Google Shape;9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3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968" name="Google Shape;968;p23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4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FINANCIAL MODEL</a:t>
            </a:r>
            <a:endParaRPr/>
          </a:p>
        </p:txBody>
      </p:sp>
      <p:sp>
        <p:nvSpPr>
          <p:cNvPr id="974" name="Google Shape;974;p24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Operating Metrics</a:t>
            </a: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, Revenue, and Profitability</a:t>
            </a:r>
            <a:endParaRPr/>
          </a:p>
        </p:txBody>
      </p:sp>
      <p:sp>
        <p:nvSpPr>
          <p:cNvPr id="975" name="Google Shape;975;p24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Illustrative 2027E–2029E operating plan. Figures in US$.</a:t>
            </a:r>
            <a:endParaRPr/>
          </a:p>
        </p:txBody>
      </p:sp>
      <p:sp>
        <p:nvSpPr>
          <p:cNvPr id="976" name="Google Shape;976;p24"/>
          <p:cNvSpPr/>
          <p:nvPr/>
        </p:nvSpPr>
        <p:spPr>
          <a:xfrm>
            <a:off x="822960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4"/>
          <p:cNvSpPr txBox="1"/>
          <p:nvPr/>
        </p:nvSpPr>
        <p:spPr>
          <a:xfrm>
            <a:off x="969264" y="1389888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Operating Metrics</a:t>
            </a:r>
            <a:endParaRPr/>
          </a:p>
        </p:txBody>
      </p:sp>
      <p:sp>
        <p:nvSpPr>
          <p:cNvPr id="978" name="Google Shape;978;p24"/>
          <p:cNvSpPr txBox="1"/>
          <p:nvPr/>
        </p:nvSpPr>
        <p:spPr>
          <a:xfrm>
            <a:off x="1993392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979" name="Google Shape;979;p24"/>
          <p:cNvSpPr txBox="1"/>
          <p:nvPr/>
        </p:nvSpPr>
        <p:spPr>
          <a:xfrm>
            <a:off x="2706624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980" name="Google Shape;980;p24"/>
          <p:cNvSpPr txBox="1"/>
          <p:nvPr/>
        </p:nvSpPr>
        <p:spPr>
          <a:xfrm>
            <a:off x="3419856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981" name="Google Shape;981;p24"/>
          <p:cNvSpPr txBox="1"/>
          <p:nvPr/>
        </p:nvSpPr>
        <p:spPr>
          <a:xfrm>
            <a:off x="969264" y="1993392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Users</a:t>
            </a:r>
            <a:endParaRPr/>
          </a:p>
        </p:txBody>
      </p:sp>
      <p:sp>
        <p:nvSpPr>
          <p:cNvPr id="982" name="Google Shape;982;p24"/>
          <p:cNvSpPr txBox="1"/>
          <p:nvPr/>
        </p:nvSpPr>
        <p:spPr>
          <a:xfrm>
            <a:off x="1993392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1.0M</a:t>
            </a:r>
            <a:endParaRPr/>
          </a:p>
        </p:txBody>
      </p:sp>
      <p:sp>
        <p:nvSpPr>
          <p:cNvPr id="983" name="Google Shape;983;p24"/>
          <p:cNvSpPr txBox="1"/>
          <p:nvPr/>
        </p:nvSpPr>
        <p:spPr>
          <a:xfrm>
            <a:off x="2706624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3.0M</a:t>
            </a:r>
            <a:endParaRPr/>
          </a:p>
        </p:txBody>
      </p:sp>
      <p:sp>
        <p:nvSpPr>
          <p:cNvPr id="984" name="Google Shape;984;p24"/>
          <p:cNvSpPr txBox="1"/>
          <p:nvPr/>
        </p:nvSpPr>
        <p:spPr>
          <a:xfrm>
            <a:off x="3419856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7.0M</a:t>
            </a:r>
            <a:endParaRPr/>
          </a:p>
        </p:txBody>
      </p:sp>
      <p:sp>
        <p:nvSpPr>
          <p:cNvPr id="985" name="Google Shape;985;p24"/>
          <p:cNvSpPr txBox="1"/>
          <p:nvPr/>
        </p:nvSpPr>
        <p:spPr>
          <a:xfrm>
            <a:off x="969264" y="2834639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Registered</a:t>
            </a:r>
            <a:endParaRPr/>
          </a:p>
        </p:txBody>
      </p:sp>
      <p:sp>
        <p:nvSpPr>
          <p:cNvPr id="986" name="Google Shape;986;p24"/>
          <p:cNvSpPr txBox="1"/>
          <p:nvPr/>
        </p:nvSpPr>
        <p:spPr>
          <a:xfrm>
            <a:off x="1993392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300K</a:t>
            </a:r>
            <a:endParaRPr/>
          </a:p>
        </p:txBody>
      </p:sp>
      <p:sp>
        <p:nvSpPr>
          <p:cNvPr id="987" name="Google Shape;987;p24"/>
          <p:cNvSpPr txBox="1"/>
          <p:nvPr/>
        </p:nvSpPr>
        <p:spPr>
          <a:xfrm>
            <a:off x="2706624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1.0M</a:t>
            </a:r>
            <a:endParaRPr/>
          </a:p>
        </p:txBody>
      </p:sp>
      <p:sp>
        <p:nvSpPr>
          <p:cNvPr id="988" name="Google Shape;988;p24"/>
          <p:cNvSpPr txBox="1"/>
          <p:nvPr/>
        </p:nvSpPr>
        <p:spPr>
          <a:xfrm>
            <a:off x="3419856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2.5M</a:t>
            </a:r>
            <a:endParaRPr/>
          </a:p>
        </p:txBody>
      </p:sp>
      <p:sp>
        <p:nvSpPr>
          <p:cNvPr id="989" name="Google Shape;989;p24"/>
          <p:cNvSpPr txBox="1"/>
          <p:nvPr/>
        </p:nvSpPr>
        <p:spPr>
          <a:xfrm>
            <a:off x="969264" y="3675886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MAU</a:t>
            </a:r>
            <a:endParaRPr/>
          </a:p>
        </p:txBody>
      </p:sp>
      <p:sp>
        <p:nvSpPr>
          <p:cNvPr id="990" name="Google Shape;990;p24"/>
          <p:cNvSpPr txBox="1"/>
          <p:nvPr/>
        </p:nvSpPr>
        <p:spPr>
          <a:xfrm>
            <a:off x="1993392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150K</a:t>
            </a:r>
            <a:endParaRPr/>
          </a:p>
        </p:txBody>
      </p:sp>
      <p:sp>
        <p:nvSpPr>
          <p:cNvPr id="991" name="Google Shape;991;p24"/>
          <p:cNvSpPr txBox="1"/>
          <p:nvPr/>
        </p:nvSpPr>
        <p:spPr>
          <a:xfrm>
            <a:off x="2706624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500K</a:t>
            </a:r>
            <a:endParaRPr/>
          </a:p>
        </p:txBody>
      </p:sp>
      <p:sp>
        <p:nvSpPr>
          <p:cNvPr id="992" name="Google Shape;992;p24"/>
          <p:cNvSpPr txBox="1"/>
          <p:nvPr/>
        </p:nvSpPr>
        <p:spPr>
          <a:xfrm>
            <a:off x="3419856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1.25M</a:t>
            </a:r>
            <a:endParaRPr/>
          </a:p>
        </p:txBody>
      </p:sp>
      <p:sp>
        <p:nvSpPr>
          <p:cNvPr id="993" name="Google Shape;993;p24"/>
          <p:cNvSpPr txBox="1"/>
          <p:nvPr/>
        </p:nvSpPr>
        <p:spPr>
          <a:xfrm>
            <a:off x="969264" y="4517133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Paid</a:t>
            </a:r>
            <a:endParaRPr/>
          </a:p>
        </p:txBody>
      </p:sp>
      <p:sp>
        <p:nvSpPr>
          <p:cNvPr id="994" name="Google Shape;994;p24"/>
          <p:cNvSpPr txBox="1"/>
          <p:nvPr/>
        </p:nvSpPr>
        <p:spPr>
          <a:xfrm>
            <a:off x="1993392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15K</a:t>
            </a:r>
            <a:endParaRPr/>
          </a:p>
        </p:txBody>
      </p:sp>
      <p:sp>
        <p:nvSpPr>
          <p:cNvPr id="995" name="Google Shape;995;p24"/>
          <p:cNvSpPr txBox="1"/>
          <p:nvPr/>
        </p:nvSpPr>
        <p:spPr>
          <a:xfrm>
            <a:off x="2706624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60K</a:t>
            </a:r>
            <a:endParaRPr/>
          </a:p>
        </p:txBody>
      </p:sp>
      <p:sp>
        <p:nvSpPr>
          <p:cNvPr id="996" name="Google Shape;996;p24"/>
          <p:cNvSpPr txBox="1"/>
          <p:nvPr/>
        </p:nvSpPr>
        <p:spPr>
          <a:xfrm>
            <a:off x="3419856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180K</a:t>
            </a:r>
            <a:endParaRPr/>
          </a:p>
        </p:txBody>
      </p:sp>
      <p:sp>
        <p:nvSpPr>
          <p:cNvPr id="997" name="Google Shape;997;p24"/>
          <p:cNvSpPr txBox="1"/>
          <p:nvPr/>
        </p:nvSpPr>
        <p:spPr>
          <a:xfrm>
            <a:off x="969264" y="5358380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Paid Conversion/ </a:t>
            </a:r>
            <a:r>
              <a:rPr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Registered</a:t>
            </a:r>
            <a:endParaRPr/>
          </a:p>
        </p:txBody>
      </p:sp>
      <p:sp>
        <p:nvSpPr>
          <p:cNvPr id="998" name="Google Shape;998;p24"/>
          <p:cNvSpPr txBox="1"/>
          <p:nvPr/>
        </p:nvSpPr>
        <p:spPr>
          <a:xfrm>
            <a:off x="1993392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5.0%</a:t>
            </a:r>
            <a:endParaRPr/>
          </a:p>
        </p:txBody>
      </p:sp>
      <p:sp>
        <p:nvSpPr>
          <p:cNvPr id="999" name="Google Shape;999;p24"/>
          <p:cNvSpPr txBox="1"/>
          <p:nvPr/>
        </p:nvSpPr>
        <p:spPr>
          <a:xfrm>
            <a:off x="2706624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6.0%</a:t>
            </a:r>
            <a:endParaRPr/>
          </a:p>
        </p:txBody>
      </p:sp>
      <p:sp>
        <p:nvSpPr>
          <p:cNvPr id="1000" name="Google Shape;1000;p24"/>
          <p:cNvSpPr txBox="1"/>
          <p:nvPr/>
        </p:nvSpPr>
        <p:spPr>
          <a:xfrm>
            <a:off x="3419856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7.2%</a:t>
            </a:r>
            <a:endParaRPr/>
          </a:p>
        </p:txBody>
      </p:sp>
      <p:sp>
        <p:nvSpPr>
          <p:cNvPr id="1001" name="Google Shape;1001;p24"/>
          <p:cNvSpPr/>
          <p:nvPr/>
        </p:nvSpPr>
        <p:spPr>
          <a:xfrm>
            <a:off x="4398264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4"/>
          <p:cNvSpPr txBox="1"/>
          <p:nvPr/>
        </p:nvSpPr>
        <p:spPr>
          <a:xfrm>
            <a:off x="4544568" y="1389888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Revenue</a:t>
            </a:r>
            <a:endParaRPr/>
          </a:p>
        </p:txBody>
      </p:sp>
      <p:sp>
        <p:nvSpPr>
          <p:cNvPr id="1003" name="Google Shape;1003;p24"/>
          <p:cNvSpPr txBox="1"/>
          <p:nvPr/>
        </p:nvSpPr>
        <p:spPr>
          <a:xfrm>
            <a:off x="5568696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1004" name="Google Shape;1004;p24"/>
          <p:cNvSpPr txBox="1"/>
          <p:nvPr/>
        </p:nvSpPr>
        <p:spPr>
          <a:xfrm>
            <a:off x="6281928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1005" name="Google Shape;1005;p24"/>
          <p:cNvSpPr txBox="1"/>
          <p:nvPr/>
        </p:nvSpPr>
        <p:spPr>
          <a:xfrm>
            <a:off x="6995160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1006" name="Google Shape;1006;p24"/>
          <p:cNvSpPr txBox="1"/>
          <p:nvPr/>
        </p:nvSpPr>
        <p:spPr>
          <a:xfrm>
            <a:off x="4544568" y="199339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AI</a:t>
            </a:r>
            <a:endParaRPr/>
          </a:p>
        </p:txBody>
      </p:sp>
      <p:sp>
        <p:nvSpPr>
          <p:cNvPr id="1007" name="Google Shape;1007;p24"/>
          <p:cNvSpPr txBox="1"/>
          <p:nvPr/>
        </p:nvSpPr>
        <p:spPr>
          <a:xfrm>
            <a:off x="5568696" y="19933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$0.70M</a:t>
            </a:r>
            <a:endParaRPr/>
          </a:p>
        </p:txBody>
      </p:sp>
      <p:sp>
        <p:nvSpPr>
          <p:cNvPr id="1008" name="Google Shape;1008;p24"/>
          <p:cNvSpPr txBox="1"/>
          <p:nvPr/>
        </p:nvSpPr>
        <p:spPr>
          <a:xfrm>
            <a:off x="6281928" y="19933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$2.40M</a:t>
            </a:r>
            <a:endParaRPr/>
          </a:p>
        </p:txBody>
      </p:sp>
      <p:sp>
        <p:nvSpPr>
          <p:cNvPr id="1009" name="Google Shape;1009;p24"/>
          <p:cNvSpPr txBox="1"/>
          <p:nvPr/>
        </p:nvSpPr>
        <p:spPr>
          <a:xfrm>
            <a:off x="6995160" y="19933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$8.40M</a:t>
            </a:r>
            <a:endParaRPr/>
          </a:p>
        </p:txBody>
      </p:sp>
      <p:sp>
        <p:nvSpPr>
          <p:cNvPr id="1010" name="Google Shape;1010;p24"/>
          <p:cNvSpPr txBox="1"/>
          <p:nvPr/>
        </p:nvSpPr>
        <p:spPr>
          <a:xfrm>
            <a:off x="4544568" y="269443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Career </a:t>
            </a: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Services</a:t>
            </a:r>
            <a:endParaRPr/>
          </a:p>
        </p:txBody>
      </p:sp>
      <p:sp>
        <p:nvSpPr>
          <p:cNvPr id="1011" name="Google Shape;1011;p24"/>
          <p:cNvSpPr txBox="1"/>
          <p:nvPr/>
        </p:nvSpPr>
        <p:spPr>
          <a:xfrm>
            <a:off x="5568696" y="269443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$0.50M</a:t>
            </a:r>
            <a:endParaRPr/>
          </a:p>
        </p:txBody>
      </p:sp>
      <p:sp>
        <p:nvSpPr>
          <p:cNvPr id="1012" name="Google Shape;1012;p24"/>
          <p:cNvSpPr txBox="1"/>
          <p:nvPr/>
        </p:nvSpPr>
        <p:spPr>
          <a:xfrm>
            <a:off x="6281928" y="269443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$1.60M</a:t>
            </a:r>
            <a:endParaRPr/>
          </a:p>
        </p:txBody>
      </p:sp>
      <p:sp>
        <p:nvSpPr>
          <p:cNvPr id="1013" name="Google Shape;1013;p24"/>
          <p:cNvSpPr txBox="1"/>
          <p:nvPr/>
        </p:nvSpPr>
        <p:spPr>
          <a:xfrm>
            <a:off x="6995160" y="269443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$5.60M</a:t>
            </a:r>
            <a:endParaRPr/>
          </a:p>
        </p:txBody>
      </p:sp>
      <p:sp>
        <p:nvSpPr>
          <p:cNvPr id="1014" name="Google Shape;1014;p24"/>
          <p:cNvSpPr txBox="1"/>
          <p:nvPr/>
        </p:nvSpPr>
        <p:spPr>
          <a:xfrm>
            <a:off x="4544568" y="339547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Commission</a:t>
            </a:r>
            <a:endParaRPr/>
          </a:p>
        </p:txBody>
      </p:sp>
      <p:sp>
        <p:nvSpPr>
          <p:cNvPr id="1015" name="Google Shape;1015;p24"/>
          <p:cNvSpPr txBox="1"/>
          <p:nvPr/>
        </p:nvSpPr>
        <p:spPr>
          <a:xfrm>
            <a:off x="5568696" y="339547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$0.30M</a:t>
            </a:r>
            <a:endParaRPr/>
          </a:p>
        </p:txBody>
      </p:sp>
      <p:sp>
        <p:nvSpPr>
          <p:cNvPr id="1016" name="Google Shape;1016;p24"/>
          <p:cNvSpPr txBox="1"/>
          <p:nvPr/>
        </p:nvSpPr>
        <p:spPr>
          <a:xfrm>
            <a:off x="6281928" y="339547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$1.20M</a:t>
            </a:r>
            <a:endParaRPr/>
          </a:p>
        </p:txBody>
      </p:sp>
      <p:sp>
        <p:nvSpPr>
          <p:cNvPr id="1017" name="Google Shape;1017;p24"/>
          <p:cNvSpPr txBox="1"/>
          <p:nvPr/>
        </p:nvSpPr>
        <p:spPr>
          <a:xfrm>
            <a:off x="6995160" y="339547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$4.20M</a:t>
            </a:r>
            <a:endParaRPr/>
          </a:p>
        </p:txBody>
      </p:sp>
      <p:sp>
        <p:nvSpPr>
          <p:cNvPr id="1018" name="Google Shape;1018;p24"/>
          <p:cNvSpPr txBox="1"/>
          <p:nvPr/>
        </p:nvSpPr>
        <p:spPr>
          <a:xfrm>
            <a:off x="4544568" y="409651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Ads</a:t>
            </a:r>
            <a:endParaRPr/>
          </a:p>
        </p:txBody>
      </p:sp>
      <p:sp>
        <p:nvSpPr>
          <p:cNvPr id="1019" name="Google Shape;1019;p24"/>
          <p:cNvSpPr txBox="1"/>
          <p:nvPr/>
        </p:nvSpPr>
        <p:spPr>
          <a:xfrm>
            <a:off x="5568696" y="409651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$0.20M</a:t>
            </a:r>
            <a:endParaRPr/>
          </a:p>
        </p:txBody>
      </p:sp>
      <p:sp>
        <p:nvSpPr>
          <p:cNvPr id="1020" name="Google Shape;1020;p24"/>
          <p:cNvSpPr txBox="1"/>
          <p:nvPr/>
        </p:nvSpPr>
        <p:spPr>
          <a:xfrm>
            <a:off x="6281928" y="409651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$0.80M</a:t>
            </a:r>
            <a:endParaRPr/>
          </a:p>
        </p:txBody>
      </p:sp>
      <p:sp>
        <p:nvSpPr>
          <p:cNvPr id="1021" name="Google Shape;1021;p24"/>
          <p:cNvSpPr txBox="1"/>
          <p:nvPr/>
        </p:nvSpPr>
        <p:spPr>
          <a:xfrm>
            <a:off x="6995160" y="409651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$2.80M</a:t>
            </a:r>
            <a:endParaRPr/>
          </a:p>
        </p:txBody>
      </p:sp>
      <p:sp>
        <p:nvSpPr>
          <p:cNvPr id="1022" name="Google Shape;1022;p24"/>
          <p:cNvSpPr txBox="1"/>
          <p:nvPr/>
        </p:nvSpPr>
        <p:spPr>
          <a:xfrm>
            <a:off x="4544568" y="479755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B2B</a:t>
            </a:r>
            <a:endParaRPr/>
          </a:p>
        </p:txBody>
      </p:sp>
      <p:sp>
        <p:nvSpPr>
          <p:cNvPr id="1023" name="Google Shape;1023;p24"/>
          <p:cNvSpPr txBox="1"/>
          <p:nvPr/>
        </p:nvSpPr>
        <p:spPr>
          <a:xfrm>
            <a:off x="5568696" y="479755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$0.30M</a:t>
            </a:r>
            <a:endParaRPr/>
          </a:p>
        </p:txBody>
      </p:sp>
      <p:sp>
        <p:nvSpPr>
          <p:cNvPr id="1024" name="Google Shape;1024;p24"/>
          <p:cNvSpPr txBox="1"/>
          <p:nvPr/>
        </p:nvSpPr>
        <p:spPr>
          <a:xfrm>
            <a:off x="6281928" y="479755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$2.00M</a:t>
            </a:r>
            <a:endParaRPr/>
          </a:p>
        </p:txBody>
      </p:sp>
      <p:sp>
        <p:nvSpPr>
          <p:cNvPr id="1025" name="Google Shape;1025;p24"/>
          <p:cNvSpPr txBox="1"/>
          <p:nvPr/>
        </p:nvSpPr>
        <p:spPr>
          <a:xfrm>
            <a:off x="6995160" y="479755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$7.00M</a:t>
            </a:r>
            <a:endParaRPr/>
          </a:p>
        </p:txBody>
      </p:sp>
      <p:sp>
        <p:nvSpPr>
          <p:cNvPr id="1026" name="Google Shape;1026;p24"/>
          <p:cNvSpPr txBox="1"/>
          <p:nvPr/>
        </p:nvSpPr>
        <p:spPr>
          <a:xfrm>
            <a:off x="4544568" y="5498592"/>
            <a:ext cx="1024128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Total</a:t>
            </a:r>
            <a:endParaRPr/>
          </a:p>
        </p:txBody>
      </p:sp>
      <p:sp>
        <p:nvSpPr>
          <p:cNvPr id="1027" name="Google Shape;1027;p24"/>
          <p:cNvSpPr txBox="1"/>
          <p:nvPr/>
        </p:nvSpPr>
        <p:spPr>
          <a:xfrm>
            <a:off x="5568696" y="54985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$2.00M</a:t>
            </a:r>
            <a:endParaRPr/>
          </a:p>
        </p:txBody>
      </p:sp>
      <p:sp>
        <p:nvSpPr>
          <p:cNvPr id="1028" name="Google Shape;1028;p24"/>
          <p:cNvSpPr txBox="1"/>
          <p:nvPr/>
        </p:nvSpPr>
        <p:spPr>
          <a:xfrm>
            <a:off x="6281928" y="54985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$8.00M</a:t>
            </a:r>
            <a:endParaRPr/>
          </a:p>
        </p:txBody>
      </p:sp>
      <p:sp>
        <p:nvSpPr>
          <p:cNvPr id="1029" name="Google Shape;1029;p24"/>
          <p:cNvSpPr txBox="1"/>
          <p:nvPr/>
        </p:nvSpPr>
        <p:spPr>
          <a:xfrm>
            <a:off x="6995160" y="5498592"/>
            <a:ext cx="713232" cy="66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$28.00M</a:t>
            </a:r>
            <a:endParaRPr/>
          </a:p>
        </p:txBody>
      </p:sp>
      <p:sp>
        <p:nvSpPr>
          <p:cNvPr id="1030" name="Google Shape;1030;p24"/>
          <p:cNvSpPr/>
          <p:nvPr/>
        </p:nvSpPr>
        <p:spPr>
          <a:xfrm>
            <a:off x="7973568" y="1298448"/>
            <a:ext cx="3392424" cy="508406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24"/>
          <p:cNvSpPr txBox="1"/>
          <p:nvPr/>
        </p:nvSpPr>
        <p:spPr>
          <a:xfrm>
            <a:off x="8119872" y="1389888"/>
            <a:ext cx="30998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Profitability Metric</a:t>
            </a:r>
            <a:endParaRPr/>
          </a:p>
        </p:txBody>
      </p:sp>
      <p:sp>
        <p:nvSpPr>
          <p:cNvPr id="1032" name="Google Shape;1032;p24"/>
          <p:cNvSpPr txBox="1"/>
          <p:nvPr/>
        </p:nvSpPr>
        <p:spPr>
          <a:xfrm>
            <a:off x="9144000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2027E</a:t>
            </a:r>
            <a:endParaRPr/>
          </a:p>
        </p:txBody>
      </p:sp>
      <p:sp>
        <p:nvSpPr>
          <p:cNvPr id="1033" name="Google Shape;1033;p24"/>
          <p:cNvSpPr txBox="1"/>
          <p:nvPr/>
        </p:nvSpPr>
        <p:spPr>
          <a:xfrm>
            <a:off x="9857232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2028E</a:t>
            </a:r>
            <a:endParaRPr/>
          </a:p>
        </p:txBody>
      </p:sp>
      <p:sp>
        <p:nvSpPr>
          <p:cNvPr id="1034" name="Google Shape;1034;p24"/>
          <p:cNvSpPr txBox="1"/>
          <p:nvPr/>
        </p:nvSpPr>
        <p:spPr>
          <a:xfrm>
            <a:off x="10570464" y="1700784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2029E</a:t>
            </a:r>
            <a:endParaRPr/>
          </a:p>
        </p:txBody>
      </p:sp>
      <p:sp>
        <p:nvSpPr>
          <p:cNvPr id="1035" name="Google Shape;1035;p24"/>
          <p:cNvSpPr txBox="1"/>
          <p:nvPr/>
        </p:nvSpPr>
        <p:spPr>
          <a:xfrm>
            <a:off x="8119872" y="1993392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Gross </a:t>
            </a:r>
            <a:r>
              <a:rPr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Margin</a:t>
            </a:r>
            <a:endParaRPr/>
          </a:p>
        </p:txBody>
      </p:sp>
      <p:sp>
        <p:nvSpPr>
          <p:cNvPr id="1036" name="Google Shape;1036;p24"/>
          <p:cNvSpPr txBox="1"/>
          <p:nvPr/>
        </p:nvSpPr>
        <p:spPr>
          <a:xfrm>
            <a:off x="9144000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65%</a:t>
            </a:r>
            <a:endParaRPr/>
          </a:p>
        </p:txBody>
      </p:sp>
      <p:sp>
        <p:nvSpPr>
          <p:cNvPr id="1037" name="Google Shape;1037;p24"/>
          <p:cNvSpPr txBox="1"/>
          <p:nvPr/>
        </p:nvSpPr>
        <p:spPr>
          <a:xfrm>
            <a:off x="9857232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70%</a:t>
            </a:r>
            <a:endParaRPr/>
          </a:p>
        </p:txBody>
      </p:sp>
      <p:sp>
        <p:nvSpPr>
          <p:cNvPr id="1038" name="Google Shape;1038;p24"/>
          <p:cNvSpPr txBox="1"/>
          <p:nvPr/>
        </p:nvSpPr>
        <p:spPr>
          <a:xfrm>
            <a:off x="10570464" y="1993392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75%</a:t>
            </a:r>
            <a:endParaRPr/>
          </a:p>
        </p:txBody>
      </p:sp>
      <p:sp>
        <p:nvSpPr>
          <p:cNvPr id="1039" name="Google Shape;1039;p24"/>
          <p:cNvSpPr txBox="1"/>
          <p:nvPr/>
        </p:nvSpPr>
        <p:spPr>
          <a:xfrm>
            <a:off x="8119872" y="2834639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Gross </a:t>
            </a:r>
            <a:r>
              <a:rPr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Profit</a:t>
            </a:r>
            <a:endParaRPr/>
          </a:p>
        </p:txBody>
      </p:sp>
      <p:sp>
        <p:nvSpPr>
          <p:cNvPr id="1040" name="Google Shape;1040;p24"/>
          <p:cNvSpPr txBox="1"/>
          <p:nvPr/>
        </p:nvSpPr>
        <p:spPr>
          <a:xfrm>
            <a:off x="9144000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$1.30M</a:t>
            </a:r>
            <a:endParaRPr/>
          </a:p>
        </p:txBody>
      </p:sp>
      <p:sp>
        <p:nvSpPr>
          <p:cNvPr id="1041" name="Google Shape;1041;p24"/>
          <p:cNvSpPr txBox="1"/>
          <p:nvPr/>
        </p:nvSpPr>
        <p:spPr>
          <a:xfrm>
            <a:off x="9857232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$5.60M</a:t>
            </a:r>
            <a:endParaRPr/>
          </a:p>
        </p:txBody>
      </p:sp>
      <p:sp>
        <p:nvSpPr>
          <p:cNvPr id="1042" name="Google Shape;1042;p24"/>
          <p:cNvSpPr txBox="1"/>
          <p:nvPr/>
        </p:nvSpPr>
        <p:spPr>
          <a:xfrm>
            <a:off x="10570464" y="2834639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$21.00M</a:t>
            </a:r>
            <a:endParaRPr/>
          </a:p>
        </p:txBody>
      </p:sp>
      <p:sp>
        <p:nvSpPr>
          <p:cNvPr id="1043" name="Google Shape;1043;p24"/>
          <p:cNvSpPr txBox="1"/>
          <p:nvPr/>
        </p:nvSpPr>
        <p:spPr>
          <a:xfrm>
            <a:off x="8119872" y="3675886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EBITDA </a:t>
            </a:r>
            <a:r>
              <a:rPr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Margin</a:t>
            </a:r>
            <a:endParaRPr/>
          </a:p>
        </p:txBody>
      </p:sp>
      <p:sp>
        <p:nvSpPr>
          <p:cNvPr id="1044" name="Google Shape;1044;p24"/>
          <p:cNvSpPr txBox="1"/>
          <p:nvPr/>
        </p:nvSpPr>
        <p:spPr>
          <a:xfrm>
            <a:off x="9144000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–50%</a:t>
            </a:r>
            <a:endParaRPr/>
          </a:p>
        </p:txBody>
      </p:sp>
      <p:sp>
        <p:nvSpPr>
          <p:cNvPr id="1045" name="Google Shape;1045;p24"/>
          <p:cNvSpPr txBox="1"/>
          <p:nvPr/>
        </p:nvSpPr>
        <p:spPr>
          <a:xfrm>
            <a:off x="9857232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–15%</a:t>
            </a:r>
            <a:endParaRPr/>
          </a:p>
        </p:txBody>
      </p:sp>
      <p:sp>
        <p:nvSpPr>
          <p:cNvPr id="1046" name="Google Shape;1046;p24"/>
          <p:cNvSpPr txBox="1"/>
          <p:nvPr/>
        </p:nvSpPr>
        <p:spPr>
          <a:xfrm>
            <a:off x="10570464" y="3675886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15%</a:t>
            </a:r>
            <a:endParaRPr/>
          </a:p>
        </p:txBody>
      </p:sp>
      <p:sp>
        <p:nvSpPr>
          <p:cNvPr id="1047" name="Google Shape;1047;p24"/>
          <p:cNvSpPr txBox="1"/>
          <p:nvPr/>
        </p:nvSpPr>
        <p:spPr>
          <a:xfrm>
            <a:off x="8119872" y="4517133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EBITDA $</a:t>
            </a:r>
            <a:endParaRPr/>
          </a:p>
        </p:txBody>
      </p:sp>
      <p:sp>
        <p:nvSpPr>
          <p:cNvPr id="1048" name="Google Shape;1048;p24"/>
          <p:cNvSpPr txBox="1"/>
          <p:nvPr/>
        </p:nvSpPr>
        <p:spPr>
          <a:xfrm>
            <a:off x="9144000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–$1.00M</a:t>
            </a:r>
            <a:endParaRPr/>
          </a:p>
        </p:txBody>
      </p:sp>
      <p:sp>
        <p:nvSpPr>
          <p:cNvPr id="1049" name="Google Shape;1049;p24"/>
          <p:cNvSpPr txBox="1"/>
          <p:nvPr/>
        </p:nvSpPr>
        <p:spPr>
          <a:xfrm>
            <a:off x="9857232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–$1.20M</a:t>
            </a:r>
            <a:endParaRPr/>
          </a:p>
        </p:txBody>
      </p:sp>
      <p:sp>
        <p:nvSpPr>
          <p:cNvPr id="1050" name="Google Shape;1050;p24"/>
          <p:cNvSpPr txBox="1"/>
          <p:nvPr/>
        </p:nvSpPr>
        <p:spPr>
          <a:xfrm>
            <a:off x="10570464" y="4517133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$4.20M</a:t>
            </a:r>
            <a:endParaRPr/>
          </a:p>
        </p:txBody>
      </p:sp>
      <p:sp>
        <p:nvSpPr>
          <p:cNvPr id="1051" name="Google Shape;1051;p24"/>
          <p:cNvSpPr txBox="1"/>
          <p:nvPr/>
        </p:nvSpPr>
        <p:spPr>
          <a:xfrm>
            <a:off x="8119872" y="5358380"/>
            <a:ext cx="1024128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Profitability</a:t>
            </a:r>
            <a:endParaRPr/>
          </a:p>
        </p:txBody>
      </p:sp>
      <p:sp>
        <p:nvSpPr>
          <p:cNvPr id="1052" name="Google Shape;1052;p24"/>
          <p:cNvSpPr txBox="1"/>
          <p:nvPr/>
        </p:nvSpPr>
        <p:spPr>
          <a:xfrm>
            <a:off x="9144000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Loss</a:t>
            </a:r>
            <a:endParaRPr/>
          </a:p>
        </p:txBody>
      </p:sp>
      <p:sp>
        <p:nvSpPr>
          <p:cNvPr id="1053" name="Google Shape;1053;p24"/>
          <p:cNvSpPr txBox="1"/>
          <p:nvPr/>
        </p:nvSpPr>
        <p:spPr>
          <a:xfrm>
            <a:off x="9857232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Loss</a:t>
            </a:r>
            <a:endParaRPr/>
          </a:p>
        </p:txBody>
      </p:sp>
      <p:sp>
        <p:nvSpPr>
          <p:cNvPr id="1054" name="Google Shape;1054;p24"/>
          <p:cNvSpPr txBox="1"/>
          <p:nvPr/>
        </p:nvSpPr>
        <p:spPr>
          <a:xfrm>
            <a:off x="10570464" y="5358380"/>
            <a:ext cx="713232" cy="80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Profitable</a:t>
            </a:r>
            <a:endParaRPr/>
          </a:p>
        </p:txBody>
      </p:sp>
      <p:pic>
        <p:nvPicPr>
          <p:cNvPr descr="51careers_logo_dark.png" id="1055" name="Google Shape;105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4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057" name="Google Shape;1057;p24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25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OFFERING</a:t>
            </a:r>
            <a:endParaRPr/>
          </a:p>
        </p:txBody>
      </p:sp>
      <p:sp>
        <p:nvSpPr>
          <p:cNvPr id="1063" name="Google Shape;1063;p25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AI + Human + Platform</a:t>
            </a:r>
            <a:endParaRPr/>
          </a:p>
        </p:txBody>
      </p:sp>
      <p:sp>
        <p:nvSpPr>
          <p:cNvPr id="1064" name="Google Shape;1064;p25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The next generation of career services will not be any one of these alone.</a:t>
            </a:r>
            <a:endParaRPr/>
          </a:p>
        </p:txBody>
      </p:sp>
      <p:sp>
        <p:nvSpPr>
          <p:cNvPr id="1065" name="Google Shape;1065;p25"/>
          <p:cNvSpPr/>
          <p:nvPr/>
        </p:nvSpPr>
        <p:spPr>
          <a:xfrm>
            <a:off x="822960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5"/>
          <p:cNvSpPr txBox="1"/>
          <p:nvPr/>
        </p:nvSpPr>
        <p:spPr>
          <a:xfrm>
            <a:off x="1042416" y="155448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Generative AI</a:t>
            </a:r>
            <a:endParaRPr/>
          </a:p>
        </p:txBody>
      </p:sp>
      <p:sp>
        <p:nvSpPr>
          <p:cNvPr id="1067" name="Google Shape;1067;p25"/>
          <p:cNvSpPr txBox="1"/>
          <p:nvPr/>
        </p:nvSpPr>
        <p:spPr>
          <a:xfrm>
            <a:off x="1042416" y="208483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Professional content creation is now cheap, fast, and widely adopted.</a:t>
            </a:r>
            <a:endParaRPr/>
          </a:p>
        </p:txBody>
      </p:sp>
      <p:sp>
        <p:nvSpPr>
          <p:cNvPr id="1068" name="Google Shape;1068;p25"/>
          <p:cNvSpPr/>
          <p:nvPr/>
        </p:nvSpPr>
        <p:spPr>
          <a:xfrm>
            <a:off x="6190488" y="129844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5"/>
          <p:cNvSpPr txBox="1"/>
          <p:nvPr/>
        </p:nvSpPr>
        <p:spPr>
          <a:xfrm>
            <a:off x="6409944" y="155448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Global employment</a:t>
            </a:r>
            <a:endParaRPr/>
          </a:p>
        </p:txBody>
      </p:sp>
      <p:sp>
        <p:nvSpPr>
          <p:cNvPr id="1070" name="Google Shape;1070;p25"/>
          <p:cNvSpPr txBox="1"/>
          <p:nvPr/>
        </p:nvSpPr>
        <p:spPr>
          <a:xfrm>
            <a:off x="6409944" y="208483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Talent is mobile. English-language careers travel across markets.</a:t>
            </a:r>
            <a:endParaRPr/>
          </a:p>
        </p:txBody>
      </p:sp>
      <p:sp>
        <p:nvSpPr>
          <p:cNvPr id="1071" name="Google Shape;1071;p25"/>
          <p:cNvSpPr/>
          <p:nvPr/>
        </p:nvSpPr>
        <p:spPr>
          <a:xfrm>
            <a:off x="822960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25"/>
          <p:cNvSpPr txBox="1"/>
          <p:nvPr/>
        </p:nvSpPr>
        <p:spPr>
          <a:xfrm>
            <a:off x="1042416" y="365760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Career services</a:t>
            </a:r>
            <a:endParaRPr/>
          </a:p>
        </p:txBody>
      </p:sp>
      <p:sp>
        <p:nvSpPr>
          <p:cNvPr id="1073" name="Google Shape;1073;p25"/>
          <p:cNvSpPr txBox="1"/>
          <p:nvPr/>
        </p:nvSpPr>
        <p:spPr>
          <a:xfrm>
            <a:off x="1042416" y="418795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Advice is still manual, expensive, and hard to scale.</a:t>
            </a:r>
            <a:endParaRPr/>
          </a:p>
        </p:txBody>
      </p:sp>
      <p:sp>
        <p:nvSpPr>
          <p:cNvPr id="1074" name="Google Shape;1074;p25"/>
          <p:cNvSpPr/>
          <p:nvPr/>
        </p:nvSpPr>
        <p:spPr>
          <a:xfrm>
            <a:off x="6190488" y="3401568"/>
            <a:ext cx="517550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25"/>
          <p:cNvSpPr txBox="1"/>
          <p:nvPr/>
        </p:nvSpPr>
        <p:spPr>
          <a:xfrm>
            <a:off x="6409944" y="3657600"/>
            <a:ext cx="47365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Digital acquisition</a:t>
            </a:r>
            <a:endParaRPr/>
          </a:p>
        </p:txBody>
      </p:sp>
      <p:sp>
        <p:nvSpPr>
          <p:cNvPr id="1076" name="Google Shape;1076;p25"/>
          <p:cNvSpPr txBox="1"/>
          <p:nvPr/>
        </p:nvSpPr>
        <p:spPr>
          <a:xfrm>
            <a:off x="6409944" y="4187952"/>
            <a:ext cx="473659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 free AI Resume is a low-friction, global top of funnel.</a:t>
            </a:r>
            <a:endParaRPr/>
          </a:p>
        </p:txBody>
      </p:sp>
      <p:sp>
        <p:nvSpPr>
          <p:cNvPr id="1077" name="Google Shape;1077;p25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25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THE OPPORTUNITY</a:t>
            </a:r>
            <a:endParaRPr/>
          </a:p>
        </p:txBody>
      </p:sp>
      <p:sp>
        <p:nvSpPr>
          <p:cNvPr id="1079" name="Google Shape;1079;p25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The AI Resume is the entry point. The ambition is the global AI career platform.</a:t>
            </a:r>
            <a:endParaRPr/>
          </a:p>
        </p:txBody>
      </p:sp>
      <p:pic>
        <p:nvPicPr>
          <p:cNvPr descr="51careers_logo_dark.png" id="1080" name="Google Shape;10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25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082" name="Google Shape;1082;p25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6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FINANCING</a:t>
            </a:r>
            <a:endParaRPr/>
          </a:p>
        </p:txBody>
      </p:sp>
      <p:sp>
        <p:nvSpPr>
          <p:cNvPr id="1088" name="Google Shape;1088;p26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Current Financing Round</a:t>
            </a:r>
            <a:endParaRPr/>
          </a:p>
        </p:txBody>
      </p:sp>
      <p:sp>
        <p:nvSpPr>
          <p:cNvPr id="1089" name="Google Shape;1089;p26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RMB 20 million at RMB 180 million pre / RMB 200 million post. 10% equity.</a:t>
            </a:r>
            <a:endParaRPr/>
          </a:p>
        </p:txBody>
      </p:sp>
      <p:sp>
        <p:nvSpPr>
          <p:cNvPr id="1090" name="Google Shape;1090;p26"/>
          <p:cNvSpPr/>
          <p:nvPr/>
        </p:nvSpPr>
        <p:spPr>
          <a:xfrm>
            <a:off x="822960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6"/>
          <p:cNvSpPr txBox="1"/>
          <p:nvPr/>
        </p:nvSpPr>
        <p:spPr>
          <a:xfrm>
            <a:off x="1024128" y="148132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RAISE</a:t>
            </a:r>
            <a:endParaRPr/>
          </a:p>
        </p:txBody>
      </p:sp>
      <p:sp>
        <p:nvSpPr>
          <p:cNvPr id="1092" name="Google Shape;1092;p26"/>
          <p:cNvSpPr txBox="1"/>
          <p:nvPr/>
        </p:nvSpPr>
        <p:spPr>
          <a:xfrm>
            <a:off x="1024128" y="181051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20 million</a:t>
            </a:r>
            <a:endParaRPr/>
          </a:p>
        </p:txBody>
      </p:sp>
      <p:sp>
        <p:nvSpPr>
          <p:cNvPr id="1093" name="Google Shape;1093;p26"/>
          <p:cNvSpPr txBox="1"/>
          <p:nvPr/>
        </p:nvSpPr>
        <p:spPr>
          <a:xfrm>
            <a:off x="1024128" y="254203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≈ US$2.97 million</a:t>
            </a:r>
            <a:endParaRPr/>
          </a:p>
        </p:txBody>
      </p:sp>
      <p:sp>
        <p:nvSpPr>
          <p:cNvPr id="1094" name="Google Shape;1094;p26"/>
          <p:cNvSpPr/>
          <p:nvPr/>
        </p:nvSpPr>
        <p:spPr>
          <a:xfrm>
            <a:off x="4398264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26"/>
          <p:cNvSpPr txBox="1"/>
          <p:nvPr/>
        </p:nvSpPr>
        <p:spPr>
          <a:xfrm>
            <a:off x="4599432" y="148132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PRE-MONEY</a:t>
            </a:r>
            <a:endParaRPr/>
          </a:p>
        </p:txBody>
      </p:sp>
      <p:sp>
        <p:nvSpPr>
          <p:cNvPr id="1096" name="Google Shape;1096;p26"/>
          <p:cNvSpPr txBox="1"/>
          <p:nvPr/>
        </p:nvSpPr>
        <p:spPr>
          <a:xfrm>
            <a:off x="4599432" y="181051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180 million</a:t>
            </a:r>
            <a:endParaRPr/>
          </a:p>
        </p:txBody>
      </p:sp>
      <p:sp>
        <p:nvSpPr>
          <p:cNvPr id="1097" name="Google Shape;1097;p26"/>
          <p:cNvSpPr txBox="1"/>
          <p:nvPr/>
        </p:nvSpPr>
        <p:spPr>
          <a:xfrm>
            <a:off x="4599432" y="254203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≈ US$26.7 million</a:t>
            </a:r>
            <a:endParaRPr/>
          </a:p>
        </p:txBody>
      </p:sp>
      <p:sp>
        <p:nvSpPr>
          <p:cNvPr id="1098" name="Google Shape;1098;p26"/>
          <p:cNvSpPr/>
          <p:nvPr/>
        </p:nvSpPr>
        <p:spPr>
          <a:xfrm>
            <a:off x="7973568" y="129844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6"/>
          <p:cNvSpPr txBox="1"/>
          <p:nvPr/>
        </p:nvSpPr>
        <p:spPr>
          <a:xfrm>
            <a:off x="8174736" y="148132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POST-MONEY</a:t>
            </a:r>
            <a:endParaRPr/>
          </a:p>
        </p:txBody>
      </p:sp>
      <p:sp>
        <p:nvSpPr>
          <p:cNvPr id="1100" name="Google Shape;1100;p26"/>
          <p:cNvSpPr txBox="1"/>
          <p:nvPr/>
        </p:nvSpPr>
        <p:spPr>
          <a:xfrm>
            <a:off x="8174736" y="181051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RMB 200 million</a:t>
            </a:r>
            <a:endParaRPr/>
          </a:p>
        </p:txBody>
      </p:sp>
      <p:sp>
        <p:nvSpPr>
          <p:cNvPr id="1101" name="Google Shape;1101;p26"/>
          <p:cNvSpPr txBox="1"/>
          <p:nvPr/>
        </p:nvSpPr>
        <p:spPr>
          <a:xfrm>
            <a:off x="8174736" y="254203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≈ US$29.7 million</a:t>
            </a:r>
            <a:endParaRPr/>
          </a:p>
        </p:txBody>
      </p:sp>
      <p:sp>
        <p:nvSpPr>
          <p:cNvPr id="1102" name="Google Shape;1102;p26"/>
          <p:cNvSpPr/>
          <p:nvPr/>
        </p:nvSpPr>
        <p:spPr>
          <a:xfrm>
            <a:off x="822960" y="340156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6"/>
          <p:cNvSpPr txBox="1"/>
          <p:nvPr/>
        </p:nvSpPr>
        <p:spPr>
          <a:xfrm>
            <a:off x="1024128" y="358444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EQUITY OFFERED</a:t>
            </a:r>
            <a:endParaRPr/>
          </a:p>
        </p:txBody>
      </p:sp>
      <p:sp>
        <p:nvSpPr>
          <p:cNvPr id="1104" name="Google Shape;1104;p26"/>
          <p:cNvSpPr txBox="1"/>
          <p:nvPr/>
        </p:nvSpPr>
        <p:spPr>
          <a:xfrm>
            <a:off x="1024128" y="391363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10%</a:t>
            </a:r>
            <a:endParaRPr/>
          </a:p>
        </p:txBody>
      </p:sp>
      <p:sp>
        <p:nvSpPr>
          <p:cNvPr id="1105" name="Google Shape;1105;p26"/>
          <p:cNvSpPr txBox="1"/>
          <p:nvPr/>
        </p:nvSpPr>
        <p:spPr>
          <a:xfrm>
            <a:off x="1024128" y="464515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Primary preferred</a:t>
            </a:r>
            <a:endParaRPr/>
          </a:p>
        </p:txBody>
      </p:sp>
      <p:sp>
        <p:nvSpPr>
          <p:cNvPr id="1106" name="Google Shape;1106;p26"/>
          <p:cNvSpPr/>
          <p:nvPr/>
        </p:nvSpPr>
        <p:spPr>
          <a:xfrm>
            <a:off x="4398264" y="340156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6"/>
          <p:cNvSpPr txBox="1"/>
          <p:nvPr/>
        </p:nvSpPr>
        <p:spPr>
          <a:xfrm>
            <a:off x="4599432" y="358444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STRUCTURE</a:t>
            </a:r>
            <a:endParaRPr/>
          </a:p>
        </p:txBody>
      </p:sp>
      <p:sp>
        <p:nvSpPr>
          <p:cNvPr id="1108" name="Google Shape;1108;p26"/>
          <p:cNvSpPr txBox="1"/>
          <p:nvPr/>
        </p:nvSpPr>
        <p:spPr>
          <a:xfrm>
            <a:off x="4599432" y="391363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Preferred equity</a:t>
            </a:r>
            <a:endParaRPr/>
          </a:p>
        </p:txBody>
      </p:sp>
      <p:sp>
        <p:nvSpPr>
          <p:cNvPr id="1109" name="Google Shape;1109;p26"/>
          <p:cNvSpPr txBox="1"/>
          <p:nvPr/>
        </p:nvSpPr>
        <p:spPr>
          <a:xfrm>
            <a:off x="4599432" y="464515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Indicative; subject to docs</a:t>
            </a:r>
            <a:endParaRPr/>
          </a:p>
        </p:txBody>
      </p:sp>
      <p:sp>
        <p:nvSpPr>
          <p:cNvPr id="1110" name="Google Shape;1110;p26"/>
          <p:cNvSpPr/>
          <p:nvPr/>
        </p:nvSpPr>
        <p:spPr>
          <a:xfrm>
            <a:off x="7973568" y="3401568"/>
            <a:ext cx="3392424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6"/>
          <p:cNvSpPr txBox="1"/>
          <p:nvPr/>
        </p:nvSpPr>
        <p:spPr>
          <a:xfrm>
            <a:off x="8174736" y="3584448"/>
            <a:ext cx="2990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USE OF CAPITAL</a:t>
            </a:r>
            <a:endParaRPr/>
          </a:p>
        </p:txBody>
      </p:sp>
      <p:sp>
        <p:nvSpPr>
          <p:cNvPr id="1112" name="Google Shape;1112;p26"/>
          <p:cNvSpPr txBox="1"/>
          <p:nvPr/>
        </p:nvSpPr>
        <p:spPr>
          <a:xfrm>
            <a:off x="8174736" y="3913632"/>
            <a:ext cx="299008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Product, users, GTM</a:t>
            </a:r>
            <a:endParaRPr/>
          </a:p>
        </p:txBody>
      </p:sp>
      <p:sp>
        <p:nvSpPr>
          <p:cNvPr id="1113" name="Google Shape;1113;p26"/>
          <p:cNvSpPr txBox="1"/>
          <p:nvPr/>
        </p:nvSpPr>
        <p:spPr>
          <a:xfrm>
            <a:off x="8174736" y="4645152"/>
            <a:ext cx="299008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Monetization + ecosystem</a:t>
            </a:r>
            <a:endParaRPr/>
          </a:p>
        </p:txBody>
      </p:sp>
      <p:sp>
        <p:nvSpPr>
          <p:cNvPr id="1114" name="Google Shape;1114;p26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6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USE OF PROCEEDS</a:t>
            </a:r>
            <a:endParaRPr/>
          </a:p>
        </p:txBody>
      </p:sp>
      <p:sp>
        <p:nvSpPr>
          <p:cNvPr id="1116" name="Google Shape;1116;p26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Build the product, acquire users, expand globally, and develop the career ecosystem.</a:t>
            </a:r>
            <a:endParaRPr/>
          </a:p>
        </p:txBody>
      </p:sp>
      <p:pic>
        <p:nvPicPr>
          <p:cNvPr descr="51careers_logo_dark.png" id="1117" name="Google Shape;11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26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119" name="Google Shape;1119;p26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7"/>
          <p:cNvSpPr txBox="1"/>
          <p:nvPr/>
        </p:nvSpPr>
        <p:spPr>
          <a:xfrm>
            <a:off x="822960" y="347472"/>
            <a:ext cx="8869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INVESTOR OUTCOMES</a:t>
            </a:r>
            <a:endParaRPr/>
          </a:p>
        </p:txBody>
      </p:sp>
      <p:sp>
        <p:nvSpPr>
          <p:cNvPr id="1125" name="Google Shape;1125;p27"/>
          <p:cNvSpPr txBox="1"/>
          <p:nvPr/>
        </p:nvSpPr>
        <p:spPr>
          <a:xfrm>
            <a:off x="822960" y="548640"/>
            <a:ext cx="88696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12–18 Month Targets This Round Funds</a:t>
            </a:r>
            <a:endParaRPr/>
          </a:p>
        </p:txBody>
      </p:sp>
      <p:sp>
        <p:nvSpPr>
          <p:cNvPr id="1126" name="Google Shape;1126;p27"/>
          <p:cNvSpPr txBox="1"/>
          <p:nvPr/>
        </p:nvSpPr>
        <p:spPr>
          <a:xfrm>
            <a:off x="822960" y="950976"/>
            <a:ext cx="8869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What RMB 20 million is designed to produce before the next raise.</a:t>
            </a:r>
            <a:endParaRPr/>
          </a:p>
        </p:txBody>
      </p:sp>
      <p:sp>
        <p:nvSpPr>
          <p:cNvPr id="1127" name="Google Shape;1127;p27"/>
          <p:cNvSpPr/>
          <p:nvPr/>
        </p:nvSpPr>
        <p:spPr>
          <a:xfrm>
            <a:off x="822960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7"/>
          <p:cNvSpPr/>
          <p:nvPr/>
        </p:nvSpPr>
        <p:spPr>
          <a:xfrm>
            <a:off x="969264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27"/>
          <p:cNvSpPr txBox="1"/>
          <p:nvPr/>
        </p:nvSpPr>
        <p:spPr>
          <a:xfrm>
            <a:off x="969264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</a:t>
            </a:r>
            <a:endParaRPr/>
          </a:p>
        </p:txBody>
      </p:sp>
      <p:sp>
        <p:nvSpPr>
          <p:cNvPr id="1130" name="Google Shape;1130;p27"/>
          <p:cNvSpPr txBox="1"/>
          <p:nvPr/>
        </p:nvSpPr>
        <p:spPr>
          <a:xfrm>
            <a:off x="969264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Public launch</a:t>
            </a:r>
            <a:endParaRPr/>
          </a:p>
        </p:txBody>
      </p:sp>
      <p:sp>
        <p:nvSpPr>
          <p:cNvPr id="1131" name="Google Shape;1131;p27"/>
          <p:cNvSpPr txBox="1"/>
          <p:nvPr/>
        </p:nvSpPr>
        <p:spPr>
          <a:xfrm>
            <a:off x="969264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Resume live for users in China and the U.S.</a:t>
            </a:r>
            <a:endParaRPr/>
          </a:p>
        </p:txBody>
      </p:sp>
      <p:sp>
        <p:nvSpPr>
          <p:cNvPr id="1132" name="Google Shape;1132;p27"/>
          <p:cNvSpPr/>
          <p:nvPr/>
        </p:nvSpPr>
        <p:spPr>
          <a:xfrm>
            <a:off x="3483864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27"/>
          <p:cNvSpPr/>
          <p:nvPr/>
        </p:nvSpPr>
        <p:spPr>
          <a:xfrm>
            <a:off x="3630168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7"/>
          <p:cNvSpPr txBox="1"/>
          <p:nvPr/>
        </p:nvSpPr>
        <p:spPr>
          <a:xfrm>
            <a:off x="3630168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</a:t>
            </a:r>
            <a:endParaRPr/>
          </a:p>
        </p:txBody>
      </p:sp>
      <p:sp>
        <p:nvSpPr>
          <p:cNvPr id="1135" name="Google Shape;1135;p27"/>
          <p:cNvSpPr txBox="1"/>
          <p:nvPr/>
        </p:nvSpPr>
        <p:spPr>
          <a:xfrm>
            <a:off x="3630168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50–100k users</a:t>
            </a:r>
            <a:endParaRPr/>
          </a:p>
        </p:txBody>
      </p:sp>
      <p:sp>
        <p:nvSpPr>
          <p:cNvPr id="1136" name="Google Shape;1136;p27"/>
          <p:cNvSpPr txBox="1"/>
          <p:nvPr/>
        </p:nvSpPr>
        <p:spPr>
          <a:xfrm>
            <a:off x="3630168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Registered users; funnel instrumented end-to-end.</a:t>
            </a:r>
            <a:endParaRPr/>
          </a:p>
        </p:txBody>
      </p:sp>
      <p:sp>
        <p:nvSpPr>
          <p:cNvPr id="1137" name="Google Shape;1137;p27"/>
          <p:cNvSpPr/>
          <p:nvPr/>
        </p:nvSpPr>
        <p:spPr>
          <a:xfrm>
            <a:off x="6144768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27"/>
          <p:cNvSpPr/>
          <p:nvPr/>
        </p:nvSpPr>
        <p:spPr>
          <a:xfrm>
            <a:off x="6291072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27"/>
          <p:cNvSpPr txBox="1"/>
          <p:nvPr/>
        </p:nvSpPr>
        <p:spPr>
          <a:xfrm>
            <a:off x="6291072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  <a:endParaRPr/>
          </a:p>
        </p:txBody>
      </p:sp>
      <p:sp>
        <p:nvSpPr>
          <p:cNvPr id="1140" name="Google Shape;1140;p27"/>
          <p:cNvSpPr txBox="1"/>
          <p:nvPr/>
        </p:nvSpPr>
        <p:spPr>
          <a:xfrm>
            <a:off x="6291072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Blind A/B tests</a:t>
            </a:r>
            <a:endParaRPr/>
          </a:p>
        </p:txBody>
      </p:sp>
      <p:sp>
        <p:nvSpPr>
          <p:cNvPr id="1141" name="Google Shape;1141;p27"/>
          <p:cNvSpPr txBox="1"/>
          <p:nvPr/>
        </p:nvSpPr>
        <p:spPr>
          <a:xfrm>
            <a:off x="6291072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Statistically meaningful quality vs. general models.</a:t>
            </a:r>
            <a:endParaRPr/>
          </a:p>
        </p:txBody>
      </p:sp>
      <p:sp>
        <p:nvSpPr>
          <p:cNvPr id="1142" name="Google Shape;1142;p27"/>
          <p:cNvSpPr/>
          <p:nvPr/>
        </p:nvSpPr>
        <p:spPr>
          <a:xfrm>
            <a:off x="8805672" y="129844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7"/>
          <p:cNvSpPr/>
          <p:nvPr/>
        </p:nvSpPr>
        <p:spPr>
          <a:xfrm>
            <a:off x="8951976" y="144475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27"/>
          <p:cNvSpPr txBox="1"/>
          <p:nvPr/>
        </p:nvSpPr>
        <p:spPr>
          <a:xfrm>
            <a:off x="8951976" y="14447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  <a:endParaRPr/>
          </a:p>
        </p:txBody>
      </p:sp>
      <p:sp>
        <p:nvSpPr>
          <p:cNvPr id="1145" name="Google Shape;1145;p27"/>
          <p:cNvSpPr txBox="1"/>
          <p:nvPr/>
        </p:nvSpPr>
        <p:spPr>
          <a:xfrm>
            <a:off x="8951976" y="188366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Unit economics</a:t>
            </a:r>
            <a:endParaRPr/>
          </a:p>
        </p:txBody>
      </p:sp>
      <p:sp>
        <p:nvSpPr>
          <p:cNvPr id="1146" name="Google Shape;1146;p27"/>
          <p:cNvSpPr txBox="1"/>
          <p:nvPr/>
        </p:nvSpPr>
        <p:spPr>
          <a:xfrm>
            <a:off x="8951976" y="232257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CAC, conversion, ARPU, and payback benchmarks.</a:t>
            </a:r>
            <a:endParaRPr/>
          </a:p>
        </p:txBody>
      </p:sp>
      <p:sp>
        <p:nvSpPr>
          <p:cNvPr id="1147" name="Google Shape;1147;p27"/>
          <p:cNvSpPr/>
          <p:nvPr/>
        </p:nvSpPr>
        <p:spPr>
          <a:xfrm>
            <a:off x="822960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7"/>
          <p:cNvSpPr/>
          <p:nvPr/>
        </p:nvSpPr>
        <p:spPr>
          <a:xfrm>
            <a:off x="969264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7"/>
          <p:cNvSpPr txBox="1"/>
          <p:nvPr/>
        </p:nvSpPr>
        <p:spPr>
          <a:xfrm>
            <a:off x="969264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  <a:endParaRPr/>
          </a:p>
        </p:txBody>
      </p:sp>
      <p:sp>
        <p:nvSpPr>
          <p:cNvPr id="1150" name="Google Shape;1150;p27"/>
          <p:cNvSpPr txBox="1"/>
          <p:nvPr/>
        </p:nvSpPr>
        <p:spPr>
          <a:xfrm>
            <a:off x="969264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U.S. acquisition</a:t>
            </a:r>
            <a:endParaRPr/>
          </a:p>
        </p:txBody>
      </p:sp>
      <p:sp>
        <p:nvSpPr>
          <p:cNvPr id="1151" name="Google Shape;1151;p27"/>
          <p:cNvSpPr txBox="1"/>
          <p:nvPr/>
        </p:nvSpPr>
        <p:spPr>
          <a:xfrm>
            <a:off x="969264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Paid digital + university/offline channels live.</a:t>
            </a:r>
            <a:endParaRPr/>
          </a:p>
        </p:txBody>
      </p:sp>
      <p:sp>
        <p:nvSpPr>
          <p:cNvPr id="1152" name="Google Shape;1152;p27"/>
          <p:cNvSpPr/>
          <p:nvPr/>
        </p:nvSpPr>
        <p:spPr>
          <a:xfrm>
            <a:off x="3483864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7"/>
          <p:cNvSpPr/>
          <p:nvPr/>
        </p:nvSpPr>
        <p:spPr>
          <a:xfrm>
            <a:off x="3630168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7"/>
          <p:cNvSpPr txBox="1"/>
          <p:nvPr/>
        </p:nvSpPr>
        <p:spPr>
          <a:xfrm>
            <a:off x="3630168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  <a:endParaRPr/>
          </a:p>
        </p:txBody>
      </p:sp>
      <p:sp>
        <p:nvSpPr>
          <p:cNvPr id="1155" name="Google Shape;1155;p27"/>
          <p:cNvSpPr txBox="1"/>
          <p:nvPr/>
        </p:nvSpPr>
        <p:spPr>
          <a:xfrm>
            <a:off x="3630168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First paid cohort</a:t>
            </a:r>
            <a:endParaRPr/>
          </a:p>
        </p:txBody>
      </p:sp>
      <p:sp>
        <p:nvSpPr>
          <p:cNvPr id="1156" name="Google Shape;1156;p27"/>
          <p:cNvSpPr txBox="1"/>
          <p:nvPr/>
        </p:nvSpPr>
        <p:spPr>
          <a:xfrm>
            <a:off x="3630168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AI subscriptions and career-services attach live.</a:t>
            </a:r>
            <a:endParaRPr/>
          </a:p>
        </p:txBody>
      </p:sp>
      <p:sp>
        <p:nvSpPr>
          <p:cNvPr id="1157" name="Google Shape;1157;p27"/>
          <p:cNvSpPr/>
          <p:nvPr/>
        </p:nvSpPr>
        <p:spPr>
          <a:xfrm>
            <a:off x="6144768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7"/>
          <p:cNvSpPr/>
          <p:nvPr/>
        </p:nvSpPr>
        <p:spPr>
          <a:xfrm>
            <a:off x="6291072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7"/>
          <p:cNvSpPr txBox="1"/>
          <p:nvPr/>
        </p:nvSpPr>
        <p:spPr>
          <a:xfrm>
            <a:off x="6291072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  <a:endParaRPr/>
          </a:p>
        </p:txBody>
      </p:sp>
      <p:sp>
        <p:nvSpPr>
          <p:cNvPr id="1160" name="Google Shape;1160;p27"/>
          <p:cNvSpPr txBox="1"/>
          <p:nvPr/>
        </p:nvSpPr>
        <p:spPr>
          <a:xfrm>
            <a:off x="6291072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B2B pipeline</a:t>
            </a:r>
            <a:endParaRPr/>
          </a:p>
        </p:txBody>
      </p:sp>
      <p:sp>
        <p:nvSpPr>
          <p:cNvPr id="1161" name="Google Shape;1161;p27"/>
          <p:cNvSpPr txBox="1"/>
          <p:nvPr/>
        </p:nvSpPr>
        <p:spPr>
          <a:xfrm>
            <a:off x="6291072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Employer and education-partner conversations.</a:t>
            </a:r>
            <a:endParaRPr/>
          </a:p>
        </p:txBody>
      </p:sp>
      <p:sp>
        <p:nvSpPr>
          <p:cNvPr id="1162" name="Google Shape;1162;p27"/>
          <p:cNvSpPr/>
          <p:nvPr/>
        </p:nvSpPr>
        <p:spPr>
          <a:xfrm>
            <a:off x="8805672" y="3401568"/>
            <a:ext cx="2560320" cy="1993392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7"/>
          <p:cNvSpPr/>
          <p:nvPr/>
        </p:nvSpPr>
        <p:spPr>
          <a:xfrm>
            <a:off x="8951976" y="3547872"/>
            <a:ext cx="347472" cy="347472"/>
          </a:xfrm>
          <a:prstGeom prst="rect">
            <a:avLst/>
          </a:prstGeom>
          <a:solidFill>
            <a:srgbClr val="007BC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7"/>
          <p:cNvSpPr txBox="1"/>
          <p:nvPr/>
        </p:nvSpPr>
        <p:spPr>
          <a:xfrm>
            <a:off x="8951976" y="35478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  <a:endParaRPr/>
          </a:p>
        </p:txBody>
      </p:sp>
      <p:sp>
        <p:nvSpPr>
          <p:cNvPr id="1165" name="Google Shape;1165;p27"/>
          <p:cNvSpPr txBox="1"/>
          <p:nvPr/>
        </p:nvSpPr>
        <p:spPr>
          <a:xfrm>
            <a:off x="8951976" y="3986784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Next-round pack</a:t>
            </a:r>
            <a:endParaRPr/>
          </a:p>
        </p:txBody>
      </p:sp>
      <p:sp>
        <p:nvSpPr>
          <p:cNvPr id="1166" name="Google Shape;1166;p27"/>
          <p:cNvSpPr txBox="1"/>
          <p:nvPr/>
        </p:nvSpPr>
        <p:spPr>
          <a:xfrm>
            <a:off x="8951976" y="4425696"/>
            <a:ext cx="22677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E2A33"/>
                </a:solidFill>
                <a:latin typeface="Garamond"/>
                <a:ea typeface="Garamond"/>
                <a:cs typeface="Garamond"/>
                <a:sym typeface="Garamond"/>
              </a:rPr>
              <a:t>Traction, model, and data room ready to raise.</a:t>
            </a:r>
            <a:endParaRPr/>
          </a:p>
        </p:txBody>
      </p:sp>
      <p:sp>
        <p:nvSpPr>
          <p:cNvPr id="1167" name="Google Shape;1167;p27"/>
          <p:cNvSpPr/>
          <p:nvPr/>
        </p:nvSpPr>
        <p:spPr>
          <a:xfrm>
            <a:off x="822960" y="5687568"/>
            <a:ext cx="10543032" cy="694944"/>
          </a:xfrm>
          <a:prstGeom prst="roundRect">
            <a:avLst>
              <a:gd fmla="val 4000" name="adj"/>
            </a:avLst>
          </a:prstGeom>
          <a:solidFill>
            <a:srgbClr val="F3F7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7"/>
          <p:cNvSpPr txBox="1"/>
          <p:nvPr/>
        </p:nvSpPr>
        <p:spPr>
          <a:xfrm>
            <a:off x="1005840" y="5742432"/>
            <a:ext cx="101772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7BCB"/>
                </a:solidFill>
                <a:latin typeface="Garamond"/>
                <a:ea typeface="Garamond"/>
                <a:cs typeface="Garamond"/>
                <a:sym typeface="Garamond"/>
              </a:rPr>
              <a:t>RMB 20M</a:t>
            </a:r>
            <a:endParaRPr/>
          </a:p>
        </p:txBody>
      </p:sp>
      <p:sp>
        <p:nvSpPr>
          <p:cNvPr id="1169" name="Google Shape;1169;p27"/>
          <p:cNvSpPr txBox="1"/>
          <p:nvPr/>
        </p:nvSpPr>
        <p:spPr>
          <a:xfrm>
            <a:off x="1005840" y="5943600"/>
            <a:ext cx="101772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22F"/>
                </a:solidFill>
                <a:latin typeface="Garamond"/>
                <a:ea typeface="Garamond"/>
                <a:cs typeface="Garamond"/>
                <a:sym typeface="Garamond"/>
              </a:rPr>
              <a:t>Product + users + benchmarks  →  revenue  →  next round  →  valuation step-up</a:t>
            </a:r>
            <a:endParaRPr/>
          </a:p>
        </p:txBody>
      </p:sp>
      <p:pic>
        <p:nvPicPr>
          <p:cNvPr descr="51careers_logo_dark.png" id="1170" name="Google Shape;11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0" y="475488"/>
            <a:ext cx="1325880" cy="374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27"/>
          <p:cNvSpPr txBox="1"/>
          <p:nvPr/>
        </p:nvSpPr>
        <p:spPr>
          <a:xfrm>
            <a:off x="822960" y="64922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172" name="Google Shape;1172;p27"/>
          <p:cNvSpPr txBox="1"/>
          <p:nvPr/>
        </p:nvSpPr>
        <p:spPr>
          <a:xfrm>
            <a:off x="11064240" y="649224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C6B76"/>
                </a:solidFill>
                <a:latin typeface="Garamond"/>
                <a:ea typeface="Garamond"/>
                <a:cs typeface="Garamond"/>
                <a:sym typeface="Garamond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_bg.jpg" id="1177" name="Google Shape;11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1careers_logo_light.png" id="1178" name="Google Shape;11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685800"/>
            <a:ext cx="2514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28"/>
          <p:cNvSpPr txBox="1"/>
          <p:nvPr/>
        </p:nvSpPr>
        <p:spPr>
          <a:xfrm>
            <a:off x="822960" y="1481328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VISION</a:t>
            </a:r>
            <a:endParaRPr/>
          </a:p>
        </p:txBody>
      </p:sp>
      <p:sp>
        <p:nvSpPr>
          <p:cNvPr id="1180" name="Google Shape;1180;p28"/>
          <p:cNvSpPr txBox="1"/>
          <p:nvPr/>
        </p:nvSpPr>
        <p:spPr>
          <a:xfrm>
            <a:off x="822960" y="1755648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We are not building another AI resume tool.</a:t>
            </a:r>
            <a:endParaRPr/>
          </a:p>
        </p:txBody>
      </p:sp>
      <p:sp>
        <p:nvSpPr>
          <p:cNvPr id="1181" name="Google Shape;1181;p28"/>
          <p:cNvSpPr txBox="1"/>
          <p:nvPr/>
        </p:nvSpPr>
        <p:spPr>
          <a:xfrm>
            <a:off x="822960" y="2212848"/>
            <a:ext cx="10241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We are building the Global AI Career Platform.</a:t>
            </a:r>
            <a:endParaRPr/>
          </a:p>
        </p:txBody>
      </p:sp>
      <p:sp>
        <p:nvSpPr>
          <p:cNvPr id="1182" name="Google Shape;1182;p28"/>
          <p:cNvSpPr/>
          <p:nvPr/>
        </p:nvSpPr>
        <p:spPr>
          <a:xfrm>
            <a:off x="822960" y="2834640"/>
            <a:ext cx="3392424" cy="260604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8"/>
          <p:cNvSpPr txBox="1"/>
          <p:nvPr/>
        </p:nvSpPr>
        <p:spPr>
          <a:xfrm>
            <a:off x="1024128" y="3035808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China R&amp;D</a:t>
            </a:r>
            <a:endParaRPr/>
          </a:p>
        </p:txBody>
      </p:sp>
      <p:sp>
        <p:nvSpPr>
          <p:cNvPr id="1184" name="Google Shape;1184;p28"/>
          <p:cNvSpPr txBox="1"/>
          <p:nvPr/>
        </p:nvSpPr>
        <p:spPr>
          <a:xfrm>
            <a:off x="1024128" y="3511296"/>
            <a:ext cx="299008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Product, design, engineering, and AI built from the China base.</a:t>
            </a:r>
            <a:endParaRPr/>
          </a:p>
        </p:txBody>
      </p:sp>
      <p:sp>
        <p:nvSpPr>
          <p:cNvPr id="1185" name="Google Shape;1185;p28"/>
          <p:cNvSpPr/>
          <p:nvPr/>
        </p:nvSpPr>
        <p:spPr>
          <a:xfrm>
            <a:off x="4398264" y="2834640"/>
            <a:ext cx="3392424" cy="260604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8"/>
          <p:cNvSpPr txBox="1"/>
          <p:nvPr/>
        </p:nvSpPr>
        <p:spPr>
          <a:xfrm>
            <a:off x="4599432" y="3035808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U.S. commercialization</a:t>
            </a:r>
            <a:endParaRPr/>
          </a:p>
        </p:txBody>
      </p:sp>
      <p:sp>
        <p:nvSpPr>
          <p:cNvPr id="1187" name="Google Shape;1187;p28"/>
          <p:cNvSpPr txBox="1"/>
          <p:nvPr/>
        </p:nvSpPr>
        <p:spPr>
          <a:xfrm>
            <a:off x="4599432" y="3511296"/>
            <a:ext cx="299008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The first international growth market for acquisition and brand.</a:t>
            </a:r>
            <a:endParaRPr/>
          </a:p>
        </p:txBody>
      </p:sp>
      <p:sp>
        <p:nvSpPr>
          <p:cNvPr id="1188" name="Google Shape;1188;p28"/>
          <p:cNvSpPr/>
          <p:nvPr/>
        </p:nvSpPr>
        <p:spPr>
          <a:xfrm>
            <a:off x="7973568" y="2834640"/>
            <a:ext cx="3392424" cy="260604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28"/>
          <p:cNvSpPr txBox="1"/>
          <p:nvPr/>
        </p:nvSpPr>
        <p:spPr>
          <a:xfrm>
            <a:off x="8174736" y="3035808"/>
            <a:ext cx="2990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Global distribution</a:t>
            </a:r>
            <a:endParaRPr/>
          </a:p>
        </p:txBody>
      </p:sp>
      <p:sp>
        <p:nvSpPr>
          <p:cNvPr id="1190" name="Google Shape;1190;p28"/>
          <p:cNvSpPr txBox="1"/>
          <p:nvPr/>
        </p:nvSpPr>
        <p:spPr>
          <a:xfrm>
            <a:off x="8174736" y="3511296"/>
            <a:ext cx="2990088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A resume product that can serve </a:t>
            </a:r>
            <a:r>
              <a:rPr lang="en-US" sz="1500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global </a:t>
            </a:r>
            <a:r>
              <a:rPr b="0" i="0" lang="en-US" sz="15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 labor markets from day one.</a:t>
            </a:r>
            <a:endParaRPr/>
          </a:p>
        </p:txBody>
      </p:sp>
      <p:sp>
        <p:nvSpPr>
          <p:cNvPr id="1191" name="Google Shape;1191;p28"/>
          <p:cNvSpPr txBox="1"/>
          <p:nvPr/>
        </p:nvSpPr>
        <p:spPr>
          <a:xfrm>
            <a:off x="822960" y="5614416"/>
            <a:ext cx="10543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FC5DE"/>
                </a:solidFill>
                <a:latin typeface="Garamond"/>
                <a:ea typeface="Garamond"/>
                <a:cs typeface="Garamond"/>
                <a:sym typeface="Garamond"/>
              </a:rPr>
              <a:t>AI   ×   CAREER   ×   TALENT   ×   OPPORTUNITY</a:t>
            </a:r>
            <a:endParaRPr/>
          </a:p>
        </p:txBody>
      </p:sp>
      <p:sp>
        <p:nvSpPr>
          <p:cNvPr id="1192" name="Google Shape;1192;p28"/>
          <p:cNvSpPr txBox="1"/>
          <p:nvPr/>
        </p:nvSpPr>
        <p:spPr>
          <a:xfrm>
            <a:off x="822960" y="612648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9C7D2"/>
                </a:solidFill>
                <a:latin typeface="Garamond"/>
                <a:ea typeface="Garamond"/>
                <a:cs typeface="Garamond"/>
                <a:sym typeface="Garamond"/>
              </a:rPr>
              <a:t>51 Careers.AI   |   Proprietary and Confidential</a:t>
            </a:r>
            <a:endParaRPr/>
          </a:p>
        </p:txBody>
      </p:sp>
      <p:sp>
        <p:nvSpPr>
          <p:cNvPr id="1193" name="Google Shape;1193;p28"/>
          <p:cNvSpPr txBox="1"/>
          <p:nvPr/>
        </p:nvSpPr>
        <p:spPr>
          <a:xfrm>
            <a:off x="11064240" y="612648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9C7D2"/>
                </a:solidFill>
                <a:latin typeface="Garamond"/>
                <a:ea typeface="Garamond"/>
                <a:cs typeface="Garamond"/>
                <a:sym typeface="Garamond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_bg.jpg" id="1198" name="Google Shape;11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1careers_logo_light.png" id="1199" name="Google Shape;119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685800"/>
            <a:ext cx="2514600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29"/>
          <p:cNvSpPr txBox="1"/>
          <p:nvPr/>
        </p:nvSpPr>
        <p:spPr>
          <a:xfrm>
            <a:off x="822960" y="1481328"/>
            <a:ext cx="10241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THANK YOU</a:t>
            </a:r>
            <a:endParaRPr/>
          </a:p>
        </p:txBody>
      </p:sp>
      <p:sp>
        <p:nvSpPr>
          <p:cNvPr id="1201" name="Google Shape;1201;p29"/>
          <p:cNvSpPr txBox="1"/>
          <p:nvPr/>
        </p:nvSpPr>
        <p:spPr>
          <a:xfrm>
            <a:off x="822960" y="1755648"/>
            <a:ext cx="102412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Questions and Discussion</a:t>
            </a:r>
            <a:endParaRPr/>
          </a:p>
        </p:txBody>
      </p:sp>
      <p:sp>
        <p:nvSpPr>
          <p:cNvPr id="1202" name="Google Shape;1202;p29"/>
          <p:cNvSpPr txBox="1"/>
          <p:nvPr/>
        </p:nvSpPr>
        <p:spPr>
          <a:xfrm>
            <a:off x="822960" y="2304288"/>
            <a:ext cx="10241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“Our mission is to make great jobs accessible to everyone.”</a:t>
            </a:r>
            <a:endParaRPr/>
          </a:p>
        </p:txBody>
      </p:sp>
      <p:sp>
        <p:nvSpPr>
          <p:cNvPr id="1203" name="Google Shape;1203;p29"/>
          <p:cNvSpPr/>
          <p:nvPr/>
        </p:nvSpPr>
        <p:spPr>
          <a:xfrm>
            <a:off x="822960" y="2834640"/>
            <a:ext cx="5175504" cy="182880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9"/>
          <p:cNvSpPr txBox="1"/>
          <p:nvPr/>
        </p:nvSpPr>
        <p:spPr>
          <a:xfrm>
            <a:off x="1078992" y="30358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EMAIL</a:t>
            </a:r>
            <a:endParaRPr/>
          </a:p>
        </p:txBody>
      </p:sp>
      <p:sp>
        <p:nvSpPr>
          <p:cNvPr id="1205" name="Google Shape;1205;p29"/>
          <p:cNvSpPr txBox="1"/>
          <p:nvPr/>
        </p:nvSpPr>
        <p:spPr>
          <a:xfrm>
            <a:off x="1078992" y="3401568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rocky.chen@51careers.com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FFFFFF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206" name="Google Shape;1206;p29"/>
          <p:cNvSpPr/>
          <p:nvPr/>
        </p:nvSpPr>
        <p:spPr>
          <a:xfrm>
            <a:off x="6190488" y="2834640"/>
            <a:ext cx="5175504" cy="1828800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9"/>
          <p:cNvSpPr txBox="1"/>
          <p:nvPr/>
        </p:nvSpPr>
        <p:spPr>
          <a:xfrm>
            <a:off x="6446520" y="3035808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FBCE8"/>
                </a:solidFill>
                <a:latin typeface="Garamond"/>
                <a:ea typeface="Garamond"/>
                <a:cs typeface="Garamond"/>
                <a:sym typeface="Garamond"/>
              </a:rPr>
              <a:t>PHONE</a:t>
            </a:r>
            <a:endParaRPr/>
          </a:p>
        </p:txBody>
      </p:sp>
      <p:sp>
        <p:nvSpPr>
          <p:cNvPr id="1208" name="Google Shape;1208;p29"/>
          <p:cNvSpPr txBox="1"/>
          <p:nvPr/>
        </p:nvSpPr>
        <p:spPr>
          <a:xfrm>
            <a:off x="6446520" y="3401568"/>
            <a:ext cx="4663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(631) 704-4533</a:t>
            </a:r>
            <a:endParaRPr/>
          </a:p>
        </p:txBody>
      </p:sp>
      <p:sp>
        <p:nvSpPr>
          <p:cNvPr id="1209" name="Google Shape;1209;p29"/>
          <p:cNvSpPr/>
          <p:nvPr/>
        </p:nvSpPr>
        <p:spPr>
          <a:xfrm>
            <a:off x="822960" y="4828032"/>
            <a:ext cx="10543032" cy="1207008"/>
          </a:xfrm>
          <a:prstGeom prst="roundRect">
            <a:avLst>
              <a:gd fmla="val 4000" name="adj"/>
            </a:avLst>
          </a:prstGeom>
          <a:solidFill>
            <a:srgbClr val="0E2233"/>
          </a:solidFill>
          <a:ln cap="flat" cmpd="sng" w="9525">
            <a:solidFill>
              <a:srgbClr val="3C5A7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9"/>
          <p:cNvSpPr txBox="1"/>
          <p:nvPr/>
        </p:nvSpPr>
        <p:spPr>
          <a:xfrm>
            <a:off x="1024128" y="4974336"/>
            <a:ext cx="101406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Rocky Chen  ·  Founder &amp; Chief Executive Officer</a:t>
            </a:r>
            <a:endParaRPr/>
          </a:p>
        </p:txBody>
      </p:sp>
      <p:sp>
        <p:nvSpPr>
          <p:cNvPr id="1211" name="Google Shape;1211;p29"/>
          <p:cNvSpPr txBox="1"/>
          <p:nvPr/>
        </p:nvSpPr>
        <p:spPr>
          <a:xfrm>
            <a:off x="1024128" y="5376672"/>
            <a:ext cx="10140696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rocky.chen@51careers.</a:t>
            </a:r>
            <a:r>
              <a:rPr lang="en-US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com</a:t>
            </a:r>
            <a:r>
              <a:rPr b="0" i="0" lang="en-US" sz="1400" u="none" cap="none" strike="noStrike">
                <a:solidFill>
                  <a:srgbClr val="DCE8F1"/>
                </a:solidFill>
                <a:latin typeface="Garamond"/>
                <a:ea typeface="Garamond"/>
                <a:cs typeface="Garamond"/>
                <a:sym typeface="Garamond"/>
              </a:rPr>
              <a:t>   ·   (631) 704-4533</a:t>
            </a:r>
            <a:endParaRPr/>
          </a:p>
        </p:txBody>
      </p:sp>
      <p:sp>
        <p:nvSpPr>
          <p:cNvPr id="1212" name="Google Shape;1212;p29"/>
          <p:cNvSpPr txBox="1"/>
          <p:nvPr/>
        </p:nvSpPr>
        <p:spPr>
          <a:xfrm>
            <a:off x="9326880" y="6473952"/>
            <a:ext cx="2057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9C7D2"/>
                </a:solidFill>
                <a:latin typeface="Garamond"/>
                <a:ea typeface="Garamond"/>
                <a:cs typeface="Garamond"/>
                <a:sym typeface="Garamond"/>
              </a:rPr>
              <a:t>Proprietary and Confidential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