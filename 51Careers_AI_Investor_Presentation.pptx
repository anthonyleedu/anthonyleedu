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AI hiring tech</c:v>
                </c:pt>
              </c:strCache>
            </c:strRef>
          </c:tx>
          <c:spPr>
            <a:solidFill>
              <a:srgbClr val="0A6B63"/>
            </a:solidFill>
            <a:ln>
              <a:solidFill>
                <a:srgbClr val="0A6B63"/>
              </a:solidFill>
            </a:ln>
          </c:spPr>
          <c:cat>
            <c:strRef>
              <c:f>Sheet1!$A$2:$A$6</c:f>
              <c:strCache>
                <c:ptCount val="5"/>
                <c:pt idx="0">
                  <c:v>2024</c:v>
                </c:pt>
                <c:pt idx="1">
                  <c:v>2025E</c:v>
                </c:pt>
                <c:pt idx="2">
                  <c:v>2026E</c:v>
                </c:pt>
                <c:pt idx="3">
                  <c:v>2027E</c:v>
                </c:pt>
                <c:pt idx="4">
                  <c:v>2028E</c:v>
                </c:pt>
              </c:strCache>
            </c:strRef>
          </c:cat>
          <c:val>
            <c:numRef>
              <c:f>Sheet1!$B$2:$B$6</c:f>
              <c:numCache>
                <c:formatCode>General</c:formatCode>
                <c:ptCount val="5"/>
                <c:pt idx="0">
                  <c:v>18</c:v>
                </c:pt>
                <c:pt idx="1">
                  <c:v>22</c:v>
                </c:pt>
                <c:pt idx="2">
                  <c:v>27</c:v>
                </c:pt>
                <c:pt idx="3">
                  <c:v>33</c:v>
                </c:pt>
                <c:pt idx="4">
                  <c:v>40</c:v>
                </c:pt>
              </c:numCache>
            </c:numRef>
          </c:val>
        </c:ser>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Premium services</c:v>
                </c:pt>
              </c:strCache>
            </c:strRef>
          </c:tx>
          <c:spPr>
            <a:solidFill>
              <a:srgbClr val="0A6B63"/>
            </a:solidFill>
            <a:ln>
              <a:solidFill>
                <a:srgbClr val="0A6B63"/>
              </a:solidFill>
            </a:ln>
          </c:spPr>
          <c:cat>
            <c:strRef>
              <c:f>Sheet1!$A$2:$A$4</c:f>
              <c:strCache>
                <c:ptCount val="3"/>
                <c:pt idx="0">
                  <c:v>Today</c:v>
                </c:pt>
                <c:pt idx="1">
                  <c:v>2027E</c:v>
                </c:pt>
                <c:pt idx="2">
                  <c:v>2029E</c:v>
                </c:pt>
              </c:strCache>
            </c:strRef>
          </c:cat>
          <c:val>
            <c:numRef>
              <c:f>Sheet1!$B$2:$B$4</c:f>
              <c:numCache>
                <c:formatCode>General</c:formatCode>
                <c:ptCount val="3"/>
                <c:pt idx="0">
                  <c:v>70</c:v>
                </c:pt>
                <c:pt idx="1">
                  <c:v>45</c:v>
                </c:pt>
                <c:pt idx="2">
                  <c:v>25</c:v>
                </c:pt>
              </c:numCache>
            </c:numRef>
          </c:val>
        </c:ser>
        <c:ser>
          <c:idx val="1"/>
          <c:order val="1"/>
          <c:tx>
            <c:strRef>
              <c:f>Sheet1!$C$1</c:f>
              <c:strCache>
                <c:ptCount val="1"/>
                <c:pt idx="0">
                  <c:v>Consumer platform</c:v>
                </c:pt>
              </c:strCache>
            </c:strRef>
          </c:tx>
          <c:spPr>
            <a:solidFill>
              <a:srgbClr val="2F5D8A"/>
            </a:solidFill>
            <a:ln>
              <a:solidFill>
                <a:srgbClr val="2F5D8A"/>
              </a:solidFill>
            </a:ln>
          </c:spPr>
          <c:cat>
            <c:strRef>
              <c:f>Sheet1!$A$2:$A$4</c:f>
              <c:strCache>
                <c:ptCount val="3"/>
                <c:pt idx="0">
                  <c:v>Today</c:v>
                </c:pt>
                <c:pt idx="1">
                  <c:v>2027E</c:v>
                </c:pt>
                <c:pt idx="2">
                  <c:v>2029E</c:v>
                </c:pt>
              </c:strCache>
            </c:strRef>
          </c:cat>
          <c:val>
            <c:numRef>
              <c:f>Sheet1!$C$2:$C$4</c:f>
              <c:numCache>
                <c:formatCode>General</c:formatCode>
                <c:ptCount val="3"/>
                <c:pt idx="0">
                  <c:v>25</c:v>
                </c:pt>
                <c:pt idx="1">
                  <c:v>35</c:v>
                </c:pt>
                <c:pt idx="2">
                  <c:v>40</c:v>
                </c:pt>
              </c:numCache>
            </c:numRef>
          </c:val>
        </c:ser>
        <c:ser>
          <c:idx val="2"/>
          <c:order val="2"/>
          <c:tx>
            <c:strRef>
              <c:f>Sheet1!$D$1</c:f>
              <c:strCache>
                <c:ptCount val="1"/>
                <c:pt idx="0">
                  <c:v>Employer SaaS</c:v>
                </c:pt>
              </c:strCache>
            </c:strRef>
          </c:tx>
          <c:spPr>
            <a:solidFill>
              <a:srgbClr val="8A6D3B"/>
            </a:solidFill>
            <a:ln>
              <a:solidFill>
                <a:srgbClr val="8A6D3B"/>
              </a:solidFill>
            </a:ln>
          </c:spPr>
          <c:cat>
            <c:strRef>
              <c:f>Sheet1!$A$2:$A$4</c:f>
              <c:strCache>
                <c:ptCount val="3"/>
                <c:pt idx="0">
                  <c:v>Today</c:v>
                </c:pt>
                <c:pt idx="1">
                  <c:v>2027E</c:v>
                </c:pt>
                <c:pt idx="2">
                  <c:v>2029E</c:v>
                </c:pt>
              </c:strCache>
            </c:strRef>
          </c:cat>
          <c:val>
            <c:numRef>
              <c:f>Sheet1!$D$2:$D$4</c:f>
              <c:numCache>
                <c:formatCode>General</c:formatCode>
                <c:ptCount val="3"/>
                <c:pt idx="0">
                  <c:v>5</c:v>
                </c:pt>
                <c:pt idx="1">
                  <c:v>20</c:v>
                </c:pt>
                <c:pt idx="2">
                  <c:v>35</c:v>
                </c:pt>
              </c:numCache>
            </c:numRef>
          </c:val>
        </c:ser>
        <c:overlap val="100"/>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legend>
      <c:legendPos val="b"/>
      <c:overlay val="0"/>
      <c:txPr>
        <a:bodyPr/>
        <a:lstStyle/>
        <a:p>
          <a:pPr>
            <a:defRPr sz="900">
              <a:solidFill>
                <a:srgbClr val="5E6E80"/>
              </a:solidFill>
              <a:latin typeface="Segoe U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Coverage (0–6)</c:v>
                </c:pt>
              </c:strCache>
            </c:strRef>
          </c:tx>
          <c:spPr>
            <a:solidFill>
              <a:srgbClr val="0A6B63"/>
            </a:solidFill>
            <a:ln>
              <a:solidFill>
                <a:srgbClr val="0A6B63"/>
              </a:solidFill>
            </a:ln>
          </c:spPr>
          <c:cat>
            <c:strRef>
              <c:f>Sheet1!$A$2:$A$6</c:f>
              <c:strCache>
                <c:ptCount val="5"/>
                <c:pt idx="0">
                  <c:v>51Careers.AI</c:v>
                </c:pt>
                <c:pt idx="1">
                  <c:v>Job Boards</c:v>
                </c:pt>
                <c:pt idx="2">
                  <c:v>Prep Apps</c:v>
                </c:pt>
                <c:pt idx="3">
                  <c:v>Coaching Firms</c:v>
                </c:pt>
                <c:pt idx="4">
                  <c:v>Staffing Agencies</c:v>
                </c:pt>
              </c:strCache>
            </c:strRef>
          </c:cat>
          <c:val>
            <c:numRef>
              <c:f>Sheet1!$B$2:$B$6</c:f>
              <c:numCache>
                <c:formatCode>General</c:formatCode>
                <c:ptCount val="5"/>
                <c:pt idx="0">
                  <c:v>6</c:v>
                </c:pt>
                <c:pt idx="1">
                  <c:v>1</c:v>
                </c:pt>
                <c:pt idx="2">
                  <c:v>2</c:v>
                </c:pt>
                <c:pt idx="3">
                  <c:v>3</c:v>
                </c:pt>
                <c:pt idx="4">
                  <c:v>2</c:v>
                </c:pt>
              </c:numCache>
            </c:numRef>
          </c:val>
        </c:ser>
        <c:axId val="-2068027336"/>
        <c:axId val="-2113994440"/>
      </c:barChart>
      <c:catAx>
        <c:axId val="-2068027336"/>
        <c:scaling>
          <c:orientation val="minMax"/>
        </c:scaling>
        <c:delete val="0"/>
        <c:axPos val="l"/>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b"/>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Active markets</c:v>
                </c:pt>
              </c:strCache>
            </c:strRef>
          </c:tx>
          <c:spPr>
            <a:solidFill>
              <a:srgbClr val="0A6B63"/>
            </a:solidFill>
            <a:ln>
              <a:solidFill>
                <a:srgbClr val="0A6B63"/>
              </a:solidFill>
            </a:ln>
          </c:spPr>
          <c:cat>
            <c:strRef>
              <c:f>Sheet1!$A$2:$A$6</c:f>
              <c:strCache>
                <c:ptCount val="5"/>
                <c:pt idx="0">
                  <c:v>2025</c:v>
                </c:pt>
                <c:pt idx="1">
                  <c:v>2026</c:v>
                </c:pt>
                <c:pt idx="2">
                  <c:v>2027</c:v>
                </c:pt>
                <c:pt idx="3">
                  <c:v>2028</c:v>
                </c:pt>
                <c:pt idx="4">
                  <c:v>2029</c:v>
                </c:pt>
              </c:strCache>
            </c:strRef>
          </c:cat>
          <c:val>
            <c:numRef>
              <c:f>Sheet1!$B$2:$B$6</c:f>
              <c:numCache>
                <c:formatCode>General</c:formatCode>
                <c:ptCount val="5"/>
                <c:pt idx="0">
                  <c:v>3</c:v>
                </c:pt>
                <c:pt idx="1">
                  <c:v>4</c:v>
                </c:pt>
                <c:pt idx="2">
                  <c:v>8</c:v>
                </c:pt>
                <c:pt idx="3">
                  <c:v>8</c:v>
                </c:pt>
                <c:pt idx="4">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Estimated base</c:v>
                </c:pt>
              </c:strCache>
            </c:strRef>
          </c:tx>
          <c:spPr>
            <a:solidFill>
              <a:srgbClr val="0A6B63"/>
            </a:solidFill>
            <a:ln>
              <a:solidFill>
                <a:srgbClr val="0A6B63"/>
              </a:solidFill>
            </a:ln>
          </c:spPr>
          <c:cat>
            <c:strRef>
              <c:f>Sheet1!$A$2:$A$6</c:f>
              <c:strCache>
                <c:ptCount val="5"/>
                <c:pt idx="0">
                  <c:v>2025E</c:v>
                </c:pt>
                <c:pt idx="1">
                  <c:v>2026E</c:v>
                </c:pt>
                <c:pt idx="2">
                  <c:v>2027E</c:v>
                </c:pt>
                <c:pt idx="3">
                  <c:v>2028E</c:v>
                </c:pt>
                <c:pt idx="4">
                  <c:v>2029E</c:v>
                </c:pt>
              </c:strCache>
            </c:strRef>
          </c:cat>
          <c:val>
            <c:numRef>
              <c:f>Sheet1!$B$2:$B$6</c:f>
              <c:numCache>
                <c:formatCode>General</c:formatCode>
                <c:ptCount val="5"/>
                <c:pt idx="0">
                  <c:v>10</c:v>
                </c:pt>
              </c:numCache>
            </c:numRef>
          </c:val>
        </c:ser>
        <c:ser>
          <c:idx val="1"/>
          <c:order val="1"/>
          <c:tx>
            <c:strRef>
              <c:f>Sheet1!$C$1</c:f>
              <c:strCache>
                <c:ptCount val="1"/>
                <c:pt idx="0">
                  <c:v>Projected</c:v>
                </c:pt>
              </c:strCache>
            </c:strRef>
          </c:tx>
          <c:spPr>
            <a:solidFill>
              <a:srgbClr val="2F5D8A"/>
            </a:solidFill>
            <a:ln>
              <a:solidFill>
                <a:srgbClr val="2F5D8A"/>
              </a:solidFill>
            </a:ln>
          </c:spPr>
          <c:cat>
            <c:strRef>
              <c:f>Sheet1!$A$2:$A$6</c:f>
              <c:strCache>
                <c:ptCount val="5"/>
                <c:pt idx="0">
                  <c:v>2025E</c:v>
                </c:pt>
                <c:pt idx="1">
                  <c:v>2026E</c:v>
                </c:pt>
                <c:pt idx="2">
                  <c:v>2027E</c:v>
                </c:pt>
                <c:pt idx="3">
                  <c:v>2028E</c:v>
                </c:pt>
                <c:pt idx="4">
                  <c:v>2029E</c:v>
                </c:pt>
              </c:strCache>
            </c:strRef>
          </c:cat>
          <c:val>
            <c:numRef>
              <c:f>Sheet1!$C$2:$C$6</c:f>
              <c:numCache>
                <c:formatCode>General</c:formatCode>
                <c:ptCount val="5"/>
                <c:pt idx="1">
                  <c:v>14.5</c:v>
                </c:pt>
                <c:pt idx="2">
                  <c:v>22.5</c:v>
                </c:pt>
                <c:pt idx="3">
                  <c:v>34</c:v>
                </c:pt>
                <c:pt idx="4">
                  <c:v>52</c:v>
                </c:pt>
              </c:numCache>
            </c:numRef>
          </c:val>
        </c:ser>
        <c:overlap val="100"/>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legend>
      <c:legendPos val="b"/>
      <c:overlay val="0"/>
      <c:txPr>
        <a:bodyPr/>
        <a:lstStyle/>
        <a:p>
          <a:pPr>
            <a:defRPr sz="900">
              <a:solidFill>
                <a:srgbClr val="5E6E80"/>
              </a:solidFill>
              <a:latin typeface="Segoe UI"/>
            </a:defRPr>
          </a:pPr>
        </a:p>
      </c:txPr>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Gross margin</c:v>
                </c:pt>
              </c:strCache>
            </c:strRef>
          </c:tx>
          <c:spPr>
            <a:solidFill>
              <a:srgbClr val="0A6B63"/>
            </a:solidFill>
            <a:ln>
              <a:solidFill>
                <a:srgbClr val="0A6B63"/>
              </a:solidFill>
            </a:ln>
          </c:spPr>
          <c:cat>
            <c:strRef>
              <c:f>Sheet1!$A$2:$A$6</c:f>
              <c:strCache>
                <c:ptCount val="5"/>
                <c:pt idx="0">
                  <c:v>2025E</c:v>
                </c:pt>
                <c:pt idx="1">
                  <c:v>2026E</c:v>
                </c:pt>
                <c:pt idx="2">
                  <c:v>2027E</c:v>
                </c:pt>
                <c:pt idx="3">
                  <c:v>2028E</c:v>
                </c:pt>
                <c:pt idx="4">
                  <c:v>2029E</c:v>
                </c:pt>
              </c:strCache>
            </c:strRef>
          </c:cat>
          <c:val>
            <c:numRef>
              <c:f>Sheet1!$B$2:$B$6</c:f>
              <c:numCache>
                <c:formatCode>General</c:formatCode>
                <c:ptCount val="5"/>
                <c:pt idx="0">
                  <c:v>42</c:v>
                </c:pt>
                <c:pt idx="1">
                  <c:v>48</c:v>
                </c:pt>
                <c:pt idx="2">
                  <c:v>55</c:v>
                </c:pt>
                <c:pt idx="3">
                  <c:v>60</c:v>
                </c:pt>
                <c:pt idx="4">
                  <c:v>65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Use of Proceeds</c:v>
                </c:pt>
              </c:strCache>
            </c:strRef>
          </c:tx>
          <c:spPr>
            <a:solidFill>
              <a:srgbClr val="0A6B63"/>
            </a:solidFill>
            <a:ln>
              <a:solidFill>
                <a:srgbClr val="0A6B63"/>
              </a:solidFill>
            </a:ln>
          </c:spPr>
          <c:dPt>
            <c:idx val="0"/>
            <c:spPr>
              <a:solidFill>
                <a:srgbClr val="0A6B63"/>
              </a:solidFill>
            </c:spPr>
          </c:dPt>
          <c:dPt>
            <c:idx val="1"/>
            <c:spPr>
              <a:solidFill>
                <a:srgbClr val="2F5D8A"/>
              </a:solidFill>
            </c:spPr>
          </c:dPt>
          <c:dPt>
            <c:idx val="2"/>
            <c:spPr>
              <a:solidFill>
                <a:srgbClr val="8A6D3B"/>
              </a:solidFill>
            </c:spPr>
          </c:dPt>
          <c:dPt>
            <c:idx val="3"/>
            <c:spPr>
              <a:solidFill>
                <a:srgbClr val="6B7C8F"/>
              </a:solidFill>
            </c:spPr>
          </c:dPt>
          <c:dPt>
            <c:idx val="4"/>
            <c:spPr>
              <a:solidFill>
                <a:srgbClr val="A8B8C6"/>
              </a:solidFill>
            </c:spPr>
          </c:dPt>
          <c:cat>
            <c:strRef>
              <c:f>Sheet1!$A$2:$A$6</c:f>
              <c:strCache>
                <c:ptCount val="5"/>
                <c:pt idx="0">
                  <c:v>Product &amp; AI development (35%)</c:v>
                </c:pt>
                <c:pt idx="1">
                  <c:v>International expansion (30%)</c:v>
                </c:pt>
                <c:pt idx="2">
                  <c:v>Talent &amp; team (20%)</c:v>
                </c:pt>
                <c:pt idx="3">
                  <c:v>Brand &amp; growth marketing (10%)</c:v>
                </c:pt>
                <c:pt idx="4">
                  <c:v>Working capital (5%)</c:v>
                </c:pt>
              </c:strCache>
            </c:strRef>
          </c:cat>
          <c:val>
            <c:numRef>
              <c:f>Sheet1!$B$2:$B$6</c:f>
              <c:numCache>
                <c:formatCode>General</c:formatCode>
                <c:ptCount val="5"/>
                <c:pt idx="0">
                  <c:v>35</c:v>
                </c:pt>
                <c:pt idx="1">
                  <c:v>30</c:v>
                </c:pt>
                <c:pt idx="2">
                  <c:v>20</c:v>
                </c:pt>
                <c:pt idx="3">
                  <c:v>10</c:v>
                </c:pt>
                <c:pt idx="4">
                  <c:v>5</c:v>
                </c:pt>
              </c:numCache>
            </c:numRef>
          </c:val>
        </c:ser>
        <c:firstSliceAng val="0"/>
        <c:holeSize val="50"/>
      </c:doughnutChart>
    </c:plotArea>
    <c:legend>
      <c:legendPos val="b"/>
      <c:layout/>
      <c:overlay val="0"/>
      <c:txPr>
        <a:bodyPr/>
        <a:lstStyle/>
        <a:p>
          <a:pPr>
            <a:defRPr sz="900">
              <a:solidFill>
                <a:srgbClr val="5E6E80"/>
              </a:solidFill>
              <a:latin typeface="Segoe UI"/>
            </a:defRPr>
          </a:pPr>
        </a:p>
      </c:txPr>
    </c:legend>
    <c:plotVisOnly val="1"/>
    <c:dispBlanksAs val="gap"/>
    <c:showDLblsOverMax val="0"/>
  </c:chart>
  <c:txPr>
    <a:bodyPr/>
    <a:lstStyle/>
    <a:p>
      <a:pPr>
        <a:defRPr sz="1800"/>
      </a:pPr>
      <a:endParaR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Relative presence</c:v>
                </c:pt>
              </c:strCache>
            </c:strRef>
          </c:tx>
          <c:spPr>
            <a:solidFill>
              <a:srgbClr val="0A6B63"/>
            </a:solidFill>
            <a:ln>
              <a:solidFill>
                <a:srgbClr val="0A6B63"/>
              </a:solidFill>
            </a:ln>
          </c:spPr>
          <c:cat>
            <c:strRef>
              <c:f>Sheet1!$A$2:$A$8</c:f>
              <c:strCache>
                <c:ptCount val="7"/>
                <c:pt idx="0">
                  <c:v>New York</c:v>
                </c:pt>
                <c:pt idx="1">
                  <c:v>Shanghai</c:v>
                </c:pt>
                <c:pt idx="2">
                  <c:v>London</c:v>
                </c:pt>
                <c:pt idx="3">
                  <c:v>Singapore</c:v>
                </c:pt>
                <c:pt idx="4">
                  <c:v>Seoul</c:v>
                </c:pt>
                <c:pt idx="5">
                  <c:v>Toronto</c:v>
                </c:pt>
                <c:pt idx="6">
                  <c:v>Delhi</c:v>
                </c:pt>
              </c:strCache>
            </c:strRef>
          </c:cat>
          <c:val>
            <c:numRef>
              <c:f>Sheet1!$B$2:$B$8</c:f>
              <c:numCache>
                <c:formatCode>General</c:formatCode>
                <c:ptCount val="7"/>
                <c:pt idx="0">
                  <c:v>100</c:v>
                </c:pt>
                <c:pt idx="1">
                  <c:v>95</c:v>
                </c:pt>
                <c:pt idx="2">
                  <c:v>55</c:v>
                </c:pt>
                <c:pt idx="3">
                  <c:v>50</c:v>
                </c:pt>
                <c:pt idx="4">
                  <c:v>45</c:v>
                </c:pt>
                <c:pt idx="5">
                  <c:v>40</c:v>
                </c:pt>
                <c:pt idx="6">
                  <c:v>40</c:v>
                </c:pt>
              </c:numCache>
            </c:numRef>
          </c:val>
        </c:ser>
        <c:axId val="-2068027336"/>
        <c:axId val="-2113994440"/>
      </c:barChart>
      <c:catAx>
        <c:axId val="-2068027336"/>
        <c:scaling>
          <c:orientation val="minMax"/>
        </c:scaling>
        <c:delete val="0"/>
        <c:axPos val="l"/>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b"/>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23560"/>
            <a:ext cx="12191695" cy="1234440"/>
          </a:xfrm>
          <a:prstGeom prst="rect">
            <a:avLst/>
          </a:prstGeom>
          <a:solidFill>
            <a:srgbClr val="0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02920"/>
            <a:ext cx="7315200" cy="274320"/>
          </a:xfrm>
          <a:prstGeom prst="rect">
            <a:avLst/>
          </a:prstGeom>
          <a:noFill/>
        </p:spPr>
        <p:txBody>
          <a:bodyPr wrap="square" anchor="t"/>
          <a:lstStyle/>
          <a:p>
            <a:pPr algn="l"/>
            <a:r>
              <a:rPr sz="1100" b="1" i="0">
                <a:solidFill>
                  <a:srgbClr val="D7EBE8"/>
                </a:solidFill>
                <a:latin typeface="Segoe UI"/>
              </a:rPr>
              <a:t>CONFIDENTIAL INVESTOR PRESENTATION</a:t>
            </a:r>
          </a:p>
        </p:txBody>
      </p:sp>
      <p:sp>
        <p:nvSpPr>
          <p:cNvPr id="6" name="TextBox 5"/>
          <p:cNvSpPr txBox="1"/>
          <p:nvPr/>
        </p:nvSpPr>
        <p:spPr>
          <a:xfrm>
            <a:off x="640080" y="1234440"/>
            <a:ext cx="9144000" cy="777240"/>
          </a:xfrm>
          <a:prstGeom prst="rect">
            <a:avLst/>
          </a:prstGeom>
          <a:noFill/>
        </p:spPr>
        <p:txBody>
          <a:bodyPr wrap="square" anchor="t"/>
          <a:lstStyle/>
          <a:p>
            <a:pPr algn="l"/>
            <a:r>
              <a:rPr sz="4800" b="1" i="0">
                <a:solidFill>
                  <a:srgbClr val="FFFFFF"/>
                </a:solidFill>
                <a:latin typeface="Georgia"/>
              </a:rPr>
              <a:t>51CAREERS.AI</a:t>
            </a:r>
          </a:p>
        </p:txBody>
      </p:sp>
      <p:sp>
        <p:nvSpPr>
          <p:cNvPr id="7" name="TextBox 6"/>
          <p:cNvSpPr txBox="1"/>
          <p:nvPr/>
        </p:nvSpPr>
        <p:spPr>
          <a:xfrm>
            <a:off x="640080" y="2011680"/>
            <a:ext cx="9144000" cy="365760"/>
          </a:xfrm>
          <a:prstGeom prst="rect">
            <a:avLst/>
          </a:prstGeom>
          <a:noFill/>
        </p:spPr>
        <p:txBody>
          <a:bodyPr wrap="square" anchor="t"/>
          <a:lstStyle/>
          <a:p>
            <a:pPr algn="l"/>
            <a:r>
              <a:rPr sz="1800" b="0" i="0">
                <a:solidFill>
                  <a:srgbClr val="C5D5E0"/>
                </a:solidFill>
                <a:latin typeface="Segoe UI"/>
              </a:rPr>
              <a:t>The AI-Powered Global Career Platform</a:t>
            </a:r>
          </a:p>
        </p:txBody>
      </p:sp>
      <p:sp>
        <p:nvSpPr>
          <p:cNvPr id="8" name="TextBox 7"/>
          <p:cNvSpPr txBox="1"/>
          <p:nvPr/>
        </p:nvSpPr>
        <p:spPr>
          <a:xfrm>
            <a:off x="640080" y="2743200"/>
            <a:ext cx="7315200" cy="320040"/>
          </a:xfrm>
          <a:prstGeom prst="rect">
            <a:avLst/>
          </a:prstGeom>
          <a:noFill/>
        </p:spPr>
        <p:txBody>
          <a:bodyPr wrap="square" anchor="t"/>
          <a:lstStyle/>
          <a:p>
            <a:pPr algn="l"/>
            <a:r>
              <a:rPr sz="1400" b="1" i="0">
                <a:solidFill>
                  <a:srgbClr val="0A6B63"/>
                </a:solidFill>
                <a:latin typeface="Segoe UI"/>
              </a:rPr>
              <a:t>Growth Financing</a:t>
            </a:r>
          </a:p>
        </p:txBody>
      </p:sp>
      <p:sp>
        <p:nvSpPr>
          <p:cNvPr id="9" name="TextBox 8"/>
          <p:cNvSpPr txBox="1"/>
          <p:nvPr/>
        </p:nvSpPr>
        <p:spPr>
          <a:xfrm>
            <a:off x="640080" y="3063240"/>
            <a:ext cx="8229600" cy="320040"/>
          </a:xfrm>
          <a:prstGeom prst="rect">
            <a:avLst/>
          </a:prstGeom>
          <a:noFill/>
        </p:spPr>
        <p:txBody>
          <a:bodyPr wrap="square" anchor="t"/>
          <a:lstStyle/>
          <a:p>
            <a:pPr algn="l"/>
            <a:r>
              <a:rPr sz="1400" b="0" i="0">
                <a:solidFill>
                  <a:srgbClr val="FFFFFF"/>
                </a:solidFill>
                <a:latin typeface="Segoe UI"/>
              </a:rPr>
              <a:t>US$5.0 Million Private Placement   ·   July 2026</a:t>
            </a:r>
          </a:p>
        </p:txBody>
      </p:sp>
      <p:sp>
        <p:nvSpPr>
          <p:cNvPr id="10" name="Rounded Rectangle 9"/>
          <p:cNvSpPr/>
          <p:nvPr/>
        </p:nvSpPr>
        <p:spPr>
          <a:xfrm>
            <a:off x="640080" y="3840480"/>
            <a:ext cx="320040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77639"/>
            <a:ext cx="2743200" cy="548640"/>
          </a:xfrm>
          <a:prstGeom prst="rect">
            <a:avLst/>
          </a:prstGeom>
          <a:noFill/>
        </p:spPr>
        <p:txBody>
          <a:bodyPr wrap="square" anchor="t"/>
          <a:lstStyle/>
          <a:p>
            <a:pPr algn="l"/>
            <a:r>
              <a:rPr sz="3200" b="1" i="0">
                <a:solidFill>
                  <a:srgbClr val="FFFFFF"/>
                </a:solidFill>
                <a:latin typeface="Georgia"/>
              </a:rPr>
              <a:t>2016</a:t>
            </a:r>
          </a:p>
        </p:txBody>
      </p:sp>
      <p:sp>
        <p:nvSpPr>
          <p:cNvPr id="12" name="TextBox 11"/>
          <p:cNvSpPr txBox="1"/>
          <p:nvPr/>
        </p:nvSpPr>
        <p:spPr>
          <a:xfrm>
            <a:off x="868680" y="4617720"/>
            <a:ext cx="2743200" cy="320040"/>
          </a:xfrm>
          <a:prstGeom prst="rect">
            <a:avLst/>
          </a:prstGeom>
          <a:noFill/>
        </p:spPr>
        <p:txBody>
          <a:bodyPr wrap="square" anchor="t"/>
          <a:lstStyle/>
          <a:p>
            <a:pPr algn="l"/>
            <a:r>
              <a:rPr sz="900" b="1" i="0">
                <a:solidFill>
                  <a:srgbClr val="D7EBE8"/>
                </a:solidFill>
                <a:latin typeface="Segoe UI"/>
              </a:rPr>
              <a:t>FOUNDED · NEW YORK CITY</a:t>
            </a:r>
          </a:p>
        </p:txBody>
      </p:sp>
      <p:sp>
        <p:nvSpPr>
          <p:cNvPr id="13" name="Rounded Rectangle 12"/>
          <p:cNvSpPr/>
          <p:nvPr/>
        </p:nvSpPr>
        <p:spPr>
          <a:xfrm>
            <a:off x="4069080" y="3840480"/>
            <a:ext cx="320040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3977639"/>
            <a:ext cx="2743200" cy="548640"/>
          </a:xfrm>
          <a:prstGeom prst="rect">
            <a:avLst/>
          </a:prstGeom>
          <a:noFill/>
        </p:spPr>
        <p:txBody>
          <a:bodyPr wrap="square" anchor="t"/>
          <a:lstStyle/>
          <a:p>
            <a:pPr algn="l"/>
            <a:r>
              <a:rPr sz="3200" b="1" i="0">
                <a:solidFill>
                  <a:srgbClr val="FFFFFF"/>
                </a:solidFill>
                <a:latin typeface="Georgia"/>
              </a:rPr>
              <a:t>8+</a:t>
            </a:r>
          </a:p>
        </p:txBody>
      </p:sp>
      <p:sp>
        <p:nvSpPr>
          <p:cNvPr id="15" name="TextBox 14"/>
          <p:cNvSpPr txBox="1"/>
          <p:nvPr/>
        </p:nvSpPr>
        <p:spPr>
          <a:xfrm>
            <a:off x="4297680" y="4617720"/>
            <a:ext cx="2743200" cy="320040"/>
          </a:xfrm>
          <a:prstGeom prst="rect">
            <a:avLst/>
          </a:prstGeom>
          <a:noFill/>
        </p:spPr>
        <p:txBody>
          <a:bodyPr wrap="square" anchor="t"/>
          <a:lstStyle/>
          <a:p>
            <a:pPr algn="l"/>
            <a:r>
              <a:rPr sz="900" b="1" i="0">
                <a:solidFill>
                  <a:srgbClr val="D7EBE8"/>
                </a:solidFill>
                <a:latin typeface="Segoe UI"/>
              </a:rPr>
              <a:t>COUNTRIES OF OPERATION</a:t>
            </a:r>
          </a:p>
        </p:txBody>
      </p:sp>
      <p:sp>
        <p:nvSpPr>
          <p:cNvPr id="16" name="Rounded Rectangle 15"/>
          <p:cNvSpPr/>
          <p:nvPr/>
        </p:nvSpPr>
        <p:spPr>
          <a:xfrm>
            <a:off x="7498080" y="3840480"/>
            <a:ext cx="320040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80" y="3977639"/>
            <a:ext cx="2743200" cy="548640"/>
          </a:xfrm>
          <a:prstGeom prst="rect">
            <a:avLst/>
          </a:prstGeom>
          <a:noFill/>
        </p:spPr>
        <p:txBody>
          <a:bodyPr wrap="square" anchor="t"/>
          <a:lstStyle/>
          <a:p>
            <a:pPr algn="l"/>
            <a:r>
              <a:rPr sz="3200" b="1" i="0">
                <a:solidFill>
                  <a:srgbClr val="FFFFFF"/>
                </a:solidFill>
                <a:latin typeface="Georgia"/>
              </a:rPr>
              <a:t>US$10M+</a:t>
            </a:r>
          </a:p>
        </p:txBody>
      </p:sp>
      <p:sp>
        <p:nvSpPr>
          <p:cNvPr id="18" name="TextBox 17"/>
          <p:cNvSpPr txBox="1"/>
          <p:nvPr/>
        </p:nvSpPr>
        <p:spPr>
          <a:xfrm>
            <a:off x="7726680" y="4617720"/>
            <a:ext cx="2743200" cy="320040"/>
          </a:xfrm>
          <a:prstGeom prst="rect">
            <a:avLst/>
          </a:prstGeom>
          <a:noFill/>
        </p:spPr>
        <p:txBody>
          <a:bodyPr wrap="square" anchor="t"/>
          <a:lstStyle/>
          <a:p>
            <a:pPr algn="l"/>
            <a:r>
              <a:rPr sz="900" b="1" i="0">
                <a:solidFill>
                  <a:srgbClr val="D7EBE8"/>
                </a:solidFill>
                <a:latin typeface="Segoe UI"/>
              </a:rPr>
              <a:t>ANNUAL REVENUE (EST.)†</a:t>
            </a:r>
          </a:p>
        </p:txBody>
      </p:sp>
      <p:sp>
        <p:nvSpPr>
          <p:cNvPr id="19" name="TextBox 18"/>
          <p:cNvSpPr txBox="1"/>
          <p:nvPr/>
        </p:nvSpPr>
        <p:spPr>
          <a:xfrm>
            <a:off x="640080" y="5257800"/>
            <a:ext cx="9144000" cy="228600"/>
          </a:xfrm>
          <a:prstGeom prst="rect">
            <a:avLst/>
          </a:prstGeom>
          <a:noFill/>
        </p:spPr>
        <p:txBody>
          <a:bodyPr wrap="square" anchor="t"/>
          <a:lstStyle/>
          <a:p>
            <a:pPr algn="l"/>
            <a:r>
              <a:rPr sz="800" b="0" i="0">
                <a:solidFill>
                  <a:srgbClr val="6B7C8F"/>
                </a:solidFill>
                <a:latin typeface="Segoe UI"/>
              </a:rPr>
              <a:t>† Third-party estimates; see p.9</a:t>
            </a:r>
          </a:p>
        </p:txBody>
      </p:sp>
      <p:sp>
        <p:nvSpPr>
          <p:cNvPr id="20" name="TextBox 19"/>
          <p:cNvSpPr txBox="1"/>
          <p:nvPr/>
        </p:nvSpPr>
        <p:spPr>
          <a:xfrm>
            <a:off x="640080" y="6080760"/>
            <a:ext cx="10972800" cy="320040"/>
          </a:xfrm>
          <a:prstGeom prst="rect">
            <a:avLst/>
          </a:prstGeom>
          <a:noFill/>
        </p:spPr>
        <p:txBody>
          <a:bodyPr wrap="square" anchor="t"/>
          <a:lstStyle/>
          <a:p>
            <a:pPr algn="l"/>
            <a:r>
              <a:rPr sz="1000" b="1" i="0">
                <a:solidFill>
                  <a:srgbClr val="9AB0C0"/>
                </a:solidFill>
                <a:latin typeface="Segoe UI"/>
              </a:rPr>
              <a:t>NEW YORK  ·  SHANGHAI  ·  LONDON  ·  SINGAPORE  ·  SEOUL  ·  TORONTO  ·  DELHI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IMPORTANT NOTICE</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Disclaimer</a:t>
            </a:r>
          </a:p>
        </p:txBody>
      </p:sp>
      <p:sp>
        <p:nvSpPr>
          <p:cNvPr id="5" name="Rounded Rectangle 4"/>
          <p:cNvSpPr/>
          <p:nvPr/>
        </p:nvSpPr>
        <p:spPr>
          <a:xfrm>
            <a:off x="502920" y="1234440"/>
            <a:ext cx="11155680" cy="4389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10607040" cy="3840480"/>
          </a:xfrm>
          <a:prstGeom prst="rect">
            <a:avLst/>
          </a:prstGeom>
          <a:noFill/>
        </p:spPr>
        <p:txBody>
          <a:bodyPr wrap="square" anchor="t"/>
          <a:lstStyle/>
          <a:p>
            <a:pPr algn="l"/>
            <a:r>
              <a:rPr sz="1200" b="0" i="0">
                <a:solidFill>
                  <a:srgbClr val="2C3A4B"/>
                </a:solidFill>
                <a:latin typeface="Segoe UI"/>
              </a:rPr>
              <a:t>This presentation has been prepared by 51 Careers Inc. and its affiliates (together, “51Careers.AI” or the “Company”) solely for informational purposes in connection with a proposed private financing. It is confidential and intended exclusively for the named recipient; it may not be reproduced, distributed, or disclosed, in whole or in part, without the Company’s prior written consent.
This document does not constitute an offer to sell, or a solicitation of an offer to buy, any securities in any jurisdiction. Any such offer will be made only pursuant to definitive documentation and only to qualified investors in compliance with applicable securities laws.
Certain statements herein are forward-looking and reflect current expectations of management. Such statements involve known and unknown risks and uncertainties, and actual results may differ materially. Certain market, operating, and financial figures are estimates — including third-party estimates — presented for illustration only and remain subject to confirmation in due diligence. No representation or warranty, express or implied, is made as to the accuracy or completeness of the information contained herein, and nothing herein constitutes legal, tax, financial, or investment advice. Recipients should conduct their own independent investigation and analysis.</a:t>
            </a:r>
          </a:p>
        </p:txBody>
      </p:sp>
      <p:sp>
        <p:nvSpPr>
          <p:cNvPr id="7" name="TextBox 6"/>
          <p:cNvSpPr txBox="1"/>
          <p:nvPr/>
        </p:nvSpPr>
        <p:spPr>
          <a:xfrm>
            <a:off x="502920" y="5806440"/>
            <a:ext cx="7315200" cy="274320"/>
          </a:xfrm>
          <a:prstGeom prst="rect">
            <a:avLst/>
          </a:prstGeom>
          <a:noFill/>
        </p:spPr>
        <p:txBody>
          <a:bodyPr wrap="square" anchor="t"/>
          <a:lstStyle/>
          <a:p>
            <a:pPr algn="l"/>
            <a:r>
              <a:rPr sz="1000" b="0" i="0">
                <a:solidFill>
                  <a:srgbClr val="5E6E80"/>
                </a:solidFill>
                <a:latin typeface="Segoe UI"/>
              </a:rPr>
              <a:t>Prepared by 51Careers.AI — July 2026</a:t>
            </a:r>
          </a:p>
        </p:txBody>
      </p:sp>
      <p:sp>
        <p:nvSpPr>
          <p:cNvPr id="8" name="Rectangle 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1" name="TextBox 1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EXECUTIVE SUMMARY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Investment Highlights</a:t>
            </a:r>
          </a:p>
        </p:txBody>
      </p:sp>
      <p:sp>
        <p:nvSpPr>
          <p:cNvPr id="5" name="Rounded Rectangle 4"/>
          <p:cNvSpPr/>
          <p:nvPr/>
        </p:nvSpPr>
        <p:spPr>
          <a:xfrm>
            <a:off x="5029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2926080" cy="365760"/>
          </a:xfrm>
          <a:prstGeom prst="rect">
            <a:avLst/>
          </a:prstGeom>
          <a:noFill/>
        </p:spPr>
        <p:txBody>
          <a:bodyPr wrap="square" anchor="t"/>
          <a:lstStyle/>
          <a:p>
            <a:pPr algn="l"/>
            <a:r>
              <a:rPr sz="1800" b="1" i="0">
                <a:solidFill>
                  <a:srgbClr val="0A6B63"/>
                </a:solidFill>
                <a:latin typeface="Georgia"/>
              </a:rPr>
              <a:t>01</a:t>
            </a:r>
          </a:p>
        </p:txBody>
      </p:sp>
      <p:sp>
        <p:nvSpPr>
          <p:cNvPr id="8" name="TextBox 7"/>
          <p:cNvSpPr txBox="1"/>
          <p:nvPr/>
        </p:nvSpPr>
        <p:spPr>
          <a:xfrm>
            <a:off x="731520" y="1874519"/>
            <a:ext cx="2926080" cy="411480"/>
          </a:xfrm>
          <a:prstGeom prst="rect">
            <a:avLst/>
          </a:prstGeom>
          <a:noFill/>
        </p:spPr>
        <p:txBody>
          <a:bodyPr wrap="square" anchor="t"/>
          <a:lstStyle/>
          <a:p>
            <a:pPr algn="l"/>
            <a:r>
              <a:rPr sz="1400" b="1" i="0">
                <a:solidFill>
                  <a:srgbClr val="0B1F33"/>
                </a:solidFill>
                <a:latin typeface="Segoe UI"/>
              </a:rPr>
              <a:t>Large &amp; Expanding Market</a:t>
            </a:r>
          </a:p>
        </p:txBody>
      </p:sp>
      <p:sp>
        <p:nvSpPr>
          <p:cNvPr id="9" name="TextBox 8"/>
          <p:cNvSpPr txBox="1"/>
          <p:nvPr/>
        </p:nvSpPr>
        <p:spPr>
          <a:xfrm>
            <a:off x="731520" y="2331720"/>
            <a:ext cx="2926080" cy="914400"/>
          </a:xfrm>
          <a:prstGeom prst="rect">
            <a:avLst/>
          </a:prstGeom>
          <a:noFill/>
        </p:spPr>
        <p:txBody>
          <a:bodyPr wrap="square" anchor="t"/>
          <a:lstStyle/>
          <a:p>
            <a:pPr algn="l"/>
            <a:r>
              <a:rPr sz="1100" b="0" i="0">
                <a:solidFill>
                  <a:srgbClr val="2C3A4B"/>
                </a:solidFill>
                <a:latin typeface="Segoe UI"/>
              </a:rPr>
              <a:t>Global recruitment and career-development spend exceeds US$200B, with AI-enabled segments compounding at double-digit rates.</a:t>
            </a:r>
          </a:p>
        </p:txBody>
      </p:sp>
      <p:sp>
        <p:nvSpPr>
          <p:cNvPr id="10" name="Rounded Rectangle 9"/>
          <p:cNvSpPr/>
          <p:nvPr/>
        </p:nvSpPr>
        <p:spPr>
          <a:xfrm>
            <a:off x="41605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417320"/>
            <a:ext cx="2926080" cy="365760"/>
          </a:xfrm>
          <a:prstGeom prst="rect">
            <a:avLst/>
          </a:prstGeom>
          <a:noFill/>
        </p:spPr>
        <p:txBody>
          <a:bodyPr wrap="square" anchor="t"/>
          <a:lstStyle/>
          <a:p>
            <a:pPr algn="l"/>
            <a:r>
              <a:rPr sz="1800" b="1" i="0">
                <a:solidFill>
                  <a:srgbClr val="0A6B63"/>
                </a:solidFill>
                <a:latin typeface="Georgia"/>
              </a:rPr>
              <a:t>02</a:t>
            </a:r>
          </a:p>
        </p:txBody>
      </p:sp>
      <p:sp>
        <p:nvSpPr>
          <p:cNvPr id="13" name="TextBox 12"/>
          <p:cNvSpPr txBox="1"/>
          <p:nvPr/>
        </p:nvSpPr>
        <p:spPr>
          <a:xfrm>
            <a:off x="4389120" y="1874519"/>
            <a:ext cx="2926080" cy="411480"/>
          </a:xfrm>
          <a:prstGeom prst="rect">
            <a:avLst/>
          </a:prstGeom>
          <a:noFill/>
        </p:spPr>
        <p:txBody>
          <a:bodyPr wrap="square" anchor="t"/>
          <a:lstStyle/>
          <a:p>
            <a:pPr algn="l"/>
            <a:r>
              <a:rPr sz="1400" b="1" i="0">
                <a:solidFill>
                  <a:srgbClr val="0B1F33"/>
                </a:solidFill>
                <a:latin typeface="Segoe UI"/>
              </a:rPr>
              <a:t>A Decade of Operating Proof</a:t>
            </a:r>
          </a:p>
        </p:txBody>
      </p:sp>
      <p:sp>
        <p:nvSpPr>
          <p:cNvPr id="14" name="TextBox 13"/>
          <p:cNvSpPr txBox="1"/>
          <p:nvPr/>
        </p:nvSpPr>
        <p:spPr>
          <a:xfrm>
            <a:off x="4389120" y="2331720"/>
            <a:ext cx="2926080" cy="914400"/>
          </a:xfrm>
          <a:prstGeom prst="rect">
            <a:avLst/>
          </a:prstGeom>
          <a:noFill/>
        </p:spPr>
        <p:txBody>
          <a:bodyPr wrap="square" anchor="t"/>
          <a:lstStyle/>
          <a:p>
            <a:pPr algn="l"/>
            <a:r>
              <a:rPr sz="1100" b="0" i="0">
                <a:solidFill>
                  <a:srgbClr val="2C3A4B"/>
                </a:solidFill>
                <a:latin typeface="Segoe UI"/>
              </a:rPr>
              <a:t>Founded in New York in 2016; an established, revenue-generating career-services franchise now scaling as an AI-first platform.</a:t>
            </a:r>
          </a:p>
        </p:txBody>
      </p:sp>
      <p:sp>
        <p:nvSpPr>
          <p:cNvPr id="15" name="Rounded Rectangle 14"/>
          <p:cNvSpPr/>
          <p:nvPr/>
        </p:nvSpPr>
        <p:spPr>
          <a:xfrm>
            <a:off x="78181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417320"/>
            <a:ext cx="2926080" cy="365760"/>
          </a:xfrm>
          <a:prstGeom prst="rect">
            <a:avLst/>
          </a:prstGeom>
          <a:noFill/>
        </p:spPr>
        <p:txBody>
          <a:bodyPr wrap="square" anchor="t"/>
          <a:lstStyle/>
          <a:p>
            <a:pPr algn="l"/>
            <a:r>
              <a:rPr sz="1800" b="1" i="0">
                <a:solidFill>
                  <a:srgbClr val="0A6B63"/>
                </a:solidFill>
                <a:latin typeface="Georgia"/>
              </a:rPr>
              <a:t>03</a:t>
            </a:r>
          </a:p>
        </p:txBody>
      </p:sp>
      <p:sp>
        <p:nvSpPr>
          <p:cNvPr id="18" name="TextBox 17"/>
          <p:cNvSpPr txBox="1"/>
          <p:nvPr/>
        </p:nvSpPr>
        <p:spPr>
          <a:xfrm>
            <a:off x="8046720" y="1874519"/>
            <a:ext cx="2926080" cy="411480"/>
          </a:xfrm>
          <a:prstGeom prst="rect">
            <a:avLst/>
          </a:prstGeom>
          <a:noFill/>
        </p:spPr>
        <p:txBody>
          <a:bodyPr wrap="square" anchor="t"/>
          <a:lstStyle/>
          <a:p>
            <a:pPr algn="l"/>
            <a:r>
              <a:rPr sz="1400" b="1" i="0">
                <a:solidFill>
                  <a:srgbClr val="0B1F33"/>
                </a:solidFill>
                <a:latin typeface="Segoe UI"/>
              </a:rPr>
              <a:t>AI-Native Product Suite</a:t>
            </a:r>
          </a:p>
        </p:txBody>
      </p:sp>
      <p:sp>
        <p:nvSpPr>
          <p:cNvPr id="19" name="TextBox 18"/>
          <p:cNvSpPr txBox="1"/>
          <p:nvPr/>
        </p:nvSpPr>
        <p:spPr>
          <a:xfrm>
            <a:off x="8046720" y="2331720"/>
            <a:ext cx="2926080" cy="914400"/>
          </a:xfrm>
          <a:prstGeom prst="rect">
            <a:avLst/>
          </a:prstGeom>
          <a:noFill/>
        </p:spPr>
        <p:txBody>
          <a:bodyPr wrap="square" anchor="t"/>
          <a:lstStyle/>
          <a:p>
            <a:pPr algn="l"/>
            <a:r>
              <a:rPr sz="1100" b="0" i="0">
                <a:solidFill>
                  <a:srgbClr val="2C3A4B"/>
                </a:solidFill>
                <a:latin typeface="Segoe UI"/>
              </a:rPr>
              <a:t>Personalized mock interviews, proprietary question banks, online assessments, mentor coaching, and intelligent job matching.</a:t>
            </a:r>
          </a:p>
        </p:txBody>
      </p:sp>
      <p:sp>
        <p:nvSpPr>
          <p:cNvPr id="20" name="Rounded Rectangle 19"/>
          <p:cNvSpPr/>
          <p:nvPr/>
        </p:nvSpPr>
        <p:spPr>
          <a:xfrm>
            <a:off x="5029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886200"/>
            <a:ext cx="2926080" cy="365760"/>
          </a:xfrm>
          <a:prstGeom prst="rect">
            <a:avLst/>
          </a:prstGeom>
          <a:noFill/>
        </p:spPr>
        <p:txBody>
          <a:bodyPr wrap="square" anchor="t"/>
          <a:lstStyle/>
          <a:p>
            <a:pPr algn="l"/>
            <a:r>
              <a:rPr sz="1800" b="1" i="0">
                <a:solidFill>
                  <a:srgbClr val="0A6B63"/>
                </a:solidFill>
                <a:latin typeface="Georgia"/>
              </a:rPr>
              <a:t>04</a:t>
            </a:r>
          </a:p>
        </p:txBody>
      </p:sp>
      <p:sp>
        <p:nvSpPr>
          <p:cNvPr id="23" name="TextBox 22"/>
          <p:cNvSpPr txBox="1"/>
          <p:nvPr/>
        </p:nvSpPr>
        <p:spPr>
          <a:xfrm>
            <a:off x="731520" y="4343400"/>
            <a:ext cx="2926080" cy="411480"/>
          </a:xfrm>
          <a:prstGeom prst="rect">
            <a:avLst/>
          </a:prstGeom>
          <a:noFill/>
        </p:spPr>
        <p:txBody>
          <a:bodyPr wrap="square" anchor="t"/>
          <a:lstStyle/>
          <a:p>
            <a:pPr algn="l"/>
            <a:r>
              <a:rPr sz="1400" b="1" i="0">
                <a:solidFill>
                  <a:srgbClr val="0B1F33"/>
                </a:solidFill>
                <a:latin typeface="Segoe UI"/>
              </a:rPr>
              <a:t>Global Footprint</a:t>
            </a:r>
          </a:p>
        </p:txBody>
      </p:sp>
      <p:sp>
        <p:nvSpPr>
          <p:cNvPr id="24" name="TextBox 23"/>
          <p:cNvSpPr txBox="1"/>
          <p:nvPr/>
        </p:nvSpPr>
        <p:spPr>
          <a:xfrm>
            <a:off x="731520" y="4800600"/>
            <a:ext cx="2926080" cy="914400"/>
          </a:xfrm>
          <a:prstGeom prst="rect">
            <a:avLst/>
          </a:prstGeom>
          <a:noFill/>
        </p:spPr>
        <p:txBody>
          <a:bodyPr wrap="square" anchor="t"/>
          <a:lstStyle/>
          <a:p>
            <a:pPr algn="l"/>
            <a:r>
              <a:rPr sz="1100" b="0" i="0">
                <a:solidFill>
                  <a:srgbClr val="2C3A4B"/>
                </a:solidFill>
                <a:latin typeface="Segoe UI"/>
              </a:rPr>
              <a:t>Teams and delivery capability across the U.S., China, U.K., Singapore, South Korea, Canada, and India.</a:t>
            </a:r>
          </a:p>
        </p:txBody>
      </p:sp>
      <p:sp>
        <p:nvSpPr>
          <p:cNvPr id="25" name="Rounded Rectangle 24"/>
          <p:cNvSpPr/>
          <p:nvPr/>
        </p:nvSpPr>
        <p:spPr>
          <a:xfrm>
            <a:off x="41605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605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0" y="3886200"/>
            <a:ext cx="2926080" cy="365760"/>
          </a:xfrm>
          <a:prstGeom prst="rect">
            <a:avLst/>
          </a:prstGeom>
          <a:noFill/>
        </p:spPr>
        <p:txBody>
          <a:bodyPr wrap="square" anchor="t"/>
          <a:lstStyle/>
          <a:p>
            <a:pPr algn="l"/>
            <a:r>
              <a:rPr sz="1800" b="1" i="0">
                <a:solidFill>
                  <a:srgbClr val="0A6B63"/>
                </a:solidFill>
                <a:latin typeface="Georgia"/>
              </a:rPr>
              <a:t>05</a:t>
            </a:r>
          </a:p>
        </p:txBody>
      </p:sp>
      <p:sp>
        <p:nvSpPr>
          <p:cNvPr id="28" name="TextBox 27"/>
          <p:cNvSpPr txBox="1"/>
          <p:nvPr/>
        </p:nvSpPr>
        <p:spPr>
          <a:xfrm>
            <a:off x="4389120" y="4343400"/>
            <a:ext cx="2926080" cy="411480"/>
          </a:xfrm>
          <a:prstGeom prst="rect">
            <a:avLst/>
          </a:prstGeom>
          <a:noFill/>
        </p:spPr>
        <p:txBody>
          <a:bodyPr wrap="square" anchor="t"/>
          <a:lstStyle/>
          <a:p>
            <a:pPr algn="l"/>
            <a:r>
              <a:rPr sz="1400" b="1" i="0">
                <a:solidFill>
                  <a:srgbClr val="0B1F33"/>
                </a:solidFill>
                <a:latin typeface="Segoe UI"/>
              </a:rPr>
              <a:t>Strategic AI Partnership</a:t>
            </a:r>
          </a:p>
        </p:txBody>
      </p:sp>
      <p:sp>
        <p:nvSpPr>
          <p:cNvPr id="29" name="TextBox 28"/>
          <p:cNvSpPr txBox="1"/>
          <p:nvPr/>
        </p:nvSpPr>
        <p:spPr>
          <a:xfrm>
            <a:off x="4389120" y="4800600"/>
            <a:ext cx="2926080" cy="914400"/>
          </a:xfrm>
          <a:prstGeom prst="rect">
            <a:avLst/>
          </a:prstGeom>
          <a:noFill/>
        </p:spPr>
        <p:txBody>
          <a:bodyPr wrap="square" anchor="t"/>
          <a:lstStyle/>
          <a:p>
            <a:pPr algn="l"/>
            <a:r>
              <a:rPr sz="1100" b="0" i="0">
                <a:solidFill>
                  <a:srgbClr val="2C3A4B"/>
                </a:solidFill>
                <a:latin typeface="Segoe UI"/>
              </a:rPr>
              <a:t>Deep collaboration with Alibaba Cloud AI — Tongyi LLM, NLP, semantic search — powering advisor, matching, and screening systems.</a:t>
            </a:r>
          </a:p>
        </p:txBody>
      </p:sp>
      <p:sp>
        <p:nvSpPr>
          <p:cNvPr id="30" name="Rounded Rectangle 29"/>
          <p:cNvSpPr/>
          <p:nvPr/>
        </p:nvSpPr>
        <p:spPr>
          <a:xfrm>
            <a:off x="78181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181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3886200"/>
            <a:ext cx="2926080" cy="365760"/>
          </a:xfrm>
          <a:prstGeom prst="rect">
            <a:avLst/>
          </a:prstGeom>
          <a:noFill/>
        </p:spPr>
        <p:txBody>
          <a:bodyPr wrap="square" anchor="t"/>
          <a:lstStyle/>
          <a:p>
            <a:pPr algn="l"/>
            <a:r>
              <a:rPr sz="1800" b="1" i="0">
                <a:solidFill>
                  <a:srgbClr val="0A6B63"/>
                </a:solidFill>
                <a:latin typeface="Georgia"/>
              </a:rPr>
              <a:t>06</a:t>
            </a:r>
          </a:p>
        </p:txBody>
      </p:sp>
      <p:sp>
        <p:nvSpPr>
          <p:cNvPr id="33" name="TextBox 32"/>
          <p:cNvSpPr txBox="1"/>
          <p:nvPr/>
        </p:nvSpPr>
        <p:spPr>
          <a:xfrm>
            <a:off x="8046720" y="4343400"/>
            <a:ext cx="2926080" cy="411480"/>
          </a:xfrm>
          <a:prstGeom prst="rect">
            <a:avLst/>
          </a:prstGeom>
          <a:noFill/>
        </p:spPr>
        <p:txBody>
          <a:bodyPr wrap="square" anchor="t"/>
          <a:lstStyle/>
          <a:p>
            <a:pPr algn="l"/>
            <a:r>
              <a:rPr sz="1400" b="1" i="0">
                <a:solidFill>
                  <a:srgbClr val="0B1F33"/>
                </a:solidFill>
                <a:latin typeface="Segoe UI"/>
              </a:rPr>
              <a:t>Compelling Entry Point</a:t>
            </a:r>
          </a:p>
        </p:txBody>
      </p:sp>
      <p:sp>
        <p:nvSpPr>
          <p:cNvPr id="34" name="TextBox 33"/>
          <p:cNvSpPr txBox="1"/>
          <p:nvPr/>
        </p:nvSpPr>
        <p:spPr>
          <a:xfrm>
            <a:off x="8046720" y="4800600"/>
            <a:ext cx="2926080" cy="914400"/>
          </a:xfrm>
          <a:prstGeom prst="rect">
            <a:avLst/>
          </a:prstGeom>
          <a:noFill/>
        </p:spPr>
        <p:txBody>
          <a:bodyPr wrap="square" anchor="t"/>
          <a:lstStyle/>
          <a:p>
            <a:pPr algn="l"/>
            <a:r>
              <a:rPr sz="1100" b="0" i="0">
                <a:solidFill>
                  <a:srgbClr val="2C3A4B"/>
                </a:solidFill>
                <a:latin typeface="Segoe UI"/>
              </a:rPr>
              <a:t>US$5.0M primary round at a US$50.0M valuation to fund the product roadmap and global go-to-market.</a:t>
            </a:r>
          </a:p>
        </p:txBody>
      </p:sp>
      <p:sp>
        <p:nvSpPr>
          <p:cNvPr id="35" name="Rectangle 3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8" name="TextBox 3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CONTEXT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Hiring Is Broken on Both Sides of the Table</a:t>
            </a:r>
          </a:p>
        </p:txBody>
      </p:sp>
      <p:sp>
        <p:nvSpPr>
          <p:cNvPr id="5" name="Rounded Rectangle 4"/>
          <p:cNvSpPr/>
          <p:nvPr/>
        </p:nvSpPr>
        <p:spPr>
          <a:xfrm>
            <a:off x="502920" y="123444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2"/>
            <a:ext cx="5212080" cy="320040"/>
          </a:xfrm>
          <a:prstGeom prst="rect">
            <a:avLst/>
          </a:prstGeom>
          <a:noFill/>
        </p:spPr>
        <p:txBody>
          <a:bodyPr wrap="square" anchor="t"/>
          <a:lstStyle/>
          <a:p>
            <a:pPr algn="l"/>
            <a:r>
              <a:rPr sz="1400" b="1" i="0">
                <a:solidFill>
                  <a:srgbClr val="0B1F33"/>
                </a:solidFill>
                <a:latin typeface="Segoe UI"/>
              </a:rPr>
              <a:t>For candidates</a:t>
            </a:r>
          </a:p>
        </p:txBody>
      </p:sp>
      <p:sp>
        <p:nvSpPr>
          <p:cNvPr id="8" name="TextBox 7"/>
          <p:cNvSpPr txBox="1"/>
          <p:nvPr/>
        </p:nvSpPr>
        <p:spPr>
          <a:xfrm>
            <a:off x="777240" y="1737360"/>
            <a:ext cx="5212080" cy="777240"/>
          </a:xfrm>
          <a:prstGeom prst="rect">
            <a:avLst/>
          </a:prstGeom>
          <a:noFill/>
        </p:spPr>
        <p:txBody>
          <a:bodyPr wrap="square" anchor="t"/>
          <a:lstStyle/>
          <a:p>
            <a:pPr algn="l"/>
            <a:r>
              <a:rPr sz="1100" b="0" i="0">
                <a:solidFill>
                  <a:srgbClr val="2C3A4B"/>
                </a:solidFill>
                <a:latin typeface="Segoe UI"/>
              </a:rPr>
              <a:t>Hiring processes are opaque and intensely competitive. Interview preparation remains fragmented across scattered resources, and quality human coaching is expensive and does not scale.</a:t>
            </a:r>
          </a:p>
        </p:txBody>
      </p:sp>
      <p:sp>
        <p:nvSpPr>
          <p:cNvPr id="9" name="Rounded Rectangle 8"/>
          <p:cNvSpPr/>
          <p:nvPr/>
        </p:nvSpPr>
        <p:spPr>
          <a:xfrm>
            <a:off x="502920" y="274320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74320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907792"/>
            <a:ext cx="5212080" cy="320040"/>
          </a:xfrm>
          <a:prstGeom prst="rect">
            <a:avLst/>
          </a:prstGeom>
          <a:noFill/>
        </p:spPr>
        <p:txBody>
          <a:bodyPr wrap="square" anchor="t"/>
          <a:lstStyle/>
          <a:p>
            <a:pPr algn="l"/>
            <a:r>
              <a:rPr sz="1400" b="1" i="0">
                <a:solidFill>
                  <a:srgbClr val="0B1F33"/>
                </a:solidFill>
                <a:latin typeface="Segoe UI"/>
              </a:rPr>
              <a:t>For international talent</a:t>
            </a:r>
          </a:p>
        </p:txBody>
      </p:sp>
      <p:sp>
        <p:nvSpPr>
          <p:cNvPr id="12" name="TextBox 11"/>
          <p:cNvSpPr txBox="1"/>
          <p:nvPr/>
        </p:nvSpPr>
        <p:spPr>
          <a:xfrm>
            <a:off x="777240" y="3246120"/>
            <a:ext cx="5212080" cy="777240"/>
          </a:xfrm>
          <a:prstGeom prst="rect">
            <a:avLst/>
          </a:prstGeom>
          <a:noFill/>
        </p:spPr>
        <p:txBody>
          <a:bodyPr wrap="square" anchor="t"/>
          <a:lstStyle/>
          <a:p>
            <a:pPr algn="l"/>
            <a:r>
              <a:rPr sz="1100" b="0" i="0">
                <a:solidFill>
                  <a:srgbClr val="2C3A4B"/>
                </a:solidFill>
                <a:latin typeface="Segoe UI"/>
              </a:rPr>
              <a:t>Language, cultural, and visa complexity compound an already difficult search — a large, motivated population is structurally underserved by generic tools.</a:t>
            </a:r>
          </a:p>
        </p:txBody>
      </p:sp>
      <p:sp>
        <p:nvSpPr>
          <p:cNvPr id="13" name="Rounded Rectangle 12"/>
          <p:cNvSpPr/>
          <p:nvPr/>
        </p:nvSpPr>
        <p:spPr>
          <a:xfrm>
            <a:off x="502920" y="425196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5196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16552"/>
            <a:ext cx="5212080" cy="320040"/>
          </a:xfrm>
          <a:prstGeom prst="rect">
            <a:avLst/>
          </a:prstGeom>
          <a:noFill/>
        </p:spPr>
        <p:txBody>
          <a:bodyPr wrap="square" anchor="t"/>
          <a:lstStyle/>
          <a:p>
            <a:pPr algn="l"/>
            <a:r>
              <a:rPr sz="1400" b="1" i="0">
                <a:solidFill>
                  <a:srgbClr val="0B1F33"/>
                </a:solidFill>
                <a:latin typeface="Segoe UI"/>
              </a:rPr>
              <a:t>For employers</a:t>
            </a:r>
          </a:p>
        </p:txBody>
      </p:sp>
      <p:sp>
        <p:nvSpPr>
          <p:cNvPr id="16" name="TextBox 15"/>
          <p:cNvSpPr txBox="1"/>
          <p:nvPr/>
        </p:nvSpPr>
        <p:spPr>
          <a:xfrm>
            <a:off x="777240" y="4754880"/>
            <a:ext cx="5212080" cy="777240"/>
          </a:xfrm>
          <a:prstGeom prst="rect">
            <a:avLst/>
          </a:prstGeom>
          <a:noFill/>
        </p:spPr>
        <p:txBody>
          <a:bodyPr wrap="square" anchor="t"/>
          <a:lstStyle/>
          <a:p>
            <a:pPr algn="l"/>
            <a:r>
              <a:rPr sz="1100" b="0" i="0">
                <a:solidFill>
                  <a:srgbClr val="2C3A4B"/>
                </a:solidFill>
                <a:latin typeface="Segoe UI"/>
              </a:rPr>
              <a:t>Application volumes overwhelm recruiting teams while offering limited signal. Screening is slow, costly, and inconsistent, and strong candidates are lost in the noise.</a:t>
            </a:r>
          </a:p>
        </p:txBody>
      </p:sp>
      <p:sp>
        <p:nvSpPr>
          <p:cNvPr id="17" name="Rounded Rectangle 16"/>
          <p:cNvSpPr/>
          <p:nvPr/>
        </p:nvSpPr>
        <p:spPr>
          <a:xfrm>
            <a:off x="6492240" y="1234440"/>
            <a:ext cx="5166360" cy="4572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1371600"/>
            <a:ext cx="4754880" cy="320040"/>
          </a:xfrm>
          <a:prstGeom prst="rect">
            <a:avLst/>
          </a:prstGeom>
          <a:noFill/>
        </p:spPr>
        <p:txBody>
          <a:bodyPr wrap="square" anchor="t"/>
          <a:lstStyle/>
          <a:p>
            <a:pPr algn="l"/>
            <a:r>
              <a:rPr sz="1300" b="1" i="0">
                <a:solidFill>
                  <a:srgbClr val="0B1F33"/>
                </a:solidFill>
                <a:latin typeface="Segoe UI"/>
              </a:rPr>
              <a:t>Structural friction indicators</a:t>
            </a:r>
          </a:p>
        </p:txBody>
      </p:sp>
      <p:sp>
        <p:nvSpPr>
          <p:cNvPr id="19" name="TextBox 18"/>
          <p:cNvSpPr txBox="1"/>
          <p:nvPr/>
        </p:nvSpPr>
        <p:spPr>
          <a:xfrm>
            <a:off x="6812280" y="1828800"/>
            <a:ext cx="4663440" cy="411480"/>
          </a:xfrm>
          <a:prstGeom prst="rect">
            <a:avLst/>
          </a:prstGeom>
          <a:noFill/>
        </p:spPr>
        <p:txBody>
          <a:bodyPr wrap="square" anchor="t"/>
          <a:lstStyle/>
          <a:p>
            <a:pPr algn="l"/>
            <a:r>
              <a:rPr sz="2800" b="1" i="0">
                <a:solidFill>
                  <a:srgbClr val="0B1F33"/>
                </a:solidFill>
                <a:latin typeface="Georgia"/>
              </a:rPr>
              <a:t>250+</a:t>
            </a:r>
          </a:p>
        </p:txBody>
      </p:sp>
      <p:sp>
        <p:nvSpPr>
          <p:cNvPr id="20" name="TextBox 19"/>
          <p:cNvSpPr txBox="1"/>
          <p:nvPr/>
        </p:nvSpPr>
        <p:spPr>
          <a:xfrm>
            <a:off x="6812280" y="2267712"/>
            <a:ext cx="4663440" cy="274320"/>
          </a:xfrm>
          <a:prstGeom prst="rect">
            <a:avLst/>
          </a:prstGeom>
          <a:noFill/>
        </p:spPr>
        <p:txBody>
          <a:bodyPr wrap="square" anchor="t"/>
          <a:lstStyle/>
          <a:p>
            <a:pPr algn="l"/>
            <a:r>
              <a:rPr sz="900" b="1" i="0">
                <a:solidFill>
                  <a:srgbClr val="5E6E80"/>
                </a:solidFill>
                <a:latin typeface="Segoe UI"/>
              </a:rPr>
              <a:t>APPLICATIONS PER CORPORATE JOB OPENING</a:t>
            </a:r>
          </a:p>
        </p:txBody>
      </p:sp>
      <p:sp>
        <p:nvSpPr>
          <p:cNvPr id="21" name="Rectangle 20"/>
          <p:cNvSpPr/>
          <p:nvPr/>
        </p:nvSpPr>
        <p:spPr>
          <a:xfrm>
            <a:off x="6812280" y="2606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12280" y="2606040"/>
            <a:ext cx="3291839"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2971800"/>
            <a:ext cx="4663440" cy="411480"/>
          </a:xfrm>
          <a:prstGeom prst="rect">
            <a:avLst/>
          </a:prstGeom>
          <a:noFill/>
        </p:spPr>
        <p:txBody>
          <a:bodyPr wrap="square" anchor="t"/>
          <a:lstStyle/>
          <a:p>
            <a:pPr algn="l"/>
            <a:r>
              <a:rPr sz="2800" b="1" i="0">
                <a:solidFill>
                  <a:srgbClr val="0B1F33"/>
                </a:solidFill>
                <a:latin typeface="Georgia"/>
              </a:rPr>
              <a:t>1.1M+</a:t>
            </a:r>
          </a:p>
        </p:txBody>
      </p:sp>
      <p:sp>
        <p:nvSpPr>
          <p:cNvPr id="24" name="TextBox 23"/>
          <p:cNvSpPr txBox="1"/>
          <p:nvPr/>
        </p:nvSpPr>
        <p:spPr>
          <a:xfrm>
            <a:off x="6812280" y="3410712"/>
            <a:ext cx="4663440" cy="274320"/>
          </a:xfrm>
          <a:prstGeom prst="rect">
            <a:avLst/>
          </a:prstGeom>
          <a:noFill/>
        </p:spPr>
        <p:txBody>
          <a:bodyPr wrap="square" anchor="t"/>
          <a:lstStyle/>
          <a:p>
            <a:pPr algn="l"/>
            <a:r>
              <a:rPr sz="900" b="1" i="0">
                <a:solidFill>
                  <a:srgbClr val="5E6E80"/>
                </a:solidFill>
                <a:latin typeface="Segoe UI"/>
              </a:rPr>
              <a:t>INTERNATIONAL STUDENTS IN THE U.S. ALONE</a:t>
            </a:r>
          </a:p>
        </p:txBody>
      </p:sp>
      <p:sp>
        <p:nvSpPr>
          <p:cNvPr id="25" name="Rectangle 24"/>
          <p:cNvSpPr/>
          <p:nvPr/>
        </p:nvSpPr>
        <p:spPr>
          <a:xfrm>
            <a:off x="6812280" y="3749039"/>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12280" y="3749039"/>
            <a:ext cx="43434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2280" y="4114800"/>
            <a:ext cx="4663440" cy="411480"/>
          </a:xfrm>
          <a:prstGeom prst="rect">
            <a:avLst/>
          </a:prstGeom>
          <a:noFill/>
        </p:spPr>
        <p:txBody>
          <a:bodyPr wrap="square" anchor="t"/>
          <a:lstStyle/>
          <a:p>
            <a:pPr algn="l"/>
            <a:r>
              <a:rPr sz="2800" b="1" i="0">
                <a:solidFill>
                  <a:srgbClr val="0B1F33"/>
                </a:solidFill>
                <a:latin typeface="Georgia"/>
              </a:rPr>
              <a:t>75%</a:t>
            </a:r>
          </a:p>
        </p:txBody>
      </p:sp>
      <p:sp>
        <p:nvSpPr>
          <p:cNvPr id="28" name="TextBox 27"/>
          <p:cNvSpPr txBox="1"/>
          <p:nvPr/>
        </p:nvSpPr>
        <p:spPr>
          <a:xfrm>
            <a:off x="6812280" y="4553712"/>
            <a:ext cx="4663440" cy="274320"/>
          </a:xfrm>
          <a:prstGeom prst="rect">
            <a:avLst/>
          </a:prstGeom>
          <a:noFill/>
        </p:spPr>
        <p:txBody>
          <a:bodyPr wrap="square" anchor="t"/>
          <a:lstStyle/>
          <a:p>
            <a:pPr algn="l"/>
            <a:r>
              <a:rPr sz="900" b="1" i="0">
                <a:solidFill>
                  <a:srgbClr val="5E6E80"/>
                </a:solidFill>
                <a:latin typeface="Segoe UI"/>
              </a:rPr>
              <a:t>OF RÉSUMÉS SCREENED OUT BEFORE HUMAN REVIEW</a:t>
            </a:r>
          </a:p>
        </p:txBody>
      </p:sp>
      <p:sp>
        <p:nvSpPr>
          <p:cNvPr id="29" name="Rectangle 28"/>
          <p:cNvSpPr/>
          <p:nvPr/>
        </p:nvSpPr>
        <p:spPr>
          <a:xfrm>
            <a:off x="6812280" y="4892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12280" y="4892040"/>
            <a:ext cx="34290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5349240"/>
            <a:ext cx="4754880" cy="320040"/>
          </a:xfrm>
          <a:prstGeom prst="rect">
            <a:avLst/>
          </a:prstGeom>
          <a:noFill/>
        </p:spPr>
        <p:txBody>
          <a:bodyPr wrap="square" anchor="t"/>
          <a:lstStyle/>
          <a:p>
            <a:pPr algn="l"/>
            <a:r>
              <a:rPr sz="800" b="0" i="0">
                <a:solidFill>
                  <a:srgbClr val="5E6E80"/>
                </a:solidFill>
                <a:latin typeface="Segoe UI"/>
              </a:rPr>
              <a:t>Sources: Open Doors 2024; Glassdoor; industry estimates.</a:t>
            </a:r>
          </a:p>
        </p:txBody>
      </p:sp>
      <p:sp>
        <p:nvSpPr>
          <p:cNvPr id="32" name="Rectangle 3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5" name="TextBox 3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OPPORTUNITY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US$200B+ Global Talent Market in Structural Shift</a:t>
            </a:r>
          </a:p>
        </p:txBody>
      </p:sp>
      <p:sp>
        <p:nvSpPr>
          <p:cNvPr id="5" name="Rounded Rectangle 4"/>
          <p:cNvSpPr/>
          <p:nvPr/>
        </p:nvSpPr>
        <p:spPr>
          <a:xfrm>
            <a:off x="502920" y="12344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5394960" cy="146304"/>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44168"/>
            <a:ext cx="5394960" cy="228600"/>
          </a:xfrm>
          <a:prstGeom prst="rect">
            <a:avLst/>
          </a:prstGeom>
          <a:noFill/>
        </p:spPr>
        <p:txBody>
          <a:bodyPr wrap="square" anchor="t"/>
          <a:lstStyle/>
          <a:p>
            <a:pPr algn="l"/>
            <a:r>
              <a:rPr sz="900" b="1" i="0">
                <a:solidFill>
                  <a:srgbClr val="5E6E80"/>
                </a:solidFill>
                <a:latin typeface="Segoe UI"/>
              </a:rPr>
              <a:t>TOTAL ADDRESSABLE MARKET</a:t>
            </a:r>
          </a:p>
        </p:txBody>
      </p:sp>
      <p:sp>
        <p:nvSpPr>
          <p:cNvPr id="8" name="TextBox 7"/>
          <p:cNvSpPr txBox="1"/>
          <p:nvPr/>
        </p:nvSpPr>
        <p:spPr>
          <a:xfrm>
            <a:off x="685800" y="1554480"/>
            <a:ext cx="5394960" cy="365760"/>
          </a:xfrm>
          <a:prstGeom prst="rect">
            <a:avLst/>
          </a:prstGeom>
          <a:noFill/>
        </p:spPr>
        <p:txBody>
          <a:bodyPr wrap="square" anchor="t"/>
          <a:lstStyle/>
          <a:p>
            <a:pPr algn="l"/>
            <a:r>
              <a:rPr sz="2600" b="1" i="0">
                <a:solidFill>
                  <a:srgbClr val="0B1F33"/>
                </a:solidFill>
                <a:latin typeface="Georgia"/>
              </a:rPr>
              <a:t>US$200B+</a:t>
            </a:r>
          </a:p>
        </p:txBody>
      </p:sp>
      <p:sp>
        <p:nvSpPr>
          <p:cNvPr id="9" name="TextBox 8"/>
          <p:cNvSpPr txBox="1"/>
          <p:nvPr/>
        </p:nvSpPr>
        <p:spPr>
          <a:xfrm>
            <a:off x="685800" y="1892808"/>
            <a:ext cx="5394960" cy="256032"/>
          </a:xfrm>
          <a:prstGeom prst="rect">
            <a:avLst/>
          </a:prstGeom>
          <a:noFill/>
        </p:spPr>
        <p:txBody>
          <a:bodyPr wrap="square" anchor="t"/>
          <a:lstStyle/>
          <a:p>
            <a:pPr algn="l"/>
            <a:r>
              <a:rPr sz="1000" b="0" i="0">
                <a:solidFill>
                  <a:srgbClr val="2C3A4B"/>
                </a:solidFill>
                <a:latin typeface="Segoe UI"/>
              </a:rPr>
              <a:t>Global recruitment, talent-acquisition, and career-development spend.</a:t>
            </a:r>
          </a:p>
        </p:txBody>
      </p:sp>
      <p:sp>
        <p:nvSpPr>
          <p:cNvPr id="10" name="Rounded Rectangle 9"/>
          <p:cNvSpPr/>
          <p:nvPr/>
        </p:nvSpPr>
        <p:spPr>
          <a:xfrm>
            <a:off x="502920" y="26060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3520440"/>
            <a:ext cx="2967228" cy="146304"/>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15768"/>
            <a:ext cx="5394960" cy="228600"/>
          </a:xfrm>
          <a:prstGeom prst="rect">
            <a:avLst/>
          </a:prstGeom>
          <a:noFill/>
        </p:spPr>
        <p:txBody>
          <a:bodyPr wrap="square" anchor="t"/>
          <a:lstStyle/>
          <a:p>
            <a:pPr algn="l"/>
            <a:r>
              <a:rPr sz="900" b="1" i="0">
                <a:solidFill>
                  <a:srgbClr val="5E6E80"/>
                </a:solidFill>
                <a:latin typeface="Segoe UI"/>
              </a:rPr>
              <a:t>SERVICEABLE MARKET</a:t>
            </a:r>
          </a:p>
        </p:txBody>
      </p:sp>
      <p:sp>
        <p:nvSpPr>
          <p:cNvPr id="13" name="TextBox 12"/>
          <p:cNvSpPr txBox="1"/>
          <p:nvPr/>
        </p:nvSpPr>
        <p:spPr>
          <a:xfrm>
            <a:off x="685800" y="2926080"/>
            <a:ext cx="5394960" cy="365760"/>
          </a:xfrm>
          <a:prstGeom prst="rect">
            <a:avLst/>
          </a:prstGeom>
          <a:noFill/>
        </p:spPr>
        <p:txBody>
          <a:bodyPr wrap="square" anchor="t"/>
          <a:lstStyle/>
          <a:p>
            <a:pPr algn="l"/>
            <a:r>
              <a:rPr sz="2600" b="1" i="0">
                <a:solidFill>
                  <a:srgbClr val="0B1F33"/>
                </a:solidFill>
                <a:latin typeface="Georgia"/>
              </a:rPr>
              <a:t>US$30B</a:t>
            </a:r>
          </a:p>
        </p:txBody>
      </p:sp>
      <p:sp>
        <p:nvSpPr>
          <p:cNvPr id="14" name="TextBox 13"/>
          <p:cNvSpPr txBox="1"/>
          <p:nvPr/>
        </p:nvSpPr>
        <p:spPr>
          <a:xfrm>
            <a:off x="685800" y="3264408"/>
            <a:ext cx="5394960" cy="256032"/>
          </a:xfrm>
          <a:prstGeom prst="rect">
            <a:avLst/>
          </a:prstGeom>
          <a:noFill/>
        </p:spPr>
        <p:txBody>
          <a:bodyPr wrap="square" anchor="t"/>
          <a:lstStyle/>
          <a:p>
            <a:pPr algn="l"/>
            <a:r>
              <a:rPr sz="1000" b="0" i="0">
                <a:solidFill>
                  <a:srgbClr val="2C3A4B"/>
                </a:solidFill>
                <a:latin typeface="Segoe UI"/>
              </a:rPr>
              <a:t>AI-enabled hiring technology and digital career preparation.</a:t>
            </a:r>
          </a:p>
        </p:txBody>
      </p:sp>
      <p:sp>
        <p:nvSpPr>
          <p:cNvPr id="15" name="Rounded Rectangle 14"/>
          <p:cNvSpPr/>
          <p:nvPr/>
        </p:nvSpPr>
        <p:spPr>
          <a:xfrm>
            <a:off x="502920" y="3977639"/>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892040"/>
            <a:ext cx="1510588" cy="146304"/>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87368"/>
            <a:ext cx="5394960" cy="228600"/>
          </a:xfrm>
          <a:prstGeom prst="rect">
            <a:avLst/>
          </a:prstGeom>
          <a:noFill/>
        </p:spPr>
        <p:txBody>
          <a:bodyPr wrap="square" anchor="t"/>
          <a:lstStyle/>
          <a:p>
            <a:pPr algn="l"/>
            <a:r>
              <a:rPr sz="900" b="1" i="0">
                <a:solidFill>
                  <a:srgbClr val="5E6E80"/>
                </a:solidFill>
                <a:latin typeface="Segoe UI"/>
              </a:rPr>
              <a:t>INITIAL TARGET SEGMENT</a:t>
            </a:r>
          </a:p>
        </p:txBody>
      </p:sp>
      <p:sp>
        <p:nvSpPr>
          <p:cNvPr id="18" name="TextBox 17"/>
          <p:cNvSpPr txBox="1"/>
          <p:nvPr/>
        </p:nvSpPr>
        <p:spPr>
          <a:xfrm>
            <a:off x="685800" y="4297679"/>
            <a:ext cx="5394960" cy="365760"/>
          </a:xfrm>
          <a:prstGeom prst="rect">
            <a:avLst/>
          </a:prstGeom>
          <a:noFill/>
        </p:spPr>
        <p:txBody>
          <a:bodyPr wrap="square" anchor="t"/>
          <a:lstStyle/>
          <a:p>
            <a:pPr algn="l"/>
            <a:r>
              <a:rPr sz="2600" b="1" i="0">
                <a:solidFill>
                  <a:srgbClr val="0B1F33"/>
                </a:solidFill>
                <a:latin typeface="Georgia"/>
              </a:rPr>
              <a:t>US$1.5B</a:t>
            </a:r>
          </a:p>
        </p:txBody>
      </p:sp>
      <p:sp>
        <p:nvSpPr>
          <p:cNvPr id="19" name="TextBox 18"/>
          <p:cNvSpPr txBox="1"/>
          <p:nvPr/>
        </p:nvSpPr>
        <p:spPr>
          <a:xfrm>
            <a:off x="685800" y="4636007"/>
            <a:ext cx="5394960" cy="256032"/>
          </a:xfrm>
          <a:prstGeom prst="rect">
            <a:avLst/>
          </a:prstGeom>
          <a:noFill/>
        </p:spPr>
        <p:txBody>
          <a:bodyPr wrap="square" anchor="t"/>
          <a:lstStyle/>
          <a:p>
            <a:pPr algn="l"/>
            <a:r>
              <a:rPr sz="1000" b="0" i="0">
                <a:solidFill>
                  <a:srgbClr val="2C3A4B"/>
                </a:solidFill>
                <a:latin typeface="Segoe UI"/>
              </a:rPr>
              <a:t>Cross-border early-career talent across current Company markets.</a:t>
            </a:r>
          </a:p>
        </p:txBody>
      </p:sp>
      <p:sp>
        <p:nvSpPr>
          <p:cNvPr id="20" name="Rounded Rectangle 19"/>
          <p:cNvSpPr/>
          <p:nvPr/>
        </p:nvSpPr>
        <p:spPr>
          <a:xfrm>
            <a:off x="6537960" y="1234440"/>
            <a:ext cx="51206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1371600"/>
            <a:ext cx="4754880" cy="320040"/>
          </a:xfrm>
          <a:prstGeom prst="rect">
            <a:avLst/>
          </a:prstGeom>
          <a:noFill/>
        </p:spPr>
        <p:txBody>
          <a:bodyPr wrap="square" anchor="t"/>
          <a:lstStyle/>
          <a:p>
            <a:pPr algn="l"/>
            <a:r>
              <a:rPr sz="1200" b="1" i="0">
                <a:solidFill>
                  <a:srgbClr val="0B1F33"/>
                </a:solidFill>
                <a:latin typeface="Segoe UI"/>
              </a:rPr>
              <a:t>AI hiring &amp; career-tech spend (illustrative, US$B)</a:t>
            </a:r>
          </a:p>
        </p:txBody>
      </p:sp>
      <p:graphicFrame>
        <p:nvGraphicFramePr>
          <p:cNvPr id="22" name="Chart 21"/>
          <p:cNvGraphicFramePr>
            <a:graphicFrameLocks noGrp="1"/>
          </p:cNvGraphicFramePr>
          <p:nvPr/>
        </p:nvGraphicFramePr>
        <p:xfrm>
          <a:off x="6629400" y="1737360"/>
          <a:ext cx="4892040" cy="3383280"/>
        </p:xfrm>
        <a:graphic>
          <a:graphicData uri="http://schemas.openxmlformats.org/drawingml/2006/chart">
            <c:chart xmlns:c="http://schemas.openxmlformats.org/drawingml/2006/chart" r:id="rId2"/>
          </a:graphicData>
        </a:graphic>
      </p:graphicFrame>
      <p:sp>
        <p:nvSpPr>
          <p:cNvPr id="23" name="TextBox 22"/>
          <p:cNvSpPr txBox="1"/>
          <p:nvPr/>
        </p:nvSpPr>
        <p:spPr>
          <a:xfrm>
            <a:off x="502920" y="5806440"/>
            <a:ext cx="10972800" cy="274320"/>
          </a:xfrm>
          <a:prstGeom prst="rect">
            <a:avLst/>
          </a:prstGeom>
          <a:noFill/>
        </p:spPr>
        <p:txBody>
          <a:bodyPr wrap="square" anchor="t"/>
          <a:lstStyle/>
          <a:p>
            <a:pPr algn="l"/>
            <a:r>
              <a:rPr sz="800" b="0" i="0">
                <a:solidFill>
                  <a:srgbClr val="5E6E80"/>
                </a:solidFill>
                <a:latin typeface="Segoe UI"/>
              </a:rPr>
              <a:t>Management estimates informed by public industry research; presented for illustration.</a:t>
            </a:r>
          </a:p>
        </p:txBody>
      </p:sp>
      <p:sp>
        <p:nvSpPr>
          <p:cNvPr id="24" name="Rectangle 23"/>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7" name="TextBox 26"/>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THE PLATFORM</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One Platform Spanning Preparation, Placement &amp; Hiring</a:t>
            </a:r>
          </a:p>
        </p:txBody>
      </p:sp>
      <p:sp>
        <p:nvSpPr>
          <p:cNvPr id="5" name="Rounded Rectangle 4"/>
          <p:cNvSpPr/>
          <p:nvPr/>
        </p:nvSpPr>
        <p:spPr>
          <a:xfrm>
            <a:off x="502920" y="1234440"/>
            <a:ext cx="548640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5486400" cy="4572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25880"/>
            <a:ext cx="5120640" cy="320040"/>
          </a:xfrm>
          <a:prstGeom prst="rect">
            <a:avLst/>
          </a:prstGeom>
          <a:noFill/>
        </p:spPr>
        <p:txBody>
          <a:bodyPr wrap="square" anchor="t"/>
          <a:lstStyle/>
          <a:p>
            <a:pPr algn="l"/>
            <a:r>
              <a:rPr sz="1200" b="1" i="0">
                <a:solidFill>
                  <a:srgbClr val="FFFFFF"/>
                </a:solidFill>
                <a:latin typeface="Segoe UI"/>
              </a:rPr>
              <a:t>FOR CANDIDATES</a:t>
            </a:r>
          </a:p>
        </p:txBody>
      </p:sp>
      <p:sp>
        <p:nvSpPr>
          <p:cNvPr id="8" name="TextBox 7"/>
          <p:cNvSpPr txBox="1"/>
          <p:nvPr/>
        </p:nvSpPr>
        <p:spPr>
          <a:xfrm>
            <a:off x="777240" y="1874519"/>
            <a:ext cx="4937760" cy="274320"/>
          </a:xfrm>
          <a:prstGeom prst="rect">
            <a:avLst/>
          </a:prstGeom>
          <a:noFill/>
        </p:spPr>
        <p:txBody>
          <a:bodyPr wrap="square" anchor="t"/>
          <a:lstStyle/>
          <a:p>
            <a:pPr algn="l"/>
            <a:r>
              <a:rPr sz="1300" b="1" i="0">
                <a:solidFill>
                  <a:srgbClr val="0B1F33"/>
                </a:solidFill>
                <a:latin typeface="Segoe UI"/>
              </a:rPr>
              <a:t>AI Mock Interviews</a:t>
            </a:r>
          </a:p>
        </p:txBody>
      </p:sp>
      <p:sp>
        <p:nvSpPr>
          <p:cNvPr id="9" name="TextBox 8"/>
          <p:cNvSpPr txBox="1"/>
          <p:nvPr/>
        </p:nvSpPr>
        <p:spPr>
          <a:xfrm>
            <a:off x="777240" y="2130552"/>
            <a:ext cx="4937760" cy="365760"/>
          </a:xfrm>
          <a:prstGeom prst="rect">
            <a:avLst/>
          </a:prstGeom>
          <a:noFill/>
        </p:spPr>
        <p:txBody>
          <a:bodyPr wrap="square" anchor="t"/>
          <a:lstStyle/>
          <a:p>
            <a:pPr algn="l"/>
            <a:r>
              <a:rPr sz="1100" b="0" i="0">
                <a:solidFill>
                  <a:srgbClr val="2C3A4B"/>
                </a:solidFill>
                <a:latin typeface="Segoe UI"/>
              </a:rPr>
              <a:t>Role- and company-specific practice with personalized, real-time feedback.</a:t>
            </a:r>
          </a:p>
        </p:txBody>
      </p:sp>
      <p:sp>
        <p:nvSpPr>
          <p:cNvPr id="10" name="TextBox 9"/>
          <p:cNvSpPr txBox="1"/>
          <p:nvPr/>
        </p:nvSpPr>
        <p:spPr>
          <a:xfrm>
            <a:off x="777240" y="2651760"/>
            <a:ext cx="4937760" cy="274320"/>
          </a:xfrm>
          <a:prstGeom prst="rect">
            <a:avLst/>
          </a:prstGeom>
          <a:noFill/>
        </p:spPr>
        <p:txBody>
          <a:bodyPr wrap="square" anchor="t"/>
          <a:lstStyle/>
          <a:p>
            <a:pPr algn="l"/>
            <a:r>
              <a:rPr sz="1300" b="1" i="0">
                <a:solidFill>
                  <a:srgbClr val="0B1F33"/>
                </a:solidFill>
                <a:latin typeface="Segoe UI"/>
              </a:rPr>
              <a:t>Question Banks &amp; Assessments</a:t>
            </a:r>
          </a:p>
        </p:txBody>
      </p:sp>
      <p:sp>
        <p:nvSpPr>
          <p:cNvPr id="11" name="TextBox 10"/>
          <p:cNvSpPr txBox="1"/>
          <p:nvPr/>
        </p:nvSpPr>
        <p:spPr>
          <a:xfrm>
            <a:off x="777240" y="2907791"/>
            <a:ext cx="4937760" cy="365760"/>
          </a:xfrm>
          <a:prstGeom prst="rect">
            <a:avLst/>
          </a:prstGeom>
          <a:noFill/>
        </p:spPr>
        <p:txBody>
          <a:bodyPr wrap="square" anchor="t"/>
          <a:lstStyle/>
          <a:p>
            <a:pPr algn="l"/>
            <a:r>
              <a:rPr sz="1100" b="0" i="0">
                <a:solidFill>
                  <a:srgbClr val="2C3A4B"/>
                </a:solidFill>
                <a:latin typeface="Segoe UI"/>
              </a:rPr>
              <a:t>Proprietary libraries of real interview questions and timed online assessments.</a:t>
            </a:r>
          </a:p>
        </p:txBody>
      </p:sp>
      <p:sp>
        <p:nvSpPr>
          <p:cNvPr id="12" name="TextBox 11"/>
          <p:cNvSpPr txBox="1"/>
          <p:nvPr/>
        </p:nvSpPr>
        <p:spPr>
          <a:xfrm>
            <a:off x="777240" y="3429000"/>
            <a:ext cx="4937760" cy="274320"/>
          </a:xfrm>
          <a:prstGeom prst="rect">
            <a:avLst/>
          </a:prstGeom>
          <a:noFill/>
        </p:spPr>
        <p:txBody>
          <a:bodyPr wrap="square" anchor="t"/>
          <a:lstStyle/>
          <a:p>
            <a:pPr algn="l"/>
            <a:r>
              <a:rPr sz="1300" b="1" i="0">
                <a:solidFill>
                  <a:srgbClr val="0B1F33"/>
                </a:solidFill>
                <a:latin typeface="Segoe UI"/>
              </a:rPr>
              <a:t>Mentor Coaching</a:t>
            </a:r>
          </a:p>
        </p:txBody>
      </p:sp>
      <p:sp>
        <p:nvSpPr>
          <p:cNvPr id="13" name="TextBox 12"/>
          <p:cNvSpPr txBox="1"/>
          <p:nvPr/>
        </p:nvSpPr>
        <p:spPr>
          <a:xfrm>
            <a:off x="777240" y="3685032"/>
            <a:ext cx="4937760" cy="365760"/>
          </a:xfrm>
          <a:prstGeom prst="rect">
            <a:avLst/>
          </a:prstGeom>
          <a:noFill/>
        </p:spPr>
        <p:txBody>
          <a:bodyPr wrap="square" anchor="t"/>
          <a:lstStyle/>
          <a:p>
            <a:pPr algn="l"/>
            <a:r>
              <a:rPr sz="1100" b="0" i="0">
                <a:solidFill>
                  <a:srgbClr val="2C3A4B"/>
                </a:solidFill>
                <a:latin typeface="Segoe UI"/>
              </a:rPr>
              <a:t>One-on-one guidance from practitioners at leading global employers.</a:t>
            </a:r>
          </a:p>
        </p:txBody>
      </p:sp>
      <p:sp>
        <p:nvSpPr>
          <p:cNvPr id="14" name="TextBox 13"/>
          <p:cNvSpPr txBox="1"/>
          <p:nvPr/>
        </p:nvSpPr>
        <p:spPr>
          <a:xfrm>
            <a:off x="777240" y="4206240"/>
            <a:ext cx="4937760" cy="274320"/>
          </a:xfrm>
          <a:prstGeom prst="rect">
            <a:avLst/>
          </a:prstGeom>
          <a:noFill/>
        </p:spPr>
        <p:txBody>
          <a:bodyPr wrap="square" anchor="t"/>
          <a:lstStyle/>
          <a:p>
            <a:pPr algn="l"/>
            <a:r>
              <a:rPr sz="1300" b="1" i="0">
                <a:solidFill>
                  <a:srgbClr val="0B1F33"/>
                </a:solidFill>
                <a:latin typeface="Segoe UI"/>
              </a:rPr>
              <a:t>Referrals &amp; Placement</a:t>
            </a:r>
          </a:p>
        </p:txBody>
      </p:sp>
      <p:sp>
        <p:nvSpPr>
          <p:cNvPr id="15" name="TextBox 14"/>
          <p:cNvSpPr txBox="1"/>
          <p:nvPr/>
        </p:nvSpPr>
        <p:spPr>
          <a:xfrm>
            <a:off x="777240" y="4462272"/>
            <a:ext cx="4937760" cy="365760"/>
          </a:xfrm>
          <a:prstGeom prst="rect">
            <a:avLst/>
          </a:prstGeom>
          <a:noFill/>
        </p:spPr>
        <p:txBody>
          <a:bodyPr wrap="square" anchor="t"/>
          <a:lstStyle/>
          <a:p>
            <a:pPr algn="l"/>
            <a:r>
              <a:rPr sz="1100" b="0" i="0">
                <a:solidFill>
                  <a:srgbClr val="2C3A4B"/>
                </a:solidFill>
                <a:latin typeface="Segoe UI"/>
              </a:rPr>
              <a:t>Internship and full-time referral programs, including outcome-based offerings.</a:t>
            </a:r>
          </a:p>
        </p:txBody>
      </p:sp>
      <p:sp>
        <p:nvSpPr>
          <p:cNvPr id="16" name="Rounded Rectangle 15"/>
          <p:cNvSpPr/>
          <p:nvPr/>
        </p:nvSpPr>
        <p:spPr>
          <a:xfrm>
            <a:off x="6217920" y="1234440"/>
            <a:ext cx="548640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5486400" cy="4572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325880"/>
            <a:ext cx="5120640" cy="320040"/>
          </a:xfrm>
          <a:prstGeom prst="rect">
            <a:avLst/>
          </a:prstGeom>
          <a:noFill/>
        </p:spPr>
        <p:txBody>
          <a:bodyPr wrap="square" anchor="t"/>
          <a:lstStyle/>
          <a:p>
            <a:pPr algn="l"/>
            <a:r>
              <a:rPr sz="1200" b="1" i="0">
                <a:solidFill>
                  <a:srgbClr val="FFFFFF"/>
                </a:solidFill>
                <a:latin typeface="Segoe UI"/>
              </a:rPr>
              <a:t>FOR EMPLOYERS</a:t>
            </a:r>
          </a:p>
        </p:txBody>
      </p:sp>
      <p:sp>
        <p:nvSpPr>
          <p:cNvPr id="19" name="TextBox 18"/>
          <p:cNvSpPr txBox="1"/>
          <p:nvPr/>
        </p:nvSpPr>
        <p:spPr>
          <a:xfrm>
            <a:off x="6492240" y="1965960"/>
            <a:ext cx="4937760" cy="274320"/>
          </a:xfrm>
          <a:prstGeom prst="rect">
            <a:avLst/>
          </a:prstGeom>
          <a:noFill/>
        </p:spPr>
        <p:txBody>
          <a:bodyPr wrap="square" anchor="t"/>
          <a:lstStyle/>
          <a:p>
            <a:pPr algn="l"/>
            <a:r>
              <a:rPr sz="1300" b="1" i="0">
                <a:solidFill>
                  <a:srgbClr val="0B1F33"/>
                </a:solidFill>
                <a:latin typeface="Segoe UI"/>
              </a:rPr>
              <a:t>AI Candidate Screening</a:t>
            </a:r>
          </a:p>
        </p:txBody>
      </p:sp>
      <p:sp>
        <p:nvSpPr>
          <p:cNvPr id="20" name="TextBox 19"/>
          <p:cNvSpPr txBox="1"/>
          <p:nvPr/>
        </p:nvSpPr>
        <p:spPr>
          <a:xfrm>
            <a:off x="6492240" y="2221991"/>
            <a:ext cx="4937760" cy="411480"/>
          </a:xfrm>
          <a:prstGeom prst="rect">
            <a:avLst/>
          </a:prstGeom>
          <a:noFill/>
        </p:spPr>
        <p:txBody>
          <a:bodyPr wrap="square" anchor="t"/>
          <a:lstStyle/>
          <a:p>
            <a:pPr algn="l"/>
            <a:r>
              <a:rPr sz="1100" b="0" i="0">
                <a:solidFill>
                  <a:srgbClr val="2C3A4B"/>
                </a:solidFill>
                <a:latin typeface="Segoe UI"/>
              </a:rPr>
              <a:t>Semantic evaluation of fit, capability, and readiness at scale.</a:t>
            </a:r>
          </a:p>
        </p:txBody>
      </p:sp>
      <p:sp>
        <p:nvSpPr>
          <p:cNvPr id="21" name="TextBox 20"/>
          <p:cNvSpPr txBox="1"/>
          <p:nvPr/>
        </p:nvSpPr>
        <p:spPr>
          <a:xfrm>
            <a:off x="6492240" y="2880360"/>
            <a:ext cx="4937760" cy="274320"/>
          </a:xfrm>
          <a:prstGeom prst="rect">
            <a:avLst/>
          </a:prstGeom>
          <a:noFill/>
        </p:spPr>
        <p:txBody>
          <a:bodyPr wrap="square" anchor="t"/>
          <a:lstStyle/>
          <a:p>
            <a:pPr algn="l"/>
            <a:r>
              <a:rPr sz="1300" b="1" i="0">
                <a:solidFill>
                  <a:srgbClr val="0B1F33"/>
                </a:solidFill>
                <a:latin typeface="Segoe UI"/>
              </a:rPr>
              <a:t>Job Posting Optimization</a:t>
            </a:r>
          </a:p>
        </p:txBody>
      </p:sp>
      <p:sp>
        <p:nvSpPr>
          <p:cNvPr id="22" name="TextBox 21"/>
          <p:cNvSpPr txBox="1"/>
          <p:nvPr/>
        </p:nvSpPr>
        <p:spPr>
          <a:xfrm>
            <a:off x="6492240" y="3136391"/>
            <a:ext cx="4937760" cy="411480"/>
          </a:xfrm>
          <a:prstGeom prst="rect">
            <a:avLst/>
          </a:prstGeom>
          <a:noFill/>
        </p:spPr>
        <p:txBody>
          <a:bodyPr wrap="square" anchor="t"/>
          <a:lstStyle/>
          <a:p>
            <a:pPr algn="l"/>
            <a:r>
              <a:rPr sz="1100" b="0" i="0">
                <a:solidFill>
                  <a:srgbClr val="2C3A4B"/>
                </a:solidFill>
                <a:latin typeface="Segoe UI"/>
              </a:rPr>
              <a:t>AI-assisted role definition and sourcing precision.</a:t>
            </a:r>
          </a:p>
        </p:txBody>
      </p:sp>
      <p:sp>
        <p:nvSpPr>
          <p:cNvPr id="23" name="TextBox 22"/>
          <p:cNvSpPr txBox="1"/>
          <p:nvPr/>
        </p:nvSpPr>
        <p:spPr>
          <a:xfrm>
            <a:off x="6492240" y="3794760"/>
            <a:ext cx="4937760" cy="274320"/>
          </a:xfrm>
          <a:prstGeom prst="rect">
            <a:avLst/>
          </a:prstGeom>
          <a:noFill/>
        </p:spPr>
        <p:txBody>
          <a:bodyPr wrap="square" anchor="t"/>
          <a:lstStyle/>
          <a:p>
            <a:pPr algn="l"/>
            <a:r>
              <a:rPr sz="1300" b="1" i="0">
                <a:solidFill>
                  <a:srgbClr val="0B1F33"/>
                </a:solidFill>
                <a:latin typeface="Segoe UI"/>
              </a:rPr>
              <a:t>Talent Evaluation</a:t>
            </a:r>
          </a:p>
        </p:txBody>
      </p:sp>
      <p:sp>
        <p:nvSpPr>
          <p:cNvPr id="24" name="TextBox 23"/>
          <p:cNvSpPr txBox="1"/>
          <p:nvPr/>
        </p:nvSpPr>
        <p:spPr>
          <a:xfrm>
            <a:off x="6492240" y="4050792"/>
            <a:ext cx="4937760" cy="411480"/>
          </a:xfrm>
          <a:prstGeom prst="rect">
            <a:avLst/>
          </a:prstGeom>
          <a:noFill/>
        </p:spPr>
        <p:txBody>
          <a:bodyPr wrap="square" anchor="t"/>
          <a:lstStyle/>
          <a:p>
            <a:pPr algn="l"/>
            <a:r>
              <a:rPr sz="1100" b="0" i="0">
                <a:solidFill>
                  <a:srgbClr val="2C3A4B"/>
                </a:solidFill>
                <a:latin typeface="Segoe UI"/>
              </a:rPr>
              <a:t>Structured assessment and interview analytics for confident decisions.</a:t>
            </a:r>
          </a:p>
        </p:txBody>
      </p:sp>
      <p:sp>
        <p:nvSpPr>
          <p:cNvPr id="25" name="Rounded Rectangle 24"/>
          <p:cNvSpPr/>
          <p:nvPr/>
        </p:nvSpPr>
        <p:spPr>
          <a:xfrm>
            <a:off x="502920" y="5532120"/>
            <a:ext cx="11201400" cy="50292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23560"/>
            <a:ext cx="10789920" cy="365760"/>
          </a:xfrm>
          <a:prstGeom prst="rect">
            <a:avLst/>
          </a:prstGeom>
          <a:noFill/>
        </p:spPr>
        <p:txBody>
          <a:bodyPr wrap="square" anchor="t"/>
          <a:lstStyle/>
          <a:p>
            <a:pPr algn="l"/>
            <a:r>
              <a:rPr sz="1100" b="1" i="0">
                <a:solidFill>
                  <a:srgbClr val="07524C"/>
                </a:solidFill>
                <a:latin typeface="Segoe UI"/>
              </a:rPr>
              <a:t>The flywheel: candidate outcomes generate proprietary data that sharpens matching and screening for employers — a compounding advantage on both sides of the market.</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TECHNOLOGY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Enterprise-Grade AI, Built with Alibaba Cloud</a:t>
            </a:r>
          </a:p>
        </p:txBody>
      </p:sp>
      <p:sp>
        <p:nvSpPr>
          <p:cNvPr id="5" name="Rounded Rectangle 4"/>
          <p:cNvSpPr/>
          <p:nvPr/>
        </p:nvSpPr>
        <p:spPr>
          <a:xfrm>
            <a:off x="502920" y="1234440"/>
            <a:ext cx="6766560" cy="23317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6400800" cy="320040"/>
          </a:xfrm>
          <a:prstGeom prst="rect">
            <a:avLst/>
          </a:prstGeom>
          <a:noFill/>
        </p:spPr>
        <p:txBody>
          <a:bodyPr wrap="square" anchor="t"/>
          <a:lstStyle/>
          <a:p>
            <a:pPr algn="l"/>
            <a:r>
              <a:rPr sz="1400" b="1" i="0">
                <a:solidFill>
                  <a:srgbClr val="0A6B63"/>
                </a:solidFill>
                <a:latin typeface="Segoe UI"/>
              </a:rPr>
              <a:t>Alibaba Cloud AI partnership — July 2025</a:t>
            </a:r>
          </a:p>
        </p:txBody>
      </p:sp>
      <p:sp>
        <p:nvSpPr>
          <p:cNvPr id="7" name="TextBox 6"/>
          <p:cNvSpPr txBox="1"/>
          <p:nvPr/>
        </p:nvSpPr>
        <p:spPr>
          <a:xfrm>
            <a:off x="731520" y="1783080"/>
            <a:ext cx="6309360" cy="1005840"/>
          </a:xfrm>
          <a:prstGeom prst="rect">
            <a:avLst/>
          </a:prstGeom>
          <a:noFill/>
        </p:spPr>
        <p:txBody>
          <a:bodyPr wrap="square" anchor="t"/>
          <a:lstStyle/>
          <a:p>
            <a:pPr algn="l"/>
            <a:r>
              <a:rPr sz="1200" b="0" i="0">
                <a:solidFill>
                  <a:srgbClr val="2C3A4B"/>
                </a:solidFill>
                <a:latin typeface="Segoe UI"/>
              </a:rPr>
              <a:t>A deep collaboration integrating frontier AI capability across the platform — the Tongyi large language model, natural-language processing, LLM inference, intelligent recommendation, and semantic search — on enterprise-grade compute and security infrastructure.</a:t>
            </a:r>
          </a:p>
        </p:txBody>
      </p:sp>
      <p:sp>
        <p:nvSpPr>
          <p:cNvPr id="8" name="TextBox 7"/>
          <p:cNvSpPr txBox="1"/>
          <p:nvPr/>
        </p:nvSpPr>
        <p:spPr>
          <a:xfrm>
            <a:off x="731520" y="2880360"/>
            <a:ext cx="6309360" cy="256032"/>
          </a:xfrm>
          <a:prstGeom prst="rect">
            <a:avLst/>
          </a:prstGeom>
          <a:noFill/>
        </p:spPr>
        <p:txBody>
          <a:bodyPr wrap="square" anchor="t"/>
          <a:lstStyle/>
          <a:p>
            <a:pPr algn="l"/>
            <a:r>
              <a:rPr sz="1100" b="0" i="0">
                <a:solidFill>
                  <a:srgbClr val="14283C"/>
                </a:solidFill>
                <a:latin typeface="Segoe UI"/>
              </a:rPr>
              <a:t>▸  AI Career Advisor delivering personalized career-path recommendations</a:t>
            </a:r>
          </a:p>
        </p:txBody>
      </p:sp>
      <p:sp>
        <p:nvSpPr>
          <p:cNvPr id="9" name="TextBox 8"/>
          <p:cNvSpPr txBox="1"/>
          <p:nvPr/>
        </p:nvSpPr>
        <p:spPr>
          <a:xfrm>
            <a:off x="731520" y="3136391"/>
            <a:ext cx="6309360" cy="256032"/>
          </a:xfrm>
          <a:prstGeom prst="rect">
            <a:avLst/>
          </a:prstGeom>
          <a:noFill/>
        </p:spPr>
        <p:txBody>
          <a:bodyPr wrap="square" anchor="t"/>
          <a:lstStyle/>
          <a:p>
            <a:pPr algn="l"/>
            <a:r>
              <a:rPr sz="1100" b="0" i="0">
                <a:solidFill>
                  <a:srgbClr val="14283C"/>
                </a:solidFill>
                <a:latin typeface="Segoe UI"/>
              </a:rPr>
              <a:t>▸  Intelligent matching and screening for precise candidate–role fit</a:t>
            </a:r>
          </a:p>
        </p:txBody>
      </p:sp>
      <p:sp>
        <p:nvSpPr>
          <p:cNvPr id="10" name="TextBox 9"/>
          <p:cNvSpPr txBox="1"/>
          <p:nvPr/>
        </p:nvSpPr>
        <p:spPr>
          <a:xfrm>
            <a:off x="731520" y="3392424"/>
            <a:ext cx="6309360" cy="256032"/>
          </a:xfrm>
          <a:prstGeom prst="rect">
            <a:avLst/>
          </a:prstGeom>
          <a:noFill/>
        </p:spPr>
        <p:txBody>
          <a:bodyPr wrap="square" anchor="t"/>
          <a:lstStyle/>
          <a:p>
            <a:pPr algn="l"/>
            <a:r>
              <a:rPr sz="1100" b="0" i="0">
                <a:solidFill>
                  <a:srgbClr val="14283C"/>
                </a:solidFill>
                <a:latin typeface="Segoe UI"/>
              </a:rPr>
              <a:t>▸  Enterprise data-security framework protecting user privacy</a:t>
            </a:r>
          </a:p>
        </p:txBody>
      </p:sp>
      <p:sp>
        <p:nvSpPr>
          <p:cNvPr id="11" name="Rounded Rectangle 10"/>
          <p:cNvSpPr/>
          <p:nvPr/>
        </p:nvSpPr>
        <p:spPr>
          <a:xfrm>
            <a:off x="7452360" y="1234440"/>
            <a:ext cx="4251960" cy="23317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417320"/>
            <a:ext cx="3840480" cy="320040"/>
          </a:xfrm>
          <a:prstGeom prst="rect">
            <a:avLst/>
          </a:prstGeom>
          <a:noFill/>
        </p:spPr>
        <p:txBody>
          <a:bodyPr wrap="square" anchor="t"/>
          <a:lstStyle/>
          <a:p>
            <a:pPr algn="l"/>
            <a:r>
              <a:rPr sz="1400" b="1" i="0">
                <a:solidFill>
                  <a:srgbClr val="FFFFFF"/>
                </a:solidFill>
                <a:latin typeface="Georgia"/>
              </a:rPr>
              <a:t>Proprietary data moat</a:t>
            </a:r>
          </a:p>
        </p:txBody>
      </p:sp>
      <p:sp>
        <p:nvSpPr>
          <p:cNvPr id="13" name="TextBox 12"/>
          <p:cNvSpPr txBox="1"/>
          <p:nvPr/>
        </p:nvSpPr>
        <p:spPr>
          <a:xfrm>
            <a:off x="7680960" y="1920240"/>
            <a:ext cx="3840480" cy="1371600"/>
          </a:xfrm>
          <a:prstGeom prst="rect">
            <a:avLst/>
          </a:prstGeom>
          <a:noFill/>
        </p:spPr>
        <p:txBody>
          <a:bodyPr wrap="square" anchor="t"/>
          <a:lstStyle/>
          <a:p>
            <a:pPr algn="l"/>
            <a:r>
              <a:rPr sz="1200" b="0" i="0">
                <a:solidFill>
                  <a:srgbClr val="C5D5E0"/>
                </a:solidFill>
                <a:latin typeface="Segoe UI"/>
              </a:rPr>
              <a:t>A decade of accumulated interview questions, outcome-labeled placement data, and mentor feedback loops — assets that generic models and job boards cannot readily replicate.</a:t>
            </a:r>
          </a:p>
        </p:txBody>
      </p:sp>
      <p:sp>
        <p:nvSpPr>
          <p:cNvPr id="14" name="TextBox 13"/>
          <p:cNvSpPr txBox="1"/>
          <p:nvPr/>
        </p:nvSpPr>
        <p:spPr>
          <a:xfrm>
            <a:off x="502920" y="3703320"/>
            <a:ext cx="5486400" cy="274320"/>
          </a:xfrm>
          <a:prstGeom prst="rect">
            <a:avLst/>
          </a:prstGeom>
          <a:noFill/>
        </p:spPr>
        <p:txBody>
          <a:bodyPr wrap="square" anchor="t"/>
          <a:lstStyle/>
          <a:p>
            <a:pPr algn="l"/>
            <a:r>
              <a:rPr sz="1200" b="1" i="0">
                <a:solidFill>
                  <a:srgbClr val="0B1F33"/>
                </a:solidFill>
                <a:latin typeface="Segoe UI"/>
              </a:rPr>
              <a:t>Platform architecture (simplified)</a:t>
            </a:r>
          </a:p>
        </p:txBody>
      </p:sp>
      <p:sp>
        <p:nvSpPr>
          <p:cNvPr id="15" name="Rounded Rectangle 14"/>
          <p:cNvSpPr/>
          <p:nvPr/>
        </p:nvSpPr>
        <p:spPr>
          <a:xfrm>
            <a:off x="502920" y="379476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794760"/>
            <a:ext cx="109728" cy="64008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867912"/>
            <a:ext cx="3200400" cy="256032"/>
          </a:xfrm>
          <a:prstGeom prst="rect">
            <a:avLst/>
          </a:prstGeom>
          <a:noFill/>
        </p:spPr>
        <p:txBody>
          <a:bodyPr wrap="square" anchor="t"/>
          <a:lstStyle/>
          <a:p>
            <a:pPr algn="l"/>
            <a:r>
              <a:rPr sz="1100" b="1" i="0">
                <a:solidFill>
                  <a:srgbClr val="0A6B63"/>
                </a:solidFill>
                <a:latin typeface="Segoe UI"/>
              </a:rPr>
              <a:t>APPLICATIONS</a:t>
            </a:r>
          </a:p>
        </p:txBody>
      </p:sp>
      <p:sp>
        <p:nvSpPr>
          <p:cNvPr id="18" name="TextBox 17"/>
          <p:cNvSpPr txBox="1"/>
          <p:nvPr/>
        </p:nvSpPr>
        <p:spPr>
          <a:xfrm>
            <a:off x="4114800" y="3959352"/>
            <a:ext cx="7315200" cy="320040"/>
          </a:xfrm>
          <a:prstGeom prst="rect">
            <a:avLst/>
          </a:prstGeom>
          <a:noFill/>
        </p:spPr>
        <p:txBody>
          <a:bodyPr wrap="square" anchor="t"/>
          <a:lstStyle/>
          <a:p>
            <a:pPr algn="l"/>
            <a:r>
              <a:rPr sz="1200" b="0" i="0">
                <a:solidFill>
                  <a:srgbClr val="2C3A4B"/>
                </a:solidFill>
                <a:latin typeface="Segoe UI"/>
              </a:rPr>
              <a:t>Mock Interviews · Career Advisor · Matching · Screening</a:t>
            </a:r>
          </a:p>
        </p:txBody>
      </p:sp>
      <p:sp>
        <p:nvSpPr>
          <p:cNvPr id="19" name="Rounded Rectangle 18"/>
          <p:cNvSpPr/>
          <p:nvPr/>
        </p:nvSpPr>
        <p:spPr>
          <a:xfrm>
            <a:off x="502920" y="452628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526280"/>
            <a:ext cx="109728" cy="64008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599432"/>
            <a:ext cx="3200400" cy="256032"/>
          </a:xfrm>
          <a:prstGeom prst="rect">
            <a:avLst/>
          </a:prstGeom>
          <a:noFill/>
        </p:spPr>
        <p:txBody>
          <a:bodyPr wrap="square" anchor="t"/>
          <a:lstStyle/>
          <a:p>
            <a:pPr algn="l"/>
            <a:r>
              <a:rPr sz="1100" b="1" i="0">
                <a:solidFill>
                  <a:srgbClr val="2F5D8A"/>
                </a:solidFill>
                <a:latin typeface="Segoe UI"/>
              </a:rPr>
              <a:t>INTELLIGENCE</a:t>
            </a:r>
          </a:p>
        </p:txBody>
      </p:sp>
      <p:sp>
        <p:nvSpPr>
          <p:cNvPr id="22" name="TextBox 21"/>
          <p:cNvSpPr txBox="1"/>
          <p:nvPr/>
        </p:nvSpPr>
        <p:spPr>
          <a:xfrm>
            <a:off x="4114800" y="4690872"/>
            <a:ext cx="7315200" cy="320040"/>
          </a:xfrm>
          <a:prstGeom prst="rect">
            <a:avLst/>
          </a:prstGeom>
          <a:noFill/>
        </p:spPr>
        <p:txBody>
          <a:bodyPr wrap="square" anchor="t"/>
          <a:lstStyle/>
          <a:p>
            <a:pPr algn="l"/>
            <a:r>
              <a:rPr sz="1200" b="0" i="0">
                <a:solidFill>
                  <a:srgbClr val="2C3A4B"/>
                </a:solidFill>
                <a:latin typeface="Segoe UI"/>
              </a:rPr>
              <a:t>Tongyi LLM · NLP · Semantic Search · Recommendation</a:t>
            </a:r>
          </a:p>
        </p:txBody>
      </p:sp>
      <p:sp>
        <p:nvSpPr>
          <p:cNvPr id="23" name="Rounded Rectangle 22"/>
          <p:cNvSpPr/>
          <p:nvPr/>
        </p:nvSpPr>
        <p:spPr>
          <a:xfrm>
            <a:off x="502920" y="525780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257800"/>
            <a:ext cx="109728" cy="64008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330952"/>
            <a:ext cx="3200400" cy="256032"/>
          </a:xfrm>
          <a:prstGeom prst="rect">
            <a:avLst/>
          </a:prstGeom>
          <a:noFill/>
        </p:spPr>
        <p:txBody>
          <a:bodyPr wrap="square" anchor="t"/>
          <a:lstStyle/>
          <a:p>
            <a:pPr algn="l"/>
            <a:r>
              <a:rPr sz="1100" b="1" i="0">
                <a:solidFill>
                  <a:srgbClr val="8A6D3B"/>
                </a:solidFill>
                <a:latin typeface="Segoe UI"/>
              </a:rPr>
              <a:t>DATA &amp; INFRASTRUCTURE</a:t>
            </a:r>
          </a:p>
        </p:txBody>
      </p:sp>
      <p:sp>
        <p:nvSpPr>
          <p:cNvPr id="26" name="TextBox 25"/>
          <p:cNvSpPr txBox="1"/>
          <p:nvPr/>
        </p:nvSpPr>
        <p:spPr>
          <a:xfrm>
            <a:off x="4114800" y="5422392"/>
            <a:ext cx="7315200" cy="320040"/>
          </a:xfrm>
          <a:prstGeom prst="rect">
            <a:avLst/>
          </a:prstGeom>
          <a:noFill/>
        </p:spPr>
        <p:txBody>
          <a:bodyPr wrap="square" anchor="t"/>
          <a:lstStyle/>
          <a:p>
            <a:pPr algn="l"/>
            <a:r>
              <a:rPr sz="1200" b="0" i="0">
                <a:solidFill>
                  <a:srgbClr val="2C3A4B"/>
                </a:solidFill>
                <a:latin typeface="Segoe UI"/>
              </a:rPr>
              <a:t>Proprietary question corpus · Outcome data · Alibaba Cloud</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BUSINESS MODEL</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Diversified, Outcome-Aligned Revenue</a:t>
            </a:r>
          </a:p>
        </p:txBody>
      </p:sp>
      <p:sp>
        <p:nvSpPr>
          <p:cNvPr id="5" name="Rounded Rectangle 4"/>
          <p:cNvSpPr/>
          <p:nvPr/>
        </p:nvSpPr>
        <p:spPr>
          <a:xfrm>
            <a:off x="50292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246120" cy="274320"/>
          </a:xfrm>
          <a:prstGeom prst="rect">
            <a:avLst/>
          </a:prstGeom>
          <a:noFill/>
        </p:spPr>
        <p:txBody>
          <a:bodyPr wrap="square" anchor="t"/>
          <a:lstStyle/>
          <a:p>
            <a:pPr algn="l"/>
            <a:r>
              <a:rPr sz="1000" b="1" i="0">
                <a:solidFill>
                  <a:srgbClr val="0A6B63"/>
                </a:solidFill>
                <a:latin typeface="Segoe UI"/>
              </a:rPr>
              <a:t>01 · CONSUMER PLATFORM</a:t>
            </a:r>
          </a:p>
        </p:txBody>
      </p:sp>
      <p:sp>
        <p:nvSpPr>
          <p:cNvPr id="8" name="TextBox 7"/>
          <p:cNvSpPr txBox="1"/>
          <p:nvPr/>
        </p:nvSpPr>
        <p:spPr>
          <a:xfrm>
            <a:off x="685800" y="1783080"/>
            <a:ext cx="3246120" cy="365760"/>
          </a:xfrm>
          <a:prstGeom prst="rect">
            <a:avLst/>
          </a:prstGeom>
          <a:noFill/>
        </p:spPr>
        <p:txBody>
          <a:bodyPr wrap="square" anchor="t"/>
          <a:lstStyle/>
          <a:p>
            <a:pPr algn="l"/>
            <a:r>
              <a:rPr sz="1600" b="1" i="0">
                <a:solidFill>
                  <a:srgbClr val="0B1F33"/>
                </a:solidFill>
                <a:latin typeface="Georgia"/>
              </a:rPr>
              <a:t>Subscriptions &amp; Prep</a:t>
            </a:r>
          </a:p>
        </p:txBody>
      </p:sp>
      <p:sp>
        <p:nvSpPr>
          <p:cNvPr id="9" name="TextBox 8"/>
          <p:cNvSpPr txBox="1"/>
          <p:nvPr/>
        </p:nvSpPr>
        <p:spPr>
          <a:xfrm>
            <a:off x="685800" y="2240280"/>
            <a:ext cx="3246120" cy="1005840"/>
          </a:xfrm>
          <a:prstGeom prst="rect">
            <a:avLst/>
          </a:prstGeom>
          <a:noFill/>
        </p:spPr>
        <p:txBody>
          <a:bodyPr wrap="square" anchor="t"/>
          <a:lstStyle/>
          <a:p>
            <a:pPr algn="l"/>
            <a:r>
              <a:rPr sz="1100" b="0" i="0">
                <a:solidFill>
                  <a:srgbClr val="2C3A4B"/>
                </a:solidFill>
                <a:latin typeface="Segoe UI"/>
              </a:rPr>
              <a:t>Self-serve AI interview practice, question banks, and assessments sold as subscriptions and credit packs.</a:t>
            </a:r>
          </a:p>
        </p:txBody>
      </p:sp>
      <p:sp>
        <p:nvSpPr>
          <p:cNvPr id="10" name="TextBox 9"/>
          <p:cNvSpPr txBox="1"/>
          <p:nvPr/>
        </p:nvSpPr>
        <p:spPr>
          <a:xfrm>
            <a:off x="685800" y="3383280"/>
            <a:ext cx="3246120" cy="320040"/>
          </a:xfrm>
          <a:prstGeom prst="rect">
            <a:avLst/>
          </a:prstGeom>
          <a:noFill/>
        </p:spPr>
        <p:txBody>
          <a:bodyPr wrap="square" anchor="t"/>
          <a:lstStyle/>
          <a:p>
            <a:pPr algn="l"/>
            <a:r>
              <a:rPr sz="1000" b="1" i="0">
                <a:solidFill>
                  <a:srgbClr val="5E6E80"/>
                </a:solidFill>
                <a:latin typeface="Segoe UI"/>
              </a:rPr>
              <a:t>Recurring · High margin · Scales globally</a:t>
            </a:r>
          </a:p>
        </p:txBody>
      </p:sp>
      <p:sp>
        <p:nvSpPr>
          <p:cNvPr id="11" name="Rounded Rectangle 10"/>
          <p:cNvSpPr/>
          <p:nvPr/>
        </p:nvSpPr>
        <p:spPr>
          <a:xfrm>
            <a:off x="429768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61188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463040"/>
            <a:ext cx="3246120" cy="274320"/>
          </a:xfrm>
          <a:prstGeom prst="rect">
            <a:avLst/>
          </a:prstGeom>
          <a:noFill/>
        </p:spPr>
        <p:txBody>
          <a:bodyPr wrap="square" anchor="t"/>
          <a:lstStyle/>
          <a:p>
            <a:pPr algn="l"/>
            <a:r>
              <a:rPr sz="1000" b="1" i="0">
                <a:solidFill>
                  <a:srgbClr val="2F5D8A"/>
                </a:solidFill>
                <a:latin typeface="Segoe UI"/>
              </a:rPr>
              <a:t>02 · PREMIUM SERVICES</a:t>
            </a:r>
          </a:p>
        </p:txBody>
      </p:sp>
      <p:sp>
        <p:nvSpPr>
          <p:cNvPr id="14" name="TextBox 13"/>
          <p:cNvSpPr txBox="1"/>
          <p:nvPr/>
        </p:nvSpPr>
        <p:spPr>
          <a:xfrm>
            <a:off x="4480560" y="1783080"/>
            <a:ext cx="3246120" cy="365760"/>
          </a:xfrm>
          <a:prstGeom prst="rect">
            <a:avLst/>
          </a:prstGeom>
          <a:noFill/>
        </p:spPr>
        <p:txBody>
          <a:bodyPr wrap="square" anchor="t"/>
          <a:lstStyle/>
          <a:p>
            <a:pPr algn="l"/>
            <a:r>
              <a:rPr sz="1600" b="1" i="0">
                <a:solidFill>
                  <a:srgbClr val="0B1F33"/>
                </a:solidFill>
                <a:latin typeface="Georgia"/>
              </a:rPr>
              <a:t>Coaching &amp; Placement</a:t>
            </a:r>
          </a:p>
        </p:txBody>
      </p:sp>
      <p:sp>
        <p:nvSpPr>
          <p:cNvPr id="15" name="TextBox 14"/>
          <p:cNvSpPr txBox="1"/>
          <p:nvPr/>
        </p:nvSpPr>
        <p:spPr>
          <a:xfrm>
            <a:off x="4480560" y="2240280"/>
            <a:ext cx="3246120" cy="1005840"/>
          </a:xfrm>
          <a:prstGeom prst="rect">
            <a:avLst/>
          </a:prstGeom>
          <a:noFill/>
        </p:spPr>
        <p:txBody>
          <a:bodyPr wrap="square" anchor="t"/>
          <a:lstStyle/>
          <a:p>
            <a:pPr algn="l"/>
            <a:r>
              <a:rPr sz="1100" b="0" i="0">
                <a:solidFill>
                  <a:srgbClr val="2C3A4B"/>
                </a:solidFill>
                <a:latin typeface="Segoe UI"/>
              </a:rPr>
              <a:t>Mentor-led programs and outcome-based placement offerings — the Company’s proven, high-ARPU franchise since 2016.</a:t>
            </a:r>
          </a:p>
        </p:txBody>
      </p:sp>
      <p:sp>
        <p:nvSpPr>
          <p:cNvPr id="16" name="TextBox 15"/>
          <p:cNvSpPr txBox="1"/>
          <p:nvPr/>
        </p:nvSpPr>
        <p:spPr>
          <a:xfrm>
            <a:off x="4480560" y="3383280"/>
            <a:ext cx="3246120" cy="320040"/>
          </a:xfrm>
          <a:prstGeom prst="rect">
            <a:avLst/>
          </a:prstGeom>
          <a:noFill/>
        </p:spPr>
        <p:txBody>
          <a:bodyPr wrap="square" anchor="t"/>
          <a:lstStyle/>
          <a:p>
            <a:pPr algn="l"/>
            <a:r>
              <a:rPr sz="1000" b="1" i="0">
                <a:solidFill>
                  <a:srgbClr val="5E6E80"/>
                </a:solidFill>
                <a:latin typeface="Segoe UI"/>
              </a:rPr>
              <a:t>High ARPU · Proven demand · Cash generative</a:t>
            </a:r>
          </a:p>
        </p:txBody>
      </p:sp>
      <p:sp>
        <p:nvSpPr>
          <p:cNvPr id="17" name="Rounded Rectangle 16"/>
          <p:cNvSpPr/>
          <p:nvPr/>
        </p:nvSpPr>
        <p:spPr>
          <a:xfrm>
            <a:off x="809244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1234440"/>
            <a:ext cx="361188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1463040"/>
            <a:ext cx="3246120" cy="274320"/>
          </a:xfrm>
          <a:prstGeom prst="rect">
            <a:avLst/>
          </a:prstGeom>
          <a:noFill/>
        </p:spPr>
        <p:txBody>
          <a:bodyPr wrap="square" anchor="t"/>
          <a:lstStyle/>
          <a:p>
            <a:pPr algn="l"/>
            <a:r>
              <a:rPr sz="1000" b="1" i="0">
                <a:solidFill>
                  <a:srgbClr val="8A6D3B"/>
                </a:solidFill>
                <a:latin typeface="Segoe UI"/>
              </a:rPr>
              <a:t>03 · ENTERPRISE &amp; INSTITUTIONS</a:t>
            </a:r>
          </a:p>
        </p:txBody>
      </p:sp>
      <p:sp>
        <p:nvSpPr>
          <p:cNvPr id="20" name="TextBox 19"/>
          <p:cNvSpPr txBox="1"/>
          <p:nvPr/>
        </p:nvSpPr>
        <p:spPr>
          <a:xfrm>
            <a:off x="8275320" y="1783080"/>
            <a:ext cx="3246120" cy="365760"/>
          </a:xfrm>
          <a:prstGeom prst="rect">
            <a:avLst/>
          </a:prstGeom>
          <a:noFill/>
        </p:spPr>
        <p:txBody>
          <a:bodyPr wrap="square" anchor="t"/>
          <a:lstStyle/>
          <a:p>
            <a:pPr algn="l"/>
            <a:r>
              <a:rPr sz="1600" b="1" i="0">
                <a:solidFill>
                  <a:srgbClr val="0B1F33"/>
                </a:solidFill>
                <a:latin typeface="Georgia"/>
              </a:rPr>
              <a:t>Employer SaaS</a:t>
            </a:r>
          </a:p>
        </p:txBody>
      </p:sp>
      <p:sp>
        <p:nvSpPr>
          <p:cNvPr id="21" name="TextBox 20"/>
          <p:cNvSpPr txBox="1"/>
          <p:nvPr/>
        </p:nvSpPr>
        <p:spPr>
          <a:xfrm>
            <a:off x="8275320" y="2240280"/>
            <a:ext cx="3246120" cy="1005840"/>
          </a:xfrm>
          <a:prstGeom prst="rect">
            <a:avLst/>
          </a:prstGeom>
          <a:noFill/>
        </p:spPr>
        <p:txBody>
          <a:bodyPr wrap="square" anchor="t"/>
          <a:lstStyle/>
          <a:p>
            <a:pPr algn="l"/>
            <a:r>
              <a:rPr sz="1100" b="0" i="0">
                <a:solidFill>
                  <a:srgbClr val="2C3A4B"/>
                </a:solidFill>
                <a:latin typeface="Segoe UI"/>
              </a:rPr>
              <a:t>AI screening, talent evaluation, and posting optimization for employers; partnerships with universities and institutions.</a:t>
            </a:r>
          </a:p>
        </p:txBody>
      </p:sp>
      <p:sp>
        <p:nvSpPr>
          <p:cNvPr id="22" name="TextBox 21"/>
          <p:cNvSpPr txBox="1"/>
          <p:nvPr/>
        </p:nvSpPr>
        <p:spPr>
          <a:xfrm>
            <a:off x="8275320" y="3383280"/>
            <a:ext cx="3246120" cy="320040"/>
          </a:xfrm>
          <a:prstGeom prst="rect">
            <a:avLst/>
          </a:prstGeom>
          <a:noFill/>
        </p:spPr>
        <p:txBody>
          <a:bodyPr wrap="square" anchor="t"/>
          <a:lstStyle/>
          <a:p>
            <a:pPr algn="l"/>
            <a:r>
              <a:rPr sz="1000" b="1" i="0">
                <a:solidFill>
                  <a:srgbClr val="5E6E80"/>
                </a:solidFill>
                <a:latin typeface="Segoe UI"/>
              </a:rPr>
              <a:t>B2B · Land-and-expand · Data flywheel</a:t>
            </a:r>
          </a:p>
        </p:txBody>
      </p:sp>
      <p:sp>
        <p:nvSpPr>
          <p:cNvPr id="23" name="Rounded Rectangle 22"/>
          <p:cNvSpPr/>
          <p:nvPr/>
        </p:nvSpPr>
        <p:spPr>
          <a:xfrm>
            <a:off x="502920" y="4069080"/>
            <a:ext cx="11201400" cy="19659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160520"/>
            <a:ext cx="4572000" cy="274320"/>
          </a:xfrm>
          <a:prstGeom prst="rect">
            <a:avLst/>
          </a:prstGeom>
          <a:noFill/>
        </p:spPr>
        <p:txBody>
          <a:bodyPr wrap="square" anchor="t"/>
          <a:lstStyle/>
          <a:p>
            <a:pPr algn="l"/>
            <a:r>
              <a:rPr sz="1200" b="1" i="0">
                <a:solidFill>
                  <a:srgbClr val="0B1F33"/>
                </a:solidFill>
                <a:latin typeface="Segoe UI"/>
              </a:rPr>
              <a:t>Illustrative revenue mix evolution (%)</a:t>
            </a:r>
          </a:p>
        </p:txBody>
      </p:sp>
      <p:graphicFrame>
        <p:nvGraphicFramePr>
          <p:cNvPr id="25" name="Chart 24"/>
          <p:cNvGraphicFramePr>
            <a:graphicFrameLocks noGrp="1"/>
          </p:cNvGraphicFramePr>
          <p:nvPr/>
        </p:nvGraphicFramePr>
        <p:xfrm>
          <a:off x="640080" y="4389120"/>
          <a:ext cx="7498079" cy="1554480"/>
        </p:xfrm>
        <a:graphic>
          <a:graphicData uri="http://schemas.openxmlformats.org/drawingml/2006/chart">
            <c:chart xmlns:c="http://schemas.openxmlformats.org/drawingml/2006/chart" r:id="rId2"/>
          </a:graphicData>
        </a:graphic>
      </p:graphicFrame>
      <p:sp>
        <p:nvSpPr>
          <p:cNvPr id="26" name="TextBox 25"/>
          <p:cNvSpPr txBox="1"/>
          <p:nvPr/>
        </p:nvSpPr>
        <p:spPr>
          <a:xfrm>
            <a:off x="8321040" y="4709160"/>
            <a:ext cx="3108960" cy="1097280"/>
          </a:xfrm>
          <a:prstGeom prst="rect">
            <a:avLst/>
          </a:prstGeom>
          <a:noFill/>
        </p:spPr>
        <p:txBody>
          <a:bodyPr wrap="square" anchor="t"/>
          <a:lstStyle/>
          <a:p>
            <a:pPr algn="l">
              <a:spcAft>
                <a:spcPts val="600"/>
              </a:spcAft>
            </a:pPr>
            <a:r>
              <a:rPr sz="1200" b="1" i="0">
                <a:solidFill>
                  <a:srgbClr val="0B1F33"/>
                </a:solidFill>
                <a:latin typeface="Segoe UI"/>
              </a:rPr>
              <a:t>Model evolution</a:t>
            </a:r>
          </a:p>
          <a:p>
            <a:pPr algn="l"/>
            <a:r>
              <a:rPr sz="1100" b="0" i="0">
                <a:solidFill>
                  <a:srgbClr val="2C3A4B"/>
                </a:solidFill>
                <a:latin typeface="Segoe UI"/>
              </a:rPr>
              <a:t>Services-led today → blended by 2027 → software-led by 2029, expanding gross margin as the platform scales.</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TRACTION</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Real Business, Not a Concept</a:t>
            </a:r>
          </a:p>
        </p:txBody>
      </p:sp>
      <p:sp>
        <p:nvSpPr>
          <p:cNvPr id="5" name="Rounded Rectangle 4"/>
          <p:cNvSpPr/>
          <p:nvPr/>
        </p:nvSpPr>
        <p:spPr>
          <a:xfrm>
            <a:off x="50292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2423160" cy="502920"/>
          </a:xfrm>
          <a:prstGeom prst="rect">
            <a:avLst/>
          </a:prstGeom>
          <a:noFill/>
        </p:spPr>
        <p:txBody>
          <a:bodyPr wrap="square" anchor="t"/>
          <a:lstStyle/>
          <a:p>
            <a:pPr algn="l"/>
            <a:r>
              <a:rPr sz="2600" b="1" i="0">
                <a:solidFill>
                  <a:srgbClr val="0B1F33"/>
                </a:solidFill>
                <a:latin typeface="Georgia"/>
              </a:rPr>
              <a:t>10 yrs</a:t>
            </a:r>
          </a:p>
        </p:txBody>
      </p:sp>
      <p:sp>
        <p:nvSpPr>
          <p:cNvPr id="7" name="TextBox 6"/>
          <p:cNvSpPr txBox="1"/>
          <p:nvPr/>
        </p:nvSpPr>
        <p:spPr>
          <a:xfrm>
            <a:off x="640080" y="1874519"/>
            <a:ext cx="2423160" cy="320040"/>
          </a:xfrm>
          <a:prstGeom prst="rect">
            <a:avLst/>
          </a:prstGeom>
          <a:noFill/>
        </p:spPr>
        <p:txBody>
          <a:bodyPr wrap="square" anchor="t"/>
          <a:lstStyle/>
          <a:p>
            <a:pPr algn="l"/>
            <a:r>
              <a:rPr sz="900" b="1" i="0">
                <a:solidFill>
                  <a:srgbClr val="5E6E80"/>
                </a:solidFill>
                <a:latin typeface="Segoe UI"/>
              </a:rPr>
              <a:t>OPERATING HISTORY SINCE 2016</a:t>
            </a:r>
          </a:p>
        </p:txBody>
      </p:sp>
      <p:sp>
        <p:nvSpPr>
          <p:cNvPr id="8" name="Rounded Rectangle 7"/>
          <p:cNvSpPr/>
          <p:nvPr/>
        </p:nvSpPr>
        <p:spPr>
          <a:xfrm>
            <a:off x="338328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280160"/>
            <a:ext cx="2423160" cy="502920"/>
          </a:xfrm>
          <a:prstGeom prst="rect">
            <a:avLst/>
          </a:prstGeom>
          <a:noFill/>
        </p:spPr>
        <p:txBody>
          <a:bodyPr wrap="square" anchor="t"/>
          <a:lstStyle/>
          <a:p>
            <a:pPr algn="l"/>
            <a:r>
              <a:rPr sz="2600" b="1" i="0">
                <a:solidFill>
                  <a:srgbClr val="0B1F33"/>
                </a:solidFill>
                <a:latin typeface="Georgia"/>
              </a:rPr>
              <a:t>US$10M+</a:t>
            </a:r>
          </a:p>
        </p:txBody>
      </p:sp>
      <p:sp>
        <p:nvSpPr>
          <p:cNvPr id="10" name="TextBox 9"/>
          <p:cNvSpPr txBox="1"/>
          <p:nvPr/>
        </p:nvSpPr>
        <p:spPr>
          <a:xfrm>
            <a:off x="3520440" y="1874519"/>
            <a:ext cx="2423160" cy="320040"/>
          </a:xfrm>
          <a:prstGeom prst="rect">
            <a:avLst/>
          </a:prstGeom>
          <a:noFill/>
        </p:spPr>
        <p:txBody>
          <a:bodyPr wrap="square" anchor="t"/>
          <a:lstStyle/>
          <a:p>
            <a:pPr algn="l"/>
            <a:r>
              <a:rPr sz="900" b="1" i="0">
                <a:solidFill>
                  <a:srgbClr val="5E6E80"/>
                </a:solidFill>
                <a:latin typeface="Segoe UI"/>
              </a:rPr>
              <a:t>ANNUAL REVENUE (2025, EST.)†</a:t>
            </a:r>
          </a:p>
        </p:txBody>
      </p:sp>
      <p:sp>
        <p:nvSpPr>
          <p:cNvPr id="11" name="Rounded Rectangle 10"/>
          <p:cNvSpPr/>
          <p:nvPr/>
        </p:nvSpPr>
        <p:spPr>
          <a:xfrm>
            <a:off x="626364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80160"/>
            <a:ext cx="2423160" cy="502920"/>
          </a:xfrm>
          <a:prstGeom prst="rect">
            <a:avLst/>
          </a:prstGeom>
          <a:noFill/>
        </p:spPr>
        <p:txBody>
          <a:bodyPr wrap="square" anchor="t"/>
          <a:lstStyle/>
          <a:p>
            <a:pPr algn="l"/>
            <a:r>
              <a:rPr sz="2600" b="1" i="0">
                <a:solidFill>
                  <a:srgbClr val="0B1F33"/>
                </a:solidFill>
                <a:latin typeface="Georgia"/>
              </a:rPr>
              <a:t>≈50</a:t>
            </a:r>
          </a:p>
        </p:txBody>
      </p:sp>
      <p:sp>
        <p:nvSpPr>
          <p:cNvPr id="13" name="TextBox 12"/>
          <p:cNvSpPr txBox="1"/>
          <p:nvPr/>
        </p:nvSpPr>
        <p:spPr>
          <a:xfrm>
            <a:off x="6400800" y="1874519"/>
            <a:ext cx="2423160" cy="320040"/>
          </a:xfrm>
          <a:prstGeom prst="rect">
            <a:avLst/>
          </a:prstGeom>
          <a:noFill/>
        </p:spPr>
        <p:txBody>
          <a:bodyPr wrap="square" anchor="t"/>
          <a:lstStyle/>
          <a:p>
            <a:pPr algn="l"/>
            <a:r>
              <a:rPr sz="900" b="1" i="0">
                <a:solidFill>
                  <a:srgbClr val="5E6E80"/>
                </a:solidFill>
                <a:latin typeface="Segoe UI"/>
              </a:rPr>
              <a:t>PROFESSIONALS WORLDWIDE†</a:t>
            </a:r>
          </a:p>
        </p:txBody>
      </p:sp>
      <p:sp>
        <p:nvSpPr>
          <p:cNvPr id="14" name="Rounded Rectangle 13"/>
          <p:cNvSpPr/>
          <p:nvPr/>
        </p:nvSpPr>
        <p:spPr>
          <a:xfrm>
            <a:off x="914400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81160" y="1280160"/>
            <a:ext cx="2423160" cy="502920"/>
          </a:xfrm>
          <a:prstGeom prst="rect">
            <a:avLst/>
          </a:prstGeom>
          <a:noFill/>
        </p:spPr>
        <p:txBody>
          <a:bodyPr wrap="square" anchor="t"/>
          <a:lstStyle/>
          <a:p>
            <a:pPr algn="l"/>
            <a:r>
              <a:rPr sz="2600" b="1" i="0">
                <a:solidFill>
                  <a:srgbClr val="0B1F33"/>
                </a:solidFill>
                <a:latin typeface="Georgia"/>
              </a:rPr>
              <a:t>8+</a:t>
            </a:r>
          </a:p>
        </p:txBody>
      </p:sp>
      <p:sp>
        <p:nvSpPr>
          <p:cNvPr id="16" name="TextBox 15"/>
          <p:cNvSpPr txBox="1"/>
          <p:nvPr/>
        </p:nvSpPr>
        <p:spPr>
          <a:xfrm>
            <a:off x="9281160" y="1874519"/>
            <a:ext cx="2423160" cy="320040"/>
          </a:xfrm>
          <a:prstGeom prst="rect">
            <a:avLst/>
          </a:prstGeom>
          <a:noFill/>
        </p:spPr>
        <p:txBody>
          <a:bodyPr wrap="square" anchor="t"/>
          <a:lstStyle/>
          <a:p>
            <a:pPr algn="l"/>
            <a:r>
              <a:rPr sz="900" b="1" i="0">
                <a:solidFill>
                  <a:srgbClr val="5E6E80"/>
                </a:solidFill>
                <a:latin typeface="Segoe UI"/>
              </a:rPr>
              <a:t>COUNTRIES OF OPERATION</a:t>
            </a:r>
          </a:p>
        </p:txBody>
      </p:sp>
      <p:sp>
        <p:nvSpPr>
          <p:cNvPr id="17" name="Rounded Rectangle 16"/>
          <p:cNvSpPr/>
          <p:nvPr/>
        </p:nvSpPr>
        <p:spPr>
          <a:xfrm>
            <a:off x="502920" y="2514600"/>
            <a:ext cx="685800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651760"/>
            <a:ext cx="6400800" cy="274320"/>
          </a:xfrm>
          <a:prstGeom prst="rect">
            <a:avLst/>
          </a:prstGeom>
          <a:noFill/>
        </p:spPr>
        <p:txBody>
          <a:bodyPr wrap="square" anchor="t"/>
          <a:lstStyle/>
          <a:p>
            <a:pPr algn="l"/>
            <a:r>
              <a:rPr sz="1300" b="1" i="0">
                <a:solidFill>
                  <a:srgbClr val="0B1F33"/>
                </a:solidFill>
                <a:latin typeface="Segoe UI"/>
              </a:rPr>
              <a:t>Selected milestones</a:t>
            </a:r>
          </a:p>
        </p:txBody>
      </p:sp>
      <p:sp>
        <p:nvSpPr>
          <p:cNvPr id="19" name="Rectangle 18"/>
          <p:cNvSpPr/>
          <p:nvPr/>
        </p:nvSpPr>
        <p:spPr>
          <a:xfrm>
            <a:off x="1051560" y="3154680"/>
            <a:ext cx="36576" cy="233172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60120" y="313639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3063240"/>
            <a:ext cx="1097280" cy="274320"/>
          </a:xfrm>
          <a:prstGeom prst="rect">
            <a:avLst/>
          </a:prstGeom>
          <a:noFill/>
        </p:spPr>
        <p:txBody>
          <a:bodyPr wrap="square" anchor="t"/>
          <a:lstStyle/>
          <a:p>
            <a:pPr algn="l"/>
            <a:r>
              <a:rPr sz="1100" b="1" i="0">
                <a:solidFill>
                  <a:srgbClr val="0A6B63"/>
                </a:solidFill>
                <a:latin typeface="Segoe UI"/>
              </a:rPr>
              <a:t>2016</a:t>
            </a:r>
          </a:p>
        </p:txBody>
      </p:sp>
      <p:sp>
        <p:nvSpPr>
          <p:cNvPr id="22" name="TextBox 21"/>
          <p:cNvSpPr txBox="1"/>
          <p:nvPr/>
        </p:nvSpPr>
        <p:spPr>
          <a:xfrm>
            <a:off x="2514600" y="3063240"/>
            <a:ext cx="4572000" cy="457200"/>
          </a:xfrm>
          <a:prstGeom prst="rect">
            <a:avLst/>
          </a:prstGeom>
          <a:noFill/>
        </p:spPr>
        <p:txBody>
          <a:bodyPr wrap="square" anchor="t"/>
          <a:lstStyle/>
          <a:p>
            <a:pPr algn="l"/>
            <a:r>
              <a:rPr sz="1100" b="0" i="0">
                <a:solidFill>
                  <a:srgbClr val="2C3A4B"/>
                </a:solidFill>
                <a:latin typeface="Segoe UI"/>
              </a:rPr>
              <a:t>Founded in New York as a premium career-consulting firm for international students</a:t>
            </a:r>
          </a:p>
        </p:txBody>
      </p:sp>
      <p:sp>
        <p:nvSpPr>
          <p:cNvPr id="23" name="Oval 22"/>
          <p:cNvSpPr/>
          <p:nvPr/>
        </p:nvSpPr>
        <p:spPr>
          <a:xfrm>
            <a:off x="960120" y="363931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3566160"/>
            <a:ext cx="1097280" cy="274320"/>
          </a:xfrm>
          <a:prstGeom prst="rect">
            <a:avLst/>
          </a:prstGeom>
          <a:noFill/>
        </p:spPr>
        <p:txBody>
          <a:bodyPr wrap="square" anchor="t"/>
          <a:lstStyle/>
          <a:p>
            <a:pPr algn="l"/>
            <a:r>
              <a:rPr sz="1100" b="1" i="0">
                <a:solidFill>
                  <a:srgbClr val="0A6B63"/>
                </a:solidFill>
                <a:latin typeface="Segoe UI"/>
              </a:rPr>
              <a:t>2016–24</a:t>
            </a:r>
          </a:p>
        </p:txBody>
      </p:sp>
      <p:sp>
        <p:nvSpPr>
          <p:cNvPr id="25" name="TextBox 24"/>
          <p:cNvSpPr txBox="1"/>
          <p:nvPr/>
        </p:nvSpPr>
        <p:spPr>
          <a:xfrm>
            <a:off x="2514600" y="3566160"/>
            <a:ext cx="4572000" cy="457200"/>
          </a:xfrm>
          <a:prstGeom prst="rect">
            <a:avLst/>
          </a:prstGeom>
          <a:noFill/>
        </p:spPr>
        <p:txBody>
          <a:bodyPr wrap="square" anchor="t"/>
          <a:lstStyle/>
          <a:p>
            <a:pPr algn="l"/>
            <a:r>
              <a:rPr sz="1100" b="0" i="0">
                <a:solidFill>
                  <a:srgbClr val="2C3A4B"/>
                </a:solidFill>
                <a:latin typeface="Segoe UI"/>
              </a:rPr>
              <a:t>Scaled the coaching, referral, and placement franchise across the U.S. and Greater China</a:t>
            </a:r>
          </a:p>
        </p:txBody>
      </p:sp>
      <p:sp>
        <p:nvSpPr>
          <p:cNvPr id="26" name="Oval 25"/>
          <p:cNvSpPr/>
          <p:nvPr/>
        </p:nvSpPr>
        <p:spPr>
          <a:xfrm>
            <a:off x="960120" y="414223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4069080"/>
            <a:ext cx="1097280" cy="274320"/>
          </a:xfrm>
          <a:prstGeom prst="rect">
            <a:avLst/>
          </a:prstGeom>
          <a:noFill/>
        </p:spPr>
        <p:txBody>
          <a:bodyPr wrap="square" anchor="t"/>
          <a:lstStyle/>
          <a:p>
            <a:pPr algn="l"/>
            <a:r>
              <a:rPr sz="1100" b="1" i="0">
                <a:solidFill>
                  <a:srgbClr val="0A6B63"/>
                </a:solidFill>
                <a:latin typeface="Segoe UI"/>
              </a:rPr>
              <a:t>Jul 2025</a:t>
            </a:r>
          </a:p>
        </p:txBody>
      </p:sp>
      <p:sp>
        <p:nvSpPr>
          <p:cNvPr id="28" name="TextBox 27"/>
          <p:cNvSpPr txBox="1"/>
          <p:nvPr/>
        </p:nvSpPr>
        <p:spPr>
          <a:xfrm>
            <a:off x="2514600" y="4069080"/>
            <a:ext cx="4572000" cy="457200"/>
          </a:xfrm>
          <a:prstGeom prst="rect">
            <a:avLst/>
          </a:prstGeom>
          <a:noFill/>
        </p:spPr>
        <p:txBody>
          <a:bodyPr wrap="square" anchor="t"/>
          <a:lstStyle/>
          <a:p>
            <a:pPr algn="l"/>
            <a:r>
              <a:rPr sz="1100" b="0" i="0">
                <a:solidFill>
                  <a:srgbClr val="2C3A4B"/>
                </a:solidFill>
                <a:latin typeface="Segoe UI"/>
              </a:rPr>
              <a:t>Strategic AI partnership with Alibaba Cloud (Tongyi LLM, NLP, semantic search)</a:t>
            </a:r>
          </a:p>
        </p:txBody>
      </p:sp>
      <p:sp>
        <p:nvSpPr>
          <p:cNvPr id="29" name="Oval 28"/>
          <p:cNvSpPr/>
          <p:nvPr/>
        </p:nvSpPr>
        <p:spPr>
          <a:xfrm>
            <a:off x="960120" y="464515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71600" y="4572000"/>
            <a:ext cx="1097280" cy="274320"/>
          </a:xfrm>
          <a:prstGeom prst="rect">
            <a:avLst/>
          </a:prstGeom>
          <a:noFill/>
        </p:spPr>
        <p:txBody>
          <a:bodyPr wrap="square" anchor="t"/>
          <a:lstStyle/>
          <a:p>
            <a:pPr algn="l"/>
            <a:r>
              <a:rPr sz="1100" b="1" i="0">
                <a:solidFill>
                  <a:srgbClr val="0A6B63"/>
                </a:solidFill>
                <a:latin typeface="Segoe UI"/>
              </a:rPr>
              <a:t>2025</a:t>
            </a:r>
          </a:p>
        </p:txBody>
      </p:sp>
      <p:sp>
        <p:nvSpPr>
          <p:cNvPr id="31" name="TextBox 30"/>
          <p:cNvSpPr txBox="1"/>
          <p:nvPr/>
        </p:nvSpPr>
        <p:spPr>
          <a:xfrm>
            <a:off x="2514600" y="4572000"/>
            <a:ext cx="4572000" cy="457200"/>
          </a:xfrm>
          <a:prstGeom prst="rect">
            <a:avLst/>
          </a:prstGeom>
          <a:noFill/>
        </p:spPr>
        <p:txBody>
          <a:bodyPr wrap="square" anchor="t"/>
          <a:lstStyle/>
          <a:p>
            <a:pPr algn="l"/>
            <a:r>
              <a:rPr sz="1100" b="0" i="0">
                <a:solidFill>
                  <a:srgbClr val="2C3A4B"/>
                </a:solidFill>
                <a:latin typeface="Segoe UI"/>
              </a:rPr>
              <a:t>Launched 51Careers.AI — the Company’s AI-powered global career platform</a:t>
            </a:r>
          </a:p>
        </p:txBody>
      </p:sp>
      <p:sp>
        <p:nvSpPr>
          <p:cNvPr id="32" name="Oval 31"/>
          <p:cNvSpPr/>
          <p:nvPr/>
        </p:nvSpPr>
        <p:spPr>
          <a:xfrm>
            <a:off x="960120" y="514807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71600" y="5074920"/>
            <a:ext cx="1097280" cy="274320"/>
          </a:xfrm>
          <a:prstGeom prst="rect">
            <a:avLst/>
          </a:prstGeom>
          <a:noFill/>
        </p:spPr>
        <p:txBody>
          <a:bodyPr wrap="square" anchor="t"/>
          <a:lstStyle/>
          <a:p>
            <a:pPr algn="l"/>
            <a:r>
              <a:rPr sz="1100" b="1" i="0">
                <a:solidFill>
                  <a:srgbClr val="0A6B63"/>
                </a:solidFill>
                <a:latin typeface="Segoe UI"/>
              </a:rPr>
              <a:t>2026</a:t>
            </a:r>
          </a:p>
        </p:txBody>
      </p:sp>
      <p:sp>
        <p:nvSpPr>
          <p:cNvPr id="34" name="TextBox 33"/>
          <p:cNvSpPr txBox="1"/>
          <p:nvPr/>
        </p:nvSpPr>
        <p:spPr>
          <a:xfrm>
            <a:off x="2514600" y="5074920"/>
            <a:ext cx="4572000" cy="457200"/>
          </a:xfrm>
          <a:prstGeom prst="rect">
            <a:avLst/>
          </a:prstGeom>
          <a:noFill/>
        </p:spPr>
        <p:txBody>
          <a:bodyPr wrap="square" anchor="t"/>
          <a:lstStyle/>
          <a:p>
            <a:pPr algn="l"/>
            <a:r>
              <a:rPr sz="1100" b="0" i="0">
                <a:solidFill>
                  <a:srgbClr val="2C3A4B"/>
                </a:solidFill>
                <a:latin typeface="Segoe UI"/>
              </a:rPr>
              <a:t>Global platform expansion underway across eight-plus countries</a:t>
            </a:r>
          </a:p>
        </p:txBody>
      </p:sp>
      <p:sp>
        <p:nvSpPr>
          <p:cNvPr id="35" name="Rounded Rectangle 34"/>
          <p:cNvSpPr/>
          <p:nvPr/>
        </p:nvSpPr>
        <p:spPr>
          <a:xfrm>
            <a:off x="7543800" y="2514600"/>
            <a:ext cx="416052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79" y="2651760"/>
            <a:ext cx="3840480" cy="274320"/>
          </a:xfrm>
          <a:prstGeom prst="rect">
            <a:avLst/>
          </a:prstGeom>
          <a:noFill/>
        </p:spPr>
        <p:txBody>
          <a:bodyPr wrap="square" anchor="t"/>
          <a:lstStyle/>
          <a:p>
            <a:pPr algn="l"/>
            <a:r>
              <a:rPr sz="1300" b="1" i="0">
                <a:solidFill>
                  <a:srgbClr val="0B1F33"/>
                </a:solidFill>
                <a:latin typeface="Segoe UI"/>
              </a:rPr>
              <a:t>Why it matters</a:t>
            </a:r>
          </a:p>
        </p:txBody>
      </p:sp>
      <p:sp>
        <p:nvSpPr>
          <p:cNvPr id="37" name="TextBox 36"/>
          <p:cNvSpPr txBox="1"/>
          <p:nvPr/>
        </p:nvSpPr>
        <p:spPr>
          <a:xfrm>
            <a:off x="7726679" y="3063240"/>
            <a:ext cx="3794760" cy="502920"/>
          </a:xfrm>
          <a:prstGeom prst="rect">
            <a:avLst/>
          </a:prstGeom>
          <a:noFill/>
        </p:spPr>
        <p:txBody>
          <a:bodyPr wrap="square" anchor="t"/>
          <a:lstStyle/>
          <a:p>
            <a:pPr algn="l"/>
            <a:r>
              <a:rPr sz="1100" b="0" i="0">
                <a:solidFill>
                  <a:srgbClr val="2C3A4B"/>
                </a:solidFill>
                <a:latin typeface="Segoe UI"/>
              </a:rPr>
              <a:t>▸  Durable, decade-long demand with proven willingness to pay</a:t>
            </a:r>
          </a:p>
        </p:txBody>
      </p:sp>
      <p:sp>
        <p:nvSpPr>
          <p:cNvPr id="38" name="TextBox 37"/>
          <p:cNvSpPr txBox="1"/>
          <p:nvPr/>
        </p:nvSpPr>
        <p:spPr>
          <a:xfrm>
            <a:off x="7726679" y="3566160"/>
            <a:ext cx="3794760" cy="502920"/>
          </a:xfrm>
          <a:prstGeom prst="rect">
            <a:avLst/>
          </a:prstGeom>
          <a:noFill/>
        </p:spPr>
        <p:txBody>
          <a:bodyPr wrap="square" anchor="t"/>
          <a:lstStyle/>
          <a:p>
            <a:pPr algn="l"/>
            <a:r>
              <a:rPr sz="1100" b="0" i="0">
                <a:solidFill>
                  <a:srgbClr val="2C3A4B"/>
                </a:solidFill>
                <a:latin typeface="Segoe UI"/>
              </a:rPr>
              <a:t>▸  Cross-border delivery capability that is difficult to replicate</a:t>
            </a:r>
          </a:p>
        </p:txBody>
      </p:sp>
      <p:sp>
        <p:nvSpPr>
          <p:cNvPr id="39" name="TextBox 38"/>
          <p:cNvSpPr txBox="1"/>
          <p:nvPr/>
        </p:nvSpPr>
        <p:spPr>
          <a:xfrm>
            <a:off x="7726679" y="4069080"/>
            <a:ext cx="3794760" cy="502920"/>
          </a:xfrm>
          <a:prstGeom prst="rect">
            <a:avLst/>
          </a:prstGeom>
          <a:noFill/>
        </p:spPr>
        <p:txBody>
          <a:bodyPr wrap="square" anchor="t"/>
          <a:lstStyle/>
          <a:p>
            <a:pPr algn="l"/>
            <a:r>
              <a:rPr sz="1100" b="0" i="0">
                <a:solidFill>
                  <a:srgbClr val="2C3A4B"/>
                </a:solidFill>
                <a:latin typeface="Segoe UI"/>
              </a:rPr>
              <a:t>▸  AI now layers operating leverage onto an established service core</a:t>
            </a:r>
          </a:p>
        </p:txBody>
      </p:sp>
      <p:sp>
        <p:nvSpPr>
          <p:cNvPr id="40" name="TextBox 39"/>
          <p:cNvSpPr txBox="1"/>
          <p:nvPr/>
        </p:nvSpPr>
        <p:spPr>
          <a:xfrm>
            <a:off x="7726679" y="4572000"/>
            <a:ext cx="3794760" cy="502920"/>
          </a:xfrm>
          <a:prstGeom prst="rect">
            <a:avLst/>
          </a:prstGeom>
          <a:noFill/>
        </p:spPr>
        <p:txBody>
          <a:bodyPr wrap="square" anchor="t"/>
          <a:lstStyle/>
          <a:p>
            <a:pPr algn="l"/>
            <a:r>
              <a:rPr sz="1100" b="0" i="0">
                <a:solidFill>
                  <a:srgbClr val="2C3A4B"/>
                </a:solidFill>
                <a:latin typeface="Segoe UI"/>
              </a:rPr>
              <a:t>▸  Existing revenue de-risks the platform transition</a:t>
            </a:r>
          </a:p>
        </p:txBody>
      </p:sp>
      <p:sp>
        <p:nvSpPr>
          <p:cNvPr id="41" name="TextBox 40"/>
          <p:cNvSpPr txBox="1"/>
          <p:nvPr/>
        </p:nvSpPr>
        <p:spPr>
          <a:xfrm>
            <a:off x="502920" y="5852160"/>
            <a:ext cx="10972800" cy="274320"/>
          </a:xfrm>
          <a:prstGeom prst="rect">
            <a:avLst/>
          </a:prstGeom>
          <a:noFill/>
        </p:spPr>
        <p:txBody>
          <a:bodyPr wrap="square" anchor="t"/>
          <a:lstStyle/>
          <a:p>
            <a:pPr algn="l"/>
            <a:r>
              <a:rPr sz="800" b="0" i="0">
                <a:solidFill>
                  <a:srgbClr val="5E6E80"/>
                </a:solidFill>
                <a:latin typeface="Segoe UI"/>
              </a:rPr>
              <a:t>† Third-party estimates (ZoomInfo; LeadIQ, 2025–26) ranging US$9.7–15M revenue and ≈30–50 staff; to be confirmed in due diligence.</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COMPETITIVE POSITIONING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Differentiated at the Intersection of AI and Outcomes</a:t>
            </a:r>
          </a:p>
        </p:txBody>
      </p:sp>
      <p:sp>
        <p:nvSpPr>
          <p:cNvPr id="5" name="Rounded Rectangle 4"/>
          <p:cNvSpPr/>
          <p:nvPr/>
        </p:nvSpPr>
        <p:spPr>
          <a:xfrm>
            <a:off x="502920" y="1188720"/>
            <a:ext cx="5212080" cy="3291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4846320" cy="274320"/>
          </a:xfrm>
          <a:prstGeom prst="rect">
            <a:avLst/>
          </a:prstGeom>
          <a:noFill/>
        </p:spPr>
        <p:txBody>
          <a:bodyPr wrap="square" anchor="t"/>
          <a:lstStyle/>
          <a:p>
            <a:pPr algn="l"/>
            <a:r>
              <a:rPr sz="1200" b="1" i="0">
                <a:solidFill>
                  <a:srgbClr val="0B1F33"/>
                </a:solidFill>
                <a:latin typeface="Segoe UI"/>
              </a:rPr>
              <a:t>Capability coverage score (illustrative)</a:t>
            </a:r>
          </a:p>
        </p:txBody>
      </p:sp>
      <p:graphicFrame>
        <p:nvGraphicFramePr>
          <p:cNvPr id="7" name="Chart 6"/>
          <p:cNvGraphicFramePr>
            <a:graphicFrameLocks noGrp="1"/>
          </p:cNvGraphicFramePr>
          <p:nvPr/>
        </p:nvGraphicFramePr>
        <p:xfrm>
          <a:off x="594360" y="1600200"/>
          <a:ext cx="4983480" cy="26974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897880" y="1188720"/>
          <a:ext cx="5806440" cy="3291840"/>
        </p:xfrm>
        <a:graphic>
          <a:graphicData uri="http://schemas.openxmlformats.org/drawingml/2006/table">
            <a:tbl>
              <a:tblPr firstRow="1" bandRow="1">
                <a:tableStyleId>{5C22544A-7EE6-4342-B048-85BDC9FD1C3A}</a:tableStyleId>
              </a:tblPr>
              <a:tblGrid>
                <a:gridCol w="967740"/>
                <a:gridCol w="967740"/>
                <a:gridCol w="967740"/>
                <a:gridCol w="967740"/>
                <a:gridCol w="967740"/>
                <a:gridCol w="967740"/>
              </a:tblGrid>
              <a:tr h="470262">
                <a:tc>
                  <a:txBody>
                    <a:bodyPr/>
                    <a:lstStyle/>
                    <a:p>
                      <a:pPr algn="l"/>
                      <a:r>
                        <a:rPr sz="900" b="1">
                          <a:solidFill>
                            <a:srgbClr val="FFFFFF"/>
                          </a:solidFill>
                          <a:latin typeface="Segoe UI"/>
                        </a:rPr>
                        <a:t>Capability</a:t>
                      </a:r>
                    </a:p>
                  </a:txBody>
                  <a:tcPr>
                    <a:solidFill>
                      <a:srgbClr val="0B1F33"/>
                    </a:solidFill>
                  </a:tcPr>
                </a:tc>
                <a:tc>
                  <a:txBody>
                    <a:bodyPr/>
                    <a:lstStyle/>
                    <a:p>
                      <a:pPr algn="ctr"/>
                      <a:r>
                        <a:rPr sz="900" b="1">
                          <a:solidFill>
                            <a:srgbClr val="FFFFFF"/>
                          </a:solidFill>
                          <a:latin typeface="Segoe UI"/>
                        </a:rPr>
                        <a:t>51Careers</a:t>
                      </a:r>
                    </a:p>
                  </a:txBody>
                  <a:tcPr>
                    <a:solidFill>
                      <a:srgbClr val="0B1F33"/>
                    </a:solidFill>
                  </a:tcPr>
                </a:tc>
                <a:tc>
                  <a:txBody>
                    <a:bodyPr/>
                    <a:lstStyle/>
                    <a:p>
                      <a:pPr algn="ctr"/>
                      <a:r>
                        <a:rPr sz="900" b="1">
                          <a:solidFill>
                            <a:srgbClr val="FFFFFF"/>
                          </a:solidFill>
                          <a:latin typeface="Segoe UI"/>
                        </a:rPr>
                        <a:t>Job Boards</a:t>
                      </a:r>
                    </a:p>
                  </a:txBody>
                  <a:tcPr>
                    <a:solidFill>
                      <a:srgbClr val="0B1F33"/>
                    </a:solidFill>
                  </a:tcPr>
                </a:tc>
                <a:tc>
                  <a:txBody>
                    <a:bodyPr/>
                    <a:lstStyle/>
                    <a:p>
                      <a:pPr algn="ctr"/>
                      <a:r>
                        <a:rPr sz="900" b="1">
                          <a:solidFill>
                            <a:srgbClr val="FFFFFF"/>
                          </a:solidFill>
                          <a:latin typeface="Segoe UI"/>
                        </a:rPr>
                        <a:t>Prep Apps</a:t>
                      </a:r>
                    </a:p>
                  </a:txBody>
                  <a:tcPr>
                    <a:solidFill>
                      <a:srgbClr val="0B1F33"/>
                    </a:solidFill>
                  </a:tcPr>
                </a:tc>
                <a:tc>
                  <a:txBody>
                    <a:bodyPr/>
                    <a:lstStyle/>
                    <a:p>
                      <a:pPr algn="ctr"/>
                      <a:r>
                        <a:rPr sz="900" b="1">
                          <a:solidFill>
                            <a:srgbClr val="FFFFFF"/>
                          </a:solidFill>
                          <a:latin typeface="Segoe UI"/>
                        </a:rPr>
                        <a:t>Coaching</a:t>
                      </a:r>
                    </a:p>
                  </a:txBody>
                  <a:tcPr>
                    <a:solidFill>
                      <a:srgbClr val="0B1F33"/>
                    </a:solidFill>
                  </a:tcPr>
                </a:tc>
                <a:tc>
                  <a:txBody>
                    <a:bodyPr/>
                    <a:lstStyle/>
                    <a:p>
                      <a:pPr algn="ctr"/>
                      <a:r>
                        <a:rPr sz="900" b="1">
                          <a:solidFill>
                            <a:srgbClr val="FFFFFF"/>
                          </a:solidFill>
                          <a:latin typeface="Segoe UI"/>
                        </a:rPr>
                        <a:t>Staffing</a:t>
                      </a:r>
                    </a:p>
                  </a:txBody>
                  <a:tcPr>
                    <a:solidFill>
                      <a:srgbClr val="0B1F33"/>
                    </a:solidFill>
                  </a:tcPr>
                </a:tc>
              </a:tr>
              <a:tr h="470262">
                <a:tc>
                  <a:txBody>
                    <a:bodyPr/>
                    <a:lstStyle/>
                    <a:p>
                      <a:pPr algn="l"/>
                      <a:r>
                        <a:rPr sz="1000" b="0">
                          <a:solidFill>
                            <a:srgbClr val="2C3A4B"/>
                          </a:solidFill>
                          <a:latin typeface="Segoe UI"/>
                        </a:rPr>
                        <a:t>AI interview practice</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70262">
                <a:tc>
                  <a:txBody>
                    <a:bodyPr/>
                    <a:lstStyle/>
                    <a:p>
                      <a:pPr algn="l"/>
                      <a:r>
                        <a:rPr sz="1000" b="0">
                          <a:solidFill>
                            <a:srgbClr val="2C3A4B"/>
                          </a:solidFill>
                          <a:latin typeface="Segoe UI"/>
                        </a:rPr>
                        <a:t>Real-question banks</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r h="470262">
                <a:tc>
                  <a:txBody>
                    <a:bodyPr/>
                    <a:lstStyle/>
                    <a:p>
                      <a:pPr algn="l"/>
                      <a:r>
                        <a:rPr sz="1000" b="0">
                          <a:solidFill>
                            <a:srgbClr val="2C3A4B"/>
                          </a:solidFill>
                          <a:latin typeface="Segoe UI"/>
                        </a:rPr>
                        <a:t>Human mentor network</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70262">
                <a:tc>
                  <a:txBody>
                    <a:bodyPr/>
                    <a:lstStyle/>
                    <a:p>
                      <a:pPr algn="l"/>
                      <a:r>
                        <a:rPr sz="1000" b="0">
                          <a:solidFill>
                            <a:srgbClr val="2C3A4B"/>
                          </a:solidFill>
                          <a:latin typeface="Segoe UI"/>
                        </a:rPr>
                        <a:t>Outcome placement</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r>
              <a:tr h="470262">
                <a:tc>
                  <a:txBody>
                    <a:bodyPr/>
                    <a:lstStyle/>
                    <a:p>
                      <a:pPr algn="l"/>
                      <a:r>
                        <a:rPr sz="1000" b="0">
                          <a:solidFill>
                            <a:srgbClr val="2C3A4B"/>
                          </a:solidFill>
                          <a:latin typeface="Segoe UI"/>
                        </a:rPr>
                        <a:t>Employer AI screening</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70268">
                <a:tc>
                  <a:txBody>
                    <a:bodyPr/>
                    <a:lstStyle/>
                    <a:p>
                      <a:pPr algn="l"/>
                      <a:r>
                        <a:rPr sz="1000" b="0">
                          <a:solidFill>
                            <a:srgbClr val="2C3A4B"/>
                          </a:solidFill>
                          <a:latin typeface="Segoe UI"/>
                        </a:rPr>
                        <a:t>Cross-border focus</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bl>
          </a:graphicData>
        </a:graphic>
      </p:graphicFrame>
      <p:sp>
        <p:nvSpPr>
          <p:cNvPr id="9" name="TextBox 8"/>
          <p:cNvSpPr txBox="1"/>
          <p:nvPr/>
        </p:nvSpPr>
        <p:spPr>
          <a:xfrm>
            <a:off x="502920" y="4663440"/>
            <a:ext cx="11155680" cy="320040"/>
          </a:xfrm>
          <a:prstGeom prst="rect">
            <a:avLst/>
          </a:prstGeom>
          <a:noFill/>
        </p:spPr>
        <p:txBody>
          <a:bodyPr wrap="square" anchor="t"/>
          <a:lstStyle/>
          <a:p>
            <a:pPr algn="l"/>
            <a:r>
              <a:rPr sz="1000" b="0" i="0">
                <a:solidFill>
                  <a:srgbClr val="5E6E80"/>
                </a:solidFill>
                <a:latin typeface="Segoe UI"/>
              </a:rPr>
              <a:t>●  Full capability      ○  Partial      —  Not offered</a:t>
            </a:r>
          </a:p>
        </p:txBody>
      </p:sp>
      <p:sp>
        <p:nvSpPr>
          <p:cNvPr id="10" name="Rounded Rectangle 9"/>
          <p:cNvSpPr/>
          <p:nvPr/>
        </p:nvSpPr>
        <p:spPr>
          <a:xfrm>
            <a:off x="502920" y="5029200"/>
            <a:ext cx="11201400" cy="77724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10835640" cy="502920"/>
          </a:xfrm>
          <a:prstGeom prst="rect">
            <a:avLst/>
          </a:prstGeom>
          <a:noFill/>
        </p:spPr>
        <p:txBody>
          <a:bodyPr wrap="square" anchor="t"/>
          <a:lstStyle/>
          <a:p>
            <a:pPr algn="l"/>
            <a:r>
              <a:rPr sz="1300" b="1" i="0">
                <a:solidFill>
                  <a:srgbClr val="07524C"/>
                </a:solidFill>
                <a:latin typeface="Segoe UI"/>
              </a:rPr>
              <a:t>51Careers.AI is the only platform combining AI-native preparation, human mentorship, and outcome-based placement across borders.</a:t>
            </a:r>
          </a:p>
        </p:txBody>
      </p:sp>
      <p:sp>
        <p:nvSpPr>
          <p:cNvPr id="12" name="TextBox 11"/>
          <p:cNvSpPr txBox="1"/>
          <p:nvPr/>
        </p:nvSpPr>
        <p:spPr>
          <a:xfrm>
            <a:off x="502920" y="5852160"/>
            <a:ext cx="10972800" cy="228600"/>
          </a:xfrm>
          <a:prstGeom prst="rect">
            <a:avLst/>
          </a:prstGeom>
          <a:noFill/>
        </p:spPr>
        <p:txBody>
          <a:bodyPr wrap="square" anchor="t"/>
          <a:lstStyle/>
          <a:p>
            <a:pPr algn="l"/>
            <a:r>
              <a:rPr sz="800" b="0" i="0">
                <a:solidFill>
                  <a:srgbClr val="5E6E80"/>
                </a:solidFill>
                <a:latin typeface="Segoe UI"/>
              </a:rPr>
              <a:t>Illustrative category comparison based on management assessment of publicly available offerings.</a:t>
            </a:r>
          </a:p>
        </p:txBody>
      </p:sp>
      <p:sp>
        <p:nvSpPr>
          <p:cNvPr id="13" name="Rectangle 12"/>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6" name="TextBox 15"/>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GROWTH STRATEGY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Phased Path to Global Scale</a:t>
            </a:r>
          </a:p>
        </p:txBody>
      </p:sp>
      <p:sp>
        <p:nvSpPr>
          <p:cNvPr id="5" name="Rounded Rectangle 4"/>
          <p:cNvSpPr/>
          <p:nvPr/>
        </p:nvSpPr>
        <p:spPr>
          <a:xfrm>
            <a:off x="50292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8229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3154680" cy="365760"/>
          </a:xfrm>
          <a:prstGeom prst="rect">
            <a:avLst/>
          </a:prstGeom>
          <a:noFill/>
        </p:spPr>
        <p:txBody>
          <a:bodyPr wrap="square" anchor="t"/>
          <a:lstStyle/>
          <a:p>
            <a:pPr algn="l"/>
            <a:r>
              <a:rPr sz="2600" b="1" i="0">
                <a:solidFill>
                  <a:srgbClr val="FFFFFF"/>
                </a:solidFill>
                <a:latin typeface="Georgia"/>
              </a:rPr>
              <a:t>2026</a:t>
            </a:r>
          </a:p>
        </p:txBody>
      </p:sp>
      <p:sp>
        <p:nvSpPr>
          <p:cNvPr id="8" name="TextBox 7"/>
          <p:cNvSpPr txBox="1"/>
          <p:nvPr/>
        </p:nvSpPr>
        <p:spPr>
          <a:xfrm>
            <a:off x="731520" y="1737360"/>
            <a:ext cx="3154680" cy="274320"/>
          </a:xfrm>
          <a:prstGeom prst="rect">
            <a:avLst/>
          </a:prstGeom>
          <a:noFill/>
        </p:spPr>
        <p:txBody>
          <a:bodyPr wrap="square" anchor="t"/>
          <a:lstStyle/>
          <a:p>
            <a:pPr algn="l"/>
            <a:r>
              <a:rPr sz="1300" b="1" i="0">
                <a:solidFill>
                  <a:srgbClr val="FFFFFF"/>
                </a:solidFill>
                <a:latin typeface="Segoe UI"/>
              </a:rPr>
              <a:t>Strengthen the core</a:t>
            </a:r>
          </a:p>
        </p:txBody>
      </p:sp>
      <p:sp>
        <p:nvSpPr>
          <p:cNvPr id="9" name="TextBox 8"/>
          <p:cNvSpPr txBox="1"/>
          <p:nvPr/>
        </p:nvSpPr>
        <p:spPr>
          <a:xfrm>
            <a:off x="731520" y="2286000"/>
            <a:ext cx="3154680" cy="640080"/>
          </a:xfrm>
          <a:prstGeom prst="rect">
            <a:avLst/>
          </a:prstGeom>
          <a:noFill/>
        </p:spPr>
        <p:txBody>
          <a:bodyPr wrap="square" anchor="t"/>
          <a:lstStyle/>
          <a:p>
            <a:pPr algn="l"/>
            <a:r>
              <a:rPr sz="1200" b="0" i="0">
                <a:solidFill>
                  <a:srgbClr val="2C3A4B"/>
                </a:solidFill>
                <a:latin typeface="Segoe UI"/>
              </a:rPr>
              <a:t>▸  Scale the AI platform across the U.S. and Greater China</a:t>
            </a:r>
          </a:p>
        </p:txBody>
      </p:sp>
      <p:sp>
        <p:nvSpPr>
          <p:cNvPr id="10" name="TextBox 9"/>
          <p:cNvSpPr txBox="1"/>
          <p:nvPr/>
        </p:nvSpPr>
        <p:spPr>
          <a:xfrm>
            <a:off x="731520" y="2971800"/>
            <a:ext cx="3154680" cy="640080"/>
          </a:xfrm>
          <a:prstGeom prst="rect">
            <a:avLst/>
          </a:prstGeom>
          <a:noFill/>
        </p:spPr>
        <p:txBody>
          <a:bodyPr wrap="square" anchor="t"/>
          <a:lstStyle/>
          <a:p>
            <a:pPr algn="l"/>
            <a:r>
              <a:rPr sz="1200" b="0" i="0">
                <a:solidFill>
                  <a:srgbClr val="2C3A4B"/>
                </a:solidFill>
                <a:latin typeface="Segoe UI"/>
              </a:rPr>
              <a:t>▸  Migrate the coaching client base onto the platform</a:t>
            </a:r>
          </a:p>
        </p:txBody>
      </p:sp>
      <p:sp>
        <p:nvSpPr>
          <p:cNvPr id="11" name="TextBox 10"/>
          <p:cNvSpPr txBox="1"/>
          <p:nvPr/>
        </p:nvSpPr>
        <p:spPr>
          <a:xfrm>
            <a:off x="731520" y="3657600"/>
            <a:ext cx="3154680" cy="640080"/>
          </a:xfrm>
          <a:prstGeom prst="rect">
            <a:avLst/>
          </a:prstGeom>
          <a:noFill/>
        </p:spPr>
        <p:txBody>
          <a:bodyPr wrap="square" anchor="t"/>
          <a:lstStyle/>
          <a:p>
            <a:pPr algn="l"/>
            <a:r>
              <a:rPr sz="1200" b="0" i="0">
                <a:solidFill>
                  <a:srgbClr val="2C3A4B"/>
                </a:solidFill>
                <a:latin typeface="Segoe UI"/>
              </a:rPr>
              <a:t>▸  Expand question-bank and assessment coverage by role and employer</a:t>
            </a:r>
          </a:p>
        </p:txBody>
      </p:sp>
      <p:sp>
        <p:nvSpPr>
          <p:cNvPr id="12" name="Rounded Rectangle 11"/>
          <p:cNvSpPr/>
          <p:nvPr/>
        </p:nvSpPr>
        <p:spPr>
          <a:xfrm>
            <a:off x="429768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611880" cy="82296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325880"/>
            <a:ext cx="3154680" cy="365760"/>
          </a:xfrm>
          <a:prstGeom prst="rect">
            <a:avLst/>
          </a:prstGeom>
          <a:noFill/>
        </p:spPr>
        <p:txBody>
          <a:bodyPr wrap="square" anchor="t"/>
          <a:lstStyle/>
          <a:p>
            <a:pPr algn="l"/>
            <a:r>
              <a:rPr sz="2600" b="1" i="0">
                <a:solidFill>
                  <a:srgbClr val="FFFFFF"/>
                </a:solidFill>
                <a:latin typeface="Georgia"/>
              </a:rPr>
              <a:t>2027</a:t>
            </a:r>
          </a:p>
        </p:txBody>
      </p:sp>
      <p:sp>
        <p:nvSpPr>
          <p:cNvPr id="15" name="TextBox 14"/>
          <p:cNvSpPr txBox="1"/>
          <p:nvPr/>
        </p:nvSpPr>
        <p:spPr>
          <a:xfrm>
            <a:off x="4526280" y="1737360"/>
            <a:ext cx="3154680" cy="274320"/>
          </a:xfrm>
          <a:prstGeom prst="rect">
            <a:avLst/>
          </a:prstGeom>
          <a:noFill/>
        </p:spPr>
        <p:txBody>
          <a:bodyPr wrap="square" anchor="t"/>
          <a:lstStyle/>
          <a:p>
            <a:pPr algn="l"/>
            <a:r>
              <a:rPr sz="1300" b="1" i="0">
                <a:solidFill>
                  <a:srgbClr val="FFFFFF"/>
                </a:solidFill>
                <a:latin typeface="Segoe UI"/>
              </a:rPr>
              <a:t>Extend the footprint</a:t>
            </a:r>
          </a:p>
        </p:txBody>
      </p:sp>
      <p:sp>
        <p:nvSpPr>
          <p:cNvPr id="16" name="TextBox 15"/>
          <p:cNvSpPr txBox="1"/>
          <p:nvPr/>
        </p:nvSpPr>
        <p:spPr>
          <a:xfrm>
            <a:off x="4526280" y="2286000"/>
            <a:ext cx="3154680" cy="640080"/>
          </a:xfrm>
          <a:prstGeom prst="rect">
            <a:avLst/>
          </a:prstGeom>
          <a:noFill/>
        </p:spPr>
        <p:txBody>
          <a:bodyPr wrap="square" anchor="t"/>
          <a:lstStyle/>
          <a:p>
            <a:pPr algn="l"/>
            <a:r>
              <a:rPr sz="1200" b="0" i="0">
                <a:solidFill>
                  <a:srgbClr val="2C3A4B"/>
                </a:solidFill>
                <a:latin typeface="Segoe UI"/>
              </a:rPr>
              <a:t>▸  Full go-to-market in the U.K., Singapore, South Korea, Canada, and India</a:t>
            </a:r>
          </a:p>
        </p:txBody>
      </p:sp>
      <p:sp>
        <p:nvSpPr>
          <p:cNvPr id="17" name="TextBox 16"/>
          <p:cNvSpPr txBox="1"/>
          <p:nvPr/>
        </p:nvSpPr>
        <p:spPr>
          <a:xfrm>
            <a:off x="4526280" y="2971800"/>
            <a:ext cx="3154680" cy="640080"/>
          </a:xfrm>
          <a:prstGeom prst="rect">
            <a:avLst/>
          </a:prstGeom>
          <a:noFill/>
        </p:spPr>
        <p:txBody>
          <a:bodyPr wrap="square" anchor="t"/>
          <a:lstStyle/>
          <a:p>
            <a:pPr algn="l"/>
            <a:r>
              <a:rPr sz="1200" b="0" i="0">
                <a:solidFill>
                  <a:srgbClr val="2C3A4B"/>
                </a:solidFill>
                <a:latin typeface="Segoe UI"/>
              </a:rPr>
              <a:t>▸  University and institutional partnership programs</a:t>
            </a:r>
          </a:p>
        </p:txBody>
      </p:sp>
      <p:sp>
        <p:nvSpPr>
          <p:cNvPr id="18" name="TextBox 17"/>
          <p:cNvSpPr txBox="1"/>
          <p:nvPr/>
        </p:nvSpPr>
        <p:spPr>
          <a:xfrm>
            <a:off x="4526280" y="3657600"/>
            <a:ext cx="3154680" cy="640080"/>
          </a:xfrm>
          <a:prstGeom prst="rect">
            <a:avLst/>
          </a:prstGeom>
          <a:noFill/>
        </p:spPr>
        <p:txBody>
          <a:bodyPr wrap="square" anchor="t"/>
          <a:lstStyle/>
          <a:p>
            <a:pPr algn="l"/>
            <a:r>
              <a:rPr sz="1200" b="0" i="0">
                <a:solidFill>
                  <a:srgbClr val="2C3A4B"/>
                </a:solidFill>
                <a:latin typeface="Segoe UI"/>
              </a:rPr>
              <a:t>▸  Convert employer pilots into paid SaaS relationships</a:t>
            </a:r>
          </a:p>
        </p:txBody>
      </p:sp>
      <p:sp>
        <p:nvSpPr>
          <p:cNvPr id="19" name="Rounded Rectangle 18"/>
          <p:cNvSpPr/>
          <p:nvPr/>
        </p:nvSpPr>
        <p:spPr>
          <a:xfrm>
            <a:off x="809244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40" y="1234440"/>
            <a:ext cx="3611880" cy="82296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325880"/>
            <a:ext cx="3154680" cy="365760"/>
          </a:xfrm>
          <a:prstGeom prst="rect">
            <a:avLst/>
          </a:prstGeom>
          <a:noFill/>
        </p:spPr>
        <p:txBody>
          <a:bodyPr wrap="square" anchor="t"/>
          <a:lstStyle/>
          <a:p>
            <a:pPr algn="l"/>
            <a:r>
              <a:rPr sz="2600" b="1" i="0">
                <a:solidFill>
                  <a:srgbClr val="FFFFFF"/>
                </a:solidFill>
                <a:latin typeface="Georgia"/>
              </a:rPr>
              <a:t>2028+</a:t>
            </a:r>
          </a:p>
        </p:txBody>
      </p:sp>
      <p:sp>
        <p:nvSpPr>
          <p:cNvPr id="22" name="TextBox 21"/>
          <p:cNvSpPr txBox="1"/>
          <p:nvPr/>
        </p:nvSpPr>
        <p:spPr>
          <a:xfrm>
            <a:off x="8321040" y="1737360"/>
            <a:ext cx="3154680" cy="274320"/>
          </a:xfrm>
          <a:prstGeom prst="rect">
            <a:avLst/>
          </a:prstGeom>
          <a:noFill/>
        </p:spPr>
        <p:txBody>
          <a:bodyPr wrap="square" anchor="t"/>
          <a:lstStyle/>
          <a:p>
            <a:pPr algn="l"/>
            <a:r>
              <a:rPr sz="1300" b="1" i="0">
                <a:solidFill>
                  <a:srgbClr val="FFFFFF"/>
                </a:solidFill>
                <a:latin typeface="Segoe UI"/>
              </a:rPr>
              <a:t>Compound the platform</a:t>
            </a:r>
          </a:p>
        </p:txBody>
      </p:sp>
      <p:sp>
        <p:nvSpPr>
          <p:cNvPr id="23" name="TextBox 22"/>
          <p:cNvSpPr txBox="1"/>
          <p:nvPr/>
        </p:nvSpPr>
        <p:spPr>
          <a:xfrm>
            <a:off x="8321040" y="2286000"/>
            <a:ext cx="3154680" cy="640080"/>
          </a:xfrm>
          <a:prstGeom prst="rect">
            <a:avLst/>
          </a:prstGeom>
          <a:noFill/>
        </p:spPr>
        <p:txBody>
          <a:bodyPr wrap="square" anchor="t"/>
          <a:lstStyle/>
          <a:p>
            <a:pPr algn="l"/>
            <a:r>
              <a:rPr sz="1200" b="0" i="0">
                <a:solidFill>
                  <a:srgbClr val="2C3A4B"/>
                </a:solidFill>
                <a:latin typeface="Segoe UI"/>
              </a:rPr>
              <a:t>▸  Employer SaaS at scale across core geographies</a:t>
            </a:r>
          </a:p>
        </p:txBody>
      </p:sp>
      <p:sp>
        <p:nvSpPr>
          <p:cNvPr id="24" name="TextBox 23"/>
          <p:cNvSpPr txBox="1"/>
          <p:nvPr/>
        </p:nvSpPr>
        <p:spPr>
          <a:xfrm>
            <a:off x="8321040" y="2971800"/>
            <a:ext cx="3154680" cy="640080"/>
          </a:xfrm>
          <a:prstGeom prst="rect">
            <a:avLst/>
          </a:prstGeom>
          <a:noFill/>
        </p:spPr>
        <p:txBody>
          <a:bodyPr wrap="square" anchor="t"/>
          <a:lstStyle/>
          <a:p>
            <a:pPr algn="l"/>
            <a:r>
              <a:rPr sz="1200" b="0" i="0">
                <a:solidFill>
                  <a:srgbClr val="2C3A4B"/>
                </a:solidFill>
                <a:latin typeface="Segoe UI"/>
              </a:rPr>
              <a:t>▸  Additional languages, verticals, and seniority segments</a:t>
            </a:r>
          </a:p>
        </p:txBody>
      </p:sp>
      <p:sp>
        <p:nvSpPr>
          <p:cNvPr id="25" name="TextBox 24"/>
          <p:cNvSpPr txBox="1"/>
          <p:nvPr/>
        </p:nvSpPr>
        <p:spPr>
          <a:xfrm>
            <a:off x="8321040" y="3657600"/>
            <a:ext cx="3154680" cy="640080"/>
          </a:xfrm>
          <a:prstGeom prst="rect">
            <a:avLst/>
          </a:prstGeom>
          <a:noFill/>
        </p:spPr>
        <p:txBody>
          <a:bodyPr wrap="square" anchor="t"/>
          <a:lstStyle/>
          <a:p>
            <a:pPr algn="l"/>
            <a:r>
              <a:rPr sz="1200" b="0" i="0">
                <a:solidFill>
                  <a:srgbClr val="2C3A4B"/>
                </a:solidFill>
                <a:latin typeface="Segoe UI"/>
              </a:rPr>
              <a:t>▸  Selective M&amp;A of regional career-services assets</a:t>
            </a:r>
          </a:p>
        </p:txBody>
      </p:sp>
      <p:sp>
        <p:nvSpPr>
          <p:cNvPr id="26" name="Rounded Rectangle 25"/>
          <p:cNvSpPr/>
          <p:nvPr/>
        </p:nvSpPr>
        <p:spPr>
          <a:xfrm>
            <a:off x="502920" y="4754880"/>
            <a:ext cx="11201400" cy="1097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846320"/>
            <a:ext cx="3657600" cy="256032"/>
          </a:xfrm>
          <a:prstGeom prst="rect">
            <a:avLst/>
          </a:prstGeom>
          <a:noFill/>
        </p:spPr>
        <p:txBody>
          <a:bodyPr wrap="square" anchor="t"/>
          <a:lstStyle/>
          <a:p>
            <a:pPr algn="l"/>
            <a:r>
              <a:rPr sz="1100" b="1" i="0">
                <a:solidFill>
                  <a:srgbClr val="0B1F33"/>
                </a:solidFill>
                <a:latin typeface="Segoe UI"/>
              </a:rPr>
              <a:t>Geographic expansion intensity (illustrative)</a:t>
            </a:r>
          </a:p>
        </p:txBody>
      </p:sp>
      <p:graphicFrame>
        <p:nvGraphicFramePr>
          <p:cNvPr id="28" name="Chart 27"/>
          <p:cNvGraphicFramePr>
            <a:graphicFrameLocks noGrp="1"/>
          </p:cNvGraphicFramePr>
          <p:nvPr/>
        </p:nvGraphicFramePr>
        <p:xfrm>
          <a:off x="4572000" y="4709160"/>
          <a:ext cx="6949440" cy="1143000"/>
        </p:xfrm>
        <a:graphic>
          <a:graphicData uri="http://schemas.openxmlformats.org/drawingml/2006/chart">
            <c:chart xmlns:c="http://schemas.openxmlformats.org/drawingml/2006/chart" r:id="rId2"/>
          </a:graphicData>
        </a:graphic>
      </p:graphicFrame>
      <p:sp>
        <p:nvSpPr>
          <p:cNvPr id="29" name="TextBox 28"/>
          <p:cNvSpPr txBox="1"/>
          <p:nvPr/>
        </p:nvSpPr>
        <p:spPr>
          <a:xfrm>
            <a:off x="502920" y="5897880"/>
            <a:ext cx="10972800" cy="228600"/>
          </a:xfrm>
          <a:prstGeom prst="rect">
            <a:avLst/>
          </a:prstGeom>
          <a:noFill/>
        </p:spPr>
        <p:txBody>
          <a:bodyPr wrap="square" anchor="t"/>
          <a:lstStyle/>
          <a:p>
            <a:pPr algn="l"/>
            <a:r>
              <a:rPr sz="1100" b="0" i="0">
                <a:solidFill>
                  <a:srgbClr val="5E6E80"/>
                </a:solidFill>
                <a:latin typeface="Segoe UI"/>
              </a:rPr>
              <a:t>Sequencing follows the existing footprint — new capital extends proven demand in markets the Company already serves, rather than funding market discovery.</a:t>
            </a:r>
          </a:p>
        </p:txBody>
      </p:sp>
      <p:sp>
        <p:nvSpPr>
          <p:cNvPr id="30" name="Rectangle 29"/>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3" name="TextBox 32"/>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FINANCIAL OUTLOOK</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Illustrative Five-Year Trajectory</a:t>
            </a:r>
          </a:p>
        </p:txBody>
      </p:sp>
      <p:sp>
        <p:nvSpPr>
          <p:cNvPr id="5" name="Rounded Rectangle 4"/>
          <p:cNvSpPr/>
          <p:nvPr/>
        </p:nvSpPr>
        <p:spPr>
          <a:xfrm>
            <a:off x="502920" y="1188720"/>
            <a:ext cx="7223760" cy="28803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4572000" cy="256032"/>
          </a:xfrm>
          <a:prstGeom prst="rect">
            <a:avLst/>
          </a:prstGeom>
          <a:noFill/>
        </p:spPr>
        <p:txBody>
          <a:bodyPr wrap="square" anchor="t"/>
          <a:lstStyle/>
          <a:p>
            <a:pPr algn="l"/>
            <a:r>
              <a:rPr sz="1200" b="1" i="0">
                <a:solidFill>
                  <a:srgbClr val="0B1F33"/>
                </a:solidFill>
                <a:latin typeface="Segoe UI"/>
              </a:rPr>
              <a:t>Revenue, US$ millions</a:t>
            </a:r>
          </a:p>
        </p:txBody>
      </p:sp>
      <p:graphicFrame>
        <p:nvGraphicFramePr>
          <p:cNvPr id="7" name="Chart 6"/>
          <p:cNvGraphicFramePr>
            <a:graphicFrameLocks noGrp="1"/>
          </p:cNvGraphicFramePr>
          <p:nvPr/>
        </p:nvGraphicFramePr>
        <p:xfrm>
          <a:off x="594360" y="1508760"/>
          <a:ext cx="6995160" cy="2423160"/>
        </p:xfrm>
        <a:graphic>
          <a:graphicData uri="http://schemas.openxmlformats.org/drawingml/2006/chart">
            <c:chart xmlns:c="http://schemas.openxmlformats.org/drawingml/2006/chart" r:id="rId2"/>
          </a:graphicData>
        </a:graphic>
      </p:graphicFrame>
      <p:sp>
        <p:nvSpPr>
          <p:cNvPr id="8" name="Rounded Rectangle 7"/>
          <p:cNvSpPr/>
          <p:nvPr/>
        </p:nvSpPr>
        <p:spPr>
          <a:xfrm>
            <a:off x="502920" y="4206240"/>
            <a:ext cx="7223760" cy="15544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279392"/>
            <a:ext cx="4572000" cy="228600"/>
          </a:xfrm>
          <a:prstGeom prst="rect">
            <a:avLst/>
          </a:prstGeom>
          <a:noFill/>
        </p:spPr>
        <p:txBody>
          <a:bodyPr wrap="square" anchor="t"/>
          <a:lstStyle/>
          <a:p>
            <a:pPr algn="l"/>
            <a:r>
              <a:rPr sz="1100" b="1" i="0">
                <a:solidFill>
                  <a:srgbClr val="0B1F33"/>
                </a:solidFill>
                <a:latin typeface="Segoe UI"/>
              </a:rPr>
              <a:t>Illustrative gross margin (%)</a:t>
            </a:r>
          </a:p>
        </p:txBody>
      </p:sp>
      <p:graphicFrame>
        <p:nvGraphicFramePr>
          <p:cNvPr id="10" name="Chart 9"/>
          <p:cNvGraphicFramePr>
            <a:graphicFrameLocks noGrp="1"/>
          </p:cNvGraphicFramePr>
          <p:nvPr/>
        </p:nvGraphicFramePr>
        <p:xfrm>
          <a:off x="594360" y="4434840"/>
          <a:ext cx="6995160" cy="1280160"/>
        </p:xfrm>
        <a:graphic>
          <a:graphicData uri="http://schemas.openxmlformats.org/drawingml/2006/chart">
            <c:chart xmlns:c="http://schemas.openxmlformats.org/drawingml/2006/chart" r:id="rId3"/>
          </a:graphicData>
        </a:graphic>
      </p:graphicFrame>
      <p:sp>
        <p:nvSpPr>
          <p:cNvPr id="11" name="Rounded Rectangle 10"/>
          <p:cNvSpPr/>
          <p:nvPr/>
        </p:nvSpPr>
        <p:spPr>
          <a:xfrm>
            <a:off x="7909560" y="1188720"/>
            <a:ext cx="3794760" cy="14173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1325880"/>
            <a:ext cx="3429000" cy="594360"/>
          </a:xfrm>
          <a:prstGeom prst="rect">
            <a:avLst/>
          </a:prstGeom>
          <a:noFill/>
        </p:spPr>
        <p:txBody>
          <a:bodyPr wrap="square" anchor="t"/>
          <a:lstStyle/>
          <a:p>
            <a:pPr algn="l"/>
            <a:r>
              <a:rPr sz="3600" b="1" i="0">
                <a:solidFill>
                  <a:srgbClr val="FFFFFF"/>
                </a:solidFill>
                <a:latin typeface="Georgia"/>
              </a:rPr>
              <a:t>≈50%</a:t>
            </a:r>
          </a:p>
        </p:txBody>
      </p:sp>
      <p:sp>
        <p:nvSpPr>
          <p:cNvPr id="13" name="TextBox 12"/>
          <p:cNvSpPr txBox="1"/>
          <p:nvPr/>
        </p:nvSpPr>
        <p:spPr>
          <a:xfrm>
            <a:off x="8092440" y="2011680"/>
            <a:ext cx="3429000" cy="365760"/>
          </a:xfrm>
          <a:prstGeom prst="rect">
            <a:avLst/>
          </a:prstGeom>
          <a:noFill/>
        </p:spPr>
        <p:txBody>
          <a:bodyPr wrap="square" anchor="t"/>
          <a:lstStyle/>
          <a:p>
            <a:pPr algn="l"/>
            <a:r>
              <a:rPr sz="1000" b="1" i="0">
                <a:solidFill>
                  <a:srgbClr val="D7EBE8"/>
                </a:solidFill>
                <a:latin typeface="Segoe UI"/>
              </a:rPr>
              <a:t>REVENUE CAGR, 2025E–2029E</a:t>
            </a:r>
          </a:p>
        </p:txBody>
      </p:sp>
      <p:sp>
        <p:nvSpPr>
          <p:cNvPr id="14" name="Rounded Rectangle 13"/>
          <p:cNvSpPr/>
          <p:nvPr/>
        </p:nvSpPr>
        <p:spPr>
          <a:xfrm>
            <a:off x="7909560" y="2788920"/>
            <a:ext cx="3794760" cy="29718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2926080"/>
            <a:ext cx="3429000" cy="274320"/>
          </a:xfrm>
          <a:prstGeom prst="rect">
            <a:avLst/>
          </a:prstGeom>
          <a:noFill/>
        </p:spPr>
        <p:txBody>
          <a:bodyPr wrap="square" anchor="t"/>
          <a:lstStyle/>
          <a:p>
            <a:pPr algn="l"/>
            <a:r>
              <a:rPr sz="1300" b="1" i="0">
                <a:solidFill>
                  <a:srgbClr val="0B1F33"/>
                </a:solidFill>
                <a:latin typeface="Segoe UI"/>
              </a:rPr>
              <a:t>Key drivers</a:t>
            </a:r>
          </a:p>
        </p:txBody>
      </p:sp>
      <p:sp>
        <p:nvSpPr>
          <p:cNvPr id="16" name="TextBox 15"/>
          <p:cNvSpPr txBox="1"/>
          <p:nvPr/>
        </p:nvSpPr>
        <p:spPr>
          <a:xfrm>
            <a:off x="8092440" y="3291840"/>
            <a:ext cx="3429000" cy="548640"/>
          </a:xfrm>
          <a:prstGeom prst="rect">
            <a:avLst/>
          </a:prstGeom>
          <a:noFill/>
        </p:spPr>
        <p:txBody>
          <a:bodyPr wrap="square" anchor="t"/>
          <a:lstStyle/>
          <a:p>
            <a:pPr algn="l"/>
            <a:r>
              <a:rPr sz="1100" b="0" i="0">
                <a:solidFill>
                  <a:srgbClr val="2C3A4B"/>
                </a:solidFill>
                <a:latin typeface="Segoe UI"/>
              </a:rPr>
              <a:t>▸  Self-serve platform subscriptions compounding across markets</a:t>
            </a:r>
          </a:p>
        </p:txBody>
      </p:sp>
      <p:sp>
        <p:nvSpPr>
          <p:cNvPr id="17" name="TextBox 16"/>
          <p:cNvSpPr txBox="1"/>
          <p:nvPr/>
        </p:nvSpPr>
        <p:spPr>
          <a:xfrm>
            <a:off x="8092440" y="3840480"/>
            <a:ext cx="3429000" cy="548640"/>
          </a:xfrm>
          <a:prstGeom prst="rect">
            <a:avLst/>
          </a:prstGeom>
          <a:noFill/>
        </p:spPr>
        <p:txBody>
          <a:bodyPr wrap="square" anchor="t"/>
          <a:lstStyle/>
          <a:p>
            <a:pPr algn="l"/>
            <a:r>
              <a:rPr sz="1100" b="0" i="0">
                <a:solidFill>
                  <a:srgbClr val="2C3A4B"/>
                </a:solidFill>
                <a:latin typeface="Segoe UI"/>
              </a:rPr>
              <a:t>▸  Mix shift from services to software lifting gross margin toward 65%+</a:t>
            </a:r>
          </a:p>
        </p:txBody>
      </p:sp>
      <p:sp>
        <p:nvSpPr>
          <p:cNvPr id="18" name="TextBox 17"/>
          <p:cNvSpPr txBox="1"/>
          <p:nvPr/>
        </p:nvSpPr>
        <p:spPr>
          <a:xfrm>
            <a:off x="8092440" y="4389120"/>
            <a:ext cx="3429000" cy="548640"/>
          </a:xfrm>
          <a:prstGeom prst="rect">
            <a:avLst/>
          </a:prstGeom>
          <a:noFill/>
        </p:spPr>
        <p:txBody>
          <a:bodyPr wrap="square" anchor="t"/>
          <a:lstStyle/>
          <a:p>
            <a:pPr algn="l"/>
            <a:r>
              <a:rPr sz="1100" b="0" i="0">
                <a:solidFill>
                  <a:srgbClr val="2C3A4B"/>
                </a:solidFill>
                <a:latin typeface="Segoe UI"/>
              </a:rPr>
              <a:t>▸  Employer SaaS ramping from 2027</a:t>
            </a:r>
          </a:p>
        </p:txBody>
      </p:sp>
      <p:sp>
        <p:nvSpPr>
          <p:cNvPr id="19" name="TextBox 18"/>
          <p:cNvSpPr txBox="1"/>
          <p:nvPr/>
        </p:nvSpPr>
        <p:spPr>
          <a:xfrm>
            <a:off x="8092440" y="4937759"/>
            <a:ext cx="3429000" cy="548640"/>
          </a:xfrm>
          <a:prstGeom prst="rect">
            <a:avLst/>
          </a:prstGeom>
          <a:noFill/>
        </p:spPr>
        <p:txBody>
          <a:bodyPr wrap="square" anchor="t"/>
          <a:lstStyle/>
          <a:p>
            <a:pPr algn="l"/>
            <a:r>
              <a:rPr sz="1100" b="0" i="0">
                <a:solidFill>
                  <a:srgbClr val="2C3A4B"/>
                </a:solidFill>
                <a:latin typeface="Segoe UI"/>
              </a:rPr>
              <a:t>▸  AI-assisted delivery driving operating leverage</a:t>
            </a:r>
          </a:p>
        </p:txBody>
      </p:sp>
      <p:sp>
        <p:nvSpPr>
          <p:cNvPr id="20" name="TextBox 19"/>
          <p:cNvSpPr txBox="1"/>
          <p:nvPr/>
        </p:nvSpPr>
        <p:spPr>
          <a:xfrm>
            <a:off x="502920" y="5852160"/>
            <a:ext cx="11155680" cy="274320"/>
          </a:xfrm>
          <a:prstGeom prst="rect">
            <a:avLst/>
          </a:prstGeom>
          <a:noFill/>
        </p:spPr>
        <p:txBody>
          <a:bodyPr wrap="square" anchor="t"/>
          <a:lstStyle/>
          <a:p>
            <a:pPr algn="l"/>
            <a:r>
              <a:rPr sz="800" b="0" i="0">
                <a:solidFill>
                  <a:srgbClr val="5E6E80"/>
                </a:solidFill>
                <a:latin typeface="Segoe UI"/>
              </a:rPr>
              <a:t>Illustrative management projections, not a forecast; 2025 base reflects third-party revenue estimates. Actual results will differ.</a:t>
            </a:r>
          </a:p>
        </p:txBody>
      </p:sp>
      <p:sp>
        <p:nvSpPr>
          <p:cNvPr id="21" name="Rectangle 20"/>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4" name="TextBox 23"/>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THE OFFERING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US$5.0 Million to Accelerate Global Leadership</a:t>
            </a:r>
          </a:p>
        </p:txBody>
      </p:sp>
      <p:sp>
        <p:nvSpPr>
          <p:cNvPr id="5" name="Rounded Rectangle 4"/>
          <p:cNvSpPr/>
          <p:nvPr/>
        </p:nvSpPr>
        <p:spPr>
          <a:xfrm>
            <a:off x="502920" y="1188720"/>
            <a:ext cx="539496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4937760" cy="274320"/>
          </a:xfrm>
          <a:prstGeom prst="rect">
            <a:avLst/>
          </a:prstGeom>
          <a:noFill/>
        </p:spPr>
        <p:txBody>
          <a:bodyPr wrap="square" anchor="t"/>
          <a:lstStyle/>
          <a:p>
            <a:pPr algn="l"/>
            <a:r>
              <a:rPr sz="1100" b="1" i="0">
                <a:solidFill>
                  <a:srgbClr val="0A6B63"/>
                </a:solidFill>
                <a:latin typeface="Segoe UI"/>
              </a:rPr>
              <a:t>INDICATIVE TERMS</a:t>
            </a:r>
          </a:p>
        </p:txBody>
      </p:sp>
      <p:sp>
        <p:nvSpPr>
          <p:cNvPr id="7" name="Rectangle 6"/>
          <p:cNvSpPr/>
          <p:nvPr/>
        </p:nvSpPr>
        <p:spPr>
          <a:xfrm>
            <a:off x="731520" y="233172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28800"/>
            <a:ext cx="2194560" cy="365760"/>
          </a:xfrm>
          <a:prstGeom prst="rect">
            <a:avLst/>
          </a:prstGeom>
          <a:noFill/>
        </p:spPr>
        <p:txBody>
          <a:bodyPr wrap="square" anchor="t"/>
          <a:lstStyle/>
          <a:p>
            <a:pPr algn="l"/>
            <a:r>
              <a:rPr sz="1200" b="0" i="0">
                <a:solidFill>
                  <a:srgbClr val="5E6E80"/>
                </a:solidFill>
                <a:latin typeface="Segoe UI"/>
              </a:rPr>
              <a:t>Round size</a:t>
            </a:r>
          </a:p>
        </p:txBody>
      </p:sp>
      <p:sp>
        <p:nvSpPr>
          <p:cNvPr id="9" name="TextBox 8"/>
          <p:cNvSpPr txBox="1"/>
          <p:nvPr/>
        </p:nvSpPr>
        <p:spPr>
          <a:xfrm>
            <a:off x="2926080" y="1828800"/>
            <a:ext cx="2743200" cy="365760"/>
          </a:xfrm>
          <a:prstGeom prst="rect">
            <a:avLst/>
          </a:prstGeom>
          <a:noFill/>
        </p:spPr>
        <p:txBody>
          <a:bodyPr wrap="square" anchor="t"/>
          <a:lstStyle/>
          <a:p>
            <a:pPr algn="l"/>
            <a:r>
              <a:rPr sz="1300" b="1" i="0">
                <a:solidFill>
                  <a:srgbClr val="0B1F33"/>
                </a:solidFill>
                <a:latin typeface="Segoe UI"/>
              </a:rPr>
              <a:t>US$5.0 million (primary)</a:t>
            </a:r>
          </a:p>
        </p:txBody>
      </p:sp>
      <p:sp>
        <p:nvSpPr>
          <p:cNvPr id="10" name="Rectangle 9"/>
          <p:cNvSpPr/>
          <p:nvPr/>
        </p:nvSpPr>
        <p:spPr>
          <a:xfrm>
            <a:off x="731520" y="292608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23160"/>
            <a:ext cx="2194560" cy="365760"/>
          </a:xfrm>
          <a:prstGeom prst="rect">
            <a:avLst/>
          </a:prstGeom>
          <a:noFill/>
        </p:spPr>
        <p:txBody>
          <a:bodyPr wrap="square" anchor="t"/>
          <a:lstStyle/>
          <a:p>
            <a:pPr algn="l"/>
            <a:r>
              <a:rPr sz="1200" b="0" i="0">
                <a:solidFill>
                  <a:srgbClr val="5E6E80"/>
                </a:solidFill>
                <a:latin typeface="Segoe UI"/>
              </a:rPr>
              <a:t>Valuation</a:t>
            </a:r>
          </a:p>
        </p:txBody>
      </p:sp>
      <p:sp>
        <p:nvSpPr>
          <p:cNvPr id="12" name="TextBox 11"/>
          <p:cNvSpPr txBox="1"/>
          <p:nvPr/>
        </p:nvSpPr>
        <p:spPr>
          <a:xfrm>
            <a:off x="2926080" y="2423160"/>
            <a:ext cx="2743200" cy="365760"/>
          </a:xfrm>
          <a:prstGeom prst="rect">
            <a:avLst/>
          </a:prstGeom>
          <a:noFill/>
        </p:spPr>
        <p:txBody>
          <a:bodyPr wrap="square" anchor="t"/>
          <a:lstStyle/>
          <a:p>
            <a:pPr algn="l"/>
            <a:r>
              <a:rPr sz="1300" b="1" i="0">
                <a:solidFill>
                  <a:srgbClr val="0B1F33"/>
                </a:solidFill>
                <a:latin typeface="Segoe UI"/>
              </a:rPr>
              <a:t>US$50.0 million (pre-money)</a:t>
            </a:r>
          </a:p>
        </p:txBody>
      </p:sp>
      <p:sp>
        <p:nvSpPr>
          <p:cNvPr id="13" name="Rectangle 12"/>
          <p:cNvSpPr/>
          <p:nvPr/>
        </p:nvSpPr>
        <p:spPr>
          <a:xfrm>
            <a:off x="731520" y="352043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17520"/>
            <a:ext cx="2194560" cy="365760"/>
          </a:xfrm>
          <a:prstGeom prst="rect">
            <a:avLst/>
          </a:prstGeom>
          <a:noFill/>
        </p:spPr>
        <p:txBody>
          <a:bodyPr wrap="square" anchor="t"/>
          <a:lstStyle/>
          <a:p>
            <a:pPr algn="l"/>
            <a:r>
              <a:rPr sz="1200" b="0" i="0">
                <a:solidFill>
                  <a:srgbClr val="5E6E80"/>
                </a:solidFill>
                <a:latin typeface="Segoe UI"/>
              </a:rPr>
              <a:t>Structure</a:t>
            </a:r>
          </a:p>
        </p:txBody>
      </p:sp>
      <p:sp>
        <p:nvSpPr>
          <p:cNvPr id="15" name="TextBox 14"/>
          <p:cNvSpPr txBox="1"/>
          <p:nvPr/>
        </p:nvSpPr>
        <p:spPr>
          <a:xfrm>
            <a:off x="2926080" y="3017520"/>
            <a:ext cx="2743200" cy="365760"/>
          </a:xfrm>
          <a:prstGeom prst="rect">
            <a:avLst/>
          </a:prstGeom>
          <a:noFill/>
        </p:spPr>
        <p:txBody>
          <a:bodyPr wrap="square" anchor="t"/>
          <a:lstStyle/>
          <a:p>
            <a:pPr algn="l"/>
            <a:r>
              <a:rPr sz="1300" b="1" i="0">
                <a:solidFill>
                  <a:srgbClr val="0B1F33"/>
                </a:solidFill>
                <a:latin typeface="Segoe UI"/>
              </a:rPr>
              <a:t>Preferred equity</a:t>
            </a:r>
          </a:p>
        </p:txBody>
      </p:sp>
      <p:sp>
        <p:nvSpPr>
          <p:cNvPr id="16" name="Rectangle 15"/>
          <p:cNvSpPr/>
          <p:nvPr/>
        </p:nvSpPr>
        <p:spPr>
          <a:xfrm>
            <a:off x="731520" y="411480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11879"/>
            <a:ext cx="2194560" cy="365760"/>
          </a:xfrm>
          <a:prstGeom prst="rect">
            <a:avLst/>
          </a:prstGeom>
          <a:noFill/>
        </p:spPr>
        <p:txBody>
          <a:bodyPr wrap="square" anchor="t"/>
          <a:lstStyle/>
          <a:p>
            <a:pPr algn="l"/>
            <a:r>
              <a:rPr sz="1200" b="0" i="0">
                <a:solidFill>
                  <a:srgbClr val="5E6E80"/>
                </a:solidFill>
                <a:latin typeface="Segoe UI"/>
              </a:rPr>
              <a:t>Use of funds</a:t>
            </a:r>
          </a:p>
        </p:txBody>
      </p:sp>
      <p:sp>
        <p:nvSpPr>
          <p:cNvPr id="18" name="TextBox 17"/>
          <p:cNvSpPr txBox="1"/>
          <p:nvPr/>
        </p:nvSpPr>
        <p:spPr>
          <a:xfrm>
            <a:off x="2926080" y="3611879"/>
            <a:ext cx="2743200" cy="365760"/>
          </a:xfrm>
          <a:prstGeom prst="rect">
            <a:avLst/>
          </a:prstGeom>
          <a:noFill/>
        </p:spPr>
        <p:txBody>
          <a:bodyPr wrap="square" anchor="t"/>
          <a:lstStyle/>
          <a:p>
            <a:pPr algn="l"/>
            <a:r>
              <a:rPr sz="1300" b="1" i="0">
                <a:solidFill>
                  <a:srgbClr val="0B1F33"/>
                </a:solidFill>
                <a:latin typeface="Segoe UI"/>
              </a:rPr>
              <a:t>Product &amp; AI, expansion, team</a:t>
            </a:r>
          </a:p>
        </p:txBody>
      </p:sp>
      <p:sp>
        <p:nvSpPr>
          <p:cNvPr id="19" name="Rectangle 18"/>
          <p:cNvSpPr/>
          <p:nvPr/>
        </p:nvSpPr>
        <p:spPr>
          <a:xfrm>
            <a:off x="731520" y="470915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206240"/>
            <a:ext cx="2194560" cy="365760"/>
          </a:xfrm>
          <a:prstGeom prst="rect">
            <a:avLst/>
          </a:prstGeom>
          <a:noFill/>
        </p:spPr>
        <p:txBody>
          <a:bodyPr wrap="square" anchor="t"/>
          <a:lstStyle/>
          <a:p>
            <a:pPr algn="l"/>
            <a:r>
              <a:rPr sz="1200" b="0" i="0">
                <a:solidFill>
                  <a:srgbClr val="5E6E80"/>
                </a:solidFill>
                <a:latin typeface="Segoe UI"/>
              </a:rPr>
              <a:t>Target close</a:t>
            </a:r>
          </a:p>
        </p:txBody>
      </p:sp>
      <p:sp>
        <p:nvSpPr>
          <p:cNvPr id="21" name="TextBox 20"/>
          <p:cNvSpPr txBox="1"/>
          <p:nvPr/>
        </p:nvSpPr>
        <p:spPr>
          <a:xfrm>
            <a:off x="2926080" y="4206240"/>
            <a:ext cx="2743200" cy="365760"/>
          </a:xfrm>
          <a:prstGeom prst="rect">
            <a:avLst/>
          </a:prstGeom>
          <a:noFill/>
        </p:spPr>
        <p:txBody>
          <a:bodyPr wrap="square" anchor="t"/>
          <a:lstStyle/>
          <a:p>
            <a:pPr algn="l"/>
            <a:r>
              <a:rPr sz="1300" b="1" i="0">
                <a:solidFill>
                  <a:srgbClr val="0B1F33"/>
                </a:solidFill>
                <a:latin typeface="Segoe UI"/>
              </a:rPr>
              <a:t>2H 2026</a:t>
            </a:r>
          </a:p>
        </p:txBody>
      </p:sp>
      <p:sp>
        <p:nvSpPr>
          <p:cNvPr id="22" name="TextBox 21"/>
          <p:cNvSpPr txBox="1"/>
          <p:nvPr/>
        </p:nvSpPr>
        <p:spPr>
          <a:xfrm>
            <a:off x="731520" y="4937760"/>
            <a:ext cx="4937760" cy="274320"/>
          </a:xfrm>
          <a:prstGeom prst="rect">
            <a:avLst/>
          </a:prstGeom>
          <a:noFill/>
        </p:spPr>
        <p:txBody>
          <a:bodyPr wrap="square" anchor="t"/>
          <a:lstStyle/>
          <a:p>
            <a:pPr algn="l"/>
            <a:r>
              <a:rPr sz="900" b="0" i="1">
                <a:solidFill>
                  <a:srgbClr val="5E6E80"/>
                </a:solidFill>
                <a:latin typeface="Segoe UI"/>
              </a:rPr>
              <a:t>Indicative only; subject to definitive documentation.</a:t>
            </a:r>
          </a:p>
        </p:txBody>
      </p:sp>
      <p:sp>
        <p:nvSpPr>
          <p:cNvPr id="23" name="Rounded Rectangle 22"/>
          <p:cNvSpPr/>
          <p:nvPr/>
        </p:nvSpPr>
        <p:spPr>
          <a:xfrm>
            <a:off x="6126480" y="1188720"/>
            <a:ext cx="55778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1371600"/>
            <a:ext cx="5120640" cy="274320"/>
          </a:xfrm>
          <a:prstGeom prst="rect">
            <a:avLst/>
          </a:prstGeom>
          <a:noFill/>
        </p:spPr>
        <p:txBody>
          <a:bodyPr wrap="square" anchor="t"/>
          <a:lstStyle/>
          <a:p>
            <a:pPr algn="l"/>
            <a:r>
              <a:rPr sz="1300" b="1" i="0">
                <a:solidFill>
                  <a:srgbClr val="0B1F33"/>
                </a:solidFill>
                <a:latin typeface="Segoe UI"/>
              </a:rPr>
              <a:t>Use of proceeds</a:t>
            </a:r>
          </a:p>
        </p:txBody>
      </p:sp>
      <p:graphicFrame>
        <p:nvGraphicFramePr>
          <p:cNvPr id="25" name="Chart 24"/>
          <p:cNvGraphicFramePr>
            <a:graphicFrameLocks noGrp="1"/>
          </p:cNvGraphicFramePr>
          <p:nvPr/>
        </p:nvGraphicFramePr>
        <p:xfrm>
          <a:off x="6309360" y="1691640"/>
          <a:ext cx="5212080" cy="3200400"/>
        </p:xfrm>
        <a:graphic>
          <a:graphicData uri="http://schemas.openxmlformats.org/drawingml/2006/chart">
            <c:chart xmlns:c="http://schemas.openxmlformats.org/drawingml/2006/chart" r:id="rId2"/>
          </a:graphicData>
        </a:graphic>
      </p:graphicFrame>
      <p:sp>
        <p:nvSpPr>
          <p:cNvPr id="26" name="Rounded Rectangle 25"/>
          <p:cNvSpPr/>
          <p:nvPr/>
        </p:nvSpPr>
        <p:spPr>
          <a:xfrm>
            <a:off x="502920" y="5486400"/>
            <a:ext cx="11201400" cy="50292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577840"/>
            <a:ext cx="10835640" cy="365760"/>
          </a:xfrm>
          <a:prstGeom prst="rect">
            <a:avLst/>
          </a:prstGeom>
          <a:noFill/>
        </p:spPr>
        <p:txBody>
          <a:bodyPr wrap="square" anchor="t"/>
          <a:lstStyle/>
          <a:p>
            <a:pPr algn="l"/>
            <a:r>
              <a:rPr sz="1200" b="1" i="0">
                <a:solidFill>
                  <a:srgbClr val="07524C"/>
                </a:solidFill>
                <a:latin typeface="Segoe UI"/>
              </a:rPr>
              <a:t>What this capital achieves — next-generation platform release · go-to-market in three additional countries · employer SaaS general availability · scaled global mentor network.</a:t>
            </a:r>
          </a:p>
        </p:txBody>
      </p:sp>
      <p:sp>
        <p:nvSpPr>
          <p:cNvPr id="28" name="Rectangle 2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1" name="TextBox 3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LEADERSHIP</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Founder-Led, Globally Distributed</a:t>
            </a:r>
          </a:p>
        </p:txBody>
      </p:sp>
      <p:sp>
        <p:nvSpPr>
          <p:cNvPr id="5" name="Rounded Rectangle 4"/>
          <p:cNvSpPr/>
          <p:nvPr/>
        </p:nvSpPr>
        <p:spPr>
          <a:xfrm>
            <a:off x="502920" y="1188720"/>
            <a:ext cx="68580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88720"/>
            <a:ext cx="91440" cy="32004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371600"/>
            <a:ext cx="6309360" cy="411480"/>
          </a:xfrm>
          <a:prstGeom prst="rect">
            <a:avLst/>
          </a:prstGeom>
          <a:noFill/>
        </p:spPr>
        <p:txBody>
          <a:bodyPr wrap="square" anchor="t"/>
          <a:lstStyle/>
          <a:p>
            <a:pPr algn="l"/>
            <a:r>
              <a:rPr sz="2600" b="1" i="0">
                <a:solidFill>
                  <a:srgbClr val="0B1F33"/>
                </a:solidFill>
                <a:latin typeface="Georgia"/>
              </a:rPr>
              <a:t>Rocky Chen</a:t>
            </a:r>
          </a:p>
        </p:txBody>
      </p:sp>
      <p:sp>
        <p:nvSpPr>
          <p:cNvPr id="8" name="TextBox 7"/>
          <p:cNvSpPr txBox="1"/>
          <p:nvPr/>
        </p:nvSpPr>
        <p:spPr>
          <a:xfrm>
            <a:off x="822960" y="1874519"/>
            <a:ext cx="6309360" cy="274320"/>
          </a:xfrm>
          <a:prstGeom prst="rect">
            <a:avLst/>
          </a:prstGeom>
          <a:noFill/>
        </p:spPr>
        <p:txBody>
          <a:bodyPr wrap="square" anchor="t"/>
          <a:lstStyle/>
          <a:p>
            <a:pPr algn="l"/>
            <a:r>
              <a:rPr sz="1100" b="1" i="0">
                <a:solidFill>
                  <a:srgbClr val="0A6B63"/>
                </a:solidFill>
                <a:latin typeface="Segoe UI"/>
              </a:rPr>
              <a:t>FOUNDER &amp; CHIEF EXECUTIVE OFFICER</a:t>
            </a:r>
          </a:p>
        </p:txBody>
      </p:sp>
      <p:sp>
        <p:nvSpPr>
          <p:cNvPr id="9" name="TextBox 8"/>
          <p:cNvSpPr txBox="1"/>
          <p:nvPr/>
        </p:nvSpPr>
        <p:spPr>
          <a:xfrm>
            <a:off x="822960" y="2286000"/>
            <a:ext cx="6309360" cy="1371600"/>
          </a:xfrm>
          <a:prstGeom prst="rect">
            <a:avLst/>
          </a:prstGeom>
          <a:noFill/>
        </p:spPr>
        <p:txBody>
          <a:bodyPr wrap="square" anchor="t"/>
          <a:lstStyle/>
          <a:p>
            <a:pPr algn="l"/>
            <a:r>
              <a:rPr sz="1200" b="0" i="0">
                <a:solidFill>
                  <a:srgbClr val="2C3A4B"/>
                </a:solidFill>
                <a:latin typeface="Segoe UI"/>
              </a:rPr>
              <a:t>Founded 51 Careers in New York in 2016 and built it from a boutique consultancy into a multi-market career-services and technology business. Architect of the Company’s AI-first strategy, including the 2025 strategic partnership with Alibaba Cloud AI, and of its expansion across North America, Europe, and Asia.</a:t>
            </a:r>
          </a:p>
        </p:txBody>
      </p:sp>
      <p:sp>
        <p:nvSpPr>
          <p:cNvPr id="10" name="TextBox 9"/>
          <p:cNvSpPr txBox="1"/>
          <p:nvPr/>
        </p:nvSpPr>
        <p:spPr>
          <a:xfrm>
            <a:off x="822960" y="3749039"/>
            <a:ext cx="6309360" cy="457200"/>
          </a:xfrm>
          <a:prstGeom prst="rect">
            <a:avLst/>
          </a:prstGeom>
          <a:noFill/>
        </p:spPr>
        <p:txBody>
          <a:bodyPr wrap="square" anchor="t"/>
          <a:lstStyle/>
          <a:p>
            <a:pPr algn="l"/>
            <a:r>
              <a:rPr sz="1100" b="0" i="0">
                <a:solidFill>
                  <a:srgbClr val="5E6E80"/>
                </a:solidFill>
                <a:latin typeface="Segoe UI"/>
              </a:rPr>
              <a:t>Supporting bench — Senior partners across business development, coaching operations, and engineering, supported by a mentor network of practitioners at leading global employers.</a:t>
            </a:r>
          </a:p>
        </p:txBody>
      </p:sp>
      <p:sp>
        <p:nvSpPr>
          <p:cNvPr id="11" name="Rounded Rectangle 10"/>
          <p:cNvSpPr/>
          <p:nvPr/>
        </p:nvSpPr>
        <p:spPr>
          <a:xfrm>
            <a:off x="7589520" y="1188720"/>
            <a:ext cx="4114800" cy="320040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371600"/>
            <a:ext cx="3657600" cy="274320"/>
          </a:xfrm>
          <a:prstGeom prst="rect">
            <a:avLst/>
          </a:prstGeom>
          <a:noFill/>
        </p:spPr>
        <p:txBody>
          <a:bodyPr wrap="square" anchor="t"/>
          <a:lstStyle/>
          <a:p>
            <a:pPr algn="l"/>
            <a:r>
              <a:rPr sz="1100" b="1" i="0">
                <a:solidFill>
                  <a:srgbClr val="0A6B63"/>
                </a:solidFill>
                <a:latin typeface="Segoe UI"/>
              </a:rPr>
              <a:t>GLOBAL ORGANIZATION</a:t>
            </a:r>
          </a:p>
        </p:txBody>
      </p:sp>
      <p:sp>
        <p:nvSpPr>
          <p:cNvPr id="13" name="TextBox 12"/>
          <p:cNvSpPr txBox="1"/>
          <p:nvPr/>
        </p:nvSpPr>
        <p:spPr>
          <a:xfrm>
            <a:off x="7818120" y="1783080"/>
            <a:ext cx="3657600" cy="411480"/>
          </a:xfrm>
          <a:prstGeom prst="rect">
            <a:avLst/>
          </a:prstGeom>
          <a:noFill/>
        </p:spPr>
        <p:txBody>
          <a:bodyPr wrap="square" anchor="t"/>
          <a:lstStyle/>
          <a:p>
            <a:pPr algn="l"/>
            <a:r>
              <a:rPr sz="2000" b="1" i="0">
                <a:solidFill>
                  <a:srgbClr val="FFFFFF"/>
                </a:solidFill>
                <a:latin typeface="Georgia"/>
              </a:rPr>
              <a:t>≈50 professionals</a:t>
            </a:r>
          </a:p>
        </p:txBody>
      </p:sp>
      <p:sp>
        <p:nvSpPr>
          <p:cNvPr id="14" name="TextBox 13"/>
          <p:cNvSpPr txBox="1"/>
          <p:nvPr/>
        </p:nvSpPr>
        <p:spPr>
          <a:xfrm>
            <a:off x="7818120" y="2240280"/>
            <a:ext cx="3657600" cy="274320"/>
          </a:xfrm>
          <a:prstGeom prst="rect">
            <a:avLst/>
          </a:prstGeom>
          <a:noFill/>
        </p:spPr>
        <p:txBody>
          <a:bodyPr wrap="square" anchor="t"/>
          <a:lstStyle/>
          <a:p>
            <a:pPr algn="l"/>
            <a:r>
              <a:rPr sz="1100" b="0" i="0">
                <a:solidFill>
                  <a:srgbClr val="C5D5E0"/>
                </a:solidFill>
                <a:latin typeface="Segoe UI"/>
              </a:rPr>
              <a:t>Distributed across four continents†</a:t>
            </a:r>
          </a:p>
        </p:txBody>
      </p:sp>
      <p:sp>
        <p:nvSpPr>
          <p:cNvPr id="15" name="TextBox 14"/>
          <p:cNvSpPr txBox="1"/>
          <p:nvPr/>
        </p:nvSpPr>
        <p:spPr>
          <a:xfrm>
            <a:off x="7818120" y="2743200"/>
            <a:ext cx="3657600" cy="274320"/>
          </a:xfrm>
          <a:prstGeom prst="rect">
            <a:avLst/>
          </a:prstGeom>
          <a:noFill/>
        </p:spPr>
        <p:txBody>
          <a:bodyPr wrap="square" anchor="t"/>
          <a:lstStyle/>
          <a:p>
            <a:pPr algn="l"/>
            <a:r>
              <a:rPr sz="1200" b="1" i="0">
                <a:solidFill>
                  <a:srgbClr val="0A6B63"/>
                </a:solidFill>
                <a:latin typeface="Segoe UI"/>
              </a:rPr>
              <a:t>Hubs</a:t>
            </a:r>
          </a:p>
        </p:txBody>
      </p:sp>
      <p:sp>
        <p:nvSpPr>
          <p:cNvPr id="16" name="TextBox 15"/>
          <p:cNvSpPr txBox="1"/>
          <p:nvPr/>
        </p:nvSpPr>
        <p:spPr>
          <a:xfrm>
            <a:off x="7818120" y="3017520"/>
            <a:ext cx="3657600" cy="502920"/>
          </a:xfrm>
          <a:prstGeom prst="rect">
            <a:avLst/>
          </a:prstGeom>
          <a:noFill/>
        </p:spPr>
        <p:txBody>
          <a:bodyPr wrap="square" anchor="t"/>
          <a:lstStyle/>
          <a:p>
            <a:pPr algn="l"/>
            <a:r>
              <a:rPr sz="1100" b="0" i="0">
                <a:solidFill>
                  <a:srgbClr val="FFFFFF"/>
                </a:solidFill>
                <a:latin typeface="Segoe UI"/>
              </a:rPr>
              <a:t>New York &amp; Shanghai; presence in London, Singapore, Seoul, Toronto, and Delhi</a:t>
            </a:r>
          </a:p>
        </p:txBody>
      </p:sp>
      <p:sp>
        <p:nvSpPr>
          <p:cNvPr id="17" name="TextBox 16"/>
          <p:cNvSpPr txBox="1"/>
          <p:nvPr/>
        </p:nvSpPr>
        <p:spPr>
          <a:xfrm>
            <a:off x="7818120" y="3657600"/>
            <a:ext cx="3657600" cy="274320"/>
          </a:xfrm>
          <a:prstGeom prst="rect">
            <a:avLst/>
          </a:prstGeom>
          <a:noFill/>
        </p:spPr>
        <p:txBody>
          <a:bodyPr wrap="square" anchor="t"/>
          <a:lstStyle/>
          <a:p>
            <a:pPr algn="l"/>
            <a:r>
              <a:rPr sz="1200" b="1" i="0">
                <a:solidFill>
                  <a:srgbClr val="0A6B63"/>
                </a:solidFill>
                <a:latin typeface="Segoe UI"/>
              </a:rPr>
              <a:t>Functions</a:t>
            </a:r>
          </a:p>
        </p:txBody>
      </p:sp>
      <p:sp>
        <p:nvSpPr>
          <p:cNvPr id="18" name="TextBox 17"/>
          <p:cNvSpPr txBox="1"/>
          <p:nvPr/>
        </p:nvSpPr>
        <p:spPr>
          <a:xfrm>
            <a:off x="7818120" y="3931920"/>
            <a:ext cx="3657600" cy="365760"/>
          </a:xfrm>
          <a:prstGeom prst="rect">
            <a:avLst/>
          </a:prstGeom>
          <a:noFill/>
        </p:spPr>
        <p:txBody>
          <a:bodyPr wrap="square" anchor="t"/>
          <a:lstStyle/>
          <a:p>
            <a:pPr algn="l"/>
            <a:r>
              <a:rPr sz="1100" b="0" i="0">
                <a:solidFill>
                  <a:srgbClr val="FFFFFF"/>
                </a:solidFill>
                <a:latin typeface="Segoe UI"/>
              </a:rPr>
              <a:t>AI &amp; engineering · coaching &amp; mentor network · placement · employer partnerships</a:t>
            </a:r>
          </a:p>
        </p:txBody>
      </p:sp>
      <p:sp>
        <p:nvSpPr>
          <p:cNvPr id="19" name="Rounded Rectangle 18"/>
          <p:cNvSpPr/>
          <p:nvPr/>
        </p:nvSpPr>
        <p:spPr>
          <a:xfrm>
            <a:off x="502920" y="4572000"/>
            <a:ext cx="1120140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663440"/>
            <a:ext cx="3657600" cy="256032"/>
          </a:xfrm>
          <a:prstGeom prst="rect">
            <a:avLst/>
          </a:prstGeom>
          <a:noFill/>
        </p:spPr>
        <p:txBody>
          <a:bodyPr wrap="square" anchor="t"/>
          <a:lstStyle/>
          <a:p>
            <a:pPr algn="l"/>
            <a:r>
              <a:rPr sz="1100" b="1" i="0">
                <a:solidFill>
                  <a:srgbClr val="0B1F33"/>
                </a:solidFill>
                <a:latin typeface="Segoe UI"/>
              </a:rPr>
              <a:t>Illustrative hub presence</a:t>
            </a:r>
          </a:p>
        </p:txBody>
      </p:sp>
      <p:graphicFrame>
        <p:nvGraphicFramePr>
          <p:cNvPr id="21" name="Chart 20"/>
          <p:cNvGraphicFramePr>
            <a:graphicFrameLocks noGrp="1"/>
          </p:cNvGraphicFramePr>
          <p:nvPr/>
        </p:nvGraphicFramePr>
        <p:xfrm>
          <a:off x="4114800" y="4572000"/>
          <a:ext cx="7406640" cy="1188720"/>
        </p:xfrm>
        <a:graphic>
          <a:graphicData uri="http://schemas.openxmlformats.org/drawingml/2006/chart">
            <c:chart xmlns:c="http://schemas.openxmlformats.org/drawingml/2006/chart" r:id="rId2"/>
          </a:graphicData>
        </a:graphic>
      </p:graphicFrame>
      <p:sp>
        <p:nvSpPr>
          <p:cNvPr id="22" name="TextBox 21"/>
          <p:cNvSpPr txBox="1"/>
          <p:nvPr/>
        </p:nvSpPr>
        <p:spPr>
          <a:xfrm>
            <a:off x="502920" y="5852160"/>
            <a:ext cx="10972800" cy="228600"/>
          </a:xfrm>
          <a:prstGeom prst="rect">
            <a:avLst/>
          </a:prstGeom>
          <a:noFill/>
        </p:spPr>
        <p:txBody>
          <a:bodyPr wrap="square" anchor="t"/>
          <a:lstStyle/>
          <a:p>
            <a:pPr algn="l"/>
            <a:r>
              <a:rPr sz="800" b="0" i="0">
                <a:solidFill>
                  <a:srgbClr val="5E6E80"/>
                </a:solidFill>
                <a:latin typeface="Segoe UI"/>
              </a:rPr>
              <a:t>† Headcount per third-party estimates (2025); to be confirmed in due diligence.</a:t>
            </a:r>
          </a:p>
        </p:txBody>
      </p:sp>
      <p:sp>
        <p:nvSpPr>
          <p:cNvPr id="23" name="Rectangle 22"/>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6" name="TextBox 25"/>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10332720" cy="1371600"/>
          </a:xfrm>
          <a:prstGeom prst="rect">
            <a:avLst/>
          </a:prstGeom>
          <a:noFill/>
        </p:spPr>
        <p:txBody>
          <a:bodyPr wrap="square" anchor="ctr"/>
          <a:lstStyle/>
          <a:p>
            <a:pPr algn="ctr"/>
            <a:r>
              <a:rPr sz="2800" b="1" i="0">
                <a:solidFill>
                  <a:srgbClr val="FFFFFF"/>
                </a:solidFill>
                <a:latin typeface="Georgia"/>
              </a:rPr>
              <a:t>“Our mission is to make great jobs accessible to everyone.”</a:t>
            </a:r>
          </a:p>
        </p:txBody>
      </p:sp>
      <p:sp>
        <p:nvSpPr>
          <p:cNvPr id="5" name="TextBox 4"/>
          <p:cNvSpPr txBox="1"/>
          <p:nvPr/>
        </p:nvSpPr>
        <p:spPr>
          <a:xfrm>
            <a:off x="914400" y="3200400"/>
            <a:ext cx="10332720" cy="457200"/>
          </a:xfrm>
          <a:prstGeom prst="rect">
            <a:avLst/>
          </a:prstGeom>
          <a:noFill/>
        </p:spPr>
        <p:txBody>
          <a:bodyPr wrap="square" anchor="t"/>
          <a:lstStyle/>
          <a:p>
            <a:pPr algn="ctr"/>
            <a:r>
              <a:rPr sz="2200" b="1" i="0">
                <a:solidFill>
                  <a:srgbClr val="0A6B63"/>
                </a:solidFill>
                <a:latin typeface="Georgia"/>
              </a:rPr>
              <a:t>51CAREERS.AI</a:t>
            </a:r>
          </a:p>
        </p:txBody>
      </p:sp>
      <p:sp>
        <p:nvSpPr>
          <p:cNvPr id="6" name="TextBox 5"/>
          <p:cNvSpPr txBox="1"/>
          <p:nvPr/>
        </p:nvSpPr>
        <p:spPr>
          <a:xfrm>
            <a:off x="914400" y="3840480"/>
            <a:ext cx="10332720" cy="320040"/>
          </a:xfrm>
          <a:prstGeom prst="rect">
            <a:avLst/>
          </a:prstGeom>
          <a:noFill/>
        </p:spPr>
        <p:txBody>
          <a:bodyPr wrap="square" anchor="t"/>
          <a:lstStyle/>
          <a:p>
            <a:pPr algn="ctr"/>
            <a:r>
              <a:rPr sz="1300" b="0" i="0">
                <a:solidFill>
                  <a:srgbClr val="C5D5E0"/>
                </a:solidFill>
                <a:latin typeface="Segoe UI"/>
              </a:rPr>
              <a:t>Rocky Chen  ·  Founder &amp; Chief Executive Officer</a:t>
            </a:r>
          </a:p>
        </p:txBody>
      </p:sp>
      <p:sp>
        <p:nvSpPr>
          <p:cNvPr id="7" name="TextBox 6"/>
          <p:cNvSpPr txBox="1"/>
          <p:nvPr/>
        </p:nvSpPr>
        <p:spPr>
          <a:xfrm>
            <a:off x="914400" y="4572000"/>
            <a:ext cx="10332720" cy="320040"/>
          </a:xfrm>
          <a:prstGeom prst="rect">
            <a:avLst/>
          </a:prstGeom>
          <a:noFill/>
        </p:spPr>
        <p:txBody>
          <a:bodyPr wrap="square" anchor="t"/>
          <a:lstStyle/>
          <a:p>
            <a:pPr algn="ctr"/>
            <a:r>
              <a:rPr sz="1200" b="0" i="0">
                <a:solidFill>
                  <a:srgbClr val="FFFFFF"/>
                </a:solidFill>
                <a:latin typeface="Segoe UI"/>
              </a:rPr>
              <a:t>info@51careers.com      ·      www.51careers.ai</a:t>
            </a:r>
          </a:p>
        </p:txBody>
      </p:sp>
      <p:sp>
        <p:nvSpPr>
          <p:cNvPr id="8" name="TextBox 7"/>
          <p:cNvSpPr txBox="1"/>
          <p:nvPr/>
        </p:nvSpPr>
        <p:spPr>
          <a:xfrm>
            <a:off x="914400" y="4937760"/>
            <a:ext cx="10332720" cy="320040"/>
          </a:xfrm>
          <a:prstGeom prst="rect">
            <a:avLst/>
          </a:prstGeom>
          <a:noFill/>
        </p:spPr>
        <p:txBody>
          <a:bodyPr wrap="square" anchor="t"/>
          <a:lstStyle/>
          <a:p>
            <a:pPr algn="ctr"/>
            <a:r>
              <a:rPr sz="1200" b="0" i="0">
                <a:solidFill>
                  <a:srgbClr val="6B7C8F"/>
                </a:solidFill>
                <a:latin typeface="Segoe UI"/>
              </a:rPr>
              <a:t>48 Wall Street, 11th Floor, New York, NY 10005</a:t>
            </a:r>
          </a:p>
        </p:txBody>
      </p:sp>
      <p:sp>
        <p:nvSpPr>
          <p:cNvPr id="9" name="TextBox 8"/>
          <p:cNvSpPr txBox="1"/>
          <p:nvPr/>
        </p:nvSpPr>
        <p:spPr>
          <a:xfrm>
            <a:off x="914400" y="6217920"/>
            <a:ext cx="10332720" cy="274320"/>
          </a:xfrm>
          <a:prstGeom prst="rect">
            <a:avLst/>
          </a:prstGeom>
          <a:noFill/>
        </p:spPr>
        <p:txBody>
          <a:bodyPr wrap="square" anchor="t"/>
          <a:lstStyle/>
          <a:p>
            <a:pPr algn="ctr"/>
            <a:r>
              <a:rPr sz="900" b="1" i="0">
                <a:solidFill>
                  <a:srgbClr val="6B7C8F"/>
                </a:solidFill>
                <a:latin typeface="Segoe UI"/>
              </a:rPr>
              <a:t>51CAREERS.AI   ·   CONFIDENTIAL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