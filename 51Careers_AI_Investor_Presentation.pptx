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Estimated</c:v>
                </c:pt>
              </c:strCache>
            </c:strRef>
          </c:tx>
          <c:spPr>
            <a:solidFill>
              <a:srgbClr val="132A4F"/>
            </a:solidFill>
            <a:effectLst/>
          </c:spPr>
          <c:invertIfNegative val="0"/>
          <c:dLbls>
            <c:numFmt formatCode="General" sourceLinked="0"/>
            <c:txPr>
              <a:bodyPr/>
              <a:lstStyle/>
              <a:p>
                <a:pPr>
                  <a:defRPr b="1"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Sheet1!$A$2:$A$6</c:f>
              <c:multiLvlStrCache>
                <c:ptCount val="5"/>
                <c:lvl>
                  <c:pt idx="0">
                    <c:v>2025E</c:v>
                  </c:pt>
                  <c:pt idx="1">
                    <c:v>2026E</c:v>
                  </c:pt>
                  <c:pt idx="2">
                    <c:v>2027E</c:v>
                  </c:pt>
                  <c:pt idx="3">
                    <c:v>2028E</c:v>
                  </c:pt>
                  <c:pt idx="4">
                    <c:v>2029E</c:v>
                  </c:pt>
                </c:lvl>
              </c:multiLvlStrCache>
            </c:multiLvlStrRef>
          </c:cat>
          <c:val>
            <c:numRef>
              <c:f>Sheet1!$B$2:$B$6</c:f>
              <c:numCache>
                <c:formatCode>General</c:formatCode>
                <c:ptCount val="5"/>
                <c:pt idx="0">
                  <c:v>10</c:v>
                </c:pt>
                <c:pt idx="1">
                  <c:v/>
                </c:pt>
                <c:pt idx="2">
                  <c:v/>
                </c:pt>
                <c:pt idx="3">
                  <c:v/>
                </c:pt>
                <c:pt idx="4">
                  <c:v/>
                </c:pt>
              </c:numCache>
            </c:numRef>
          </c:val>
        </c:ser>
        <c:ser>
          <c:idx val="1"/>
          <c:order val="1"/>
          <c:tx>
            <c:strRef>
              <c:f>Sheet1!$C$1</c:f>
              <c:strCache>
                <c:ptCount val="1"/>
                <c:pt idx="0">
                  <c:v>Projected</c:v>
                </c:pt>
              </c:strCache>
            </c:strRef>
          </c:tx>
          <c:spPr>
            <a:solidFill>
              <a:srgbClr val="44639A"/>
            </a:solidFill>
            <a:effectLst/>
          </c:spPr>
          <c:invertIfNegative val="0"/>
          <c:dLbls>
            <c:numFmt formatCode="General" sourceLinked="0"/>
            <c:txPr>
              <a:bodyPr/>
              <a:lstStyle/>
              <a:p>
                <a:pPr>
                  <a:defRPr b="1"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Sheet1!$A$2:$A$6</c:f>
              <c:multiLvlStrCache>
                <c:ptCount val="5"/>
                <c:lvl>
                  <c:pt idx="0">
                    <c:v>2025E</c:v>
                  </c:pt>
                  <c:pt idx="1">
                    <c:v>2026E</c:v>
                  </c:pt>
                  <c:pt idx="2">
                    <c:v>2027E</c:v>
                  </c:pt>
                  <c:pt idx="3">
                    <c:v>2028E</c:v>
                  </c:pt>
                  <c:pt idx="4">
                    <c:v>2029E</c:v>
                  </c:pt>
                </c:lvl>
              </c:multiLvlStrCache>
            </c:multiLvlStrRef>
          </c:cat>
          <c:val>
            <c:numRef>
              <c:f>Sheet1!$C$2:$C$6</c:f>
              <c:numCache>
                <c:formatCode>General</c:formatCode>
                <c:ptCount val="5"/>
                <c:pt idx="0">
                  <c:v/>
                </c:pt>
                <c:pt idx="1">
                  <c:v>14.5</c:v>
                </c:pt>
                <c:pt idx="2">
                  <c:v>22.5</c:v>
                </c:pt>
                <c:pt idx="3">
                  <c:v>34</c:v>
                </c:pt>
                <c:pt idx="4">
                  <c:v>52</c:v>
                </c:pt>
              </c:numCache>
            </c:numRef>
          </c:val>
        </c:ser>
        <c:dLbls>
          <c:numFmt formatCode="General" sourceLinked="0"/>
          <c:txPr>
            <a:bodyPr/>
            <a:lstStyle/>
            <a:p>
              <a:pPr>
                <a:defRPr b="1"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2DC"/>
            </a:solidFill>
            <a:prstDash val="solid"/>
            <a:round/>
          </a:ln>
        </c:spPr>
        <c:txPr>
          <a:bodyPr/>
          <a:lstStyle/>
          <a:p>
            <a:pPr>
              <a:defRPr sz="1100" b="0" i="0" u="none" strike="noStrike">
                <a:solidFill>
                  <a:srgbClr val="5A6B7E"/>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A6B7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Proceeds</c:v>
                </c:pt>
              </c:strCache>
            </c:strRef>
          </c:tx>
          <c:spPr>
            <a:solidFill>
              <a:schemeClr val="accent1"/>
            </a:solidFill>
            <a:ln w="9525" cap="flat">
              <a:solidFill>
                <a:srgbClr val="F9F9F9"/>
              </a:solidFill>
              <a:prstDash val="solid"/>
              <a:round/>
            </a:ln>
            <a:effectLst/>
          </c:spPr>
          <c:dPt>
            <c:idx val="0"/>
            <c:bubble3D val="0"/>
            <c:spPr>
              <a:solidFill>
                <a:srgbClr val="132A4F"/>
              </a:solidFill>
              <a:effectLst/>
            </c:spPr>
          </c:dPt>
          <c:dPt>
            <c:idx val="1"/>
            <c:bubble3D val="0"/>
            <c:spPr>
              <a:solidFill>
                <a:srgbClr val="3D5C8C"/>
              </a:solidFill>
              <a:effectLst/>
            </c:spPr>
          </c:dPt>
          <c:dPt>
            <c:idx val="2"/>
            <c:bubble3D val="0"/>
            <c:spPr>
              <a:solidFill>
                <a:srgbClr val="7C93B8"/>
              </a:solidFill>
              <a:effectLst/>
            </c:spPr>
          </c:dPt>
          <c:dPt>
            <c:idx val="3"/>
            <c:bubble3D val="0"/>
            <c:spPr>
              <a:solidFill>
                <a:srgbClr val="9A7B3F"/>
              </a:solidFill>
              <a:effectLst/>
            </c:spPr>
          </c:dPt>
          <c:dPt>
            <c:idx val="4"/>
            <c:bubble3D val="0"/>
            <c:spPr>
              <a:solidFill>
                <a:srgbClr val="5A6B7E"/>
              </a:solidFill>
              <a:effectLst/>
            </c:spPr>
          </c:dPt>
          <c:dLbls>
            <c:dLbl>
              <c:idx val="0"/>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Product &amp; AI development</c:v>
                </c:pt>
                <c:pt idx="1">
                  <c:v>International expansion</c:v>
                </c:pt>
                <c:pt idx="2">
                  <c:v>Talent &amp; team</c:v>
                </c:pt>
                <c:pt idx="3">
                  <c:v>Brand &amp; growth marketing</c:v>
                </c:pt>
                <c:pt idx="4">
                  <c:v>Working capital</c:v>
                </c:pt>
              </c:strCache>
            </c:strRef>
          </c:cat>
          <c:val>
            <c:numRef>
              <c:f>Sheet1!$B$2:$B$6</c:f>
              <c:numCache>
                <c:ptCount val="5"/>
                <c:pt idx="0">
                  <c:v>35</c:v>
                </c:pt>
                <c:pt idx="1">
                  <c:v>30</c:v>
                </c:pt>
                <c:pt idx="2">
                  <c:v>20</c:v>
                </c:pt>
                <c:pt idx="3">
                  <c:v>10</c:v>
                </c:pt>
                <c:pt idx="4">
                  <c:v>5</c:v>
                </c:pt>
              </c:numCache>
            </c:numRef>
          </c:val>
        </c:ser>
        <c:firstSliceAng val="0"/>
        <c:holeSize val="62"/>
      </c:doughnutChart>
      <c:spPr>
        <a:noFill/>
        <a:ln>
          <a:noFill/>
        </a:ln>
        <a:effectLst/>
      </c:spPr>
    </c:plotArea>
    <c:legend>
      <c:legendPos val="r"/>
      <c:overlay val="0"/>
      <c:txPr>
        <a:bodyPr/>
        <a:lstStyle/>
        <a:p>
          <a:pPr>
            <a:defRPr sz="1000">
              <a:solidFill>
                <a:srgbClr val="1C2733"/>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83880" y="0"/>
            <a:ext cx="4007815" cy="6858000"/>
          </a:xfrm>
          <a:prstGeom prst="rect">
            <a:avLst/>
          </a:prstGeom>
          <a:solidFill>
            <a:srgbClr val="F3F6F9"/>
          </a:solidFill>
          <a:ln/>
        </p:spPr>
      </p:sp>
      <p:sp>
        <p:nvSpPr>
          <p:cNvPr id="3" name="Text 1"/>
          <p:cNvSpPr/>
          <p:nvPr/>
        </p:nvSpPr>
        <p:spPr>
          <a:xfrm>
            <a:off x="8732520" y="1188720"/>
            <a:ext cx="3017520" cy="658368"/>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2016</a:t>
            </a:r>
            <a:endParaRPr lang="en-US" sz="3800" dirty="0"/>
          </a:p>
        </p:txBody>
      </p:sp>
      <p:sp>
        <p:nvSpPr>
          <p:cNvPr id="4" name="Text 2"/>
          <p:cNvSpPr/>
          <p:nvPr/>
        </p:nvSpPr>
        <p:spPr>
          <a:xfrm>
            <a:off x="8732520" y="1865376"/>
            <a:ext cx="301752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FOUNDED · NEW YORK CITY</a:t>
            </a:r>
            <a:endParaRPr lang="en-US" sz="850" dirty="0"/>
          </a:p>
        </p:txBody>
      </p:sp>
      <p:sp>
        <p:nvSpPr>
          <p:cNvPr id="5" name="Text 3"/>
          <p:cNvSpPr/>
          <p:nvPr/>
        </p:nvSpPr>
        <p:spPr>
          <a:xfrm>
            <a:off x="8732520" y="2926080"/>
            <a:ext cx="3017520" cy="658368"/>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8+</a:t>
            </a:r>
            <a:endParaRPr lang="en-US" sz="3800" dirty="0"/>
          </a:p>
        </p:txBody>
      </p:sp>
      <p:sp>
        <p:nvSpPr>
          <p:cNvPr id="6" name="Text 4"/>
          <p:cNvSpPr/>
          <p:nvPr/>
        </p:nvSpPr>
        <p:spPr>
          <a:xfrm>
            <a:off x="8732520" y="3602736"/>
            <a:ext cx="301752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COUNTRIES OF OPERATION</a:t>
            </a:r>
            <a:endParaRPr lang="en-US" sz="850" dirty="0"/>
          </a:p>
        </p:txBody>
      </p:sp>
      <p:sp>
        <p:nvSpPr>
          <p:cNvPr id="7" name="Text 5"/>
          <p:cNvSpPr/>
          <p:nvPr/>
        </p:nvSpPr>
        <p:spPr>
          <a:xfrm>
            <a:off x="8732520" y="4663440"/>
            <a:ext cx="3017520" cy="658368"/>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US$10M+</a:t>
            </a:r>
            <a:endParaRPr lang="en-US" sz="3800" dirty="0"/>
          </a:p>
        </p:txBody>
      </p:sp>
      <p:sp>
        <p:nvSpPr>
          <p:cNvPr id="8" name="Text 6"/>
          <p:cNvSpPr/>
          <p:nvPr/>
        </p:nvSpPr>
        <p:spPr>
          <a:xfrm>
            <a:off x="8732520" y="5340096"/>
            <a:ext cx="301752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ANNUAL REVENUE (EST.)†</a:t>
            </a:r>
            <a:endParaRPr lang="en-US" sz="850" dirty="0"/>
          </a:p>
        </p:txBody>
      </p:sp>
      <p:sp>
        <p:nvSpPr>
          <p:cNvPr id="9" name="Text 7"/>
          <p:cNvSpPr/>
          <p:nvPr/>
        </p:nvSpPr>
        <p:spPr>
          <a:xfrm>
            <a:off x="8732520" y="6263640"/>
            <a:ext cx="3017520" cy="228600"/>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 Third-party estimates; see p.9</a:t>
            </a:r>
            <a:endParaRPr lang="en-US" sz="750" dirty="0"/>
          </a:p>
        </p:txBody>
      </p:sp>
      <p:sp>
        <p:nvSpPr>
          <p:cNvPr id="10" name="Text 8"/>
          <p:cNvSpPr/>
          <p:nvPr/>
        </p:nvSpPr>
        <p:spPr>
          <a:xfrm>
            <a:off x="566928" y="914400"/>
            <a:ext cx="7132320" cy="274320"/>
          </a:xfrm>
          <a:prstGeom prst="rect">
            <a:avLst/>
          </a:prstGeom>
          <a:noFill/>
          <a:ln/>
        </p:spPr>
        <p:txBody>
          <a:bodyPr wrap="square" lIns="0" tIns="0" rIns="0" bIns="0" rtlCol="0" anchor="ctr"/>
          <a:lstStyle/>
          <a:p>
            <a:pPr indent="0" marL="0">
              <a:buNone/>
            </a:pPr>
            <a:r>
              <a:rPr lang="en-US" sz="1000" b="1" spc="400" kern="0" dirty="0">
                <a:solidFill>
                  <a:srgbClr val="9A7B3F"/>
                </a:solidFill>
                <a:latin typeface="Calibri" pitchFamily="34" charset="0"/>
                <a:ea typeface="Calibri" pitchFamily="34" charset="-122"/>
                <a:cs typeface="Calibri" pitchFamily="34" charset="-120"/>
              </a:rPr>
              <a:t>CONFIDENTIAL INVESTOR PRESENTATION</a:t>
            </a:r>
            <a:endParaRPr lang="en-US" sz="1000" dirty="0"/>
          </a:p>
        </p:txBody>
      </p:sp>
      <p:sp>
        <p:nvSpPr>
          <p:cNvPr id="11" name="Text 9"/>
          <p:cNvSpPr/>
          <p:nvPr/>
        </p:nvSpPr>
        <p:spPr>
          <a:xfrm>
            <a:off x="566928" y="1965960"/>
            <a:ext cx="7406640" cy="868680"/>
          </a:xfrm>
          <a:prstGeom prst="rect">
            <a:avLst/>
          </a:prstGeom>
          <a:noFill/>
          <a:ln/>
        </p:spPr>
        <p:txBody>
          <a:bodyPr wrap="square" lIns="0" tIns="0" rIns="0" bIns="0" rtlCol="0" anchor="ctr"/>
          <a:lstStyle/>
          <a:p>
            <a:pPr indent="0" marL="0">
              <a:buNone/>
            </a:pPr>
            <a:r>
              <a:rPr lang="en-US" sz="4600" b="1" dirty="0">
                <a:solidFill>
                  <a:srgbClr val="132A4F"/>
                </a:solidFill>
                <a:latin typeface="Century Schoolbook" pitchFamily="34" charset="0"/>
                <a:ea typeface="Century Schoolbook" pitchFamily="34" charset="-122"/>
                <a:cs typeface="Century Schoolbook" pitchFamily="34" charset="-120"/>
              </a:rPr>
              <a:t>51CAREERS</a:t>
            </a:r>
            <a:pPr indent="0" marL="0">
              <a:buNone/>
            </a:pPr>
            <a:r>
              <a:rPr lang="en-US" sz="4600" b="1" dirty="0">
                <a:solidFill>
                  <a:srgbClr val="9A7B3F"/>
                </a:solidFill>
                <a:latin typeface="Century Schoolbook" pitchFamily="34" charset="0"/>
                <a:ea typeface="Century Schoolbook" pitchFamily="34" charset="-122"/>
                <a:cs typeface="Century Schoolbook" pitchFamily="34" charset="-120"/>
              </a:rPr>
              <a:t>.AI</a:t>
            </a:r>
            <a:endParaRPr lang="en-US" sz="4600" dirty="0"/>
          </a:p>
        </p:txBody>
      </p:sp>
      <p:sp>
        <p:nvSpPr>
          <p:cNvPr id="12" name="Text 10"/>
          <p:cNvSpPr/>
          <p:nvPr/>
        </p:nvSpPr>
        <p:spPr>
          <a:xfrm>
            <a:off x="566928" y="2907792"/>
            <a:ext cx="7315200" cy="365760"/>
          </a:xfrm>
          <a:prstGeom prst="rect">
            <a:avLst/>
          </a:prstGeom>
          <a:noFill/>
          <a:ln/>
        </p:spPr>
        <p:txBody>
          <a:bodyPr wrap="square" lIns="0" tIns="0" rIns="0" bIns="0" rtlCol="0" anchor="ctr"/>
          <a:lstStyle/>
          <a:p>
            <a:pPr indent="0" marL="0">
              <a:buNone/>
            </a:pPr>
            <a:r>
              <a:rPr lang="en-US" sz="1600" dirty="0">
                <a:solidFill>
                  <a:srgbClr val="5A6B7E"/>
                </a:solidFill>
                <a:latin typeface="Calibri" pitchFamily="34" charset="0"/>
                <a:ea typeface="Calibri" pitchFamily="34" charset="-122"/>
                <a:cs typeface="Calibri" pitchFamily="34" charset="-120"/>
              </a:rPr>
              <a:t>The AI-Powered Global Career Platform</a:t>
            </a:r>
            <a:endParaRPr lang="en-US" sz="1600" dirty="0"/>
          </a:p>
        </p:txBody>
      </p:sp>
      <p:sp>
        <p:nvSpPr>
          <p:cNvPr id="13" name="Text 11"/>
          <p:cNvSpPr/>
          <p:nvPr/>
        </p:nvSpPr>
        <p:spPr>
          <a:xfrm>
            <a:off x="566928" y="4160520"/>
            <a:ext cx="7132320" cy="310896"/>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Growth Financing</a:t>
            </a:r>
            <a:endParaRPr lang="en-US" sz="1350" dirty="0"/>
          </a:p>
        </p:txBody>
      </p:sp>
      <p:sp>
        <p:nvSpPr>
          <p:cNvPr id="14" name="Text 12"/>
          <p:cNvSpPr/>
          <p:nvPr/>
        </p:nvSpPr>
        <p:spPr>
          <a:xfrm>
            <a:off x="566928" y="4498848"/>
            <a:ext cx="7132320" cy="292608"/>
          </a:xfrm>
          <a:prstGeom prst="rect">
            <a:avLst/>
          </a:prstGeom>
          <a:noFill/>
          <a:ln/>
        </p:spPr>
        <p:txBody>
          <a:bodyPr wrap="square" lIns="0" tIns="0" rIns="0" bIns="0" rtlCol="0" anchor="ctr"/>
          <a:lstStyle/>
          <a:p>
            <a:pPr indent="0" marL="0">
              <a:buNone/>
            </a:pPr>
            <a:r>
              <a:rPr lang="en-US" sz="1200" dirty="0">
                <a:solidFill>
                  <a:srgbClr val="5A6B7E"/>
                </a:solidFill>
                <a:latin typeface="Calibri" pitchFamily="34" charset="0"/>
                <a:ea typeface="Calibri" pitchFamily="34" charset="-122"/>
                <a:cs typeface="Calibri" pitchFamily="34" charset="-120"/>
              </a:rPr>
              <a:t>US$5.0 Million Private Placement   ·   July 2026</a:t>
            </a:r>
            <a:endParaRPr lang="en-US" sz="1200" dirty="0"/>
          </a:p>
        </p:txBody>
      </p:sp>
      <p:sp>
        <p:nvSpPr>
          <p:cNvPr id="15" name="Text 13"/>
          <p:cNvSpPr/>
          <p:nvPr/>
        </p:nvSpPr>
        <p:spPr>
          <a:xfrm>
            <a:off x="566928" y="6263640"/>
            <a:ext cx="7406640" cy="256032"/>
          </a:xfrm>
          <a:prstGeom prst="rect">
            <a:avLst/>
          </a:prstGeom>
          <a:noFill/>
          <a:ln/>
        </p:spPr>
        <p:txBody>
          <a:bodyPr wrap="square" lIns="0" tIns="0" rIns="0" bIns="0" rtlCol="0" anchor="ctr"/>
          <a:lstStyle/>
          <a:p>
            <a:pPr indent="0" marL="0">
              <a:buNone/>
            </a:pPr>
            <a:r>
              <a:rPr lang="en-US" sz="850" spc="200" kern="0" dirty="0">
                <a:solidFill>
                  <a:srgbClr val="5A6B7E"/>
                </a:solidFill>
                <a:latin typeface="Calibri" pitchFamily="34" charset="0"/>
                <a:ea typeface="Calibri" pitchFamily="34" charset="-122"/>
                <a:cs typeface="Calibri" pitchFamily="34" charset="-120"/>
              </a:rPr>
              <a:t>NEW YORK  ·  SHANGHAI  ·  LONDON  ·  SINGAPORE  ·  SEOUL  ·  TORONTO  ·  DELHI</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IMPORTANT NOTICE</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Disclaimer</a:t>
            </a:r>
            <a:endParaRPr lang="en-US" sz="3000" dirty="0"/>
          </a:p>
        </p:txBody>
      </p:sp>
      <p:sp>
        <p:nvSpPr>
          <p:cNvPr id="4" name="Text 2"/>
          <p:cNvSpPr/>
          <p:nvPr/>
        </p:nvSpPr>
        <p:spPr>
          <a:xfrm>
            <a:off x="566928" y="1691640"/>
            <a:ext cx="10241280" cy="4023360"/>
          </a:xfrm>
          <a:prstGeom prst="rect">
            <a:avLst/>
          </a:prstGeom>
          <a:noFill/>
          <a:ln/>
        </p:spPr>
        <p:txBody>
          <a:bodyPr wrap="square" lIns="0" tIns="0" rIns="0" bIns="0" rtlCol="0" anchor="t"/>
          <a:lstStyle/>
          <a:p>
            <a:pPr indent="0" marL="0">
              <a:lnSpc>
                <a:spcPts val="1650"/>
              </a:lnSpc>
              <a:spcAft>
                <a:spcPts val="1200"/>
              </a:spcAft>
              <a:buNone/>
            </a:pPr>
            <a:r>
              <a:rPr lang="en-US" sz="1050" dirty="0">
                <a:solidFill>
                  <a:srgbClr val="5A6B7E"/>
                </a:solidFill>
                <a:latin typeface="Calibri" pitchFamily="34" charset="0"/>
                <a:ea typeface="Calibri" pitchFamily="34" charset="-122"/>
                <a:cs typeface="Calibri" pitchFamily="34" charset="-120"/>
              </a:rPr>
              <a:t>This presentation has been prepared by 51 Careers Inc. and its affiliates (together, “51Careers.AI” or the “Company”) solely for informational purposes in connection with a proposed private financing. It is confidential and intended exclusively for the named recipient; it may not be reproduced, distributed, or disclosed, in whole or in part, without the Company’s prior written consent.</a:t>
            </a:r>
            <a:endParaRPr lang="en-US" sz="1050" dirty="0"/>
          </a:p>
          <a:p>
            <a:pPr indent="0" marL="0">
              <a:lnSpc>
                <a:spcPts val="1650"/>
              </a:lnSpc>
              <a:spcAft>
                <a:spcPts val="1200"/>
              </a:spcAft>
              <a:buNone/>
            </a:pPr>
            <a:r>
              <a:rPr lang="en-US" sz="1050" dirty="0">
                <a:solidFill>
                  <a:srgbClr val="5A6B7E"/>
                </a:solidFill>
                <a:latin typeface="Calibri" pitchFamily="34" charset="0"/>
                <a:ea typeface="Calibri" pitchFamily="34" charset="-122"/>
                <a:cs typeface="Calibri" pitchFamily="34" charset="-120"/>
              </a:rPr>
              <a:t>This document does not constitute an offer to sell, or a solicitation of an offer to buy, any securities in any jurisdiction. Any such offer will be made only pursuant to definitive documentation and only to qualified investors in compliance with applicable securities laws.</a:t>
            </a:r>
            <a:endParaRPr lang="en-US" sz="1050" dirty="0"/>
          </a:p>
          <a:p>
            <a:pPr indent="0" marL="0">
              <a:lnSpc>
                <a:spcPts val="1650"/>
              </a:lnSpc>
              <a:spcAft>
                <a:spcPts val="1200"/>
              </a:spcAft>
              <a:buNone/>
            </a:pPr>
            <a:r>
              <a:rPr lang="en-US" sz="1050" dirty="0">
                <a:solidFill>
                  <a:srgbClr val="5A6B7E"/>
                </a:solidFill>
                <a:latin typeface="Calibri" pitchFamily="34" charset="0"/>
                <a:ea typeface="Calibri" pitchFamily="34" charset="-122"/>
                <a:cs typeface="Calibri" pitchFamily="34" charset="-120"/>
              </a:rPr>
              <a:t>Certain statements herein are forward-looking and reflect current expectations of management. Such statements involve known and unknown risks and uncertainties, and actual results may differ materially. Certain market, operating, and financial figures are estimates — including third-party estimates — presented for illustration only and remain subject to confirmation in due diligence. No representation or warranty, express or implied, is made as to the accuracy or completeness of the information contained herein, and nothing herein constitutes legal, tax, financial, or investment advice. Recipients should conduct their own independent investigation and analysis.</a:t>
            </a:r>
            <a:endParaRPr lang="en-US" sz="1050" dirty="0"/>
          </a:p>
        </p:txBody>
      </p:sp>
      <p:sp>
        <p:nvSpPr>
          <p:cNvPr id="5" name="Text 3"/>
          <p:cNvSpPr/>
          <p:nvPr/>
        </p:nvSpPr>
        <p:spPr>
          <a:xfrm>
            <a:off x="566928" y="5897880"/>
            <a:ext cx="7315200" cy="256032"/>
          </a:xfrm>
          <a:prstGeom prst="rect">
            <a:avLst/>
          </a:prstGeom>
          <a:noFill/>
          <a:ln/>
        </p:spPr>
        <p:txBody>
          <a:bodyPr wrap="square" lIns="0" tIns="0" rIns="0" bIns="0" rtlCol="0" anchor="ctr"/>
          <a:lstStyle/>
          <a:p>
            <a:pPr indent="0" marL="0">
              <a:buNone/>
            </a:pPr>
            <a:r>
              <a:rPr lang="en-US" sz="950" i="1" dirty="0">
                <a:solidFill>
                  <a:srgbClr val="5A6B7E"/>
                </a:solidFill>
                <a:latin typeface="Calibri" pitchFamily="34" charset="0"/>
                <a:ea typeface="Calibri" pitchFamily="34" charset="-122"/>
                <a:cs typeface="Calibri" pitchFamily="34" charset="-120"/>
              </a:rPr>
              <a:t>Prepared by 51Careers.AI — July 2026</a:t>
            </a:r>
            <a:endParaRPr lang="en-US" sz="950" dirty="0"/>
          </a:p>
        </p:txBody>
      </p:sp>
      <p:sp>
        <p:nvSpPr>
          <p:cNvPr id="6" name="Text 4"/>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7" name="Text 5"/>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EXECUTIVE SUMMARY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Investment Highlights</a:t>
            </a:r>
            <a:endParaRPr lang="en-US" sz="3000" dirty="0"/>
          </a:p>
        </p:txBody>
      </p:sp>
      <p:sp>
        <p:nvSpPr>
          <p:cNvPr id="4" name="Text 2"/>
          <p:cNvSpPr/>
          <p:nvPr/>
        </p:nvSpPr>
        <p:spPr>
          <a:xfrm>
            <a:off x="566928" y="169164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01</a:t>
            </a:r>
            <a:endParaRPr lang="en-US" sz="2000" dirty="0"/>
          </a:p>
        </p:txBody>
      </p:sp>
      <p:sp>
        <p:nvSpPr>
          <p:cNvPr id="5" name="Text 3"/>
          <p:cNvSpPr/>
          <p:nvPr/>
        </p:nvSpPr>
        <p:spPr>
          <a:xfrm>
            <a:off x="566928" y="21122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Large &amp; Expanding Market</a:t>
            </a:r>
            <a:endParaRPr lang="en-US" sz="1350" dirty="0"/>
          </a:p>
        </p:txBody>
      </p:sp>
      <p:sp>
        <p:nvSpPr>
          <p:cNvPr id="6" name="Text 4"/>
          <p:cNvSpPr/>
          <p:nvPr/>
        </p:nvSpPr>
        <p:spPr>
          <a:xfrm>
            <a:off x="566928" y="244144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Global recruitment and career-development spend exceeds US$200B, with AI-enabled segments compounding at double-digit rates.</a:t>
            </a:r>
            <a:endParaRPr lang="en-US" sz="1050" dirty="0"/>
          </a:p>
        </p:txBody>
      </p:sp>
      <p:sp>
        <p:nvSpPr>
          <p:cNvPr id="7" name="Text 5"/>
          <p:cNvSpPr/>
          <p:nvPr/>
        </p:nvSpPr>
        <p:spPr>
          <a:xfrm>
            <a:off x="4343400" y="169164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02</a:t>
            </a:r>
            <a:endParaRPr lang="en-US" sz="2000" dirty="0"/>
          </a:p>
        </p:txBody>
      </p:sp>
      <p:sp>
        <p:nvSpPr>
          <p:cNvPr id="8" name="Text 6"/>
          <p:cNvSpPr/>
          <p:nvPr/>
        </p:nvSpPr>
        <p:spPr>
          <a:xfrm>
            <a:off x="4343400" y="21122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A Decade of Operating Proof</a:t>
            </a:r>
            <a:endParaRPr lang="en-US" sz="1350" dirty="0"/>
          </a:p>
        </p:txBody>
      </p:sp>
      <p:sp>
        <p:nvSpPr>
          <p:cNvPr id="9" name="Text 7"/>
          <p:cNvSpPr/>
          <p:nvPr/>
        </p:nvSpPr>
        <p:spPr>
          <a:xfrm>
            <a:off x="4343400" y="244144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Founded in New York in 2016; an established, revenue-generating career-services franchise now scaling as an AI-first platform.</a:t>
            </a:r>
            <a:endParaRPr lang="en-US" sz="1050" dirty="0"/>
          </a:p>
        </p:txBody>
      </p:sp>
      <p:sp>
        <p:nvSpPr>
          <p:cNvPr id="10" name="Text 8"/>
          <p:cNvSpPr/>
          <p:nvPr/>
        </p:nvSpPr>
        <p:spPr>
          <a:xfrm>
            <a:off x="8119872" y="169164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03</a:t>
            </a:r>
            <a:endParaRPr lang="en-US" sz="2000" dirty="0"/>
          </a:p>
        </p:txBody>
      </p:sp>
      <p:sp>
        <p:nvSpPr>
          <p:cNvPr id="11" name="Text 9"/>
          <p:cNvSpPr/>
          <p:nvPr/>
        </p:nvSpPr>
        <p:spPr>
          <a:xfrm>
            <a:off x="8119872" y="21122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AI-Native Product Suite</a:t>
            </a:r>
            <a:endParaRPr lang="en-US" sz="1350" dirty="0"/>
          </a:p>
        </p:txBody>
      </p:sp>
      <p:sp>
        <p:nvSpPr>
          <p:cNvPr id="12" name="Text 10"/>
          <p:cNvSpPr/>
          <p:nvPr/>
        </p:nvSpPr>
        <p:spPr>
          <a:xfrm>
            <a:off x="8119872" y="244144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Personalized mock interviews, proprietary question banks, online assessments, mentor coaching, and intelligent job matching.</a:t>
            </a:r>
            <a:endParaRPr lang="en-US" sz="1050" dirty="0"/>
          </a:p>
        </p:txBody>
      </p:sp>
      <p:sp>
        <p:nvSpPr>
          <p:cNvPr id="13" name="Text 11"/>
          <p:cNvSpPr/>
          <p:nvPr/>
        </p:nvSpPr>
        <p:spPr>
          <a:xfrm>
            <a:off x="566928" y="406908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04</a:t>
            </a:r>
            <a:endParaRPr lang="en-US" sz="2000" dirty="0"/>
          </a:p>
        </p:txBody>
      </p:sp>
      <p:sp>
        <p:nvSpPr>
          <p:cNvPr id="14" name="Text 12"/>
          <p:cNvSpPr/>
          <p:nvPr/>
        </p:nvSpPr>
        <p:spPr>
          <a:xfrm>
            <a:off x="566928" y="448970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Global Footprint</a:t>
            </a:r>
            <a:endParaRPr lang="en-US" sz="1350" dirty="0"/>
          </a:p>
        </p:txBody>
      </p:sp>
      <p:sp>
        <p:nvSpPr>
          <p:cNvPr id="15" name="Text 13"/>
          <p:cNvSpPr/>
          <p:nvPr/>
        </p:nvSpPr>
        <p:spPr>
          <a:xfrm>
            <a:off x="566928" y="481888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Teams and delivery capability across the U.S., China, U.K., Singapore, South Korea, Canada, and India.</a:t>
            </a:r>
            <a:endParaRPr lang="en-US" sz="1050" dirty="0"/>
          </a:p>
        </p:txBody>
      </p:sp>
      <p:sp>
        <p:nvSpPr>
          <p:cNvPr id="16" name="Text 14"/>
          <p:cNvSpPr/>
          <p:nvPr/>
        </p:nvSpPr>
        <p:spPr>
          <a:xfrm>
            <a:off x="4343400" y="406908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05</a:t>
            </a:r>
            <a:endParaRPr lang="en-US" sz="2000" dirty="0"/>
          </a:p>
        </p:txBody>
      </p:sp>
      <p:sp>
        <p:nvSpPr>
          <p:cNvPr id="17" name="Text 15"/>
          <p:cNvSpPr/>
          <p:nvPr/>
        </p:nvSpPr>
        <p:spPr>
          <a:xfrm>
            <a:off x="4343400" y="448970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Strategic AI Partnership</a:t>
            </a:r>
            <a:endParaRPr lang="en-US" sz="1350" dirty="0"/>
          </a:p>
        </p:txBody>
      </p:sp>
      <p:sp>
        <p:nvSpPr>
          <p:cNvPr id="18" name="Text 16"/>
          <p:cNvSpPr/>
          <p:nvPr/>
        </p:nvSpPr>
        <p:spPr>
          <a:xfrm>
            <a:off x="4343400" y="481888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Deep collaboration with Alibaba Cloud AI — Tongyi LLM, NLP, semantic search — powering advisor, matching, and screening systems.</a:t>
            </a:r>
            <a:endParaRPr lang="en-US" sz="1050" dirty="0"/>
          </a:p>
        </p:txBody>
      </p:sp>
      <p:sp>
        <p:nvSpPr>
          <p:cNvPr id="19" name="Text 17"/>
          <p:cNvSpPr/>
          <p:nvPr/>
        </p:nvSpPr>
        <p:spPr>
          <a:xfrm>
            <a:off x="8119872" y="406908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06</a:t>
            </a:r>
            <a:endParaRPr lang="en-US" sz="2000" dirty="0"/>
          </a:p>
        </p:txBody>
      </p:sp>
      <p:sp>
        <p:nvSpPr>
          <p:cNvPr id="20" name="Text 18"/>
          <p:cNvSpPr/>
          <p:nvPr/>
        </p:nvSpPr>
        <p:spPr>
          <a:xfrm>
            <a:off x="8119872" y="448970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Compelling Entry Point</a:t>
            </a:r>
            <a:endParaRPr lang="en-US" sz="1350" dirty="0"/>
          </a:p>
        </p:txBody>
      </p:sp>
      <p:sp>
        <p:nvSpPr>
          <p:cNvPr id="21" name="Text 19"/>
          <p:cNvSpPr/>
          <p:nvPr/>
        </p:nvSpPr>
        <p:spPr>
          <a:xfrm>
            <a:off x="8119872" y="481888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US$5.0M primary round at a US$50.0M valuation to fund the product roadmap and global go-to-market.</a:t>
            </a:r>
            <a:endParaRPr lang="en-US" sz="1050" dirty="0"/>
          </a:p>
        </p:txBody>
      </p:sp>
      <p:sp>
        <p:nvSpPr>
          <p:cNvPr id="22" name="Text 20"/>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3" name="Text 21"/>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MARKET CONTEXT</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Hiring Is Broken on Both Sides of the Table</a:t>
            </a:r>
            <a:endParaRPr lang="en-US" sz="3000" dirty="0"/>
          </a:p>
        </p:txBody>
      </p:sp>
      <p:sp>
        <p:nvSpPr>
          <p:cNvPr id="4" name="Text 2"/>
          <p:cNvSpPr/>
          <p:nvPr/>
        </p:nvSpPr>
        <p:spPr>
          <a:xfrm>
            <a:off x="566928" y="1737360"/>
            <a:ext cx="5943600" cy="292608"/>
          </a:xfrm>
          <a:prstGeom prst="rect">
            <a:avLst/>
          </a:prstGeom>
          <a:noFill/>
          <a:ln/>
        </p:spPr>
        <p:txBody>
          <a:bodyPr wrap="square" lIns="0" tIns="0" rIns="0" bIns="0" rtlCol="0" anchor="ctr"/>
          <a:lstStyle/>
          <a:p>
            <a:pPr indent="0" marL="0">
              <a:buNone/>
            </a:pPr>
            <a:r>
              <a:rPr lang="en-US" sz="1350" b="1" dirty="0">
                <a:solidFill>
                  <a:srgbClr val="132A4F"/>
                </a:solidFill>
                <a:latin typeface="Calibri" pitchFamily="34" charset="0"/>
                <a:ea typeface="Calibri" pitchFamily="34" charset="-122"/>
                <a:cs typeface="Calibri" pitchFamily="34" charset="-120"/>
              </a:rPr>
              <a:t>For candidates</a:t>
            </a:r>
            <a:endParaRPr lang="en-US" sz="1350" dirty="0"/>
          </a:p>
        </p:txBody>
      </p:sp>
      <p:sp>
        <p:nvSpPr>
          <p:cNvPr id="5" name="Text 3"/>
          <p:cNvSpPr/>
          <p:nvPr/>
        </p:nvSpPr>
        <p:spPr>
          <a:xfrm>
            <a:off x="566928" y="2066544"/>
            <a:ext cx="5943600" cy="9601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Hiring processes are opaque and intensely competitive. Interview preparation remains fragmented across scattered resources, and quality human coaching is expensive and does not scale.</a:t>
            </a:r>
            <a:endParaRPr lang="en-US" sz="1100" dirty="0"/>
          </a:p>
        </p:txBody>
      </p:sp>
      <p:sp>
        <p:nvSpPr>
          <p:cNvPr id="6" name="Text 4"/>
          <p:cNvSpPr/>
          <p:nvPr/>
        </p:nvSpPr>
        <p:spPr>
          <a:xfrm>
            <a:off x="566928" y="3218688"/>
            <a:ext cx="5943600" cy="292608"/>
          </a:xfrm>
          <a:prstGeom prst="rect">
            <a:avLst/>
          </a:prstGeom>
          <a:noFill/>
          <a:ln/>
        </p:spPr>
        <p:txBody>
          <a:bodyPr wrap="square" lIns="0" tIns="0" rIns="0" bIns="0" rtlCol="0" anchor="ctr"/>
          <a:lstStyle/>
          <a:p>
            <a:pPr indent="0" marL="0">
              <a:buNone/>
            </a:pPr>
            <a:r>
              <a:rPr lang="en-US" sz="1350" b="1" dirty="0">
                <a:solidFill>
                  <a:srgbClr val="132A4F"/>
                </a:solidFill>
                <a:latin typeface="Calibri" pitchFamily="34" charset="0"/>
                <a:ea typeface="Calibri" pitchFamily="34" charset="-122"/>
                <a:cs typeface="Calibri" pitchFamily="34" charset="-120"/>
              </a:rPr>
              <a:t>For international talent</a:t>
            </a:r>
            <a:endParaRPr lang="en-US" sz="1350" dirty="0"/>
          </a:p>
        </p:txBody>
      </p:sp>
      <p:sp>
        <p:nvSpPr>
          <p:cNvPr id="7" name="Text 5"/>
          <p:cNvSpPr/>
          <p:nvPr/>
        </p:nvSpPr>
        <p:spPr>
          <a:xfrm>
            <a:off x="566928" y="3547872"/>
            <a:ext cx="5943600" cy="9601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Language, cultural, and visa complexity compound an already difficult search — a large, motivated population is structurally underserved by generic tools.</a:t>
            </a:r>
            <a:endParaRPr lang="en-US" sz="1100" dirty="0"/>
          </a:p>
        </p:txBody>
      </p:sp>
      <p:sp>
        <p:nvSpPr>
          <p:cNvPr id="8" name="Text 6"/>
          <p:cNvSpPr/>
          <p:nvPr/>
        </p:nvSpPr>
        <p:spPr>
          <a:xfrm>
            <a:off x="566928" y="4700016"/>
            <a:ext cx="5943600" cy="292608"/>
          </a:xfrm>
          <a:prstGeom prst="rect">
            <a:avLst/>
          </a:prstGeom>
          <a:noFill/>
          <a:ln/>
        </p:spPr>
        <p:txBody>
          <a:bodyPr wrap="square" lIns="0" tIns="0" rIns="0" bIns="0" rtlCol="0" anchor="ctr"/>
          <a:lstStyle/>
          <a:p>
            <a:pPr indent="0" marL="0">
              <a:buNone/>
            </a:pPr>
            <a:r>
              <a:rPr lang="en-US" sz="1350" b="1" dirty="0">
                <a:solidFill>
                  <a:srgbClr val="132A4F"/>
                </a:solidFill>
                <a:latin typeface="Calibri" pitchFamily="34" charset="0"/>
                <a:ea typeface="Calibri" pitchFamily="34" charset="-122"/>
                <a:cs typeface="Calibri" pitchFamily="34" charset="-120"/>
              </a:rPr>
              <a:t>For employers</a:t>
            </a:r>
            <a:endParaRPr lang="en-US" sz="1350" dirty="0"/>
          </a:p>
        </p:txBody>
      </p:sp>
      <p:sp>
        <p:nvSpPr>
          <p:cNvPr id="9" name="Text 7"/>
          <p:cNvSpPr/>
          <p:nvPr/>
        </p:nvSpPr>
        <p:spPr>
          <a:xfrm>
            <a:off x="566928" y="5029200"/>
            <a:ext cx="5943600" cy="9601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Application volumes overwhelm recruiting teams while offering limited signal. Screening is slow, costly, and inconsistent, and strong candidates are lost in the noise.</a:t>
            </a:r>
            <a:endParaRPr lang="en-US" sz="1100" dirty="0"/>
          </a:p>
        </p:txBody>
      </p:sp>
      <p:sp>
        <p:nvSpPr>
          <p:cNvPr id="10" name="Shape 8"/>
          <p:cNvSpPr/>
          <p:nvPr/>
        </p:nvSpPr>
        <p:spPr>
          <a:xfrm>
            <a:off x="7086600" y="1691640"/>
            <a:ext cx="4526280" cy="4434840"/>
          </a:xfrm>
          <a:prstGeom prst="rect">
            <a:avLst/>
          </a:prstGeom>
          <a:solidFill>
            <a:srgbClr val="F3F6F9"/>
          </a:solidFill>
          <a:ln/>
        </p:spPr>
      </p:sp>
      <p:sp>
        <p:nvSpPr>
          <p:cNvPr id="11" name="Text 9"/>
          <p:cNvSpPr/>
          <p:nvPr/>
        </p:nvSpPr>
        <p:spPr>
          <a:xfrm>
            <a:off x="7543800" y="2011680"/>
            <a:ext cx="365760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250+</a:t>
            </a:r>
            <a:endParaRPr lang="en-US" sz="3000" dirty="0"/>
          </a:p>
        </p:txBody>
      </p:sp>
      <p:sp>
        <p:nvSpPr>
          <p:cNvPr id="12" name="Text 10"/>
          <p:cNvSpPr/>
          <p:nvPr/>
        </p:nvSpPr>
        <p:spPr>
          <a:xfrm>
            <a:off x="7543800" y="2688336"/>
            <a:ext cx="365760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APPLICATIONS PER CORPORATE JOB OPENING</a:t>
            </a:r>
            <a:endParaRPr lang="en-US" sz="850" dirty="0"/>
          </a:p>
        </p:txBody>
      </p:sp>
      <p:sp>
        <p:nvSpPr>
          <p:cNvPr id="13" name="Text 11"/>
          <p:cNvSpPr/>
          <p:nvPr/>
        </p:nvSpPr>
        <p:spPr>
          <a:xfrm>
            <a:off x="7543800" y="3383280"/>
            <a:ext cx="365760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1.1M+</a:t>
            </a:r>
            <a:endParaRPr lang="en-US" sz="3000" dirty="0"/>
          </a:p>
        </p:txBody>
      </p:sp>
      <p:sp>
        <p:nvSpPr>
          <p:cNvPr id="14" name="Text 12"/>
          <p:cNvSpPr/>
          <p:nvPr/>
        </p:nvSpPr>
        <p:spPr>
          <a:xfrm>
            <a:off x="7543800" y="4059936"/>
            <a:ext cx="365760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INTERNATIONAL STUDENTS IN THE U.S. ALONE</a:t>
            </a:r>
            <a:endParaRPr lang="en-US" sz="850" dirty="0"/>
          </a:p>
        </p:txBody>
      </p:sp>
      <p:sp>
        <p:nvSpPr>
          <p:cNvPr id="15" name="Text 13"/>
          <p:cNvSpPr/>
          <p:nvPr/>
        </p:nvSpPr>
        <p:spPr>
          <a:xfrm>
            <a:off x="7543800" y="4754880"/>
            <a:ext cx="365760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75%</a:t>
            </a:r>
            <a:endParaRPr lang="en-US" sz="3000" dirty="0"/>
          </a:p>
        </p:txBody>
      </p:sp>
      <p:sp>
        <p:nvSpPr>
          <p:cNvPr id="16" name="Text 14"/>
          <p:cNvSpPr/>
          <p:nvPr/>
        </p:nvSpPr>
        <p:spPr>
          <a:xfrm>
            <a:off x="7543800" y="5431536"/>
            <a:ext cx="365760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OF RÉSUMÉS SCREENED OUT BEFORE HUMAN REVIEW</a:t>
            </a:r>
            <a:endParaRPr lang="en-US" sz="850" dirty="0"/>
          </a:p>
        </p:txBody>
      </p:sp>
      <p:sp>
        <p:nvSpPr>
          <p:cNvPr id="17" name="Text 15"/>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Sources: Open Doors 2024; Glassdoor; commonly cited industry estimates.</a:t>
            </a:r>
            <a:endParaRPr lang="en-US" sz="750" dirty="0"/>
          </a:p>
        </p:txBody>
      </p:sp>
      <p:sp>
        <p:nvSpPr>
          <p:cNvPr id="18" name="Text 16"/>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9" name="Text 17"/>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MARKET OPPORTUNITY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A US$200B+ Global Talent Market in Structural Shift</a:t>
            </a:r>
            <a:endParaRPr lang="en-US" sz="3000" dirty="0"/>
          </a:p>
        </p:txBody>
      </p:sp>
      <p:sp>
        <p:nvSpPr>
          <p:cNvPr id="4" name="Text 2"/>
          <p:cNvSpPr/>
          <p:nvPr/>
        </p:nvSpPr>
        <p:spPr>
          <a:xfrm>
            <a:off x="566928" y="1783080"/>
            <a:ext cx="3520440" cy="237744"/>
          </a:xfrm>
          <a:prstGeom prst="rect">
            <a:avLst/>
          </a:prstGeom>
          <a:noFill/>
          <a:ln/>
        </p:spPr>
        <p:txBody>
          <a:bodyPr wrap="square" lIns="0" tIns="0" rIns="0" bIns="0" rtlCol="0" anchor="ctr"/>
          <a:lstStyle/>
          <a:p>
            <a:pPr indent="0" marL="0">
              <a:buNone/>
            </a:pPr>
            <a:r>
              <a:rPr lang="en-US" sz="900" b="1" spc="200" kern="0" dirty="0">
                <a:solidFill>
                  <a:srgbClr val="9A7B3F"/>
                </a:solidFill>
                <a:latin typeface="Calibri" pitchFamily="34" charset="0"/>
                <a:ea typeface="Calibri" pitchFamily="34" charset="-122"/>
                <a:cs typeface="Calibri" pitchFamily="34" charset="-120"/>
              </a:rPr>
              <a:t>TOTAL ADDRESSABLE MARKET</a:t>
            </a:r>
            <a:endParaRPr lang="en-US" sz="900" dirty="0"/>
          </a:p>
        </p:txBody>
      </p:sp>
      <p:sp>
        <p:nvSpPr>
          <p:cNvPr id="5" name="Text 3"/>
          <p:cNvSpPr/>
          <p:nvPr/>
        </p:nvSpPr>
        <p:spPr>
          <a:xfrm>
            <a:off x="566928" y="2066544"/>
            <a:ext cx="3520440" cy="713232"/>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US$200B+</a:t>
            </a:r>
            <a:endParaRPr lang="en-US" sz="3800" dirty="0"/>
          </a:p>
        </p:txBody>
      </p:sp>
      <p:sp>
        <p:nvSpPr>
          <p:cNvPr id="6" name="Text 4"/>
          <p:cNvSpPr/>
          <p:nvPr/>
        </p:nvSpPr>
        <p:spPr>
          <a:xfrm>
            <a:off x="566928" y="2852928"/>
            <a:ext cx="3520440" cy="105156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Global recruitment, talent-acquisition, and career-development spend across consumer and enterprise segments.</a:t>
            </a:r>
            <a:endParaRPr lang="en-US" sz="1050" dirty="0"/>
          </a:p>
        </p:txBody>
      </p:sp>
      <p:sp>
        <p:nvSpPr>
          <p:cNvPr id="7" name="Text 5"/>
          <p:cNvSpPr/>
          <p:nvPr/>
        </p:nvSpPr>
        <p:spPr>
          <a:xfrm>
            <a:off x="4343400" y="1783080"/>
            <a:ext cx="3520440" cy="237744"/>
          </a:xfrm>
          <a:prstGeom prst="rect">
            <a:avLst/>
          </a:prstGeom>
          <a:noFill/>
          <a:ln/>
        </p:spPr>
        <p:txBody>
          <a:bodyPr wrap="square" lIns="0" tIns="0" rIns="0" bIns="0" rtlCol="0" anchor="ctr"/>
          <a:lstStyle/>
          <a:p>
            <a:pPr indent="0" marL="0">
              <a:buNone/>
            </a:pPr>
            <a:r>
              <a:rPr lang="en-US" sz="900" b="1" spc="200" kern="0" dirty="0">
                <a:solidFill>
                  <a:srgbClr val="9A7B3F"/>
                </a:solidFill>
                <a:latin typeface="Calibri" pitchFamily="34" charset="0"/>
                <a:ea typeface="Calibri" pitchFamily="34" charset="-122"/>
                <a:cs typeface="Calibri" pitchFamily="34" charset="-120"/>
              </a:rPr>
              <a:t>SERVICEABLE MARKET</a:t>
            </a:r>
            <a:endParaRPr lang="en-US" sz="900" dirty="0"/>
          </a:p>
        </p:txBody>
      </p:sp>
      <p:sp>
        <p:nvSpPr>
          <p:cNvPr id="8" name="Text 6"/>
          <p:cNvSpPr/>
          <p:nvPr/>
        </p:nvSpPr>
        <p:spPr>
          <a:xfrm>
            <a:off x="4343400" y="2066544"/>
            <a:ext cx="3520440" cy="713232"/>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US$30B</a:t>
            </a:r>
            <a:endParaRPr lang="en-US" sz="3800" dirty="0"/>
          </a:p>
        </p:txBody>
      </p:sp>
      <p:sp>
        <p:nvSpPr>
          <p:cNvPr id="9" name="Text 7"/>
          <p:cNvSpPr/>
          <p:nvPr/>
        </p:nvSpPr>
        <p:spPr>
          <a:xfrm>
            <a:off x="4343400" y="2852928"/>
            <a:ext cx="3520440" cy="105156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AI-enabled hiring technology and digital career preparation — the fastest-growing layer of the talent stack.</a:t>
            </a:r>
            <a:endParaRPr lang="en-US" sz="1050" dirty="0"/>
          </a:p>
        </p:txBody>
      </p:sp>
      <p:sp>
        <p:nvSpPr>
          <p:cNvPr id="10" name="Text 8"/>
          <p:cNvSpPr/>
          <p:nvPr/>
        </p:nvSpPr>
        <p:spPr>
          <a:xfrm>
            <a:off x="8119872" y="1783080"/>
            <a:ext cx="3520440" cy="237744"/>
          </a:xfrm>
          <a:prstGeom prst="rect">
            <a:avLst/>
          </a:prstGeom>
          <a:noFill/>
          <a:ln/>
        </p:spPr>
        <p:txBody>
          <a:bodyPr wrap="square" lIns="0" tIns="0" rIns="0" bIns="0" rtlCol="0" anchor="ctr"/>
          <a:lstStyle/>
          <a:p>
            <a:pPr indent="0" marL="0">
              <a:buNone/>
            </a:pPr>
            <a:r>
              <a:rPr lang="en-US" sz="900" b="1" spc="200" kern="0" dirty="0">
                <a:solidFill>
                  <a:srgbClr val="9A7B3F"/>
                </a:solidFill>
                <a:latin typeface="Calibri" pitchFamily="34" charset="0"/>
                <a:ea typeface="Calibri" pitchFamily="34" charset="-122"/>
                <a:cs typeface="Calibri" pitchFamily="34" charset="-120"/>
              </a:rPr>
              <a:t>INITIAL TARGET SEGMENT</a:t>
            </a:r>
            <a:endParaRPr lang="en-US" sz="900" dirty="0"/>
          </a:p>
        </p:txBody>
      </p:sp>
      <p:sp>
        <p:nvSpPr>
          <p:cNvPr id="11" name="Text 9"/>
          <p:cNvSpPr/>
          <p:nvPr/>
        </p:nvSpPr>
        <p:spPr>
          <a:xfrm>
            <a:off x="8119872" y="2066544"/>
            <a:ext cx="3520440" cy="713232"/>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US$1.5B</a:t>
            </a:r>
            <a:endParaRPr lang="en-US" sz="3800" dirty="0"/>
          </a:p>
        </p:txBody>
      </p:sp>
      <p:sp>
        <p:nvSpPr>
          <p:cNvPr id="12" name="Text 10"/>
          <p:cNvSpPr/>
          <p:nvPr/>
        </p:nvSpPr>
        <p:spPr>
          <a:xfrm>
            <a:off x="8119872" y="2852928"/>
            <a:ext cx="3520440" cy="105156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Cross-border early-career talent across the Company’s current markets in North America, Europe, and Asia.</a:t>
            </a:r>
            <a:endParaRPr lang="en-US" sz="1050" dirty="0"/>
          </a:p>
        </p:txBody>
      </p:sp>
      <p:sp>
        <p:nvSpPr>
          <p:cNvPr id="13" name="Text 11"/>
          <p:cNvSpPr/>
          <p:nvPr/>
        </p:nvSpPr>
        <p:spPr>
          <a:xfrm>
            <a:off x="566928" y="4224528"/>
            <a:ext cx="548640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Structural tailwinds</a:t>
            </a:r>
            <a:endParaRPr lang="en-US" sz="1350" dirty="0"/>
          </a:p>
        </p:txBody>
      </p:sp>
      <p:sp>
        <p:nvSpPr>
          <p:cNvPr id="14" name="Text 12"/>
          <p:cNvSpPr/>
          <p:nvPr/>
        </p:nvSpPr>
        <p:spPr>
          <a:xfrm>
            <a:off x="566928" y="4626864"/>
            <a:ext cx="3520440" cy="256032"/>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AI adoption in HR</a:t>
            </a:r>
            <a:endParaRPr lang="en-US" sz="1150" dirty="0"/>
          </a:p>
        </p:txBody>
      </p:sp>
      <p:sp>
        <p:nvSpPr>
          <p:cNvPr id="15" name="Text 13"/>
          <p:cNvSpPr/>
          <p:nvPr/>
        </p:nvSpPr>
        <p:spPr>
          <a:xfrm>
            <a:off x="566928" y="4901184"/>
            <a:ext cx="3520440" cy="960120"/>
          </a:xfrm>
          <a:prstGeom prst="rect">
            <a:avLst/>
          </a:prstGeom>
          <a:noFill/>
          <a:ln/>
        </p:spPr>
        <p:txBody>
          <a:bodyPr wrap="square" lIns="0" tIns="0" rIns="0" bIns="0" rtlCol="0" anchor="t"/>
          <a:lstStyle/>
          <a:p>
            <a:pPr indent="0" marL="0">
              <a:lnSpc>
                <a:spcPts val="1400"/>
              </a:lnSpc>
              <a:buNone/>
            </a:pPr>
            <a:r>
              <a:rPr lang="en-US" sz="1000" dirty="0">
                <a:solidFill>
                  <a:srgbClr val="5A6B7E"/>
                </a:solidFill>
                <a:latin typeface="Calibri" pitchFamily="34" charset="0"/>
                <a:ea typeface="Calibri" pitchFamily="34" charset="-122"/>
                <a:cs typeface="Calibri" pitchFamily="34" charset="-120"/>
              </a:rPr>
              <a:t>Enterprises are re-platforming recruiting workflows around AI screening, evaluation, and matching.</a:t>
            </a:r>
            <a:endParaRPr lang="en-US" sz="1000" dirty="0"/>
          </a:p>
        </p:txBody>
      </p:sp>
      <p:sp>
        <p:nvSpPr>
          <p:cNvPr id="16" name="Text 14"/>
          <p:cNvSpPr/>
          <p:nvPr/>
        </p:nvSpPr>
        <p:spPr>
          <a:xfrm>
            <a:off x="4343400" y="4626864"/>
            <a:ext cx="3520440" cy="256032"/>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Global talent mobility</a:t>
            </a:r>
            <a:endParaRPr lang="en-US" sz="1150" dirty="0"/>
          </a:p>
        </p:txBody>
      </p:sp>
      <p:sp>
        <p:nvSpPr>
          <p:cNvPr id="17" name="Text 15"/>
          <p:cNvSpPr/>
          <p:nvPr/>
        </p:nvSpPr>
        <p:spPr>
          <a:xfrm>
            <a:off x="4343400" y="4901184"/>
            <a:ext cx="3520440" cy="960120"/>
          </a:xfrm>
          <a:prstGeom prst="rect">
            <a:avLst/>
          </a:prstGeom>
          <a:noFill/>
          <a:ln/>
        </p:spPr>
        <p:txBody>
          <a:bodyPr wrap="square" lIns="0" tIns="0" rIns="0" bIns="0" rtlCol="0" anchor="t"/>
          <a:lstStyle/>
          <a:p>
            <a:pPr indent="0" marL="0">
              <a:lnSpc>
                <a:spcPts val="1400"/>
              </a:lnSpc>
              <a:buNone/>
            </a:pPr>
            <a:r>
              <a:rPr lang="en-US" sz="1000" dirty="0">
                <a:solidFill>
                  <a:srgbClr val="5A6B7E"/>
                </a:solidFill>
                <a:latin typeface="Calibri" pitchFamily="34" charset="0"/>
                <a:ea typeface="Calibri" pitchFamily="34" charset="-122"/>
                <a:cs typeface="Calibri" pitchFamily="34" charset="-120"/>
              </a:rPr>
              <a:t>Record international study and cross-border hiring sustain demand for specialized, multilingual guidance.</a:t>
            </a:r>
            <a:endParaRPr lang="en-US" sz="1000" dirty="0"/>
          </a:p>
        </p:txBody>
      </p:sp>
      <p:sp>
        <p:nvSpPr>
          <p:cNvPr id="18" name="Text 16"/>
          <p:cNvSpPr/>
          <p:nvPr/>
        </p:nvSpPr>
        <p:spPr>
          <a:xfrm>
            <a:off x="8119872" y="4626864"/>
            <a:ext cx="3520440" cy="256032"/>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Outcome economics</a:t>
            </a:r>
            <a:endParaRPr lang="en-US" sz="1150" dirty="0"/>
          </a:p>
        </p:txBody>
      </p:sp>
      <p:sp>
        <p:nvSpPr>
          <p:cNvPr id="19" name="Text 17"/>
          <p:cNvSpPr/>
          <p:nvPr/>
        </p:nvSpPr>
        <p:spPr>
          <a:xfrm>
            <a:off x="8119872" y="4901184"/>
            <a:ext cx="3520440" cy="960120"/>
          </a:xfrm>
          <a:prstGeom prst="rect">
            <a:avLst/>
          </a:prstGeom>
          <a:noFill/>
          <a:ln/>
        </p:spPr>
        <p:txBody>
          <a:bodyPr wrap="square" lIns="0" tIns="0" rIns="0" bIns="0" rtlCol="0" anchor="t"/>
          <a:lstStyle/>
          <a:p>
            <a:pPr indent="0" marL="0">
              <a:lnSpc>
                <a:spcPts val="1400"/>
              </a:lnSpc>
              <a:buNone/>
            </a:pPr>
            <a:r>
              <a:rPr lang="en-US" sz="1000" dirty="0">
                <a:solidFill>
                  <a:srgbClr val="5A6B7E"/>
                </a:solidFill>
                <a:latin typeface="Calibri" pitchFamily="34" charset="0"/>
                <a:ea typeface="Calibri" pitchFamily="34" charset="-122"/>
                <a:cs typeface="Calibri" pitchFamily="34" charset="-120"/>
              </a:rPr>
              <a:t>Candidates and employers increasingly pay for verified outcomes — offers and quality hires — not just access.</a:t>
            </a:r>
            <a:endParaRPr lang="en-US" sz="1000" dirty="0"/>
          </a:p>
        </p:txBody>
      </p:sp>
      <p:sp>
        <p:nvSpPr>
          <p:cNvPr id="20" name="Text 18"/>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Management estimates informed by public industry research; presented for illustration.</a:t>
            </a:r>
            <a:endParaRPr lang="en-US" sz="750" dirty="0"/>
          </a:p>
        </p:txBody>
      </p:sp>
      <p:sp>
        <p:nvSpPr>
          <p:cNvPr id="21" name="Text 19"/>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2" name="Text 20"/>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THE PLATFORM</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One Platform Spanning Preparation, Placement &amp; Hiring</a:t>
            </a:r>
            <a:endParaRPr lang="en-US" sz="3000" dirty="0"/>
          </a:p>
        </p:txBody>
      </p:sp>
      <p:sp>
        <p:nvSpPr>
          <p:cNvPr id="4" name="Text 2"/>
          <p:cNvSpPr/>
          <p:nvPr/>
        </p:nvSpPr>
        <p:spPr>
          <a:xfrm>
            <a:off x="566928" y="1691640"/>
            <a:ext cx="5394960" cy="237744"/>
          </a:xfrm>
          <a:prstGeom prst="rect">
            <a:avLst/>
          </a:prstGeom>
          <a:noFill/>
          <a:ln/>
        </p:spPr>
        <p:txBody>
          <a:bodyPr wrap="square" lIns="0" tIns="0" rIns="0" bIns="0" rtlCol="0" anchor="ctr"/>
          <a:lstStyle/>
          <a:p>
            <a:pPr indent="0" marL="0">
              <a:buNone/>
            </a:pPr>
            <a:r>
              <a:rPr lang="en-US" sz="1000" b="1" spc="250" kern="0" dirty="0">
                <a:solidFill>
                  <a:srgbClr val="9A7B3F"/>
                </a:solidFill>
                <a:latin typeface="Calibri" pitchFamily="34" charset="0"/>
                <a:ea typeface="Calibri" pitchFamily="34" charset="-122"/>
                <a:cs typeface="Calibri" pitchFamily="34" charset="-120"/>
              </a:rPr>
              <a:t>FOR CANDIDATES</a:t>
            </a:r>
            <a:endParaRPr lang="en-US" sz="1000" dirty="0"/>
          </a:p>
        </p:txBody>
      </p:sp>
      <p:sp>
        <p:nvSpPr>
          <p:cNvPr id="5" name="Text 3"/>
          <p:cNvSpPr/>
          <p:nvPr/>
        </p:nvSpPr>
        <p:spPr>
          <a:xfrm>
            <a:off x="566928" y="2048256"/>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AI Mock Interviews</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Role- and company-specific practice with personalized, real-time feedback.</a:t>
            </a:r>
            <a:endParaRPr lang="en-US" sz="1250" dirty="0"/>
          </a:p>
        </p:txBody>
      </p:sp>
      <p:sp>
        <p:nvSpPr>
          <p:cNvPr id="6" name="Text 4"/>
          <p:cNvSpPr/>
          <p:nvPr/>
        </p:nvSpPr>
        <p:spPr>
          <a:xfrm>
            <a:off x="566928" y="3035808"/>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Question Banks &amp; Assessments</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Proprietary libraries of real interview questions and timed online assessments.</a:t>
            </a:r>
            <a:endParaRPr lang="en-US" sz="1250" dirty="0"/>
          </a:p>
        </p:txBody>
      </p:sp>
      <p:sp>
        <p:nvSpPr>
          <p:cNvPr id="7" name="Text 5"/>
          <p:cNvSpPr/>
          <p:nvPr/>
        </p:nvSpPr>
        <p:spPr>
          <a:xfrm>
            <a:off x="566928" y="4023360"/>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Mentor Coaching</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One-on-one guidance from practitioners at leading global employers.</a:t>
            </a:r>
            <a:endParaRPr lang="en-US" sz="1250" dirty="0"/>
          </a:p>
        </p:txBody>
      </p:sp>
      <p:sp>
        <p:nvSpPr>
          <p:cNvPr id="8" name="Text 6"/>
          <p:cNvSpPr/>
          <p:nvPr/>
        </p:nvSpPr>
        <p:spPr>
          <a:xfrm>
            <a:off x="566928" y="5010912"/>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Referrals &amp; Placement</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Internship and full-time referral programs, including outcome-based offerings.</a:t>
            </a:r>
            <a:endParaRPr lang="en-US" sz="1250" dirty="0"/>
          </a:p>
        </p:txBody>
      </p:sp>
      <p:sp>
        <p:nvSpPr>
          <p:cNvPr id="9" name="Text 7"/>
          <p:cNvSpPr/>
          <p:nvPr/>
        </p:nvSpPr>
        <p:spPr>
          <a:xfrm>
            <a:off x="6492240" y="1691640"/>
            <a:ext cx="5120640" cy="237744"/>
          </a:xfrm>
          <a:prstGeom prst="rect">
            <a:avLst/>
          </a:prstGeom>
          <a:noFill/>
          <a:ln/>
        </p:spPr>
        <p:txBody>
          <a:bodyPr wrap="square" lIns="0" tIns="0" rIns="0" bIns="0" rtlCol="0" anchor="ctr"/>
          <a:lstStyle/>
          <a:p>
            <a:pPr indent="0" marL="0">
              <a:buNone/>
            </a:pPr>
            <a:r>
              <a:rPr lang="en-US" sz="1000" b="1" spc="250" kern="0" dirty="0">
                <a:solidFill>
                  <a:srgbClr val="9A7B3F"/>
                </a:solidFill>
                <a:latin typeface="Calibri" pitchFamily="34" charset="0"/>
                <a:ea typeface="Calibri" pitchFamily="34" charset="-122"/>
                <a:cs typeface="Calibri" pitchFamily="34" charset="-120"/>
              </a:rPr>
              <a:t>FOR EMPLOYERS</a:t>
            </a:r>
            <a:endParaRPr lang="en-US" sz="1000" dirty="0"/>
          </a:p>
        </p:txBody>
      </p:sp>
      <p:sp>
        <p:nvSpPr>
          <p:cNvPr id="10" name="Text 8"/>
          <p:cNvSpPr/>
          <p:nvPr/>
        </p:nvSpPr>
        <p:spPr>
          <a:xfrm>
            <a:off x="6492240" y="2048256"/>
            <a:ext cx="512064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AI Candidate Screening</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Semantic evaluation of fit, capability, and readiness at scale.</a:t>
            </a:r>
            <a:endParaRPr lang="en-US" sz="1250" dirty="0"/>
          </a:p>
        </p:txBody>
      </p:sp>
      <p:sp>
        <p:nvSpPr>
          <p:cNvPr id="11" name="Text 9"/>
          <p:cNvSpPr/>
          <p:nvPr/>
        </p:nvSpPr>
        <p:spPr>
          <a:xfrm>
            <a:off x="6492240" y="3035808"/>
            <a:ext cx="512064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Job Posting Optimization</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AI-assisted role definition and sourcing precision.</a:t>
            </a:r>
            <a:endParaRPr lang="en-US" sz="1250" dirty="0"/>
          </a:p>
        </p:txBody>
      </p:sp>
      <p:sp>
        <p:nvSpPr>
          <p:cNvPr id="12" name="Text 10"/>
          <p:cNvSpPr/>
          <p:nvPr/>
        </p:nvSpPr>
        <p:spPr>
          <a:xfrm>
            <a:off x="6492240" y="4023360"/>
            <a:ext cx="512064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Talent Evaluation</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Structured assessment and interview analytics for confident decisions.</a:t>
            </a:r>
            <a:endParaRPr lang="en-US" sz="1250" dirty="0"/>
          </a:p>
        </p:txBody>
      </p:sp>
      <p:sp>
        <p:nvSpPr>
          <p:cNvPr id="13" name="Shape 11"/>
          <p:cNvSpPr/>
          <p:nvPr/>
        </p:nvSpPr>
        <p:spPr>
          <a:xfrm>
            <a:off x="6492240" y="4956048"/>
            <a:ext cx="5120640" cy="1115568"/>
          </a:xfrm>
          <a:prstGeom prst="rect">
            <a:avLst/>
          </a:prstGeom>
          <a:solidFill>
            <a:srgbClr val="F3F6F9"/>
          </a:solidFill>
          <a:ln/>
        </p:spPr>
      </p:sp>
      <p:sp>
        <p:nvSpPr>
          <p:cNvPr id="14" name="Text 12"/>
          <p:cNvSpPr/>
          <p:nvPr/>
        </p:nvSpPr>
        <p:spPr>
          <a:xfrm>
            <a:off x="6720840" y="5084064"/>
            <a:ext cx="4663440" cy="868680"/>
          </a:xfrm>
          <a:prstGeom prst="rect">
            <a:avLst/>
          </a:prstGeom>
          <a:noFill/>
          <a:ln/>
        </p:spPr>
        <p:txBody>
          <a:bodyPr wrap="square" lIns="0" tIns="0" rIns="0" bIns="0" rtlCol="0" anchor="ctr"/>
          <a:lstStyle/>
          <a:p>
            <a:pPr indent="0" marL="0">
              <a:lnSpc>
                <a:spcPts val="1450"/>
              </a:lnSpc>
              <a:buNone/>
            </a:pPr>
            <a:r>
              <a:rPr lang="en-US" sz="1050" b="1" i="1" dirty="0">
                <a:solidFill>
                  <a:srgbClr val="132A4F"/>
                </a:solidFill>
                <a:latin typeface="Calibri" pitchFamily="34" charset="0"/>
                <a:ea typeface="Calibri" pitchFamily="34" charset="-122"/>
                <a:cs typeface="Calibri" pitchFamily="34" charset="-120"/>
              </a:rPr>
              <a:t>The flywheel:  </a:t>
            </a:r>
            <a:pPr indent="0" marL="0">
              <a:lnSpc>
                <a:spcPts val="1450"/>
              </a:lnSpc>
              <a:buNone/>
            </a:pPr>
            <a:r>
              <a:rPr lang="en-US" sz="1050" i="1" dirty="0">
                <a:solidFill>
                  <a:srgbClr val="5A6B7E"/>
                </a:solidFill>
                <a:latin typeface="Calibri" pitchFamily="34" charset="0"/>
                <a:ea typeface="Calibri" pitchFamily="34" charset="-122"/>
                <a:cs typeface="Calibri" pitchFamily="34" charset="-120"/>
              </a:rPr>
              <a:t>candidate outcomes generate proprietary data that sharpens matching and screening for employers — a compounding advantage on both sides of the market.</a:t>
            </a:r>
            <a:endParaRPr lang="en-US" sz="1050" dirty="0"/>
          </a:p>
        </p:txBody>
      </p:sp>
      <p:sp>
        <p:nvSpPr>
          <p:cNvPr id="15" name="Text 13"/>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6" name="Text 14"/>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TECHNOLOGY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Enterprise-Grade AI, Built with Alibaba Cloud</a:t>
            </a:r>
            <a:endParaRPr lang="en-US" sz="3000" dirty="0"/>
          </a:p>
        </p:txBody>
      </p:sp>
      <p:sp>
        <p:nvSpPr>
          <p:cNvPr id="4" name="Text 2"/>
          <p:cNvSpPr/>
          <p:nvPr/>
        </p:nvSpPr>
        <p:spPr>
          <a:xfrm>
            <a:off x="566928" y="1719072"/>
            <a:ext cx="5760720" cy="274320"/>
          </a:xfrm>
          <a:prstGeom prst="rect">
            <a:avLst/>
          </a:prstGeom>
          <a:noFill/>
          <a:ln/>
        </p:spPr>
        <p:txBody>
          <a:bodyPr wrap="square" lIns="0" tIns="0" rIns="0" bIns="0" rtlCol="0" anchor="ctr"/>
          <a:lstStyle/>
          <a:p>
            <a:pPr indent="0" marL="0">
              <a:buNone/>
            </a:pPr>
            <a:r>
              <a:rPr lang="en-US" sz="1300" b="1" dirty="0">
                <a:solidFill>
                  <a:srgbClr val="132A4F"/>
                </a:solidFill>
                <a:latin typeface="Calibri" pitchFamily="34" charset="0"/>
                <a:ea typeface="Calibri" pitchFamily="34" charset="-122"/>
                <a:cs typeface="Calibri" pitchFamily="34" charset="-120"/>
              </a:rPr>
              <a:t>Alibaba Cloud AI partnership — July 2025</a:t>
            </a:r>
            <a:endParaRPr lang="en-US" sz="1300" dirty="0"/>
          </a:p>
        </p:txBody>
      </p:sp>
      <p:sp>
        <p:nvSpPr>
          <p:cNvPr id="5" name="Text 3"/>
          <p:cNvSpPr/>
          <p:nvPr/>
        </p:nvSpPr>
        <p:spPr>
          <a:xfrm>
            <a:off x="566928" y="2048256"/>
            <a:ext cx="5760720" cy="114300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A deep collaboration integrating frontier AI capability across the platform — the Tongyi large language model, natural-language processing, LLM inference, intelligent recommendation, and semantic search — on enterprise-grade compute and security infrastructure.</a:t>
            </a:r>
            <a:endParaRPr lang="en-US" sz="1100" dirty="0"/>
          </a:p>
        </p:txBody>
      </p:sp>
      <p:sp>
        <p:nvSpPr>
          <p:cNvPr id="6" name="Text 4"/>
          <p:cNvSpPr/>
          <p:nvPr/>
        </p:nvSpPr>
        <p:spPr>
          <a:xfrm>
            <a:off x="566928" y="3310128"/>
            <a:ext cx="5760720" cy="1280160"/>
          </a:xfrm>
          <a:prstGeom prst="rect">
            <a:avLst/>
          </a:prstGeom>
          <a:noFill/>
          <a:ln/>
        </p:spPr>
        <p:txBody>
          <a:bodyPr wrap="square" lIns="0" tIns="0" rIns="0" bIns="0" rtlCol="0" anchor="t"/>
          <a:lstStyle/>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AI Career Advisor delivering personalized career-path recommendations</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Intelligent matching and screening for precise candidate–role fit</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Enterprise data-security framework protecting user privacy</a:t>
            </a:r>
            <a:endParaRPr lang="en-US" sz="1050" dirty="0"/>
          </a:p>
        </p:txBody>
      </p:sp>
      <p:sp>
        <p:nvSpPr>
          <p:cNvPr id="7" name="Text 5"/>
          <p:cNvSpPr/>
          <p:nvPr/>
        </p:nvSpPr>
        <p:spPr>
          <a:xfrm>
            <a:off x="566928" y="4736592"/>
            <a:ext cx="5760720" cy="274320"/>
          </a:xfrm>
          <a:prstGeom prst="rect">
            <a:avLst/>
          </a:prstGeom>
          <a:noFill/>
          <a:ln/>
        </p:spPr>
        <p:txBody>
          <a:bodyPr wrap="square" lIns="0" tIns="0" rIns="0" bIns="0" rtlCol="0" anchor="ctr"/>
          <a:lstStyle/>
          <a:p>
            <a:pPr indent="0" marL="0">
              <a:buNone/>
            </a:pPr>
            <a:r>
              <a:rPr lang="en-US" sz="1300" b="1" dirty="0">
                <a:solidFill>
                  <a:srgbClr val="132A4F"/>
                </a:solidFill>
                <a:latin typeface="Calibri" pitchFamily="34" charset="0"/>
                <a:ea typeface="Calibri" pitchFamily="34" charset="-122"/>
                <a:cs typeface="Calibri" pitchFamily="34" charset="-120"/>
              </a:rPr>
              <a:t>Proprietary data moat</a:t>
            </a:r>
            <a:endParaRPr lang="en-US" sz="1300" dirty="0"/>
          </a:p>
        </p:txBody>
      </p:sp>
      <p:sp>
        <p:nvSpPr>
          <p:cNvPr id="8" name="Text 6"/>
          <p:cNvSpPr/>
          <p:nvPr/>
        </p:nvSpPr>
        <p:spPr>
          <a:xfrm>
            <a:off x="566928" y="5065776"/>
            <a:ext cx="5760720" cy="91440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A decade of accumulated interview questions, outcome-labeled placement data, and mentor feedback loops — assets that generic models and job boards cannot readily replicate.</a:t>
            </a:r>
            <a:endParaRPr lang="en-US" sz="1100" dirty="0"/>
          </a:p>
        </p:txBody>
      </p:sp>
      <p:sp>
        <p:nvSpPr>
          <p:cNvPr id="9" name="Shape 7"/>
          <p:cNvSpPr/>
          <p:nvPr/>
        </p:nvSpPr>
        <p:spPr>
          <a:xfrm>
            <a:off x="6903720" y="1847088"/>
            <a:ext cx="4709160" cy="1042416"/>
          </a:xfrm>
          <a:prstGeom prst="rect">
            <a:avLst/>
          </a:prstGeom>
          <a:solidFill>
            <a:srgbClr val="132A4F"/>
          </a:solidFill>
          <a:ln/>
        </p:spPr>
      </p:sp>
      <p:sp>
        <p:nvSpPr>
          <p:cNvPr id="10" name="Text 8"/>
          <p:cNvSpPr/>
          <p:nvPr/>
        </p:nvSpPr>
        <p:spPr>
          <a:xfrm>
            <a:off x="7178040" y="1975104"/>
            <a:ext cx="4160520" cy="822960"/>
          </a:xfrm>
          <a:prstGeom prst="rect">
            <a:avLst/>
          </a:prstGeom>
          <a:noFill/>
          <a:ln/>
        </p:spPr>
        <p:txBody>
          <a:bodyPr wrap="square" lIns="0" tIns="0" rIns="0" bIns="0" rtlCol="0" anchor="ctr"/>
          <a:lstStyle/>
          <a:p>
            <a:pPr indent="0" marL="0">
              <a:lnSpc>
                <a:spcPts val="1400"/>
              </a:lnSpc>
              <a:buNone/>
            </a:pPr>
            <a:r>
              <a:rPr lang="en-US" sz="1000" b="1" spc="200" kern="0" dirty="0">
                <a:solidFill>
                  <a:srgbClr val="FFFFFF"/>
                </a:solidFill>
                <a:latin typeface="Calibri" pitchFamily="34" charset="0"/>
                <a:ea typeface="Calibri" pitchFamily="34" charset="-122"/>
                <a:cs typeface="Calibri" pitchFamily="34" charset="-120"/>
              </a:rPr>
              <a:t>APPLICATIONS</a:t>
            </a:r>
            <a:endParaRPr lang="en-US" sz="1000" dirty="0"/>
          </a:p>
          <a:p>
            <a:pPr indent="0" marL="0">
              <a:lnSpc>
                <a:spcPts val="1400"/>
              </a:lnSpc>
              <a:buNone/>
            </a:pPr>
            <a:r>
              <a:rPr lang="en-US" sz="1050" dirty="0">
                <a:solidFill>
                  <a:srgbClr val="FFFFFF"/>
                </a:solidFill>
                <a:latin typeface="Calibri" pitchFamily="34" charset="0"/>
                <a:ea typeface="Calibri" pitchFamily="34" charset="-122"/>
                <a:cs typeface="Calibri" pitchFamily="34" charset="-120"/>
              </a:rPr>
              <a:t>Mock Interviews · Career Advisor · Matching · Screening</a:t>
            </a:r>
            <a:endParaRPr lang="en-US" sz="1000" dirty="0"/>
          </a:p>
        </p:txBody>
      </p:sp>
      <p:sp>
        <p:nvSpPr>
          <p:cNvPr id="11" name="Shape 9"/>
          <p:cNvSpPr/>
          <p:nvPr/>
        </p:nvSpPr>
        <p:spPr>
          <a:xfrm>
            <a:off x="6903720" y="3072384"/>
            <a:ext cx="4709160" cy="1042416"/>
          </a:xfrm>
          <a:prstGeom prst="rect">
            <a:avLst/>
          </a:prstGeom>
          <a:solidFill>
            <a:srgbClr val="44639A"/>
          </a:solidFill>
          <a:ln/>
        </p:spPr>
      </p:sp>
      <p:sp>
        <p:nvSpPr>
          <p:cNvPr id="12" name="Text 10"/>
          <p:cNvSpPr/>
          <p:nvPr/>
        </p:nvSpPr>
        <p:spPr>
          <a:xfrm>
            <a:off x="7178040" y="3200400"/>
            <a:ext cx="4160520" cy="822960"/>
          </a:xfrm>
          <a:prstGeom prst="rect">
            <a:avLst/>
          </a:prstGeom>
          <a:noFill/>
          <a:ln/>
        </p:spPr>
        <p:txBody>
          <a:bodyPr wrap="square" lIns="0" tIns="0" rIns="0" bIns="0" rtlCol="0" anchor="ctr"/>
          <a:lstStyle/>
          <a:p>
            <a:pPr indent="0" marL="0">
              <a:lnSpc>
                <a:spcPts val="1400"/>
              </a:lnSpc>
              <a:buNone/>
            </a:pPr>
            <a:r>
              <a:rPr lang="en-US" sz="1000" b="1" spc="200" kern="0" dirty="0">
                <a:solidFill>
                  <a:srgbClr val="FFFFFF"/>
                </a:solidFill>
                <a:latin typeface="Calibri" pitchFamily="34" charset="0"/>
                <a:ea typeface="Calibri" pitchFamily="34" charset="-122"/>
                <a:cs typeface="Calibri" pitchFamily="34" charset="-120"/>
              </a:rPr>
              <a:t>INTELLIGENCE</a:t>
            </a:r>
            <a:endParaRPr lang="en-US" sz="1000" dirty="0"/>
          </a:p>
          <a:p>
            <a:pPr indent="0" marL="0">
              <a:lnSpc>
                <a:spcPts val="1400"/>
              </a:lnSpc>
              <a:buNone/>
            </a:pPr>
            <a:r>
              <a:rPr lang="en-US" sz="1050" dirty="0">
                <a:solidFill>
                  <a:srgbClr val="FFFFFF"/>
                </a:solidFill>
                <a:latin typeface="Calibri" pitchFamily="34" charset="0"/>
                <a:ea typeface="Calibri" pitchFamily="34" charset="-122"/>
                <a:cs typeface="Calibri" pitchFamily="34" charset="-120"/>
              </a:rPr>
              <a:t>Tongyi LLM · NLP · Semantic Search · Recommendation</a:t>
            </a:r>
            <a:endParaRPr lang="en-US" sz="1000" dirty="0"/>
          </a:p>
        </p:txBody>
      </p:sp>
      <p:sp>
        <p:nvSpPr>
          <p:cNvPr id="13" name="Shape 11"/>
          <p:cNvSpPr/>
          <p:nvPr/>
        </p:nvSpPr>
        <p:spPr>
          <a:xfrm>
            <a:off x="6903720" y="4297680"/>
            <a:ext cx="4709160" cy="1042416"/>
          </a:xfrm>
          <a:prstGeom prst="rect">
            <a:avLst/>
          </a:prstGeom>
          <a:solidFill>
            <a:srgbClr val="F3F6F9"/>
          </a:solidFill>
          <a:ln/>
        </p:spPr>
      </p:sp>
      <p:sp>
        <p:nvSpPr>
          <p:cNvPr id="14" name="Text 12"/>
          <p:cNvSpPr/>
          <p:nvPr/>
        </p:nvSpPr>
        <p:spPr>
          <a:xfrm>
            <a:off x="7178040" y="4425696"/>
            <a:ext cx="4160520" cy="822960"/>
          </a:xfrm>
          <a:prstGeom prst="rect">
            <a:avLst/>
          </a:prstGeom>
          <a:noFill/>
          <a:ln/>
        </p:spPr>
        <p:txBody>
          <a:bodyPr wrap="square" lIns="0" tIns="0" rIns="0" bIns="0" rtlCol="0" anchor="ctr"/>
          <a:lstStyle/>
          <a:p>
            <a:pPr indent="0" marL="0">
              <a:lnSpc>
                <a:spcPts val="1400"/>
              </a:lnSpc>
              <a:buNone/>
            </a:pPr>
            <a:r>
              <a:rPr lang="en-US" sz="1000" b="1" spc="200" kern="0" dirty="0">
                <a:solidFill>
                  <a:srgbClr val="1C2733"/>
                </a:solidFill>
                <a:latin typeface="Calibri" pitchFamily="34" charset="0"/>
                <a:ea typeface="Calibri" pitchFamily="34" charset="-122"/>
                <a:cs typeface="Calibri" pitchFamily="34" charset="-120"/>
              </a:rPr>
              <a:t>DATA &amp; INFRASTRUCTURE</a:t>
            </a:r>
            <a:endParaRPr lang="en-US" sz="1000" dirty="0"/>
          </a:p>
          <a:p>
            <a:pPr indent="0" marL="0">
              <a:lnSpc>
                <a:spcPts val="1400"/>
              </a:lnSpc>
              <a:buNone/>
            </a:pPr>
            <a:r>
              <a:rPr lang="en-US" sz="1050" dirty="0">
                <a:solidFill>
                  <a:srgbClr val="1C2733"/>
                </a:solidFill>
                <a:latin typeface="Calibri" pitchFamily="34" charset="0"/>
                <a:ea typeface="Calibri" pitchFamily="34" charset="-122"/>
                <a:cs typeface="Calibri" pitchFamily="34" charset="-120"/>
              </a:rPr>
              <a:t>Proprietary question corpus · Outcome data · Alibaba Cloud</a:t>
            </a:r>
            <a:endParaRPr lang="en-US" sz="1000" dirty="0"/>
          </a:p>
        </p:txBody>
      </p:sp>
      <p:sp>
        <p:nvSpPr>
          <p:cNvPr id="15" name="Text 13"/>
          <p:cNvSpPr/>
          <p:nvPr/>
        </p:nvSpPr>
        <p:spPr>
          <a:xfrm>
            <a:off x="6903720" y="5468112"/>
            <a:ext cx="4709160" cy="228600"/>
          </a:xfrm>
          <a:prstGeom prst="rect">
            <a:avLst/>
          </a:prstGeom>
          <a:noFill/>
          <a:ln/>
        </p:spPr>
        <p:txBody>
          <a:bodyPr wrap="square" lIns="0" tIns="0" rIns="0" bIns="0" rtlCol="0" anchor="ctr"/>
          <a:lstStyle/>
          <a:p>
            <a:pPr algn="ctr" indent="0" marL="0">
              <a:buNone/>
            </a:pPr>
            <a:r>
              <a:rPr lang="en-US" sz="900" i="1" dirty="0">
                <a:solidFill>
                  <a:srgbClr val="5A6B7E"/>
                </a:solidFill>
                <a:latin typeface="Calibri" pitchFamily="34" charset="0"/>
                <a:ea typeface="Calibri" pitchFamily="34" charset="-122"/>
                <a:cs typeface="Calibri" pitchFamily="34" charset="-120"/>
              </a:rPr>
              <a:t>Platform architecture (simplified)</a:t>
            </a:r>
            <a:endParaRPr lang="en-US" sz="900" dirty="0"/>
          </a:p>
        </p:txBody>
      </p:sp>
      <p:sp>
        <p:nvSpPr>
          <p:cNvPr id="16" name="Text 14"/>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7" name="Text 15"/>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BUSINESS MODEL</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Diversified, Outcome-Aligned Revenue</a:t>
            </a:r>
            <a:endParaRPr lang="en-US" sz="3000" dirty="0"/>
          </a:p>
        </p:txBody>
      </p:sp>
      <p:sp>
        <p:nvSpPr>
          <p:cNvPr id="4" name="Shape 2"/>
          <p:cNvSpPr/>
          <p:nvPr/>
        </p:nvSpPr>
        <p:spPr>
          <a:xfrm>
            <a:off x="566928" y="1691640"/>
            <a:ext cx="3520440" cy="3246120"/>
          </a:xfrm>
          <a:prstGeom prst="rect">
            <a:avLst/>
          </a:prstGeom>
          <a:solidFill>
            <a:srgbClr val="F3F6F9"/>
          </a:solidFill>
          <a:ln/>
        </p:spPr>
      </p:sp>
      <p:sp>
        <p:nvSpPr>
          <p:cNvPr id="5" name="Text 3"/>
          <p:cNvSpPr/>
          <p:nvPr/>
        </p:nvSpPr>
        <p:spPr>
          <a:xfrm>
            <a:off x="822960" y="1947672"/>
            <a:ext cx="3017520" cy="237744"/>
          </a:xfrm>
          <a:prstGeom prst="rect">
            <a:avLst/>
          </a:prstGeom>
          <a:noFill/>
          <a:ln/>
        </p:spPr>
        <p:txBody>
          <a:bodyPr wrap="square" lIns="0" tIns="0" rIns="0" bIns="0" rtlCol="0" anchor="ctr"/>
          <a:lstStyle/>
          <a:p>
            <a:pPr indent="0" marL="0">
              <a:buNone/>
            </a:pPr>
            <a:r>
              <a:rPr lang="en-US" sz="850" b="1" spc="200" kern="0" dirty="0">
                <a:solidFill>
                  <a:srgbClr val="9A7B3F"/>
                </a:solidFill>
                <a:latin typeface="Calibri" pitchFamily="34" charset="0"/>
                <a:ea typeface="Calibri" pitchFamily="34" charset="-122"/>
                <a:cs typeface="Calibri" pitchFamily="34" charset="-120"/>
              </a:rPr>
              <a:t>01 · CONSUMER PLATFORM</a:t>
            </a:r>
            <a:endParaRPr lang="en-US" sz="850" dirty="0"/>
          </a:p>
        </p:txBody>
      </p:sp>
      <p:sp>
        <p:nvSpPr>
          <p:cNvPr id="6" name="Text 4"/>
          <p:cNvSpPr/>
          <p:nvPr/>
        </p:nvSpPr>
        <p:spPr>
          <a:xfrm>
            <a:off x="822960" y="2231136"/>
            <a:ext cx="3017520" cy="310896"/>
          </a:xfrm>
          <a:prstGeom prst="rect">
            <a:avLst/>
          </a:prstGeom>
          <a:noFill/>
          <a:ln/>
        </p:spPr>
        <p:txBody>
          <a:bodyPr wrap="square" lIns="0" tIns="0" rIns="0" bIns="0" rtlCol="0" anchor="ctr"/>
          <a:lstStyle/>
          <a:p>
            <a:pPr indent="0" marL="0">
              <a:buNone/>
            </a:pPr>
            <a:r>
              <a:rPr lang="en-US" sz="1450" b="1" dirty="0">
                <a:solidFill>
                  <a:srgbClr val="1C2733"/>
                </a:solidFill>
                <a:latin typeface="Calibri" pitchFamily="34" charset="0"/>
                <a:ea typeface="Calibri" pitchFamily="34" charset="-122"/>
                <a:cs typeface="Calibri" pitchFamily="34" charset="-120"/>
              </a:rPr>
              <a:t>Subscriptions &amp; Prep</a:t>
            </a:r>
            <a:endParaRPr lang="en-US" sz="1450" dirty="0"/>
          </a:p>
        </p:txBody>
      </p:sp>
      <p:sp>
        <p:nvSpPr>
          <p:cNvPr id="7" name="Text 5"/>
          <p:cNvSpPr/>
          <p:nvPr/>
        </p:nvSpPr>
        <p:spPr>
          <a:xfrm>
            <a:off x="822960" y="2615184"/>
            <a:ext cx="3017520" cy="141732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Self-serve AI interview practice, question banks, and assessments sold as subscriptions and credit packs.</a:t>
            </a:r>
            <a:endParaRPr lang="en-US" sz="1050" dirty="0"/>
          </a:p>
        </p:txBody>
      </p:sp>
      <p:sp>
        <p:nvSpPr>
          <p:cNvPr id="8" name="Text 6"/>
          <p:cNvSpPr/>
          <p:nvPr/>
        </p:nvSpPr>
        <p:spPr>
          <a:xfrm>
            <a:off x="822960" y="4279392"/>
            <a:ext cx="3017520" cy="457200"/>
          </a:xfrm>
          <a:prstGeom prst="rect">
            <a:avLst/>
          </a:prstGeom>
          <a:noFill/>
          <a:ln/>
        </p:spPr>
        <p:txBody>
          <a:bodyPr wrap="square" lIns="0" tIns="0" rIns="0" bIns="0" rtlCol="0" anchor="t"/>
          <a:lstStyle/>
          <a:p>
            <a:pPr indent="0" marL="0">
              <a:lnSpc>
                <a:spcPts val="1300"/>
              </a:lnSpc>
              <a:buNone/>
            </a:pPr>
            <a:r>
              <a:rPr lang="en-US" sz="950" i="1" dirty="0">
                <a:solidFill>
                  <a:srgbClr val="132A4F"/>
                </a:solidFill>
                <a:latin typeface="Calibri" pitchFamily="34" charset="0"/>
                <a:ea typeface="Calibri" pitchFamily="34" charset="-122"/>
                <a:cs typeface="Calibri" pitchFamily="34" charset="-120"/>
              </a:rPr>
              <a:t>Recurring · High margin · Scales globally</a:t>
            </a:r>
            <a:endParaRPr lang="en-US" sz="950" dirty="0"/>
          </a:p>
        </p:txBody>
      </p:sp>
      <p:sp>
        <p:nvSpPr>
          <p:cNvPr id="9" name="Shape 7"/>
          <p:cNvSpPr/>
          <p:nvPr/>
        </p:nvSpPr>
        <p:spPr>
          <a:xfrm>
            <a:off x="4343400" y="1691640"/>
            <a:ext cx="3520440" cy="3246120"/>
          </a:xfrm>
          <a:prstGeom prst="rect">
            <a:avLst/>
          </a:prstGeom>
          <a:solidFill>
            <a:srgbClr val="F3F6F9"/>
          </a:solidFill>
          <a:ln/>
        </p:spPr>
      </p:sp>
      <p:sp>
        <p:nvSpPr>
          <p:cNvPr id="10" name="Text 8"/>
          <p:cNvSpPr/>
          <p:nvPr/>
        </p:nvSpPr>
        <p:spPr>
          <a:xfrm>
            <a:off x="4599432" y="1947672"/>
            <a:ext cx="3017520" cy="237744"/>
          </a:xfrm>
          <a:prstGeom prst="rect">
            <a:avLst/>
          </a:prstGeom>
          <a:noFill/>
          <a:ln/>
        </p:spPr>
        <p:txBody>
          <a:bodyPr wrap="square" lIns="0" tIns="0" rIns="0" bIns="0" rtlCol="0" anchor="ctr"/>
          <a:lstStyle/>
          <a:p>
            <a:pPr indent="0" marL="0">
              <a:buNone/>
            </a:pPr>
            <a:r>
              <a:rPr lang="en-US" sz="850" b="1" spc="200" kern="0" dirty="0">
                <a:solidFill>
                  <a:srgbClr val="9A7B3F"/>
                </a:solidFill>
                <a:latin typeface="Calibri" pitchFamily="34" charset="0"/>
                <a:ea typeface="Calibri" pitchFamily="34" charset="-122"/>
                <a:cs typeface="Calibri" pitchFamily="34" charset="-120"/>
              </a:rPr>
              <a:t>02 · PREMIUM SERVICES</a:t>
            </a:r>
            <a:endParaRPr lang="en-US" sz="850" dirty="0"/>
          </a:p>
        </p:txBody>
      </p:sp>
      <p:sp>
        <p:nvSpPr>
          <p:cNvPr id="11" name="Text 9"/>
          <p:cNvSpPr/>
          <p:nvPr/>
        </p:nvSpPr>
        <p:spPr>
          <a:xfrm>
            <a:off x="4599432" y="2231136"/>
            <a:ext cx="3017520" cy="310896"/>
          </a:xfrm>
          <a:prstGeom prst="rect">
            <a:avLst/>
          </a:prstGeom>
          <a:noFill/>
          <a:ln/>
        </p:spPr>
        <p:txBody>
          <a:bodyPr wrap="square" lIns="0" tIns="0" rIns="0" bIns="0" rtlCol="0" anchor="ctr"/>
          <a:lstStyle/>
          <a:p>
            <a:pPr indent="0" marL="0">
              <a:buNone/>
            </a:pPr>
            <a:r>
              <a:rPr lang="en-US" sz="1450" b="1" dirty="0">
                <a:solidFill>
                  <a:srgbClr val="1C2733"/>
                </a:solidFill>
                <a:latin typeface="Calibri" pitchFamily="34" charset="0"/>
                <a:ea typeface="Calibri" pitchFamily="34" charset="-122"/>
                <a:cs typeface="Calibri" pitchFamily="34" charset="-120"/>
              </a:rPr>
              <a:t>Coaching &amp; Placement</a:t>
            </a:r>
            <a:endParaRPr lang="en-US" sz="1450" dirty="0"/>
          </a:p>
        </p:txBody>
      </p:sp>
      <p:sp>
        <p:nvSpPr>
          <p:cNvPr id="12" name="Text 10"/>
          <p:cNvSpPr/>
          <p:nvPr/>
        </p:nvSpPr>
        <p:spPr>
          <a:xfrm>
            <a:off x="4599432" y="2615184"/>
            <a:ext cx="3017520" cy="141732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Mentor-led programs and outcome-based placement offerings — the Company’s proven, high-ARPU franchise since 2016.</a:t>
            </a:r>
            <a:endParaRPr lang="en-US" sz="1050" dirty="0"/>
          </a:p>
        </p:txBody>
      </p:sp>
      <p:sp>
        <p:nvSpPr>
          <p:cNvPr id="13" name="Text 11"/>
          <p:cNvSpPr/>
          <p:nvPr/>
        </p:nvSpPr>
        <p:spPr>
          <a:xfrm>
            <a:off x="4599432" y="4279392"/>
            <a:ext cx="3017520" cy="457200"/>
          </a:xfrm>
          <a:prstGeom prst="rect">
            <a:avLst/>
          </a:prstGeom>
          <a:noFill/>
          <a:ln/>
        </p:spPr>
        <p:txBody>
          <a:bodyPr wrap="square" lIns="0" tIns="0" rIns="0" bIns="0" rtlCol="0" anchor="t"/>
          <a:lstStyle/>
          <a:p>
            <a:pPr indent="0" marL="0">
              <a:lnSpc>
                <a:spcPts val="1300"/>
              </a:lnSpc>
              <a:buNone/>
            </a:pPr>
            <a:r>
              <a:rPr lang="en-US" sz="950" i="1" dirty="0">
                <a:solidFill>
                  <a:srgbClr val="132A4F"/>
                </a:solidFill>
                <a:latin typeface="Calibri" pitchFamily="34" charset="0"/>
                <a:ea typeface="Calibri" pitchFamily="34" charset="-122"/>
                <a:cs typeface="Calibri" pitchFamily="34" charset="-120"/>
              </a:rPr>
              <a:t>High ARPU · Proven demand · Cash generative</a:t>
            </a:r>
            <a:endParaRPr lang="en-US" sz="950" dirty="0"/>
          </a:p>
        </p:txBody>
      </p:sp>
      <p:sp>
        <p:nvSpPr>
          <p:cNvPr id="14" name="Shape 12"/>
          <p:cNvSpPr/>
          <p:nvPr/>
        </p:nvSpPr>
        <p:spPr>
          <a:xfrm>
            <a:off x="8119872" y="1691640"/>
            <a:ext cx="3520440" cy="3246120"/>
          </a:xfrm>
          <a:prstGeom prst="rect">
            <a:avLst/>
          </a:prstGeom>
          <a:solidFill>
            <a:srgbClr val="F3F6F9"/>
          </a:solidFill>
          <a:ln/>
        </p:spPr>
      </p:sp>
      <p:sp>
        <p:nvSpPr>
          <p:cNvPr id="15" name="Text 13"/>
          <p:cNvSpPr/>
          <p:nvPr/>
        </p:nvSpPr>
        <p:spPr>
          <a:xfrm>
            <a:off x="8375904" y="1947672"/>
            <a:ext cx="3017520" cy="237744"/>
          </a:xfrm>
          <a:prstGeom prst="rect">
            <a:avLst/>
          </a:prstGeom>
          <a:noFill/>
          <a:ln/>
        </p:spPr>
        <p:txBody>
          <a:bodyPr wrap="square" lIns="0" tIns="0" rIns="0" bIns="0" rtlCol="0" anchor="ctr"/>
          <a:lstStyle/>
          <a:p>
            <a:pPr indent="0" marL="0">
              <a:buNone/>
            </a:pPr>
            <a:r>
              <a:rPr lang="en-US" sz="850" b="1" spc="200" kern="0" dirty="0">
                <a:solidFill>
                  <a:srgbClr val="9A7B3F"/>
                </a:solidFill>
                <a:latin typeface="Calibri" pitchFamily="34" charset="0"/>
                <a:ea typeface="Calibri" pitchFamily="34" charset="-122"/>
                <a:cs typeface="Calibri" pitchFamily="34" charset="-120"/>
              </a:rPr>
              <a:t>03 · ENTERPRISE &amp; INSTITUTIONS</a:t>
            </a:r>
            <a:endParaRPr lang="en-US" sz="850" dirty="0"/>
          </a:p>
        </p:txBody>
      </p:sp>
      <p:sp>
        <p:nvSpPr>
          <p:cNvPr id="16" name="Text 14"/>
          <p:cNvSpPr/>
          <p:nvPr/>
        </p:nvSpPr>
        <p:spPr>
          <a:xfrm>
            <a:off x="8375904" y="2231136"/>
            <a:ext cx="3017520" cy="310896"/>
          </a:xfrm>
          <a:prstGeom prst="rect">
            <a:avLst/>
          </a:prstGeom>
          <a:noFill/>
          <a:ln/>
        </p:spPr>
        <p:txBody>
          <a:bodyPr wrap="square" lIns="0" tIns="0" rIns="0" bIns="0" rtlCol="0" anchor="ctr"/>
          <a:lstStyle/>
          <a:p>
            <a:pPr indent="0" marL="0">
              <a:buNone/>
            </a:pPr>
            <a:r>
              <a:rPr lang="en-US" sz="1450" b="1" dirty="0">
                <a:solidFill>
                  <a:srgbClr val="1C2733"/>
                </a:solidFill>
                <a:latin typeface="Calibri" pitchFamily="34" charset="0"/>
                <a:ea typeface="Calibri" pitchFamily="34" charset="-122"/>
                <a:cs typeface="Calibri" pitchFamily="34" charset="-120"/>
              </a:rPr>
              <a:t>Employer SaaS</a:t>
            </a:r>
            <a:endParaRPr lang="en-US" sz="1450" dirty="0"/>
          </a:p>
        </p:txBody>
      </p:sp>
      <p:sp>
        <p:nvSpPr>
          <p:cNvPr id="17" name="Text 15"/>
          <p:cNvSpPr/>
          <p:nvPr/>
        </p:nvSpPr>
        <p:spPr>
          <a:xfrm>
            <a:off x="8375904" y="2615184"/>
            <a:ext cx="3017520" cy="141732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AI screening, talent evaluation, and posting optimization for employers; partnerships with universities and institutions.</a:t>
            </a:r>
            <a:endParaRPr lang="en-US" sz="1050" dirty="0"/>
          </a:p>
        </p:txBody>
      </p:sp>
      <p:sp>
        <p:nvSpPr>
          <p:cNvPr id="18" name="Text 16"/>
          <p:cNvSpPr/>
          <p:nvPr/>
        </p:nvSpPr>
        <p:spPr>
          <a:xfrm>
            <a:off x="8375904" y="4279392"/>
            <a:ext cx="3017520" cy="457200"/>
          </a:xfrm>
          <a:prstGeom prst="rect">
            <a:avLst/>
          </a:prstGeom>
          <a:noFill/>
          <a:ln/>
        </p:spPr>
        <p:txBody>
          <a:bodyPr wrap="square" lIns="0" tIns="0" rIns="0" bIns="0" rtlCol="0" anchor="t"/>
          <a:lstStyle/>
          <a:p>
            <a:pPr indent="0" marL="0">
              <a:lnSpc>
                <a:spcPts val="1300"/>
              </a:lnSpc>
              <a:buNone/>
            </a:pPr>
            <a:r>
              <a:rPr lang="en-US" sz="950" i="1" dirty="0">
                <a:solidFill>
                  <a:srgbClr val="132A4F"/>
                </a:solidFill>
                <a:latin typeface="Calibri" pitchFamily="34" charset="0"/>
                <a:ea typeface="Calibri" pitchFamily="34" charset="-122"/>
                <a:cs typeface="Calibri" pitchFamily="34" charset="-120"/>
              </a:rPr>
              <a:t>B2B · Land-and-expand · Data flywheel</a:t>
            </a:r>
            <a:endParaRPr lang="en-US" sz="950" dirty="0"/>
          </a:p>
        </p:txBody>
      </p:sp>
      <p:sp>
        <p:nvSpPr>
          <p:cNvPr id="19" name="Text 17"/>
          <p:cNvSpPr/>
          <p:nvPr/>
        </p:nvSpPr>
        <p:spPr>
          <a:xfrm>
            <a:off x="566928" y="5349240"/>
            <a:ext cx="365760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Model evolution</a:t>
            </a:r>
            <a:endParaRPr lang="en-US" sz="1300" dirty="0"/>
          </a:p>
        </p:txBody>
      </p:sp>
      <p:sp>
        <p:nvSpPr>
          <p:cNvPr id="20" name="Text 18"/>
          <p:cNvSpPr/>
          <p:nvPr/>
        </p:nvSpPr>
        <p:spPr>
          <a:xfrm>
            <a:off x="566928" y="5669280"/>
            <a:ext cx="11057839" cy="310896"/>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Services-led </a:t>
            </a:r>
            <a:pPr indent="0" marL="0">
              <a:buNone/>
            </a:pPr>
            <a:r>
              <a:rPr lang="en-US" sz="1200" dirty="0">
                <a:solidFill>
                  <a:srgbClr val="5A6B7E"/>
                </a:solidFill>
                <a:latin typeface="Calibri" pitchFamily="34" charset="0"/>
                <a:ea typeface="Calibri" pitchFamily="34" charset="-122"/>
                <a:cs typeface="Calibri" pitchFamily="34" charset="-120"/>
              </a:rPr>
              <a:t>(today)</a:t>
            </a:r>
            <a:pPr indent="0" marL="0">
              <a:buNone/>
            </a:pPr>
            <a:r>
              <a:rPr lang="en-US" sz="1200" b="1" dirty="0">
                <a:solidFill>
                  <a:srgbClr val="9A7B3F"/>
                </a:solidFill>
                <a:latin typeface="Calibri" pitchFamily="34" charset="0"/>
                <a:ea typeface="Calibri" pitchFamily="34" charset="-122"/>
                <a:cs typeface="Calibri" pitchFamily="34" charset="-120"/>
              </a:rPr>
              <a:t>      →      </a:t>
            </a:r>
            <a:pPr indent="0" marL="0">
              <a:buNone/>
            </a:pPr>
            <a:r>
              <a:rPr lang="en-US" sz="1200" b="1" dirty="0">
                <a:solidFill>
                  <a:srgbClr val="132A4F"/>
                </a:solidFill>
                <a:latin typeface="Calibri" pitchFamily="34" charset="0"/>
                <a:ea typeface="Calibri" pitchFamily="34" charset="-122"/>
                <a:cs typeface="Calibri" pitchFamily="34" charset="-120"/>
              </a:rPr>
              <a:t>Blended mix </a:t>
            </a:r>
            <a:pPr indent="0" marL="0">
              <a:buNone/>
            </a:pPr>
            <a:r>
              <a:rPr lang="en-US" sz="1200" dirty="0">
                <a:solidFill>
                  <a:srgbClr val="5A6B7E"/>
                </a:solidFill>
                <a:latin typeface="Calibri" pitchFamily="34" charset="0"/>
                <a:ea typeface="Calibri" pitchFamily="34" charset="-122"/>
                <a:cs typeface="Calibri" pitchFamily="34" charset="-120"/>
              </a:rPr>
              <a:t>(2027)</a:t>
            </a:r>
            <a:pPr indent="0" marL="0">
              <a:buNone/>
            </a:pPr>
            <a:r>
              <a:rPr lang="en-US" sz="1200" b="1" dirty="0">
                <a:solidFill>
                  <a:srgbClr val="9A7B3F"/>
                </a:solidFill>
                <a:latin typeface="Calibri" pitchFamily="34" charset="0"/>
                <a:ea typeface="Calibri" pitchFamily="34" charset="-122"/>
                <a:cs typeface="Calibri" pitchFamily="34" charset="-120"/>
              </a:rPr>
              <a:t>      →      </a:t>
            </a:r>
            <a:pPr indent="0" marL="0">
              <a:buNone/>
            </a:pPr>
            <a:r>
              <a:rPr lang="en-US" sz="1200" b="1" dirty="0">
                <a:solidFill>
                  <a:srgbClr val="132A4F"/>
                </a:solidFill>
                <a:latin typeface="Calibri" pitchFamily="34" charset="0"/>
                <a:ea typeface="Calibri" pitchFamily="34" charset="-122"/>
                <a:cs typeface="Calibri" pitchFamily="34" charset="-120"/>
              </a:rPr>
              <a:t>Software-led </a:t>
            </a:r>
            <a:pPr indent="0" marL="0">
              <a:buNone/>
            </a:pPr>
            <a:r>
              <a:rPr lang="en-US" sz="1200" dirty="0">
                <a:solidFill>
                  <a:srgbClr val="5A6B7E"/>
                </a:solidFill>
                <a:latin typeface="Calibri" pitchFamily="34" charset="0"/>
                <a:ea typeface="Calibri" pitchFamily="34" charset="-122"/>
                <a:cs typeface="Calibri" pitchFamily="34" charset="-120"/>
              </a:rPr>
              <a:t>(2029)  —  expanding gross margin as the platform scales</a:t>
            </a:r>
            <a:endParaRPr lang="en-US" sz="1200" dirty="0"/>
          </a:p>
        </p:txBody>
      </p:sp>
      <p:sp>
        <p:nvSpPr>
          <p:cNvPr id="21" name="Text 19"/>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2" name="Text 20"/>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TRACTION</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A Real Business, Not a Concept</a:t>
            </a:r>
            <a:endParaRPr lang="en-US" sz="3000" dirty="0"/>
          </a:p>
        </p:txBody>
      </p:sp>
      <p:sp>
        <p:nvSpPr>
          <p:cNvPr id="4" name="Text 2"/>
          <p:cNvSpPr/>
          <p:nvPr/>
        </p:nvSpPr>
        <p:spPr>
          <a:xfrm>
            <a:off x="56692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10 yrs</a:t>
            </a:r>
            <a:endParaRPr lang="en-US" sz="3000" dirty="0"/>
          </a:p>
        </p:txBody>
      </p:sp>
      <p:sp>
        <p:nvSpPr>
          <p:cNvPr id="5" name="Text 3"/>
          <p:cNvSpPr/>
          <p:nvPr/>
        </p:nvSpPr>
        <p:spPr>
          <a:xfrm>
            <a:off x="56692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OPERATING HISTORY SINCE 2016</a:t>
            </a:r>
            <a:endParaRPr lang="en-US" sz="850" dirty="0"/>
          </a:p>
        </p:txBody>
      </p:sp>
      <p:sp>
        <p:nvSpPr>
          <p:cNvPr id="6" name="Text 4"/>
          <p:cNvSpPr/>
          <p:nvPr/>
        </p:nvSpPr>
        <p:spPr>
          <a:xfrm>
            <a:off x="340156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US$10M+</a:t>
            </a:r>
            <a:endParaRPr lang="en-US" sz="3000" dirty="0"/>
          </a:p>
        </p:txBody>
      </p:sp>
      <p:sp>
        <p:nvSpPr>
          <p:cNvPr id="7" name="Text 5"/>
          <p:cNvSpPr/>
          <p:nvPr/>
        </p:nvSpPr>
        <p:spPr>
          <a:xfrm>
            <a:off x="340156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ANNUAL REVENUE (2025, EST.)†</a:t>
            </a:r>
            <a:endParaRPr lang="en-US" sz="850" dirty="0"/>
          </a:p>
        </p:txBody>
      </p:sp>
      <p:sp>
        <p:nvSpPr>
          <p:cNvPr id="8" name="Text 6"/>
          <p:cNvSpPr/>
          <p:nvPr/>
        </p:nvSpPr>
        <p:spPr>
          <a:xfrm>
            <a:off x="623620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≈50</a:t>
            </a:r>
            <a:endParaRPr lang="en-US" sz="3000" dirty="0"/>
          </a:p>
        </p:txBody>
      </p:sp>
      <p:sp>
        <p:nvSpPr>
          <p:cNvPr id="9" name="Text 7"/>
          <p:cNvSpPr/>
          <p:nvPr/>
        </p:nvSpPr>
        <p:spPr>
          <a:xfrm>
            <a:off x="623620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PROFESSIONALS WORLDWIDE†</a:t>
            </a:r>
            <a:endParaRPr lang="en-US" sz="850" dirty="0"/>
          </a:p>
        </p:txBody>
      </p:sp>
      <p:sp>
        <p:nvSpPr>
          <p:cNvPr id="10" name="Text 8"/>
          <p:cNvSpPr/>
          <p:nvPr/>
        </p:nvSpPr>
        <p:spPr>
          <a:xfrm>
            <a:off x="907084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8+</a:t>
            </a:r>
            <a:endParaRPr lang="en-US" sz="3000" dirty="0"/>
          </a:p>
        </p:txBody>
      </p:sp>
      <p:sp>
        <p:nvSpPr>
          <p:cNvPr id="11" name="Text 9"/>
          <p:cNvSpPr/>
          <p:nvPr/>
        </p:nvSpPr>
        <p:spPr>
          <a:xfrm>
            <a:off x="907084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COUNTRIES OF OPERATION</a:t>
            </a:r>
            <a:endParaRPr lang="en-US" sz="850" dirty="0"/>
          </a:p>
        </p:txBody>
      </p:sp>
      <p:sp>
        <p:nvSpPr>
          <p:cNvPr id="12" name="Text 10"/>
          <p:cNvSpPr/>
          <p:nvPr/>
        </p:nvSpPr>
        <p:spPr>
          <a:xfrm>
            <a:off x="566928" y="3154680"/>
            <a:ext cx="548640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Selected milestones</a:t>
            </a:r>
            <a:endParaRPr lang="en-US" sz="1300" dirty="0"/>
          </a:p>
        </p:txBody>
      </p:sp>
      <p:sp>
        <p:nvSpPr>
          <p:cNvPr id="13" name="Text 11"/>
          <p:cNvSpPr/>
          <p:nvPr/>
        </p:nvSpPr>
        <p:spPr>
          <a:xfrm>
            <a:off x="566928" y="3529584"/>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2016</a:t>
            </a:r>
            <a:endParaRPr lang="en-US" sz="1000" dirty="0"/>
          </a:p>
        </p:txBody>
      </p:sp>
      <p:sp>
        <p:nvSpPr>
          <p:cNvPr id="14" name="Text 12"/>
          <p:cNvSpPr/>
          <p:nvPr/>
        </p:nvSpPr>
        <p:spPr>
          <a:xfrm>
            <a:off x="1536192" y="3529584"/>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Founded in New York as a premium career-consulting firm for international students</a:t>
            </a:r>
            <a:endParaRPr lang="en-US" sz="1050" dirty="0"/>
          </a:p>
        </p:txBody>
      </p:sp>
      <p:sp>
        <p:nvSpPr>
          <p:cNvPr id="15" name="Text 13"/>
          <p:cNvSpPr/>
          <p:nvPr/>
        </p:nvSpPr>
        <p:spPr>
          <a:xfrm>
            <a:off x="566928" y="4041648"/>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2016–24</a:t>
            </a:r>
            <a:endParaRPr lang="en-US" sz="1000" dirty="0"/>
          </a:p>
        </p:txBody>
      </p:sp>
      <p:sp>
        <p:nvSpPr>
          <p:cNvPr id="16" name="Text 14"/>
          <p:cNvSpPr/>
          <p:nvPr/>
        </p:nvSpPr>
        <p:spPr>
          <a:xfrm>
            <a:off x="1536192" y="4041648"/>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Scaled the coaching, referral, and placement franchise across the U.S. and Greater China</a:t>
            </a:r>
            <a:endParaRPr lang="en-US" sz="1050" dirty="0"/>
          </a:p>
        </p:txBody>
      </p:sp>
      <p:sp>
        <p:nvSpPr>
          <p:cNvPr id="17" name="Text 15"/>
          <p:cNvSpPr/>
          <p:nvPr/>
        </p:nvSpPr>
        <p:spPr>
          <a:xfrm>
            <a:off x="566928" y="4553712"/>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Jul 2025</a:t>
            </a:r>
            <a:endParaRPr lang="en-US" sz="1000" dirty="0"/>
          </a:p>
        </p:txBody>
      </p:sp>
      <p:sp>
        <p:nvSpPr>
          <p:cNvPr id="18" name="Text 16"/>
          <p:cNvSpPr/>
          <p:nvPr/>
        </p:nvSpPr>
        <p:spPr>
          <a:xfrm>
            <a:off x="1536192" y="4553712"/>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Strategic AI partnership with Alibaba Cloud (Tongyi LLM, NLP, semantic search)</a:t>
            </a:r>
            <a:endParaRPr lang="en-US" sz="1050" dirty="0"/>
          </a:p>
        </p:txBody>
      </p:sp>
      <p:sp>
        <p:nvSpPr>
          <p:cNvPr id="19" name="Text 17"/>
          <p:cNvSpPr/>
          <p:nvPr/>
        </p:nvSpPr>
        <p:spPr>
          <a:xfrm>
            <a:off x="566928" y="5065776"/>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2025</a:t>
            </a:r>
            <a:endParaRPr lang="en-US" sz="1000" dirty="0"/>
          </a:p>
        </p:txBody>
      </p:sp>
      <p:sp>
        <p:nvSpPr>
          <p:cNvPr id="20" name="Text 18"/>
          <p:cNvSpPr/>
          <p:nvPr/>
        </p:nvSpPr>
        <p:spPr>
          <a:xfrm>
            <a:off x="1536192" y="5065776"/>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Launched 51Careers.AI — the Company’s AI-powered global career platform</a:t>
            </a:r>
            <a:endParaRPr lang="en-US" sz="1050" dirty="0"/>
          </a:p>
        </p:txBody>
      </p:sp>
      <p:sp>
        <p:nvSpPr>
          <p:cNvPr id="21" name="Text 19"/>
          <p:cNvSpPr/>
          <p:nvPr/>
        </p:nvSpPr>
        <p:spPr>
          <a:xfrm>
            <a:off x="566928" y="5577840"/>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2026</a:t>
            </a:r>
            <a:endParaRPr lang="en-US" sz="1000" dirty="0"/>
          </a:p>
        </p:txBody>
      </p:sp>
      <p:sp>
        <p:nvSpPr>
          <p:cNvPr id="22" name="Text 20"/>
          <p:cNvSpPr/>
          <p:nvPr/>
        </p:nvSpPr>
        <p:spPr>
          <a:xfrm>
            <a:off x="1536192" y="5577840"/>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Global platform expansion underway across eight-plus countries</a:t>
            </a:r>
            <a:endParaRPr lang="en-US" sz="1050" dirty="0"/>
          </a:p>
        </p:txBody>
      </p:sp>
      <p:sp>
        <p:nvSpPr>
          <p:cNvPr id="23" name="Text 21"/>
          <p:cNvSpPr/>
          <p:nvPr/>
        </p:nvSpPr>
        <p:spPr>
          <a:xfrm>
            <a:off x="6903720" y="3154680"/>
            <a:ext cx="470916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Why it matters</a:t>
            </a:r>
            <a:endParaRPr lang="en-US" sz="1300" dirty="0"/>
          </a:p>
        </p:txBody>
      </p:sp>
      <p:sp>
        <p:nvSpPr>
          <p:cNvPr id="24" name="Text 22"/>
          <p:cNvSpPr/>
          <p:nvPr/>
        </p:nvSpPr>
        <p:spPr>
          <a:xfrm>
            <a:off x="6903720" y="3529584"/>
            <a:ext cx="4709160" cy="2286000"/>
          </a:xfrm>
          <a:prstGeom prst="rect">
            <a:avLst/>
          </a:prstGeom>
          <a:noFill/>
          <a:ln/>
        </p:spPr>
        <p:txBody>
          <a:bodyPr wrap="square" lIns="0" tIns="0" rIns="0" bIns="0" rtlCol="0" anchor="t"/>
          <a:lstStyle/>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Durable, decade-long demand with proven willingness to pay</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Cross-border delivery capability that is difficult to replicate</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AI now layers operating leverage onto an established service core</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Existing revenue de-risks the platform transition</a:t>
            </a:r>
            <a:endParaRPr lang="en-US" sz="1050" dirty="0"/>
          </a:p>
        </p:txBody>
      </p:sp>
      <p:sp>
        <p:nvSpPr>
          <p:cNvPr id="25" name="Text 23"/>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 Third-party estimates (ZoomInfo; LeadIQ, 2025–26) ranging US$9.7–15M revenue and ≈30–50 staff; to be confirmed in due diligence.</a:t>
            </a:r>
            <a:endParaRPr lang="en-US" sz="750" dirty="0"/>
          </a:p>
        </p:txBody>
      </p:sp>
      <p:sp>
        <p:nvSpPr>
          <p:cNvPr id="26" name="Text 24"/>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7" name="Text 25"/>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COMPETITIVE POSITIONING</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Differentiated at the Intersection of AI and Outcomes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3429000"/>
                <a:gridCol w="1691640"/>
                <a:gridCol w="1481328"/>
                <a:gridCol w="1481328"/>
                <a:gridCol w="1572768"/>
                <a:gridCol w="1399032"/>
              </a:tblGrid>
              <a:tr h="47548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Capability</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51Careers.AI</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Job Boards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Prep Apps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Coaching Firms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Staffing Agencies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AI-personalized interview practice</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Proprietary real-question banks</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Human mentor network</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Outcome-based placement programs</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Employer-side AI screening</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Cross-border early-career focus</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bl>
          </a:graphicData>
        </a:graphic>
      </p:graphicFrame>
      <p:sp>
        <p:nvSpPr>
          <p:cNvPr id="5" name="Text 2"/>
          <p:cNvSpPr/>
          <p:nvPr/>
        </p:nvSpPr>
        <p:spPr>
          <a:xfrm>
            <a:off x="566928" y="5230368"/>
            <a:ext cx="7315200" cy="237744"/>
          </a:xfrm>
          <a:prstGeom prst="rect">
            <a:avLst/>
          </a:prstGeom>
          <a:noFill/>
          <a:ln/>
        </p:spPr>
        <p:txBody>
          <a:bodyPr wrap="square" lIns="0" tIns="0" rIns="0" bIns="0" rtlCol="0" anchor="ctr"/>
          <a:lstStyle/>
          <a:p>
            <a:pPr indent="0" marL="0">
              <a:buNone/>
            </a:pPr>
            <a:r>
              <a:rPr lang="en-US" sz="900" dirty="0">
                <a:solidFill>
                  <a:srgbClr val="5A6B7E"/>
                </a:solidFill>
                <a:latin typeface="Calibri" pitchFamily="34" charset="0"/>
                <a:ea typeface="Calibri" pitchFamily="34" charset="-122"/>
                <a:cs typeface="Calibri" pitchFamily="34" charset="-120"/>
              </a:rPr>
              <a:t>●  Full capability      ○  Partial      —  Not offered</a:t>
            </a:r>
            <a:endParaRPr lang="en-US" sz="900" dirty="0"/>
          </a:p>
        </p:txBody>
      </p:sp>
      <p:sp>
        <p:nvSpPr>
          <p:cNvPr id="6" name="Text 3"/>
          <p:cNvSpPr/>
          <p:nvPr/>
        </p:nvSpPr>
        <p:spPr>
          <a:xfrm>
            <a:off x="566928" y="5650992"/>
            <a:ext cx="11057839" cy="310896"/>
          </a:xfrm>
          <a:prstGeom prst="rect">
            <a:avLst/>
          </a:prstGeom>
          <a:noFill/>
          <a:ln/>
        </p:spPr>
        <p:txBody>
          <a:bodyPr wrap="square" lIns="0" tIns="0" rIns="0" bIns="0" rtlCol="0" anchor="ctr"/>
          <a:lstStyle/>
          <a:p>
            <a:pPr indent="0" marL="0">
              <a:buNone/>
            </a:pPr>
            <a:r>
              <a:rPr lang="en-US" sz="1200" i="1" dirty="0">
                <a:solidFill>
                  <a:srgbClr val="132A4F"/>
                </a:solidFill>
                <a:latin typeface="Calibri" pitchFamily="34" charset="0"/>
                <a:ea typeface="Calibri" pitchFamily="34" charset="-122"/>
                <a:cs typeface="Calibri" pitchFamily="34" charset="-120"/>
              </a:rPr>
              <a:t>51Careers.AI is the only platform combining AI-native preparation, human mentorship, and outcome-based placement across borders.</a:t>
            </a:r>
            <a:endParaRPr lang="en-US" sz="1200" dirty="0"/>
          </a:p>
        </p:txBody>
      </p:sp>
      <p:sp>
        <p:nvSpPr>
          <p:cNvPr id="7" name="Text 4"/>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Illustrative category comparison based on management assessment of publicly available offerings.</a:t>
            </a:r>
            <a:endParaRPr lang="en-US" sz="750" dirty="0"/>
          </a:p>
        </p:txBody>
      </p:sp>
      <p:sp>
        <p:nvSpPr>
          <p:cNvPr id="8" name="Text 5"/>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9" name="Text 6"/>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GROWTH STRATEGY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A Phased Path to Global Scale</a:t>
            </a:r>
            <a:endParaRPr lang="en-US" sz="3000" dirty="0"/>
          </a:p>
        </p:txBody>
      </p:sp>
      <p:sp>
        <p:nvSpPr>
          <p:cNvPr id="4" name="Text 2"/>
          <p:cNvSpPr/>
          <p:nvPr/>
        </p:nvSpPr>
        <p:spPr>
          <a:xfrm>
            <a:off x="566928" y="1737360"/>
            <a:ext cx="3520440" cy="548640"/>
          </a:xfrm>
          <a:prstGeom prst="rect">
            <a:avLst/>
          </a:prstGeom>
          <a:noFill/>
          <a:ln/>
        </p:spPr>
        <p:txBody>
          <a:bodyPr wrap="square" lIns="0" tIns="0" rIns="0" bIns="0" rtlCol="0" anchor="ctr"/>
          <a:lstStyle/>
          <a:p>
            <a:pPr indent="0" marL="0">
              <a:buNone/>
            </a:pPr>
            <a:r>
              <a:rPr lang="en-US" sz="2800" b="1" dirty="0">
                <a:solidFill>
                  <a:srgbClr val="9A7B3F"/>
                </a:solidFill>
                <a:latin typeface="Century Schoolbook" pitchFamily="34" charset="0"/>
                <a:ea typeface="Century Schoolbook" pitchFamily="34" charset="-122"/>
                <a:cs typeface="Century Schoolbook" pitchFamily="34" charset="-120"/>
              </a:rPr>
              <a:t>2026</a:t>
            </a:r>
            <a:endParaRPr lang="en-US" sz="2800" dirty="0"/>
          </a:p>
        </p:txBody>
      </p:sp>
      <p:sp>
        <p:nvSpPr>
          <p:cNvPr id="5" name="Text 3"/>
          <p:cNvSpPr/>
          <p:nvPr/>
        </p:nvSpPr>
        <p:spPr>
          <a:xfrm>
            <a:off x="566928" y="23408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Strengthen the core</a:t>
            </a:r>
            <a:endParaRPr lang="en-US" sz="1350" dirty="0"/>
          </a:p>
        </p:txBody>
      </p:sp>
      <p:sp>
        <p:nvSpPr>
          <p:cNvPr id="6" name="Text 4"/>
          <p:cNvSpPr/>
          <p:nvPr/>
        </p:nvSpPr>
        <p:spPr>
          <a:xfrm>
            <a:off x="566928" y="2743200"/>
            <a:ext cx="3520440" cy="228600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Scale the AI platform across the U.S. and Greater China</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Migrate the coaching client base onto the platform</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Expand question-bank and assessment coverage by role and employer</a:t>
            </a:r>
            <a:endParaRPr lang="en-US" sz="1050" dirty="0"/>
          </a:p>
        </p:txBody>
      </p:sp>
      <p:sp>
        <p:nvSpPr>
          <p:cNvPr id="7" name="Text 5"/>
          <p:cNvSpPr/>
          <p:nvPr/>
        </p:nvSpPr>
        <p:spPr>
          <a:xfrm>
            <a:off x="4343400" y="1737360"/>
            <a:ext cx="3520440" cy="548640"/>
          </a:xfrm>
          <a:prstGeom prst="rect">
            <a:avLst/>
          </a:prstGeom>
          <a:noFill/>
          <a:ln/>
        </p:spPr>
        <p:txBody>
          <a:bodyPr wrap="square" lIns="0" tIns="0" rIns="0" bIns="0" rtlCol="0" anchor="ctr"/>
          <a:lstStyle/>
          <a:p>
            <a:pPr indent="0" marL="0">
              <a:buNone/>
            </a:pPr>
            <a:r>
              <a:rPr lang="en-US" sz="2800" b="1" dirty="0">
                <a:solidFill>
                  <a:srgbClr val="9A7B3F"/>
                </a:solidFill>
                <a:latin typeface="Century Schoolbook" pitchFamily="34" charset="0"/>
                <a:ea typeface="Century Schoolbook" pitchFamily="34" charset="-122"/>
                <a:cs typeface="Century Schoolbook" pitchFamily="34" charset="-120"/>
              </a:rPr>
              <a:t>2027</a:t>
            </a:r>
            <a:endParaRPr lang="en-US" sz="2800" dirty="0"/>
          </a:p>
        </p:txBody>
      </p:sp>
      <p:sp>
        <p:nvSpPr>
          <p:cNvPr id="8" name="Text 6"/>
          <p:cNvSpPr/>
          <p:nvPr/>
        </p:nvSpPr>
        <p:spPr>
          <a:xfrm>
            <a:off x="4343400" y="23408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Extend the footprint</a:t>
            </a:r>
            <a:endParaRPr lang="en-US" sz="1350" dirty="0"/>
          </a:p>
        </p:txBody>
      </p:sp>
      <p:sp>
        <p:nvSpPr>
          <p:cNvPr id="9" name="Text 7"/>
          <p:cNvSpPr/>
          <p:nvPr/>
        </p:nvSpPr>
        <p:spPr>
          <a:xfrm>
            <a:off x="4343400" y="2743200"/>
            <a:ext cx="3520440" cy="228600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Full go-to-market in the U.K., Singapore, South Korea, Canada, and India</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University and institutional partnership programs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Convert employer pilots into paid SaaS relationships</a:t>
            </a:r>
            <a:endParaRPr lang="en-US" sz="1050" dirty="0"/>
          </a:p>
        </p:txBody>
      </p:sp>
      <p:sp>
        <p:nvSpPr>
          <p:cNvPr id="10" name="Text 8"/>
          <p:cNvSpPr/>
          <p:nvPr/>
        </p:nvSpPr>
        <p:spPr>
          <a:xfrm>
            <a:off x="8119872" y="1737360"/>
            <a:ext cx="3520440" cy="548640"/>
          </a:xfrm>
          <a:prstGeom prst="rect">
            <a:avLst/>
          </a:prstGeom>
          <a:noFill/>
          <a:ln/>
        </p:spPr>
        <p:txBody>
          <a:bodyPr wrap="square" lIns="0" tIns="0" rIns="0" bIns="0" rtlCol="0" anchor="ctr"/>
          <a:lstStyle/>
          <a:p>
            <a:pPr indent="0" marL="0">
              <a:buNone/>
            </a:pPr>
            <a:r>
              <a:rPr lang="en-US" sz="2800" b="1" dirty="0">
                <a:solidFill>
                  <a:srgbClr val="9A7B3F"/>
                </a:solidFill>
                <a:latin typeface="Century Schoolbook" pitchFamily="34" charset="0"/>
                <a:ea typeface="Century Schoolbook" pitchFamily="34" charset="-122"/>
                <a:cs typeface="Century Schoolbook" pitchFamily="34" charset="-120"/>
              </a:rPr>
              <a:t>2028+</a:t>
            </a:r>
            <a:endParaRPr lang="en-US" sz="2800" dirty="0"/>
          </a:p>
        </p:txBody>
      </p:sp>
      <p:sp>
        <p:nvSpPr>
          <p:cNvPr id="11" name="Text 9"/>
          <p:cNvSpPr/>
          <p:nvPr/>
        </p:nvSpPr>
        <p:spPr>
          <a:xfrm>
            <a:off x="8119872" y="23408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Compound the platform</a:t>
            </a:r>
            <a:endParaRPr lang="en-US" sz="1350" dirty="0"/>
          </a:p>
        </p:txBody>
      </p:sp>
      <p:sp>
        <p:nvSpPr>
          <p:cNvPr id="12" name="Text 10"/>
          <p:cNvSpPr/>
          <p:nvPr/>
        </p:nvSpPr>
        <p:spPr>
          <a:xfrm>
            <a:off x="8119872" y="2743200"/>
            <a:ext cx="3520440" cy="228600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Employer SaaS at scale across core geographies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Additional languages, verticals, and seniority segments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Selective M&amp;A of regional career-services assets</a:t>
            </a:r>
            <a:endParaRPr lang="en-US" sz="1050" dirty="0"/>
          </a:p>
        </p:txBody>
      </p:sp>
      <p:sp>
        <p:nvSpPr>
          <p:cNvPr id="13" name="Shape 11"/>
          <p:cNvSpPr/>
          <p:nvPr/>
        </p:nvSpPr>
        <p:spPr>
          <a:xfrm>
            <a:off x="566928" y="5440680"/>
            <a:ext cx="11057839" cy="713232"/>
          </a:xfrm>
          <a:prstGeom prst="rect">
            <a:avLst/>
          </a:prstGeom>
          <a:solidFill>
            <a:srgbClr val="F3F6F9"/>
          </a:solidFill>
          <a:ln/>
        </p:spPr>
      </p:sp>
      <p:sp>
        <p:nvSpPr>
          <p:cNvPr id="14" name="Text 12"/>
          <p:cNvSpPr/>
          <p:nvPr/>
        </p:nvSpPr>
        <p:spPr>
          <a:xfrm>
            <a:off x="841248" y="5504688"/>
            <a:ext cx="10509199" cy="585216"/>
          </a:xfrm>
          <a:prstGeom prst="rect">
            <a:avLst/>
          </a:prstGeom>
          <a:noFill/>
          <a:ln/>
        </p:spPr>
        <p:txBody>
          <a:bodyPr wrap="square" lIns="0" tIns="0" rIns="0" bIns="0" rtlCol="0" anchor="ctr"/>
          <a:lstStyle/>
          <a:p>
            <a:pPr indent="0" marL="0">
              <a:buNone/>
            </a:pPr>
            <a:r>
              <a:rPr lang="en-US" sz="1150" b="1" i="1" dirty="0">
                <a:solidFill>
                  <a:srgbClr val="132A4F"/>
                </a:solidFill>
                <a:latin typeface="Calibri" pitchFamily="34" charset="0"/>
                <a:ea typeface="Calibri" pitchFamily="34" charset="-122"/>
                <a:cs typeface="Calibri" pitchFamily="34" charset="-120"/>
              </a:rPr>
              <a:t>Sequencing follows the existing footprint — </a:t>
            </a:r>
            <a:pPr indent="0" marL="0">
              <a:buNone/>
            </a:pPr>
            <a:r>
              <a:rPr lang="en-US" sz="1150" i="1" dirty="0">
                <a:solidFill>
                  <a:srgbClr val="5A6B7E"/>
                </a:solidFill>
                <a:latin typeface="Calibri" pitchFamily="34" charset="0"/>
                <a:ea typeface="Calibri" pitchFamily="34" charset="-122"/>
                <a:cs typeface="Calibri" pitchFamily="34" charset="-120"/>
              </a:rPr>
              <a:t>new capital extends proven demand in markets the Company already serves, rather than funding market discovery.</a:t>
            </a:r>
            <a:endParaRPr lang="en-US" sz="1150" dirty="0"/>
          </a:p>
        </p:txBody>
      </p:sp>
      <p:sp>
        <p:nvSpPr>
          <p:cNvPr id="15" name="Text 13"/>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6" name="Text 14"/>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FINANCIAL OUTLOOK</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Illustrative Five-Year Trajectory</a:t>
            </a:r>
            <a:endParaRPr lang="en-US" sz="3000" dirty="0"/>
          </a:p>
        </p:txBody>
      </p:sp>
      <p:sp>
        <p:nvSpPr>
          <p:cNvPr id="4" name="Text 2"/>
          <p:cNvSpPr/>
          <p:nvPr/>
        </p:nvSpPr>
        <p:spPr>
          <a:xfrm>
            <a:off x="566928" y="1572768"/>
            <a:ext cx="4572000" cy="237744"/>
          </a:xfrm>
          <a:prstGeom prst="rect">
            <a:avLst/>
          </a:prstGeom>
          <a:noFill/>
          <a:ln/>
        </p:spPr>
        <p:txBody>
          <a:bodyPr wrap="square" lIns="0" tIns="0" rIns="0" bIns="0" rtlCol="0" anchor="ctr"/>
          <a:lstStyle/>
          <a:p>
            <a:pPr indent="0" marL="0">
              <a:buNone/>
            </a:pPr>
            <a:r>
              <a:rPr lang="en-US" sz="1000" b="1" spc="100" kern="0" dirty="0">
                <a:solidFill>
                  <a:srgbClr val="5A6B7E"/>
                </a:solidFill>
                <a:latin typeface="Calibri" pitchFamily="34" charset="0"/>
                <a:ea typeface="Calibri" pitchFamily="34" charset="-122"/>
                <a:cs typeface="Calibri" pitchFamily="34" charset="-120"/>
              </a:rPr>
              <a:t>Revenue, US$ millions</a:t>
            </a:r>
            <a:endParaRPr lang="en-US" sz="1000" dirty="0"/>
          </a:p>
        </p:txBody>
      </p:sp>
      <p:graphicFrame>
        <p:nvGraphicFramePr>
          <p:cNvPr id="5" name="Chart 0" descr=""/>
          <p:cNvGraphicFramePr/>
          <p:nvPr/>
        </p:nvGraphicFramePr>
        <p:xfrm>
          <a:off x="566928" y="1874520"/>
          <a:ext cx="667512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726680" y="1783080"/>
            <a:ext cx="3886200" cy="658368"/>
          </a:xfrm>
          <a:prstGeom prst="rect">
            <a:avLst/>
          </a:prstGeom>
          <a:noFill/>
          <a:ln/>
        </p:spPr>
        <p:txBody>
          <a:bodyPr wrap="square" lIns="0" tIns="0" rIns="0" bIns="0" rtlCol="0" anchor="ctr"/>
          <a:lstStyle/>
          <a:p>
            <a:pPr indent="0" marL="0">
              <a:buNone/>
            </a:pPr>
            <a:r>
              <a:rPr lang="en-US" sz="3600" b="1" dirty="0">
                <a:solidFill>
                  <a:srgbClr val="132A4F"/>
                </a:solidFill>
                <a:latin typeface="Century Schoolbook" pitchFamily="34" charset="0"/>
                <a:ea typeface="Century Schoolbook" pitchFamily="34" charset="-122"/>
                <a:cs typeface="Century Schoolbook" pitchFamily="34" charset="-120"/>
              </a:rPr>
              <a:t>≈50%</a:t>
            </a:r>
            <a:endParaRPr lang="en-US" sz="3600" dirty="0"/>
          </a:p>
        </p:txBody>
      </p:sp>
      <p:sp>
        <p:nvSpPr>
          <p:cNvPr id="7" name="Text 4"/>
          <p:cNvSpPr/>
          <p:nvPr/>
        </p:nvSpPr>
        <p:spPr>
          <a:xfrm>
            <a:off x="7726680" y="2468880"/>
            <a:ext cx="3886200" cy="237744"/>
          </a:xfrm>
          <a:prstGeom prst="rect">
            <a:avLst/>
          </a:prstGeom>
          <a:noFill/>
          <a:ln/>
        </p:spPr>
        <p:txBody>
          <a:bodyPr wrap="square" lIns="0" tIns="0" rIns="0" bIns="0" rtlCol="0" anchor="ctr"/>
          <a:lstStyle/>
          <a:p>
            <a:pPr indent="0" marL="0">
              <a:buNone/>
            </a:pPr>
            <a:r>
              <a:rPr lang="en-US" sz="850" spc="150" kern="0" dirty="0">
                <a:solidFill>
                  <a:srgbClr val="5A6B7E"/>
                </a:solidFill>
                <a:latin typeface="Calibri" pitchFamily="34" charset="0"/>
                <a:ea typeface="Calibri" pitchFamily="34" charset="-122"/>
                <a:cs typeface="Calibri" pitchFamily="34" charset="-120"/>
              </a:rPr>
              <a:t>REVENUE CAGR, 2025E–2029E</a:t>
            </a:r>
            <a:endParaRPr lang="en-US" sz="850" dirty="0"/>
          </a:p>
        </p:txBody>
      </p:sp>
      <p:sp>
        <p:nvSpPr>
          <p:cNvPr id="8" name="Text 5"/>
          <p:cNvSpPr/>
          <p:nvPr/>
        </p:nvSpPr>
        <p:spPr>
          <a:xfrm>
            <a:off x="7726680" y="3017520"/>
            <a:ext cx="388620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Key drivers</a:t>
            </a:r>
            <a:endParaRPr lang="en-US" sz="1300" dirty="0"/>
          </a:p>
        </p:txBody>
      </p:sp>
      <p:sp>
        <p:nvSpPr>
          <p:cNvPr id="9" name="Text 6"/>
          <p:cNvSpPr/>
          <p:nvPr/>
        </p:nvSpPr>
        <p:spPr>
          <a:xfrm>
            <a:off x="7726680" y="3383280"/>
            <a:ext cx="3886200" cy="237744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Self-serve platform subscriptions compounding across markets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Mix shift from services to software lifting gross margin toward 65%+</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Employer SaaS ramping from 2027</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AI-assisted delivery driving operating leverage</a:t>
            </a:r>
            <a:endParaRPr lang="en-US" sz="1050" dirty="0"/>
          </a:p>
        </p:txBody>
      </p:sp>
      <p:sp>
        <p:nvSpPr>
          <p:cNvPr id="10" name="Text 7"/>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Illustrative management projections, not a forecast; 2025 base reflects third-party revenue estimates. Actual results will differ.</a:t>
            </a:r>
            <a:endParaRPr lang="en-US" sz="750" dirty="0"/>
          </a:p>
        </p:txBody>
      </p:sp>
      <p:sp>
        <p:nvSpPr>
          <p:cNvPr id="11" name="Text 8"/>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2" name="Text 9"/>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THE OFFERING</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US$5.0 Million to Accelerate Global Leadership</a:t>
            </a:r>
            <a:endParaRPr lang="en-US" sz="3000" dirty="0"/>
          </a:p>
        </p:txBody>
      </p:sp>
      <p:sp>
        <p:nvSpPr>
          <p:cNvPr id="4" name="Shape 2"/>
          <p:cNvSpPr/>
          <p:nvPr/>
        </p:nvSpPr>
        <p:spPr>
          <a:xfrm>
            <a:off x="566928" y="1691640"/>
            <a:ext cx="5166360" cy="3977640"/>
          </a:xfrm>
          <a:prstGeom prst="rect">
            <a:avLst/>
          </a:prstGeom>
          <a:solidFill>
            <a:srgbClr val="F3F6F9"/>
          </a:solidFill>
          <a:ln/>
        </p:spPr>
      </p:sp>
      <p:sp>
        <p:nvSpPr>
          <p:cNvPr id="5" name="Text 3"/>
          <p:cNvSpPr/>
          <p:nvPr/>
        </p:nvSpPr>
        <p:spPr>
          <a:xfrm>
            <a:off x="859536" y="1938528"/>
            <a:ext cx="4480560" cy="237744"/>
          </a:xfrm>
          <a:prstGeom prst="rect">
            <a:avLst/>
          </a:prstGeom>
          <a:noFill/>
          <a:ln/>
        </p:spPr>
        <p:txBody>
          <a:bodyPr wrap="square" lIns="0" tIns="0" rIns="0" bIns="0" rtlCol="0" anchor="ctr"/>
          <a:lstStyle/>
          <a:p>
            <a:pPr indent="0" marL="0">
              <a:buNone/>
            </a:pPr>
            <a:r>
              <a:rPr lang="en-US" sz="900" b="1" spc="250" kern="0" dirty="0">
                <a:solidFill>
                  <a:srgbClr val="9A7B3F"/>
                </a:solidFill>
                <a:latin typeface="Calibri" pitchFamily="34" charset="0"/>
                <a:ea typeface="Calibri" pitchFamily="34" charset="-122"/>
                <a:cs typeface="Calibri" pitchFamily="34" charset="-120"/>
              </a:rPr>
              <a:t>INDICATIVE TERMS</a:t>
            </a:r>
            <a:endParaRPr lang="en-US" sz="900" dirty="0"/>
          </a:p>
        </p:txBody>
      </p:sp>
      <p:sp>
        <p:nvSpPr>
          <p:cNvPr id="6" name="Text 4"/>
          <p:cNvSpPr/>
          <p:nvPr/>
        </p:nvSpPr>
        <p:spPr>
          <a:xfrm>
            <a:off x="859536" y="2304288"/>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Round size</a:t>
            </a:r>
            <a:endParaRPr lang="en-US" sz="1050" dirty="0"/>
          </a:p>
        </p:txBody>
      </p:sp>
      <p:sp>
        <p:nvSpPr>
          <p:cNvPr id="7" name="Text 5"/>
          <p:cNvSpPr/>
          <p:nvPr/>
        </p:nvSpPr>
        <p:spPr>
          <a:xfrm>
            <a:off x="2505456" y="2304288"/>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US$5.0 million (primary)</a:t>
            </a:r>
            <a:endParaRPr lang="en-US" sz="1150" dirty="0"/>
          </a:p>
        </p:txBody>
      </p:sp>
      <p:sp>
        <p:nvSpPr>
          <p:cNvPr id="8" name="Text 6"/>
          <p:cNvSpPr/>
          <p:nvPr/>
        </p:nvSpPr>
        <p:spPr>
          <a:xfrm>
            <a:off x="859536" y="2871216"/>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Valuation</a:t>
            </a:r>
            <a:endParaRPr lang="en-US" sz="1050" dirty="0"/>
          </a:p>
        </p:txBody>
      </p:sp>
      <p:sp>
        <p:nvSpPr>
          <p:cNvPr id="9" name="Text 7"/>
          <p:cNvSpPr/>
          <p:nvPr/>
        </p:nvSpPr>
        <p:spPr>
          <a:xfrm>
            <a:off x="2505456" y="2871216"/>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US$50.0 million (pre-money)</a:t>
            </a:r>
            <a:endParaRPr lang="en-US" sz="1150" dirty="0"/>
          </a:p>
        </p:txBody>
      </p:sp>
      <p:sp>
        <p:nvSpPr>
          <p:cNvPr id="10" name="Text 8"/>
          <p:cNvSpPr/>
          <p:nvPr/>
        </p:nvSpPr>
        <p:spPr>
          <a:xfrm>
            <a:off x="859536" y="3438144"/>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Structure</a:t>
            </a:r>
            <a:endParaRPr lang="en-US" sz="1050" dirty="0"/>
          </a:p>
        </p:txBody>
      </p:sp>
      <p:sp>
        <p:nvSpPr>
          <p:cNvPr id="11" name="Text 9"/>
          <p:cNvSpPr/>
          <p:nvPr/>
        </p:nvSpPr>
        <p:spPr>
          <a:xfrm>
            <a:off x="2505456" y="3438144"/>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Preferred equity</a:t>
            </a:r>
            <a:endParaRPr lang="en-US" sz="1150" dirty="0"/>
          </a:p>
        </p:txBody>
      </p:sp>
      <p:sp>
        <p:nvSpPr>
          <p:cNvPr id="12" name="Text 10"/>
          <p:cNvSpPr/>
          <p:nvPr/>
        </p:nvSpPr>
        <p:spPr>
          <a:xfrm>
            <a:off x="859536" y="4005072"/>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Use of funds</a:t>
            </a:r>
            <a:endParaRPr lang="en-US" sz="1050" dirty="0"/>
          </a:p>
        </p:txBody>
      </p:sp>
      <p:sp>
        <p:nvSpPr>
          <p:cNvPr id="13" name="Text 11"/>
          <p:cNvSpPr/>
          <p:nvPr/>
        </p:nvSpPr>
        <p:spPr>
          <a:xfrm>
            <a:off x="2505456" y="4005072"/>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Product &amp; AI, expansion, team</a:t>
            </a:r>
            <a:endParaRPr lang="en-US" sz="1150" dirty="0"/>
          </a:p>
        </p:txBody>
      </p:sp>
      <p:sp>
        <p:nvSpPr>
          <p:cNvPr id="14" name="Text 12"/>
          <p:cNvSpPr/>
          <p:nvPr/>
        </p:nvSpPr>
        <p:spPr>
          <a:xfrm>
            <a:off x="859536" y="4572000"/>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Target close</a:t>
            </a:r>
            <a:endParaRPr lang="en-US" sz="1050" dirty="0"/>
          </a:p>
        </p:txBody>
      </p:sp>
      <p:sp>
        <p:nvSpPr>
          <p:cNvPr id="15" name="Text 13"/>
          <p:cNvSpPr/>
          <p:nvPr/>
        </p:nvSpPr>
        <p:spPr>
          <a:xfrm>
            <a:off x="2505456" y="4572000"/>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2H 2026</a:t>
            </a:r>
            <a:endParaRPr lang="en-US" sz="1150" dirty="0"/>
          </a:p>
        </p:txBody>
      </p:sp>
      <p:sp>
        <p:nvSpPr>
          <p:cNvPr id="16" name="Text 14"/>
          <p:cNvSpPr/>
          <p:nvPr/>
        </p:nvSpPr>
        <p:spPr>
          <a:xfrm>
            <a:off x="859536" y="5230368"/>
            <a:ext cx="4480560" cy="237744"/>
          </a:xfrm>
          <a:prstGeom prst="rect">
            <a:avLst/>
          </a:prstGeom>
          <a:noFill/>
          <a:ln/>
        </p:spPr>
        <p:txBody>
          <a:bodyPr wrap="square" lIns="0" tIns="0" rIns="0" bIns="0" rtlCol="0" anchor="ctr"/>
          <a:lstStyle/>
          <a:p>
            <a:pPr indent="0" marL="0">
              <a:buNone/>
            </a:pPr>
            <a:r>
              <a:rPr lang="en-US" sz="850" i="1" dirty="0">
                <a:solidFill>
                  <a:srgbClr val="5A6B7E"/>
                </a:solidFill>
                <a:latin typeface="Calibri" pitchFamily="34" charset="0"/>
                <a:ea typeface="Calibri" pitchFamily="34" charset="-122"/>
                <a:cs typeface="Calibri" pitchFamily="34" charset="-120"/>
              </a:rPr>
              <a:t>Indicative only; subject to definitive documentation.</a:t>
            </a:r>
            <a:endParaRPr lang="en-US" sz="850" dirty="0"/>
          </a:p>
        </p:txBody>
      </p:sp>
      <p:sp>
        <p:nvSpPr>
          <p:cNvPr id="17" name="Text 15"/>
          <p:cNvSpPr/>
          <p:nvPr/>
        </p:nvSpPr>
        <p:spPr>
          <a:xfrm>
            <a:off x="6537960" y="1691640"/>
            <a:ext cx="493776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Use of proceeds</a:t>
            </a:r>
            <a:endParaRPr lang="en-US" sz="1300" dirty="0"/>
          </a:p>
        </p:txBody>
      </p:sp>
      <p:graphicFrame>
        <p:nvGraphicFramePr>
          <p:cNvPr id="18" name="Chart 0" descr=""/>
          <p:cNvGraphicFramePr/>
          <p:nvPr/>
        </p:nvGraphicFramePr>
        <p:xfrm>
          <a:off x="6355080" y="2011680"/>
          <a:ext cx="5349240" cy="361188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566928" y="5870448"/>
            <a:ext cx="11057839" cy="310896"/>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What this capital achieves — </a:t>
            </a:r>
            <a:pPr indent="0" marL="0">
              <a:buNone/>
            </a:pPr>
            <a:r>
              <a:rPr lang="en-US" sz="1150" dirty="0">
                <a:solidFill>
                  <a:srgbClr val="5A6B7E"/>
                </a:solidFill>
                <a:latin typeface="Calibri" pitchFamily="34" charset="0"/>
                <a:ea typeface="Calibri" pitchFamily="34" charset="-122"/>
                <a:cs typeface="Calibri" pitchFamily="34" charset="-120"/>
              </a:rPr>
              <a:t>next-generation platform release · go-to-market in three additional countries · employer SaaS general availability · scaled global mentor network.</a:t>
            </a:r>
            <a:endParaRPr lang="en-US" sz="1150" dirty="0"/>
          </a:p>
        </p:txBody>
      </p:sp>
      <p:sp>
        <p:nvSpPr>
          <p:cNvPr id="20" name="Text 17"/>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1" name="Text 18"/>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LEADERSHIP</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Founder-Led, Globally Distributed</a:t>
            </a:r>
            <a:endParaRPr lang="en-US" sz="3000" dirty="0"/>
          </a:p>
        </p:txBody>
      </p:sp>
      <p:sp>
        <p:nvSpPr>
          <p:cNvPr id="4" name="Text 2"/>
          <p:cNvSpPr/>
          <p:nvPr/>
        </p:nvSpPr>
        <p:spPr>
          <a:xfrm>
            <a:off x="566928" y="1783080"/>
            <a:ext cx="5760720" cy="457200"/>
          </a:xfrm>
          <a:prstGeom prst="rect">
            <a:avLst/>
          </a:prstGeom>
          <a:noFill/>
          <a:ln/>
        </p:spPr>
        <p:txBody>
          <a:bodyPr wrap="square" lIns="0" tIns="0" rIns="0" bIns="0" rtlCol="0" anchor="ctr"/>
          <a:lstStyle/>
          <a:p>
            <a:pPr indent="0" marL="0">
              <a:buNone/>
            </a:pPr>
            <a:r>
              <a:rPr lang="en-US" sz="2400" b="1" dirty="0">
                <a:solidFill>
                  <a:srgbClr val="132A4F"/>
                </a:solidFill>
                <a:latin typeface="Century Schoolbook" pitchFamily="34" charset="0"/>
                <a:ea typeface="Century Schoolbook" pitchFamily="34" charset="-122"/>
                <a:cs typeface="Century Schoolbook" pitchFamily="34" charset="-120"/>
              </a:rPr>
              <a:t>Rocky Chen</a:t>
            </a:r>
            <a:endParaRPr lang="en-US" sz="2400" dirty="0"/>
          </a:p>
        </p:txBody>
      </p:sp>
      <p:sp>
        <p:nvSpPr>
          <p:cNvPr id="5" name="Text 3"/>
          <p:cNvSpPr/>
          <p:nvPr/>
        </p:nvSpPr>
        <p:spPr>
          <a:xfrm>
            <a:off x="566928" y="2286000"/>
            <a:ext cx="5760720" cy="237744"/>
          </a:xfrm>
          <a:prstGeom prst="rect">
            <a:avLst/>
          </a:prstGeom>
          <a:noFill/>
          <a:ln/>
        </p:spPr>
        <p:txBody>
          <a:bodyPr wrap="square" lIns="0" tIns="0" rIns="0" bIns="0" rtlCol="0" anchor="ctr"/>
          <a:lstStyle/>
          <a:p>
            <a:pPr indent="0" marL="0">
              <a:buNone/>
            </a:pPr>
            <a:r>
              <a:rPr lang="en-US" sz="950" b="1" spc="200" kern="0" dirty="0">
                <a:solidFill>
                  <a:srgbClr val="9A7B3F"/>
                </a:solidFill>
                <a:latin typeface="Calibri" pitchFamily="34" charset="0"/>
                <a:ea typeface="Calibri" pitchFamily="34" charset="-122"/>
                <a:cs typeface="Calibri" pitchFamily="34" charset="-120"/>
              </a:rPr>
              <a:t>FOUNDER &amp; CHIEF EXECUTIVE OFFICER</a:t>
            </a:r>
            <a:endParaRPr lang="en-US" sz="950" dirty="0"/>
          </a:p>
        </p:txBody>
      </p:sp>
      <p:sp>
        <p:nvSpPr>
          <p:cNvPr id="6" name="Text 4"/>
          <p:cNvSpPr/>
          <p:nvPr/>
        </p:nvSpPr>
        <p:spPr>
          <a:xfrm>
            <a:off x="566928" y="2670048"/>
            <a:ext cx="5760720" cy="14173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Founded 51 Careers in New York in 2016 and built it from a boutique consultancy into a multi-market career-services and technology business. Architect of the Company’s AI-first strategy, including the 2025 strategic partnership with Alibaba Cloud AI, and of its expansion across North America, Europe, and Asia.</a:t>
            </a:r>
            <a:endParaRPr lang="en-US" sz="1100" dirty="0"/>
          </a:p>
        </p:txBody>
      </p:sp>
      <p:sp>
        <p:nvSpPr>
          <p:cNvPr id="7" name="Text 5"/>
          <p:cNvSpPr/>
          <p:nvPr/>
        </p:nvSpPr>
        <p:spPr>
          <a:xfrm>
            <a:off x="566928" y="4343400"/>
            <a:ext cx="576072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Supporting bench</a:t>
            </a:r>
            <a:endParaRPr lang="en-US" sz="1300" dirty="0"/>
          </a:p>
        </p:txBody>
      </p:sp>
      <p:sp>
        <p:nvSpPr>
          <p:cNvPr id="8" name="Text 6"/>
          <p:cNvSpPr/>
          <p:nvPr/>
        </p:nvSpPr>
        <p:spPr>
          <a:xfrm>
            <a:off x="566928" y="4681728"/>
            <a:ext cx="5760720" cy="109728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Senior partners across business development, coaching operations, and engineering, supported by a mentor network of practitioners at leading global employers. Complete management biographies are available in the data room.</a:t>
            </a:r>
            <a:endParaRPr lang="en-US" sz="1100" dirty="0"/>
          </a:p>
        </p:txBody>
      </p:sp>
      <p:sp>
        <p:nvSpPr>
          <p:cNvPr id="9" name="Shape 7"/>
          <p:cNvSpPr/>
          <p:nvPr/>
        </p:nvSpPr>
        <p:spPr>
          <a:xfrm>
            <a:off x="6903720" y="1691640"/>
            <a:ext cx="4709160" cy="4114800"/>
          </a:xfrm>
          <a:prstGeom prst="rect">
            <a:avLst/>
          </a:prstGeom>
          <a:solidFill>
            <a:srgbClr val="F3F6F9"/>
          </a:solidFill>
          <a:ln/>
        </p:spPr>
      </p:sp>
      <p:sp>
        <p:nvSpPr>
          <p:cNvPr id="10" name="Text 8"/>
          <p:cNvSpPr/>
          <p:nvPr/>
        </p:nvSpPr>
        <p:spPr>
          <a:xfrm>
            <a:off x="7196328" y="1938528"/>
            <a:ext cx="4114800" cy="237744"/>
          </a:xfrm>
          <a:prstGeom prst="rect">
            <a:avLst/>
          </a:prstGeom>
          <a:noFill/>
          <a:ln/>
        </p:spPr>
        <p:txBody>
          <a:bodyPr wrap="square" lIns="0" tIns="0" rIns="0" bIns="0" rtlCol="0" anchor="ctr"/>
          <a:lstStyle/>
          <a:p>
            <a:pPr indent="0" marL="0">
              <a:buNone/>
            </a:pPr>
            <a:r>
              <a:rPr lang="en-US" sz="900" b="1" spc="250" kern="0" dirty="0">
                <a:solidFill>
                  <a:srgbClr val="9A7B3F"/>
                </a:solidFill>
                <a:latin typeface="Calibri" pitchFamily="34" charset="0"/>
                <a:ea typeface="Calibri" pitchFamily="34" charset="-122"/>
                <a:cs typeface="Calibri" pitchFamily="34" charset="-120"/>
              </a:rPr>
              <a:t>GLOBAL ORGANIZATION</a:t>
            </a:r>
            <a:endParaRPr lang="en-US" sz="900" dirty="0"/>
          </a:p>
        </p:txBody>
      </p:sp>
      <p:sp>
        <p:nvSpPr>
          <p:cNvPr id="11" name="Text 9"/>
          <p:cNvSpPr/>
          <p:nvPr/>
        </p:nvSpPr>
        <p:spPr>
          <a:xfrm>
            <a:off x="7196328" y="2340864"/>
            <a:ext cx="4114800" cy="274320"/>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≈50 professionals</a:t>
            </a:r>
            <a:endParaRPr lang="en-US" sz="1200" dirty="0"/>
          </a:p>
        </p:txBody>
      </p:sp>
      <p:sp>
        <p:nvSpPr>
          <p:cNvPr id="12" name="Text 10"/>
          <p:cNvSpPr/>
          <p:nvPr/>
        </p:nvSpPr>
        <p:spPr>
          <a:xfrm>
            <a:off x="7196328" y="2633472"/>
            <a:ext cx="4114800" cy="566928"/>
          </a:xfrm>
          <a:prstGeom prst="rect">
            <a:avLst/>
          </a:prstGeom>
          <a:noFill/>
          <a:ln/>
        </p:spPr>
        <p:txBody>
          <a:bodyPr wrap="square" lIns="0" tIns="0" rIns="0" bIns="0" rtlCol="0" anchor="t"/>
          <a:lstStyle/>
          <a:p>
            <a:pPr indent="0" marL="0">
              <a:lnSpc>
                <a:spcPts val="1400"/>
              </a:lnSpc>
              <a:buNone/>
            </a:pPr>
            <a:r>
              <a:rPr lang="en-US" sz="1050" dirty="0">
                <a:solidFill>
                  <a:srgbClr val="5A6B7E"/>
                </a:solidFill>
                <a:latin typeface="Calibri" pitchFamily="34" charset="0"/>
                <a:ea typeface="Calibri" pitchFamily="34" charset="-122"/>
                <a:cs typeface="Calibri" pitchFamily="34" charset="-120"/>
              </a:rPr>
              <a:t>Distributed across four continents†</a:t>
            </a:r>
            <a:endParaRPr lang="en-US" sz="1050" dirty="0"/>
          </a:p>
        </p:txBody>
      </p:sp>
      <p:sp>
        <p:nvSpPr>
          <p:cNvPr id="13" name="Text 11"/>
          <p:cNvSpPr/>
          <p:nvPr/>
        </p:nvSpPr>
        <p:spPr>
          <a:xfrm>
            <a:off x="7196328" y="3419856"/>
            <a:ext cx="4114800" cy="274320"/>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Hubs</a:t>
            </a:r>
            <a:endParaRPr lang="en-US" sz="1200" dirty="0"/>
          </a:p>
        </p:txBody>
      </p:sp>
      <p:sp>
        <p:nvSpPr>
          <p:cNvPr id="14" name="Text 12"/>
          <p:cNvSpPr/>
          <p:nvPr/>
        </p:nvSpPr>
        <p:spPr>
          <a:xfrm>
            <a:off x="7196328" y="3712464"/>
            <a:ext cx="4114800" cy="566928"/>
          </a:xfrm>
          <a:prstGeom prst="rect">
            <a:avLst/>
          </a:prstGeom>
          <a:noFill/>
          <a:ln/>
        </p:spPr>
        <p:txBody>
          <a:bodyPr wrap="square" lIns="0" tIns="0" rIns="0" bIns="0" rtlCol="0" anchor="t"/>
          <a:lstStyle/>
          <a:p>
            <a:pPr indent="0" marL="0">
              <a:lnSpc>
                <a:spcPts val="1400"/>
              </a:lnSpc>
              <a:buNone/>
            </a:pPr>
            <a:r>
              <a:rPr lang="en-US" sz="1050" dirty="0">
                <a:solidFill>
                  <a:srgbClr val="5A6B7E"/>
                </a:solidFill>
                <a:latin typeface="Calibri" pitchFamily="34" charset="0"/>
                <a:ea typeface="Calibri" pitchFamily="34" charset="-122"/>
                <a:cs typeface="Calibri" pitchFamily="34" charset="-120"/>
              </a:rPr>
              <a:t>New York &amp; Shanghai; presence in London, Singapore, Seoul, Toronto, and Delhi</a:t>
            </a:r>
            <a:endParaRPr lang="en-US" sz="1050" dirty="0"/>
          </a:p>
        </p:txBody>
      </p:sp>
      <p:sp>
        <p:nvSpPr>
          <p:cNvPr id="15" name="Text 13"/>
          <p:cNvSpPr/>
          <p:nvPr/>
        </p:nvSpPr>
        <p:spPr>
          <a:xfrm>
            <a:off x="7196328" y="4498848"/>
            <a:ext cx="4114800" cy="274320"/>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Functions</a:t>
            </a:r>
            <a:endParaRPr lang="en-US" sz="1200" dirty="0"/>
          </a:p>
        </p:txBody>
      </p:sp>
      <p:sp>
        <p:nvSpPr>
          <p:cNvPr id="16" name="Text 14"/>
          <p:cNvSpPr/>
          <p:nvPr/>
        </p:nvSpPr>
        <p:spPr>
          <a:xfrm>
            <a:off x="7196328" y="4791456"/>
            <a:ext cx="4114800" cy="566928"/>
          </a:xfrm>
          <a:prstGeom prst="rect">
            <a:avLst/>
          </a:prstGeom>
          <a:noFill/>
          <a:ln/>
        </p:spPr>
        <p:txBody>
          <a:bodyPr wrap="square" lIns="0" tIns="0" rIns="0" bIns="0" rtlCol="0" anchor="t"/>
          <a:lstStyle/>
          <a:p>
            <a:pPr indent="0" marL="0">
              <a:lnSpc>
                <a:spcPts val="1400"/>
              </a:lnSpc>
              <a:buNone/>
            </a:pPr>
            <a:r>
              <a:rPr lang="en-US" sz="1050" dirty="0">
                <a:solidFill>
                  <a:srgbClr val="5A6B7E"/>
                </a:solidFill>
                <a:latin typeface="Calibri" pitchFamily="34" charset="0"/>
                <a:ea typeface="Calibri" pitchFamily="34" charset="-122"/>
                <a:cs typeface="Calibri" pitchFamily="34" charset="-120"/>
              </a:rPr>
              <a:t>AI &amp; engineering · coaching &amp; mentor network · placement operations · employer partnerships</a:t>
            </a:r>
            <a:endParaRPr lang="en-US" sz="1050" dirty="0"/>
          </a:p>
        </p:txBody>
      </p:sp>
      <p:sp>
        <p:nvSpPr>
          <p:cNvPr id="17" name="Text 15"/>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 Headcount per third-party estimates (2025); to be confirmed in due diligence.</a:t>
            </a:r>
            <a:endParaRPr lang="en-US" sz="750" dirty="0"/>
          </a:p>
        </p:txBody>
      </p:sp>
      <p:sp>
        <p:nvSpPr>
          <p:cNvPr id="18" name="Text 16"/>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9" name="Text 17"/>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9"/>
        </a:solidFill>
      </p:bgPr>
    </p:bg>
    <p:spTree>
      <p:nvGrpSpPr>
        <p:cNvPr id="1" name=""/>
        <p:cNvGrpSpPr/>
        <p:nvPr/>
      </p:nvGrpSpPr>
      <p:grpSpPr>
        <a:xfrm>
          <a:off x="0" y="0"/>
          <a:ext cx="0" cy="0"/>
          <a:chOff x="0" y="0"/>
          <a:chExt cx="0" cy="0"/>
        </a:xfrm>
      </p:grpSpPr>
      <p:sp>
        <p:nvSpPr>
          <p:cNvPr id="2" name="Text 0"/>
          <p:cNvSpPr/>
          <p:nvPr/>
        </p:nvSpPr>
        <p:spPr>
          <a:xfrm>
            <a:off x="1527048" y="1874520"/>
            <a:ext cx="9144000" cy="1097280"/>
          </a:xfrm>
          <a:prstGeom prst="rect">
            <a:avLst/>
          </a:prstGeom>
          <a:noFill/>
          <a:ln/>
        </p:spPr>
        <p:txBody>
          <a:bodyPr wrap="square" lIns="0" tIns="0" rIns="0" bIns="0" rtlCol="0" anchor="ctr"/>
          <a:lstStyle/>
          <a:p>
            <a:pPr algn="ctr" indent="0" marL="0">
              <a:lnSpc>
                <a:spcPts val="3600"/>
              </a:lnSpc>
              <a:buNone/>
            </a:pPr>
            <a:r>
              <a:rPr lang="en-US" sz="2700" b="1" i="1" dirty="0">
                <a:solidFill>
                  <a:srgbClr val="132A4F"/>
                </a:solidFill>
                <a:latin typeface="Century Schoolbook" pitchFamily="34" charset="0"/>
                <a:ea typeface="Century Schoolbook" pitchFamily="34" charset="-122"/>
                <a:cs typeface="Century Schoolbook" pitchFamily="34" charset="-120"/>
              </a:rPr>
              <a:t>“Our mission is to make great jobs accessible to everyone.”</a:t>
            </a:r>
            <a:endParaRPr lang="en-US" sz="2700" dirty="0"/>
          </a:p>
        </p:txBody>
      </p:sp>
      <p:sp>
        <p:nvSpPr>
          <p:cNvPr id="3" name="Text 1"/>
          <p:cNvSpPr/>
          <p:nvPr/>
        </p:nvSpPr>
        <p:spPr>
          <a:xfrm>
            <a:off x="1527048" y="3246120"/>
            <a:ext cx="9144000" cy="548640"/>
          </a:xfrm>
          <a:prstGeom prst="rect">
            <a:avLst/>
          </a:prstGeom>
          <a:noFill/>
          <a:ln/>
        </p:spPr>
        <p:txBody>
          <a:bodyPr wrap="square" lIns="0" tIns="0" rIns="0" bIns="0" rtlCol="0" anchor="ctr"/>
          <a:lstStyle/>
          <a:p>
            <a:pPr algn="ctr" indent="0" marL="0">
              <a:buNone/>
            </a:pPr>
            <a:r>
              <a:rPr lang="en-US" sz="2400" b="1" dirty="0">
                <a:solidFill>
                  <a:srgbClr val="132A4F"/>
                </a:solidFill>
                <a:latin typeface="Century Schoolbook" pitchFamily="34" charset="0"/>
                <a:ea typeface="Century Schoolbook" pitchFamily="34" charset="-122"/>
                <a:cs typeface="Century Schoolbook" pitchFamily="34" charset="-120"/>
              </a:rPr>
              <a:t>51CAREERS</a:t>
            </a:r>
            <a:pPr algn="ctr" indent="0" marL="0">
              <a:buNone/>
            </a:pPr>
            <a:r>
              <a:rPr lang="en-US" sz="2400" b="1" dirty="0">
                <a:solidFill>
                  <a:srgbClr val="9A7B3F"/>
                </a:solidFill>
                <a:latin typeface="Century Schoolbook" pitchFamily="34" charset="0"/>
                <a:ea typeface="Century Schoolbook" pitchFamily="34" charset="-122"/>
                <a:cs typeface="Century Schoolbook" pitchFamily="34" charset="-120"/>
              </a:rPr>
              <a:t>.AI</a:t>
            </a:r>
            <a:endParaRPr lang="en-US" sz="2400" dirty="0"/>
          </a:p>
        </p:txBody>
      </p:sp>
      <p:sp>
        <p:nvSpPr>
          <p:cNvPr id="4" name="Text 2"/>
          <p:cNvSpPr/>
          <p:nvPr/>
        </p:nvSpPr>
        <p:spPr>
          <a:xfrm>
            <a:off x="1527048" y="4251960"/>
            <a:ext cx="9144000" cy="274320"/>
          </a:xfrm>
          <a:prstGeom prst="rect">
            <a:avLst/>
          </a:prstGeom>
          <a:noFill/>
          <a:ln/>
        </p:spPr>
        <p:txBody>
          <a:bodyPr wrap="square" lIns="0" tIns="0" rIns="0" bIns="0" rtlCol="0" anchor="ctr"/>
          <a:lstStyle/>
          <a:p>
            <a:pPr algn="ctr" indent="0" marL="0">
              <a:buNone/>
            </a:pPr>
            <a:r>
              <a:rPr lang="en-US" sz="1200" b="1" dirty="0">
                <a:solidFill>
                  <a:srgbClr val="1C2733"/>
                </a:solidFill>
                <a:latin typeface="Calibri" pitchFamily="34" charset="0"/>
                <a:ea typeface="Calibri" pitchFamily="34" charset="-122"/>
                <a:cs typeface="Calibri" pitchFamily="34" charset="-120"/>
              </a:rPr>
              <a:t>Rocky Chen  ·  Founder &amp; Chief Executive Officer</a:t>
            </a:r>
            <a:endParaRPr lang="en-US" sz="1200" dirty="0"/>
          </a:p>
        </p:txBody>
      </p:sp>
      <p:sp>
        <p:nvSpPr>
          <p:cNvPr id="5" name="Text 3"/>
          <p:cNvSpPr/>
          <p:nvPr/>
        </p:nvSpPr>
        <p:spPr>
          <a:xfrm>
            <a:off x="1527048" y="4572000"/>
            <a:ext cx="9144000" cy="274320"/>
          </a:xfrm>
          <a:prstGeom prst="rect">
            <a:avLst/>
          </a:prstGeom>
          <a:noFill/>
          <a:ln/>
        </p:spPr>
        <p:txBody>
          <a:bodyPr wrap="square" lIns="0" tIns="0" rIns="0" bIns="0" rtlCol="0" anchor="ctr"/>
          <a:lstStyle/>
          <a:p>
            <a:pPr algn="ctr" indent="0" marL="0">
              <a:buNone/>
            </a:pPr>
            <a:r>
              <a:rPr lang="en-US" sz="1100" dirty="0">
                <a:solidFill>
                  <a:srgbClr val="5A6B7E"/>
                </a:solidFill>
                <a:latin typeface="Calibri" pitchFamily="34" charset="0"/>
                <a:ea typeface="Calibri" pitchFamily="34" charset="-122"/>
                <a:cs typeface="Calibri" pitchFamily="34" charset="-120"/>
              </a:rPr>
              <a:t>info@51careers.com      ·      www.51careers.ai</a:t>
            </a:r>
            <a:endParaRPr lang="en-US" sz="1100" dirty="0"/>
          </a:p>
        </p:txBody>
      </p:sp>
      <p:sp>
        <p:nvSpPr>
          <p:cNvPr id="6" name="Text 4"/>
          <p:cNvSpPr/>
          <p:nvPr/>
        </p:nvSpPr>
        <p:spPr>
          <a:xfrm>
            <a:off x="1527048" y="4864608"/>
            <a:ext cx="9144000" cy="274320"/>
          </a:xfrm>
          <a:prstGeom prst="rect">
            <a:avLst/>
          </a:prstGeom>
          <a:noFill/>
          <a:ln/>
        </p:spPr>
        <p:txBody>
          <a:bodyPr wrap="square" lIns="0" tIns="0" rIns="0" bIns="0" rtlCol="0" anchor="ctr"/>
          <a:lstStyle/>
          <a:p>
            <a:pPr algn="ctr" indent="0" marL="0">
              <a:buNone/>
            </a:pPr>
            <a:r>
              <a:rPr lang="en-US" sz="1100" dirty="0">
                <a:solidFill>
                  <a:srgbClr val="5A6B7E"/>
                </a:solidFill>
                <a:latin typeface="Calibri" pitchFamily="34" charset="0"/>
                <a:ea typeface="Calibri" pitchFamily="34" charset="-122"/>
                <a:cs typeface="Calibri" pitchFamily="34" charset="-120"/>
              </a:rPr>
              <a:t>48 Wall Street, 11th Floor, New York, NY 10005</a:t>
            </a:r>
            <a:endParaRPr lang="en-US" sz="1100" dirty="0"/>
          </a:p>
        </p:txBody>
      </p:sp>
      <p:sp>
        <p:nvSpPr>
          <p:cNvPr id="7" name="Text 5"/>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8" name="Text 6"/>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51Careers.AI — Investor Presentation</dc:title>
  <dc:subject>PptxGenJS Presentation</dc:subject>
  <dc:creator>51Careers.AI</dc:creator>
  <cp:lastModifiedBy>51Careers.AI</cp:lastModifiedBy>
  <cp:revision>1</cp:revision>
  <dcterms:created xsi:type="dcterms:W3CDTF">2026-07-27T18:37:39Z</dcterms:created>
  <dcterms:modified xsi:type="dcterms:W3CDTF">2026-07-27T18:37:39Z</dcterms:modified>
</cp:coreProperties>
</file>