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c:ser>
          <c:idx val="0"/>
          <c:order val="0"/>
          <c:tx>
            <c:strRef>
              <c:f>Sheet1!$B$1</c:f>
              <c:strCache>
                <c:ptCount val="1"/>
                <c:pt idx="0">
                  <c:v>Use of Funds</c:v>
                </c:pt>
              </c:strCache>
            </c:strRef>
          </c:tx>
          <c:dPt>
            <c:idx val="0"/>
            <c:spPr>
              <a:solidFill>
                <a:srgbClr val="00A88F"/>
              </a:solidFill>
              <a:ln>
                <a:noFill/>
              </a:ln>
            </c:spPr>
          </c:dPt>
          <c:dPt>
            <c:idx val="1"/>
            <c:spPr>
              <a:solidFill>
                <a:srgbClr val="183A5A"/>
              </a:solidFill>
              <a:ln>
                <a:noFill/>
              </a:ln>
            </c:spPr>
          </c:dPt>
          <c:dPt>
            <c:idx val="2"/>
            <c:spPr>
              <a:solidFill>
                <a:srgbClr val="3C6E9B"/>
              </a:solidFill>
              <a:ln>
                <a:noFill/>
              </a:ln>
            </c:spPr>
          </c:dPt>
          <c:dPt>
            <c:idx val="3"/>
            <c:spPr>
              <a:solidFill>
                <a:srgbClr val="D7A747"/>
              </a:solidFill>
              <a:ln>
                <a:noFill/>
              </a:ln>
            </c:spPr>
          </c:dPt>
          <c:dPt>
            <c:idx val="4"/>
            <c:spPr>
              <a:solidFill>
                <a:srgbClr val="B8C4CD"/>
              </a:solidFill>
              <a:ln>
                <a:noFill/>
              </a:ln>
            </c:spPr>
          </c:dPt>
          <c:cat>
            <c:strRef>
              <c:f>Sheet1!$A$2:$A$6</c:f>
              <c:strCache>
                <c:ptCount val="5"/>
                <c:pt idx="0">
                  <c:v>R&amp;D / Payload Development</c:v>
                </c:pt>
                <c:pt idx="1">
                  <c:v>Flight &amp; Integration</c:v>
                </c:pt>
                <c:pt idx="2">
                  <c:v>Regulatory &amp; Clinical</c:v>
                </c:pt>
                <c:pt idx="3">
                  <c:v>Team Build-Out</c:v>
                </c:pt>
                <c:pt idx="4">
                  <c:v>G&amp;A</c:v>
                </c:pt>
              </c:strCache>
            </c:strRef>
          </c:cat>
          <c:val>
            <c:numRef>
              <c:f>Sheet1!$B$2:$B$6</c:f>
              <c:numCache>
                <c:formatCode>General</c:formatCode>
                <c:ptCount val="5"/>
                <c:pt idx="0">
                  <c:v>40</c:v>
                </c:pt>
                <c:pt idx="1">
                  <c:v>25</c:v>
                </c:pt>
                <c:pt idx="2">
                  <c:v>15</c:v>
                </c:pt>
                <c:pt idx="3">
                  <c:v>15</c:v>
                </c:pt>
                <c:pt idx="4">
                  <c:v>5</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58368" y="621792"/>
            <a:ext cx="91440" cy="91440"/>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530352"/>
            <a:ext cx="91440" cy="9144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68096" y="713232"/>
            <a:ext cx="91440" cy="91440"/>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621792"/>
            <a:ext cx="91440" cy="9144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493776"/>
            <a:ext cx="2194560" cy="228600"/>
          </a:xfrm>
          <a:prstGeom prst="rect">
            <a:avLst/>
          </a:prstGeom>
          <a:noFill/>
        </p:spPr>
        <p:txBody>
          <a:bodyPr wrap="square" lIns="0" rIns="0" tIns="0" bIns="0" anchor="ctr">
            <a:noAutofit/>
          </a:bodyPr>
          <a:lstStyle/>
          <a:p>
            <a:pPr algn="l">
              <a:lnSpc>
                <a:spcPct val="100000"/>
              </a:lnSpc>
              <a:spcAft>
                <a:spcPts val="0"/>
              </a:spcAft>
            </a:pPr>
            <a:r>
              <a:rPr sz="950" b="1" i="0">
                <a:solidFill>
                  <a:srgbClr val="0B2035"/>
                </a:solidFill>
                <a:latin typeface="Arial"/>
              </a:rPr>
              <a:t>SAMUEL SPACE</a:t>
            </a:r>
          </a:p>
        </p:txBody>
      </p:sp>
      <p:sp>
        <p:nvSpPr>
          <p:cNvPr id="9" name="TextBox 8"/>
          <p:cNvSpPr txBox="1"/>
          <p:nvPr/>
        </p:nvSpPr>
        <p:spPr>
          <a:xfrm>
            <a:off x="1024128" y="722376"/>
            <a:ext cx="2834640" cy="164592"/>
          </a:xfrm>
          <a:prstGeom prst="rect">
            <a:avLst/>
          </a:prstGeom>
          <a:noFill/>
        </p:spPr>
        <p:txBody>
          <a:bodyPr wrap="square" lIns="0" rIns="0" tIns="0" bIns="0" anchor="t">
            <a:noAutofit/>
          </a:bodyPr>
          <a:lstStyle/>
          <a:p>
            <a:pPr algn="l">
              <a:lnSpc>
                <a:spcPct val="100000"/>
              </a:lnSpc>
              <a:spcAft>
                <a:spcPts val="0"/>
              </a:spcAft>
            </a:pPr>
            <a:r>
              <a:rPr sz="680" b="1" i="0">
                <a:solidFill>
                  <a:srgbClr val="718291"/>
                </a:solidFill>
                <a:latin typeface="Arial"/>
              </a:rPr>
              <a:t>ORGAN + TISSUE ENGINEERING</a:t>
            </a:r>
          </a:p>
        </p:txBody>
      </p:sp>
      <p:sp>
        <p:nvSpPr>
          <p:cNvPr id="10" name="Rounded Rectangle 9"/>
          <p:cNvSpPr/>
          <p:nvPr/>
        </p:nvSpPr>
        <p:spPr>
          <a:xfrm>
            <a:off x="658368" y="1344168"/>
            <a:ext cx="2606040" cy="283464"/>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353312"/>
            <a:ext cx="2606040" cy="274320"/>
          </a:xfrm>
          <a:prstGeom prst="rect">
            <a:avLst/>
          </a:prstGeom>
          <a:noFill/>
        </p:spPr>
        <p:txBody>
          <a:bodyPr wrap="square" lIns="0" rIns="0" tIns="0" bIns="0" anchor="ctr">
            <a:noAutofit/>
          </a:bodyPr>
          <a:lstStyle/>
          <a:p>
            <a:pPr algn="ctr">
              <a:lnSpc>
                <a:spcPct val="100000"/>
              </a:lnSpc>
              <a:spcAft>
                <a:spcPts val="0"/>
              </a:spcAft>
            </a:pPr>
            <a:r>
              <a:rPr sz="740" b="1" i="0">
                <a:solidFill>
                  <a:srgbClr val="007F72"/>
                </a:solidFill>
                <a:latin typeface="Arial"/>
              </a:rPr>
              <a:t>CONFIDENTIAL INVESTOR PRESENTATION</a:t>
            </a:r>
          </a:p>
        </p:txBody>
      </p:sp>
      <p:sp>
        <p:nvSpPr>
          <p:cNvPr id="12" name="TextBox 11"/>
          <p:cNvSpPr txBox="1"/>
          <p:nvPr/>
        </p:nvSpPr>
        <p:spPr>
          <a:xfrm>
            <a:off x="640080" y="1874519"/>
            <a:ext cx="5852160" cy="566928"/>
          </a:xfrm>
          <a:prstGeom prst="rect">
            <a:avLst/>
          </a:prstGeom>
          <a:noFill/>
        </p:spPr>
        <p:txBody>
          <a:bodyPr wrap="square" lIns="0" rIns="0" tIns="0" bIns="0" anchor="t">
            <a:noAutofit/>
          </a:bodyPr>
          <a:lstStyle/>
          <a:p>
            <a:pPr algn="l">
              <a:lnSpc>
                <a:spcPct val="100000"/>
              </a:lnSpc>
              <a:spcAft>
                <a:spcPts val="0"/>
              </a:spcAft>
            </a:pPr>
            <a:r>
              <a:rPr sz="3800" b="1" i="0">
                <a:solidFill>
                  <a:srgbClr val="0B2035"/>
                </a:solidFill>
                <a:latin typeface="Arial"/>
              </a:rPr>
              <a:t>Samuel Space</a:t>
            </a:r>
          </a:p>
        </p:txBody>
      </p:sp>
      <p:sp>
        <p:nvSpPr>
          <p:cNvPr id="13" name="TextBox 12"/>
          <p:cNvSpPr txBox="1"/>
          <p:nvPr/>
        </p:nvSpPr>
        <p:spPr>
          <a:xfrm>
            <a:off x="640080" y="2450592"/>
            <a:ext cx="5989320" cy="1325880"/>
          </a:xfrm>
          <a:prstGeom prst="rect">
            <a:avLst/>
          </a:prstGeom>
          <a:noFill/>
        </p:spPr>
        <p:txBody>
          <a:bodyPr wrap="square" lIns="0" rIns="0" tIns="0" bIns="0" anchor="t">
            <a:noAutofit/>
          </a:bodyPr>
          <a:lstStyle/>
          <a:p>
            <a:pPr algn="l">
              <a:lnSpc>
                <a:spcPct val="92000"/>
              </a:lnSpc>
              <a:spcAft>
                <a:spcPts val="0"/>
              </a:spcAft>
            </a:pPr>
            <a:r>
              <a:rPr sz="3400" b="1" i="0">
                <a:solidFill>
                  <a:srgbClr val="0B2035"/>
                </a:solidFill>
                <a:latin typeface="Arial"/>
              </a:rPr>
              <a:t>Organ and Tissue
Engineering</a:t>
            </a:r>
          </a:p>
        </p:txBody>
      </p:sp>
      <p:sp>
        <p:nvSpPr>
          <p:cNvPr id="14" name="Rectangle 13"/>
          <p:cNvSpPr/>
          <p:nvPr/>
        </p:nvSpPr>
        <p:spPr>
          <a:xfrm>
            <a:off x="658368" y="4114800"/>
            <a:ext cx="502920" cy="50292"/>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370832"/>
            <a:ext cx="5897880" cy="594360"/>
          </a:xfrm>
          <a:prstGeom prst="rect">
            <a:avLst/>
          </a:prstGeom>
          <a:noFill/>
        </p:spPr>
        <p:txBody>
          <a:bodyPr wrap="square" lIns="0" rIns="0" tIns="0" bIns="0" anchor="t">
            <a:noAutofit/>
          </a:bodyPr>
          <a:lstStyle/>
          <a:p>
            <a:pPr algn="l">
              <a:lnSpc>
                <a:spcPct val="100000"/>
              </a:lnSpc>
              <a:spcAft>
                <a:spcPts val="0"/>
              </a:spcAft>
            </a:pPr>
            <a:r>
              <a:rPr sz="1500" b="0" i="1">
                <a:solidFill>
                  <a:srgbClr val="516577"/>
                </a:solidFill>
                <a:latin typeface="Arial"/>
              </a:rPr>
              <a:t>Manufacturing the next generation of human tissue — in orbit.</a:t>
            </a:r>
          </a:p>
        </p:txBody>
      </p:sp>
      <p:cxnSp>
        <p:nvCxnSpPr>
          <p:cNvPr id="16" name="Connector 15"/>
          <p:cNvCxnSpPr/>
          <p:nvPr/>
        </p:nvCxnSpPr>
        <p:spPr>
          <a:xfrm>
            <a:off x="658368" y="5230368"/>
            <a:ext cx="5330952" cy="0"/>
          </a:xfrm>
          <a:prstGeom prst="line">
            <a:avLst/>
          </a:prstGeom>
          <a:ln w="12700">
            <a:solidFill>
              <a:srgbClr val="D7E1E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58368" y="5431536"/>
            <a:ext cx="2286000" cy="219456"/>
          </a:xfrm>
          <a:prstGeom prst="rect">
            <a:avLst/>
          </a:prstGeom>
          <a:noFill/>
        </p:spPr>
        <p:txBody>
          <a:bodyPr wrap="square" lIns="0" rIns="0" tIns="0" bIns="0" anchor="t">
            <a:noAutofit/>
          </a:bodyPr>
          <a:lstStyle/>
          <a:p>
            <a:pPr algn="l">
              <a:lnSpc>
                <a:spcPct val="100000"/>
              </a:lnSpc>
              <a:spcAft>
                <a:spcPts val="0"/>
              </a:spcAft>
            </a:pPr>
            <a:r>
              <a:rPr sz="750" b="1" i="0">
                <a:solidFill>
                  <a:srgbClr val="718291"/>
                </a:solidFill>
                <a:latin typeface="Arial"/>
              </a:rPr>
              <a:t>SERIES A FINANCING</a:t>
            </a:r>
          </a:p>
        </p:txBody>
      </p:sp>
      <p:sp>
        <p:nvSpPr>
          <p:cNvPr id="18" name="TextBox 17"/>
          <p:cNvSpPr txBox="1"/>
          <p:nvPr/>
        </p:nvSpPr>
        <p:spPr>
          <a:xfrm>
            <a:off x="658368" y="5687568"/>
            <a:ext cx="2286000" cy="274320"/>
          </a:xfrm>
          <a:prstGeom prst="rect">
            <a:avLst/>
          </a:prstGeom>
          <a:noFill/>
        </p:spPr>
        <p:txBody>
          <a:bodyPr wrap="square" lIns="0" rIns="0" tIns="0" bIns="0" anchor="t">
            <a:noAutofit/>
          </a:bodyPr>
          <a:lstStyle/>
          <a:p>
            <a:pPr algn="l">
              <a:lnSpc>
                <a:spcPct val="100000"/>
              </a:lnSpc>
              <a:spcAft>
                <a:spcPts val="0"/>
              </a:spcAft>
            </a:pPr>
            <a:r>
              <a:rPr sz="1250" b="1" i="0">
                <a:solidFill>
                  <a:srgbClr val="0B2035"/>
                </a:solidFill>
                <a:latin typeface="Arial"/>
              </a:rPr>
              <a:t>June 2026</a:t>
            </a:r>
          </a:p>
        </p:txBody>
      </p:sp>
      <p:sp>
        <p:nvSpPr>
          <p:cNvPr id="19" name="Oval 18"/>
          <p:cNvSpPr/>
          <p:nvPr/>
        </p:nvSpPr>
        <p:spPr>
          <a:xfrm>
            <a:off x="7391781" y="1312849"/>
            <a:ext cx="4363974" cy="4363974"/>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9097" y="1880166"/>
            <a:ext cx="3229340" cy="3229340"/>
          </a:xfrm>
          <a:prstGeom prst="ellipse">
            <a:avLst/>
          </a:prstGeom>
          <a:solidFill>
            <a:srgbClr val="C7E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rot="20880000">
            <a:off x="7435420" y="2512942"/>
            <a:ext cx="4276694" cy="1963788"/>
          </a:xfrm>
          <a:prstGeom prst="ellipse">
            <a:avLst/>
          </a:prstGeom>
          <a:noFill/>
          <a:ln w="13970">
            <a:solidFill>
              <a:srgbClr val="00A8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rot="1080000">
            <a:off x="7719079" y="2185644"/>
            <a:ext cx="3709377" cy="2618384"/>
          </a:xfrm>
          <a:prstGeom prst="ellipse">
            <a:avLst/>
          </a:prstGeom>
          <a:noFill/>
          <a:ln w="13970">
            <a:solidFill>
              <a:srgbClr val="3C6E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rot="2880000">
            <a:off x="8155476" y="1531048"/>
            <a:ext cx="2836583" cy="3927576"/>
          </a:xfrm>
          <a:prstGeom prst="ellipse">
            <a:avLst/>
          </a:prstGeom>
          <a:noFill/>
          <a:ln w="13970">
            <a:solidFill>
              <a:srgbClr val="183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700973" y="2905700"/>
            <a:ext cx="1745589" cy="1178272"/>
          </a:xfrm>
          <a:prstGeom prst="roundRect">
            <a:avLst/>
          </a:prstGeom>
          <a:solidFill>
            <a:srgbClr val="FFFFFF"/>
          </a:solidFill>
          <a:ln w="10160">
            <a:solidFill>
              <a:srgbClr val="BFD8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2635" y="3329878"/>
            <a:ext cx="314206" cy="329916"/>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38856" y="3270964"/>
            <a:ext cx="331662" cy="76587"/>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538856" y="3483054"/>
            <a:ext cx="488765" cy="76587"/>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38856" y="3695143"/>
            <a:ext cx="593500" cy="76587"/>
          </a:xfrm>
          <a:prstGeom prst="round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839088" y="2371113"/>
            <a:ext cx="240018" cy="240018"/>
          </a:xfrm>
          <a:prstGeom prst="ellipse">
            <a:avLst/>
          </a:prstGeom>
          <a:solidFill>
            <a:srgbClr val="00A88F"/>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876414" y="2048179"/>
            <a:ext cx="187650" cy="187650"/>
          </a:xfrm>
          <a:prstGeom prst="ellipse">
            <a:avLst/>
          </a:prstGeom>
          <a:solidFill>
            <a:srgbClr val="183A5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232078" y="4236712"/>
            <a:ext cx="261838" cy="261838"/>
          </a:xfrm>
          <a:prstGeom prst="ellipse">
            <a:avLst/>
          </a:prstGeom>
          <a:solidFill>
            <a:srgbClr val="D7A747"/>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66386" y="4749479"/>
            <a:ext cx="196378" cy="196378"/>
          </a:xfrm>
          <a:prstGeom prst="ellipse">
            <a:avLst/>
          </a:prstGeom>
          <a:solidFill>
            <a:srgbClr val="3C6E9B"/>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846516" y="1629237"/>
            <a:ext cx="152739" cy="152739"/>
          </a:xfrm>
          <a:prstGeom prst="ellipse">
            <a:avLst/>
          </a:prstGeom>
          <a:solidFill>
            <a:srgbClr val="007F72"/>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912864" y="1078992"/>
            <a:ext cx="1170432"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12864" y="1088136"/>
            <a:ext cx="1170432" cy="246888"/>
          </a:xfrm>
          <a:prstGeom prst="rect">
            <a:avLst/>
          </a:prstGeom>
          <a:noFill/>
        </p:spPr>
        <p:txBody>
          <a:bodyPr wrap="square" lIns="0" rIns="0" tIns="0" bIns="0" anchor="ctr">
            <a:noAutofit/>
          </a:bodyPr>
          <a:lstStyle/>
          <a:p>
            <a:pPr algn="ctr">
              <a:lnSpc>
                <a:spcPct val="100000"/>
              </a:lnSpc>
              <a:spcAft>
                <a:spcPts val="0"/>
              </a:spcAft>
            </a:pPr>
            <a:r>
              <a:rPr sz="800" b="1" i="0">
                <a:solidFill>
                  <a:srgbClr val="007F72"/>
                </a:solidFill>
                <a:latin typeface="Arial"/>
              </a:rPr>
              <a:t>MICROGRAVITY</a:t>
            </a:r>
          </a:p>
        </p:txBody>
      </p:sp>
      <p:sp>
        <p:nvSpPr>
          <p:cNvPr id="36" name="Rounded Rectangle 35"/>
          <p:cNvSpPr/>
          <p:nvPr/>
        </p:nvSpPr>
        <p:spPr>
          <a:xfrm>
            <a:off x="10012680" y="1207008"/>
            <a:ext cx="1344168"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12680" y="1216152"/>
            <a:ext cx="1344168" cy="246888"/>
          </a:xfrm>
          <a:prstGeom prst="rect">
            <a:avLst/>
          </a:prstGeom>
          <a:noFill/>
        </p:spPr>
        <p:txBody>
          <a:bodyPr wrap="square" lIns="0" rIns="0" tIns="0" bIns="0" anchor="ctr">
            <a:noAutofit/>
          </a:bodyPr>
          <a:lstStyle/>
          <a:p>
            <a:pPr algn="ctr">
              <a:lnSpc>
                <a:spcPct val="100000"/>
              </a:lnSpc>
              <a:spcAft>
                <a:spcPts val="0"/>
              </a:spcAft>
            </a:pPr>
            <a:r>
              <a:rPr sz="800" b="1" i="0">
                <a:solidFill>
                  <a:srgbClr val="183A5A"/>
                </a:solidFill>
                <a:latin typeface="Arial"/>
              </a:rPr>
              <a:t>SCAFFOLD-FREE</a:t>
            </a:r>
          </a:p>
        </p:txBody>
      </p:sp>
      <p:sp>
        <p:nvSpPr>
          <p:cNvPr id="38" name="Rounded Rectangle 37"/>
          <p:cNvSpPr/>
          <p:nvPr/>
        </p:nvSpPr>
        <p:spPr>
          <a:xfrm>
            <a:off x="9637776" y="5340096"/>
            <a:ext cx="1554480"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37776" y="5349240"/>
            <a:ext cx="1554480" cy="246888"/>
          </a:xfrm>
          <a:prstGeom prst="rect">
            <a:avLst/>
          </a:prstGeom>
          <a:noFill/>
        </p:spPr>
        <p:txBody>
          <a:bodyPr wrap="square" lIns="0" rIns="0" tIns="0" bIns="0" anchor="ctr">
            <a:noAutofit/>
          </a:bodyPr>
          <a:lstStyle/>
          <a:p>
            <a:pPr algn="ctr">
              <a:lnSpc>
                <a:spcPct val="100000"/>
              </a:lnSpc>
              <a:spcAft>
                <a:spcPts val="0"/>
              </a:spcAft>
            </a:pPr>
            <a:r>
              <a:rPr sz="800" b="1" i="0">
                <a:solidFill>
                  <a:srgbClr val="3C6E9B"/>
                </a:solidFill>
                <a:latin typeface="Arial"/>
              </a:rPr>
              <a:t>PATIENT-SPECIFIC</a:t>
            </a:r>
          </a:p>
        </p:txBody>
      </p:sp>
      <p:sp>
        <p:nvSpPr>
          <p:cNvPr id="40" name="TextBox 39"/>
          <p:cNvSpPr txBox="1"/>
          <p:nvPr/>
        </p:nvSpPr>
        <p:spPr>
          <a:xfrm>
            <a:off x="11283696" y="6473952"/>
            <a:ext cx="384048" cy="164592"/>
          </a:xfrm>
          <a:prstGeom prst="rect">
            <a:avLst/>
          </a:prstGeom>
          <a:noFill/>
        </p:spPr>
        <p:txBody>
          <a:bodyPr wrap="square" lIns="0" rIns="0" tIns="0" bIns="0" anchor="t">
            <a:noAutofit/>
          </a:bodyPr>
          <a:lstStyle/>
          <a:p>
            <a:pPr algn="r">
              <a:lnSpc>
                <a:spcPct val="100000"/>
              </a:lnSpc>
              <a:spcAft>
                <a:spcPts val="0"/>
              </a:spcAft>
            </a:pPr>
            <a:r>
              <a:rPr sz="700" b="1" i="0">
                <a:solidFill>
                  <a:srgbClr val="718291"/>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NOTICE</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Confidential — Forward-Looking Statement</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02</a:t>
            </a:r>
          </a:p>
        </p:txBody>
      </p:sp>
      <p:sp>
        <p:nvSpPr>
          <p:cNvPr id="15" name="Rounded Rectangle 14"/>
          <p:cNvSpPr/>
          <p:nvPr/>
        </p:nvSpPr>
        <p:spPr>
          <a:xfrm>
            <a:off x="502920" y="1325880"/>
            <a:ext cx="2029968" cy="4965192"/>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1645920"/>
            <a:ext cx="1417320" cy="320040"/>
          </a:xfrm>
          <a:prstGeom prst="rect">
            <a:avLst/>
          </a:prstGeom>
          <a:noFill/>
        </p:spPr>
        <p:txBody>
          <a:bodyPr wrap="square" lIns="0" rIns="0" tIns="0" bIns="0" anchor="t">
            <a:noAutofit/>
          </a:bodyPr>
          <a:lstStyle/>
          <a:p>
            <a:pPr algn="l">
              <a:lnSpc>
                <a:spcPct val="100000"/>
              </a:lnSpc>
              <a:spcAft>
                <a:spcPts val="0"/>
              </a:spcAft>
            </a:pPr>
            <a:r>
              <a:rPr sz="2000" b="1" i="0">
                <a:solidFill>
                  <a:srgbClr val="0B2035"/>
                </a:solidFill>
                <a:latin typeface="Arial"/>
              </a:rPr>
              <a:t>NOTICE</a:t>
            </a:r>
          </a:p>
        </p:txBody>
      </p:sp>
      <p:sp>
        <p:nvSpPr>
          <p:cNvPr id="17" name="Rectangle 16"/>
          <p:cNvSpPr/>
          <p:nvPr/>
        </p:nvSpPr>
        <p:spPr>
          <a:xfrm>
            <a:off x="749808" y="2103120"/>
            <a:ext cx="384048" cy="45720"/>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2423160"/>
            <a:ext cx="1417320" cy="1280160"/>
          </a:xfrm>
          <a:prstGeom prst="rect">
            <a:avLst/>
          </a:prstGeom>
          <a:noFill/>
        </p:spPr>
        <p:txBody>
          <a:bodyPr wrap="square" lIns="0" rIns="0" tIns="0" bIns="0" anchor="t">
            <a:noAutofit/>
          </a:bodyPr>
          <a:lstStyle/>
          <a:p>
            <a:pPr algn="l">
              <a:lnSpc>
                <a:spcPct val="100000"/>
              </a:lnSpc>
              <a:spcAft>
                <a:spcPts val="0"/>
              </a:spcAft>
            </a:pPr>
            <a:r>
              <a:rPr sz="1120" b="0" i="0">
                <a:solidFill>
                  <a:srgbClr val="516577"/>
                </a:solidFill>
                <a:latin typeface="Arial"/>
              </a:rPr>
              <a:t>Prepared solely to assist prospective investors in evaluating a potential investment.</a:t>
            </a:r>
          </a:p>
        </p:txBody>
      </p:sp>
      <p:sp>
        <p:nvSpPr>
          <p:cNvPr id="19" name="TextBox 18"/>
          <p:cNvSpPr txBox="1"/>
          <p:nvPr/>
        </p:nvSpPr>
        <p:spPr>
          <a:xfrm>
            <a:off x="749808" y="4206240"/>
            <a:ext cx="1417320" cy="960120"/>
          </a:xfrm>
          <a:prstGeom prst="rect">
            <a:avLst/>
          </a:prstGeom>
          <a:noFill/>
        </p:spPr>
        <p:txBody>
          <a:bodyPr wrap="square" lIns="0" rIns="0" tIns="0" bIns="0" anchor="t">
            <a:noAutofit/>
          </a:bodyPr>
          <a:lstStyle/>
          <a:p>
            <a:pPr algn="l">
              <a:lnSpc>
                <a:spcPct val="100000"/>
              </a:lnSpc>
              <a:spcAft>
                <a:spcPts val="0"/>
              </a:spcAft>
            </a:pPr>
            <a:r>
              <a:rPr sz="1050" b="1" i="0">
                <a:solidFill>
                  <a:srgbClr val="183A5A"/>
                </a:solidFill>
                <a:latin typeface="Arial"/>
              </a:rPr>
              <a:t>Not an offer to sell or a solicitation to buy securities.</a:t>
            </a:r>
          </a:p>
        </p:txBody>
      </p:sp>
      <p:sp>
        <p:nvSpPr>
          <p:cNvPr id="20" name="Rounded Rectangle 19"/>
          <p:cNvSpPr/>
          <p:nvPr/>
        </p:nvSpPr>
        <p:spPr>
          <a:xfrm>
            <a:off x="749808" y="5678424"/>
            <a:ext cx="1444752" cy="274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5687568"/>
            <a:ext cx="1444752" cy="265176"/>
          </a:xfrm>
          <a:prstGeom prst="rect">
            <a:avLst/>
          </a:prstGeom>
          <a:noFill/>
        </p:spPr>
        <p:txBody>
          <a:bodyPr wrap="square" lIns="0" rIns="0" tIns="0" bIns="0" anchor="ctr">
            <a:noAutofit/>
          </a:bodyPr>
          <a:lstStyle/>
          <a:p>
            <a:pPr algn="ctr">
              <a:lnSpc>
                <a:spcPct val="100000"/>
              </a:lnSpc>
              <a:spcAft>
                <a:spcPts val="0"/>
              </a:spcAft>
            </a:pPr>
            <a:r>
              <a:rPr sz="800" b="1" i="0">
                <a:solidFill>
                  <a:srgbClr val="007F72"/>
                </a:solidFill>
                <a:latin typeface="Arial"/>
              </a:rPr>
              <a:t>PRIVATE + CONFIDENTIAL</a:t>
            </a:r>
          </a:p>
        </p:txBody>
      </p:sp>
      <p:sp>
        <p:nvSpPr>
          <p:cNvPr id="22" name="Rounded Rectangle 21"/>
          <p:cNvSpPr/>
          <p:nvPr/>
        </p:nvSpPr>
        <p:spPr>
          <a:xfrm>
            <a:off x="2770632" y="1325880"/>
            <a:ext cx="8915400" cy="141732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70632" y="1325880"/>
            <a:ext cx="603504" cy="1417320"/>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70632" y="1325880"/>
            <a:ext cx="603504" cy="1417320"/>
          </a:xfrm>
          <a:prstGeom prst="rect">
            <a:avLst/>
          </a:prstGeom>
          <a:noFill/>
        </p:spPr>
        <p:txBody>
          <a:bodyPr wrap="square" lIns="0" rIns="0" tIns="0" bIns="0" anchor="ctr">
            <a:noAutofit/>
          </a:bodyPr>
          <a:lstStyle/>
          <a:p>
            <a:pPr algn="ctr">
              <a:lnSpc>
                <a:spcPct val="100000"/>
              </a:lnSpc>
              <a:spcAft>
                <a:spcPts val="0"/>
              </a:spcAft>
            </a:pPr>
            <a:r>
              <a:rPr sz="1000" b="1" i="0">
                <a:solidFill>
                  <a:srgbClr val="FFFFFF"/>
                </a:solidFill>
                <a:latin typeface="Arial"/>
              </a:rPr>
              <a:t>01</a:t>
            </a:r>
          </a:p>
        </p:txBody>
      </p:sp>
      <p:sp>
        <p:nvSpPr>
          <p:cNvPr id="25" name="TextBox 24"/>
          <p:cNvSpPr txBox="1"/>
          <p:nvPr/>
        </p:nvSpPr>
        <p:spPr>
          <a:xfrm>
            <a:off x="3611880" y="1508760"/>
            <a:ext cx="3291840" cy="228600"/>
          </a:xfrm>
          <a:prstGeom prst="rect">
            <a:avLst/>
          </a:prstGeom>
          <a:noFill/>
        </p:spPr>
        <p:txBody>
          <a:bodyPr wrap="square" lIns="0" rIns="0" tIns="0" bIns="0" anchor="t">
            <a:noAutofit/>
          </a:bodyPr>
          <a:lstStyle/>
          <a:p>
            <a:pPr algn="l">
              <a:lnSpc>
                <a:spcPct val="100000"/>
              </a:lnSpc>
              <a:spcAft>
                <a:spcPts val="0"/>
              </a:spcAft>
            </a:pPr>
            <a:r>
              <a:rPr sz="900" b="1" i="0">
                <a:solidFill>
                  <a:srgbClr val="007F72"/>
                </a:solidFill>
                <a:latin typeface="Arial"/>
              </a:rPr>
              <a:t>CONFIDENTIALITY</a:t>
            </a:r>
          </a:p>
        </p:txBody>
      </p:sp>
      <p:sp>
        <p:nvSpPr>
          <p:cNvPr id="26" name="TextBox 25"/>
          <p:cNvSpPr txBox="1"/>
          <p:nvPr/>
        </p:nvSpPr>
        <p:spPr>
          <a:xfrm>
            <a:off x="3611880" y="1819656"/>
            <a:ext cx="7754112" cy="795528"/>
          </a:xfrm>
          <a:prstGeom prst="rect">
            <a:avLst/>
          </a:prstGeom>
          <a:noFill/>
        </p:spPr>
        <p:txBody>
          <a:bodyPr wrap="square" lIns="0" rIns="0" tIns="0" bIns="0" anchor="t">
            <a:noAutofit/>
          </a:bodyPr>
          <a:lstStyle/>
          <a:p>
            <a:pPr algn="l">
              <a:lnSpc>
                <a:spcPct val="100000"/>
              </a:lnSpc>
              <a:spcAft>
                <a:spcPts val="0"/>
              </a:spcAft>
            </a:pPr>
            <a:r>
              <a:rPr sz="1019" b="0" i="0">
                <a:solidFill>
                  <a:srgbClr val="516577"/>
                </a:solidFill>
                <a:latin typeface="Arial"/>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p:txBody>
      </p:sp>
      <p:sp>
        <p:nvSpPr>
          <p:cNvPr id="27" name="Rounded Rectangle 26"/>
          <p:cNvSpPr/>
          <p:nvPr/>
        </p:nvSpPr>
        <p:spPr>
          <a:xfrm>
            <a:off x="2770632" y="2907792"/>
            <a:ext cx="8915400" cy="15727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70632" y="2907792"/>
            <a:ext cx="603504" cy="1572768"/>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0632" y="2907792"/>
            <a:ext cx="603504" cy="1572768"/>
          </a:xfrm>
          <a:prstGeom prst="rect">
            <a:avLst/>
          </a:prstGeom>
          <a:noFill/>
        </p:spPr>
        <p:txBody>
          <a:bodyPr wrap="square" lIns="0" rIns="0" tIns="0" bIns="0" anchor="ctr">
            <a:noAutofit/>
          </a:bodyPr>
          <a:lstStyle/>
          <a:p>
            <a:pPr algn="ctr">
              <a:lnSpc>
                <a:spcPct val="100000"/>
              </a:lnSpc>
              <a:spcAft>
                <a:spcPts val="0"/>
              </a:spcAft>
            </a:pPr>
            <a:r>
              <a:rPr sz="1000" b="1" i="0">
                <a:solidFill>
                  <a:srgbClr val="FFFFFF"/>
                </a:solidFill>
                <a:latin typeface="Arial"/>
              </a:rPr>
              <a:t>02</a:t>
            </a:r>
          </a:p>
        </p:txBody>
      </p:sp>
      <p:sp>
        <p:nvSpPr>
          <p:cNvPr id="30" name="TextBox 29"/>
          <p:cNvSpPr txBox="1"/>
          <p:nvPr/>
        </p:nvSpPr>
        <p:spPr>
          <a:xfrm>
            <a:off x="3611880" y="3090672"/>
            <a:ext cx="3291840" cy="228600"/>
          </a:xfrm>
          <a:prstGeom prst="rect">
            <a:avLst/>
          </a:prstGeom>
          <a:noFill/>
        </p:spPr>
        <p:txBody>
          <a:bodyPr wrap="square" lIns="0" rIns="0" tIns="0" bIns="0" anchor="t">
            <a:noAutofit/>
          </a:bodyPr>
          <a:lstStyle/>
          <a:p>
            <a:pPr algn="l">
              <a:lnSpc>
                <a:spcPct val="100000"/>
              </a:lnSpc>
              <a:spcAft>
                <a:spcPts val="0"/>
              </a:spcAft>
            </a:pPr>
            <a:r>
              <a:rPr sz="900" b="1" i="0">
                <a:solidFill>
                  <a:srgbClr val="007F72"/>
                </a:solidFill>
                <a:latin typeface="Arial"/>
              </a:rPr>
              <a:t>FORWARD-LOOKING STATEMENTS</a:t>
            </a:r>
          </a:p>
        </p:txBody>
      </p:sp>
      <p:sp>
        <p:nvSpPr>
          <p:cNvPr id="31" name="TextBox 30"/>
          <p:cNvSpPr txBox="1"/>
          <p:nvPr/>
        </p:nvSpPr>
        <p:spPr>
          <a:xfrm>
            <a:off x="3611880" y="3401568"/>
            <a:ext cx="7754112" cy="950976"/>
          </a:xfrm>
          <a:prstGeom prst="rect">
            <a:avLst/>
          </a:prstGeom>
          <a:noFill/>
        </p:spPr>
        <p:txBody>
          <a:bodyPr wrap="square" lIns="0" rIns="0" tIns="0" bIns="0" anchor="t">
            <a:noAutofit/>
          </a:bodyPr>
          <a:lstStyle/>
          <a:p>
            <a:pPr algn="l">
              <a:lnSpc>
                <a:spcPct val="100000"/>
              </a:lnSpc>
              <a:spcAft>
                <a:spcPts val="0"/>
              </a:spcAft>
            </a:pPr>
            <a:r>
              <a:rPr sz="1019" b="0" i="0">
                <a:solidFill>
                  <a:srgbClr val="516577"/>
                </a:solidFill>
                <a:latin typeface="Arial"/>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p:txBody>
      </p:sp>
      <p:sp>
        <p:nvSpPr>
          <p:cNvPr id="32" name="Rounded Rectangle 31"/>
          <p:cNvSpPr/>
          <p:nvPr/>
        </p:nvSpPr>
        <p:spPr>
          <a:xfrm>
            <a:off x="2770632" y="4645152"/>
            <a:ext cx="8915400" cy="164592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70632" y="4645152"/>
            <a:ext cx="603504" cy="1645920"/>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70632" y="4645152"/>
            <a:ext cx="603504" cy="1645920"/>
          </a:xfrm>
          <a:prstGeom prst="rect">
            <a:avLst/>
          </a:prstGeom>
          <a:noFill/>
        </p:spPr>
        <p:txBody>
          <a:bodyPr wrap="square" lIns="0" rIns="0" tIns="0" bIns="0" anchor="ctr">
            <a:noAutofit/>
          </a:bodyPr>
          <a:lstStyle/>
          <a:p>
            <a:pPr algn="ctr">
              <a:lnSpc>
                <a:spcPct val="100000"/>
              </a:lnSpc>
              <a:spcAft>
                <a:spcPts val="0"/>
              </a:spcAft>
            </a:pPr>
            <a:r>
              <a:rPr sz="1000" b="1" i="0">
                <a:solidFill>
                  <a:srgbClr val="FFFFFF"/>
                </a:solidFill>
                <a:latin typeface="Arial"/>
              </a:rPr>
              <a:t>03</a:t>
            </a:r>
          </a:p>
        </p:txBody>
      </p:sp>
      <p:sp>
        <p:nvSpPr>
          <p:cNvPr id="35" name="TextBox 34"/>
          <p:cNvSpPr txBox="1"/>
          <p:nvPr/>
        </p:nvSpPr>
        <p:spPr>
          <a:xfrm>
            <a:off x="3611880" y="4828032"/>
            <a:ext cx="3291840" cy="228600"/>
          </a:xfrm>
          <a:prstGeom prst="rect">
            <a:avLst/>
          </a:prstGeom>
          <a:noFill/>
        </p:spPr>
        <p:txBody>
          <a:bodyPr wrap="square" lIns="0" rIns="0" tIns="0" bIns="0" anchor="t">
            <a:noAutofit/>
          </a:bodyPr>
          <a:lstStyle/>
          <a:p>
            <a:pPr algn="l">
              <a:lnSpc>
                <a:spcPct val="100000"/>
              </a:lnSpc>
              <a:spcAft>
                <a:spcPts val="0"/>
              </a:spcAft>
            </a:pPr>
            <a:r>
              <a:rPr sz="900" b="1" i="0">
                <a:solidFill>
                  <a:srgbClr val="007F72"/>
                </a:solidFill>
                <a:latin typeface="Arial"/>
              </a:rPr>
              <a:t>THIRD-PARTY DATA</a:t>
            </a:r>
          </a:p>
        </p:txBody>
      </p:sp>
      <p:sp>
        <p:nvSpPr>
          <p:cNvPr id="36" name="TextBox 35"/>
          <p:cNvSpPr txBox="1"/>
          <p:nvPr/>
        </p:nvSpPr>
        <p:spPr>
          <a:xfrm>
            <a:off x="3611880" y="5138928"/>
            <a:ext cx="7754112" cy="1024128"/>
          </a:xfrm>
          <a:prstGeom prst="rect">
            <a:avLst/>
          </a:prstGeom>
          <a:noFill/>
        </p:spPr>
        <p:txBody>
          <a:bodyPr wrap="square" lIns="0" rIns="0" tIns="0" bIns="0" anchor="t">
            <a:noAutofit/>
          </a:bodyPr>
          <a:lstStyle/>
          <a:p>
            <a:pPr algn="l">
              <a:lnSpc>
                <a:spcPct val="100000"/>
              </a:lnSpc>
              <a:spcAft>
                <a:spcPts val="0"/>
              </a:spcAft>
            </a:pPr>
            <a:r>
              <a:rPr sz="1019" b="0" i="0">
                <a:solidFill>
                  <a:srgbClr val="516577"/>
                </a:solidFill>
                <a:latin typeface="Arial"/>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EXECUTIVE SUMMARY</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Translating Proven Orbital Science Into a Commercial Tissue Platform</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03</a:t>
            </a:r>
          </a:p>
        </p:txBody>
      </p:sp>
      <p:sp>
        <p:nvSpPr>
          <p:cNvPr id="15" name="Rounded Rectangle 14"/>
          <p:cNvSpPr/>
          <p:nvPr/>
        </p:nvSpPr>
        <p:spPr>
          <a:xfrm>
            <a:off x="502920" y="1307592"/>
            <a:ext cx="2606040" cy="129844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307592"/>
            <a:ext cx="64008" cy="12984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463039"/>
            <a:ext cx="219456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103,223</a:t>
            </a:r>
          </a:p>
        </p:txBody>
      </p:sp>
      <p:sp>
        <p:nvSpPr>
          <p:cNvPr id="18" name="TextBox 17"/>
          <p:cNvSpPr txBox="1"/>
          <p:nvPr/>
        </p:nvSpPr>
        <p:spPr>
          <a:xfrm>
            <a:off x="731520" y="1865376"/>
            <a:ext cx="219456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U.S. transplant waitlist</a:t>
            </a:r>
          </a:p>
        </p:txBody>
      </p:sp>
      <p:sp>
        <p:nvSpPr>
          <p:cNvPr id="19" name="TextBox 18"/>
          <p:cNvSpPr txBox="1"/>
          <p:nvPr/>
        </p:nvSpPr>
        <p:spPr>
          <a:xfrm>
            <a:off x="731520" y="2148840"/>
            <a:ext cx="2194560" cy="36575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People waiting today (OPTN, 2025)</a:t>
            </a:r>
          </a:p>
        </p:txBody>
      </p:sp>
      <p:sp>
        <p:nvSpPr>
          <p:cNvPr id="20" name="Rounded Rectangle 19"/>
          <p:cNvSpPr/>
          <p:nvPr/>
        </p:nvSpPr>
        <p:spPr>
          <a:xfrm>
            <a:off x="3319272" y="1307592"/>
            <a:ext cx="2606040" cy="129844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319272" y="1307592"/>
            <a:ext cx="64008" cy="129844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7872" y="1463039"/>
            <a:ext cx="219456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13 / day</a:t>
            </a:r>
          </a:p>
        </p:txBody>
      </p:sp>
      <p:sp>
        <p:nvSpPr>
          <p:cNvPr id="23" name="TextBox 22"/>
          <p:cNvSpPr txBox="1"/>
          <p:nvPr/>
        </p:nvSpPr>
        <p:spPr>
          <a:xfrm>
            <a:off x="3547872" y="1865376"/>
            <a:ext cx="219456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Americans die waiting</a:t>
            </a:r>
          </a:p>
        </p:txBody>
      </p:sp>
      <p:sp>
        <p:nvSpPr>
          <p:cNvPr id="24" name="TextBox 23"/>
          <p:cNvSpPr txBox="1"/>
          <p:nvPr/>
        </p:nvSpPr>
        <p:spPr>
          <a:xfrm>
            <a:off x="3547872" y="2148840"/>
            <a:ext cx="2194560" cy="36575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A donor organ never arrives</a:t>
            </a:r>
          </a:p>
        </p:txBody>
      </p:sp>
      <p:sp>
        <p:nvSpPr>
          <p:cNvPr id="25" name="Rounded Rectangle 24"/>
          <p:cNvSpPr/>
          <p:nvPr/>
        </p:nvSpPr>
        <p:spPr>
          <a:xfrm>
            <a:off x="6135624" y="1307592"/>
            <a:ext cx="2606040" cy="129844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35624" y="1307592"/>
            <a:ext cx="64008" cy="12984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4224" y="1463039"/>
            <a:ext cx="219456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$1.7B → $3.5B+</a:t>
            </a:r>
          </a:p>
        </p:txBody>
      </p:sp>
      <p:sp>
        <p:nvSpPr>
          <p:cNvPr id="28" name="TextBox 27"/>
          <p:cNvSpPr txBox="1"/>
          <p:nvPr/>
        </p:nvSpPr>
        <p:spPr>
          <a:xfrm>
            <a:off x="6364224" y="1865376"/>
            <a:ext cx="219456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Global bioprinting market</a:t>
            </a:r>
          </a:p>
        </p:txBody>
      </p:sp>
      <p:sp>
        <p:nvSpPr>
          <p:cNvPr id="29" name="TextBox 28"/>
          <p:cNvSpPr txBox="1"/>
          <p:nvPr/>
        </p:nvSpPr>
        <p:spPr>
          <a:xfrm>
            <a:off x="6364224" y="2148840"/>
            <a:ext cx="2194560" cy="36575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2025 to 2030 (~16% CAGR)</a:t>
            </a:r>
          </a:p>
        </p:txBody>
      </p:sp>
      <p:sp>
        <p:nvSpPr>
          <p:cNvPr id="30" name="Rounded Rectangle 29"/>
          <p:cNvSpPr/>
          <p:nvPr/>
        </p:nvSpPr>
        <p:spPr>
          <a:xfrm>
            <a:off x="8951976" y="1307592"/>
            <a:ext cx="2606040" cy="129844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51976" y="1307592"/>
            <a:ext cx="64008" cy="129844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80576" y="1463039"/>
            <a:ext cx="219456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8 years</a:t>
            </a:r>
          </a:p>
        </p:txBody>
      </p:sp>
      <p:sp>
        <p:nvSpPr>
          <p:cNvPr id="33" name="TextBox 32"/>
          <p:cNvSpPr txBox="1"/>
          <p:nvPr/>
        </p:nvSpPr>
        <p:spPr>
          <a:xfrm>
            <a:off x="9180576" y="1865376"/>
            <a:ext cx="219456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In-orbit validation</a:t>
            </a:r>
          </a:p>
        </p:txBody>
      </p:sp>
      <p:sp>
        <p:nvSpPr>
          <p:cNvPr id="34" name="TextBox 33"/>
          <p:cNvSpPr txBox="1"/>
          <p:nvPr/>
        </p:nvSpPr>
        <p:spPr>
          <a:xfrm>
            <a:off x="9180576" y="2148840"/>
            <a:ext cx="2194560" cy="36575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Continuous evidence since 2018</a:t>
            </a:r>
          </a:p>
        </p:txBody>
      </p:sp>
      <p:sp>
        <p:nvSpPr>
          <p:cNvPr id="35" name="Rounded Rectangle 34"/>
          <p:cNvSpPr/>
          <p:nvPr/>
        </p:nvSpPr>
        <p:spPr>
          <a:xfrm>
            <a:off x="502920" y="2816352"/>
            <a:ext cx="2606040" cy="347472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2816352"/>
            <a:ext cx="2606040" cy="6400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 y="3090672"/>
            <a:ext cx="384048" cy="219456"/>
          </a:xfrm>
          <a:prstGeom prst="rect">
            <a:avLst/>
          </a:prstGeom>
          <a:noFill/>
        </p:spPr>
        <p:txBody>
          <a:bodyPr wrap="square" lIns="0" rIns="0" tIns="0" bIns="0" anchor="t">
            <a:noAutofit/>
          </a:bodyPr>
          <a:lstStyle/>
          <a:p>
            <a:pPr algn="l">
              <a:lnSpc>
                <a:spcPct val="100000"/>
              </a:lnSpc>
              <a:spcAft>
                <a:spcPts val="0"/>
              </a:spcAft>
            </a:pPr>
            <a:r>
              <a:rPr sz="800" b="1" i="0">
                <a:solidFill>
                  <a:srgbClr val="007F72"/>
                </a:solidFill>
                <a:latin typeface="Arial"/>
              </a:rPr>
              <a:t>01</a:t>
            </a:r>
          </a:p>
        </p:txBody>
      </p:sp>
      <p:sp>
        <p:nvSpPr>
          <p:cNvPr id="38" name="TextBox 37"/>
          <p:cNvSpPr txBox="1"/>
          <p:nvPr/>
        </p:nvSpPr>
        <p:spPr>
          <a:xfrm>
            <a:off x="704088" y="3419856"/>
            <a:ext cx="2148840" cy="384048"/>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The Problem</a:t>
            </a:r>
          </a:p>
        </p:txBody>
      </p:sp>
      <p:sp>
        <p:nvSpPr>
          <p:cNvPr id="39" name="TextBox 38"/>
          <p:cNvSpPr txBox="1"/>
          <p:nvPr/>
        </p:nvSpPr>
        <p:spPr>
          <a:xfrm>
            <a:off x="704088" y="3977639"/>
            <a:ext cx="2176272" cy="1874519"/>
          </a:xfrm>
          <a:prstGeom prst="rect">
            <a:avLst/>
          </a:prstGeom>
          <a:noFill/>
        </p:spPr>
        <p:txBody>
          <a:bodyPr wrap="square" lIns="0" rIns="0" tIns="0" bIns="0" anchor="t">
            <a:noAutofit/>
          </a:bodyPr>
          <a:lstStyle/>
          <a:p>
            <a:pPr algn="l">
              <a:lnSpc>
                <a:spcPct val="100000"/>
              </a:lnSpc>
              <a:spcAft>
                <a:spcPts val="0"/>
              </a:spcAft>
            </a:pPr>
            <a:r>
              <a:rPr sz="1010" b="0" i="0">
                <a:solidFill>
                  <a:srgbClr val="516577"/>
                </a:solidFill>
                <a:latin typeface="Arial"/>
              </a:rPr>
              <a:t>Organ and tissue shortages persist globally. Earth-based bioprinting hits a physical ceiling: gravity causes tissues to collapse without a temporary scaffold, limiting achievable geometry.</a:t>
            </a:r>
          </a:p>
        </p:txBody>
      </p:sp>
      <p:sp>
        <p:nvSpPr>
          <p:cNvPr id="40" name="Oval 39"/>
          <p:cNvSpPr/>
          <p:nvPr/>
        </p:nvSpPr>
        <p:spPr>
          <a:xfrm>
            <a:off x="2606039" y="5797296"/>
            <a:ext cx="228600" cy="228600"/>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319272" y="2816352"/>
            <a:ext cx="2606040" cy="347472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319272" y="2816352"/>
            <a:ext cx="2606040" cy="6400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20440" y="3090672"/>
            <a:ext cx="384048" cy="219456"/>
          </a:xfrm>
          <a:prstGeom prst="rect">
            <a:avLst/>
          </a:prstGeom>
          <a:noFill/>
        </p:spPr>
        <p:txBody>
          <a:bodyPr wrap="square" lIns="0" rIns="0" tIns="0" bIns="0" anchor="t">
            <a:noAutofit/>
          </a:bodyPr>
          <a:lstStyle/>
          <a:p>
            <a:pPr algn="l">
              <a:lnSpc>
                <a:spcPct val="100000"/>
              </a:lnSpc>
              <a:spcAft>
                <a:spcPts val="0"/>
              </a:spcAft>
            </a:pPr>
            <a:r>
              <a:rPr sz="800" b="1" i="0">
                <a:solidFill>
                  <a:srgbClr val="007F72"/>
                </a:solidFill>
                <a:latin typeface="Arial"/>
              </a:rPr>
              <a:t>02</a:t>
            </a:r>
          </a:p>
        </p:txBody>
      </p:sp>
      <p:sp>
        <p:nvSpPr>
          <p:cNvPr id="44" name="TextBox 43"/>
          <p:cNvSpPr txBox="1"/>
          <p:nvPr/>
        </p:nvSpPr>
        <p:spPr>
          <a:xfrm>
            <a:off x="3520440" y="3419856"/>
            <a:ext cx="2148840" cy="384048"/>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The Unlock</a:t>
            </a:r>
          </a:p>
        </p:txBody>
      </p:sp>
      <p:sp>
        <p:nvSpPr>
          <p:cNvPr id="45" name="TextBox 44"/>
          <p:cNvSpPr txBox="1"/>
          <p:nvPr/>
        </p:nvSpPr>
        <p:spPr>
          <a:xfrm>
            <a:off x="3520440" y="3977639"/>
            <a:ext cx="2176272" cy="1874519"/>
          </a:xfrm>
          <a:prstGeom prst="rect">
            <a:avLst/>
          </a:prstGeom>
          <a:noFill/>
        </p:spPr>
        <p:txBody>
          <a:bodyPr wrap="square" lIns="0" rIns="0" tIns="0" bIns="0" anchor="t">
            <a:noAutofit/>
          </a:bodyPr>
          <a:lstStyle/>
          <a:p>
            <a:pPr algn="l">
              <a:lnSpc>
                <a:spcPct val="100000"/>
              </a:lnSpc>
              <a:spcAft>
                <a:spcPts val="0"/>
              </a:spcAft>
            </a:pPr>
            <a:r>
              <a:rPr sz="1010" b="0" i="0">
                <a:solidFill>
                  <a:srgbClr val="516577"/>
                </a:solidFill>
                <a:latin typeface="Arial"/>
              </a:rPr>
              <a:t>Microgravity eliminates scaffold dependency. NASA, Redwire, ESA, LambdaVision and ROSCOSMOS have validated the science aboard the ISS continuously since 2018.</a:t>
            </a:r>
          </a:p>
        </p:txBody>
      </p:sp>
      <p:sp>
        <p:nvSpPr>
          <p:cNvPr id="46" name="Oval 45"/>
          <p:cNvSpPr/>
          <p:nvPr/>
        </p:nvSpPr>
        <p:spPr>
          <a:xfrm>
            <a:off x="5422392" y="5797296"/>
            <a:ext cx="228600" cy="228600"/>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135624" y="2816352"/>
            <a:ext cx="2606040" cy="347472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35624" y="2816352"/>
            <a:ext cx="2606040" cy="6400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36792" y="3090672"/>
            <a:ext cx="384048" cy="219456"/>
          </a:xfrm>
          <a:prstGeom prst="rect">
            <a:avLst/>
          </a:prstGeom>
          <a:noFill/>
        </p:spPr>
        <p:txBody>
          <a:bodyPr wrap="square" lIns="0" rIns="0" tIns="0" bIns="0" anchor="t">
            <a:noAutofit/>
          </a:bodyPr>
          <a:lstStyle/>
          <a:p>
            <a:pPr algn="l">
              <a:lnSpc>
                <a:spcPct val="100000"/>
              </a:lnSpc>
              <a:spcAft>
                <a:spcPts val="0"/>
              </a:spcAft>
            </a:pPr>
            <a:r>
              <a:rPr sz="800" b="1" i="0">
                <a:solidFill>
                  <a:srgbClr val="007F72"/>
                </a:solidFill>
                <a:latin typeface="Arial"/>
              </a:rPr>
              <a:t>03</a:t>
            </a:r>
          </a:p>
        </p:txBody>
      </p:sp>
      <p:sp>
        <p:nvSpPr>
          <p:cNvPr id="50" name="TextBox 49"/>
          <p:cNvSpPr txBox="1"/>
          <p:nvPr/>
        </p:nvSpPr>
        <p:spPr>
          <a:xfrm>
            <a:off x="6336792" y="3419856"/>
            <a:ext cx="2148840" cy="384048"/>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The Market</a:t>
            </a:r>
          </a:p>
        </p:txBody>
      </p:sp>
      <p:sp>
        <p:nvSpPr>
          <p:cNvPr id="51" name="TextBox 50"/>
          <p:cNvSpPr txBox="1"/>
          <p:nvPr/>
        </p:nvSpPr>
        <p:spPr>
          <a:xfrm>
            <a:off x="6336792" y="3977639"/>
            <a:ext cx="2176272" cy="1874519"/>
          </a:xfrm>
          <a:prstGeom prst="rect">
            <a:avLst/>
          </a:prstGeom>
          <a:noFill/>
        </p:spPr>
        <p:txBody>
          <a:bodyPr wrap="square" lIns="0" rIns="0" tIns="0" bIns="0" anchor="t">
            <a:noAutofit/>
          </a:bodyPr>
          <a:lstStyle/>
          <a:p>
            <a:pPr algn="l">
              <a:lnSpc>
                <a:spcPct val="100000"/>
              </a:lnSpc>
              <a:spcAft>
                <a:spcPts val="0"/>
              </a:spcAft>
            </a:pPr>
            <a:r>
              <a:rPr sz="1010" b="0" i="0">
                <a:solidFill>
                  <a:srgbClr val="516577"/>
                </a:solidFill>
                <a:latin typeface="Arial"/>
              </a:rPr>
              <a:t>A $1.7B market growing at ~16% CAGR, the first FDA-cleared tissue-engineered vascular graft (Symvess, Dec 2024), and four commercial stations entering service from 2026.</a:t>
            </a:r>
          </a:p>
        </p:txBody>
      </p:sp>
      <p:sp>
        <p:nvSpPr>
          <p:cNvPr id="52" name="Oval 51"/>
          <p:cNvSpPr/>
          <p:nvPr/>
        </p:nvSpPr>
        <p:spPr>
          <a:xfrm>
            <a:off x="8238744" y="5797296"/>
            <a:ext cx="228600" cy="228600"/>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951976" y="2816352"/>
            <a:ext cx="2606040" cy="347472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51976" y="2816352"/>
            <a:ext cx="2606040" cy="6400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153144" y="3090672"/>
            <a:ext cx="384048" cy="219456"/>
          </a:xfrm>
          <a:prstGeom prst="rect">
            <a:avLst/>
          </a:prstGeom>
          <a:noFill/>
        </p:spPr>
        <p:txBody>
          <a:bodyPr wrap="square" lIns="0" rIns="0" tIns="0" bIns="0" anchor="t">
            <a:noAutofit/>
          </a:bodyPr>
          <a:lstStyle/>
          <a:p>
            <a:pPr algn="l">
              <a:lnSpc>
                <a:spcPct val="100000"/>
              </a:lnSpc>
              <a:spcAft>
                <a:spcPts val="0"/>
              </a:spcAft>
            </a:pPr>
            <a:r>
              <a:rPr sz="800" b="1" i="0">
                <a:solidFill>
                  <a:srgbClr val="007F72"/>
                </a:solidFill>
                <a:latin typeface="Arial"/>
              </a:rPr>
              <a:t>04</a:t>
            </a:r>
          </a:p>
        </p:txBody>
      </p:sp>
      <p:sp>
        <p:nvSpPr>
          <p:cNvPr id="56" name="TextBox 55"/>
          <p:cNvSpPr txBox="1"/>
          <p:nvPr/>
        </p:nvSpPr>
        <p:spPr>
          <a:xfrm>
            <a:off x="9153144" y="3419856"/>
            <a:ext cx="2148840" cy="384048"/>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The Ask</a:t>
            </a:r>
          </a:p>
        </p:txBody>
      </p:sp>
      <p:sp>
        <p:nvSpPr>
          <p:cNvPr id="57" name="TextBox 56"/>
          <p:cNvSpPr txBox="1"/>
          <p:nvPr/>
        </p:nvSpPr>
        <p:spPr>
          <a:xfrm>
            <a:off x="9153144" y="3977639"/>
            <a:ext cx="2176272" cy="1874519"/>
          </a:xfrm>
          <a:prstGeom prst="rect">
            <a:avLst/>
          </a:prstGeom>
          <a:noFill/>
        </p:spPr>
        <p:txBody>
          <a:bodyPr wrap="square" lIns="0" rIns="0" tIns="0" bIns="0" anchor="t">
            <a:noAutofit/>
          </a:bodyPr>
          <a:lstStyle/>
          <a:p>
            <a:pPr algn="l">
              <a:lnSpc>
                <a:spcPct val="100000"/>
              </a:lnSpc>
              <a:spcAft>
                <a:spcPts val="0"/>
              </a:spcAft>
            </a:pPr>
            <a:r>
              <a:rPr sz="1010" b="0" i="0">
                <a:solidFill>
                  <a:srgbClr val="516577"/>
                </a:solidFill>
                <a:latin typeface="Arial"/>
              </a:rPr>
              <a:t>An $18M Series A to build Samuel’s first flight-qualified payload platform, commercialise wound-care and orthopedic verticals, and file NASA InSPA Phase 1 grants.</a:t>
            </a:r>
          </a:p>
        </p:txBody>
      </p:sp>
      <p:sp>
        <p:nvSpPr>
          <p:cNvPr id="58" name="Oval 57"/>
          <p:cNvSpPr/>
          <p:nvPr/>
        </p:nvSpPr>
        <p:spPr>
          <a:xfrm>
            <a:off x="11055096" y="5797296"/>
            <a:ext cx="228600" cy="228600"/>
          </a:xfrm>
          <a:prstGeom prst="ellipse">
            <a:avLst/>
          </a:prstGeom>
          <a:solidFill>
            <a:srgbClr val="F8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THE PROBLEM</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A Global Organ &amp; Tissue Crisis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04</a:t>
            </a:r>
          </a:p>
        </p:txBody>
      </p:sp>
      <p:sp>
        <p:nvSpPr>
          <p:cNvPr id="15" name="Rounded Rectangle 14"/>
          <p:cNvSpPr/>
          <p:nvPr/>
        </p:nvSpPr>
        <p:spPr>
          <a:xfrm>
            <a:off x="502920" y="1307592"/>
            <a:ext cx="6492240" cy="418795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1554480"/>
            <a:ext cx="5303520" cy="219456"/>
          </a:xfrm>
          <a:prstGeom prst="rect">
            <a:avLst/>
          </a:prstGeom>
          <a:noFill/>
        </p:spPr>
        <p:txBody>
          <a:bodyPr wrap="square" lIns="0" rIns="0" tIns="0" bIns="0" anchor="t">
            <a:noAutofit/>
          </a:bodyPr>
          <a:lstStyle/>
          <a:p>
            <a:pPr algn="l">
              <a:lnSpc>
                <a:spcPct val="100000"/>
              </a:lnSpc>
              <a:spcAft>
                <a:spcPts val="0"/>
              </a:spcAft>
            </a:pPr>
            <a:r>
              <a:rPr sz="850" b="1" i="0">
                <a:solidFill>
                  <a:srgbClr val="0B2035"/>
                </a:solidFill>
                <a:latin typeface="Arial"/>
              </a:rPr>
              <a:t>U.S. TRANSPLANT WAITING LIST BY ORGAN  /  2025</a:t>
            </a:r>
          </a:p>
        </p:txBody>
      </p:sp>
      <p:cxnSp>
        <p:nvCxnSpPr>
          <p:cNvPr id="17" name="Connector 16"/>
          <p:cNvCxnSpPr/>
          <p:nvPr/>
        </p:nvCxnSpPr>
        <p:spPr>
          <a:xfrm>
            <a:off x="1417320" y="1965960"/>
            <a:ext cx="0" cy="2697480"/>
          </a:xfrm>
          <a:prstGeom prst="line">
            <a:avLst/>
          </a:prstGeom>
          <a:ln w="7620">
            <a:solidFill>
              <a:srgbClr val="E6EDF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1016" y="4718303"/>
            <a:ext cx="292608" cy="164592"/>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0</a:t>
            </a:r>
          </a:p>
        </p:txBody>
      </p:sp>
      <p:cxnSp>
        <p:nvCxnSpPr>
          <p:cNvPr id="19" name="Connector 18"/>
          <p:cNvCxnSpPr/>
          <p:nvPr/>
        </p:nvCxnSpPr>
        <p:spPr>
          <a:xfrm>
            <a:off x="2432304" y="1965960"/>
            <a:ext cx="0" cy="2697480"/>
          </a:xfrm>
          <a:prstGeom prst="line">
            <a:avLst/>
          </a:prstGeom>
          <a:ln w="7620">
            <a:solidFill>
              <a:srgbClr val="E6EDF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286000" y="4718303"/>
            <a:ext cx="292608" cy="164592"/>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a:t>
            </a:r>
          </a:p>
        </p:txBody>
      </p:sp>
      <p:cxnSp>
        <p:nvCxnSpPr>
          <p:cNvPr id="21" name="Connector 20"/>
          <p:cNvCxnSpPr/>
          <p:nvPr/>
        </p:nvCxnSpPr>
        <p:spPr>
          <a:xfrm>
            <a:off x="3447288" y="1965960"/>
            <a:ext cx="0" cy="2697480"/>
          </a:xfrm>
          <a:prstGeom prst="line">
            <a:avLst/>
          </a:prstGeom>
          <a:ln w="7620">
            <a:solidFill>
              <a:srgbClr val="E6EDF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300984" y="4718303"/>
            <a:ext cx="292608" cy="164592"/>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40</a:t>
            </a:r>
          </a:p>
        </p:txBody>
      </p:sp>
      <p:cxnSp>
        <p:nvCxnSpPr>
          <p:cNvPr id="23" name="Connector 22"/>
          <p:cNvCxnSpPr/>
          <p:nvPr/>
        </p:nvCxnSpPr>
        <p:spPr>
          <a:xfrm>
            <a:off x="4462272" y="1965960"/>
            <a:ext cx="0" cy="2697480"/>
          </a:xfrm>
          <a:prstGeom prst="line">
            <a:avLst/>
          </a:prstGeom>
          <a:ln w="7620">
            <a:solidFill>
              <a:srgbClr val="E6EDF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15968" y="4718303"/>
            <a:ext cx="292608" cy="164592"/>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60</a:t>
            </a:r>
          </a:p>
        </p:txBody>
      </p:sp>
      <p:cxnSp>
        <p:nvCxnSpPr>
          <p:cNvPr id="25" name="Connector 24"/>
          <p:cNvCxnSpPr/>
          <p:nvPr/>
        </p:nvCxnSpPr>
        <p:spPr>
          <a:xfrm>
            <a:off x="5477256" y="1965960"/>
            <a:ext cx="0" cy="2697480"/>
          </a:xfrm>
          <a:prstGeom prst="line">
            <a:avLst/>
          </a:prstGeom>
          <a:ln w="7620">
            <a:solidFill>
              <a:srgbClr val="E6EDF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330952" y="4718303"/>
            <a:ext cx="292608" cy="164592"/>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80</a:t>
            </a:r>
          </a:p>
        </p:txBody>
      </p:sp>
      <p:cxnSp>
        <p:nvCxnSpPr>
          <p:cNvPr id="27" name="Connector 26"/>
          <p:cNvCxnSpPr/>
          <p:nvPr/>
        </p:nvCxnSpPr>
        <p:spPr>
          <a:xfrm>
            <a:off x="6492240" y="1965960"/>
            <a:ext cx="0" cy="2697480"/>
          </a:xfrm>
          <a:prstGeom prst="line">
            <a:avLst/>
          </a:prstGeom>
          <a:ln w="7620">
            <a:solidFill>
              <a:srgbClr val="E6EDF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45936" y="4718303"/>
            <a:ext cx="292608" cy="164592"/>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100</a:t>
            </a:r>
          </a:p>
        </p:txBody>
      </p:sp>
      <p:sp>
        <p:nvSpPr>
          <p:cNvPr id="29" name="TextBox 28"/>
          <p:cNvSpPr txBox="1"/>
          <p:nvPr/>
        </p:nvSpPr>
        <p:spPr>
          <a:xfrm>
            <a:off x="749808" y="2075688"/>
            <a:ext cx="594360" cy="182880"/>
          </a:xfrm>
          <a:prstGeom prst="rect">
            <a:avLst/>
          </a:prstGeom>
          <a:noFill/>
        </p:spPr>
        <p:txBody>
          <a:bodyPr wrap="square" lIns="0" rIns="0" tIns="0" bIns="0" anchor="t">
            <a:noAutofit/>
          </a:bodyPr>
          <a:lstStyle/>
          <a:p>
            <a:pPr algn="r">
              <a:lnSpc>
                <a:spcPct val="100000"/>
              </a:lnSpc>
              <a:spcAft>
                <a:spcPts val="0"/>
              </a:spcAft>
            </a:pPr>
            <a:r>
              <a:rPr sz="819" b="1" i="0">
                <a:solidFill>
                  <a:srgbClr val="516577"/>
                </a:solidFill>
                <a:latin typeface="Arial"/>
              </a:rPr>
              <a:t>Kidney</a:t>
            </a:r>
          </a:p>
        </p:txBody>
      </p:sp>
      <p:sp>
        <p:nvSpPr>
          <p:cNvPr id="30" name="Rounded Rectangle 29"/>
          <p:cNvSpPr/>
          <p:nvPr/>
        </p:nvSpPr>
        <p:spPr>
          <a:xfrm>
            <a:off x="1417320" y="2084831"/>
            <a:ext cx="4415180" cy="173736"/>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23940" y="2066544"/>
            <a:ext cx="457200" cy="201168"/>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87%</a:t>
            </a:r>
          </a:p>
        </p:txBody>
      </p:sp>
      <p:sp>
        <p:nvSpPr>
          <p:cNvPr id="32" name="TextBox 31"/>
          <p:cNvSpPr txBox="1"/>
          <p:nvPr/>
        </p:nvSpPr>
        <p:spPr>
          <a:xfrm>
            <a:off x="749808" y="2525268"/>
            <a:ext cx="594360" cy="182880"/>
          </a:xfrm>
          <a:prstGeom prst="rect">
            <a:avLst/>
          </a:prstGeom>
          <a:noFill/>
        </p:spPr>
        <p:txBody>
          <a:bodyPr wrap="square" lIns="0" rIns="0" tIns="0" bIns="0" anchor="t">
            <a:noAutofit/>
          </a:bodyPr>
          <a:lstStyle/>
          <a:p>
            <a:pPr algn="r">
              <a:lnSpc>
                <a:spcPct val="100000"/>
              </a:lnSpc>
              <a:spcAft>
                <a:spcPts val="0"/>
              </a:spcAft>
            </a:pPr>
            <a:r>
              <a:rPr sz="819" b="0" i="0">
                <a:solidFill>
                  <a:srgbClr val="516577"/>
                </a:solidFill>
                <a:latin typeface="Arial"/>
              </a:rPr>
              <a:t>Liver</a:t>
            </a:r>
          </a:p>
        </p:txBody>
      </p:sp>
      <p:sp>
        <p:nvSpPr>
          <p:cNvPr id="33" name="Rounded Rectangle 32"/>
          <p:cNvSpPr/>
          <p:nvPr/>
        </p:nvSpPr>
        <p:spPr>
          <a:xfrm>
            <a:off x="1417320" y="2534412"/>
            <a:ext cx="456742" cy="173736"/>
          </a:xfrm>
          <a:prstGeom prst="roundRect">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65502" y="2516124"/>
            <a:ext cx="457200" cy="201168"/>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9%</a:t>
            </a:r>
          </a:p>
        </p:txBody>
      </p:sp>
      <p:sp>
        <p:nvSpPr>
          <p:cNvPr id="35" name="TextBox 34"/>
          <p:cNvSpPr txBox="1"/>
          <p:nvPr/>
        </p:nvSpPr>
        <p:spPr>
          <a:xfrm>
            <a:off x="749808" y="2974848"/>
            <a:ext cx="594360" cy="182880"/>
          </a:xfrm>
          <a:prstGeom prst="rect">
            <a:avLst/>
          </a:prstGeom>
          <a:noFill/>
        </p:spPr>
        <p:txBody>
          <a:bodyPr wrap="square" lIns="0" rIns="0" tIns="0" bIns="0" anchor="t">
            <a:noAutofit/>
          </a:bodyPr>
          <a:lstStyle/>
          <a:p>
            <a:pPr algn="r">
              <a:lnSpc>
                <a:spcPct val="100000"/>
              </a:lnSpc>
              <a:spcAft>
                <a:spcPts val="0"/>
              </a:spcAft>
            </a:pPr>
            <a:r>
              <a:rPr sz="819" b="0" i="0">
                <a:solidFill>
                  <a:srgbClr val="516577"/>
                </a:solidFill>
                <a:latin typeface="Arial"/>
              </a:rPr>
              <a:t>Heart</a:t>
            </a:r>
          </a:p>
        </p:txBody>
      </p:sp>
      <p:sp>
        <p:nvSpPr>
          <p:cNvPr id="36" name="Rounded Rectangle 35"/>
          <p:cNvSpPr/>
          <p:nvPr/>
        </p:nvSpPr>
        <p:spPr>
          <a:xfrm>
            <a:off x="1417320" y="2983992"/>
            <a:ext cx="101498" cy="173736"/>
          </a:xfrm>
          <a:prstGeom prst="roundRect">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10258" y="2965704"/>
            <a:ext cx="457200" cy="201168"/>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2%</a:t>
            </a:r>
          </a:p>
        </p:txBody>
      </p:sp>
      <p:sp>
        <p:nvSpPr>
          <p:cNvPr id="38" name="TextBox 37"/>
          <p:cNvSpPr txBox="1"/>
          <p:nvPr/>
        </p:nvSpPr>
        <p:spPr>
          <a:xfrm>
            <a:off x="749808" y="3424428"/>
            <a:ext cx="594360" cy="182880"/>
          </a:xfrm>
          <a:prstGeom prst="rect">
            <a:avLst/>
          </a:prstGeom>
          <a:noFill/>
        </p:spPr>
        <p:txBody>
          <a:bodyPr wrap="square" lIns="0" rIns="0" tIns="0" bIns="0" anchor="t">
            <a:noAutofit/>
          </a:bodyPr>
          <a:lstStyle/>
          <a:p>
            <a:pPr algn="r">
              <a:lnSpc>
                <a:spcPct val="100000"/>
              </a:lnSpc>
              <a:spcAft>
                <a:spcPts val="0"/>
              </a:spcAft>
            </a:pPr>
            <a:r>
              <a:rPr sz="819" b="0" i="0">
                <a:solidFill>
                  <a:srgbClr val="516577"/>
                </a:solidFill>
                <a:latin typeface="Arial"/>
              </a:rPr>
              <a:t>Lung</a:t>
            </a:r>
          </a:p>
        </p:txBody>
      </p:sp>
      <p:sp>
        <p:nvSpPr>
          <p:cNvPr id="39" name="Rounded Rectangle 38"/>
          <p:cNvSpPr/>
          <p:nvPr/>
        </p:nvSpPr>
        <p:spPr>
          <a:xfrm>
            <a:off x="1417320" y="3433572"/>
            <a:ext cx="50749" cy="173736"/>
          </a:xfrm>
          <a:prstGeom prst="roundRect">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59509" y="3415284"/>
            <a:ext cx="457200" cy="201168"/>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1%</a:t>
            </a:r>
          </a:p>
        </p:txBody>
      </p:sp>
      <p:sp>
        <p:nvSpPr>
          <p:cNvPr id="41" name="TextBox 40"/>
          <p:cNvSpPr txBox="1"/>
          <p:nvPr/>
        </p:nvSpPr>
        <p:spPr>
          <a:xfrm>
            <a:off x="749808" y="3874008"/>
            <a:ext cx="594360" cy="182880"/>
          </a:xfrm>
          <a:prstGeom prst="rect">
            <a:avLst/>
          </a:prstGeom>
          <a:noFill/>
        </p:spPr>
        <p:txBody>
          <a:bodyPr wrap="square" lIns="0" rIns="0" tIns="0" bIns="0" anchor="t">
            <a:noAutofit/>
          </a:bodyPr>
          <a:lstStyle/>
          <a:p>
            <a:pPr algn="r">
              <a:lnSpc>
                <a:spcPct val="100000"/>
              </a:lnSpc>
              <a:spcAft>
                <a:spcPts val="0"/>
              </a:spcAft>
            </a:pPr>
            <a:r>
              <a:rPr sz="819" b="0" i="0">
                <a:solidFill>
                  <a:srgbClr val="516577"/>
                </a:solidFill>
                <a:latin typeface="Arial"/>
              </a:rPr>
              <a:t>Pancreas</a:t>
            </a:r>
          </a:p>
        </p:txBody>
      </p:sp>
      <p:sp>
        <p:nvSpPr>
          <p:cNvPr id="42" name="Rounded Rectangle 41"/>
          <p:cNvSpPr/>
          <p:nvPr/>
        </p:nvSpPr>
        <p:spPr>
          <a:xfrm>
            <a:off x="1417320" y="3883152"/>
            <a:ext cx="36576" cy="173736"/>
          </a:xfrm>
          <a:prstGeom prst="roundRect">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545336" y="3864864"/>
            <a:ext cx="457200" cy="201168"/>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0.5%</a:t>
            </a:r>
          </a:p>
        </p:txBody>
      </p:sp>
      <p:sp>
        <p:nvSpPr>
          <p:cNvPr id="44" name="TextBox 43"/>
          <p:cNvSpPr txBox="1"/>
          <p:nvPr/>
        </p:nvSpPr>
        <p:spPr>
          <a:xfrm>
            <a:off x="749808" y="4323588"/>
            <a:ext cx="594360" cy="182880"/>
          </a:xfrm>
          <a:prstGeom prst="rect">
            <a:avLst/>
          </a:prstGeom>
          <a:noFill/>
        </p:spPr>
        <p:txBody>
          <a:bodyPr wrap="square" lIns="0" rIns="0" tIns="0" bIns="0" anchor="t">
            <a:noAutofit/>
          </a:bodyPr>
          <a:lstStyle/>
          <a:p>
            <a:pPr algn="r">
              <a:lnSpc>
                <a:spcPct val="100000"/>
              </a:lnSpc>
              <a:spcAft>
                <a:spcPts val="0"/>
              </a:spcAft>
            </a:pPr>
            <a:r>
              <a:rPr sz="819" b="0" i="0">
                <a:solidFill>
                  <a:srgbClr val="516577"/>
                </a:solidFill>
                <a:latin typeface="Arial"/>
              </a:rPr>
              <a:t>Other</a:t>
            </a:r>
          </a:p>
        </p:txBody>
      </p:sp>
      <p:sp>
        <p:nvSpPr>
          <p:cNvPr id="45" name="Rounded Rectangle 44"/>
          <p:cNvSpPr/>
          <p:nvPr/>
        </p:nvSpPr>
        <p:spPr>
          <a:xfrm>
            <a:off x="1417320" y="4332732"/>
            <a:ext cx="36576" cy="173736"/>
          </a:xfrm>
          <a:prstGeom prst="roundRect">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545336" y="4314444"/>
            <a:ext cx="457200" cy="201168"/>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0.5%</a:t>
            </a:r>
          </a:p>
        </p:txBody>
      </p:sp>
      <p:sp>
        <p:nvSpPr>
          <p:cNvPr id="47" name="TextBox 46"/>
          <p:cNvSpPr txBox="1"/>
          <p:nvPr/>
        </p:nvSpPr>
        <p:spPr>
          <a:xfrm>
            <a:off x="768096" y="5084064"/>
            <a:ext cx="3474720" cy="164592"/>
          </a:xfrm>
          <a:prstGeom prst="rect">
            <a:avLst/>
          </a:prstGeom>
          <a:noFill/>
        </p:spPr>
        <p:txBody>
          <a:bodyPr wrap="square" lIns="0" rIns="0" tIns="0" bIns="0" anchor="t">
            <a:noAutofit/>
          </a:bodyPr>
          <a:lstStyle/>
          <a:p>
            <a:pPr algn="l">
              <a:lnSpc>
                <a:spcPct val="100000"/>
              </a:lnSpc>
              <a:spcAft>
                <a:spcPts val="0"/>
              </a:spcAft>
            </a:pPr>
            <a:r>
              <a:rPr sz="700" b="0" i="0">
                <a:solidFill>
                  <a:srgbClr val="718291"/>
                </a:solidFill>
                <a:latin typeface="Arial"/>
              </a:rPr>
              <a:t>Source: OPTN / organdonor.gov, 2025</a:t>
            </a:r>
          </a:p>
        </p:txBody>
      </p:sp>
      <p:sp>
        <p:nvSpPr>
          <p:cNvPr id="48" name="Rounded Rectangle 47"/>
          <p:cNvSpPr/>
          <p:nvPr/>
        </p:nvSpPr>
        <p:spPr>
          <a:xfrm>
            <a:off x="7205472" y="1307592"/>
            <a:ext cx="4480560" cy="125272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05472" y="1307592"/>
            <a:ext cx="64008" cy="125272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34071" y="1463039"/>
            <a:ext cx="406908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941,652</a:t>
            </a:r>
          </a:p>
        </p:txBody>
      </p:sp>
      <p:sp>
        <p:nvSpPr>
          <p:cNvPr id="51" name="TextBox 50"/>
          <p:cNvSpPr txBox="1"/>
          <p:nvPr/>
        </p:nvSpPr>
        <p:spPr>
          <a:xfrm>
            <a:off x="7434071" y="1865376"/>
            <a:ext cx="406908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U.S. CVD deaths in 2022</a:t>
            </a:r>
          </a:p>
        </p:txBody>
      </p:sp>
      <p:sp>
        <p:nvSpPr>
          <p:cNvPr id="52" name="TextBox 51"/>
          <p:cNvSpPr txBox="1"/>
          <p:nvPr/>
        </p:nvSpPr>
        <p:spPr>
          <a:xfrm>
            <a:off x="7434071" y="2148840"/>
            <a:ext cx="4069080" cy="320040"/>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Still the #1 cause of death, killing more people than all cancers combined.</a:t>
            </a:r>
          </a:p>
        </p:txBody>
      </p:sp>
      <p:sp>
        <p:nvSpPr>
          <p:cNvPr id="53" name="Rounded Rectangle 52"/>
          <p:cNvSpPr/>
          <p:nvPr/>
        </p:nvSpPr>
        <p:spPr>
          <a:xfrm>
            <a:off x="7205472" y="2706624"/>
            <a:ext cx="4480560" cy="125272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205472" y="2706624"/>
            <a:ext cx="64008" cy="125272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34071" y="2862072"/>
            <a:ext cx="406908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~1 per 34 sec</a:t>
            </a:r>
          </a:p>
        </p:txBody>
      </p:sp>
      <p:sp>
        <p:nvSpPr>
          <p:cNvPr id="56" name="TextBox 55"/>
          <p:cNvSpPr txBox="1"/>
          <p:nvPr/>
        </p:nvSpPr>
        <p:spPr>
          <a:xfrm>
            <a:off x="7434071" y="3264408"/>
            <a:ext cx="406908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A cardiovascular death</a:t>
            </a:r>
          </a:p>
        </p:txBody>
      </p:sp>
      <p:sp>
        <p:nvSpPr>
          <p:cNvPr id="57" name="TextBox 56"/>
          <p:cNvSpPr txBox="1"/>
          <p:nvPr/>
        </p:nvSpPr>
        <p:spPr>
          <a:xfrm>
            <a:off x="7434071" y="3547872"/>
            <a:ext cx="4069080" cy="320040"/>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Occurs in the U.S. on average every 34 seconds — roughly 2,500 per day.</a:t>
            </a:r>
          </a:p>
        </p:txBody>
      </p:sp>
      <p:sp>
        <p:nvSpPr>
          <p:cNvPr id="58" name="Rounded Rectangle 57"/>
          <p:cNvSpPr/>
          <p:nvPr/>
        </p:nvSpPr>
        <p:spPr>
          <a:xfrm>
            <a:off x="7205472" y="4105656"/>
            <a:ext cx="4480560" cy="125272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05472" y="4105656"/>
            <a:ext cx="64008" cy="125272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34071" y="4261104"/>
            <a:ext cx="4069080"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10% met</a:t>
            </a:r>
          </a:p>
        </p:txBody>
      </p:sp>
      <p:sp>
        <p:nvSpPr>
          <p:cNvPr id="61" name="TextBox 60"/>
          <p:cNvSpPr txBox="1"/>
          <p:nvPr/>
        </p:nvSpPr>
        <p:spPr>
          <a:xfrm>
            <a:off x="7434071" y="4663440"/>
            <a:ext cx="4069080"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Of estimated global need</a:t>
            </a:r>
          </a:p>
        </p:txBody>
      </p:sp>
      <p:sp>
        <p:nvSpPr>
          <p:cNvPr id="62" name="TextBox 61"/>
          <p:cNvSpPr txBox="1"/>
          <p:nvPr/>
        </p:nvSpPr>
        <p:spPr>
          <a:xfrm>
            <a:off x="7434071" y="4946904"/>
            <a:ext cx="4069080" cy="320040"/>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WHO reports ~130,000 transplants annually versus demand exceeding 1.3M.</a:t>
            </a:r>
          </a:p>
        </p:txBody>
      </p:sp>
      <p:sp>
        <p:nvSpPr>
          <p:cNvPr id="63" name="Rounded Rectangle 62"/>
          <p:cNvSpPr/>
          <p:nvPr/>
        </p:nvSpPr>
        <p:spPr>
          <a:xfrm>
            <a:off x="502920" y="5650992"/>
            <a:ext cx="11183112" cy="640080"/>
          </a:xfrm>
          <a:prstGeom prst="round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5650992"/>
            <a:ext cx="91440" cy="640080"/>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86384" y="5797296"/>
            <a:ext cx="1481328" cy="201168"/>
          </a:xfrm>
          <a:prstGeom prst="rect">
            <a:avLst/>
          </a:prstGeom>
          <a:noFill/>
        </p:spPr>
        <p:txBody>
          <a:bodyPr wrap="square" lIns="0" rIns="0" tIns="0" bIns="0" anchor="t">
            <a:noAutofit/>
          </a:bodyPr>
          <a:lstStyle/>
          <a:p>
            <a:pPr algn="l">
              <a:lnSpc>
                <a:spcPct val="100000"/>
              </a:lnSpc>
              <a:spcAft>
                <a:spcPts val="0"/>
              </a:spcAft>
            </a:pPr>
            <a:r>
              <a:rPr sz="850" b="1" i="0">
                <a:solidFill>
                  <a:srgbClr val="C9EEE6"/>
                </a:solidFill>
                <a:latin typeface="Arial"/>
              </a:rPr>
              <a:t>Autologous advantage</a:t>
            </a:r>
          </a:p>
        </p:txBody>
      </p:sp>
      <p:sp>
        <p:nvSpPr>
          <p:cNvPr id="66" name="TextBox 65"/>
          <p:cNvSpPr txBox="1"/>
          <p:nvPr/>
        </p:nvSpPr>
        <p:spPr>
          <a:xfrm>
            <a:off x="2304288" y="5751576"/>
            <a:ext cx="8979408" cy="292608"/>
          </a:xfrm>
          <a:prstGeom prst="rect">
            <a:avLst/>
          </a:prstGeom>
          <a:noFill/>
        </p:spPr>
        <p:txBody>
          <a:bodyPr wrap="square" lIns="0" rIns="0" tIns="0" bIns="0" anchor="ctr">
            <a:noAutofit/>
          </a:bodyPr>
          <a:lstStyle/>
          <a:p>
            <a:pPr algn="l">
              <a:lnSpc>
                <a:spcPct val="100000"/>
              </a:lnSpc>
              <a:spcAft>
                <a:spcPts val="0"/>
              </a:spcAft>
            </a:pPr>
            <a:r>
              <a:rPr sz="930" b="0" i="0">
                <a:solidFill>
                  <a:srgbClr val="FFFFFF"/>
                </a:solidFill>
                <a:latin typeface="Arial"/>
              </a:rPr>
              <a:t>Tissue printed from a patient’s own cells can eliminate cross-reactive rejection — removing both the lifelong immunosuppressive burden and ongoing drug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THE CORE CONSTRAINT</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Why Earth-Based Bioprinting Has a Hard Ceiling</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05</a:t>
            </a:r>
          </a:p>
        </p:txBody>
      </p:sp>
      <p:sp>
        <p:nvSpPr>
          <p:cNvPr id="15" name="Rounded Rectangle 14"/>
          <p:cNvSpPr/>
          <p:nvPr/>
        </p:nvSpPr>
        <p:spPr>
          <a:xfrm>
            <a:off x="502920" y="1298448"/>
            <a:ext cx="11183112" cy="6583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298448"/>
            <a:ext cx="82296" cy="65836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1481328"/>
            <a:ext cx="10497312" cy="274320"/>
          </a:xfrm>
          <a:prstGeom prst="rect">
            <a:avLst/>
          </a:prstGeom>
          <a:noFill/>
        </p:spPr>
        <p:txBody>
          <a:bodyPr wrap="square" lIns="0" rIns="0" tIns="0" bIns="0" anchor="ctr">
            <a:noAutofit/>
          </a:bodyPr>
          <a:lstStyle/>
          <a:p>
            <a:pPr algn="l">
              <a:lnSpc>
                <a:spcPct val="100000"/>
              </a:lnSpc>
              <a:spcAft>
                <a:spcPts val="0"/>
              </a:spcAft>
            </a:pPr>
            <a:r>
              <a:rPr sz="1080" b="0" i="0">
                <a:solidFill>
                  <a:srgbClr val="516577"/>
                </a:solidFill>
                <a:latin typeface="Arial"/>
              </a:rPr>
              <a:t>Gravity forces printed tissues to collapse under their own weight. Temporary scaffolds add complexity, introduce foreign material, and limit geometry. Microgravity removes the constraint entirely.</a:t>
            </a:r>
          </a:p>
        </p:txBody>
      </p:sp>
      <p:sp>
        <p:nvSpPr>
          <p:cNvPr id="18" name="Rounded Rectangle 17"/>
          <p:cNvSpPr/>
          <p:nvPr/>
        </p:nvSpPr>
        <p:spPr>
          <a:xfrm>
            <a:off x="502920" y="2176272"/>
            <a:ext cx="5440680" cy="41148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441448"/>
            <a:ext cx="3383280" cy="228600"/>
          </a:xfrm>
          <a:prstGeom prst="rect">
            <a:avLst/>
          </a:prstGeom>
          <a:noFill/>
        </p:spPr>
        <p:txBody>
          <a:bodyPr wrap="square" lIns="0" rIns="0" tIns="0" bIns="0" anchor="t">
            <a:noAutofit/>
          </a:bodyPr>
          <a:lstStyle/>
          <a:p>
            <a:pPr algn="l">
              <a:lnSpc>
                <a:spcPct val="100000"/>
              </a:lnSpc>
              <a:spcAft>
                <a:spcPts val="0"/>
              </a:spcAft>
            </a:pPr>
            <a:r>
              <a:rPr sz="900" b="1" i="0">
                <a:solidFill>
                  <a:srgbClr val="183A5A"/>
                </a:solidFill>
                <a:latin typeface="Arial"/>
              </a:rPr>
              <a:t>EARTH GRAVITY</a:t>
            </a:r>
          </a:p>
        </p:txBody>
      </p:sp>
      <p:sp>
        <p:nvSpPr>
          <p:cNvPr id="20" name="Rounded Rectangle 19"/>
          <p:cNvSpPr/>
          <p:nvPr/>
        </p:nvSpPr>
        <p:spPr>
          <a:xfrm>
            <a:off x="4727448" y="2359152"/>
            <a:ext cx="71323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27448" y="2368296"/>
            <a:ext cx="713232" cy="301752"/>
          </a:xfrm>
          <a:prstGeom prst="rect">
            <a:avLst/>
          </a:prstGeom>
          <a:noFill/>
        </p:spPr>
        <p:txBody>
          <a:bodyPr wrap="square" lIns="0" rIns="0" tIns="0" bIns="0" anchor="ctr">
            <a:noAutofit/>
          </a:bodyPr>
          <a:lstStyle/>
          <a:p>
            <a:pPr algn="ctr">
              <a:lnSpc>
                <a:spcPct val="100000"/>
              </a:lnSpc>
              <a:spcAft>
                <a:spcPts val="0"/>
              </a:spcAft>
            </a:pPr>
            <a:r>
              <a:rPr sz="900" b="1" i="0">
                <a:solidFill>
                  <a:srgbClr val="183A5A"/>
                </a:solidFill>
                <a:latin typeface="Arial"/>
              </a:rPr>
              <a:t>1 g</a:t>
            </a:r>
          </a:p>
        </p:txBody>
      </p:sp>
      <p:sp>
        <p:nvSpPr>
          <p:cNvPr id="22" name="Rounded Rectangle 21"/>
          <p:cNvSpPr/>
          <p:nvPr/>
        </p:nvSpPr>
        <p:spPr>
          <a:xfrm>
            <a:off x="2057400" y="3035808"/>
            <a:ext cx="1993392" cy="146304"/>
          </a:xfrm>
          <a:prstGeom prst="round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67128" y="3218688"/>
            <a:ext cx="1819656" cy="146304"/>
          </a:xfrm>
          <a:prstGeom prst="round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276856" y="3401568"/>
            <a:ext cx="1645920" cy="146304"/>
          </a:xfrm>
          <a:prstGeom prst="roundRect">
            <a:avLst/>
          </a:prstGeom>
          <a:solidFill>
            <a:srgbClr val="86A9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386584" y="3584448"/>
            <a:ext cx="1472184" cy="146304"/>
          </a:xfrm>
          <a:prstGeom prst="roundRect">
            <a:avLst/>
          </a:prstGeom>
          <a:solidFill>
            <a:srgbClr val="B7CE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490472" y="2962656"/>
            <a:ext cx="0" cy="877824"/>
          </a:xfrm>
          <a:prstGeom prst="line">
            <a:avLst/>
          </a:prstGeom>
          <a:ln w="25400">
            <a:solidFill>
              <a:srgbClr val="C95F63"/>
            </a:solidFill>
          </a:ln>
        </p:spPr>
        <p:style>
          <a:lnRef idx="2">
            <a:schemeClr val="accent1"/>
          </a:lnRef>
          <a:fillRef idx="0">
            <a:schemeClr val="accent1"/>
          </a:fillRef>
          <a:effectRef idx="1">
            <a:schemeClr val="accent1"/>
          </a:effectRef>
          <a:fontRef idx="minor">
            <a:schemeClr val="tx1"/>
          </a:fontRef>
        </p:style>
      </p:cxnSp>
      <p:sp>
        <p:nvSpPr>
          <p:cNvPr id="27" name="Chevron 26"/>
          <p:cNvSpPr/>
          <p:nvPr/>
        </p:nvSpPr>
        <p:spPr>
          <a:xfrm rot="5400000">
            <a:off x="1344168" y="3657600"/>
            <a:ext cx="292608" cy="384048"/>
          </a:xfrm>
          <a:prstGeom prst="chevron">
            <a:avLst/>
          </a:prstGeom>
          <a:solidFill>
            <a:srgbClr val="C95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4023360"/>
            <a:ext cx="1078992" cy="182880"/>
          </a:xfrm>
          <a:prstGeom prst="rect">
            <a:avLst/>
          </a:prstGeom>
          <a:noFill/>
        </p:spPr>
        <p:txBody>
          <a:bodyPr wrap="square" lIns="0" rIns="0" tIns="0" bIns="0" anchor="t">
            <a:noAutofit/>
          </a:bodyPr>
          <a:lstStyle/>
          <a:p>
            <a:pPr algn="ctr">
              <a:lnSpc>
                <a:spcPct val="100000"/>
              </a:lnSpc>
              <a:spcAft>
                <a:spcPts val="0"/>
              </a:spcAft>
            </a:pPr>
            <a:r>
              <a:rPr sz="680" b="1" i="0">
                <a:solidFill>
                  <a:srgbClr val="C95F63"/>
                </a:solidFill>
                <a:latin typeface="Arial"/>
              </a:rPr>
              <a:t>GRAVITATIONAL LOAD</a:t>
            </a:r>
          </a:p>
        </p:txBody>
      </p:sp>
      <p:cxnSp>
        <p:nvCxnSpPr>
          <p:cNvPr id="29" name="Connector 28"/>
          <p:cNvCxnSpPr/>
          <p:nvPr/>
        </p:nvCxnSpPr>
        <p:spPr>
          <a:xfrm>
            <a:off x="822960" y="4443984"/>
            <a:ext cx="4800599" cy="0"/>
          </a:xfrm>
          <a:prstGeom prst="line">
            <a:avLst/>
          </a:prstGeom>
          <a:ln w="10160">
            <a:solidFill>
              <a:srgbClr val="C9D8E1"/>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50392" y="4718304"/>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4" y="4645152"/>
            <a:ext cx="4517136" cy="451104"/>
          </a:xfrm>
          <a:prstGeom prst="rect">
            <a:avLst/>
          </a:prstGeom>
          <a:noFill/>
        </p:spPr>
        <p:txBody>
          <a:bodyPr wrap="square" lIns="0" rIns="0" tIns="0" bIns="0" anchor="t">
            <a:noAutofit/>
          </a:bodyPr>
          <a:lstStyle/>
          <a:p>
            <a:pPr algn="l">
              <a:lnSpc>
                <a:spcPct val="100000"/>
              </a:lnSpc>
              <a:spcAft>
                <a:spcPts val="0"/>
              </a:spcAft>
            </a:pPr>
            <a:r>
              <a:rPr sz="960" b="0" i="0">
                <a:solidFill>
                  <a:srgbClr val="183A5A"/>
                </a:solidFill>
                <a:latin typeface="Arial"/>
              </a:rPr>
              <a:t>Cells slump and fuse unevenly under gravitational load</a:t>
            </a:r>
          </a:p>
        </p:txBody>
      </p:sp>
      <p:sp>
        <p:nvSpPr>
          <p:cNvPr id="32" name="Oval 31"/>
          <p:cNvSpPr/>
          <p:nvPr/>
        </p:nvSpPr>
        <p:spPr>
          <a:xfrm>
            <a:off x="850392" y="5169408"/>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4984" y="5096256"/>
            <a:ext cx="4517136" cy="451104"/>
          </a:xfrm>
          <a:prstGeom prst="rect">
            <a:avLst/>
          </a:prstGeom>
          <a:noFill/>
        </p:spPr>
        <p:txBody>
          <a:bodyPr wrap="square" lIns="0" rIns="0" tIns="0" bIns="0" anchor="t">
            <a:noAutofit/>
          </a:bodyPr>
          <a:lstStyle/>
          <a:p>
            <a:pPr algn="l">
              <a:lnSpc>
                <a:spcPct val="100000"/>
              </a:lnSpc>
              <a:spcAft>
                <a:spcPts val="0"/>
              </a:spcAft>
            </a:pPr>
            <a:r>
              <a:rPr sz="960" b="0" i="0">
                <a:solidFill>
                  <a:srgbClr val="183A5A"/>
                </a:solidFill>
                <a:latin typeface="Arial"/>
              </a:rPr>
              <a:t>Scaffold material prints first, then must be dissolved</a:t>
            </a:r>
          </a:p>
        </p:txBody>
      </p:sp>
      <p:sp>
        <p:nvSpPr>
          <p:cNvPr id="34" name="Oval 33"/>
          <p:cNvSpPr/>
          <p:nvPr/>
        </p:nvSpPr>
        <p:spPr>
          <a:xfrm>
            <a:off x="850392" y="5620512"/>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4984" y="5547360"/>
            <a:ext cx="4517136" cy="451104"/>
          </a:xfrm>
          <a:prstGeom prst="rect">
            <a:avLst/>
          </a:prstGeom>
          <a:noFill/>
        </p:spPr>
        <p:txBody>
          <a:bodyPr wrap="square" lIns="0" rIns="0" tIns="0" bIns="0" anchor="t">
            <a:noAutofit/>
          </a:bodyPr>
          <a:lstStyle/>
          <a:p>
            <a:pPr algn="l">
              <a:lnSpc>
                <a:spcPct val="100000"/>
              </a:lnSpc>
              <a:spcAft>
                <a:spcPts val="0"/>
              </a:spcAft>
            </a:pPr>
            <a:r>
              <a:rPr sz="960" b="0" i="0">
                <a:solidFill>
                  <a:srgbClr val="183A5A"/>
                </a:solidFill>
                <a:latin typeface="Arial"/>
              </a:rPr>
              <a:t>Complex hollow structures remain extremely difficult</a:t>
            </a:r>
          </a:p>
        </p:txBody>
      </p:sp>
      <p:sp>
        <p:nvSpPr>
          <p:cNvPr id="36" name="Rounded Rectangle 35"/>
          <p:cNvSpPr/>
          <p:nvPr/>
        </p:nvSpPr>
        <p:spPr>
          <a:xfrm>
            <a:off x="6245352" y="2176272"/>
            <a:ext cx="5440680" cy="4114800"/>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5392" y="2441448"/>
            <a:ext cx="3383280" cy="228600"/>
          </a:xfrm>
          <a:prstGeom prst="rect">
            <a:avLst/>
          </a:prstGeom>
          <a:noFill/>
        </p:spPr>
        <p:txBody>
          <a:bodyPr wrap="square" lIns="0" rIns="0" tIns="0" bIns="0" anchor="t">
            <a:noAutofit/>
          </a:bodyPr>
          <a:lstStyle/>
          <a:p>
            <a:pPr algn="l">
              <a:lnSpc>
                <a:spcPct val="100000"/>
              </a:lnSpc>
              <a:spcAft>
                <a:spcPts val="0"/>
              </a:spcAft>
            </a:pPr>
            <a:r>
              <a:rPr sz="900" b="1" i="0">
                <a:solidFill>
                  <a:srgbClr val="007F72"/>
                </a:solidFill>
                <a:latin typeface="Arial"/>
              </a:rPr>
              <a:t>MICROGRAVITY  /  ISS ORBIT</a:t>
            </a:r>
          </a:p>
        </p:txBody>
      </p:sp>
      <p:sp>
        <p:nvSpPr>
          <p:cNvPr id="38" name="Rounded Rectangle 37"/>
          <p:cNvSpPr/>
          <p:nvPr/>
        </p:nvSpPr>
        <p:spPr>
          <a:xfrm>
            <a:off x="10469880" y="2359152"/>
            <a:ext cx="71323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69880" y="2368296"/>
            <a:ext cx="713232" cy="301752"/>
          </a:xfrm>
          <a:prstGeom prst="rect">
            <a:avLst/>
          </a:prstGeom>
          <a:noFill/>
        </p:spPr>
        <p:txBody>
          <a:bodyPr wrap="square" lIns="0" rIns="0" tIns="0" bIns="0" anchor="ctr">
            <a:noAutofit/>
          </a:bodyPr>
          <a:lstStyle/>
          <a:p>
            <a:pPr algn="ctr">
              <a:lnSpc>
                <a:spcPct val="100000"/>
              </a:lnSpc>
              <a:spcAft>
                <a:spcPts val="0"/>
              </a:spcAft>
            </a:pPr>
            <a:r>
              <a:rPr sz="900" b="1" i="0">
                <a:solidFill>
                  <a:srgbClr val="007F72"/>
                </a:solidFill>
                <a:latin typeface="Arial"/>
              </a:rPr>
              <a:t>~0 g</a:t>
            </a:r>
          </a:p>
        </p:txBody>
      </p:sp>
      <p:sp>
        <p:nvSpPr>
          <p:cNvPr id="40" name="Oval 39"/>
          <p:cNvSpPr/>
          <p:nvPr/>
        </p:nvSpPr>
        <p:spPr>
          <a:xfrm>
            <a:off x="8129016" y="2898648"/>
            <a:ext cx="1682496" cy="1024128"/>
          </a:xfrm>
          <a:prstGeom prst="ellipse">
            <a:avLst/>
          </a:prstGeom>
          <a:noFill/>
          <a:ln w="27940">
            <a:solidFill>
              <a:srgbClr val="00A8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94192" y="3218688"/>
            <a:ext cx="201168" cy="201168"/>
          </a:xfrm>
          <a:prstGeom prst="ellipse">
            <a:avLst/>
          </a:prstGeom>
          <a:solidFill>
            <a:srgbClr val="00A88F"/>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714232" y="3090672"/>
            <a:ext cx="164592" cy="164592"/>
          </a:xfrm>
          <a:prstGeom prst="ellipse">
            <a:avLst/>
          </a:prstGeom>
          <a:solidFill>
            <a:srgbClr val="3C6E9B"/>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029700" y="3204972"/>
            <a:ext cx="192024" cy="192024"/>
          </a:xfrm>
          <a:prstGeom prst="ellipse">
            <a:avLst/>
          </a:prstGeom>
          <a:solidFill>
            <a:srgbClr val="007F72"/>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85732" y="3424428"/>
            <a:ext cx="155448" cy="155448"/>
          </a:xfrm>
          <a:prstGeom prst="ellipse">
            <a:avLst/>
          </a:prstGeom>
          <a:solidFill>
            <a:srgbClr val="D7A747"/>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06256" y="3529584"/>
            <a:ext cx="164592" cy="164592"/>
          </a:xfrm>
          <a:prstGeom prst="ellipse">
            <a:avLst/>
          </a:prstGeom>
          <a:solidFill>
            <a:srgbClr val="183A5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599932" y="3506724"/>
            <a:ext cx="155448" cy="155448"/>
          </a:xfrm>
          <a:prstGeom prst="ellipse">
            <a:avLst/>
          </a:prstGeom>
          <a:solidFill>
            <a:srgbClr val="63B8A8"/>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27848" y="4041648"/>
            <a:ext cx="2103120" cy="182880"/>
          </a:xfrm>
          <a:prstGeom prst="rect">
            <a:avLst/>
          </a:prstGeom>
          <a:noFill/>
        </p:spPr>
        <p:txBody>
          <a:bodyPr wrap="square" lIns="0" rIns="0" tIns="0" bIns="0" anchor="t">
            <a:noAutofit/>
          </a:bodyPr>
          <a:lstStyle/>
          <a:p>
            <a:pPr algn="ctr">
              <a:lnSpc>
                <a:spcPct val="100000"/>
              </a:lnSpc>
              <a:spcAft>
                <a:spcPts val="0"/>
              </a:spcAft>
            </a:pPr>
            <a:r>
              <a:rPr sz="680" b="1" i="0">
                <a:solidFill>
                  <a:srgbClr val="007F72"/>
                </a:solidFill>
                <a:latin typeface="Arial"/>
              </a:rPr>
              <a:t>SELF-SUPPORTING 3D FORM</a:t>
            </a:r>
          </a:p>
        </p:txBody>
      </p:sp>
      <p:cxnSp>
        <p:nvCxnSpPr>
          <p:cNvPr id="48" name="Connector 47"/>
          <p:cNvCxnSpPr/>
          <p:nvPr/>
        </p:nvCxnSpPr>
        <p:spPr>
          <a:xfrm>
            <a:off x="6565392" y="4443984"/>
            <a:ext cx="4800600" cy="0"/>
          </a:xfrm>
          <a:prstGeom prst="line">
            <a:avLst/>
          </a:prstGeom>
          <a:ln w="10160">
            <a:solidFill>
              <a:srgbClr val="C9D8E1"/>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592824" y="4718304"/>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757416" y="4645152"/>
            <a:ext cx="4517136" cy="451104"/>
          </a:xfrm>
          <a:prstGeom prst="rect">
            <a:avLst/>
          </a:prstGeom>
          <a:noFill/>
        </p:spPr>
        <p:txBody>
          <a:bodyPr wrap="square" lIns="0" rIns="0" tIns="0" bIns="0" anchor="t">
            <a:noAutofit/>
          </a:bodyPr>
          <a:lstStyle/>
          <a:p>
            <a:pPr algn="l">
              <a:lnSpc>
                <a:spcPct val="100000"/>
              </a:lnSpc>
              <a:spcAft>
                <a:spcPts val="0"/>
              </a:spcAft>
            </a:pPr>
            <a:r>
              <a:rPr sz="960" b="0" i="0">
                <a:solidFill>
                  <a:srgbClr val="183A5A"/>
                </a:solidFill>
                <a:latin typeface="Arial"/>
              </a:rPr>
              <a:t>Tissue self-supports in true 3D — no scaffold required</a:t>
            </a:r>
          </a:p>
        </p:txBody>
      </p:sp>
      <p:sp>
        <p:nvSpPr>
          <p:cNvPr id="51" name="Oval 50"/>
          <p:cNvSpPr/>
          <p:nvPr/>
        </p:nvSpPr>
        <p:spPr>
          <a:xfrm>
            <a:off x="6592824" y="5169408"/>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57416" y="5096256"/>
            <a:ext cx="4517136" cy="451104"/>
          </a:xfrm>
          <a:prstGeom prst="rect">
            <a:avLst/>
          </a:prstGeom>
          <a:noFill/>
        </p:spPr>
        <p:txBody>
          <a:bodyPr wrap="square" lIns="0" rIns="0" tIns="0" bIns="0" anchor="t">
            <a:noAutofit/>
          </a:bodyPr>
          <a:lstStyle/>
          <a:p>
            <a:pPr algn="l">
              <a:lnSpc>
                <a:spcPct val="100000"/>
              </a:lnSpc>
              <a:spcAft>
                <a:spcPts val="0"/>
              </a:spcAft>
            </a:pPr>
            <a:r>
              <a:rPr sz="960" b="0" i="0">
                <a:solidFill>
                  <a:srgbClr val="183A5A"/>
                </a:solidFill>
                <a:latin typeface="Arial"/>
              </a:rPr>
              <a:t>Cell distribution and structural integrity become more uniform</a:t>
            </a:r>
          </a:p>
        </p:txBody>
      </p:sp>
      <p:sp>
        <p:nvSpPr>
          <p:cNvPr id="53" name="Oval 52"/>
          <p:cNvSpPr/>
          <p:nvPr/>
        </p:nvSpPr>
        <p:spPr>
          <a:xfrm>
            <a:off x="6592824" y="5620512"/>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57416" y="5547360"/>
            <a:ext cx="4517136" cy="451104"/>
          </a:xfrm>
          <a:prstGeom prst="rect">
            <a:avLst/>
          </a:prstGeom>
          <a:noFill/>
        </p:spPr>
        <p:txBody>
          <a:bodyPr wrap="square" lIns="0" rIns="0" tIns="0" bIns="0" anchor="t">
            <a:noAutofit/>
          </a:bodyPr>
          <a:lstStyle/>
          <a:p>
            <a:pPr algn="l">
              <a:lnSpc>
                <a:spcPct val="100000"/>
              </a:lnSpc>
              <a:spcAft>
                <a:spcPts val="0"/>
              </a:spcAft>
            </a:pPr>
            <a:r>
              <a:rPr sz="960" b="0" i="0">
                <a:solidFill>
                  <a:srgbClr val="183A5A"/>
                </a:solidFill>
                <a:latin typeface="Arial"/>
              </a:rPr>
              <a:t>Complex vascular and hollow geometries become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THE TECHNOLOGY</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How Space-Based Bioprinting Works: Five-Step Process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06</a:t>
            </a:r>
          </a:p>
        </p:txBody>
      </p:sp>
      <p:sp>
        <p:nvSpPr>
          <p:cNvPr id="15" name="Rounded Rectangle 14"/>
          <p:cNvSpPr/>
          <p:nvPr/>
        </p:nvSpPr>
        <p:spPr>
          <a:xfrm>
            <a:off x="502920" y="1307592"/>
            <a:ext cx="2057400" cy="16276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5800" y="1517904"/>
            <a:ext cx="438912" cy="283464"/>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527048"/>
            <a:ext cx="438912" cy="27432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01</a:t>
            </a:r>
          </a:p>
        </p:txBody>
      </p:sp>
      <p:sp>
        <p:nvSpPr>
          <p:cNvPr id="18" name="TextBox 17"/>
          <p:cNvSpPr txBox="1"/>
          <p:nvPr/>
        </p:nvSpPr>
        <p:spPr>
          <a:xfrm>
            <a:off x="685800" y="1901952"/>
            <a:ext cx="1645920" cy="393192"/>
          </a:xfrm>
          <a:prstGeom prst="rect">
            <a:avLst/>
          </a:prstGeom>
          <a:noFill/>
        </p:spPr>
        <p:txBody>
          <a:bodyPr wrap="square" lIns="0" rIns="0" tIns="0" bIns="0" anchor="t">
            <a:noAutofit/>
          </a:bodyPr>
          <a:lstStyle/>
          <a:p>
            <a:pPr algn="l">
              <a:lnSpc>
                <a:spcPct val="100000"/>
              </a:lnSpc>
              <a:spcAft>
                <a:spcPts val="0"/>
              </a:spcAft>
            </a:pPr>
            <a:r>
              <a:rPr sz="1200" b="1" i="0">
                <a:solidFill>
                  <a:srgbClr val="0B2035"/>
                </a:solidFill>
                <a:latin typeface="Arial"/>
              </a:rPr>
              <a:t>Cell Harvest</a:t>
            </a:r>
          </a:p>
        </p:txBody>
      </p:sp>
      <p:sp>
        <p:nvSpPr>
          <p:cNvPr id="19" name="TextBox 18"/>
          <p:cNvSpPr txBox="1"/>
          <p:nvPr/>
        </p:nvSpPr>
        <p:spPr>
          <a:xfrm>
            <a:off x="685800" y="2340864"/>
            <a:ext cx="1645920" cy="429768"/>
          </a:xfrm>
          <a:prstGeom prst="rect">
            <a:avLst/>
          </a:prstGeom>
          <a:noFill/>
        </p:spPr>
        <p:txBody>
          <a:bodyPr wrap="square" lIns="0" rIns="0" tIns="0" bIns="0" anchor="t">
            <a:noAutofit/>
          </a:bodyPr>
          <a:lstStyle/>
          <a:p>
            <a:pPr algn="l">
              <a:lnSpc>
                <a:spcPct val="100000"/>
              </a:lnSpc>
              <a:spcAft>
                <a:spcPts val="0"/>
              </a:spcAft>
            </a:pPr>
            <a:r>
              <a:rPr sz="869" b="0" i="0">
                <a:solidFill>
                  <a:srgbClr val="516577"/>
                </a:solidFill>
                <a:latin typeface="Arial"/>
              </a:rPr>
              <a:t>Biopsy yields patient-specific cells, reducing rejection risk.</a:t>
            </a:r>
          </a:p>
        </p:txBody>
      </p:sp>
      <p:sp>
        <p:nvSpPr>
          <p:cNvPr id="20" name="Chevron 19"/>
          <p:cNvSpPr/>
          <p:nvPr/>
        </p:nvSpPr>
        <p:spPr>
          <a:xfrm>
            <a:off x="2587752" y="1975104"/>
            <a:ext cx="146304" cy="25603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752344" y="1307592"/>
            <a:ext cx="2057400" cy="16276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935224" y="1517904"/>
            <a:ext cx="438912" cy="283464"/>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35224" y="1527048"/>
            <a:ext cx="438912" cy="27432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02</a:t>
            </a:r>
          </a:p>
        </p:txBody>
      </p:sp>
      <p:sp>
        <p:nvSpPr>
          <p:cNvPr id="24" name="TextBox 23"/>
          <p:cNvSpPr txBox="1"/>
          <p:nvPr/>
        </p:nvSpPr>
        <p:spPr>
          <a:xfrm>
            <a:off x="2935224" y="1901952"/>
            <a:ext cx="1645920" cy="393192"/>
          </a:xfrm>
          <a:prstGeom prst="rect">
            <a:avLst/>
          </a:prstGeom>
          <a:noFill/>
        </p:spPr>
        <p:txBody>
          <a:bodyPr wrap="square" lIns="0" rIns="0" tIns="0" bIns="0" anchor="t">
            <a:noAutofit/>
          </a:bodyPr>
          <a:lstStyle/>
          <a:p>
            <a:pPr algn="l">
              <a:lnSpc>
                <a:spcPct val="100000"/>
              </a:lnSpc>
              <a:spcAft>
                <a:spcPts val="0"/>
              </a:spcAft>
            </a:pPr>
            <a:r>
              <a:rPr sz="1200" b="1" i="0">
                <a:solidFill>
                  <a:srgbClr val="0B2035"/>
                </a:solidFill>
                <a:latin typeface="Arial"/>
              </a:rPr>
              <a:t>Stem Cell Reprogramming</a:t>
            </a:r>
          </a:p>
        </p:txBody>
      </p:sp>
      <p:sp>
        <p:nvSpPr>
          <p:cNvPr id="25" name="TextBox 24"/>
          <p:cNvSpPr txBox="1"/>
          <p:nvPr/>
        </p:nvSpPr>
        <p:spPr>
          <a:xfrm>
            <a:off x="2935224" y="2340864"/>
            <a:ext cx="1645920" cy="429768"/>
          </a:xfrm>
          <a:prstGeom prst="rect">
            <a:avLst/>
          </a:prstGeom>
          <a:noFill/>
        </p:spPr>
        <p:txBody>
          <a:bodyPr wrap="square" lIns="0" rIns="0" tIns="0" bIns="0" anchor="t">
            <a:noAutofit/>
          </a:bodyPr>
          <a:lstStyle/>
          <a:p>
            <a:pPr algn="l">
              <a:lnSpc>
                <a:spcPct val="100000"/>
              </a:lnSpc>
              <a:spcAft>
                <a:spcPts val="0"/>
              </a:spcAft>
            </a:pPr>
            <a:r>
              <a:rPr sz="869" b="0" i="0">
                <a:solidFill>
                  <a:srgbClr val="516577"/>
                </a:solidFill>
                <a:latin typeface="Arial"/>
              </a:rPr>
              <a:t>Nobel-winning iPSC method returns adult cells to pluripotency.</a:t>
            </a:r>
          </a:p>
        </p:txBody>
      </p:sp>
      <p:sp>
        <p:nvSpPr>
          <p:cNvPr id="26" name="Chevron 25"/>
          <p:cNvSpPr/>
          <p:nvPr/>
        </p:nvSpPr>
        <p:spPr>
          <a:xfrm>
            <a:off x="4837175" y="1975104"/>
            <a:ext cx="146304" cy="25603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01768" y="1307592"/>
            <a:ext cx="2057400" cy="16276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84648" y="1517904"/>
            <a:ext cx="438912" cy="283464"/>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4648" y="1527048"/>
            <a:ext cx="438912" cy="27432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03</a:t>
            </a:r>
          </a:p>
        </p:txBody>
      </p:sp>
      <p:sp>
        <p:nvSpPr>
          <p:cNvPr id="30" name="TextBox 29"/>
          <p:cNvSpPr txBox="1"/>
          <p:nvPr/>
        </p:nvSpPr>
        <p:spPr>
          <a:xfrm>
            <a:off x="5184648" y="1901952"/>
            <a:ext cx="1645920" cy="393192"/>
          </a:xfrm>
          <a:prstGeom prst="rect">
            <a:avLst/>
          </a:prstGeom>
          <a:noFill/>
        </p:spPr>
        <p:txBody>
          <a:bodyPr wrap="square" lIns="0" rIns="0" tIns="0" bIns="0" anchor="t">
            <a:noAutofit/>
          </a:bodyPr>
          <a:lstStyle/>
          <a:p>
            <a:pPr algn="l">
              <a:lnSpc>
                <a:spcPct val="100000"/>
              </a:lnSpc>
              <a:spcAft>
                <a:spcPts val="0"/>
              </a:spcAft>
            </a:pPr>
            <a:r>
              <a:rPr sz="1200" b="1" i="0">
                <a:solidFill>
                  <a:srgbClr val="0B2035"/>
                </a:solidFill>
                <a:latin typeface="Arial"/>
              </a:rPr>
              <a:t>Bioink Formulation</a:t>
            </a:r>
          </a:p>
        </p:txBody>
      </p:sp>
      <p:sp>
        <p:nvSpPr>
          <p:cNvPr id="31" name="TextBox 30"/>
          <p:cNvSpPr txBox="1"/>
          <p:nvPr/>
        </p:nvSpPr>
        <p:spPr>
          <a:xfrm>
            <a:off x="5184648" y="2340864"/>
            <a:ext cx="1645920" cy="429768"/>
          </a:xfrm>
          <a:prstGeom prst="rect">
            <a:avLst/>
          </a:prstGeom>
          <a:noFill/>
        </p:spPr>
        <p:txBody>
          <a:bodyPr wrap="square" lIns="0" rIns="0" tIns="0" bIns="0" anchor="t">
            <a:noAutofit/>
          </a:bodyPr>
          <a:lstStyle/>
          <a:p>
            <a:pPr algn="l">
              <a:lnSpc>
                <a:spcPct val="100000"/>
              </a:lnSpc>
              <a:spcAft>
                <a:spcPts val="0"/>
              </a:spcAft>
            </a:pPr>
            <a:r>
              <a:rPr sz="869" b="0" i="0">
                <a:solidFill>
                  <a:srgbClr val="516577"/>
                </a:solidFill>
                <a:latin typeface="Arial"/>
              </a:rPr>
              <a:t>Cells suspend in hydrogel tuned for viscosity and viability.</a:t>
            </a:r>
          </a:p>
        </p:txBody>
      </p:sp>
      <p:sp>
        <p:nvSpPr>
          <p:cNvPr id="32" name="Chevron 31"/>
          <p:cNvSpPr/>
          <p:nvPr/>
        </p:nvSpPr>
        <p:spPr>
          <a:xfrm>
            <a:off x="7086600" y="1975104"/>
            <a:ext cx="146304" cy="25603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251192" y="1307592"/>
            <a:ext cx="2057400" cy="16276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434071" y="1517904"/>
            <a:ext cx="438912" cy="283464"/>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34071" y="1527048"/>
            <a:ext cx="438912" cy="27432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04</a:t>
            </a:r>
          </a:p>
        </p:txBody>
      </p:sp>
      <p:sp>
        <p:nvSpPr>
          <p:cNvPr id="36" name="TextBox 35"/>
          <p:cNvSpPr txBox="1"/>
          <p:nvPr/>
        </p:nvSpPr>
        <p:spPr>
          <a:xfrm>
            <a:off x="7434071" y="1901952"/>
            <a:ext cx="1645920" cy="393192"/>
          </a:xfrm>
          <a:prstGeom prst="rect">
            <a:avLst/>
          </a:prstGeom>
          <a:noFill/>
        </p:spPr>
        <p:txBody>
          <a:bodyPr wrap="square" lIns="0" rIns="0" tIns="0" bIns="0" anchor="t">
            <a:noAutofit/>
          </a:bodyPr>
          <a:lstStyle/>
          <a:p>
            <a:pPr algn="l">
              <a:lnSpc>
                <a:spcPct val="100000"/>
              </a:lnSpc>
              <a:spcAft>
                <a:spcPts val="0"/>
              </a:spcAft>
            </a:pPr>
            <a:r>
              <a:rPr sz="1200" b="1" i="0">
                <a:solidFill>
                  <a:srgbClr val="0B2035"/>
                </a:solidFill>
                <a:latin typeface="Arial"/>
              </a:rPr>
              <a:t>In-Orbit Printing</a:t>
            </a:r>
          </a:p>
        </p:txBody>
      </p:sp>
      <p:sp>
        <p:nvSpPr>
          <p:cNvPr id="37" name="TextBox 36"/>
          <p:cNvSpPr txBox="1"/>
          <p:nvPr/>
        </p:nvSpPr>
        <p:spPr>
          <a:xfrm>
            <a:off x="7434071" y="2340864"/>
            <a:ext cx="1645920" cy="429768"/>
          </a:xfrm>
          <a:prstGeom prst="rect">
            <a:avLst/>
          </a:prstGeom>
          <a:noFill/>
        </p:spPr>
        <p:txBody>
          <a:bodyPr wrap="square" lIns="0" rIns="0" tIns="0" bIns="0" anchor="t">
            <a:noAutofit/>
          </a:bodyPr>
          <a:lstStyle/>
          <a:p>
            <a:pPr algn="l">
              <a:lnSpc>
                <a:spcPct val="100000"/>
              </a:lnSpc>
              <a:spcAft>
                <a:spcPts val="0"/>
              </a:spcAft>
            </a:pPr>
            <a:r>
              <a:rPr sz="869" b="0" i="0">
                <a:solidFill>
                  <a:srgbClr val="516577"/>
                </a:solidFill>
                <a:latin typeface="Arial"/>
              </a:rPr>
              <a:t>Layer-by-layer deposition in microgravity; no scaffold required.</a:t>
            </a:r>
          </a:p>
        </p:txBody>
      </p:sp>
      <p:sp>
        <p:nvSpPr>
          <p:cNvPr id="38" name="Chevron 37"/>
          <p:cNvSpPr/>
          <p:nvPr/>
        </p:nvSpPr>
        <p:spPr>
          <a:xfrm>
            <a:off x="9336024" y="1975104"/>
            <a:ext cx="146304" cy="25603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500616" y="1307592"/>
            <a:ext cx="2057400" cy="16276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683496" y="1517904"/>
            <a:ext cx="438912" cy="283464"/>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83496" y="1527048"/>
            <a:ext cx="438912" cy="27432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05</a:t>
            </a:r>
          </a:p>
        </p:txBody>
      </p:sp>
      <p:sp>
        <p:nvSpPr>
          <p:cNvPr id="42" name="TextBox 41"/>
          <p:cNvSpPr txBox="1"/>
          <p:nvPr/>
        </p:nvSpPr>
        <p:spPr>
          <a:xfrm>
            <a:off x="9683496" y="1901952"/>
            <a:ext cx="1645920" cy="393192"/>
          </a:xfrm>
          <a:prstGeom prst="rect">
            <a:avLst/>
          </a:prstGeom>
          <a:noFill/>
        </p:spPr>
        <p:txBody>
          <a:bodyPr wrap="square" lIns="0" rIns="0" tIns="0" bIns="0" anchor="t">
            <a:noAutofit/>
          </a:bodyPr>
          <a:lstStyle/>
          <a:p>
            <a:pPr algn="l">
              <a:lnSpc>
                <a:spcPct val="100000"/>
              </a:lnSpc>
              <a:spcAft>
                <a:spcPts val="0"/>
              </a:spcAft>
            </a:pPr>
            <a:r>
              <a:rPr sz="1200" b="1" i="0">
                <a:solidFill>
                  <a:srgbClr val="0B2035"/>
                </a:solidFill>
                <a:latin typeface="Arial"/>
              </a:rPr>
              <a:t>Tissue Maturation</a:t>
            </a:r>
          </a:p>
        </p:txBody>
      </p:sp>
      <p:sp>
        <p:nvSpPr>
          <p:cNvPr id="43" name="TextBox 42"/>
          <p:cNvSpPr txBox="1"/>
          <p:nvPr/>
        </p:nvSpPr>
        <p:spPr>
          <a:xfrm>
            <a:off x="9683496" y="2340864"/>
            <a:ext cx="1645920" cy="429768"/>
          </a:xfrm>
          <a:prstGeom prst="rect">
            <a:avLst/>
          </a:prstGeom>
          <a:noFill/>
        </p:spPr>
        <p:txBody>
          <a:bodyPr wrap="square" lIns="0" rIns="0" tIns="0" bIns="0" anchor="t">
            <a:noAutofit/>
          </a:bodyPr>
          <a:lstStyle/>
          <a:p>
            <a:pPr algn="l">
              <a:lnSpc>
                <a:spcPct val="100000"/>
              </a:lnSpc>
              <a:spcAft>
                <a:spcPts val="0"/>
              </a:spcAft>
            </a:pPr>
            <a:r>
              <a:rPr sz="869" b="0" i="0">
                <a:solidFill>
                  <a:srgbClr val="516577"/>
                </a:solidFill>
                <a:latin typeface="Arial"/>
              </a:rPr>
              <a:t>Bioreactor conditioning differentiates cells into target tissue.</a:t>
            </a:r>
          </a:p>
        </p:txBody>
      </p:sp>
      <p:sp>
        <p:nvSpPr>
          <p:cNvPr id="44" name="Rounded Rectangle 43"/>
          <p:cNvSpPr/>
          <p:nvPr/>
        </p:nvSpPr>
        <p:spPr>
          <a:xfrm>
            <a:off x="502920" y="3182112"/>
            <a:ext cx="3749039" cy="3099816"/>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3438144"/>
            <a:ext cx="2560320" cy="201168"/>
          </a:xfrm>
          <a:prstGeom prst="rect">
            <a:avLst/>
          </a:prstGeom>
          <a:noFill/>
        </p:spPr>
        <p:txBody>
          <a:bodyPr wrap="square" lIns="0" rIns="0" tIns="0" bIns="0" anchor="t">
            <a:noAutofit/>
          </a:bodyPr>
          <a:lstStyle/>
          <a:p>
            <a:pPr algn="l">
              <a:lnSpc>
                <a:spcPct val="100000"/>
              </a:lnSpc>
              <a:spcAft>
                <a:spcPts val="0"/>
              </a:spcAft>
            </a:pPr>
            <a:r>
              <a:rPr sz="819" b="1" i="0">
                <a:solidFill>
                  <a:srgbClr val="183A5A"/>
                </a:solidFill>
                <a:latin typeface="Arial"/>
              </a:rPr>
              <a:t>ORBITAL BIOPRINTING PAYLOAD</a:t>
            </a:r>
          </a:p>
        </p:txBody>
      </p:sp>
      <p:sp>
        <p:nvSpPr>
          <p:cNvPr id="46" name="Rectangle 45"/>
          <p:cNvSpPr/>
          <p:nvPr/>
        </p:nvSpPr>
        <p:spPr>
          <a:xfrm>
            <a:off x="932688" y="4005072"/>
            <a:ext cx="786384" cy="411480"/>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rapezoid 46"/>
          <p:cNvSpPr/>
          <p:nvPr/>
        </p:nvSpPr>
        <p:spPr>
          <a:xfrm>
            <a:off x="1097280" y="4379976"/>
            <a:ext cx="457200" cy="310896"/>
          </a:xfrm>
          <a:prstGeom prst="trapezoid">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61872" y="4709160"/>
            <a:ext cx="128016" cy="128016"/>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325880" y="4837176"/>
            <a:ext cx="0" cy="173736"/>
          </a:xfrm>
          <a:prstGeom prst="line">
            <a:avLst/>
          </a:prstGeom>
          <a:ln w="15240">
            <a:solidFill>
              <a:srgbClr val="00A88F"/>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947672" y="3950208"/>
            <a:ext cx="1783080" cy="1508760"/>
          </a:xfrm>
          <a:prstGeom prst="roundRect">
            <a:avLst/>
          </a:prstGeom>
          <a:solidFill>
            <a:srgbClr val="FFFFFF"/>
          </a:solidFill>
          <a:ln w="10160">
            <a:solidFill>
              <a:srgbClr val="B7CA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2340863" y="4864608"/>
            <a:ext cx="987552" cy="96012"/>
          </a:xfrm>
          <a:prstGeom prst="round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2249424" y="4681728"/>
            <a:ext cx="1170432" cy="96012"/>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2167128" y="4498848"/>
            <a:ext cx="1335024" cy="96012"/>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2103120" y="4315968"/>
            <a:ext cx="1463040" cy="96012"/>
          </a:xfrm>
          <a:prstGeom prst="round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1389888" y="4956048"/>
            <a:ext cx="557784" cy="0"/>
          </a:xfrm>
          <a:prstGeom prst="line">
            <a:avLst/>
          </a:prstGeom>
          <a:ln w="16510">
            <a:solidFill>
              <a:srgbClr val="007F72"/>
            </a:solidFill>
          </a:ln>
        </p:spPr>
        <p:style>
          <a:lnRef idx="2">
            <a:schemeClr val="accent1"/>
          </a:lnRef>
          <a:fillRef idx="0">
            <a:schemeClr val="accent1"/>
          </a:fillRef>
          <a:effectRef idx="1">
            <a:schemeClr val="accent1"/>
          </a:effectRef>
          <a:fontRef idx="minor">
            <a:schemeClr val="tx1"/>
          </a:fontRef>
        </p:style>
      </p:cxnSp>
      <p:sp>
        <p:nvSpPr>
          <p:cNvPr id="56" name="Chevron 55"/>
          <p:cNvSpPr/>
          <p:nvPr/>
        </p:nvSpPr>
        <p:spPr>
          <a:xfrm>
            <a:off x="1783080" y="4818888"/>
            <a:ext cx="219456" cy="274320"/>
          </a:xfrm>
          <a:prstGeom prst="chevron">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6112" y="5715000"/>
            <a:ext cx="2971800" cy="219456"/>
          </a:xfrm>
          <a:prstGeom prst="rect">
            <a:avLst/>
          </a:prstGeom>
          <a:noFill/>
        </p:spPr>
        <p:txBody>
          <a:bodyPr wrap="square" lIns="0" rIns="0" tIns="0" bIns="0" anchor="t">
            <a:noAutofit/>
          </a:bodyPr>
          <a:lstStyle/>
          <a:p>
            <a:pPr algn="ctr">
              <a:lnSpc>
                <a:spcPct val="100000"/>
              </a:lnSpc>
              <a:spcAft>
                <a:spcPts val="0"/>
              </a:spcAft>
            </a:pPr>
            <a:r>
              <a:rPr sz="860" b="0" i="0">
                <a:solidFill>
                  <a:srgbClr val="516577"/>
                </a:solidFill>
                <a:latin typeface="Arial"/>
              </a:rPr>
              <a:t>Layer-by-layer deposition</a:t>
            </a:r>
          </a:p>
        </p:txBody>
      </p:sp>
      <p:sp>
        <p:nvSpPr>
          <p:cNvPr id="58" name="Rounded Rectangle 57"/>
          <p:cNvSpPr/>
          <p:nvPr/>
        </p:nvSpPr>
        <p:spPr>
          <a:xfrm>
            <a:off x="4453128" y="3182112"/>
            <a:ext cx="7232904" cy="309981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36592" y="3447288"/>
            <a:ext cx="2011680" cy="320040"/>
          </a:xfrm>
          <a:prstGeom prst="rect">
            <a:avLst/>
          </a:prstGeom>
          <a:noFill/>
        </p:spPr>
        <p:txBody>
          <a:bodyPr wrap="square" lIns="0" rIns="0" tIns="0" bIns="0" anchor="t">
            <a:noAutofit/>
          </a:bodyPr>
          <a:lstStyle/>
          <a:p>
            <a:pPr algn="l">
              <a:lnSpc>
                <a:spcPct val="100000"/>
              </a:lnSpc>
              <a:spcAft>
                <a:spcPts val="0"/>
              </a:spcAft>
            </a:pPr>
            <a:r>
              <a:rPr sz="1800" b="1" i="0">
                <a:solidFill>
                  <a:srgbClr val="0B2035"/>
                </a:solidFill>
                <a:latin typeface="Arial"/>
              </a:rPr>
              <a:t>Why orbit?</a:t>
            </a:r>
          </a:p>
        </p:txBody>
      </p:sp>
      <p:sp>
        <p:nvSpPr>
          <p:cNvPr id="60" name="TextBox 59"/>
          <p:cNvSpPr txBox="1"/>
          <p:nvPr/>
        </p:nvSpPr>
        <p:spPr>
          <a:xfrm>
            <a:off x="4736592" y="3931920"/>
            <a:ext cx="6601968" cy="1097280"/>
          </a:xfrm>
          <a:prstGeom prst="rect">
            <a:avLst/>
          </a:prstGeom>
          <a:noFill/>
        </p:spPr>
        <p:txBody>
          <a:bodyPr wrap="square" lIns="0" rIns="0" tIns="0" bIns="0" anchor="t">
            <a:noAutofit/>
          </a:bodyPr>
          <a:lstStyle/>
          <a:p>
            <a:pPr algn="l">
              <a:lnSpc>
                <a:spcPct val="100000"/>
              </a:lnSpc>
              <a:spcAft>
                <a:spcPts val="0"/>
              </a:spcAft>
            </a:pPr>
            <a:r>
              <a:rPr sz="1019" b="0" i="0">
                <a:solidFill>
                  <a:srgbClr val="516577"/>
                </a:solidFill>
                <a:latin typeface="Arial"/>
              </a:rPr>
              <a:t>In the near-weightlessness of ISS orbit (~400 km altitude), tissues grow in true three dimensions with no gravitational compression. The principle has been validated continuously since 2018 across NASA, Redwire Corporation, ROSCOSMOS, LambdaVision Inc., and ESA/DLR — eight years of confirmation by organisations operating independently of one another.</a:t>
            </a:r>
          </a:p>
        </p:txBody>
      </p:sp>
      <p:sp>
        <p:nvSpPr>
          <p:cNvPr id="61" name="Rounded Rectangle 60"/>
          <p:cNvSpPr/>
          <p:nvPr/>
        </p:nvSpPr>
        <p:spPr>
          <a:xfrm>
            <a:off x="4736592" y="5230368"/>
            <a:ext cx="6601968" cy="768096"/>
          </a:xfrm>
          <a:prstGeom prst="roundRect">
            <a:avLst/>
          </a:prstGeom>
          <a:solidFill>
            <a:srgbClr val="F8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965192" y="5394960"/>
            <a:ext cx="1280160" cy="182880"/>
          </a:xfrm>
          <a:prstGeom prst="rect">
            <a:avLst/>
          </a:prstGeom>
          <a:noFill/>
        </p:spPr>
        <p:txBody>
          <a:bodyPr wrap="square" lIns="0" rIns="0" tIns="0" bIns="0" anchor="t">
            <a:noAutofit/>
          </a:bodyPr>
          <a:lstStyle/>
          <a:p>
            <a:pPr algn="l">
              <a:lnSpc>
                <a:spcPct val="100000"/>
              </a:lnSpc>
              <a:spcAft>
                <a:spcPts val="0"/>
              </a:spcAft>
            </a:pPr>
            <a:r>
              <a:rPr sz="740" b="1" i="0">
                <a:solidFill>
                  <a:srgbClr val="896619"/>
                </a:solidFill>
                <a:latin typeface="Arial"/>
              </a:rPr>
              <a:t>HIGH-VALUE TARGET</a:t>
            </a:r>
          </a:p>
        </p:txBody>
      </p:sp>
      <p:sp>
        <p:nvSpPr>
          <p:cNvPr id="63" name="TextBox 62"/>
          <p:cNvSpPr txBox="1"/>
          <p:nvPr/>
        </p:nvSpPr>
        <p:spPr>
          <a:xfrm>
            <a:off x="6291072" y="5358384"/>
            <a:ext cx="4754880" cy="384048"/>
          </a:xfrm>
          <a:prstGeom prst="rect">
            <a:avLst/>
          </a:prstGeom>
          <a:noFill/>
        </p:spPr>
        <p:txBody>
          <a:bodyPr wrap="square" lIns="0" rIns="0" tIns="0" bIns="0" anchor="t">
            <a:noAutofit/>
          </a:bodyPr>
          <a:lstStyle/>
          <a:p>
            <a:pPr algn="l">
              <a:lnSpc>
                <a:spcPct val="100000"/>
              </a:lnSpc>
              <a:spcAft>
                <a:spcPts val="0"/>
              </a:spcAft>
            </a:pPr>
            <a:r>
              <a:rPr sz="890" b="0" i="0">
                <a:solidFill>
                  <a:srgbClr val="183A5A"/>
                </a:solidFill>
                <a:latin typeface="Arial"/>
              </a:rPr>
              <a:t>Adult cardiac muscle cannot self-regenerate; scar tissue blocks electrical signals. This is a key driver of CVD mortality and why cardiac is Samuel’s highest-value target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PRODUCT STRATEGY</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Four High-Value Clinical Verticals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07</a:t>
            </a:r>
          </a:p>
        </p:txBody>
      </p:sp>
      <p:sp>
        <p:nvSpPr>
          <p:cNvPr id="15" name="Rounded Rectangle 14"/>
          <p:cNvSpPr/>
          <p:nvPr/>
        </p:nvSpPr>
        <p:spPr>
          <a:xfrm>
            <a:off x="502920" y="1307592"/>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307592"/>
            <a:ext cx="73152" cy="2313432"/>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1581912"/>
            <a:ext cx="530352" cy="530352"/>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1581912"/>
            <a:ext cx="530352" cy="530352"/>
          </a:xfrm>
          <a:prstGeom prst="rect">
            <a:avLst/>
          </a:prstGeom>
          <a:noFill/>
        </p:spPr>
        <p:txBody>
          <a:bodyPr wrap="square" lIns="0" rIns="0" tIns="0" bIns="0" anchor="ctr">
            <a:noAutofit/>
          </a:bodyPr>
          <a:lstStyle/>
          <a:p>
            <a:pPr algn="ctr">
              <a:lnSpc>
                <a:spcPct val="100000"/>
              </a:lnSpc>
              <a:spcAft>
                <a:spcPts val="0"/>
              </a:spcAft>
            </a:pPr>
            <a:r>
              <a:rPr sz="850" b="1" i="0">
                <a:solidFill>
                  <a:srgbClr val="00A88F"/>
                </a:solidFill>
                <a:latin typeface="Arial"/>
              </a:rPr>
              <a:t>CT</a:t>
            </a:r>
          </a:p>
        </p:txBody>
      </p:sp>
      <p:sp>
        <p:nvSpPr>
          <p:cNvPr id="19" name="TextBox 18"/>
          <p:cNvSpPr txBox="1"/>
          <p:nvPr/>
        </p:nvSpPr>
        <p:spPr>
          <a:xfrm>
            <a:off x="1490472" y="1600200"/>
            <a:ext cx="3566160" cy="320040"/>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Cardiac Tissue</a:t>
            </a:r>
          </a:p>
        </p:txBody>
      </p:sp>
      <p:sp>
        <p:nvSpPr>
          <p:cNvPr id="20" name="TextBox 19"/>
          <p:cNvSpPr txBox="1"/>
          <p:nvPr/>
        </p:nvSpPr>
        <p:spPr>
          <a:xfrm>
            <a:off x="777240" y="2203704"/>
            <a:ext cx="4882896" cy="850392"/>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CVD kills ~2,500 Americans daily. Adult heart tissue cannot regenerate. Redwire returned the first live human cardiac tissue from orbit in May 2024 under BFF-Cardiac.</a:t>
            </a:r>
          </a:p>
        </p:txBody>
      </p:sp>
      <p:sp>
        <p:nvSpPr>
          <p:cNvPr id="21" name="Rectangle 20"/>
          <p:cNvSpPr/>
          <p:nvPr/>
        </p:nvSpPr>
        <p:spPr>
          <a:xfrm>
            <a:off x="777240" y="3209544"/>
            <a:ext cx="4882896" cy="27432"/>
          </a:xfrm>
          <a:prstGeom prst="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300984"/>
            <a:ext cx="4882896" cy="164592"/>
          </a:xfrm>
          <a:prstGeom prst="rect">
            <a:avLst/>
          </a:prstGeom>
          <a:noFill/>
        </p:spPr>
        <p:txBody>
          <a:bodyPr wrap="square" lIns="0" rIns="0" tIns="0" bIns="0" anchor="t">
            <a:noAutofit/>
          </a:bodyPr>
          <a:lstStyle/>
          <a:p>
            <a:pPr algn="l">
              <a:lnSpc>
                <a:spcPct val="100000"/>
              </a:lnSpc>
              <a:spcAft>
                <a:spcPts val="0"/>
              </a:spcAft>
            </a:pPr>
            <a:r>
              <a:rPr sz="690" b="1" i="0">
                <a:solidFill>
                  <a:srgbClr val="00A88F"/>
                </a:solidFill>
                <a:latin typeface="Arial"/>
              </a:rPr>
              <a:t>PROVEN BY  /  REDWIRE BFF-CARDIAC · ISS · MAY 2024</a:t>
            </a:r>
          </a:p>
        </p:txBody>
      </p:sp>
      <p:sp>
        <p:nvSpPr>
          <p:cNvPr id="23" name="Rounded Rectangle 22"/>
          <p:cNvSpPr/>
          <p:nvPr/>
        </p:nvSpPr>
        <p:spPr>
          <a:xfrm>
            <a:off x="6208776" y="1307592"/>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1307592"/>
            <a:ext cx="73152" cy="2313432"/>
          </a:xfrm>
          <a:prstGeom prst="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83096" y="1581912"/>
            <a:ext cx="530352" cy="530352"/>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83096" y="1581912"/>
            <a:ext cx="530352" cy="530352"/>
          </a:xfrm>
          <a:prstGeom prst="rect">
            <a:avLst/>
          </a:prstGeom>
          <a:noFill/>
        </p:spPr>
        <p:txBody>
          <a:bodyPr wrap="square" lIns="0" rIns="0" tIns="0" bIns="0" anchor="ctr">
            <a:noAutofit/>
          </a:bodyPr>
          <a:lstStyle/>
          <a:p>
            <a:pPr algn="ctr">
              <a:lnSpc>
                <a:spcPct val="100000"/>
              </a:lnSpc>
              <a:spcAft>
                <a:spcPts val="0"/>
              </a:spcAft>
            </a:pPr>
            <a:r>
              <a:rPr sz="850" b="1" i="0">
                <a:solidFill>
                  <a:srgbClr val="3C6E9B"/>
                </a:solidFill>
                <a:latin typeface="Arial"/>
              </a:rPr>
              <a:t>OG</a:t>
            </a:r>
          </a:p>
        </p:txBody>
      </p:sp>
      <p:sp>
        <p:nvSpPr>
          <p:cNvPr id="27" name="TextBox 26"/>
          <p:cNvSpPr txBox="1"/>
          <p:nvPr/>
        </p:nvSpPr>
        <p:spPr>
          <a:xfrm>
            <a:off x="7196328" y="1600200"/>
            <a:ext cx="3566160" cy="320040"/>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Orthopedic Grafts</a:t>
            </a:r>
          </a:p>
        </p:txBody>
      </p:sp>
      <p:sp>
        <p:nvSpPr>
          <p:cNvPr id="28" name="TextBox 27"/>
          <p:cNvSpPr txBox="1"/>
          <p:nvPr/>
        </p:nvSpPr>
        <p:spPr>
          <a:xfrm>
            <a:off x="6483096" y="2203704"/>
            <a:ext cx="4882896" cy="850392"/>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Meniscal tears are among the most common U.S. military injuries. Redwire printed the first human knee meniscus in orbit in September 2023, establishing the foundational protocol.</a:t>
            </a:r>
          </a:p>
        </p:txBody>
      </p:sp>
      <p:sp>
        <p:nvSpPr>
          <p:cNvPr id="29" name="Rectangle 28"/>
          <p:cNvSpPr/>
          <p:nvPr/>
        </p:nvSpPr>
        <p:spPr>
          <a:xfrm>
            <a:off x="6483096" y="3209544"/>
            <a:ext cx="4882896" cy="27432"/>
          </a:xfrm>
          <a:prstGeom prst="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3300984"/>
            <a:ext cx="4882896" cy="164592"/>
          </a:xfrm>
          <a:prstGeom prst="rect">
            <a:avLst/>
          </a:prstGeom>
          <a:noFill/>
        </p:spPr>
        <p:txBody>
          <a:bodyPr wrap="square" lIns="0" rIns="0" tIns="0" bIns="0" anchor="t">
            <a:noAutofit/>
          </a:bodyPr>
          <a:lstStyle/>
          <a:p>
            <a:pPr algn="l">
              <a:lnSpc>
                <a:spcPct val="100000"/>
              </a:lnSpc>
              <a:spcAft>
                <a:spcPts val="0"/>
              </a:spcAft>
            </a:pPr>
            <a:r>
              <a:rPr sz="690" b="1" i="0">
                <a:solidFill>
                  <a:srgbClr val="3C6E9B"/>
                </a:solidFill>
                <a:latin typeface="Arial"/>
              </a:rPr>
              <a:t>PROVEN BY  /  REDWIRE BFF-MENISCUS-2 · ISS · SEP 2023</a:t>
            </a:r>
          </a:p>
        </p:txBody>
      </p:sp>
      <p:sp>
        <p:nvSpPr>
          <p:cNvPr id="31" name="Rounded Rectangle 30"/>
          <p:cNvSpPr/>
          <p:nvPr/>
        </p:nvSpPr>
        <p:spPr>
          <a:xfrm>
            <a:off x="502920" y="3785615"/>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3785615"/>
            <a:ext cx="73152" cy="2313432"/>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77240" y="4059935"/>
            <a:ext cx="530352" cy="530352"/>
          </a:xfrm>
          <a:prstGeom prst="ellipse">
            <a:avLst/>
          </a:prstGeom>
          <a:solidFill>
            <a:srgbClr val="F8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059935"/>
            <a:ext cx="530352" cy="530352"/>
          </a:xfrm>
          <a:prstGeom prst="rect">
            <a:avLst/>
          </a:prstGeom>
          <a:noFill/>
        </p:spPr>
        <p:txBody>
          <a:bodyPr wrap="square" lIns="0" rIns="0" tIns="0" bIns="0" anchor="ctr">
            <a:noAutofit/>
          </a:bodyPr>
          <a:lstStyle/>
          <a:p>
            <a:pPr algn="ctr">
              <a:lnSpc>
                <a:spcPct val="100000"/>
              </a:lnSpc>
              <a:spcAft>
                <a:spcPts val="0"/>
              </a:spcAft>
            </a:pPr>
            <a:r>
              <a:rPr sz="850" b="1" i="0">
                <a:solidFill>
                  <a:srgbClr val="D7A747"/>
                </a:solidFill>
                <a:latin typeface="Arial"/>
              </a:rPr>
              <a:t>AR</a:t>
            </a:r>
          </a:p>
        </p:txBody>
      </p:sp>
      <p:sp>
        <p:nvSpPr>
          <p:cNvPr id="35" name="TextBox 34"/>
          <p:cNvSpPr txBox="1"/>
          <p:nvPr/>
        </p:nvSpPr>
        <p:spPr>
          <a:xfrm>
            <a:off x="1490472" y="4078224"/>
            <a:ext cx="3566160" cy="320040"/>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Artificial Retinas</a:t>
            </a:r>
          </a:p>
        </p:txBody>
      </p:sp>
      <p:sp>
        <p:nvSpPr>
          <p:cNvPr id="36" name="TextBox 35"/>
          <p:cNvSpPr txBox="1"/>
          <p:nvPr/>
        </p:nvSpPr>
        <p:spPr>
          <a:xfrm>
            <a:off x="777240" y="4681727"/>
            <a:ext cx="4882896" cy="850392"/>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30 million people worldwide suffer from degenerative retinal disease. LambdaVision has produced consistent 200-layer protein retina films in microgravity across nine ISS missions.</a:t>
            </a:r>
          </a:p>
        </p:txBody>
      </p:sp>
      <p:sp>
        <p:nvSpPr>
          <p:cNvPr id="37" name="Rectangle 36"/>
          <p:cNvSpPr/>
          <p:nvPr/>
        </p:nvSpPr>
        <p:spPr>
          <a:xfrm>
            <a:off x="777240" y="5687568"/>
            <a:ext cx="4882896" cy="27432"/>
          </a:xfrm>
          <a:prstGeom prst="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779008"/>
            <a:ext cx="4882896" cy="164592"/>
          </a:xfrm>
          <a:prstGeom prst="rect">
            <a:avLst/>
          </a:prstGeom>
          <a:noFill/>
        </p:spPr>
        <p:txBody>
          <a:bodyPr wrap="square" lIns="0" rIns="0" tIns="0" bIns="0" anchor="t">
            <a:noAutofit/>
          </a:bodyPr>
          <a:lstStyle/>
          <a:p>
            <a:pPr algn="l">
              <a:lnSpc>
                <a:spcPct val="100000"/>
              </a:lnSpc>
              <a:spcAft>
                <a:spcPts val="0"/>
              </a:spcAft>
            </a:pPr>
            <a:r>
              <a:rPr sz="690" b="1" i="0">
                <a:solidFill>
                  <a:srgbClr val="D7A747"/>
                </a:solidFill>
                <a:latin typeface="Arial"/>
              </a:rPr>
              <a:t>PROVEN BY  /  LAMBDAVISION + SPACE TANGO · 9 ISS MISSIONS</a:t>
            </a:r>
          </a:p>
        </p:txBody>
      </p:sp>
      <p:sp>
        <p:nvSpPr>
          <p:cNvPr id="39" name="Rounded Rectangle 38"/>
          <p:cNvSpPr/>
          <p:nvPr/>
        </p:nvSpPr>
        <p:spPr>
          <a:xfrm>
            <a:off x="6208776" y="3785615"/>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08776" y="3785615"/>
            <a:ext cx="73152" cy="2313432"/>
          </a:xfrm>
          <a:prstGeom prst="rect">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83096" y="4059935"/>
            <a:ext cx="530352" cy="530352"/>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83096" y="4059935"/>
            <a:ext cx="530352" cy="530352"/>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WC</a:t>
            </a:r>
          </a:p>
        </p:txBody>
      </p:sp>
      <p:sp>
        <p:nvSpPr>
          <p:cNvPr id="43" name="TextBox 42"/>
          <p:cNvSpPr txBox="1"/>
          <p:nvPr/>
        </p:nvSpPr>
        <p:spPr>
          <a:xfrm>
            <a:off x="7196328" y="4078224"/>
            <a:ext cx="3566160" cy="320040"/>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Wound Care Patches</a:t>
            </a:r>
          </a:p>
        </p:txBody>
      </p:sp>
      <p:sp>
        <p:nvSpPr>
          <p:cNvPr id="44" name="TextBox 43"/>
          <p:cNvSpPr txBox="1"/>
          <p:nvPr/>
        </p:nvSpPr>
        <p:spPr>
          <a:xfrm>
            <a:off x="6483096" y="4681727"/>
            <a:ext cx="4882896" cy="850392"/>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ESA and DLR demonstrated a handheld bioprinter creating customised skin patches aboard the ISS during the Cosmic Kiss mission. Lowest regulatory burden — Samuel’s Phase 1 entry point.</a:t>
            </a:r>
          </a:p>
        </p:txBody>
      </p:sp>
      <p:sp>
        <p:nvSpPr>
          <p:cNvPr id="45" name="Rectangle 44"/>
          <p:cNvSpPr/>
          <p:nvPr/>
        </p:nvSpPr>
        <p:spPr>
          <a:xfrm>
            <a:off x="6483096" y="5687568"/>
            <a:ext cx="4882896" cy="27432"/>
          </a:xfrm>
          <a:prstGeom prst="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83096" y="5779008"/>
            <a:ext cx="4882896" cy="164592"/>
          </a:xfrm>
          <a:prstGeom prst="rect">
            <a:avLst/>
          </a:prstGeom>
          <a:noFill/>
        </p:spPr>
        <p:txBody>
          <a:bodyPr wrap="square" lIns="0" rIns="0" tIns="0" bIns="0" anchor="t">
            <a:noAutofit/>
          </a:bodyPr>
          <a:lstStyle/>
          <a:p>
            <a:pPr algn="l">
              <a:lnSpc>
                <a:spcPct val="100000"/>
              </a:lnSpc>
              <a:spcAft>
                <a:spcPts val="0"/>
              </a:spcAft>
            </a:pPr>
            <a:r>
              <a:rPr sz="690" b="1" i="0">
                <a:solidFill>
                  <a:srgbClr val="007F72"/>
                </a:solidFill>
                <a:latin typeface="Arial"/>
              </a:rPr>
              <a:t>PROVEN BY  /  ESA/DLR BIOPRINT FIRSTAID · ISS ·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THIRD-PARTY VALIDATION</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Eight Years of Proven In-Orbit Bioprinting</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08</a:t>
            </a:r>
          </a:p>
        </p:txBody>
      </p:sp>
      <p:sp>
        <p:nvSpPr>
          <p:cNvPr id="15" name="Rounded Rectangle 14"/>
          <p:cNvSpPr/>
          <p:nvPr/>
        </p:nvSpPr>
        <p:spPr>
          <a:xfrm>
            <a:off x="502920" y="1298448"/>
            <a:ext cx="11183112" cy="621792"/>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1463040"/>
            <a:ext cx="10652760" cy="256032"/>
          </a:xfrm>
          <a:prstGeom prst="rect">
            <a:avLst/>
          </a:prstGeom>
          <a:noFill/>
        </p:spPr>
        <p:txBody>
          <a:bodyPr wrap="square" lIns="0" rIns="0" tIns="0" bIns="0" anchor="ctr">
            <a:noAutofit/>
          </a:bodyPr>
          <a:lstStyle/>
          <a:p>
            <a:pPr algn="l">
              <a:lnSpc>
                <a:spcPct val="100000"/>
              </a:lnSpc>
              <a:spcAft>
                <a:spcPts val="0"/>
              </a:spcAft>
            </a:pPr>
            <a:r>
              <a:rPr sz="1019" b="0" i="0">
                <a:solidFill>
                  <a:srgbClr val="183A5A"/>
                </a:solidFill>
                <a:latin typeface="Arial"/>
              </a:rPr>
              <a:t>Every milestone below was publicly announced by an independent organisation — not by Samuel Space. Together they validate the market premise and demonstrate commercial feasibility.</a:t>
            </a:r>
          </a:p>
        </p:txBody>
      </p:sp>
      <p:cxnSp>
        <p:nvCxnSpPr>
          <p:cNvPr id="17" name="Connector 16"/>
          <p:cNvCxnSpPr/>
          <p:nvPr/>
        </p:nvCxnSpPr>
        <p:spPr>
          <a:xfrm>
            <a:off x="1527048" y="2157984"/>
            <a:ext cx="0" cy="3913632"/>
          </a:xfrm>
          <a:prstGeom prst="line">
            <a:avLst/>
          </a:prstGeom>
          <a:ln w="25400">
            <a:solidFill>
              <a:srgbClr val="AFCFC7"/>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828800" y="2011680"/>
            <a:ext cx="955548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6072" y="2084831"/>
            <a:ext cx="713232" cy="256032"/>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072" y="2093975"/>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2018</a:t>
            </a:r>
          </a:p>
        </p:txBody>
      </p:sp>
      <p:sp>
        <p:nvSpPr>
          <p:cNvPr id="21" name="Oval 20"/>
          <p:cNvSpPr/>
          <p:nvPr/>
        </p:nvSpPr>
        <p:spPr>
          <a:xfrm>
            <a:off x="1453895" y="2121408"/>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01952" y="2057400"/>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ROSCOSMOS Organ.Aut</a:t>
            </a:r>
          </a:p>
        </p:txBody>
      </p:sp>
      <p:sp>
        <p:nvSpPr>
          <p:cNvPr id="23" name="TextBox 22"/>
          <p:cNvSpPr txBox="1"/>
          <p:nvPr/>
        </p:nvSpPr>
        <p:spPr>
          <a:xfrm>
            <a:off x="4389120" y="2057400"/>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First magnetic 3D bioprinter on ISS; tissue constructs created through 2020 prove the in-orbit approach.</a:t>
            </a:r>
          </a:p>
        </p:txBody>
      </p:sp>
      <p:sp>
        <p:nvSpPr>
          <p:cNvPr id="24" name="Rounded Rectangle 23"/>
          <p:cNvSpPr/>
          <p:nvPr/>
        </p:nvSpPr>
        <p:spPr>
          <a:xfrm>
            <a:off x="576072" y="2670048"/>
            <a:ext cx="713232" cy="256032"/>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 y="2679191"/>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2019</a:t>
            </a:r>
          </a:p>
        </p:txBody>
      </p:sp>
      <p:sp>
        <p:nvSpPr>
          <p:cNvPr id="26" name="Oval 25"/>
          <p:cNvSpPr/>
          <p:nvPr/>
        </p:nvSpPr>
        <p:spPr>
          <a:xfrm>
            <a:off x="1453895" y="2706624"/>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01952" y="2642616"/>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Redwire BFF launched</a:t>
            </a:r>
          </a:p>
        </p:txBody>
      </p:sp>
      <p:sp>
        <p:nvSpPr>
          <p:cNvPr id="28" name="TextBox 27"/>
          <p:cNvSpPr txBox="1"/>
          <p:nvPr/>
        </p:nvSpPr>
        <p:spPr>
          <a:xfrm>
            <a:off x="4389120" y="2642616"/>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BioFabrication Facility (Techshot/nScrypt) arrives on ISS; later named a Popular Science Best of What’s New 2023.</a:t>
            </a:r>
          </a:p>
        </p:txBody>
      </p:sp>
      <p:sp>
        <p:nvSpPr>
          <p:cNvPr id="29" name="Rectangle 28"/>
          <p:cNvSpPr/>
          <p:nvPr/>
        </p:nvSpPr>
        <p:spPr>
          <a:xfrm>
            <a:off x="1828800" y="3182112"/>
            <a:ext cx="955548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76072" y="3255264"/>
            <a:ext cx="713232" cy="256032"/>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6072" y="3264408"/>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Dec ’21</a:t>
            </a:r>
          </a:p>
        </p:txBody>
      </p:sp>
      <p:sp>
        <p:nvSpPr>
          <p:cNvPr id="32" name="Oval 31"/>
          <p:cNvSpPr/>
          <p:nvPr/>
        </p:nvSpPr>
        <p:spPr>
          <a:xfrm>
            <a:off x="1453895" y="3291840"/>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01952" y="3227832"/>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ESA Bioprint FirstAid</a:t>
            </a:r>
          </a:p>
        </p:txBody>
      </p:sp>
      <p:sp>
        <p:nvSpPr>
          <p:cNvPr id="34" name="TextBox 33"/>
          <p:cNvSpPr txBox="1"/>
          <p:nvPr/>
        </p:nvSpPr>
        <p:spPr>
          <a:xfrm>
            <a:off x="4389120" y="3227832"/>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Portable handheld bioprinter demonstrated by astronaut Matthias Maurer during the Cosmic Kiss mission.</a:t>
            </a:r>
          </a:p>
        </p:txBody>
      </p:sp>
      <p:sp>
        <p:nvSpPr>
          <p:cNvPr id="35" name="Rounded Rectangle 34"/>
          <p:cNvSpPr/>
          <p:nvPr/>
        </p:nvSpPr>
        <p:spPr>
          <a:xfrm>
            <a:off x="576072" y="3840480"/>
            <a:ext cx="713232" cy="256032"/>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 y="3849624"/>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Sep ’23</a:t>
            </a:r>
          </a:p>
        </p:txBody>
      </p:sp>
      <p:sp>
        <p:nvSpPr>
          <p:cNvPr id="37" name="Oval 36"/>
          <p:cNvSpPr/>
          <p:nvPr/>
        </p:nvSpPr>
        <p:spPr>
          <a:xfrm>
            <a:off x="1453895" y="3877056"/>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01952" y="3813048"/>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First knee meniscus</a:t>
            </a:r>
          </a:p>
        </p:txBody>
      </p:sp>
      <p:sp>
        <p:nvSpPr>
          <p:cNvPr id="39" name="TextBox 38"/>
          <p:cNvSpPr txBox="1"/>
          <p:nvPr/>
        </p:nvSpPr>
        <p:spPr>
          <a:xfrm>
            <a:off x="4389120" y="3813048"/>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Redwire BFF prints the first human knee meniscus in orbit — a musculoskeletal milestone.</a:t>
            </a:r>
          </a:p>
        </p:txBody>
      </p:sp>
      <p:sp>
        <p:nvSpPr>
          <p:cNvPr id="40" name="Rectangle 39"/>
          <p:cNvSpPr/>
          <p:nvPr/>
        </p:nvSpPr>
        <p:spPr>
          <a:xfrm>
            <a:off x="1828800" y="4352544"/>
            <a:ext cx="955548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76072" y="4425696"/>
            <a:ext cx="713232" cy="256032"/>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6072" y="4434840"/>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May ’24</a:t>
            </a:r>
          </a:p>
        </p:txBody>
      </p:sp>
      <p:sp>
        <p:nvSpPr>
          <p:cNvPr id="43" name="Oval 42"/>
          <p:cNvSpPr/>
          <p:nvPr/>
        </p:nvSpPr>
        <p:spPr>
          <a:xfrm>
            <a:off x="1453895" y="4462272"/>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01952" y="4398264"/>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First cardiac tissue</a:t>
            </a:r>
          </a:p>
        </p:txBody>
      </p:sp>
      <p:sp>
        <p:nvSpPr>
          <p:cNvPr id="45" name="TextBox 44"/>
          <p:cNvSpPr txBox="1"/>
          <p:nvPr/>
        </p:nvSpPr>
        <p:spPr>
          <a:xfrm>
            <a:off x="4389120" y="4398264"/>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Redwire returns the first live 3D-bioprinted human cardiac tissue from ISS under BFF-Cardiac.</a:t>
            </a:r>
          </a:p>
        </p:txBody>
      </p:sp>
      <p:sp>
        <p:nvSpPr>
          <p:cNvPr id="46" name="Rounded Rectangle 45"/>
          <p:cNvSpPr/>
          <p:nvPr/>
        </p:nvSpPr>
        <p:spPr>
          <a:xfrm>
            <a:off x="576072" y="5010912"/>
            <a:ext cx="713232" cy="256032"/>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2" y="5020056"/>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Sep ’25</a:t>
            </a:r>
          </a:p>
        </p:txBody>
      </p:sp>
      <p:sp>
        <p:nvSpPr>
          <p:cNvPr id="48" name="Oval 47"/>
          <p:cNvSpPr/>
          <p:nvPr/>
        </p:nvSpPr>
        <p:spPr>
          <a:xfrm>
            <a:off x="1453895" y="5047488"/>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01952" y="4983480"/>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Grants &amp; contracts</a:t>
            </a:r>
          </a:p>
        </p:txBody>
      </p:sp>
      <p:sp>
        <p:nvSpPr>
          <p:cNvPr id="50" name="TextBox 49"/>
          <p:cNvSpPr txBox="1"/>
          <p:nvPr/>
        </p:nvSpPr>
        <p:spPr>
          <a:xfrm>
            <a:off x="4389120" y="4983480"/>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LambdaVision wins NASA InSPA Phase 2; Redwire receives a $25M NASA IDIQ for continued ISS work.</a:t>
            </a:r>
          </a:p>
        </p:txBody>
      </p:sp>
      <p:sp>
        <p:nvSpPr>
          <p:cNvPr id="51" name="Rectangle 50"/>
          <p:cNvSpPr/>
          <p:nvPr/>
        </p:nvSpPr>
        <p:spPr>
          <a:xfrm>
            <a:off x="1828800" y="5522976"/>
            <a:ext cx="955548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576072" y="5596128"/>
            <a:ext cx="713232" cy="256032"/>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6072" y="5605272"/>
            <a:ext cx="71323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183A5A"/>
                </a:solidFill>
                <a:latin typeface="Arial"/>
              </a:rPr>
              <a:t>2026</a:t>
            </a:r>
          </a:p>
        </p:txBody>
      </p:sp>
      <p:sp>
        <p:nvSpPr>
          <p:cNvPr id="54" name="Oval 53"/>
          <p:cNvSpPr/>
          <p:nvPr/>
        </p:nvSpPr>
        <p:spPr>
          <a:xfrm>
            <a:off x="1453895" y="5632704"/>
            <a:ext cx="146304" cy="146304"/>
          </a:xfrm>
          <a:prstGeom prst="ellipse">
            <a:avLst/>
          </a:prstGeom>
          <a:solidFill>
            <a:srgbClr val="00A88F"/>
          </a:solidFill>
          <a:ln w="15240">
            <a:solidFill>
              <a:srgbClr val="F4F7F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901952" y="5568696"/>
            <a:ext cx="2377440" cy="274320"/>
          </a:xfrm>
          <a:prstGeom prst="rect">
            <a:avLst/>
          </a:prstGeom>
          <a:noFill/>
        </p:spPr>
        <p:txBody>
          <a:bodyPr wrap="square" lIns="0" rIns="0" tIns="0" bIns="0" anchor="t">
            <a:noAutofit/>
          </a:bodyPr>
          <a:lstStyle/>
          <a:p>
            <a:pPr algn="l">
              <a:lnSpc>
                <a:spcPct val="100000"/>
              </a:lnSpc>
              <a:spcAft>
                <a:spcPts val="0"/>
              </a:spcAft>
            </a:pPr>
            <a:r>
              <a:rPr sz="1050" b="1" i="0">
                <a:solidFill>
                  <a:srgbClr val="0B2035"/>
                </a:solidFill>
                <a:latin typeface="Arial"/>
              </a:rPr>
              <a:t>Commercial pivot</a:t>
            </a:r>
          </a:p>
        </p:txBody>
      </p:sp>
      <p:sp>
        <p:nvSpPr>
          <p:cNvPr id="56" name="TextBox 55"/>
          <p:cNvSpPr txBox="1"/>
          <p:nvPr/>
        </p:nvSpPr>
        <p:spPr>
          <a:xfrm>
            <a:off x="4389120" y="5568696"/>
            <a:ext cx="6903720" cy="384048"/>
          </a:xfrm>
          <a:prstGeom prst="rect">
            <a:avLst/>
          </a:prstGeom>
          <a:noFill/>
        </p:spPr>
        <p:txBody>
          <a:bodyPr wrap="square" lIns="0" rIns="0" tIns="0" bIns="0" anchor="t">
            <a:noAutofit/>
          </a:bodyPr>
          <a:lstStyle/>
          <a:p>
            <a:pPr algn="l">
              <a:lnSpc>
                <a:spcPct val="100000"/>
              </a:lnSpc>
              <a:spcAft>
                <a:spcPts val="0"/>
              </a:spcAft>
            </a:pPr>
            <a:r>
              <a:rPr sz="890" b="0" i="0">
                <a:solidFill>
                  <a:srgbClr val="516577"/>
                </a:solidFill>
                <a:latin typeface="Arial"/>
              </a:rPr>
              <a:t>LambdaVision closes a $7M seed; commercial-station payload slots are reserved ahead of ISS retirement.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MARKET OPPORTUNITY</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A Rapidly Expanding Global Addressable Market</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09</a:t>
            </a:r>
          </a:p>
        </p:txBody>
      </p:sp>
      <p:sp>
        <p:nvSpPr>
          <p:cNvPr id="15" name="Rounded Rectangle 14"/>
          <p:cNvSpPr/>
          <p:nvPr/>
        </p:nvSpPr>
        <p:spPr>
          <a:xfrm>
            <a:off x="502920" y="1307592"/>
            <a:ext cx="7333488"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1572768"/>
            <a:ext cx="4114800" cy="210312"/>
          </a:xfrm>
          <a:prstGeom prst="rect">
            <a:avLst/>
          </a:prstGeom>
          <a:noFill/>
        </p:spPr>
        <p:txBody>
          <a:bodyPr wrap="square" lIns="0" rIns="0" tIns="0" bIns="0" anchor="t">
            <a:noAutofit/>
          </a:bodyPr>
          <a:lstStyle/>
          <a:p>
            <a:pPr algn="l">
              <a:lnSpc>
                <a:spcPct val="100000"/>
              </a:lnSpc>
              <a:spcAft>
                <a:spcPts val="0"/>
              </a:spcAft>
            </a:pPr>
            <a:r>
              <a:rPr sz="850" b="1" i="0">
                <a:solidFill>
                  <a:srgbClr val="0B2035"/>
                </a:solidFill>
                <a:latin typeface="Arial"/>
              </a:rPr>
              <a:t>GLOBAL 3D BIOPRINTING MARKET  /  USD $B</a:t>
            </a:r>
          </a:p>
        </p:txBody>
      </p:sp>
      <p:cxnSp>
        <p:nvCxnSpPr>
          <p:cNvPr id="17" name="Connector 16"/>
          <p:cNvCxnSpPr/>
          <p:nvPr/>
        </p:nvCxnSpPr>
        <p:spPr>
          <a:xfrm>
            <a:off x="1005840" y="5340096"/>
            <a:ext cx="6355080"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67512" y="5248656"/>
            <a:ext cx="274320" cy="164592"/>
          </a:xfrm>
          <a:prstGeom prst="rect">
            <a:avLst/>
          </a:prstGeom>
          <a:noFill/>
        </p:spPr>
        <p:txBody>
          <a:bodyPr wrap="square" lIns="0" rIns="0" tIns="0" bIns="0" anchor="t">
            <a:noAutofit/>
          </a:bodyPr>
          <a:lstStyle/>
          <a:p>
            <a:pPr algn="r">
              <a:lnSpc>
                <a:spcPct val="100000"/>
              </a:lnSpc>
              <a:spcAft>
                <a:spcPts val="0"/>
              </a:spcAft>
            </a:pPr>
            <a:r>
              <a:rPr sz="700" b="0" i="0">
                <a:solidFill>
                  <a:srgbClr val="718291"/>
                </a:solidFill>
                <a:latin typeface="Arial"/>
              </a:rPr>
              <a:t>$0</a:t>
            </a:r>
          </a:p>
        </p:txBody>
      </p:sp>
      <p:cxnSp>
        <p:nvCxnSpPr>
          <p:cNvPr id="19" name="Connector 18"/>
          <p:cNvCxnSpPr/>
          <p:nvPr/>
        </p:nvCxnSpPr>
        <p:spPr>
          <a:xfrm>
            <a:off x="1005840" y="4512564"/>
            <a:ext cx="6355080"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67512" y="4421124"/>
            <a:ext cx="274320" cy="164592"/>
          </a:xfrm>
          <a:prstGeom prst="rect">
            <a:avLst/>
          </a:prstGeom>
          <a:noFill/>
        </p:spPr>
        <p:txBody>
          <a:bodyPr wrap="square" lIns="0" rIns="0" tIns="0" bIns="0" anchor="t">
            <a:noAutofit/>
          </a:bodyPr>
          <a:lstStyle/>
          <a:p>
            <a:pPr algn="r">
              <a:lnSpc>
                <a:spcPct val="100000"/>
              </a:lnSpc>
              <a:spcAft>
                <a:spcPts val="0"/>
              </a:spcAft>
            </a:pPr>
            <a:r>
              <a:rPr sz="700" b="0" i="0">
                <a:solidFill>
                  <a:srgbClr val="718291"/>
                </a:solidFill>
                <a:latin typeface="Arial"/>
              </a:rPr>
              <a:t>$1</a:t>
            </a:r>
          </a:p>
        </p:txBody>
      </p:sp>
      <p:cxnSp>
        <p:nvCxnSpPr>
          <p:cNvPr id="21" name="Connector 20"/>
          <p:cNvCxnSpPr/>
          <p:nvPr/>
        </p:nvCxnSpPr>
        <p:spPr>
          <a:xfrm>
            <a:off x="1005840" y="3685031"/>
            <a:ext cx="6355080"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67512" y="3593591"/>
            <a:ext cx="274320" cy="164592"/>
          </a:xfrm>
          <a:prstGeom prst="rect">
            <a:avLst/>
          </a:prstGeom>
          <a:noFill/>
        </p:spPr>
        <p:txBody>
          <a:bodyPr wrap="square" lIns="0" rIns="0" tIns="0" bIns="0" anchor="t">
            <a:noAutofit/>
          </a:bodyPr>
          <a:lstStyle/>
          <a:p>
            <a:pPr algn="r">
              <a:lnSpc>
                <a:spcPct val="100000"/>
              </a:lnSpc>
              <a:spcAft>
                <a:spcPts val="0"/>
              </a:spcAft>
            </a:pPr>
            <a:r>
              <a:rPr sz="700" b="0" i="0">
                <a:solidFill>
                  <a:srgbClr val="718291"/>
                </a:solidFill>
                <a:latin typeface="Arial"/>
              </a:rPr>
              <a:t>$2</a:t>
            </a:r>
          </a:p>
        </p:txBody>
      </p:sp>
      <p:cxnSp>
        <p:nvCxnSpPr>
          <p:cNvPr id="23" name="Connector 22"/>
          <p:cNvCxnSpPr/>
          <p:nvPr/>
        </p:nvCxnSpPr>
        <p:spPr>
          <a:xfrm>
            <a:off x="1005840" y="2857500"/>
            <a:ext cx="6355080"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67512" y="2766060"/>
            <a:ext cx="274320" cy="164592"/>
          </a:xfrm>
          <a:prstGeom prst="rect">
            <a:avLst/>
          </a:prstGeom>
          <a:noFill/>
        </p:spPr>
        <p:txBody>
          <a:bodyPr wrap="square" lIns="0" rIns="0" tIns="0" bIns="0" anchor="t">
            <a:noAutofit/>
          </a:bodyPr>
          <a:lstStyle/>
          <a:p>
            <a:pPr algn="r">
              <a:lnSpc>
                <a:spcPct val="100000"/>
              </a:lnSpc>
              <a:spcAft>
                <a:spcPts val="0"/>
              </a:spcAft>
            </a:pPr>
            <a:r>
              <a:rPr sz="700" b="0" i="0">
                <a:solidFill>
                  <a:srgbClr val="718291"/>
                </a:solidFill>
                <a:latin typeface="Arial"/>
              </a:rPr>
              <a:t>$3</a:t>
            </a:r>
          </a:p>
        </p:txBody>
      </p:sp>
      <p:cxnSp>
        <p:nvCxnSpPr>
          <p:cNvPr id="25" name="Connector 24"/>
          <p:cNvCxnSpPr/>
          <p:nvPr/>
        </p:nvCxnSpPr>
        <p:spPr>
          <a:xfrm>
            <a:off x="1005840" y="2029967"/>
            <a:ext cx="6355080"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7512" y="1938527"/>
            <a:ext cx="274320" cy="164592"/>
          </a:xfrm>
          <a:prstGeom prst="rect">
            <a:avLst/>
          </a:prstGeom>
          <a:noFill/>
        </p:spPr>
        <p:txBody>
          <a:bodyPr wrap="square" lIns="0" rIns="0" tIns="0" bIns="0" anchor="t">
            <a:noAutofit/>
          </a:bodyPr>
          <a:lstStyle/>
          <a:p>
            <a:pPr algn="r">
              <a:lnSpc>
                <a:spcPct val="100000"/>
              </a:lnSpc>
              <a:spcAft>
                <a:spcPts val="0"/>
              </a:spcAft>
            </a:pPr>
            <a:r>
              <a:rPr sz="700" b="0" i="0">
                <a:solidFill>
                  <a:srgbClr val="718291"/>
                </a:solidFill>
                <a:latin typeface="Arial"/>
              </a:rPr>
              <a:t>$4</a:t>
            </a:r>
          </a:p>
        </p:txBody>
      </p:sp>
      <p:sp>
        <p:nvSpPr>
          <p:cNvPr id="27" name="Rounded Rectangle 26"/>
          <p:cNvSpPr/>
          <p:nvPr/>
        </p:nvSpPr>
        <p:spPr>
          <a:xfrm>
            <a:off x="1005840" y="4280855"/>
            <a:ext cx="502920" cy="1059240"/>
          </a:xfrm>
          <a:prstGeom prst="roundRect">
            <a:avLst/>
          </a:prstGeom>
          <a:solidFill>
            <a:srgbClr val="74C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033967"/>
            <a:ext cx="722376" cy="164592"/>
          </a:xfrm>
          <a:prstGeom prst="rect">
            <a:avLst/>
          </a:prstGeom>
          <a:noFill/>
        </p:spPr>
        <p:txBody>
          <a:bodyPr wrap="square" lIns="0" rIns="0" tIns="0" bIns="0" anchor="t">
            <a:noAutofit/>
          </a:bodyPr>
          <a:lstStyle/>
          <a:p>
            <a:pPr algn="ctr">
              <a:lnSpc>
                <a:spcPct val="100000"/>
              </a:lnSpc>
              <a:spcAft>
                <a:spcPts val="0"/>
              </a:spcAft>
            </a:pPr>
            <a:r>
              <a:rPr sz="720" b="0" i="0">
                <a:solidFill>
                  <a:srgbClr val="0B2035"/>
                </a:solidFill>
                <a:latin typeface="Arial"/>
              </a:rPr>
              <a:t>$1.28</a:t>
            </a:r>
          </a:p>
        </p:txBody>
      </p:sp>
      <p:sp>
        <p:nvSpPr>
          <p:cNvPr id="29" name="TextBox 28"/>
          <p:cNvSpPr txBox="1"/>
          <p:nvPr/>
        </p:nvSpPr>
        <p:spPr>
          <a:xfrm>
            <a:off x="914400"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2023</a:t>
            </a:r>
          </a:p>
        </p:txBody>
      </p:sp>
      <p:sp>
        <p:nvSpPr>
          <p:cNvPr id="30" name="Rounded Rectangle 29"/>
          <p:cNvSpPr/>
          <p:nvPr/>
        </p:nvSpPr>
        <p:spPr>
          <a:xfrm>
            <a:off x="1841862" y="4131899"/>
            <a:ext cx="502920" cy="1208196"/>
          </a:xfrm>
          <a:prstGeom prst="roundRect">
            <a:avLst/>
          </a:prstGeom>
          <a:solidFill>
            <a:srgbClr val="74C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2134" y="3885011"/>
            <a:ext cx="722376" cy="164592"/>
          </a:xfrm>
          <a:prstGeom prst="rect">
            <a:avLst/>
          </a:prstGeom>
          <a:noFill/>
        </p:spPr>
        <p:txBody>
          <a:bodyPr wrap="square" lIns="0" rIns="0" tIns="0" bIns="0" anchor="t">
            <a:noAutofit/>
          </a:bodyPr>
          <a:lstStyle/>
          <a:p>
            <a:pPr algn="ctr">
              <a:lnSpc>
                <a:spcPct val="100000"/>
              </a:lnSpc>
              <a:spcAft>
                <a:spcPts val="0"/>
              </a:spcAft>
            </a:pPr>
            <a:r>
              <a:rPr sz="720" b="0" i="0">
                <a:solidFill>
                  <a:srgbClr val="0B2035"/>
                </a:solidFill>
                <a:latin typeface="Arial"/>
              </a:rPr>
              <a:t>$1.46</a:t>
            </a:r>
          </a:p>
        </p:txBody>
      </p:sp>
      <p:sp>
        <p:nvSpPr>
          <p:cNvPr id="32" name="TextBox 31"/>
          <p:cNvSpPr txBox="1"/>
          <p:nvPr/>
        </p:nvSpPr>
        <p:spPr>
          <a:xfrm>
            <a:off x="1750422"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2024</a:t>
            </a:r>
          </a:p>
        </p:txBody>
      </p:sp>
      <p:sp>
        <p:nvSpPr>
          <p:cNvPr id="33" name="Rounded Rectangle 32"/>
          <p:cNvSpPr/>
          <p:nvPr/>
        </p:nvSpPr>
        <p:spPr>
          <a:xfrm>
            <a:off x="2677885" y="3933291"/>
            <a:ext cx="502920" cy="1406804"/>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68157" y="3686403"/>
            <a:ext cx="722376" cy="164592"/>
          </a:xfrm>
          <a:prstGeom prst="rect">
            <a:avLst/>
          </a:prstGeom>
          <a:noFill/>
        </p:spPr>
        <p:txBody>
          <a:bodyPr wrap="square" lIns="0" rIns="0" tIns="0" bIns="0" anchor="t">
            <a:noAutofit/>
          </a:bodyPr>
          <a:lstStyle/>
          <a:p>
            <a:pPr algn="ctr">
              <a:lnSpc>
                <a:spcPct val="100000"/>
              </a:lnSpc>
              <a:spcAft>
                <a:spcPts val="0"/>
              </a:spcAft>
            </a:pPr>
            <a:r>
              <a:rPr sz="720" b="1" i="0">
                <a:solidFill>
                  <a:srgbClr val="0B2035"/>
                </a:solidFill>
                <a:latin typeface="Arial"/>
              </a:rPr>
              <a:t>$1.70</a:t>
            </a:r>
          </a:p>
        </p:txBody>
      </p:sp>
      <p:sp>
        <p:nvSpPr>
          <p:cNvPr id="35" name="TextBox 34"/>
          <p:cNvSpPr txBox="1"/>
          <p:nvPr/>
        </p:nvSpPr>
        <p:spPr>
          <a:xfrm>
            <a:off x="2586445"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2025E</a:t>
            </a:r>
          </a:p>
        </p:txBody>
      </p:sp>
      <p:sp>
        <p:nvSpPr>
          <p:cNvPr id="36" name="Rounded Rectangle 35"/>
          <p:cNvSpPr/>
          <p:nvPr/>
        </p:nvSpPr>
        <p:spPr>
          <a:xfrm>
            <a:off x="3513908" y="3709857"/>
            <a:ext cx="502920" cy="1630238"/>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04180" y="3462969"/>
            <a:ext cx="722376" cy="164592"/>
          </a:xfrm>
          <a:prstGeom prst="rect">
            <a:avLst/>
          </a:prstGeom>
          <a:noFill/>
        </p:spPr>
        <p:txBody>
          <a:bodyPr wrap="square" lIns="0" rIns="0" tIns="0" bIns="0" anchor="t">
            <a:noAutofit/>
          </a:bodyPr>
          <a:lstStyle/>
          <a:p>
            <a:pPr algn="ctr">
              <a:lnSpc>
                <a:spcPct val="100000"/>
              </a:lnSpc>
              <a:spcAft>
                <a:spcPts val="0"/>
              </a:spcAft>
            </a:pPr>
            <a:r>
              <a:rPr sz="720" b="0" i="0">
                <a:solidFill>
                  <a:srgbClr val="0B2035"/>
                </a:solidFill>
                <a:latin typeface="Arial"/>
              </a:rPr>
              <a:t>$1.97</a:t>
            </a:r>
          </a:p>
        </p:txBody>
      </p:sp>
      <p:sp>
        <p:nvSpPr>
          <p:cNvPr id="38" name="TextBox 37"/>
          <p:cNvSpPr txBox="1"/>
          <p:nvPr/>
        </p:nvSpPr>
        <p:spPr>
          <a:xfrm>
            <a:off x="3422468"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2026E</a:t>
            </a:r>
          </a:p>
        </p:txBody>
      </p:sp>
      <p:sp>
        <p:nvSpPr>
          <p:cNvPr id="39" name="Rounded Rectangle 38"/>
          <p:cNvSpPr/>
          <p:nvPr/>
        </p:nvSpPr>
        <p:spPr>
          <a:xfrm>
            <a:off x="4349931" y="3453323"/>
            <a:ext cx="502920" cy="1886772"/>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40203" y="3206435"/>
            <a:ext cx="722376" cy="164592"/>
          </a:xfrm>
          <a:prstGeom prst="rect">
            <a:avLst/>
          </a:prstGeom>
          <a:noFill/>
        </p:spPr>
        <p:txBody>
          <a:bodyPr wrap="square" lIns="0" rIns="0" tIns="0" bIns="0" anchor="t">
            <a:noAutofit/>
          </a:bodyPr>
          <a:lstStyle/>
          <a:p>
            <a:pPr algn="ctr">
              <a:lnSpc>
                <a:spcPct val="100000"/>
              </a:lnSpc>
              <a:spcAft>
                <a:spcPts val="0"/>
              </a:spcAft>
            </a:pPr>
            <a:r>
              <a:rPr sz="720" b="0" i="0">
                <a:solidFill>
                  <a:srgbClr val="0B2035"/>
                </a:solidFill>
                <a:latin typeface="Arial"/>
              </a:rPr>
              <a:t>$2.28</a:t>
            </a:r>
          </a:p>
        </p:txBody>
      </p:sp>
      <p:sp>
        <p:nvSpPr>
          <p:cNvPr id="41" name="TextBox 40"/>
          <p:cNvSpPr txBox="1"/>
          <p:nvPr/>
        </p:nvSpPr>
        <p:spPr>
          <a:xfrm>
            <a:off x="4258491"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2027E</a:t>
            </a:r>
          </a:p>
        </p:txBody>
      </p:sp>
      <p:sp>
        <p:nvSpPr>
          <p:cNvPr id="42" name="Rounded Rectangle 41"/>
          <p:cNvSpPr/>
          <p:nvPr/>
        </p:nvSpPr>
        <p:spPr>
          <a:xfrm>
            <a:off x="5185954" y="3155411"/>
            <a:ext cx="502920" cy="2184684"/>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76226" y="2908523"/>
            <a:ext cx="722376" cy="164592"/>
          </a:xfrm>
          <a:prstGeom prst="rect">
            <a:avLst/>
          </a:prstGeom>
          <a:noFill/>
        </p:spPr>
        <p:txBody>
          <a:bodyPr wrap="square" lIns="0" rIns="0" tIns="0" bIns="0" anchor="t">
            <a:noAutofit/>
          </a:bodyPr>
          <a:lstStyle/>
          <a:p>
            <a:pPr algn="ctr">
              <a:lnSpc>
                <a:spcPct val="100000"/>
              </a:lnSpc>
              <a:spcAft>
                <a:spcPts val="0"/>
              </a:spcAft>
            </a:pPr>
            <a:r>
              <a:rPr sz="720" b="0" i="0">
                <a:solidFill>
                  <a:srgbClr val="0B2035"/>
                </a:solidFill>
                <a:latin typeface="Arial"/>
              </a:rPr>
              <a:t>$2.64</a:t>
            </a:r>
          </a:p>
        </p:txBody>
      </p:sp>
      <p:sp>
        <p:nvSpPr>
          <p:cNvPr id="44" name="TextBox 43"/>
          <p:cNvSpPr txBox="1"/>
          <p:nvPr/>
        </p:nvSpPr>
        <p:spPr>
          <a:xfrm>
            <a:off x="5094514"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2028E</a:t>
            </a:r>
          </a:p>
        </p:txBody>
      </p:sp>
      <p:sp>
        <p:nvSpPr>
          <p:cNvPr id="45" name="Rounded Rectangle 44"/>
          <p:cNvSpPr/>
          <p:nvPr/>
        </p:nvSpPr>
        <p:spPr>
          <a:xfrm>
            <a:off x="6021977" y="2807848"/>
            <a:ext cx="502920" cy="2532247"/>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12249" y="2560960"/>
            <a:ext cx="722376" cy="164592"/>
          </a:xfrm>
          <a:prstGeom prst="rect">
            <a:avLst/>
          </a:prstGeom>
          <a:noFill/>
        </p:spPr>
        <p:txBody>
          <a:bodyPr wrap="square" lIns="0" rIns="0" tIns="0" bIns="0" anchor="t">
            <a:noAutofit/>
          </a:bodyPr>
          <a:lstStyle/>
          <a:p>
            <a:pPr algn="ctr">
              <a:lnSpc>
                <a:spcPct val="100000"/>
              </a:lnSpc>
              <a:spcAft>
                <a:spcPts val="0"/>
              </a:spcAft>
            </a:pPr>
            <a:r>
              <a:rPr sz="720" b="0" i="0">
                <a:solidFill>
                  <a:srgbClr val="0B2035"/>
                </a:solidFill>
                <a:latin typeface="Arial"/>
              </a:rPr>
              <a:t>$3.06</a:t>
            </a:r>
          </a:p>
        </p:txBody>
      </p:sp>
      <p:sp>
        <p:nvSpPr>
          <p:cNvPr id="47" name="TextBox 46"/>
          <p:cNvSpPr txBox="1"/>
          <p:nvPr/>
        </p:nvSpPr>
        <p:spPr>
          <a:xfrm>
            <a:off x="5930537"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2029E</a:t>
            </a:r>
          </a:p>
        </p:txBody>
      </p:sp>
      <p:sp>
        <p:nvSpPr>
          <p:cNvPr id="48" name="Rounded Rectangle 47"/>
          <p:cNvSpPr/>
          <p:nvPr/>
        </p:nvSpPr>
        <p:spPr>
          <a:xfrm>
            <a:off x="6858000" y="2452009"/>
            <a:ext cx="502920" cy="2888086"/>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48272" y="2205121"/>
            <a:ext cx="722376" cy="164592"/>
          </a:xfrm>
          <a:prstGeom prst="rect">
            <a:avLst/>
          </a:prstGeom>
          <a:noFill/>
        </p:spPr>
        <p:txBody>
          <a:bodyPr wrap="square" lIns="0" rIns="0" tIns="0" bIns="0" anchor="t">
            <a:noAutofit/>
          </a:bodyPr>
          <a:lstStyle/>
          <a:p>
            <a:pPr algn="ctr">
              <a:lnSpc>
                <a:spcPct val="100000"/>
              </a:lnSpc>
              <a:spcAft>
                <a:spcPts val="0"/>
              </a:spcAft>
            </a:pPr>
            <a:r>
              <a:rPr sz="720" b="1" i="0">
                <a:solidFill>
                  <a:srgbClr val="0B2035"/>
                </a:solidFill>
                <a:latin typeface="Arial"/>
              </a:rPr>
              <a:t>$3.49</a:t>
            </a:r>
          </a:p>
        </p:txBody>
      </p:sp>
      <p:sp>
        <p:nvSpPr>
          <p:cNvPr id="50" name="TextBox 49"/>
          <p:cNvSpPr txBox="1"/>
          <p:nvPr/>
        </p:nvSpPr>
        <p:spPr>
          <a:xfrm>
            <a:off x="6766560" y="5431536"/>
            <a:ext cx="685800" cy="182880"/>
          </a:xfrm>
          <a:prstGeom prst="rect">
            <a:avLst/>
          </a:prstGeom>
          <a:noFill/>
        </p:spPr>
        <p:txBody>
          <a:bodyPr wrap="square" lIns="0" rIns="0" tIns="0" bIns="0" anchor="t">
            <a:noAutofit/>
          </a:bodyPr>
          <a:lstStyle/>
          <a:p>
            <a:pPr algn="ctr">
              <a:lnSpc>
                <a:spcPct val="100000"/>
              </a:lnSpc>
              <a:spcAft>
                <a:spcPts val="0"/>
              </a:spcAft>
            </a:pPr>
            <a:r>
              <a:rPr sz="680" b="0" i="0">
                <a:solidFill>
                  <a:srgbClr val="718291"/>
                </a:solidFill>
                <a:latin typeface="Arial"/>
              </a:rPr>
              <a:t>2030E</a:t>
            </a:r>
          </a:p>
        </p:txBody>
      </p:sp>
      <p:sp>
        <p:nvSpPr>
          <p:cNvPr id="51" name="TextBox 50"/>
          <p:cNvSpPr txBox="1"/>
          <p:nvPr/>
        </p:nvSpPr>
        <p:spPr>
          <a:xfrm>
            <a:off x="768096" y="5961888"/>
            <a:ext cx="6309360" cy="164592"/>
          </a:xfrm>
          <a:prstGeom prst="rect">
            <a:avLst/>
          </a:prstGeom>
          <a:noFill/>
        </p:spPr>
        <p:txBody>
          <a:bodyPr wrap="square" lIns="0" rIns="0" tIns="0" bIns="0" anchor="t">
            <a:noAutofit/>
          </a:bodyPr>
          <a:lstStyle/>
          <a:p>
            <a:pPr algn="l">
              <a:lnSpc>
                <a:spcPct val="100000"/>
              </a:lnSpc>
              <a:spcAft>
                <a:spcPts val="0"/>
              </a:spcAft>
            </a:pPr>
            <a:r>
              <a:rPr sz="680" b="0" i="0">
                <a:solidFill>
                  <a:srgbClr val="718291"/>
                </a:solidFill>
                <a:latin typeface="Arial"/>
              </a:rPr>
              <a:t>Source: Mordor Intelligence, 3D Bioprinting Market Report, Jan 2026  /  ~15.9% CAGR</a:t>
            </a:r>
          </a:p>
        </p:txBody>
      </p:sp>
      <p:sp>
        <p:nvSpPr>
          <p:cNvPr id="52" name="Rounded Rectangle 51"/>
          <p:cNvSpPr/>
          <p:nvPr/>
        </p:nvSpPr>
        <p:spPr>
          <a:xfrm>
            <a:off x="8046720" y="1307592"/>
            <a:ext cx="3639312" cy="11155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046720" y="1307592"/>
            <a:ext cx="64008" cy="111556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75320" y="1463039"/>
            <a:ext cx="3227832"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$3.5B+</a:t>
            </a:r>
          </a:p>
        </p:txBody>
      </p:sp>
      <p:sp>
        <p:nvSpPr>
          <p:cNvPr id="55" name="TextBox 54"/>
          <p:cNvSpPr txBox="1"/>
          <p:nvPr/>
        </p:nvSpPr>
        <p:spPr>
          <a:xfrm>
            <a:off x="8275320" y="1865376"/>
            <a:ext cx="3227832"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2030 market</a:t>
            </a:r>
          </a:p>
        </p:txBody>
      </p:sp>
      <p:sp>
        <p:nvSpPr>
          <p:cNvPr id="56" name="TextBox 55"/>
          <p:cNvSpPr txBox="1"/>
          <p:nvPr/>
        </p:nvSpPr>
        <p:spPr>
          <a:xfrm>
            <a:off x="8275320" y="2148840"/>
            <a:ext cx="3227832" cy="18287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Projected global 3D bioprinting market at ~15.9% CAGR.</a:t>
            </a:r>
          </a:p>
        </p:txBody>
      </p:sp>
      <p:sp>
        <p:nvSpPr>
          <p:cNvPr id="57" name="Rounded Rectangle 56"/>
          <p:cNvSpPr/>
          <p:nvPr/>
        </p:nvSpPr>
        <p:spPr>
          <a:xfrm>
            <a:off x="8046720" y="2551176"/>
            <a:ext cx="3639312" cy="11155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046720" y="2551176"/>
            <a:ext cx="64008" cy="111556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20" y="2706624"/>
            <a:ext cx="3227832"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Dec 2024</a:t>
            </a:r>
          </a:p>
        </p:txBody>
      </p:sp>
      <p:sp>
        <p:nvSpPr>
          <p:cNvPr id="60" name="TextBox 59"/>
          <p:cNvSpPr txBox="1"/>
          <p:nvPr/>
        </p:nvSpPr>
        <p:spPr>
          <a:xfrm>
            <a:off x="8275320" y="3108960"/>
            <a:ext cx="3227832"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Regulatory precedent</a:t>
            </a:r>
          </a:p>
        </p:txBody>
      </p:sp>
      <p:sp>
        <p:nvSpPr>
          <p:cNvPr id="61" name="TextBox 60"/>
          <p:cNvSpPr txBox="1"/>
          <p:nvPr/>
        </p:nvSpPr>
        <p:spPr>
          <a:xfrm>
            <a:off x="8275320" y="3392424"/>
            <a:ext cx="3227832" cy="18287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FDA cleared Symvess — first tissue-engineered vascular graft.</a:t>
            </a:r>
          </a:p>
        </p:txBody>
      </p:sp>
      <p:sp>
        <p:nvSpPr>
          <p:cNvPr id="62" name="Rounded Rectangle 61"/>
          <p:cNvSpPr/>
          <p:nvPr/>
        </p:nvSpPr>
        <p:spPr>
          <a:xfrm>
            <a:off x="8046720" y="3794760"/>
            <a:ext cx="3639312" cy="11155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046720" y="3794760"/>
            <a:ext cx="64008" cy="111556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75320" y="3950208"/>
            <a:ext cx="3227832"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$420M+</a:t>
            </a:r>
          </a:p>
        </p:txBody>
      </p:sp>
      <p:sp>
        <p:nvSpPr>
          <p:cNvPr id="65" name="TextBox 64"/>
          <p:cNvSpPr txBox="1"/>
          <p:nvPr/>
        </p:nvSpPr>
        <p:spPr>
          <a:xfrm>
            <a:off x="8275320" y="4352544"/>
            <a:ext cx="3227832"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Station research</a:t>
            </a:r>
          </a:p>
        </p:txBody>
      </p:sp>
      <p:sp>
        <p:nvSpPr>
          <p:cNvPr id="66" name="TextBox 65"/>
          <p:cNvSpPr txBox="1"/>
          <p:nvPr/>
        </p:nvSpPr>
        <p:spPr>
          <a:xfrm>
            <a:off x="8275320" y="4636008"/>
            <a:ext cx="3227832" cy="18287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Committed by pharma to commercial-station programs through 2030.</a:t>
            </a:r>
          </a:p>
        </p:txBody>
      </p:sp>
      <p:sp>
        <p:nvSpPr>
          <p:cNvPr id="67" name="Rounded Rectangle 66"/>
          <p:cNvSpPr/>
          <p:nvPr/>
        </p:nvSpPr>
        <p:spPr>
          <a:xfrm>
            <a:off x="8046720" y="5038344"/>
            <a:ext cx="3639312" cy="11155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046720" y="5038344"/>
            <a:ext cx="64008" cy="111556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75320" y="5193792"/>
            <a:ext cx="3227832" cy="384048"/>
          </a:xfrm>
          <a:prstGeom prst="rect">
            <a:avLst/>
          </a:prstGeom>
          <a:noFill/>
        </p:spPr>
        <p:txBody>
          <a:bodyPr wrap="square" lIns="0" rIns="0" tIns="0" bIns="0" anchor="ctr">
            <a:noAutofit/>
          </a:bodyPr>
          <a:lstStyle/>
          <a:p>
            <a:pPr algn="l">
              <a:lnSpc>
                <a:spcPct val="100000"/>
              </a:lnSpc>
              <a:spcAft>
                <a:spcPts val="0"/>
              </a:spcAft>
            </a:pPr>
            <a:r>
              <a:rPr sz="2000" b="1" i="0">
                <a:solidFill>
                  <a:srgbClr val="0B2035"/>
                </a:solidFill>
                <a:latin typeface="Arial"/>
              </a:rPr>
              <a:t>$200–400M</a:t>
            </a:r>
          </a:p>
        </p:txBody>
      </p:sp>
      <p:sp>
        <p:nvSpPr>
          <p:cNvPr id="70" name="TextBox 69"/>
          <p:cNvSpPr txBox="1"/>
          <p:nvPr/>
        </p:nvSpPr>
        <p:spPr>
          <a:xfrm>
            <a:off x="8275320" y="5596128"/>
            <a:ext cx="3227832" cy="274320"/>
          </a:xfrm>
          <a:prstGeom prst="rect">
            <a:avLst/>
          </a:prstGeom>
          <a:noFill/>
        </p:spPr>
        <p:txBody>
          <a:bodyPr wrap="square" lIns="0" rIns="0" tIns="0" bIns="0" anchor="t">
            <a:noAutofit/>
          </a:bodyPr>
          <a:lstStyle/>
          <a:p>
            <a:pPr algn="l">
              <a:lnSpc>
                <a:spcPct val="100000"/>
              </a:lnSpc>
              <a:spcAft>
                <a:spcPts val="0"/>
              </a:spcAft>
            </a:pPr>
            <a:r>
              <a:rPr sz="950" b="1" i="0">
                <a:solidFill>
                  <a:srgbClr val="516577"/>
                </a:solidFill>
                <a:latin typeface="Arial"/>
              </a:rPr>
              <a:t>Samuel initial SAM</a:t>
            </a:r>
          </a:p>
        </p:txBody>
      </p:sp>
      <p:sp>
        <p:nvSpPr>
          <p:cNvPr id="71" name="TextBox 70"/>
          <p:cNvSpPr txBox="1"/>
          <p:nvPr/>
        </p:nvSpPr>
        <p:spPr>
          <a:xfrm>
            <a:off x="8275320" y="5879592"/>
            <a:ext cx="3227832" cy="182879"/>
          </a:xfrm>
          <a:prstGeom prst="rect">
            <a:avLst/>
          </a:prstGeom>
          <a:noFill/>
        </p:spPr>
        <p:txBody>
          <a:bodyPr wrap="square" lIns="0" rIns="0" tIns="0" bIns="0" anchor="t">
            <a:noAutofit/>
          </a:bodyPr>
          <a:lstStyle/>
          <a:p>
            <a:pPr algn="l">
              <a:lnSpc>
                <a:spcPct val="100000"/>
              </a:lnSpc>
              <a:spcAft>
                <a:spcPts val="0"/>
              </a:spcAft>
            </a:pPr>
            <a:r>
              <a:rPr sz="840" b="0" i="0">
                <a:solidFill>
                  <a:srgbClr val="718291"/>
                </a:solidFill>
                <a:latin typeface="Arial"/>
              </a:rPr>
              <a:t>Estimated by 2030 across cardiac, ortho, and retinal constructs.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MARKET TIMING</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Four Converging Tailwinds Create a Unique Entry Window</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10</a:t>
            </a:r>
          </a:p>
        </p:txBody>
      </p:sp>
      <p:sp>
        <p:nvSpPr>
          <p:cNvPr id="15" name="Rounded Rectangle 14"/>
          <p:cNvSpPr/>
          <p:nvPr/>
        </p:nvSpPr>
        <p:spPr>
          <a:xfrm>
            <a:off x="502920" y="1307592"/>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307592"/>
            <a:ext cx="82296" cy="2313432"/>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 y="1581912"/>
            <a:ext cx="1828800" cy="384048"/>
          </a:xfrm>
          <a:prstGeom prst="rect">
            <a:avLst/>
          </a:prstGeom>
          <a:noFill/>
        </p:spPr>
        <p:txBody>
          <a:bodyPr wrap="square" lIns="0" rIns="0" tIns="0" bIns="0" anchor="t">
            <a:noAutofit/>
          </a:bodyPr>
          <a:lstStyle/>
          <a:p>
            <a:pPr algn="l">
              <a:lnSpc>
                <a:spcPct val="100000"/>
              </a:lnSpc>
              <a:spcAft>
                <a:spcPts val="0"/>
              </a:spcAft>
            </a:pPr>
            <a:r>
              <a:rPr sz="1900" b="1" i="0">
                <a:solidFill>
                  <a:srgbClr val="00A88F"/>
                </a:solidFill>
                <a:latin typeface="Arial"/>
              </a:rPr>
              <a:t>~89%</a:t>
            </a:r>
          </a:p>
        </p:txBody>
      </p:sp>
      <p:sp>
        <p:nvSpPr>
          <p:cNvPr id="18" name="TextBox 17"/>
          <p:cNvSpPr txBox="1"/>
          <p:nvPr/>
        </p:nvSpPr>
        <p:spPr>
          <a:xfrm>
            <a:off x="2377439" y="1600200"/>
            <a:ext cx="3200400" cy="365760"/>
          </a:xfrm>
          <a:prstGeom prst="rect">
            <a:avLst/>
          </a:prstGeom>
          <a:noFill/>
        </p:spPr>
        <p:txBody>
          <a:bodyPr wrap="square" lIns="0" rIns="0" tIns="0" bIns="0" anchor="t">
            <a:noAutofit/>
          </a:bodyPr>
          <a:lstStyle/>
          <a:p>
            <a:pPr algn="l">
              <a:lnSpc>
                <a:spcPct val="100000"/>
              </a:lnSpc>
              <a:spcAft>
                <a:spcPts val="0"/>
              </a:spcAft>
            </a:pPr>
            <a:r>
              <a:rPr sz="1500" b="1" i="0">
                <a:solidFill>
                  <a:srgbClr val="0B2035"/>
                </a:solidFill>
                <a:latin typeface="Arial"/>
              </a:rPr>
              <a:t>Launch Costs Have Collapsed</a:t>
            </a:r>
          </a:p>
        </p:txBody>
      </p:sp>
      <p:cxnSp>
        <p:nvCxnSpPr>
          <p:cNvPr id="19" name="Connector 18"/>
          <p:cNvCxnSpPr/>
          <p:nvPr/>
        </p:nvCxnSpPr>
        <p:spPr>
          <a:xfrm>
            <a:off x="813816" y="2148840"/>
            <a:ext cx="48280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13816" y="2368296"/>
            <a:ext cx="4800600" cy="932688"/>
          </a:xfrm>
          <a:prstGeom prst="rect">
            <a:avLst/>
          </a:prstGeom>
          <a:noFill/>
        </p:spPr>
        <p:txBody>
          <a:bodyPr wrap="square" lIns="0" rIns="0" tIns="0" bIns="0" anchor="t">
            <a:noAutofit/>
          </a:bodyPr>
          <a:lstStyle/>
          <a:p>
            <a:pPr algn="l">
              <a:lnSpc>
                <a:spcPct val="100000"/>
              </a:lnSpc>
              <a:spcAft>
                <a:spcPts val="0"/>
              </a:spcAft>
            </a:pPr>
            <a:r>
              <a:rPr sz="969" b="0" i="0">
                <a:solidFill>
                  <a:srgbClr val="516577"/>
                </a:solidFill>
                <a:latin typeface="Arial"/>
              </a:rPr>
              <a:t>Cost-to-orbit has fallen from ~$54,000/kg (Space Shuttle era) to ~$6,000/kg (Falcon 9). Starship is expected to reduce this further. Payloads that were cost-prohibitive a decade ago are now commercially viable.</a:t>
            </a:r>
          </a:p>
        </p:txBody>
      </p:sp>
      <p:sp>
        <p:nvSpPr>
          <p:cNvPr id="21" name="Rounded Rectangle 20"/>
          <p:cNvSpPr/>
          <p:nvPr/>
        </p:nvSpPr>
        <p:spPr>
          <a:xfrm>
            <a:off x="6208776" y="1307592"/>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1307592"/>
            <a:ext cx="82296" cy="2313432"/>
          </a:xfrm>
          <a:prstGeom prst="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9672" y="1581912"/>
            <a:ext cx="1828800" cy="384048"/>
          </a:xfrm>
          <a:prstGeom prst="rect">
            <a:avLst/>
          </a:prstGeom>
          <a:noFill/>
        </p:spPr>
        <p:txBody>
          <a:bodyPr wrap="square" lIns="0" rIns="0" tIns="0" bIns="0" anchor="t">
            <a:noAutofit/>
          </a:bodyPr>
          <a:lstStyle/>
          <a:p>
            <a:pPr algn="l">
              <a:lnSpc>
                <a:spcPct val="100000"/>
              </a:lnSpc>
              <a:spcAft>
                <a:spcPts val="0"/>
              </a:spcAft>
            </a:pPr>
            <a:r>
              <a:rPr sz="1900" b="1" i="0">
                <a:solidFill>
                  <a:srgbClr val="3C6E9B"/>
                </a:solidFill>
                <a:latin typeface="Arial"/>
              </a:rPr>
              <a:t>4</a:t>
            </a:r>
          </a:p>
        </p:txBody>
      </p:sp>
      <p:sp>
        <p:nvSpPr>
          <p:cNvPr id="24" name="TextBox 23"/>
          <p:cNvSpPr txBox="1"/>
          <p:nvPr/>
        </p:nvSpPr>
        <p:spPr>
          <a:xfrm>
            <a:off x="8083296" y="1600200"/>
            <a:ext cx="3200400" cy="365760"/>
          </a:xfrm>
          <a:prstGeom prst="rect">
            <a:avLst/>
          </a:prstGeom>
          <a:noFill/>
        </p:spPr>
        <p:txBody>
          <a:bodyPr wrap="square" lIns="0" rIns="0" tIns="0" bIns="0" anchor="t">
            <a:noAutofit/>
          </a:bodyPr>
          <a:lstStyle/>
          <a:p>
            <a:pPr algn="l">
              <a:lnSpc>
                <a:spcPct val="100000"/>
              </a:lnSpc>
              <a:spcAft>
                <a:spcPts val="0"/>
              </a:spcAft>
            </a:pPr>
            <a:r>
              <a:rPr sz="1500" b="1" i="0">
                <a:solidFill>
                  <a:srgbClr val="0B2035"/>
                </a:solidFill>
                <a:latin typeface="Arial"/>
              </a:rPr>
              <a:t>Commercial Stations Are Coming</a:t>
            </a:r>
          </a:p>
        </p:txBody>
      </p:sp>
      <p:cxnSp>
        <p:nvCxnSpPr>
          <p:cNvPr id="25" name="Connector 24"/>
          <p:cNvCxnSpPr/>
          <p:nvPr/>
        </p:nvCxnSpPr>
        <p:spPr>
          <a:xfrm>
            <a:off x="6519672" y="2148840"/>
            <a:ext cx="48280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19672" y="2368296"/>
            <a:ext cx="4800600" cy="932688"/>
          </a:xfrm>
          <a:prstGeom prst="rect">
            <a:avLst/>
          </a:prstGeom>
          <a:noFill/>
        </p:spPr>
        <p:txBody>
          <a:bodyPr wrap="square" lIns="0" rIns="0" tIns="0" bIns="0" anchor="t">
            <a:noAutofit/>
          </a:bodyPr>
          <a:lstStyle/>
          <a:p>
            <a:pPr algn="l">
              <a:lnSpc>
                <a:spcPct val="100000"/>
              </a:lnSpc>
              <a:spcAft>
                <a:spcPts val="0"/>
              </a:spcAft>
            </a:pPr>
            <a:r>
              <a:rPr sz="969" b="0" i="0">
                <a:solidFill>
                  <a:srgbClr val="516577"/>
                </a:solidFill>
                <a:latin typeface="Arial"/>
              </a:rPr>
              <a:t>ISS retires ~2030. NASA’s CLD program has funded four successors: Starlab, Axiom Station, Orbital Reef, and Vast Haven-1. Samuel is designed station-agnostic from day one.</a:t>
            </a:r>
          </a:p>
        </p:txBody>
      </p:sp>
      <p:sp>
        <p:nvSpPr>
          <p:cNvPr id="27" name="Rounded Rectangle 26"/>
          <p:cNvSpPr/>
          <p:nvPr/>
        </p:nvSpPr>
        <p:spPr>
          <a:xfrm>
            <a:off x="502920" y="3785615"/>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3785615"/>
            <a:ext cx="82296" cy="2313432"/>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3816" y="4059935"/>
            <a:ext cx="1828800" cy="384048"/>
          </a:xfrm>
          <a:prstGeom prst="rect">
            <a:avLst/>
          </a:prstGeom>
          <a:noFill/>
        </p:spPr>
        <p:txBody>
          <a:bodyPr wrap="square" lIns="0" rIns="0" tIns="0" bIns="0" anchor="t">
            <a:noAutofit/>
          </a:bodyPr>
          <a:lstStyle/>
          <a:p>
            <a:pPr algn="l">
              <a:lnSpc>
                <a:spcPct val="100000"/>
              </a:lnSpc>
              <a:spcAft>
                <a:spcPts val="0"/>
              </a:spcAft>
            </a:pPr>
            <a:r>
              <a:rPr sz="1900" b="1" i="0">
                <a:solidFill>
                  <a:srgbClr val="D7A747"/>
                </a:solidFill>
                <a:latin typeface="Arial"/>
              </a:rPr>
              <a:t>Dec 2024</a:t>
            </a:r>
          </a:p>
        </p:txBody>
      </p:sp>
      <p:sp>
        <p:nvSpPr>
          <p:cNvPr id="30" name="TextBox 29"/>
          <p:cNvSpPr txBox="1"/>
          <p:nvPr/>
        </p:nvSpPr>
        <p:spPr>
          <a:xfrm>
            <a:off x="2377439" y="4078224"/>
            <a:ext cx="3200400" cy="365760"/>
          </a:xfrm>
          <a:prstGeom prst="rect">
            <a:avLst/>
          </a:prstGeom>
          <a:noFill/>
        </p:spPr>
        <p:txBody>
          <a:bodyPr wrap="square" lIns="0" rIns="0" tIns="0" bIns="0" anchor="t">
            <a:noAutofit/>
          </a:bodyPr>
          <a:lstStyle/>
          <a:p>
            <a:pPr algn="l">
              <a:lnSpc>
                <a:spcPct val="100000"/>
              </a:lnSpc>
              <a:spcAft>
                <a:spcPts val="0"/>
              </a:spcAft>
            </a:pPr>
            <a:r>
              <a:rPr sz="1500" b="1" i="0">
                <a:solidFill>
                  <a:srgbClr val="0B2035"/>
                </a:solidFill>
                <a:latin typeface="Arial"/>
              </a:rPr>
              <a:t>Regulatory Precedent Is Set</a:t>
            </a:r>
          </a:p>
        </p:txBody>
      </p:sp>
      <p:cxnSp>
        <p:nvCxnSpPr>
          <p:cNvPr id="31" name="Connector 30"/>
          <p:cNvCxnSpPr/>
          <p:nvPr/>
        </p:nvCxnSpPr>
        <p:spPr>
          <a:xfrm>
            <a:off x="813816" y="4626864"/>
            <a:ext cx="48280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13816" y="4846320"/>
            <a:ext cx="4800600" cy="932688"/>
          </a:xfrm>
          <a:prstGeom prst="rect">
            <a:avLst/>
          </a:prstGeom>
          <a:noFill/>
        </p:spPr>
        <p:txBody>
          <a:bodyPr wrap="square" lIns="0" rIns="0" tIns="0" bIns="0" anchor="t">
            <a:noAutofit/>
          </a:bodyPr>
          <a:lstStyle/>
          <a:p>
            <a:pPr algn="l">
              <a:lnSpc>
                <a:spcPct val="100000"/>
              </a:lnSpc>
              <a:spcAft>
                <a:spcPts val="0"/>
              </a:spcAft>
            </a:pPr>
            <a:r>
              <a:rPr sz="969" b="0" i="0">
                <a:solidFill>
                  <a:srgbClr val="516577"/>
                </a:solidFill>
                <a:latin typeface="Arial"/>
              </a:rPr>
              <a:t>The FDA cleared Symvess — the first tissue-engineered synthetic vascular graft. This is the most important direct precedent for clinical bioprinted tissue and validates the review pathway.</a:t>
            </a:r>
          </a:p>
        </p:txBody>
      </p:sp>
      <p:sp>
        <p:nvSpPr>
          <p:cNvPr id="33" name="Rounded Rectangle 32"/>
          <p:cNvSpPr/>
          <p:nvPr/>
        </p:nvSpPr>
        <p:spPr>
          <a:xfrm>
            <a:off x="6208776" y="3785615"/>
            <a:ext cx="5477256" cy="231343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08776" y="3785615"/>
            <a:ext cx="82296" cy="2313432"/>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9672" y="4059935"/>
            <a:ext cx="1828800" cy="384048"/>
          </a:xfrm>
          <a:prstGeom prst="rect">
            <a:avLst/>
          </a:prstGeom>
          <a:noFill/>
        </p:spPr>
        <p:txBody>
          <a:bodyPr wrap="square" lIns="0" rIns="0" tIns="0" bIns="0" anchor="t">
            <a:noAutofit/>
          </a:bodyPr>
          <a:lstStyle/>
          <a:p>
            <a:pPr algn="l">
              <a:lnSpc>
                <a:spcPct val="100000"/>
              </a:lnSpc>
              <a:spcAft>
                <a:spcPts val="0"/>
              </a:spcAft>
            </a:pPr>
            <a:r>
              <a:rPr sz="1900" b="1" i="0">
                <a:solidFill>
                  <a:srgbClr val="183A5A"/>
                </a:solidFill>
                <a:latin typeface="Arial"/>
              </a:rPr>
              <a:t>$329M</a:t>
            </a:r>
          </a:p>
        </p:txBody>
      </p:sp>
      <p:sp>
        <p:nvSpPr>
          <p:cNvPr id="36" name="TextBox 35"/>
          <p:cNvSpPr txBox="1"/>
          <p:nvPr/>
        </p:nvSpPr>
        <p:spPr>
          <a:xfrm>
            <a:off x="8083296" y="4078224"/>
            <a:ext cx="3200400" cy="365760"/>
          </a:xfrm>
          <a:prstGeom prst="rect">
            <a:avLst/>
          </a:prstGeom>
          <a:noFill/>
        </p:spPr>
        <p:txBody>
          <a:bodyPr wrap="square" lIns="0" rIns="0" tIns="0" bIns="0" anchor="t">
            <a:noAutofit/>
          </a:bodyPr>
          <a:lstStyle/>
          <a:p>
            <a:pPr algn="l">
              <a:lnSpc>
                <a:spcPct val="100000"/>
              </a:lnSpc>
              <a:spcAft>
                <a:spcPts val="0"/>
              </a:spcAft>
            </a:pPr>
            <a:r>
              <a:rPr sz="1500" b="1" i="0">
                <a:solidFill>
                  <a:srgbClr val="0B2035"/>
                </a:solidFill>
                <a:latin typeface="Arial"/>
              </a:rPr>
              <a:t>Capital Is Already Flowing</a:t>
            </a:r>
          </a:p>
        </p:txBody>
      </p:sp>
      <p:cxnSp>
        <p:nvCxnSpPr>
          <p:cNvPr id="37" name="Connector 36"/>
          <p:cNvCxnSpPr/>
          <p:nvPr/>
        </p:nvCxnSpPr>
        <p:spPr>
          <a:xfrm>
            <a:off x="6519672" y="4626864"/>
            <a:ext cx="48280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519672" y="4846320"/>
            <a:ext cx="4800600" cy="932688"/>
          </a:xfrm>
          <a:prstGeom prst="rect">
            <a:avLst/>
          </a:prstGeom>
          <a:noFill/>
        </p:spPr>
        <p:txBody>
          <a:bodyPr wrap="square" lIns="0" rIns="0" tIns="0" bIns="0" anchor="t">
            <a:noAutofit/>
          </a:bodyPr>
          <a:lstStyle/>
          <a:p>
            <a:pPr algn="l">
              <a:lnSpc>
                <a:spcPct val="100000"/>
              </a:lnSpc>
              <a:spcAft>
                <a:spcPts val="0"/>
              </a:spcAft>
            </a:pPr>
            <a:r>
              <a:rPr sz="969" b="0" i="0">
                <a:solidFill>
                  <a:srgbClr val="516577"/>
                </a:solidFill>
                <a:latin typeface="Arial"/>
              </a:rPr>
              <a:t>Varda Space has raised $329M total, including a $187M Series C (July 2025). LambdaVision closed a $7M seed atop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OUR PLATFORM</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Station-Agnostic Payload Platform</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11</a:t>
            </a:r>
          </a:p>
        </p:txBody>
      </p:sp>
      <p:sp>
        <p:nvSpPr>
          <p:cNvPr id="15" name="Rounded Rectangle 14"/>
          <p:cNvSpPr/>
          <p:nvPr/>
        </p:nvSpPr>
        <p:spPr>
          <a:xfrm>
            <a:off x="502920" y="1298448"/>
            <a:ext cx="11183112" cy="6583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1481328"/>
            <a:ext cx="10652760" cy="274320"/>
          </a:xfrm>
          <a:prstGeom prst="rect">
            <a:avLst/>
          </a:prstGeom>
          <a:noFill/>
        </p:spPr>
        <p:txBody>
          <a:bodyPr wrap="square" lIns="0" rIns="0" tIns="0" bIns="0" anchor="ctr">
            <a:noAutofit/>
          </a:bodyPr>
          <a:lstStyle/>
          <a:p>
            <a:pPr algn="l">
              <a:lnSpc>
                <a:spcPct val="100000"/>
              </a:lnSpc>
              <a:spcAft>
                <a:spcPts val="0"/>
              </a:spcAft>
            </a:pPr>
            <a:r>
              <a:rPr sz="1019" b="0" i="0">
                <a:solidFill>
                  <a:srgbClr val="516577"/>
                </a:solidFill>
                <a:latin typeface="Arial"/>
              </a:rPr>
              <a:t>Samuel Space is a payload integrator and tissue manufacturing platform — hardware-compatible across emerging commercial LEO stations. One flight-qualified platform, bioink library, and protocol stack deploys across the ecosystem.</a:t>
            </a:r>
          </a:p>
        </p:txBody>
      </p:sp>
      <p:sp>
        <p:nvSpPr>
          <p:cNvPr id="17" name="Rounded Rectangle 16"/>
          <p:cNvSpPr/>
          <p:nvPr/>
        </p:nvSpPr>
        <p:spPr>
          <a:xfrm>
            <a:off x="502920" y="2167128"/>
            <a:ext cx="3840480" cy="4114800"/>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468880"/>
            <a:ext cx="2377440" cy="219456"/>
          </a:xfrm>
          <a:prstGeom prst="rect">
            <a:avLst/>
          </a:prstGeom>
          <a:noFill/>
        </p:spPr>
        <p:txBody>
          <a:bodyPr wrap="square" lIns="0" rIns="0" tIns="0" bIns="0" anchor="t">
            <a:noAutofit/>
          </a:bodyPr>
          <a:lstStyle/>
          <a:p>
            <a:pPr algn="l">
              <a:lnSpc>
                <a:spcPct val="100000"/>
              </a:lnSpc>
              <a:spcAft>
                <a:spcPts val="0"/>
              </a:spcAft>
            </a:pPr>
            <a:r>
              <a:rPr sz="830" b="1" i="0">
                <a:solidFill>
                  <a:srgbClr val="007F72"/>
                </a:solidFill>
                <a:latin typeface="Arial"/>
              </a:rPr>
              <a:t>SAMUEL SPACE</a:t>
            </a:r>
          </a:p>
        </p:txBody>
      </p:sp>
      <p:sp>
        <p:nvSpPr>
          <p:cNvPr id="19" name="TextBox 18"/>
          <p:cNvSpPr txBox="1"/>
          <p:nvPr/>
        </p:nvSpPr>
        <p:spPr>
          <a:xfrm>
            <a:off x="822960" y="2816352"/>
            <a:ext cx="2468880" cy="384048"/>
          </a:xfrm>
          <a:prstGeom prst="rect">
            <a:avLst/>
          </a:prstGeom>
          <a:noFill/>
        </p:spPr>
        <p:txBody>
          <a:bodyPr wrap="square" lIns="0" rIns="0" tIns="0" bIns="0" anchor="t">
            <a:noAutofit/>
          </a:bodyPr>
          <a:lstStyle/>
          <a:p>
            <a:pPr algn="l">
              <a:lnSpc>
                <a:spcPct val="100000"/>
              </a:lnSpc>
              <a:spcAft>
                <a:spcPts val="0"/>
              </a:spcAft>
            </a:pPr>
            <a:r>
              <a:rPr sz="2100" b="1" i="0">
                <a:solidFill>
                  <a:srgbClr val="0B2035"/>
                </a:solidFill>
                <a:latin typeface="Arial"/>
              </a:rPr>
              <a:t>Platform core</a:t>
            </a:r>
          </a:p>
        </p:txBody>
      </p:sp>
      <p:sp>
        <p:nvSpPr>
          <p:cNvPr id="20" name="Rounded Rectangle 19"/>
          <p:cNvSpPr/>
          <p:nvPr/>
        </p:nvSpPr>
        <p:spPr>
          <a:xfrm>
            <a:off x="822960" y="3456432"/>
            <a:ext cx="393192"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65575"/>
            <a:ext cx="39319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007F72"/>
                </a:solidFill>
                <a:latin typeface="Arial"/>
              </a:rPr>
              <a:t>01</a:t>
            </a:r>
          </a:p>
        </p:txBody>
      </p:sp>
      <p:sp>
        <p:nvSpPr>
          <p:cNvPr id="22" name="TextBox 21"/>
          <p:cNvSpPr txBox="1"/>
          <p:nvPr/>
        </p:nvSpPr>
        <p:spPr>
          <a:xfrm>
            <a:off x="1389888" y="3447288"/>
            <a:ext cx="2423160" cy="210312"/>
          </a:xfrm>
          <a:prstGeom prst="rect">
            <a:avLst/>
          </a:prstGeom>
          <a:noFill/>
        </p:spPr>
        <p:txBody>
          <a:bodyPr wrap="square" lIns="0" rIns="0" tIns="0" bIns="0" anchor="t">
            <a:noAutofit/>
          </a:bodyPr>
          <a:lstStyle/>
          <a:p>
            <a:pPr algn="l">
              <a:lnSpc>
                <a:spcPct val="100000"/>
              </a:lnSpc>
              <a:spcAft>
                <a:spcPts val="0"/>
              </a:spcAft>
            </a:pPr>
            <a:r>
              <a:rPr sz="1030" b="1" i="0">
                <a:solidFill>
                  <a:srgbClr val="0B2035"/>
                </a:solidFill>
                <a:latin typeface="Arial"/>
              </a:rPr>
              <a:t>Modular payload design</a:t>
            </a:r>
          </a:p>
        </p:txBody>
      </p:sp>
      <p:sp>
        <p:nvSpPr>
          <p:cNvPr id="23" name="TextBox 22"/>
          <p:cNvSpPr txBox="1"/>
          <p:nvPr/>
        </p:nvSpPr>
        <p:spPr>
          <a:xfrm>
            <a:off x="1389888" y="3712463"/>
            <a:ext cx="2423160" cy="338328"/>
          </a:xfrm>
          <a:prstGeom prst="rect">
            <a:avLst/>
          </a:prstGeom>
          <a:noFill/>
        </p:spPr>
        <p:txBody>
          <a:bodyPr wrap="square" lIns="0" rIns="0" tIns="0" bIns="0" anchor="t">
            <a:noAutofit/>
          </a:bodyPr>
          <a:lstStyle/>
          <a:p>
            <a:pPr algn="l">
              <a:lnSpc>
                <a:spcPct val="100000"/>
              </a:lnSpc>
              <a:spcAft>
                <a:spcPts val="0"/>
              </a:spcAft>
            </a:pPr>
            <a:r>
              <a:rPr sz="850" b="0" i="0">
                <a:solidFill>
                  <a:srgbClr val="516577"/>
                </a:solidFill>
                <a:latin typeface="Arial"/>
              </a:rPr>
              <a:t>Standard double-locker form factor; one build, many stations.</a:t>
            </a:r>
          </a:p>
        </p:txBody>
      </p:sp>
      <p:sp>
        <p:nvSpPr>
          <p:cNvPr id="24" name="Rounded Rectangle 23"/>
          <p:cNvSpPr/>
          <p:nvPr/>
        </p:nvSpPr>
        <p:spPr>
          <a:xfrm>
            <a:off x="822960" y="4279392"/>
            <a:ext cx="393192"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288536"/>
            <a:ext cx="39319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007F72"/>
                </a:solidFill>
                <a:latin typeface="Arial"/>
              </a:rPr>
              <a:t>02</a:t>
            </a:r>
          </a:p>
        </p:txBody>
      </p:sp>
      <p:sp>
        <p:nvSpPr>
          <p:cNvPr id="26" name="TextBox 25"/>
          <p:cNvSpPr txBox="1"/>
          <p:nvPr/>
        </p:nvSpPr>
        <p:spPr>
          <a:xfrm>
            <a:off x="1389888" y="4270248"/>
            <a:ext cx="2423160" cy="210312"/>
          </a:xfrm>
          <a:prstGeom prst="rect">
            <a:avLst/>
          </a:prstGeom>
          <a:noFill/>
        </p:spPr>
        <p:txBody>
          <a:bodyPr wrap="square" lIns="0" rIns="0" tIns="0" bIns="0" anchor="t">
            <a:noAutofit/>
          </a:bodyPr>
          <a:lstStyle/>
          <a:p>
            <a:pPr algn="l">
              <a:lnSpc>
                <a:spcPct val="100000"/>
              </a:lnSpc>
              <a:spcAft>
                <a:spcPts val="0"/>
              </a:spcAft>
            </a:pPr>
            <a:r>
              <a:rPr sz="1030" b="1" i="0">
                <a:solidFill>
                  <a:srgbClr val="0B2035"/>
                </a:solidFill>
                <a:latin typeface="Arial"/>
              </a:rPr>
              <a:t>Proprietary cell-line IP</a:t>
            </a:r>
          </a:p>
        </p:txBody>
      </p:sp>
      <p:sp>
        <p:nvSpPr>
          <p:cNvPr id="27" name="TextBox 26"/>
          <p:cNvSpPr txBox="1"/>
          <p:nvPr/>
        </p:nvSpPr>
        <p:spPr>
          <a:xfrm>
            <a:off x="1389888" y="4535424"/>
            <a:ext cx="2423160" cy="338328"/>
          </a:xfrm>
          <a:prstGeom prst="rect">
            <a:avLst/>
          </a:prstGeom>
          <a:noFill/>
        </p:spPr>
        <p:txBody>
          <a:bodyPr wrap="square" lIns="0" rIns="0" tIns="0" bIns="0" anchor="t">
            <a:noAutofit/>
          </a:bodyPr>
          <a:lstStyle/>
          <a:p>
            <a:pPr algn="l">
              <a:lnSpc>
                <a:spcPct val="100000"/>
              </a:lnSpc>
              <a:spcAft>
                <a:spcPts val="0"/>
              </a:spcAft>
            </a:pPr>
            <a:r>
              <a:rPr sz="850" b="0" i="0">
                <a:solidFill>
                  <a:srgbClr val="516577"/>
                </a:solidFill>
                <a:latin typeface="Arial"/>
              </a:rPr>
              <a:t>Microgravity bioinks and protocols compound across every mission.</a:t>
            </a:r>
          </a:p>
        </p:txBody>
      </p:sp>
      <p:sp>
        <p:nvSpPr>
          <p:cNvPr id="28" name="Rounded Rectangle 27"/>
          <p:cNvSpPr/>
          <p:nvPr/>
        </p:nvSpPr>
        <p:spPr>
          <a:xfrm>
            <a:off x="822960" y="5102352"/>
            <a:ext cx="393192"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11496"/>
            <a:ext cx="393192" cy="246888"/>
          </a:xfrm>
          <a:prstGeom prst="rect">
            <a:avLst/>
          </a:prstGeom>
          <a:noFill/>
        </p:spPr>
        <p:txBody>
          <a:bodyPr wrap="square" lIns="0" rIns="0" tIns="0" bIns="0" anchor="ctr">
            <a:noAutofit/>
          </a:bodyPr>
          <a:lstStyle/>
          <a:p>
            <a:pPr algn="ctr">
              <a:lnSpc>
                <a:spcPct val="100000"/>
              </a:lnSpc>
              <a:spcAft>
                <a:spcPts val="0"/>
              </a:spcAft>
            </a:pPr>
            <a:r>
              <a:rPr sz="750" b="1" i="0">
                <a:solidFill>
                  <a:srgbClr val="007F72"/>
                </a:solidFill>
                <a:latin typeface="Arial"/>
              </a:rPr>
              <a:t>03</a:t>
            </a:r>
          </a:p>
        </p:txBody>
      </p:sp>
      <p:sp>
        <p:nvSpPr>
          <p:cNvPr id="30" name="TextBox 29"/>
          <p:cNvSpPr txBox="1"/>
          <p:nvPr/>
        </p:nvSpPr>
        <p:spPr>
          <a:xfrm>
            <a:off x="1389888" y="5093208"/>
            <a:ext cx="2423160" cy="210312"/>
          </a:xfrm>
          <a:prstGeom prst="rect">
            <a:avLst/>
          </a:prstGeom>
          <a:noFill/>
        </p:spPr>
        <p:txBody>
          <a:bodyPr wrap="square" lIns="0" rIns="0" tIns="0" bIns="0" anchor="t">
            <a:noAutofit/>
          </a:bodyPr>
          <a:lstStyle/>
          <a:p>
            <a:pPr algn="l">
              <a:lnSpc>
                <a:spcPct val="100000"/>
              </a:lnSpc>
              <a:spcAft>
                <a:spcPts val="0"/>
              </a:spcAft>
            </a:pPr>
            <a:r>
              <a:rPr sz="1030" b="1" i="0">
                <a:solidFill>
                  <a:srgbClr val="0B2035"/>
                </a:solidFill>
                <a:latin typeface="Arial"/>
              </a:rPr>
              <a:t>Service-first revenue</a:t>
            </a:r>
          </a:p>
        </p:txBody>
      </p:sp>
      <p:sp>
        <p:nvSpPr>
          <p:cNvPr id="31" name="TextBox 30"/>
          <p:cNvSpPr txBox="1"/>
          <p:nvPr/>
        </p:nvSpPr>
        <p:spPr>
          <a:xfrm>
            <a:off x="1389888" y="5358384"/>
            <a:ext cx="2423160" cy="338328"/>
          </a:xfrm>
          <a:prstGeom prst="rect">
            <a:avLst/>
          </a:prstGeom>
          <a:noFill/>
        </p:spPr>
        <p:txBody>
          <a:bodyPr wrap="square" lIns="0" rIns="0" tIns="0" bIns="0" anchor="t">
            <a:noAutofit/>
          </a:bodyPr>
          <a:lstStyle/>
          <a:p>
            <a:pPr algn="l">
              <a:lnSpc>
                <a:spcPct val="100000"/>
              </a:lnSpc>
              <a:spcAft>
                <a:spcPts val="0"/>
              </a:spcAft>
            </a:pPr>
            <a:r>
              <a:rPr sz="850" b="0" i="0">
                <a:solidFill>
                  <a:srgbClr val="516577"/>
                </a:solidFill>
                <a:latin typeface="Arial"/>
              </a:rPr>
              <a:t>Near-term contracts build the IP base and customer relationships.</a:t>
            </a:r>
          </a:p>
        </p:txBody>
      </p:sp>
      <p:sp>
        <p:nvSpPr>
          <p:cNvPr id="32" name="TextBox 31"/>
          <p:cNvSpPr txBox="1"/>
          <p:nvPr/>
        </p:nvSpPr>
        <p:spPr>
          <a:xfrm>
            <a:off x="822960" y="5870448"/>
            <a:ext cx="2880360" cy="182880"/>
          </a:xfrm>
          <a:prstGeom prst="rect">
            <a:avLst/>
          </a:prstGeom>
          <a:noFill/>
        </p:spPr>
        <p:txBody>
          <a:bodyPr wrap="square" lIns="0" rIns="0" tIns="0" bIns="0" anchor="t">
            <a:noAutofit/>
          </a:bodyPr>
          <a:lstStyle/>
          <a:p>
            <a:pPr algn="l">
              <a:lnSpc>
                <a:spcPct val="100000"/>
              </a:lnSpc>
              <a:spcAft>
                <a:spcPts val="0"/>
              </a:spcAft>
            </a:pPr>
            <a:r>
              <a:rPr sz="720" b="1" i="0">
                <a:solidFill>
                  <a:srgbClr val="007F72"/>
                </a:solidFill>
                <a:latin typeface="Arial"/>
              </a:rPr>
              <a:t>ONE PLATFORM  /  MULTIPLE DESTINATIONS</a:t>
            </a:r>
          </a:p>
        </p:txBody>
      </p:sp>
      <p:sp>
        <p:nvSpPr>
          <p:cNvPr id="33" name="Rounded Rectangle 32"/>
          <p:cNvSpPr/>
          <p:nvPr/>
        </p:nvSpPr>
        <p:spPr>
          <a:xfrm>
            <a:off x="4553712" y="2167128"/>
            <a:ext cx="7132320" cy="411480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28032" y="2441448"/>
            <a:ext cx="3840480" cy="219456"/>
          </a:xfrm>
          <a:prstGeom prst="rect">
            <a:avLst/>
          </a:prstGeom>
          <a:noFill/>
        </p:spPr>
        <p:txBody>
          <a:bodyPr wrap="square" lIns="0" rIns="0" tIns="0" bIns="0" anchor="t">
            <a:noAutofit/>
          </a:bodyPr>
          <a:lstStyle/>
          <a:p>
            <a:pPr algn="l">
              <a:lnSpc>
                <a:spcPct val="100000"/>
              </a:lnSpc>
              <a:spcAft>
                <a:spcPts val="0"/>
              </a:spcAft>
            </a:pPr>
            <a:r>
              <a:rPr sz="830" b="1" i="0">
                <a:solidFill>
                  <a:srgbClr val="0B2035"/>
                </a:solidFill>
                <a:latin typeface="Arial"/>
              </a:rPr>
              <a:t>STATION ECOSYSTEM COMPATIBILITY</a:t>
            </a:r>
          </a:p>
        </p:txBody>
      </p:sp>
      <p:sp>
        <p:nvSpPr>
          <p:cNvPr id="35" name="Rounded Rectangle 34"/>
          <p:cNvSpPr/>
          <p:nvPr/>
        </p:nvSpPr>
        <p:spPr>
          <a:xfrm>
            <a:off x="4809744" y="2862072"/>
            <a:ext cx="6565392" cy="475488"/>
          </a:xfrm>
          <a:prstGeom prst="roundRect">
            <a:avLst/>
          </a:prstGeom>
          <a:solidFill>
            <a:srgbClr val="DDF5EF"/>
          </a:solidFill>
          <a:ln w="762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047488" y="3017520"/>
            <a:ext cx="146304" cy="14630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49240" y="2953512"/>
            <a:ext cx="1325880" cy="201168"/>
          </a:xfrm>
          <a:prstGeom prst="rect">
            <a:avLst/>
          </a:prstGeom>
          <a:noFill/>
        </p:spPr>
        <p:txBody>
          <a:bodyPr wrap="square" lIns="0" rIns="0" tIns="0" bIns="0" anchor="t">
            <a:noAutofit/>
          </a:bodyPr>
          <a:lstStyle/>
          <a:p>
            <a:pPr algn="l">
              <a:lnSpc>
                <a:spcPct val="100000"/>
              </a:lnSpc>
              <a:spcAft>
                <a:spcPts val="0"/>
              </a:spcAft>
            </a:pPr>
            <a:r>
              <a:rPr sz="950" b="1" i="0">
                <a:solidFill>
                  <a:srgbClr val="0B2035"/>
                </a:solidFill>
                <a:latin typeface="Arial"/>
              </a:rPr>
              <a:t>ISS</a:t>
            </a:r>
          </a:p>
        </p:txBody>
      </p:sp>
      <p:sp>
        <p:nvSpPr>
          <p:cNvPr id="38" name="TextBox 37"/>
          <p:cNvSpPr txBox="1"/>
          <p:nvPr/>
        </p:nvSpPr>
        <p:spPr>
          <a:xfrm>
            <a:off x="6711696" y="2953512"/>
            <a:ext cx="3364992" cy="219456"/>
          </a:xfrm>
          <a:prstGeom prst="rect">
            <a:avLst/>
          </a:prstGeom>
          <a:noFill/>
        </p:spPr>
        <p:txBody>
          <a:bodyPr wrap="square" lIns="0" rIns="0" tIns="0" bIns="0" anchor="t">
            <a:noAutofit/>
          </a:bodyPr>
          <a:lstStyle/>
          <a:p>
            <a:pPr algn="l">
              <a:lnSpc>
                <a:spcPct val="100000"/>
              </a:lnSpc>
              <a:spcAft>
                <a:spcPts val="0"/>
              </a:spcAft>
            </a:pPr>
            <a:r>
              <a:rPr sz="830" b="0" i="0">
                <a:solidFill>
                  <a:srgbClr val="516577"/>
                </a:solidFill>
                <a:latin typeface="Arial"/>
              </a:rPr>
              <a:t>Redwire BFF — active now through ~2030</a:t>
            </a:r>
          </a:p>
        </p:txBody>
      </p:sp>
      <p:sp>
        <p:nvSpPr>
          <p:cNvPr id="39" name="Rounded Rectangle 38"/>
          <p:cNvSpPr/>
          <p:nvPr/>
        </p:nvSpPr>
        <p:spPr>
          <a:xfrm>
            <a:off x="10222992" y="2962656"/>
            <a:ext cx="886968" cy="26517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22992" y="2971799"/>
            <a:ext cx="886968" cy="256031"/>
          </a:xfrm>
          <a:prstGeom prst="rect">
            <a:avLst/>
          </a:prstGeom>
          <a:noFill/>
        </p:spPr>
        <p:txBody>
          <a:bodyPr wrap="square" lIns="0" rIns="0" tIns="0" bIns="0" anchor="ctr">
            <a:noAutofit/>
          </a:bodyPr>
          <a:lstStyle/>
          <a:p>
            <a:pPr algn="ctr">
              <a:lnSpc>
                <a:spcPct val="100000"/>
              </a:lnSpc>
              <a:spcAft>
                <a:spcPts val="0"/>
              </a:spcAft>
            </a:pPr>
            <a:r>
              <a:rPr sz="620" b="1" i="0">
                <a:solidFill>
                  <a:srgbClr val="718291"/>
                </a:solidFill>
                <a:latin typeface="Arial"/>
              </a:rPr>
              <a:t>ACTIVE</a:t>
            </a:r>
          </a:p>
        </p:txBody>
      </p:sp>
      <p:sp>
        <p:nvSpPr>
          <p:cNvPr id="41" name="Rounded Rectangle 40"/>
          <p:cNvSpPr/>
          <p:nvPr/>
        </p:nvSpPr>
        <p:spPr>
          <a:xfrm>
            <a:off x="4809744" y="3456432"/>
            <a:ext cx="6565392" cy="475488"/>
          </a:xfrm>
          <a:prstGeom prst="roundRect">
            <a:avLst/>
          </a:prstGeom>
          <a:solidFill>
            <a:srgbClr val="F4F7F9"/>
          </a:solidFill>
          <a:ln w="762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47488" y="3611879"/>
            <a:ext cx="146304" cy="14630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49240" y="3547872"/>
            <a:ext cx="1325880" cy="201168"/>
          </a:xfrm>
          <a:prstGeom prst="rect">
            <a:avLst/>
          </a:prstGeom>
          <a:noFill/>
        </p:spPr>
        <p:txBody>
          <a:bodyPr wrap="square" lIns="0" rIns="0" tIns="0" bIns="0" anchor="t">
            <a:noAutofit/>
          </a:bodyPr>
          <a:lstStyle/>
          <a:p>
            <a:pPr algn="l">
              <a:lnSpc>
                <a:spcPct val="100000"/>
              </a:lnSpc>
              <a:spcAft>
                <a:spcPts val="0"/>
              </a:spcAft>
            </a:pPr>
            <a:r>
              <a:rPr sz="950" b="1" i="0">
                <a:solidFill>
                  <a:srgbClr val="0B2035"/>
                </a:solidFill>
                <a:latin typeface="Arial"/>
              </a:rPr>
              <a:t>Starlab</a:t>
            </a:r>
          </a:p>
        </p:txBody>
      </p:sp>
      <p:sp>
        <p:nvSpPr>
          <p:cNvPr id="44" name="TextBox 43"/>
          <p:cNvSpPr txBox="1"/>
          <p:nvPr/>
        </p:nvSpPr>
        <p:spPr>
          <a:xfrm>
            <a:off x="6711696" y="3547872"/>
            <a:ext cx="3364992" cy="219456"/>
          </a:xfrm>
          <a:prstGeom prst="rect">
            <a:avLst/>
          </a:prstGeom>
          <a:noFill/>
        </p:spPr>
        <p:txBody>
          <a:bodyPr wrap="square" lIns="0" rIns="0" tIns="0" bIns="0" anchor="t">
            <a:noAutofit/>
          </a:bodyPr>
          <a:lstStyle/>
          <a:p>
            <a:pPr algn="l">
              <a:lnSpc>
                <a:spcPct val="100000"/>
              </a:lnSpc>
              <a:spcAft>
                <a:spcPts val="0"/>
              </a:spcAft>
            </a:pPr>
            <a:r>
              <a:rPr sz="830" b="0" i="0">
                <a:solidFill>
                  <a:srgbClr val="516577"/>
                </a:solidFill>
                <a:latin typeface="Arial"/>
              </a:rPr>
              <a:t>Voyager / Airbus JV — targeting 2029 launch</a:t>
            </a:r>
          </a:p>
        </p:txBody>
      </p:sp>
      <p:sp>
        <p:nvSpPr>
          <p:cNvPr id="45" name="Rounded Rectangle 44"/>
          <p:cNvSpPr/>
          <p:nvPr/>
        </p:nvSpPr>
        <p:spPr>
          <a:xfrm>
            <a:off x="10222992" y="3557015"/>
            <a:ext cx="886968" cy="26517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566159"/>
            <a:ext cx="886968" cy="256031"/>
          </a:xfrm>
          <a:prstGeom prst="rect">
            <a:avLst/>
          </a:prstGeom>
          <a:noFill/>
        </p:spPr>
        <p:txBody>
          <a:bodyPr wrap="square" lIns="0" rIns="0" tIns="0" bIns="0" anchor="ctr">
            <a:noAutofit/>
          </a:bodyPr>
          <a:lstStyle/>
          <a:p>
            <a:pPr algn="ctr">
              <a:lnSpc>
                <a:spcPct val="100000"/>
              </a:lnSpc>
              <a:spcAft>
                <a:spcPts val="0"/>
              </a:spcAft>
            </a:pPr>
            <a:r>
              <a:rPr sz="620" b="1" i="0">
                <a:solidFill>
                  <a:srgbClr val="718291"/>
                </a:solidFill>
                <a:latin typeface="Arial"/>
              </a:rPr>
              <a:t>TARGET 2029</a:t>
            </a:r>
          </a:p>
        </p:txBody>
      </p:sp>
      <p:sp>
        <p:nvSpPr>
          <p:cNvPr id="47" name="Rounded Rectangle 46"/>
          <p:cNvSpPr/>
          <p:nvPr/>
        </p:nvSpPr>
        <p:spPr>
          <a:xfrm>
            <a:off x="4809744" y="4050791"/>
            <a:ext cx="6565392" cy="475488"/>
          </a:xfrm>
          <a:prstGeom prst="roundRect">
            <a:avLst/>
          </a:prstGeom>
          <a:solidFill>
            <a:srgbClr val="F4F7F9"/>
          </a:solidFill>
          <a:ln w="762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047488" y="4206240"/>
            <a:ext cx="146304" cy="14630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349240" y="4142231"/>
            <a:ext cx="1325880" cy="201168"/>
          </a:xfrm>
          <a:prstGeom prst="rect">
            <a:avLst/>
          </a:prstGeom>
          <a:noFill/>
        </p:spPr>
        <p:txBody>
          <a:bodyPr wrap="square" lIns="0" rIns="0" tIns="0" bIns="0" anchor="t">
            <a:noAutofit/>
          </a:bodyPr>
          <a:lstStyle/>
          <a:p>
            <a:pPr algn="l">
              <a:lnSpc>
                <a:spcPct val="100000"/>
              </a:lnSpc>
              <a:spcAft>
                <a:spcPts val="0"/>
              </a:spcAft>
            </a:pPr>
            <a:r>
              <a:rPr sz="950" b="1" i="0">
                <a:solidFill>
                  <a:srgbClr val="0B2035"/>
                </a:solidFill>
                <a:latin typeface="Arial"/>
              </a:rPr>
              <a:t>Axiom Station</a:t>
            </a:r>
          </a:p>
        </p:txBody>
      </p:sp>
      <p:sp>
        <p:nvSpPr>
          <p:cNvPr id="50" name="TextBox 49"/>
          <p:cNvSpPr txBox="1"/>
          <p:nvPr/>
        </p:nvSpPr>
        <p:spPr>
          <a:xfrm>
            <a:off x="6711696" y="4142231"/>
            <a:ext cx="3364992" cy="219456"/>
          </a:xfrm>
          <a:prstGeom prst="rect">
            <a:avLst/>
          </a:prstGeom>
          <a:noFill/>
        </p:spPr>
        <p:txBody>
          <a:bodyPr wrap="square" lIns="0" rIns="0" tIns="0" bIns="0" anchor="t">
            <a:noAutofit/>
          </a:bodyPr>
          <a:lstStyle/>
          <a:p>
            <a:pPr algn="l">
              <a:lnSpc>
                <a:spcPct val="100000"/>
              </a:lnSpc>
              <a:spcAft>
                <a:spcPts val="0"/>
              </a:spcAft>
            </a:pPr>
            <a:r>
              <a:rPr sz="830" b="0" i="0">
                <a:solidFill>
                  <a:srgbClr val="516577"/>
                </a:solidFill>
                <a:latin typeface="Arial"/>
              </a:rPr>
              <a:t>First commercial modules ~2026–2028</a:t>
            </a:r>
          </a:p>
        </p:txBody>
      </p:sp>
      <p:sp>
        <p:nvSpPr>
          <p:cNvPr id="51" name="Rounded Rectangle 50"/>
          <p:cNvSpPr/>
          <p:nvPr/>
        </p:nvSpPr>
        <p:spPr>
          <a:xfrm>
            <a:off x="10222992" y="4151376"/>
            <a:ext cx="886968" cy="26517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22992" y="4160520"/>
            <a:ext cx="886968" cy="256031"/>
          </a:xfrm>
          <a:prstGeom prst="rect">
            <a:avLst/>
          </a:prstGeom>
          <a:noFill/>
        </p:spPr>
        <p:txBody>
          <a:bodyPr wrap="square" lIns="0" rIns="0" tIns="0" bIns="0" anchor="ctr">
            <a:noAutofit/>
          </a:bodyPr>
          <a:lstStyle/>
          <a:p>
            <a:pPr algn="ctr">
              <a:lnSpc>
                <a:spcPct val="100000"/>
              </a:lnSpc>
              <a:spcAft>
                <a:spcPts val="0"/>
              </a:spcAft>
            </a:pPr>
            <a:r>
              <a:rPr sz="620" b="1" i="0">
                <a:solidFill>
                  <a:srgbClr val="718291"/>
                </a:solidFill>
                <a:latin typeface="Arial"/>
              </a:rPr>
              <a:t>EMERGING</a:t>
            </a:r>
          </a:p>
        </p:txBody>
      </p:sp>
      <p:sp>
        <p:nvSpPr>
          <p:cNvPr id="53" name="Rounded Rectangle 52"/>
          <p:cNvSpPr/>
          <p:nvPr/>
        </p:nvSpPr>
        <p:spPr>
          <a:xfrm>
            <a:off x="4809744" y="4645152"/>
            <a:ext cx="6565392" cy="475488"/>
          </a:xfrm>
          <a:prstGeom prst="roundRect">
            <a:avLst/>
          </a:prstGeom>
          <a:solidFill>
            <a:srgbClr val="F4F7F9"/>
          </a:solidFill>
          <a:ln w="762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047488" y="4800600"/>
            <a:ext cx="146304" cy="14630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49240" y="4736592"/>
            <a:ext cx="1325880" cy="201168"/>
          </a:xfrm>
          <a:prstGeom prst="rect">
            <a:avLst/>
          </a:prstGeom>
          <a:noFill/>
        </p:spPr>
        <p:txBody>
          <a:bodyPr wrap="square" lIns="0" rIns="0" tIns="0" bIns="0" anchor="t">
            <a:noAutofit/>
          </a:bodyPr>
          <a:lstStyle/>
          <a:p>
            <a:pPr algn="l">
              <a:lnSpc>
                <a:spcPct val="100000"/>
              </a:lnSpc>
              <a:spcAft>
                <a:spcPts val="0"/>
              </a:spcAft>
            </a:pPr>
            <a:r>
              <a:rPr sz="950" b="1" i="0">
                <a:solidFill>
                  <a:srgbClr val="0B2035"/>
                </a:solidFill>
                <a:latin typeface="Arial"/>
              </a:rPr>
              <a:t>Orbital Reef</a:t>
            </a:r>
          </a:p>
        </p:txBody>
      </p:sp>
      <p:sp>
        <p:nvSpPr>
          <p:cNvPr id="56" name="TextBox 55"/>
          <p:cNvSpPr txBox="1"/>
          <p:nvPr/>
        </p:nvSpPr>
        <p:spPr>
          <a:xfrm>
            <a:off x="6711696" y="4736592"/>
            <a:ext cx="3364992" cy="219456"/>
          </a:xfrm>
          <a:prstGeom prst="rect">
            <a:avLst/>
          </a:prstGeom>
          <a:noFill/>
        </p:spPr>
        <p:txBody>
          <a:bodyPr wrap="square" lIns="0" rIns="0" tIns="0" bIns="0" anchor="t">
            <a:noAutofit/>
          </a:bodyPr>
          <a:lstStyle/>
          <a:p>
            <a:pPr algn="l">
              <a:lnSpc>
                <a:spcPct val="100000"/>
              </a:lnSpc>
              <a:spcAft>
                <a:spcPts val="0"/>
              </a:spcAft>
            </a:pPr>
            <a:r>
              <a:rPr sz="830" b="0" i="0">
                <a:solidFill>
                  <a:srgbClr val="516577"/>
                </a:solidFill>
                <a:latin typeface="Arial"/>
              </a:rPr>
              <a:t>Blue Origin / Sierra Space — CLD-funded</a:t>
            </a:r>
          </a:p>
        </p:txBody>
      </p:sp>
      <p:sp>
        <p:nvSpPr>
          <p:cNvPr id="57" name="Rounded Rectangle 56"/>
          <p:cNvSpPr/>
          <p:nvPr/>
        </p:nvSpPr>
        <p:spPr>
          <a:xfrm>
            <a:off x="10222992" y="4745736"/>
            <a:ext cx="886968" cy="26517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22992" y="4754880"/>
            <a:ext cx="886968" cy="256031"/>
          </a:xfrm>
          <a:prstGeom prst="rect">
            <a:avLst/>
          </a:prstGeom>
          <a:noFill/>
        </p:spPr>
        <p:txBody>
          <a:bodyPr wrap="square" lIns="0" rIns="0" tIns="0" bIns="0" anchor="ctr">
            <a:noAutofit/>
          </a:bodyPr>
          <a:lstStyle/>
          <a:p>
            <a:pPr algn="ctr">
              <a:lnSpc>
                <a:spcPct val="100000"/>
              </a:lnSpc>
              <a:spcAft>
                <a:spcPts val="0"/>
              </a:spcAft>
            </a:pPr>
            <a:r>
              <a:rPr sz="620" b="1" i="0">
                <a:solidFill>
                  <a:srgbClr val="718291"/>
                </a:solidFill>
                <a:latin typeface="Arial"/>
              </a:rPr>
              <a:t>CLD-FUNDED</a:t>
            </a:r>
          </a:p>
        </p:txBody>
      </p:sp>
      <p:sp>
        <p:nvSpPr>
          <p:cNvPr id="59" name="Rounded Rectangle 58"/>
          <p:cNvSpPr/>
          <p:nvPr/>
        </p:nvSpPr>
        <p:spPr>
          <a:xfrm>
            <a:off x="4809744" y="5239512"/>
            <a:ext cx="6565392" cy="475488"/>
          </a:xfrm>
          <a:prstGeom prst="roundRect">
            <a:avLst/>
          </a:prstGeom>
          <a:solidFill>
            <a:srgbClr val="F4F7F9"/>
          </a:solidFill>
          <a:ln w="762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047488" y="5394960"/>
            <a:ext cx="146304" cy="14630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49240" y="5330952"/>
            <a:ext cx="1325880" cy="201168"/>
          </a:xfrm>
          <a:prstGeom prst="rect">
            <a:avLst/>
          </a:prstGeom>
          <a:noFill/>
        </p:spPr>
        <p:txBody>
          <a:bodyPr wrap="square" lIns="0" rIns="0" tIns="0" bIns="0" anchor="t">
            <a:noAutofit/>
          </a:bodyPr>
          <a:lstStyle/>
          <a:p>
            <a:pPr algn="l">
              <a:lnSpc>
                <a:spcPct val="100000"/>
              </a:lnSpc>
              <a:spcAft>
                <a:spcPts val="0"/>
              </a:spcAft>
            </a:pPr>
            <a:r>
              <a:rPr sz="950" b="1" i="0">
                <a:solidFill>
                  <a:srgbClr val="0B2035"/>
                </a:solidFill>
                <a:latin typeface="Arial"/>
              </a:rPr>
              <a:t>Vast Haven-1</a:t>
            </a:r>
          </a:p>
        </p:txBody>
      </p:sp>
      <p:sp>
        <p:nvSpPr>
          <p:cNvPr id="62" name="TextBox 61"/>
          <p:cNvSpPr txBox="1"/>
          <p:nvPr/>
        </p:nvSpPr>
        <p:spPr>
          <a:xfrm>
            <a:off x="6711696" y="5330952"/>
            <a:ext cx="3364992" cy="219456"/>
          </a:xfrm>
          <a:prstGeom prst="rect">
            <a:avLst/>
          </a:prstGeom>
          <a:noFill/>
        </p:spPr>
        <p:txBody>
          <a:bodyPr wrap="square" lIns="0" rIns="0" tIns="0" bIns="0" anchor="t">
            <a:noAutofit/>
          </a:bodyPr>
          <a:lstStyle/>
          <a:p>
            <a:pPr algn="l">
              <a:lnSpc>
                <a:spcPct val="100000"/>
              </a:lnSpc>
              <a:spcAft>
                <a:spcPts val="0"/>
              </a:spcAft>
            </a:pPr>
            <a:r>
              <a:rPr sz="830" b="0" i="0">
                <a:solidFill>
                  <a:srgbClr val="516577"/>
                </a:solidFill>
                <a:latin typeface="Arial"/>
              </a:rPr>
              <a:t>Dedicated commercial station — targeted 2026</a:t>
            </a:r>
          </a:p>
        </p:txBody>
      </p:sp>
      <p:sp>
        <p:nvSpPr>
          <p:cNvPr id="63" name="Rounded Rectangle 62"/>
          <p:cNvSpPr/>
          <p:nvPr/>
        </p:nvSpPr>
        <p:spPr>
          <a:xfrm>
            <a:off x="10222992" y="5340096"/>
            <a:ext cx="886968" cy="26517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222992" y="5349240"/>
            <a:ext cx="886968" cy="256031"/>
          </a:xfrm>
          <a:prstGeom prst="rect">
            <a:avLst/>
          </a:prstGeom>
          <a:noFill/>
        </p:spPr>
        <p:txBody>
          <a:bodyPr wrap="square" lIns="0" rIns="0" tIns="0" bIns="0" anchor="ctr">
            <a:noAutofit/>
          </a:bodyPr>
          <a:lstStyle/>
          <a:p>
            <a:pPr algn="ctr">
              <a:lnSpc>
                <a:spcPct val="100000"/>
              </a:lnSpc>
              <a:spcAft>
                <a:spcPts val="0"/>
              </a:spcAft>
            </a:pPr>
            <a:r>
              <a:rPr sz="620" b="1" i="0">
                <a:solidFill>
                  <a:srgbClr val="718291"/>
                </a:solidFill>
                <a:latin typeface="Arial"/>
              </a:rPr>
              <a:t>TARGET 2026</a:t>
            </a:r>
          </a:p>
        </p:txBody>
      </p:sp>
      <p:sp>
        <p:nvSpPr>
          <p:cNvPr id="65" name="TextBox 64"/>
          <p:cNvSpPr txBox="1"/>
          <p:nvPr/>
        </p:nvSpPr>
        <p:spPr>
          <a:xfrm>
            <a:off x="4828032" y="5989320"/>
            <a:ext cx="6327648" cy="164592"/>
          </a:xfrm>
          <a:prstGeom prst="rect">
            <a:avLst/>
          </a:prstGeom>
          <a:noFill/>
        </p:spPr>
        <p:txBody>
          <a:bodyPr wrap="square" lIns="0" rIns="0" tIns="0" bIns="0" anchor="t">
            <a:noAutofit/>
          </a:bodyPr>
          <a:lstStyle/>
          <a:p>
            <a:pPr algn="l">
              <a:lnSpc>
                <a:spcPct val="100000"/>
              </a:lnSpc>
              <a:spcAft>
                <a:spcPts val="0"/>
              </a:spcAft>
            </a:pPr>
            <a:r>
              <a:rPr sz="680" b="0" i="1">
                <a:solidFill>
                  <a:srgbClr val="718291"/>
                </a:solidFill>
                <a:latin typeface="Arial"/>
              </a:rPr>
              <a:t>Station names are shown as market context only — not as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EXECUTION PLAN</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Four-Phase Technology &amp; Commercialisation Roadmap</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12</a:t>
            </a:r>
          </a:p>
        </p:txBody>
      </p:sp>
      <p:sp>
        <p:nvSpPr>
          <p:cNvPr id="15" name="Rounded Rectangle 14"/>
          <p:cNvSpPr/>
          <p:nvPr/>
        </p:nvSpPr>
        <p:spPr>
          <a:xfrm>
            <a:off x="502920" y="1307592"/>
            <a:ext cx="2606040" cy="4974336"/>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1572768"/>
            <a:ext cx="859536" cy="2834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581912"/>
            <a:ext cx="859536" cy="274320"/>
          </a:xfrm>
          <a:prstGeom prst="rect">
            <a:avLst/>
          </a:prstGeom>
          <a:noFill/>
        </p:spPr>
        <p:txBody>
          <a:bodyPr wrap="square" lIns="0" rIns="0" tIns="0" bIns="0" anchor="ctr">
            <a:noAutofit/>
          </a:bodyPr>
          <a:lstStyle/>
          <a:p>
            <a:pPr algn="ctr">
              <a:lnSpc>
                <a:spcPct val="100000"/>
              </a:lnSpc>
              <a:spcAft>
                <a:spcPts val="0"/>
              </a:spcAft>
            </a:pPr>
            <a:r>
              <a:rPr sz="720" b="1" i="0">
                <a:solidFill>
                  <a:srgbClr val="007F72"/>
                </a:solidFill>
                <a:latin typeface="Arial"/>
              </a:rPr>
              <a:t>PHASE 1</a:t>
            </a:r>
          </a:p>
        </p:txBody>
      </p:sp>
      <p:sp>
        <p:nvSpPr>
          <p:cNvPr id="18" name="TextBox 17"/>
          <p:cNvSpPr txBox="1"/>
          <p:nvPr/>
        </p:nvSpPr>
        <p:spPr>
          <a:xfrm>
            <a:off x="1837943" y="1609344"/>
            <a:ext cx="1005840" cy="182880"/>
          </a:xfrm>
          <a:prstGeom prst="rect">
            <a:avLst/>
          </a:prstGeom>
          <a:noFill/>
        </p:spPr>
        <p:txBody>
          <a:bodyPr wrap="square" lIns="0" rIns="0" tIns="0" bIns="0" anchor="t">
            <a:noAutofit/>
          </a:bodyPr>
          <a:lstStyle/>
          <a:p>
            <a:pPr algn="r">
              <a:lnSpc>
                <a:spcPct val="100000"/>
              </a:lnSpc>
              <a:spcAft>
                <a:spcPts val="0"/>
              </a:spcAft>
            </a:pPr>
            <a:r>
              <a:rPr sz="819" b="1" i="0">
                <a:solidFill>
                  <a:srgbClr val="007F72"/>
                </a:solidFill>
                <a:latin typeface="Arial"/>
              </a:rPr>
              <a:t>Years 1–2</a:t>
            </a:r>
          </a:p>
        </p:txBody>
      </p:sp>
      <p:sp>
        <p:nvSpPr>
          <p:cNvPr id="19" name="TextBox 18"/>
          <p:cNvSpPr txBox="1"/>
          <p:nvPr/>
        </p:nvSpPr>
        <p:spPr>
          <a:xfrm>
            <a:off x="731520" y="2084831"/>
            <a:ext cx="2157984" cy="713232"/>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Platform &amp; Wound Care</a:t>
            </a:r>
          </a:p>
        </p:txBody>
      </p:sp>
      <p:cxnSp>
        <p:nvCxnSpPr>
          <p:cNvPr id="20" name="Connector 19"/>
          <p:cNvCxnSpPr/>
          <p:nvPr/>
        </p:nvCxnSpPr>
        <p:spPr>
          <a:xfrm>
            <a:off x="731520" y="2926080"/>
            <a:ext cx="2148840" cy="0"/>
          </a:xfrm>
          <a:prstGeom prst="line">
            <a:avLst/>
          </a:prstGeom>
          <a:ln w="10160">
            <a:solidFill>
              <a:srgbClr val="C6D5DE"/>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758952" y="3236976"/>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 y="316382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ISS payload hardware certification</a:t>
            </a:r>
          </a:p>
        </p:txBody>
      </p:sp>
      <p:sp>
        <p:nvSpPr>
          <p:cNvPr id="23" name="Oval 22"/>
          <p:cNvSpPr/>
          <p:nvPr/>
        </p:nvSpPr>
        <p:spPr>
          <a:xfrm>
            <a:off x="758952" y="3774186"/>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70103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Commercial wound-care patch trials</a:t>
            </a:r>
          </a:p>
        </p:txBody>
      </p:sp>
      <p:sp>
        <p:nvSpPr>
          <p:cNvPr id="25" name="Oval 24"/>
          <p:cNvSpPr/>
          <p:nvPr/>
        </p:nvSpPr>
        <p:spPr>
          <a:xfrm>
            <a:off x="758952" y="4311396"/>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 y="423824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NASA InSPA Phase 1 applications</a:t>
            </a:r>
          </a:p>
        </p:txBody>
      </p:sp>
      <p:sp>
        <p:nvSpPr>
          <p:cNvPr id="27" name="Oval 26"/>
          <p:cNvSpPr/>
          <p:nvPr/>
        </p:nvSpPr>
        <p:spPr>
          <a:xfrm>
            <a:off x="758952" y="4848606"/>
            <a:ext cx="68580" cy="6858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77545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Research tissue models for pharma CROs</a:t>
            </a:r>
          </a:p>
        </p:txBody>
      </p:sp>
      <p:sp>
        <p:nvSpPr>
          <p:cNvPr id="29" name="Rounded Rectangle 28"/>
          <p:cNvSpPr/>
          <p:nvPr/>
        </p:nvSpPr>
        <p:spPr>
          <a:xfrm>
            <a:off x="731520" y="5705856"/>
            <a:ext cx="214884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705856"/>
            <a:ext cx="2148840" cy="347472"/>
          </a:xfrm>
          <a:prstGeom prst="rect">
            <a:avLst/>
          </a:prstGeom>
          <a:noFill/>
        </p:spPr>
        <p:txBody>
          <a:bodyPr wrap="square" lIns="0" rIns="0" tIns="0" bIns="0" anchor="ctr">
            <a:noAutofit/>
          </a:bodyPr>
          <a:lstStyle/>
          <a:p>
            <a:pPr algn="ctr">
              <a:lnSpc>
                <a:spcPct val="100000"/>
              </a:lnSpc>
              <a:spcAft>
                <a:spcPts val="0"/>
              </a:spcAft>
            </a:pPr>
            <a:r>
              <a:rPr sz="900" b="1" i="0">
                <a:solidFill>
                  <a:srgbClr val="007F72"/>
                </a:solidFill>
                <a:latin typeface="Arial"/>
              </a:rPr>
              <a:t>TRL 4 → 6</a:t>
            </a:r>
          </a:p>
        </p:txBody>
      </p:sp>
      <p:sp>
        <p:nvSpPr>
          <p:cNvPr id="31" name="Chevron 30"/>
          <p:cNvSpPr/>
          <p:nvPr/>
        </p:nvSpPr>
        <p:spPr>
          <a:xfrm>
            <a:off x="3145536" y="3584448"/>
            <a:ext cx="146304" cy="34747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319272" y="1307592"/>
            <a:ext cx="2606040" cy="4974336"/>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547872" y="1572768"/>
            <a:ext cx="859536" cy="2834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47872" y="1581912"/>
            <a:ext cx="859536" cy="274320"/>
          </a:xfrm>
          <a:prstGeom prst="rect">
            <a:avLst/>
          </a:prstGeom>
          <a:noFill/>
        </p:spPr>
        <p:txBody>
          <a:bodyPr wrap="square" lIns="0" rIns="0" tIns="0" bIns="0" anchor="ctr">
            <a:noAutofit/>
          </a:bodyPr>
          <a:lstStyle/>
          <a:p>
            <a:pPr algn="ctr">
              <a:lnSpc>
                <a:spcPct val="100000"/>
              </a:lnSpc>
              <a:spcAft>
                <a:spcPts val="0"/>
              </a:spcAft>
            </a:pPr>
            <a:r>
              <a:rPr sz="720" b="1" i="0">
                <a:solidFill>
                  <a:srgbClr val="3C6E9B"/>
                </a:solidFill>
                <a:latin typeface="Arial"/>
              </a:rPr>
              <a:t>PHASE 2</a:t>
            </a:r>
          </a:p>
        </p:txBody>
      </p:sp>
      <p:sp>
        <p:nvSpPr>
          <p:cNvPr id="35" name="TextBox 34"/>
          <p:cNvSpPr txBox="1"/>
          <p:nvPr/>
        </p:nvSpPr>
        <p:spPr>
          <a:xfrm>
            <a:off x="4654296" y="1609344"/>
            <a:ext cx="1005840" cy="182880"/>
          </a:xfrm>
          <a:prstGeom prst="rect">
            <a:avLst/>
          </a:prstGeom>
          <a:noFill/>
        </p:spPr>
        <p:txBody>
          <a:bodyPr wrap="square" lIns="0" rIns="0" tIns="0" bIns="0" anchor="t">
            <a:noAutofit/>
          </a:bodyPr>
          <a:lstStyle/>
          <a:p>
            <a:pPr algn="r">
              <a:lnSpc>
                <a:spcPct val="100000"/>
              </a:lnSpc>
              <a:spcAft>
                <a:spcPts val="0"/>
              </a:spcAft>
            </a:pPr>
            <a:r>
              <a:rPr sz="819" b="1" i="0">
                <a:solidFill>
                  <a:srgbClr val="3C6E9B"/>
                </a:solidFill>
                <a:latin typeface="Arial"/>
              </a:rPr>
              <a:t>Years 3–5</a:t>
            </a:r>
          </a:p>
        </p:txBody>
      </p:sp>
      <p:sp>
        <p:nvSpPr>
          <p:cNvPr id="36" name="TextBox 35"/>
          <p:cNvSpPr txBox="1"/>
          <p:nvPr/>
        </p:nvSpPr>
        <p:spPr>
          <a:xfrm>
            <a:off x="3547872" y="2084831"/>
            <a:ext cx="2157984" cy="713232"/>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Orthopedic &amp; Cardiac</a:t>
            </a:r>
          </a:p>
        </p:txBody>
      </p:sp>
      <p:cxnSp>
        <p:nvCxnSpPr>
          <p:cNvPr id="37" name="Connector 36"/>
          <p:cNvCxnSpPr/>
          <p:nvPr/>
        </p:nvCxnSpPr>
        <p:spPr>
          <a:xfrm>
            <a:off x="3547872" y="2926080"/>
            <a:ext cx="2148840" cy="0"/>
          </a:xfrm>
          <a:prstGeom prst="line">
            <a:avLst/>
          </a:prstGeom>
          <a:ln w="10160">
            <a:solidFill>
              <a:srgbClr val="C6D5DE"/>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3575304" y="3236976"/>
            <a:ext cx="68580" cy="68580"/>
          </a:xfrm>
          <a:prstGeom prst="ellipse">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39896" y="316382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510(k) filing for wound-care products</a:t>
            </a:r>
          </a:p>
        </p:txBody>
      </p:sp>
      <p:sp>
        <p:nvSpPr>
          <p:cNvPr id="40" name="Oval 39"/>
          <p:cNvSpPr/>
          <p:nvPr/>
        </p:nvSpPr>
        <p:spPr>
          <a:xfrm>
            <a:off x="3575304" y="3774186"/>
            <a:ext cx="68580" cy="68580"/>
          </a:xfrm>
          <a:prstGeom prst="ellipse">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739896" y="370103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Orthopedic graft BFF-compatible program</a:t>
            </a:r>
          </a:p>
        </p:txBody>
      </p:sp>
      <p:sp>
        <p:nvSpPr>
          <p:cNvPr id="42" name="Oval 41"/>
          <p:cNvSpPr/>
          <p:nvPr/>
        </p:nvSpPr>
        <p:spPr>
          <a:xfrm>
            <a:off x="3575304" y="4311396"/>
            <a:ext cx="68580" cy="68580"/>
          </a:xfrm>
          <a:prstGeom prst="ellipse">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739896" y="423824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Cardiac patch preclinical studies</a:t>
            </a:r>
          </a:p>
        </p:txBody>
      </p:sp>
      <p:sp>
        <p:nvSpPr>
          <p:cNvPr id="44" name="Oval 43"/>
          <p:cNvSpPr/>
          <p:nvPr/>
        </p:nvSpPr>
        <p:spPr>
          <a:xfrm>
            <a:off x="3575304" y="4848606"/>
            <a:ext cx="68580" cy="68580"/>
          </a:xfrm>
          <a:prstGeom prst="ellipse">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39896" y="477545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Series B fundraise</a:t>
            </a:r>
          </a:p>
        </p:txBody>
      </p:sp>
      <p:sp>
        <p:nvSpPr>
          <p:cNvPr id="46" name="Rounded Rectangle 45"/>
          <p:cNvSpPr/>
          <p:nvPr/>
        </p:nvSpPr>
        <p:spPr>
          <a:xfrm>
            <a:off x="3547872" y="5705856"/>
            <a:ext cx="214884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547872" y="5705856"/>
            <a:ext cx="2148840" cy="347472"/>
          </a:xfrm>
          <a:prstGeom prst="rect">
            <a:avLst/>
          </a:prstGeom>
          <a:noFill/>
        </p:spPr>
        <p:txBody>
          <a:bodyPr wrap="square" lIns="0" rIns="0" tIns="0" bIns="0" anchor="ctr">
            <a:noAutofit/>
          </a:bodyPr>
          <a:lstStyle/>
          <a:p>
            <a:pPr algn="ctr">
              <a:lnSpc>
                <a:spcPct val="100000"/>
              </a:lnSpc>
              <a:spcAft>
                <a:spcPts val="0"/>
              </a:spcAft>
            </a:pPr>
            <a:r>
              <a:rPr sz="900" b="1" i="0">
                <a:solidFill>
                  <a:srgbClr val="3C6E9B"/>
                </a:solidFill>
                <a:latin typeface="Arial"/>
              </a:rPr>
              <a:t>TRL 6 → 8</a:t>
            </a:r>
          </a:p>
        </p:txBody>
      </p:sp>
      <p:sp>
        <p:nvSpPr>
          <p:cNvPr id="48" name="Chevron 47"/>
          <p:cNvSpPr/>
          <p:nvPr/>
        </p:nvSpPr>
        <p:spPr>
          <a:xfrm>
            <a:off x="5961888" y="3584448"/>
            <a:ext cx="146304" cy="34747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135624" y="1307592"/>
            <a:ext cx="2606040" cy="4974336"/>
          </a:xfrm>
          <a:prstGeom prst="roundRect">
            <a:avLst/>
          </a:prstGeom>
          <a:solidFill>
            <a:srgbClr val="F8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364224" y="1572768"/>
            <a:ext cx="859536" cy="2834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64224" y="1581912"/>
            <a:ext cx="859536" cy="274320"/>
          </a:xfrm>
          <a:prstGeom prst="rect">
            <a:avLst/>
          </a:prstGeom>
          <a:noFill/>
        </p:spPr>
        <p:txBody>
          <a:bodyPr wrap="square" lIns="0" rIns="0" tIns="0" bIns="0" anchor="ctr">
            <a:noAutofit/>
          </a:bodyPr>
          <a:lstStyle/>
          <a:p>
            <a:pPr algn="ctr">
              <a:lnSpc>
                <a:spcPct val="100000"/>
              </a:lnSpc>
              <a:spcAft>
                <a:spcPts val="0"/>
              </a:spcAft>
            </a:pPr>
            <a:r>
              <a:rPr sz="720" b="1" i="0">
                <a:solidFill>
                  <a:srgbClr val="956F1B"/>
                </a:solidFill>
                <a:latin typeface="Arial"/>
              </a:rPr>
              <a:t>PHASE 3</a:t>
            </a:r>
          </a:p>
        </p:txBody>
      </p:sp>
      <p:sp>
        <p:nvSpPr>
          <p:cNvPr id="52" name="TextBox 51"/>
          <p:cNvSpPr txBox="1"/>
          <p:nvPr/>
        </p:nvSpPr>
        <p:spPr>
          <a:xfrm>
            <a:off x="7470648" y="1609344"/>
            <a:ext cx="1005840" cy="182880"/>
          </a:xfrm>
          <a:prstGeom prst="rect">
            <a:avLst/>
          </a:prstGeom>
          <a:noFill/>
        </p:spPr>
        <p:txBody>
          <a:bodyPr wrap="square" lIns="0" rIns="0" tIns="0" bIns="0" anchor="t">
            <a:noAutofit/>
          </a:bodyPr>
          <a:lstStyle/>
          <a:p>
            <a:pPr algn="r">
              <a:lnSpc>
                <a:spcPct val="100000"/>
              </a:lnSpc>
              <a:spcAft>
                <a:spcPts val="0"/>
              </a:spcAft>
            </a:pPr>
            <a:r>
              <a:rPr sz="819" b="1" i="0">
                <a:solidFill>
                  <a:srgbClr val="956F1B"/>
                </a:solidFill>
                <a:latin typeface="Arial"/>
              </a:rPr>
              <a:t>Years 6–9</a:t>
            </a:r>
          </a:p>
        </p:txBody>
      </p:sp>
      <p:sp>
        <p:nvSpPr>
          <p:cNvPr id="53" name="TextBox 52"/>
          <p:cNvSpPr txBox="1"/>
          <p:nvPr/>
        </p:nvSpPr>
        <p:spPr>
          <a:xfrm>
            <a:off x="6364224" y="2084831"/>
            <a:ext cx="2157984" cy="713232"/>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Retinal &amp; Vascular</a:t>
            </a:r>
          </a:p>
        </p:txBody>
      </p:sp>
      <p:cxnSp>
        <p:nvCxnSpPr>
          <p:cNvPr id="54" name="Connector 53"/>
          <p:cNvCxnSpPr/>
          <p:nvPr/>
        </p:nvCxnSpPr>
        <p:spPr>
          <a:xfrm>
            <a:off x="6364224" y="2926080"/>
            <a:ext cx="2148840" cy="0"/>
          </a:xfrm>
          <a:prstGeom prst="line">
            <a:avLst/>
          </a:prstGeom>
          <a:ln w="10160">
            <a:solidFill>
              <a:srgbClr val="C6D5DE"/>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6391656" y="3236976"/>
            <a:ext cx="68580" cy="68580"/>
          </a:xfrm>
          <a:prstGeom prst="ellipse">
            <a:avLst/>
          </a:prstGeom>
          <a:solidFill>
            <a:srgbClr val="956F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56248" y="316382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Clinical trials for retinal constructs</a:t>
            </a:r>
          </a:p>
        </p:txBody>
      </p:sp>
      <p:sp>
        <p:nvSpPr>
          <p:cNvPr id="57" name="Oval 56"/>
          <p:cNvSpPr/>
          <p:nvPr/>
        </p:nvSpPr>
        <p:spPr>
          <a:xfrm>
            <a:off x="6391656" y="3774186"/>
            <a:ext cx="68580" cy="68580"/>
          </a:xfrm>
          <a:prstGeom prst="ellipse">
            <a:avLst/>
          </a:prstGeom>
          <a:solidFill>
            <a:srgbClr val="956F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56248" y="370103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FDA PMA pathway engagement</a:t>
            </a:r>
          </a:p>
        </p:txBody>
      </p:sp>
      <p:sp>
        <p:nvSpPr>
          <p:cNvPr id="59" name="Oval 58"/>
          <p:cNvSpPr/>
          <p:nvPr/>
        </p:nvSpPr>
        <p:spPr>
          <a:xfrm>
            <a:off x="6391656" y="4311396"/>
            <a:ext cx="68580" cy="68580"/>
          </a:xfrm>
          <a:prstGeom prst="ellipse">
            <a:avLst/>
          </a:prstGeom>
          <a:solidFill>
            <a:srgbClr val="956F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56248" y="423824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Expand to Orbital Reef / Axiom</a:t>
            </a:r>
          </a:p>
        </p:txBody>
      </p:sp>
      <p:sp>
        <p:nvSpPr>
          <p:cNvPr id="61" name="Oval 60"/>
          <p:cNvSpPr/>
          <p:nvPr/>
        </p:nvSpPr>
        <p:spPr>
          <a:xfrm>
            <a:off x="6391656" y="4848606"/>
            <a:ext cx="68580" cy="68580"/>
          </a:xfrm>
          <a:prstGeom prst="ellipse">
            <a:avLst/>
          </a:prstGeom>
          <a:solidFill>
            <a:srgbClr val="956F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56248" y="477545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Series C / pre-IPO raise</a:t>
            </a:r>
          </a:p>
        </p:txBody>
      </p:sp>
      <p:sp>
        <p:nvSpPr>
          <p:cNvPr id="63" name="Rounded Rectangle 62"/>
          <p:cNvSpPr/>
          <p:nvPr/>
        </p:nvSpPr>
        <p:spPr>
          <a:xfrm>
            <a:off x="6364224" y="5705856"/>
            <a:ext cx="214884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64224" y="5705856"/>
            <a:ext cx="2148840" cy="347472"/>
          </a:xfrm>
          <a:prstGeom prst="rect">
            <a:avLst/>
          </a:prstGeom>
          <a:noFill/>
        </p:spPr>
        <p:txBody>
          <a:bodyPr wrap="square" lIns="0" rIns="0" tIns="0" bIns="0" anchor="ctr">
            <a:noAutofit/>
          </a:bodyPr>
          <a:lstStyle/>
          <a:p>
            <a:pPr algn="ctr">
              <a:lnSpc>
                <a:spcPct val="100000"/>
              </a:lnSpc>
              <a:spcAft>
                <a:spcPts val="0"/>
              </a:spcAft>
            </a:pPr>
            <a:r>
              <a:rPr sz="900" b="1" i="0">
                <a:solidFill>
                  <a:srgbClr val="956F1B"/>
                </a:solidFill>
                <a:latin typeface="Arial"/>
              </a:rPr>
              <a:t>TRL 7 → 9</a:t>
            </a:r>
          </a:p>
        </p:txBody>
      </p:sp>
      <p:sp>
        <p:nvSpPr>
          <p:cNvPr id="65" name="Chevron 64"/>
          <p:cNvSpPr/>
          <p:nvPr/>
        </p:nvSpPr>
        <p:spPr>
          <a:xfrm>
            <a:off x="8778240" y="3584448"/>
            <a:ext cx="146304" cy="347472"/>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8951976" y="1307592"/>
            <a:ext cx="2606040" cy="4974336"/>
          </a:xfrm>
          <a:prstGeom prst="roundRect">
            <a:avLst/>
          </a:prstGeom>
          <a:solidFill>
            <a:srgbClr val="E7EE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9180576" y="1572768"/>
            <a:ext cx="859536" cy="2834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80576" y="1581912"/>
            <a:ext cx="859536" cy="274320"/>
          </a:xfrm>
          <a:prstGeom prst="rect">
            <a:avLst/>
          </a:prstGeom>
          <a:noFill/>
        </p:spPr>
        <p:txBody>
          <a:bodyPr wrap="square" lIns="0" rIns="0" tIns="0" bIns="0" anchor="ctr">
            <a:noAutofit/>
          </a:bodyPr>
          <a:lstStyle/>
          <a:p>
            <a:pPr algn="ctr">
              <a:lnSpc>
                <a:spcPct val="100000"/>
              </a:lnSpc>
              <a:spcAft>
                <a:spcPts val="0"/>
              </a:spcAft>
            </a:pPr>
            <a:r>
              <a:rPr sz="720" b="1" i="0">
                <a:solidFill>
                  <a:srgbClr val="183A5A"/>
                </a:solidFill>
                <a:latin typeface="Arial"/>
              </a:rPr>
              <a:t>PHASE 4</a:t>
            </a:r>
          </a:p>
        </p:txBody>
      </p:sp>
      <p:sp>
        <p:nvSpPr>
          <p:cNvPr id="69" name="TextBox 68"/>
          <p:cNvSpPr txBox="1"/>
          <p:nvPr/>
        </p:nvSpPr>
        <p:spPr>
          <a:xfrm>
            <a:off x="10287000" y="1609344"/>
            <a:ext cx="1005840" cy="182880"/>
          </a:xfrm>
          <a:prstGeom prst="rect">
            <a:avLst/>
          </a:prstGeom>
          <a:noFill/>
        </p:spPr>
        <p:txBody>
          <a:bodyPr wrap="square" lIns="0" rIns="0" tIns="0" bIns="0" anchor="t">
            <a:noAutofit/>
          </a:bodyPr>
          <a:lstStyle/>
          <a:p>
            <a:pPr algn="r">
              <a:lnSpc>
                <a:spcPct val="100000"/>
              </a:lnSpc>
              <a:spcAft>
                <a:spcPts val="0"/>
              </a:spcAft>
            </a:pPr>
            <a:r>
              <a:rPr sz="819" b="1" i="0">
                <a:solidFill>
                  <a:srgbClr val="183A5A"/>
                </a:solidFill>
                <a:latin typeface="Arial"/>
              </a:rPr>
              <a:t>Year 10+</a:t>
            </a:r>
          </a:p>
        </p:txBody>
      </p:sp>
      <p:sp>
        <p:nvSpPr>
          <p:cNvPr id="70" name="TextBox 69"/>
          <p:cNvSpPr txBox="1"/>
          <p:nvPr/>
        </p:nvSpPr>
        <p:spPr>
          <a:xfrm>
            <a:off x="9180576" y="2084831"/>
            <a:ext cx="2157984" cy="713232"/>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Whole-Organ Platform</a:t>
            </a:r>
          </a:p>
        </p:txBody>
      </p:sp>
      <p:cxnSp>
        <p:nvCxnSpPr>
          <p:cNvPr id="71" name="Connector 70"/>
          <p:cNvCxnSpPr/>
          <p:nvPr/>
        </p:nvCxnSpPr>
        <p:spPr>
          <a:xfrm>
            <a:off x="9180576" y="2926080"/>
            <a:ext cx="2148840" cy="0"/>
          </a:xfrm>
          <a:prstGeom prst="line">
            <a:avLst/>
          </a:prstGeom>
          <a:ln w="10160">
            <a:solidFill>
              <a:srgbClr val="C6D5DE"/>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9208008" y="3236976"/>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372600" y="316382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Vascularised full-organ constructs</a:t>
            </a:r>
          </a:p>
        </p:txBody>
      </p:sp>
      <p:sp>
        <p:nvSpPr>
          <p:cNvPr id="74" name="Oval 73"/>
          <p:cNvSpPr/>
          <p:nvPr/>
        </p:nvSpPr>
        <p:spPr>
          <a:xfrm>
            <a:off x="9208008" y="3774186"/>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370103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Commercial station scale-up</a:t>
            </a:r>
          </a:p>
        </p:txBody>
      </p:sp>
      <p:sp>
        <p:nvSpPr>
          <p:cNvPr id="76" name="Oval 75"/>
          <p:cNvSpPr/>
          <p:nvPr/>
        </p:nvSpPr>
        <p:spPr>
          <a:xfrm>
            <a:off x="9208008" y="4311396"/>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72600" y="423824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Platform licensing to pharma majors</a:t>
            </a:r>
          </a:p>
        </p:txBody>
      </p:sp>
      <p:sp>
        <p:nvSpPr>
          <p:cNvPr id="78" name="Oval 77"/>
          <p:cNvSpPr/>
          <p:nvPr/>
        </p:nvSpPr>
        <p:spPr>
          <a:xfrm>
            <a:off x="9208008" y="4848606"/>
            <a:ext cx="68580" cy="6858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372600" y="4775454"/>
            <a:ext cx="1938527" cy="537210"/>
          </a:xfrm>
          <a:prstGeom prst="rect">
            <a:avLst/>
          </a:prstGeom>
          <a:noFill/>
        </p:spPr>
        <p:txBody>
          <a:bodyPr wrap="square" lIns="0" rIns="0" tIns="0" bIns="0" anchor="t">
            <a:noAutofit/>
          </a:bodyPr>
          <a:lstStyle/>
          <a:p>
            <a:pPr algn="l">
              <a:lnSpc>
                <a:spcPct val="100000"/>
              </a:lnSpc>
              <a:spcAft>
                <a:spcPts val="0"/>
              </a:spcAft>
            </a:pPr>
            <a:r>
              <a:rPr sz="940" b="0" i="0">
                <a:solidFill>
                  <a:srgbClr val="183A5A"/>
                </a:solidFill>
                <a:latin typeface="Arial"/>
              </a:rPr>
              <a:t>IPO or strategic exit</a:t>
            </a:r>
          </a:p>
        </p:txBody>
      </p:sp>
      <p:sp>
        <p:nvSpPr>
          <p:cNvPr id="80" name="Rounded Rectangle 79"/>
          <p:cNvSpPr/>
          <p:nvPr/>
        </p:nvSpPr>
        <p:spPr>
          <a:xfrm>
            <a:off x="9180576" y="5705856"/>
            <a:ext cx="214884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180576" y="5705856"/>
            <a:ext cx="2148840" cy="347472"/>
          </a:xfrm>
          <a:prstGeom prst="rect">
            <a:avLst/>
          </a:prstGeom>
          <a:noFill/>
        </p:spPr>
        <p:txBody>
          <a:bodyPr wrap="square" lIns="0" rIns="0" tIns="0" bIns="0" anchor="ctr">
            <a:noAutofit/>
          </a:bodyPr>
          <a:lstStyle/>
          <a:p>
            <a:pPr algn="ctr">
              <a:lnSpc>
                <a:spcPct val="100000"/>
              </a:lnSpc>
              <a:spcAft>
                <a:spcPts val="0"/>
              </a:spcAft>
            </a:pPr>
            <a:r>
              <a:rPr sz="900" b="1" i="0">
                <a:solidFill>
                  <a:srgbClr val="183A5A"/>
                </a:solidFill>
                <a:latin typeface="Arial"/>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COMPETITIVE LANDSCAPE</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Samuel Space Targets the Space-Based Clinical Quadrant</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13</a:t>
            </a:r>
          </a:p>
        </p:txBody>
      </p:sp>
      <p:sp>
        <p:nvSpPr>
          <p:cNvPr id="15" name="Rounded Rectangle 14"/>
          <p:cNvSpPr/>
          <p:nvPr/>
        </p:nvSpPr>
        <p:spPr>
          <a:xfrm>
            <a:off x="1170432" y="1463040"/>
            <a:ext cx="10076688" cy="4553712"/>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4519" y="1874519"/>
            <a:ext cx="4389120" cy="1792224"/>
          </a:xfrm>
          <a:prstGeom prst="rect">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874519"/>
            <a:ext cx="4389120" cy="1792224"/>
          </a:xfrm>
          <a:prstGeom prst="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74519" y="3666744"/>
            <a:ext cx="4389120" cy="1792224"/>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3666744"/>
            <a:ext cx="4389120" cy="1792224"/>
          </a:xfrm>
          <a:prstGeom prst="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263640" y="1874519"/>
            <a:ext cx="0" cy="3584449"/>
          </a:xfrm>
          <a:prstGeom prst="line">
            <a:avLst/>
          </a:prstGeom>
          <a:ln w="15240">
            <a:solidFill>
              <a:srgbClr val="BBCAD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74519" y="3666744"/>
            <a:ext cx="8778240" cy="0"/>
          </a:xfrm>
          <a:prstGeom prst="line">
            <a:avLst/>
          </a:prstGeom>
          <a:ln w="15240">
            <a:solidFill>
              <a:srgbClr val="BBCAD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74519" y="1627632"/>
            <a:ext cx="1828800" cy="182880"/>
          </a:xfrm>
          <a:prstGeom prst="rect">
            <a:avLst/>
          </a:prstGeom>
          <a:noFill/>
        </p:spPr>
        <p:txBody>
          <a:bodyPr wrap="square" lIns="0" rIns="0" tIns="0" bIns="0" anchor="t">
            <a:noAutofit/>
          </a:bodyPr>
          <a:lstStyle/>
          <a:p>
            <a:pPr algn="l">
              <a:lnSpc>
                <a:spcPct val="100000"/>
              </a:lnSpc>
              <a:spcAft>
                <a:spcPts val="0"/>
              </a:spcAft>
            </a:pPr>
            <a:r>
              <a:rPr sz="750" b="1" i="0">
                <a:solidFill>
                  <a:srgbClr val="718291"/>
                </a:solidFill>
                <a:latin typeface="Arial"/>
              </a:rPr>
              <a:t>EARTH-BASED</a:t>
            </a:r>
          </a:p>
        </p:txBody>
      </p:sp>
      <p:sp>
        <p:nvSpPr>
          <p:cNvPr id="23" name="TextBox 22"/>
          <p:cNvSpPr txBox="1"/>
          <p:nvPr/>
        </p:nvSpPr>
        <p:spPr>
          <a:xfrm>
            <a:off x="8823959" y="1627632"/>
            <a:ext cx="1828800" cy="182880"/>
          </a:xfrm>
          <a:prstGeom prst="rect">
            <a:avLst/>
          </a:prstGeom>
          <a:noFill/>
        </p:spPr>
        <p:txBody>
          <a:bodyPr wrap="square" lIns="0" rIns="0" tIns="0" bIns="0" anchor="t">
            <a:noAutofit/>
          </a:bodyPr>
          <a:lstStyle/>
          <a:p>
            <a:pPr algn="r">
              <a:lnSpc>
                <a:spcPct val="100000"/>
              </a:lnSpc>
              <a:spcAft>
                <a:spcPts val="0"/>
              </a:spcAft>
            </a:pPr>
            <a:r>
              <a:rPr sz="750" b="1" i="0">
                <a:solidFill>
                  <a:srgbClr val="007F72"/>
                </a:solidFill>
                <a:latin typeface="Arial"/>
              </a:rPr>
              <a:t>SPACE-BASED</a:t>
            </a:r>
          </a:p>
        </p:txBody>
      </p:sp>
      <p:sp>
        <p:nvSpPr>
          <p:cNvPr id="24" name="TextBox 23"/>
          <p:cNvSpPr txBox="1"/>
          <p:nvPr/>
        </p:nvSpPr>
        <p:spPr>
          <a:xfrm>
            <a:off x="256032" y="1901952"/>
            <a:ext cx="658368" cy="1051560"/>
          </a:xfrm>
          <a:prstGeom prst="rect">
            <a:avLst/>
          </a:prstGeom>
          <a:noFill/>
        </p:spPr>
        <p:txBody>
          <a:bodyPr wrap="square" lIns="0" rIns="0" tIns="0" bIns="0" anchor="ctr">
            <a:noAutofit/>
          </a:bodyPr>
          <a:lstStyle/>
          <a:p>
            <a:pPr algn="ctr">
              <a:lnSpc>
                <a:spcPct val="100000"/>
              </a:lnSpc>
              <a:spcAft>
                <a:spcPts val="0"/>
              </a:spcAft>
            </a:pPr>
            <a:r>
              <a:rPr sz="710" b="1" i="0">
                <a:solidFill>
                  <a:srgbClr val="718291"/>
                </a:solidFill>
                <a:latin typeface="Arial"/>
              </a:rPr>
              <a:t>CLINICAL / COMMERCIAL</a:t>
            </a:r>
          </a:p>
        </p:txBody>
      </p:sp>
      <p:sp>
        <p:nvSpPr>
          <p:cNvPr id="25" name="TextBox 24"/>
          <p:cNvSpPr txBox="1"/>
          <p:nvPr/>
        </p:nvSpPr>
        <p:spPr>
          <a:xfrm>
            <a:off x="256032" y="4617720"/>
            <a:ext cx="658368" cy="804672"/>
          </a:xfrm>
          <a:prstGeom prst="rect">
            <a:avLst/>
          </a:prstGeom>
          <a:noFill/>
        </p:spPr>
        <p:txBody>
          <a:bodyPr wrap="square" lIns="0" rIns="0" tIns="0" bIns="0" anchor="ctr">
            <a:noAutofit/>
          </a:bodyPr>
          <a:lstStyle/>
          <a:p>
            <a:pPr algn="ctr">
              <a:lnSpc>
                <a:spcPct val="100000"/>
              </a:lnSpc>
              <a:spcAft>
                <a:spcPts val="0"/>
              </a:spcAft>
            </a:pPr>
            <a:r>
              <a:rPr sz="710" b="1" i="0">
                <a:solidFill>
                  <a:srgbClr val="718291"/>
                </a:solidFill>
                <a:latin typeface="Arial"/>
              </a:rPr>
              <a:t>EARLY RESEARCH</a:t>
            </a:r>
          </a:p>
        </p:txBody>
      </p:sp>
      <p:sp>
        <p:nvSpPr>
          <p:cNvPr id="26" name="TextBox 25"/>
          <p:cNvSpPr txBox="1"/>
          <p:nvPr/>
        </p:nvSpPr>
        <p:spPr>
          <a:xfrm>
            <a:off x="8961119" y="2039112"/>
            <a:ext cx="1463040" cy="164592"/>
          </a:xfrm>
          <a:prstGeom prst="rect">
            <a:avLst/>
          </a:prstGeom>
          <a:noFill/>
        </p:spPr>
        <p:txBody>
          <a:bodyPr wrap="square" lIns="0" rIns="0" tIns="0" bIns="0" anchor="t">
            <a:noAutofit/>
          </a:bodyPr>
          <a:lstStyle/>
          <a:p>
            <a:pPr algn="r">
              <a:lnSpc>
                <a:spcPct val="100000"/>
              </a:lnSpc>
              <a:spcAft>
                <a:spcPts val="0"/>
              </a:spcAft>
            </a:pPr>
            <a:r>
              <a:rPr sz="650" b="1" i="0">
                <a:solidFill>
                  <a:srgbClr val="007F72"/>
                </a:solidFill>
                <a:latin typeface="Arial"/>
              </a:rPr>
              <a:t>CLINICAL / COMMERCIAL</a:t>
            </a:r>
          </a:p>
        </p:txBody>
      </p:sp>
      <p:sp>
        <p:nvSpPr>
          <p:cNvPr id="27" name="Oval 26"/>
          <p:cNvSpPr/>
          <p:nvPr/>
        </p:nvSpPr>
        <p:spPr>
          <a:xfrm>
            <a:off x="3520439" y="2732592"/>
            <a:ext cx="219456" cy="219456"/>
          </a:xfrm>
          <a:prstGeom prst="ellipse">
            <a:avLst/>
          </a:prstGeom>
          <a:solidFill>
            <a:srgbClr val="3C6E9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93976" y="2641152"/>
            <a:ext cx="1371600" cy="402336"/>
          </a:xfrm>
          <a:prstGeom prst="rect">
            <a:avLst/>
          </a:prstGeom>
          <a:noFill/>
        </p:spPr>
        <p:txBody>
          <a:bodyPr wrap="square" lIns="0" rIns="0" tIns="0" bIns="0" anchor="ctr">
            <a:noAutofit/>
          </a:bodyPr>
          <a:lstStyle/>
          <a:p>
            <a:pPr algn="r">
              <a:lnSpc>
                <a:spcPct val="100000"/>
              </a:lnSpc>
              <a:spcAft>
                <a:spcPts val="0"/>
              </a:spcAft>
            </a:pPr>
            <a:r>
              <a:rPr sz="840" b="0" i="0">
                <a:solidFill>
                  <a:srgbClr val="0B2035"/>
                </a:solidFill>
                <a:latin typeface="Arial"/>
              </a:rPr>
              <a:t>Cellink / BICO</a:t>
            </a:r>
          </a:p>
        </p:txBody>
      </p:sp>
      <p:sp>
        <p:nvSpPr>
          <p:cNvPr id="29" name="Oval 28"/>
          <p:cNvSpPr/>
          <p:nvPr/>
        </p:nvSpPr>
        <p:spPr>
          <a:xfrm>
            <a:off x="4310481" y="3306104"/>
            <a:ext cx="219456" cy="219456"/>
          </a:xfrm>
          <a:prstGeom prst="ellipse">
            <a:avLst/>
          </a:prstGeom>
          <a:solidFill>
            <a:srgbClr val="3C6E9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4017" y="3214664"/>
            <a:ext cx="1371600" cy="402336"/>
          </a:xfrm>
          <a:prstGeom prst="rect">
            <a:avLst/>
          </a:prstGeom>
          <a:noFill/>
        </p:spPr>
        <p:txBody>
          <a:bodyPr wrap="square" lIns="0" rIns="0" tIns="0" bIns="0" anchor="ctr">
            <a:noAutofit/>
          </a:bodyPr>
          <a:lstStyle/>
          <a:p>
            <a:pPr algn="r">
              <a:lnSpc>
                <a:spcPct val="100000"/>
              </a:lnSpc>
              <a:spcAft>
                <a:spcPts val="0"/>
              </a:spcAft>
            </a:pPr>
            <a:r>
              <a:rPr sz="840" b="0" i="0">
                <a:solidFill>
                  <a:srgbClr val="0B2035"/>
                </a:solidFill>
                <a:latin typeface="Arial"/>
              </a:rPr>
              <a:t>Organovo</a:t>
            </a:r>
          </a:p>
        </p:txBody>
      </p:sp>
      <p:sp>
        <p:nvSpPr>
          <p:cNvPr id="31" name="Oval 30"/>
          <p:cNvSpPr/>
          <p:nvPr/>
        </p:nvSpPr>
        <p:spPr>
          <a:xfrm>
            <a:off x="5188305" y="2947659"/>
            <a:ext cx="219456" cy="219456"/>
          </a:xfrm>
          <a:prstGeom prst="ellipse">
            <a:avLst/>
          </a:prstGeom>
          <a:solidFill>
            <a:srgbClr val="3C6E9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61841" y="2856219"/>
            <a:ext cx="1371600" cy="402336"/>
          </a:xfrm>
          <a:prstGeom prst="rect">
            <a:avLst/>
          </a:prstGeom>
          <a:noFill/>
        </p:spPr>
        <p:txBody>
          <a:bodyPr wrap="square" lIns="0" rIns="0" tIns="0" bIns="0" anchor="ctr">
            <a:noAutofit/>
          </a:bodyPr>
          <a:lstStyle/>
          <a:p>
            <a:pPr algn="r">
              <a:lnSpc>
                <a:spcPct val="100000"/>
              </a:lnSpc>
              <a:spcAft>
                <a:spcPts val="0"/>
              </a:spcAft>
            </a:pPr>
            <a:r>
              <a:rPr sz="840" b="0" i="0">
                <a:solidFill>
                  <a:srgbClr val="0B2035"/>
                </a:solidFill>
                <a:latin typeface="Arial"/>
              </a:rPr>
              <a:t>3D Systems (Med)</a:t>
            </a:r>
          </a:p>
        </p:txBody>
      </p:sp>
      <p:sp>
        <p:nvSpPr>
          <p:cNvPr id="33" name="Oval 32"/>
          <p:cNvSpPr/>
          <p:nvPr/>
        </p:nvSpPr>
        <p:spPr>
          <a:xfrm>
            <a:off x="7733995" y="3270260"/>
            <a:ext cx="219456" cy="219456"/>
          </a:xfrm>
          <a:prstGeom prst="ellipse">
            <a:avLst/>
          </a:prstGeom>
          <a:solidFill>
            <a:srgbClr val="183A5A"/>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8315" y="3178820"/>
            <a:ext cx="1371600" cy="402336"/>
          </a:xfrm>
          <a:prstGeom prst="rect">
            <a:avLst/>
          </a:prstGeom>
          <a:noFill/>
        </p:spPr>
        <p:txBody>
          <a:bodyPr wrap="square" lIns="0" rIns="0" tIns="0" bIns="0" anchor="ctr">
            <a:noAutofit/>
          </a:bodyPr>
          <a:lstStyle/>
          <a:p>
            <a:pPr algn="l">
              <a:lnSpc>
                <a:spcPct val="100000"/>
              </a:lnSpc>
              <a:spcAft>
                <a:spcPts val="0"/>
              </a:spcAft>
            </a:pPr>
            <a:r>
              <a:rPr sz="840" b="0" i="0">
                <a:solidFill>
                  <a:srgbClr val="0B2035"/>
                </a:solidFill>
                <a:latin typeface="Arial"/>
              </a:rPr>
              <a:t>Redwire BFF</a:t>
            </a:r>
          </a:p>
        </p:txBody>
      </p:sp>
      <p:sp>
        <p:nvSpPr>
          <p:cNvPr id="35" name="Oval 34"/>
          <p:cNvSpPr/>
          <p:nvPr/>
        </p:nvSpPr>
        <p:spPr>
          <a:xfrm>
            <a:off x="8611819" y="3915460"/>
            <a:ext cx="219456" cy="219456"/>
          </a:xfrm>
          <a:prstGeom prst="ellipse">
            <a:avLst/>
          </a:prstGeom>
          <a:solidFill>
            <a:srgbClr val="183A5A"/>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86139" y="3824020"/>
            <a:ext cx="1371600" cy="402336"/>
          </a:xfrm>
          <a:prstGeom prst="rect">
            <a:avLst/>
          </a:prstGeom>
          <a:noFill/>
        </p:spPr>
        <p:txBody>
          <a:bodyPr wrap="square" lIns="0" rIns="0" tIns="0" bIns="0" anchor="ctr">
            <a:noAutofit/>
          </a:bodyPr>
          <a:lstStyle/>
          <a:p>
            <a:pPr algn="l">
              <a:lnSpc>
                <a:spcPct val="100000"/>
              </a:lnSpc>
              <a:spcAft>
                <a:spcPts val="0"/>
              </a:spcAft>
            </a:pPr>
            <a:r>
              <a:rPr sz="840" b="0" i="0">
                <a:solidFill>
                  <a:srgbClr val="0B2035"/>
                </a:solidFill>
                <a:latin typeface="Arial"/>
              </a:rPr>
              <a:t>LambdaVision</a:t>
            </a:r>
          </a:p>
        </p:txBody>
      </p:sp>
      <p:sp>
        <p:nvSpPr>
          <p:cNvPr id="37" name="Oval 36"/>
          <p:cNvSpPr/>
          <p:nvPr/>
        </p:nvSpPr>
        <p:spPr>
          <a:xfrm>
            <a:off x="7119518" y="4596505"/>
            <a:ext cx="219456" cy="219456"/>
          </a:xfrm>
          <a:prstGeom prst="ellipse">
            <a:avLst/>
          </a:prstGeom>
          <a:solidFill>
            <a:srgbClr val="183A5A"/>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93838" y="4505065"/>
            <a:ext cx="1371600" cy="402336"/>
          </a:xfrm>
          <a:prstGeom prst="rect">
            <a:avLst/>
          </a:prstGeom>
          <a:noFill/>
        </p:spPr>
        <p:txBody>
          <a:bodyPr wrap="square" lIns="0" rIns="0" tIns="0" bIns="0" anchor="ctr">
            <a:noAutofit/>
          </a:bodyPr>
          <a:lstStyle/>
          <a:p>
            <a:pPr algn="l">
              <a:lnSpc>
                <a:spcPct val="100000"/>
              </a:lnSpc>
              <a:spcAft>
                <a:spcPts val="0"/>
              </a:spcAft>
            </a:pPr>
            <a:r>
              <a:rPr sz="840" b="0" i="0">
                <a:solidFill>
                  <a:srgbClr val="0B2035"/>
                </a:solidFill>
                <a:latin typeface="Arial"/>
              </a:rPr>
              <a:t>ROSCOSMOS / 3D BPS</a:t>
            </a:r>
          </a:p>
        </p:txBody>
      </p:sp>
      <p:sp>
        <p:nvSpPr>
          <p:cNvPr id="39" name="Oval 38"/>
          <p:cNvSpPr/>
          <p:nvPr/>
        </p:nvSpPr>
        <p:spPr>
          <a:xfrm>
            <a:off x="9434779" y="2426817"/>
            <a:ext cx="329184" cy="329184"/>
          </a:xfrm>
          <a:prstGeom prst="ellipse">
            <a:avLst/>
          </a:prstGeom>
          <a:solidFill>
            <a:srgbClr val="00A88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763963" y="2390241"/>
            <a:ext cx="1371600" cy="402336"/>
          </a:xfrm>
          <a:prstGeom prst="rect">
            <a:avLst/>
          </a:prstGeom>
          <a:noFill/>
        </p:spPr>
        <p:txBody>
          <a:bodyPr wrap="square" lIns="0" rIns="0" tIns="0" bIns="0" anchor="ctr">
            <a:noAutofit/>
          </a:bodyPr>
          <a:lstStyle/>
          <a:p>
            <a:pPr algn="l">
              <a:lnSpc>
                <a:spcPct val="100000"/>
              </a:lnSpc>
              <a:spcAft>
                <a:spcPts val="0"/>
              </a:spcAft>
            </a:pPr>
            <a:r>
              <a:rPr sz="919" b="1" i="0">
                <a:solidFill>
                  <a:srgbClr val="0B2035"/>
                </a:solidFill>
                <a:latin typeface="Arial"/>
              </a:rPr>
              <a:t>Samuel Space
(target)</a:t>
            </a:r>
          </a:p>
        </p:txBody>
      </p:sp>
      <p:cxnSp>
        <p:nvCxnSpPr>
          <p:cNvPr id="41" name="Connector 40"/>
          <p:cNvCxnSpPr/>
          <p:nvPr/>
        </p:nvCxnSpPr>
        <p:spPr>
          <a:xfrm flipV="1">
            <a:off x="8019288" y="2770632"/>
            <a:ext cx="1228953" cy="788578"/>
          </a:xfrm>
          <a:prstGeom prst="line">
            <a:avLst/>
          </a:prstGeom>
          <a:ln w="20320">
            <a:solidFill>
              <a:srgbClr val="00A88F"/>
            </a:solidFill>
          </a:ln>
        </p:spPr>
        <p:style>
          <a:lnRef idx="2">
            <a:schemeClr val="accent1"/>
          </a:lnRef>
          <a:fillRef idx="0">
            <a:schemeClr val="accent1"/>
          </a:fillRef>
          <a:effectRef idx="1">
            <a:schemeClr val="accent1"/>
          </a:effectRef>
          <a:fontRef idx="minor">
            <a:schemeClr val="tx1"/>
          </a:fontRef>
        </p:style>
      </p:cxnSp>
      <p:sp>
        <p:nvSpPr>
          <p:cNvPr id="42" name="Chevron 41"/>
          <p:cNvSpPr/>
          <p:nvPr/>
        </p:nvSpPr>
        <p:spPr>
          <a:xfrm rot="19500000">
            <a:off x="9072676" y="2591409"/>
            <a:ext cx="292608" cy="219456"/>
          </a:xfrm>
          <a:prstGeom prst="chevron">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1505" y="3021543"/>
            <a:ext cx="914400" cy="164592"/>
          </a:xfrm>
          <a:prstGeom prst="rect">
            <a:avLst/>
          </a:prstGeom>
          <a:noFill/>
        </p:spPr>
        <p:txBody>
          <a:bodyPr wrap="square" lIns="0" rIns="0" tIns="0" bIns="0" anchor="t">
            <a:noAutofit/>
          </a:bodyPr>
          <a:lstStyle/>
          <a:p>
            <a:pPr algn="l">
              <a:lnSpc>
                <a:spcPct val="100000"/>
              </a:lnSpc>
              <a:spcAft>
                <a:spcPts val="0"/>
              </a:spcAft>
            </a:pPr>
            <a:r>
              <a:rPr sz="630" b="1" i="0">
                <a:solidFill>
                  <a:srgbClr val="007F72"/>
                </a:solidFill>
                <a:latin typeface="Arial"/>
              </a:rPr>
              <a:t>ENTRY PATH</a:t>
            </a:r>
          </a:p>
        </p:txBody>
      </p:sp>
      <p:sp>
        <p:nvSpPr>
          <p:cNvPr id="44" name="TextBox 43"/>
          <p:cNvSpPr txBox="1"/>
          <p:nvPr/>
        </p:nvSpPr>
        <p:spPr>
          <a:xfrm>
            <a:off x="1444752" y="6099048"/>
            <a:ext cx="8046720" cy="164592"/>
          </a:xfrm>
          <a:prstGeom prst="rect">
            <a:avLst/>
          </a:prstGeom>
          <a:noFill/>
        </p:spPr>
        <p:txBody>
          <a:bodyPr wrap="square" lIns="0" rIns="0" tIns="0" bIns="0" anchor="t">
            <a:noAutofit/>
          </a:bodyPr>
          <a:lstStyle/>
          <a:p>
            <a:pPr algn="l">
              <a:lnSpc>
                <a:spcPct val="100000"/>
              </a:lnSpc>
              <a:spcAft>
                <a:spcPts val="0"/>
              </a:spcAft>
            </a:pPr>
            <a:r>
              <a:rPr sz="680" b="0" i="1">
                <a:solidFill>
                  <a:srgbClr val="718291"/>
                </a:solidFill>
                <a:latin typeface="Arial"/>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REVENUE MODEL</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Three Complementary Revenue Streams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14</a:t>
            </a:r>
          </a:p>
        </p:txBody>
      </p:sp>
      <p:sp>
        <p:nvSpPr>
          <p:cNvPr id="15" name="Rounded Rectangle 14"/>
          <p:cNvSpPr/>
          <p:nvPr/>
        </p:nvSpPr>
        <p:spPr>
          <a:xfrm>
            <a:off x="502920" y="1307592"/>
            <a:ext cx="3566160"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307592"/>
            <a:ext cx="3566160" cy="73152"/>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1627632"/>
            <a:ext cx="475488" cy="292608"/>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1636776"/>
            <a:ext cx="475488" cy="283464"/>
          </a:xfrm>
          <a:prstGeom prst="rect">
            <a:avLst/>
          </a:prstGeom>
          <a:noFill/>
        </p:spPr>
        <p:txBody>
          <a:bodyPr wrap="square" lIns="0" rIns="0" tIns="0" bIns="0" anchor="ctr">
            <a:noAutofit/>
          </a:bodyPr>
          <a:lstStyle/>
          <a:p>
            <a:pPr algn="ctr">
              <a:lnSpc>
                <a:spcPct val="100000"/>
              </a:lnSpc>
              <a:spcAft>
                <a:spcPts val="0"/>
              </a:spcAft>
            </a:pPr>
            <a:r>
              <a:rPr sz="819" b="1" i="0">
                <a:solidFill>
                  <a:srgbClr val="00A88F"/>
                </a:solidFill>
                <a:latin typeface="Arial"/>
              </a:rPr>
              <a:t>01</a:t>
            </a:r>
          </a:p>
        </p:txBody>
      </p:sp>
      <p:sp>
        <p:nvSpPr>
          <p:cNvPr id="19" name="TextBox 18"/>
          <p:cNvSpPr txBox="1"/>
          <p:nvPr/>
        </p:nvSpPr>
        <p:spPr>
          <a:xfrm>
            <a:off x="1435608" y="1673352"/>
            <a:ext cx="1572768" cy="182880"/>
          </a:xfrm>
          <a:prstGeom prst="rect">
            <a:avLst/>
          </a:prstGeom>
          <a:noFill/>
        </p:spPr>
        <p:txBody>
          <a:bodyPr wrap="square" lIns="0" rIns="0" tIns="0" bIns="0" anchor="t">
            <a:noAutofit/>
          </a:bodyPr>
          <a:lstStyle/>
          <a:p>
            <a:pPr algn="l">
              <a:lnSpc>
                <a:spcPct val="100000"/>
              </a:lnSpc>
              <a:spcAft>
                <a:spcPts val="0"/>
              </a:spcAft>
            </a:pPr>
            <a:r>
              <a:rPr sz="710" b="1" i="0">
                <a:solidFill>
                  <a:srgbClr val="718291"/>
                </a:solidFill>
                <a:latin typeface="Arial"/>
              </a:rPr>
              <a:t>REVENUE STREAM</a:t>
            </a:r>
          </a:p>
        </p:txBody>
      </p:sp>
      <p:sp>
        <p:nvSpPr>
          <p:cNvPr id="20" name="TextBox 19"/>
          <p:cNvSpPr txBox="1"/>
          <p:nvPr/>
        </p:nvSpPr>
        <p:spPr>
          <a:xfrm>
            <a:off x="777240" y="2176272"/>
            <a:ext cx="2999232" cy="758952"/>
          </a:xfrm>
          <a:prstGeom prst="rect">
            <a:avLst/>
          </a:prstGeom>
          <a:noFill/>
        </p:spPr>
        <p:txBody>
          <a:bodyPr wrap="square" lIns="0" rIns="0" tIns="0" bIns="0" anchor="t">
            <a:noAutofit/>
          </a:bodyPr>
          <a:lstStyle/>
          <a:p>
            <a:pPr algn="l">
              <a:lnSpc>
                <a:spcPct val="100000"/>
              </a:lnSpc>
              <a:spcAft>
                <a:spcPts val="0"/>
              </a:spcAft>
            </a:pPr>
            <a:r>
              <a:rPr sz="1800" b="1" i="0">
                <a:solidFill>
                  <a:srgbClr val="0B2035"/>
                </a:solidFill>
                <a:latin typeface="Arial"/>
              </a:rPr>
              <a:t>Contract Bioprinting Services</a:t>
            </a:r>
          </a:p>
        </p:txBody>
      </p:sp>
      <p:cxnSp>
        <p:nvCxnSpPr>
          <p:cNvPr id="21" name="Connector 20"/>
          <p:cNvCxnSpPr/>
          <p:nvPr/>
        </p:nvCxnSpPr>
        <p:spPr>
          <a:xfrm>
            <a:off x="777240" y="3108960"/>
            <a:ext cx="29992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3364992"/>
            <a:ext cx="2999232" cy="1554480"/>
          </a:xfrm>
          <a:prstGeom prst="rect">
            <a:avLst/>
          </a:prstGeom>
          <a:noFill/>
        </p:spPr>
        <p:txBody>
          <a:bodyPr wrap="square" lIns="0" rIns="0" tIns="0" bIns="0" anchor="t">
            <a:noAutofit/>
          </a:bodyPr>
          <a:lstStyle/>
          <a:p>
            <a:pPr algn="l">
              <a:lnSpc>
                <a:spcPct val="100000"/>
              </a:lnSpc>
              <a:spcAft>
                <a:spcPts val="0"/>
              </a:spcAft>
            </a:pPr>
            <a:r>
              <a:rPr sz="1000" b="0" i="0">
                <a:solidFill>
                  <a:srgbClr val="516577"/>
                </a:solidFill>
                <a:latin typeface="Arial"/>
              </a:rPr>
              <a:t>Fee-for-service orbital bioprinting missions for pharmaceutical companies, academic medical centres, and government research agencies, modelled on how Redwire’s BFF and Space Tango currently operate commercially.</a:t>
            </a:r>
          </a:p>
        </p:txBody>
      </p:sp>
      <p:sp>
        <p:nvSpPr>
          <p:cNvPr id="23" name="Rounded Rectangle 22"/>
          <p:cNvSpPr/>
          <p:nvPr/>
        </p:nvSpPr>
        <p:spPr>
          <a:xfrm>
            <a:off x="777240" y="5266944"/>
            <a:ext cx="2304288" cy="310896"/>
          </a:xfrm>
          <a:prstGeom prst="round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276088"/>
            <a:ext cx="2304288" cy="301752"/>
          </a:xfrm>
          <a:prstGeom prst="rect">
            <a:avLst/>
          </a:prstGeom>
          <a:noFill/>
        </p:spPr>
        <p:txBody>
          <a:bodyPr wrap="square" lIns="0" rIns="0" tIns="0" bIns="0" anchor="ctr">
            <a:noAutofit/>
          </a:bodyPr>
          <a:lstStyle/>
          <a:p>
            <a:pPr algn="ctr">
              <a:lnSpc>
                <a:spcPct val="100000"/>
              </a:lnSpc>
              <a:spcAft>
                <a:spcPts val="0"/>
              </a:spcAft>
            </a:pPr>
            <a:r>
              <a:rPr sz="710" b="1" i="0">
                <a:solidFill>
                  <a:srgbClr val="00A88F"/>
                </a:solidFill>
                <a:latin typeface="Arial"/>
              </a:rPr>
              <a:t>REVENUE BEGINS IN YEAR 1</a:t>
            </a:r>
          </a:p>
        </p:txBody>
      </p:sp>
      <p:sp>
        <p:nvSpPr>
          <p:cNvPr id="25" name="TextBox 24"/>
          <p:cNvSpPr txBox="1"/>
          <p:nvPr/>
        </p:nvSpPr>
        <p:spPr>
          <a:xfrm>
            <a:off x="777240" y="5797296"/>
            <a:ext cx="2971800" cy="228600"/>
          </a:xfrm>
          <a:prstGeom prst="rect">
            <a:avLst/>
          </a:prstGeom>
          <a:noFill/>
        </p:spPr>
        <p:txBody>
          <a:bodyPr wrap="square" lIns="0" rIns="0" tIns="0" bIns="0" anchor="t">
            <a:noAutofit/>
          </a:bodyPr>
          <a:lstStyle/>
          <a:p>
            <a:pPr algn="l">
              <a:lnSpc>
                <a:spcPct val="100000"/>
              </a:lnSpc>
              <a:spcAft>
                <a:spcPts val="0"/>
              </a:spcAft>
            </a:pPr>
            <a:r>
              <a:rPr sz="1000" b="1" i="0">
                <a:solidFill>
                  <a:srgbClr val="00A88F"/>
                </a:solidFill>
                <a:latin typeface="Arial"/>
              </a:rPr>
              <a:t>Near-Term Revenue</a:t>
            </a:r>
          </a:p>
        </p:txBody>
      </p:sp>
      <p:sp>
        <p:nvSpPr>
          <p:cNvPr id="26" name="Rounded Rectangle 25"/>
          <p:cNvSpPr/>
          <p:nvPr/>
        </p:nvSpPr>
        <p:spPr>
          <a:xfrm>
            <a:off x="4297680" y="1307592"/>
            <a:ext cx="3566160"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1307592"/>
            <a:ext cx="3566160" cy="73152"/>
          </a:xfrm>
          <a:prstGeom prst="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572000" y="1627632"/>
            <a:ext cx="475488" cy="292608"/>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1636776"/>
            <a:ext cx="475488" cy="283464"/>
          </a:xfrm>
          <a:prstGeom prst="rect">
            <a:avLst/>
          </a:prstGeom>
          <a:noFill/>
        </p:spPr>
        <p:txBody>
          <a:bodyPr wrap="square" lIns="0" rIns="0" tIns="0" bIns="0" anchor="ctr">
            <a:noAutofit/>
          </a:bodyPr>
          <a:lstStyle/>
          <a:p>
            <a:pPr algn="ctr">
              <a:lnSpc>
                <a:spcPct val="100000"/>
              </a:lnSpc>
              <a:spcAft>
                <a:spcPts val="0"/>
              </a:spcAft>
            </a:pPr>
            <a:r>
              <a:rPr sz="819" b="1" i="0">
                <a:solidFill>
                  <a:srgbClr val="3C6E9B"/>
                </a:solidFill>
                <a:latin typeface="Arial"/>
              </a:rPr>
              <a:t>02</a:t>
            </a:r>
          </a:p>
        </p:txBody>
      </p:sp>
      <p:sp>
        <p:nvSpPr>
          <p:cNvPr id="30" name="TextBox 29"/>
          <p:cNvSpPr txBox="1"/>
          <p:nvPr/>
        </p:nvSpPr>
        <p:spPr>
          <a:xfrm>
            <a:off x="5230368" y="1673352"/>
            <a:ext cx="1572768" cy="182880"/>
          </a:xfrm>
          <a:prstGeom prst="rect">
            <a:avLst/>
          </a:prstGeom>
          <a:noFill/>
        </p:spPr>
        <p:txBody>
          <a:bodyPr wrap="square" lIns="0" rIns="0" tIns="0" bIns="0" anchor="t">
            <a:noAutofit/>
          </a:bodyPr>
          <a:lstStyle/>
          <a:p>
            <a:pPr algn="l">
              <a:lnSpc>
                <a:spcPct val="100000"/>
              </a:lnSpc>
              <a:spcAft>
                <a:spcPts val="0"/>
              </a:spcAft>
            </a:pPr>
            <a:r>
              <a:rPr sz="710" b="1" i="0">
                <a:solidFill>
                  <a:srgbClr val="718291"/>
                </a:solidFill>
                <a:latin typeface="Arial"/>
              </a:rPr>
              <a:t>REVENUE STREAM</a:t>
            </a:r>
          </a:p>
        </p:txBody>
      </p:sp>
      <p:sp>
        <p:nvSpPr>
          <p:cNvPr id="31" name="TextBox 30"/>
          <p:cNvSpPr txBox="1"/>
          <p:nvPr/>
        </p:nvSpPr>
        <p:spPr>
          <a:xfrm>
            <a:off x="4572000" y="2176272"/>
            <a:ext cx="2999232" cy="758952"/>
          </a:xfrm>
          <a:prstGeom prst="rect">
            <a:avLst/>
          </a:prstGeom>
          <a:noFill/>
        </p:spPr>
        <p:txBody>
          <a:bodyPr wrap="square" lIns="0" rIns="0" tIns="0" bIns="0" anchor="t">
            <a:noAutofit/>
          </a:bodyPr>
          <a:lstStyle/>
          <a:p>
            <a:pPr algn="l">
              <a:lnSpc>
                <a:spcPct val="100000"/>
              </a:lnSpc>
              <a:spcAft>
                <a:spcPts val="0"/>
              </a:spcAft>
            </a:pPr>
            <a:r>
              <a:rPr sz="1800" b="1" i="0">
                <a:solidFill>
                  <a:srgbClr val="0B2035"/>
                </a:solidFill>
                <a:latin typeface="Arial"/>
              </a:rPr>
              <a:t>Non-Dilutive Grant Funding</a:t>
            </a:r>
          </a:p>
        </p:txBody>
      </p:sp>
      <p:cxnSp>
        <p:nvCxnSpPr>
          <p:cNvPr id="32" name="Connector 31"/>
          <p:cNvCxnSpPr/>
          <p:nvPr/>
        </p:nvCxnSpPr>
        <p:spPr>
          <a:xfrm>
            <a:off x="4572000" y="3108960"/>
            <a:ext cx="29992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0" y="3364992"/>
            <a:ext cx="2999232" cy="1554480"/>
          </a:xfrm>
          <a:prstGeom prst="rect">
            <a:avLst/>
          </a:prstGeom>
          <a:noFill/>
        </p:spPr>
        <p:txBody>
          <a:bodyPr wrap="square" lIns="0" rIns="0" tIns="0" bIns="0" anchor="t">
            <a:noAutofit/>
          </a:bodyPr>
          <a:lstStyle/>
          <a:p>
            <a:pPr algn="l">
              <a:lnSpc>
                <a:spcPct val="100000"/>
              </a:lnSpc>
              <a:spcAft>
                <a:spcPts val="0"/>
              </a:spcAft>
            </a:pPr>
            <a:r>
              <a:rPr sz="1000" b="0" i="0">
                <a:solidFill>
                  <a:srgbClr val="516577"/>
                </a:solidFill>
                <a:latin typeface="Arial"/>
              </a:rPr>
              <a:t>NASA InSPA, ESA BIC, DoD SBIR/STTR, and National Eye Institute mechanisms provide non-dilutive capital. LambdaVision has secured $15M+ cumulatively; Redwire holds a $25M NASA IDIQ. Samuel targets $4–8M in grants across Years 1–4.</a:t>
            </a:r>
          </a:p>
        </p:txBody>
      </p:sp>
      <p:sp>
        <p:nvSpPr>
          <p:cNvPr id="34" name="Rounded Rectangle 33"/>
          <p:cNvSpPr/>
          <p:nvPr/>
        </p:nvSpPr>
        <p:spPr>
          <a:xfrm>
            <a:off x="4572000" y="5266944"/>
            <a:ext cx="2304288" cy="310896"/>
          </a:xfrm>
          <a:prstGeom prst="round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0" y="5276088"/>
            <a:ext cx="2304288" cy="301752"/>
          </a:xfrm>
          <a:prstGeom prst="rect">
            <a:avLst/>
          </a:prstGeom>
          <a:noFill/>
        </p:spPr>
        <p:txBody>
          <a:bodyPr wrap="square" lIns="0" rIns="0" tIns="0" bIns="0" anchor="ctr">
            <a:noAutofit/>
          </a:bodyPr>
          <a:lstStyle/>
          <a:p>
            <a:pPr algn="ctr">
              <a:lnSpc>
                <a:spcPct val="100000"/>
              </a:lnSpc>
              <a:spcAft>
                <a:spcPts val="0"/>
              </a:spcAft>
            </a:pPr>
            <a:r>
              <a:rPr sz="710" b="1" i="0">
                <a:solidFill>
                  <a:srgbClr val="3C6E9B"/>
                </a:solidFill>
                <a:latin typeface="Arial"/>
              </a:rPr>
              <a:t>TARGET: $4–8M / YEARS 1–4</a:t>
            </a:r>
          </a:p>
        </p:txBody>
      </p:sp>
      <p:sp>
        <p:nvSpPr>
          <p:cNvPr id="36" name="TextBox 35"/>
          <p:cNvSpPr txBox="1"/>
          <p:nvPr/>
        </p:nvSpPr>
        <p:spPr>
          <a:xfrm>
            <a:off x="4572000" y="5797296"/>
            <a:ext cx="2971800" cy="228600"/>
          </a:xfrm>
          <a:prstGeom prst="rect">
            <a:avLst/>
          </a:prstGeom>
          <a:noFill/>
        </p:spPr>
        <p:txBody>
          <a:bodyPr wrap="square" lIns="0" rIns="0" tIns="0" bIns="0" anchor="t">
            <a:noAutofit/>
          </a:bodyPr>
          <a:lstStyle/>
          <a:p>
            <a:pPr algn="l">
              <a:lnSpc>
                <a:spcPct val="100000"/>
              </a:lnSpc>
              <a:spcAft>
                <a:spcPts val="0"/>
              </a:spcAft>
            </a:pPr>
            <a:r>
              <a:rPr sz="1000" b="1" i="0">
                <a:solidFill>
                  <a:srgbClr val="3C6E9B"/>
                </a:solidFill>
                <a:latin typeface="Arial"/>
              </a:rPr>
              <a:t>Reduces Equity Burn</a:t>
            </a:r>
          </a:p>
        </p:txBody>
      </p:sp>
      <p:sp>
        <p:nvSpPr>
          <p:cNvPr id="37" name="Rounded Rectangle 36"/>
          <p:cNvSpPr/>
          <p:nvPr/>
        </p:nvSpPr>
        <p:spPr>
          <a:xfrm>
            <a:off x="8092440" y="1307592"/>
            <a:ext cx="3566160"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92440" y="1307592"/>
            <a:ext cx="3566160" cy="73152"/>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366760" y="1627632"/>
            <a:ext cx="475488" cy="292608"/>
          </a:xfrm>
          <a:prstGeom prst="roundRect">
            <a:avLst/>
          </a:prstGeom>
          <a:solidFill>
            <a:srgbClr val="F8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66760" y="1636776"/>
            <a:ext cx="475488" cy="283464"/>
          </a:xfrm>
          <a:prstGeom prst="rect">
            <a:avLst/>
          </a:prstGeom>
          <a:noFill/>
        </p:spPr>
        <p:txBody>
          <a:bodyPr wrap="square" lIns="0" rIns="0" tIns="0" bIns="0" anchor="ctr">
            <a:noAutofit/>
          </a:bodyPr>
          <a:lstStyle/>
          <a:p>
            <a:pPr algn="ctr">
              <a:lnSpc>
                <a:spcPct val="100000"/>
              </a:lnSpc>
              <a:spcAft>
                <a:spcPts val="0"/>
              </a:spcAft>
            </a:pPr>
            <a:r>
              <a:rPr sz="819" b="1" i="0">
                <a:solidFill>
                  <a:srgbClr val="D7A747"/>
                </a:solidFill>
                <a:latin typeface="Arial"/>
              </a:rPr>
              <a:t>03</a:t>
            </a:r>
          </a:p>
        </p:txBody>
      </p:sp>
      <p:sp>
        <p:nvSpPr>
          <p:cNvPr id="41" name="TextBox 40"/>
          <p:cNvSpPr txBox="1"/>
          <p:nvPr/>
        </p:nvSpPr>
        <p:spPr>
          <a:xfrm>
            <a:off x="9025128" y="1673352"/>
            <a:ext cx="1572768" cy="182880"/>
          </a:xfrm>
          <a:prstGeom prst="rect">
            <a:avLst/>
          </a:prstGeom>
          <a:noFill/>
        </p:spPr>
        <p:txBody>
          <a:bodyPr wrap="square" lIns="0" rIns="0" tIns="0" bIns="0" anchor="t">
            <a:noAutofit/>
          </a:bodyPr>
          <a:lstStyle/>
          <a:p>
            <a:pPr algn="l">
              <a:lnSpc>
                <a:spcPct val="100000"/>
              </a:lnSpc>
              <a:spcAft>
                <a:spcPts val="0"/>
              </a:spcAft>
            </a:pPr>
            <a:r>
              <a:rPr sz="710" b="1" i="0">
                <a:solidFill>
                  <a:srgbClr val="718291"/>
                </a:solidFill>
                <a:latin typeface="Arial"/>
              </a:rPr>
              <a:t>REVENUE STREAM</a:t>
            </a:r>
          </a:p>
        </p:txBody>
      </p:sp>
      <p:sp>
        <p:nvSpPr>
          <p:cNvPr id="42" name="TextBox 41"/>
          <p:cNvSpPr txBox="1"/>
          <p:nvPr/>
        </p:nvSpPr>
        <p:spPr>
          <a:xfrm>
            <a:off x="8366760" y="2176272"/>
            <a:ext cx="2999232" cy="758952"/>
          </a:xfrm>
          <a:prstGeom prst="rect">
            <a:avLst/>
          </a:prstGeom>
          <a:noFill/>
        </p:spPr>
        <p:txBody>
          <a:bodyPr wrap="square" lIns="0" rIns="0" tIns="0" bIns="0" anchor="t">
            <a:noAutofit/>
          </a:bodyPr>
          <a:lstStyle/>
          <a:p>
            <a:pPr algn="l">
              <a:lnSpc>
                <a:spcPct val="100000"/>
              </a:lnSpc>
              <a:spcAft>
                <a:spcPts val="0"/>
              </a:spcAft>
            </a:pPr>
            <a:r>
              <a:rPr sz="1800" b="1" i="0">
                <a:solidFill>
                  <a:srgbClr val="0B2035"/>
                </a:solidFill>
                <a:latin typeface="Arial"/>
              </a:rPr>
              <a:t>Tissue IP Licensing &amp; Royalties</a:t>
            </a:r>
          </a:p>
        </p:txBody>
      </p:sp>
      <p:cxnSp>
        <p:nvCxnSpPr>
          <p:cNvPr id="43" name="Connector 42"/>
          <p:cNvCxnSpPr/>
          <p:nvPr/>
        </p:nvCxnSpPr>
        <p:spPr>
          <a:xfrm>
            <a:off x="8366760" y="3108960"/>
            <a:ext cx="2999232" cy="0"/>
          </a:xfrm>
          <a:prstGeom prst="line">
            <a:avLst/>
          </a:prstGeom>
          <a:ln w="10160">
            <a:solidFill>
              <a:srgbClr val="D7E1E8"/>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366760" y="3364992"/>
            <a:ext cx="2999232" cy="1554480"/>
          </a:xfrm>
          <a:prstGeom prst="rect">
            <a:avLst/>
          </a:prstGeom>
          <a:noFill/>
        </p:spPr>
        <p:txBody>
          <a:bodyPr wrap="square" lIns="0" rIns="0" tIns="0" bIns="0" anchor="t">
            <a:noAutofit/>
          </a:bodyPr>
          <a:lstStyle/>
          <a:p>
            <a:pPr algn="l">
              <a:lnSpc>
                <a:spcPct val="100000"/>
              </a:lnSpc>
              <a:spcAft>
                <a:spcPts val="0"/>
              </a:spcAft>
            </a:pPr>
            <a:r>
              <a:rPr sz="1000" b="0" i="0">
                <a:solidFill>
                  <a:srgbClr val="516577"/>
                </a:solidFill>
                <a:latin typeface="Arial"/>
              </a:rPr>
              <a:t>As proprietary bioink formulations and protocols demonstrate clinical-grade output, Samuel licenses IP to pharmaceutical and device manufacturers. This becomes the primary long-term value driver, targeted from Year 3 onward.</a:t>
            </a:r>
          </a:p>
        </p:txBody>
      </p:sp>
      <p:sp>
        <p:nvSpPr>
          <p:cNvPr id="45" name="Rounded Rectangle 44"/>
          <p:cNvSpPr/>
          <p:nvPr/>
        </p:nvSpPr>
        <p:spPr>
          <a:xfrm>
            <a:off x="8366760" y="5266944"/>
            <a:ext cx="2304288" cy="310896"/>
          </a:xfrm>
          <a:prstGeom prst="round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66760" y="5276088"/>
            <a:ext cx="2304288" cy="301752"/>
          </a:xfrm>
          <a:prstGeom prst="rect">
            <a:avLst/>
          </a:prstGeom>
          <a:noFill/>
        </p:spPr>
        <p:txBody>
          <a:bodyPr wrap="square" lIns="0" rIns="0" tIns="0" bIns="0" anchor="ctr">
            <a:noAutofit/>
          </a:bodyPr>
          <a:lstStyle/>
          <a:p>
            <a:pPr algn="ctr">
              <a:lnSpc>
                <a:spcPct val="100000"/>
              </a:lnSpc>
              <a:spcAft>
                <a:spcPts val="0"/>
              </a:spcAft>
            </a:pPr>
            <a:r>
              <a:rPr sz="710" b="1" i="0">
                <a:solidFill>
                  <a:srgbClr val="D7A747"/>
                </a:solidFill>
                <a:latin typeface="Arial"/>
              </a:rPr>
              <a:t>TARGETED FROM YEAR 3</a:t>
            </a:r>
          </a:p>
        </p:txBody>
      </p:sp>
      <p:sp>
        <p:nvSpPr>
          <p:cNvPr id="47" name="TextBox 46"/>
          <p:cNvSpPr txBox="1"/>
          <p:nvPr/>
        </p:nvSpPr>
        <p:spPr>
          <a:xfrm>
            <a:off x="8366760" y="5797296"/>
            <a:ext cx="2971800" cy="228600"/>
          </a:xfrm>
          <a:prstGeom prst="rect">
            <a:avLst/>
          </a:prstGeom>
          <a:noFill/>
        </p:spPr>
        <p:txBody>
          <a:bodyPr wrap="square" lIns="0" rIns="0" tIns="0" bIns="0" anchor="t">
            <a:noAutofit/>
          </a:bodyPr>
          <a:lstStyle/>
          <a:p>
            <a:pPr algn="l">
              <a:lnSpc>
                <a:spcPct val="100000"/>
              </a:lnSpc>
              <a:spcAft>
                <a:spcPts val="0"/>
              </a:spcAft>
            </a:pPr>
            <a:r>
              <a:rPr sz="1000" b="1" i="0">
                <a:solidFill>
                  <a:srgbClr val="D7A747"/>
                </a:solidFill>
                <a:latin typeface="Arial"/>
              </a:rPr>
              <a:t>Long-Term Value Driver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GO-TO-MARKET</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Sequenced Market Entry Across Four Partner Categories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15</a:t>
            </a:r>
          </a:p>
        </p:txBody>
      </p:sp>
      <p:sp>
        <p:nvSpPr>
          <p:cNvPr id="15" name="Rounded Rectangle 14"/>
          <p:cNvSpPr/>
          <p:nvPr/>
        </p:nvSpPr>
        <p:spPr>
          <a:xfrm>
            <a:off x="502920" y="1307592"/>
            <a:ext cx="2606040"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1609344"/>
            <a:ext cx="475488" cy="292608"/>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618488"/>
            <a:ext cx="475488" cy="283464"/>
          </a:xfrm>
          <a:prstGeom prst="rect">
            <a:avLst/>
          </a:prstGeom>
          <a:noFill/>
        </p:spPr>
        <p:txBody>
          <a:bodyPr wrap="square" lIns="0" rIns="0" tIns="0" bIns="0" anchor="ctr">
            <a:noAutofit/>
          </a:bodyPr>
          <a:lstStyle/>
          <a:p>
            <a:pPr algn="ctr">
              <a:lnSpc>
                <a:spcPct val="100000"/>
              </a:lnSpc>
              <a:spcAft>
                <a:spcPts val="0"/>
              </a:spcAft>
            </a:pPr>
            <a:r>
              <a:rPr sz="830" b="1" i="0">
                <a:solidFill>
                  <a:srgbClr val="007F72"/>
                </a:solidFill>
                <a:latin typeface="Arial"/>
              </a:rPr>
              <a:t>01</a:t>
            </a:r>
          </a:p>
        </p:txBody>
      </p:sp>
      <p:sp>
        <p:nvSpPr>
          <p:cNvPr id="18" name="TextBox 17"/>
          <p:cNvSpPr txBox="1"/>
          <p:nvPr/>
        </p:nvSpPr>
        <p:spPr>
          <a:xfrm>
            <a:off x="731520" y="2148840"/>
            <a:ext cx="2148840" cy="932688"/>
          </a:xfrm>
          <a:prstGeom prst="rect">
            <a:avLst/>
          </a:prstGeom>
          <a:noFill/>
        </p:spPr>
        <p:txBody>
          <a:bodyPr wrap="square" lIns="0" rIns="0" tIns="0" bIns="0" anchor="t">
            <a:noAutofit/>
          </a:bodyPr>
          <a:lstStyle/>
          <a:p>
            <a:pPr algn="l">
              <a:lnSpc>
                <a:spcPct val="100000"/>
              </a:lnSpc>
              <a:spcAft>
                <a:spcPts val="0"/>
              </a:spcAft>
            </a:pPr>
            <a:r>
              <a:rPr sz="1650" b="1" i="0">
                <a:solidFill>
                  <a:srgbClr val="0B2035"/>
                </a:solidFill>
                <a:latin typeface="Arial"/>
              </a:rPr>
              <a:t>Commercial Station Operators</a:t>
            </a:r>
          </a:p>
        </p:txBody>
      </p:sp>
      <p:sp>
        <p:nvSpPr>
          <p:cNvPr id="19" name="Rectangle 18"/>
          <p:cNvSpPr/>
          <p:nvPr/>
        </p:nvSpPr>
        <p:spPr>
          <a:xfrm>
            <a:off x="731520" y="3227832"/>
            <a:ext cx="530352" cy="3657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02152"/>
            <a:ext cx="2148840" cy="1517904"/>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Redwire (active BFF operator), Starlab, Axiom Space, Blue Origin Orbital Reef, and Vast Haven-1. Samuel negotiates research-service agreements and payload manifesting rights with each.</a:t>
            </a:r>
          </a:p>
        </p:txBody>
      </p:sp>
      <p:sp>
        <p:nvSpPr>
          <p:cNvPr id="21" name="Rounded Rectangle 20"/>
          <p:cNvSpPr/>
          <p:nvPr/>
        </p:nvSpPr>
        <p:spPr>
          <a:xfrm>
            <a:off x="731520" y="5358384"/>
            <a:ext cx="2148840" cy="566928"/>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458968"/>
            <a:ext cx="1856231" cy="329184"/>
          </a:xfrm>
          <a:prstGeom prst="rect">
            <a:avLst/>
          </a:prstGeom>
          <a:noFill/>
        </p:spPr>
        <p:txBody>
          <a:bodyPr wrap="square" lIns="0" rIns="0" tIns="0" bIns="0" anchor="ctr">
            <a:noAutofit/>
          </a:bodyPr>
          <a:lstStyle/>
          <a:p>
            <a:pPr algn="l">
              <a:lnSpc>
                <a:spcPct val="100000"/>
              </a:lnSpc>
              <a:spcAft>
                <a:spcPts val="0"/>
              </a:spcAft>
            </a:pPr>
            <a:r>
              <a:rPr sz="700" b="1" i="0">
                <a:solidFill>
                  <a:srgbClr val="183A5A"/>
                </a:solidFill>
                <a:latin typeface="Arial"/>
              </a:rPr>
              <a:t>REDWIRE · STARLAB · AXIOM · VAST</a:t>
            </a:r>
          </a:p>
        </p:txBody>
      </p:sp>
      <p:sp>
        <p:nvSpPr>
          <p:cNvPr id="23" name="Rounded Rectangle 22"/>
          <p:cNvSpPr/>
          <p:nvPr/>
        </p:nvSpPr>
        <p:spPr>
          <a:xfrm>
            <a:off x="3319272" y="1307592"/>
            <a:ext cx="2606040" cy="4974336"/>
          </a:xfrm>
          <a:prstGeom prst="roundRect">
            <a:avLst/>
          </a:prstGeom>
          <a:solidFill>
            <a:srgbClr val="F9FBFC"/>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47872" y="1609344"/>
            <a:ext cx="475488" cy="292608"/>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7872" y="1618488"/>
            <a:ext cx="475488" cy="283464"/>
          </a:xfrm>
          <a:prstGeom prst="rect">
            <a:avLst/>
          </a:prstGeom>
          <a:noFill/>
        </p:spPr>
        <p:txBody>
          <a:bodyPr wrap="square" lIns="0" rIns="0" tIns="0" bIns="0" anchor="ctr">
            <a:noAutofit/>
          </a:bodyPr>
          <a:lstStyle/>
          <a:p>
            <a:pPr algn="ctr">
              <a:lnSpc>
                <a:spcPct val="100000"/>
              </a:lnSpc>
              <a:spcAft>
                <a:spcPts val="0"/>
              </a:spcAft>
            </a:pPr>
            <a:r>
              <a:rPr sz="830" b="1" i="0">
                <a:solidFill>
                  <a:srgbClr val="007F72"/>
                </a:solidFill>
                <a:latin typeface="Arial"/>
              </a:rPr>
              <a:t>02</a:t>
            </a:r>
          </a:p>
        </p:txBody>
      </p:sp>
      <p:sp>
        <p:nvSpPr>
          <p:cNvPr id="26" name="TextBox 25"/>
          <p:cNvSpPr txBox="1"/>
          <p:nvPr/>
        </p:nvSpPr>
        <p:spPr>
          <a:xfrm>
            <a:off x="3547872" y="2148840"/>
            <a:ext cx="2148840" cy="932688"/>
          </a:xfrm>
          <a:prstGeom prst="rect">
            <a:avLst/>
          </a:prstGeom>
          <a:noFill/>
        </p:spPr>
        <p:txBody>
          <a:bodyPr wrap="square" lIns="0" rIns="0" tIns="0" bIns="0" anchor="t">
            <a:noAutofit/>
          </a:bodyPr>
          <a:lstStyle/>
          <a:p>
            <a:pPr algn="l">
              <a:lnSpc>
                <a:spcPct val="100000"/>
              </a:lnSpc>
              <a:spcAft>
                <a:spcPts val="0"/>
              </a:spcAft>
            </a:pPr>
            <a:r>
              <a:rPr sz="1650" b="1" i="0">
                <a:solidFill>
                  <a:srgbClr val="0B2035"/>
                </a:solidFill>
                <a:latin typeface="Arial"/>
              </a:rPr>
              <a:t>Payload Integrators &amp; CROs</a:t>
            </a:r>
          </a:p>
        </p:txBody>
      </p:sp>
      <p:sp>
        <p:nvSpPr>
          <p:cNvPr id="27" name="Rectangle 26"/>
          <p:cNvSpPr/>
          <p:nvPr/>
        </p:nvSpPr>
        <p:spPr>
          <a:xfrm>
            <a:off x="3547872" y="3227832"/>
            <a:ext cx="530352" cy="3657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47872" y="3502152"/>
            <a:ext cx="2148840" cy="1517904"/>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Partners such as Space Tango provide environmental control, crew interface, and downlink services. Samuel outsources non-core integration to move faster and preserve capital.</a:t>
            </a:r>
          </a:p>
        </p:txBody>
      </p:sp>
      <p:sp>
        <p:nvSpPr>
          <p:cNvPr id="29" name="Rounded Rectangle 28"/>
          <p:cNvSpPr/>
          <p:nvPr/>
        </p:nvSpPr>
        <p:spPr>
          <a:xfrm>
            <a:off x="3547872" y="5358384"/>
            <a:ext cx="2148840" cy="566928"/>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5458968"/>
            <a:ext cx="1856231" cy="329184"/>
          </a:xfrm>
          <a:prstGeom prst="rect">
            <a:avLst/>
          </a:prstGeom>
          <a:noFill/>
        </p:spPr>
        <p:txBody>
          <a:bodyPr wrap="square" lIns="0" rIns="0" tIns="0" bIns="0" anchor="ctr">
            <a:noAutofit/>
          </a:bodyPr>
          <a:lstStyle/>
          <a:p>
            <a:pPr algn="l">
              <a:lnSpc>
                <a:spcPct val="100000"/>
              </a:lnSpc>
              <a:spcAft>
                <a:spcPts val="0"/>
              </a:spcAft>
            </a:pPr>
            <a:r>
              <a:rPr sz="700" b="1" i="0">
                <a:solidFill>
                  <a:srgbClr val="183A5A"/>
                </a:solidFill>
                <a:latin typeface="Arial"/>
              </a:rPr>
              <a:t>SPACE TANGO · NANORACKS / VOYAGER</a:t>
            </a:r>
          </a:p>
        </p:txBody>
      </p:sp>
      <p:sp>
        <p:nvSpPr>
          <p:cNvPr id="31" name="Rounded Rectangle 30"/>
          <p:cNvSpPr/>
          <p:nvPr/>
        </p:nvSpPr>
        <p:spPr>
          <a:xfrm>
            <a:off x="6135624" y="1307592"/>
            <a:ext cx="2606040"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64224" y="1609344"/>
            <a:ext cx="475488" cy="292608"/>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64224" y="1618488"/>
            <a:ext cx="475488" cy="283464"/>
          </a:xfrm>
          <a:prstGeom prst="rect">
            <a:avLst/>
          </a:prstGeom>
          <a:noFill/>
        </p:spPr>
        <p:txBody>
          <a:bodyPr wrap="square" lIns="0" rIns="0" tIns="0" bIns="0" anchor="ctr">
            <a:noAutofit/>
          </a:bodyPr>
          <a:lstStyle/>
          <a:p>
            <a:pPr algn="ctr">
              <a:lnSpc>
                <a:spcPct val="100000"/>
              </a:lnSpc>
              <a:spcAft>
                <a:spcPts val="0"/>
              </a:spcAft>
            </a:pPr>
            <a:r>
              <a:rPr sz="830" b="1" i="0">
                <a:solidFill>
                  <a:srgbClr val="007F72"/>
                </a:solidFill>
                <a:latin typeface="Arial"/>
              </a:rPr>
              <a:t>03</a:t>
            </a:r>
          </a:p>
        </p:txBody>
      </p:sp>
      <p:sp>
        <p:nvSpPr>
          <p:cNvPr id="34" name="TextBox 33"/>
          <p:cNvSpPr txBox="1"/>
          <p:nvPr/>
        </p:nvSpPr>
        <p:spPr>
          <a:xfrm>
            <a:off x="6364224" y="2148840"/>
            <a:ext cx="2148840" cy="932688"/>
          </a:xfrm>
          <a:prstGeom prst="rect">
            <a:avLst/>
          </a:prstGeom>
          <a:noFill/>
        </p:spPr>
        <p:txBody>
          <a:bodyPr wrap="square" lIns="0" rIns="0" tIns="0" bIns="0" anchor="t">
            <a:noAutofit/>
          </a:bodyPr>
          <a:lstStyle/>
          <a:p>
            <a:pPr algn="l">
              <a:lnSpc>
                <a:spcPct val="100000"/>
              </a:lnSpc>
              <a:spcAft>
                <a:spcPts val="0"/>
              </a:spcAft>
            </a:pPr>
            <a:r>
              <a:rPr sz="1650" b="1" i="0">
                <a:solidFill>
                  <a:srgbClr val="0B2035"/>
                </a:solidFill>
                <a:latin typeface="Arial"/>
              </a:rPr>
              <a:t>Pharma &amp; Academic Medical Centres</a:t>
            </a:r>
          </a:p>
        </p:txBody>
      </p:sp>
      <p:sp>
        <p:nvSpPr>
          <p:cNvPr id="35" name="Rectangle 34"/>
          <p:cNvSpPr/>
          <p:nvPr/>
        </p:nvSpPr>
        <p:spPr>
          <a:xfrm>
            <a:off x="6364224" y="3227832"/>
            <a:ext cx="530352" cy="3657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64224" y="3502152"/>
            <a:ext cx="2148840" cy="1517904"/>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Initial contract-service revenue comes from pharmaceutical R&amp;D divisions seeking orbital tissue models for drug screening, and from NIH-funded academic biotech groups.</a:t>
            </a:r>
          </a:p>
        </p:txBody>
      </p:sp>
      <p:sp>
        <p:nvSpPr>
          <p:cNvPr id="37" name="Rounded Rectangle 36"/>
          <p:cNvSpPr/>
          <p:nvPr/>
        </p:nvSpPr>
        <p:spPr>
          <a:xfrm>
            <a:off x="6364224" y="5358384"/>
            <a:ext cx="2148840" cy="566928"/>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0528" y="5458968"/>
            <a:ext cx="1856231" cy="329184"/>
          </a:xfrm>
          <a:prstGeom prst="rect">
            <a:avLst/>
          </a:prstGeom>
          <a:noFill/>
        </p:spPr>
        <p:txBody>
          <a:bodyPr wrap="square" lIns="0" rIns="0" tIns="0" bIns="0" anchor="ctr">
            <a:noAutofit/>
          </a:bodyPr>
          <a:lstStyle/>
          <a:p>
            <a:pPr algn="l">
              <a:lnSpc>
                <a:spcPct val="100000"/>
              </a:lnSpc>
              <a:spcAft>
                <a:spcPts val="0"/>
              </a:spcAft>
            </a:pPr>
            <a:r>
              <a:rPr sz="700" b="1" i="0">
                <a:solidFill>
                  <a:srgbClr val="183A5A"/>
                </a:solidFill>
                <a:latin typeface="Arial"/>
              </a:rPr>
              <a:t>PHARMA R&amp;D · NIH-FUNDED LABS</a:t>
            </a:r>
          </a:p>
        </p:txBody>
      </p:sp>
      <p:sp>
        <p:nvSpPr>
          <p:cNvPr id="39" name="Rounded Rectangle 38"/>
          <p:cNvSpPr/>
          <p:nvPr/>
        </p:nvSpPr>
        <p:spPr>
          <a:xfrm>
            <a:off x="8951976" y="1307592"/>
            <a:ext cx="2606040" cy="4974336"/>
          </a:xfrm>
          <a:prstGeom prst="roundRect">
            <a:avLst/>
          </a:prstGeom>
          <a:solidFill>
            <a:srgbClr val="F9FBFC"/>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180576" y="1609344"/>
            <a:ext cx="475488" cy="292608"/>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80576" y="1618488"/>
            <a:ext cx="475488" cy="283464"/>
          </a:xfrm>
          <a:prstGeom prst="rect">
            <a:avLst/>
          </a:prstGeom>
          <a:noFill/>
        </p:spPr>
        <p:txBody>
          <a:bodyPr wrap="square" lIns="0" rIns="0" tIns="0" bIns="0" anchor="ctr">
            <a:noAutofit/>
          </a:bodyPr>
          <a:lstStyle/>
          <a:p>
            <a:pPr algn="ctr">
              <a:lnSpc>
                <a:spcPct val="100000"/>
              </a:lnSpc>
              <a:spcAft>
                <a:spcPts val="0"/>
              </a:spcAft>
            </a:pPr>
            <a:r>
              <a:rPr sz="830" b="1" i="0">
                <a:solidFill>
                  <a:srgbClr val="007F72"/>
                </a:solidFill>
                <a:latin typeface="Arial"/>
              </a:rPr>
              <a:t>04</a:t>
            </a:r>
          </a:p>
        </p:txBody>
      </p:sp>
      <p:sp>
        <p:nvSpPr>
          <p:cNvPr id="42" name="TextBox 41"/>
          <p:cNvSpPr txBox="1"/>
          <p:nvPr/>
        </p:nvSpPr>
        <p:spPr>
          <a:xfrm>
            <a:off x="9180576" y="2148840"/>
            <a:ext cx="2148840" cy="932688"/>
          </a:xfrm>
          <a:prstGeom prst="rect">
            <a:avLst/>
          </a:prstGeom>
          <a:noFill/>
        </p:spPr>
        <p:txBody>
          <a:bodyPr wrap="square" lIns="0" rIns="0" tIns="0" bIns="0" anchor="t">
            <a:noAutofit/>
          </a:bodyPr>
          <a:lstStyle/>
          <a:p>
            <a:pPr algn="l">
              <a:lnSpc>
                <a:spcPct val="100000"/>
              </a:lnSpc>
              <a:spcAft>
                <a:spcPts val="0"/>
              </a:spcAft>
            </a:pPr>
            <a:r>
              <a:rPr sz="1650" b="1" i="0">
                <a:solidFill>
                  <a:srgbClr val="0B2035"/>
                </a:solidFill>
                <a:latin typeface="Arial"/>
              </a:rPr>
              <a:t>Government &amp; Grant Agencies</a:t>
            </a:r>
          </a:p>
        </p:txBody>
      </p:sp>
      <p:sp>
        <p:nvSpPr>
          <p:cNvPr id="43" name="Rectangle 42"/>
          <p:cNvSpPr/>
          <p:nvPr/>
        </p:nvSpPr>
        <p:spPr>
          <a:xfrm>
            <a:off x="9180576" y="3227832"/>
            <a:ext cx="530352" cy="3657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80576" y="3502152"/>
            <a:ext cx="2148840" cy="1517904"/>
          </a:xfrm>
          <a:prstGeom prst="rect">
            <a:avLst/>
          </a:prstGeom>
          <a:noFill/>
        </p:spPr>
        <p:txBody>
          <a:bodyPr wrap="square" lIns="0" rIns="0" tIns="0" bIns="0" anchor="t">
            <a:noAutofit/>
          </a:bodyPr>
          <a:lstStyle/>
          <a:p>
            <a:pPr algn="l">
              <a:lnSpc>
                <a:spcPct val="100000"/>
              </a:lnSpc>
              <a:spcAft>
                <a:spcPts val="0"/>
              </a:spcAft>
            </a:pPr>
            <a:r>
              <a:rPr sz="980" b="0" i="0">
                <a:solidFill>
                  <a:srgbClr val="516577"/>
                </a:solidFill>
                <a:latin typeface="Arial"/>
              </a:rPr>
              <a:t>NASA, ESA, NIH National Eye Institute, and DoD MTEC provide non-dilutive grant capital that de-risks early development and validates the technology for commercial buyers.</a:t>
            </a:r>
          </a:p>
        </p:txBody>
      </p:sp>
      <p:sp>
        <p:nvSpPr>
          <p:cNvPr id="45" name="Rounded Rectangle 44"/>
          <p:cNvSpPr/>
          <p:nvPr/>
        </p:nvSpPr>
        <p:spPr>
          <a:xfrm>
            <a:off x="9180576" y="5358384"/>
            <a:ext cx="2148840" cy="566928"/>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0" y="5458968"/>
            <a:ext cx="1856231" cy="329184"/>
          </a:xfrm>
          <a:prstGeom prst="rect">
            <a:avLst/>
          </a:prstGeom>
          <a:noFill/>
        </p:spPr>
        <p:txBody>
          <a:bodyPr wrap="square" lIns="0" rIns="0" tIns="0" bIns="0" anchor="ctr">
            <a:noAutofit/>
          </a:bodyPr>
          <a:lstStyle/>
          <a:p>
            <a:pPr algn="l">
              <a:lnSpc>
                <a:spcPct val="100000"/>
              </a:lnSpc>
              <a:spcAft>
                <a:spcPts val="0"/>
              </a:spcAft>
            </a:pPr>
            <a:r>
              <a:rPr sz="700" b="1" i="0">
                <a:solidFill>
                  <a:srgbClr val="183A5A"/>
                </a:solidFill>
                <a:latin typeface="Arial"/>
              </a:rPr>
              <a:t>NASA · ESA · NIH NEI · DOD MTEC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FINANCIALS — ILLUSTRATIVE</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Five-Year Revenue Model (Illustrative Projections)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16</a:t>
            </a:r>
          </a:p>
        </p:txBody>
      </p:sp>
      <p:sp>
        <p:nvSpPr>
          <p:cNvPr id="15" name="Rounded Rectangle 14"/>
          <p:cNvSpPr/>
          <p:nvPr/>
        </p:nvSpPr>
        <p:spPr>
          <a:xfrm>
            <a:off x="502920" y="1307592"/>
            <a:ext cx="6812280"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1572768"/>
            <a:ext cx="3017520" cy="210312"/>
          </a:xfrm>
          <a:prstGeom prst="rect">
            <a:avLst/>
          </a:prstGeom>
          <a:noFill/>
        </p:spPr>
        <p:txBody>
          <a:bodyPr wrap="square" lIns="0" rIns="0" tIns="0" bIns="0" anchor="t">
            <a:noAutofit/>
          </a:bodyPr>
          <a:lstStyle/>
          <a:p>
            <a:pPr algn="l">
              <a:lnSpc>
                <a:spcPct val="100000"/>
              </a:lnSpc>
              <a:spcAft>
                <a:spcPts val="0"/>
              </a:spcAft>
            </a:pPr>
            <a:r>
              <a:rPr sz="850" b="1" i="0">
                <a:solidFill>
                  <a:srgbClr val="0B2035"/>
                </a:solidFill>
                <a:latin typeface="Arial"/>
              </a:rPr>
              <a:t>REVENUE BUILD  /  USD $M</a:t>
            </a:r>
          </a:p>
        </p:txBody>
      </p:sp>
      <p:sp>
        <p:nvSpPr>
          <p:cNvPr id="17" name="Rectangle 16"/>
          <p:cNvSpPr/>
          <p:nvPr/>
        </p:nvSpPr>
        <p:spPr>
          <a:xfrm>
            <a:off x="3410712" y="1591056"/>
            <a:ext cx="137160" cy="10972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02736" y="1554480"/>
            <a:ext cx="1033271" cy="182880"/>
          </a:xfrm>
          <a:prstGeom prst="rect">
            <a:avLst/>
          </a:prstGeom>
          <a:noFill/>
        </p:spPr>
        <p:txBody>
          <a:bodyPr wrap="square" lIns="0" rIns="0" tIns="0" bIns="0" anchor="t">
            <a:noAutofit/>
          </a:bodyPr>
          <a:lstStyle/>
          <a:p>
            <a:pPr algn="l">
              <a:lnSpc>
                <a:spcPct val="100000"/>
              </a:lnSpc>
              <a:spcAft>
                <a:spcPts val="0"/>
              </a:spcAft>
            </a:pPr>
            <a:r>
              <a:rPr sz="660" b="0" i="0">
                <a:solidFill>
                  <a:srgbClr val="718291"/>
                </a:solidFill>
                <a:latin typeface="Arial"/>
              </a:rPr>
              <a:t>Contract Services</a:t>
            </a:r>
          </a:p>
        </p:txBody>
      </p:sp>
      <p:sp>
        <p:nvSpPr>
          <p:cNvPr id="19" name="Rectangle 18"/>
          <p:cNvSpPr/>
          <p:nvPr/>
        </p:nvSpPr>
        <p:spPr>
          <a:xfrm>
            <a:off x="4654296" y="1591056"/>
            <a:ext cx="137160" cy="10972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554480"/>
            <a:ext cx="1033271" cy="182880"/>
          </a:xfrm>
          <a:prstGeom prst="rect">
            <a:avLst/>
          </a:prstGeom>
          <a:noFill/>
        </p:spPr>
        <p:txBody>
          <a:bodyPr wrap="square" lIns="0" rIns="0" tIns="0" bIns="0" anchor="t">
            <a:noAutofit/>
          </a:bodyPr>
          <a:lstStyle/>
          <a:p>
            <a:pPr algn="l">
              <a:lnSpc>
                <a:spcPct val="100000"/>
              </a:lnSpc>
              <a:spcAft>
                <a:spcPts val="0"/>
              </a:spcAft>
            </a:pPr>
            <a:r>
              <a:rPr sz="660" b="0" i="0">
                <a:solidFill>
                  <a:srgbClr val="718291"/>
                </a:solidFill>
                <a:latin typeface="Arial"/>
              </a:rPr>
              <a:t>Grant Revenue</a:t>
            </a:r>
          </a:p>
        </p:txBody>
      </p:sp>
      <p:sp>
        <p:nvSpPr>
          <p:cNvPr id="21" name="Rectangle 20"/>
          <p:cNvSpPr/>
          <p:nvPr/>
        </p:nvSpPr>
        <p:spPr>
          <a:xfrm>
            <a:off x="5897880" y="1591056"/>
            <a:ext cx="137160" cy="109728"/>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89904" y="1554480"/>
            <a:ext cx="1033271" cy="182880"/>
          </a:xfrm>
          <a:prstGeom prst="rect">
            <a:avLst/>
          </a:prstGeom>
          <a:noFill/>
        </p:spPr>
        <p:txBody>
          <a:bodyPr wrap="square" lIns="0" rIns="0" tIns="0" bIns="0" anchor="t">
            <a:noAutofit/>
          </a:bodyPr>
          <a:lstStyle/>
          <a:p>
            <a:pPr algn="l">
              <a:lnSpc>
                <a:spcPct val="100000"/>
              </a:lnSpc>
              <a:spcAft>
                <a:spcPts val="0"/>
              </a:spcAft>
            </a:pPr>
            <a:r>
              <a:rPr sz="660" b="0" i="0">
                <a:solidFill>
                  <a:srgbClr val="718291"/>
                </a:solidFill>
                <a:latin typeface="Arial"/>
              </a:rPr>
              <a:t>IP Licensing</a:t>
            </a:r>
          </a:p>
        </p:txBody>
      </p:sp>
      <p:cxnSp>
        <p:nvCxnSpPr>
          <p:cNvPr id="23" name="Connector 22"/>
          <p:cNvCxnSpPr/>
          <p:nvPr/>
        </p:nvCxnSpPr>
        <p:spPr>
          <a:xfrm>
            <a:off x="987552" y="5413248"/>
            <a:ext cx="5815584"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67512" y="5321808"/>
            <a:ext cx="256032" cy="164592"/>
          </a:xfrm>
          <a:prstGeom prst="rect">
            <a:avLst/>
          </a:prstGeom>
          <a:noFill/>
        </p:spPr>
        <p:txBody>
          <a:bodyPr wrap="square" lIns="0" rIns="0" tIns="0" bIns="0" anchor="t">
            <a:noAutofit/>
          </a:bodyPr>
          <a:lstStyle/>
          <a:p>
            <a:pPr algn="r">
              <a:lnSpc>
                <a:spcPct val="100000"/>
              </a:lnSpc>
              <a:spcAft>
                <a:spcPts val="0"/>
              </a:spcAft>
            </a:pPr>
            <a:r>
              <a:rPr sz="680" b="0" i="0">
                <a:solidFill>
                  <a:srgbClr val="718291"/>
                </a:solidFill>
                <a:latin typeface="Arial"/>
              </a:rPr>
              <a:t>0</a:t>
            </a:r>
          </a:p>
        </p:txBody>
      </p:sp>
      <p:cxnSp>
        <p:nvCxnSpPr>
          <p:cNvPr id="25" name="Connector 24"/>
          <p:cNvCxnSpPr/>
          <p:nvPr/>
        </p:nvCxnSpPr>
        <p:spPr>
          <a:xfrm>
            <a:off x="987552" y="4732934"/>
            <a:ext cx="5815584"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7512" y="4641494"/>
            <a:ext cx="256032" cy="164592"/>
          </a:xfrm>
          <a:prstGeom prst="rect">
            <a:avLst/>
          </a:prstGeom>
          <a:noFill/>
        </p:spPr>
        <p:txBody>
          <a:bodyPr wrap="square" lIns="0" rIns="0" tIns="0" bIns="0" anchor="t">
            <a:noAutofit/>
          </a:bodyPr>
          <a:lstStyle/>
          <a:p>
            <a:pPr algn="r">
              <a:lnSpc>
                <a:spcPct val="100000"/>
              </a:lnSpc>
              <a:spcAft>
                <a:spcPts val="0"/>
              </a:spcAft>
            </a:pPr>
            <a:r>
              <a:rPr sz="680" b="0" i="0">
                <a:solidFill>
                  <a:srgbClr val="718291"/>
                </a:solidFill>
                <a:latin typeface="Arial"/>
              </a:rPr>
              <a:t>5</a:t>
            </a:r>
          </a:p>
        </p:txBody>
      </p:sp>
      <p:cxnSp>
        <p:nvCxnSpPr>
          <p:cNvPr id="27" name="Connector 26"/>
          <p:cNvCxnSpPr/>
          <p:nvPr/>
        </p:nvCxnSpPr>
        <p:spPr>
          <a:xfrm>
            <a:off x="987552" y="4052620"/>
            <a:ext cx="5815584"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7512" y="3961180"/>
            <a:ext cx="256032" cy="164592"/>
          </a:xfrm>
          <a:prstGeom prst="rect">
            <a:avLst/>
          </a:prstGeom>
          <a:noFill/>
        </p:spPr>
        <p:txBody>
          <a:bodyPr wrap="square" lIns="0" rIns="0" tIns="0" bIns="0" anchor="t">
            <a:noAutofit/>
          </a:bodyPr>
          <a:lstStyle/>
          <a:p>
            <a:pPr algn="r">
              <a:lnSpc>
                <a:spcPct val="100000"/>
              </a:lnSpc>
              <a:spcAft>
                <a:spcPts val="0"/>
              </a:spcAft>
            </a:pPr>
            <a:r>
              <a:rPr sz="680" b="0" i="0">
                <a:solidFill>
                  <a:srgbClr val="718291"/>
                </a:solidFill>
                <a:latin typeface="Arial"/>
              </a:rPr>
              <a:t>10</a:t>
            </a:r>
          </a:p>
        </p:txBody>
      </p:sp>
      <p:cxnSp>
        <p:nvCxnSpPr>
          <p:cNvPr id="29" name="Connector 28"/>
          <p:cNvCxnSpPr/>
          <p:nvPr/>
        </p:nvCxnSpPr>
        <p:spPr>
          <a:xfrm>
            <a:off x="987552" y="3372307"/>
            <a:ext cx="5815584"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7512" y="3280867"/>
            <a:ext cx="256032" cy="164592"/>
          </a:xfrm>
          <a:prstGeom prst="rect">
            <a:avLst/>
          </a:prstGeom>
          <a:noFill/>
        </p:spPr>
        <p:txBody>
          <a:bodyPr wrap="square" lIns="0" rIns="0" tIns="0" bIns="0" anchor="t">
            <a:noAutofit/>
          </a:bodyPr>
          <a:lstStyle/>
          <a:p>
            <a:pPr algn="r">
              <a:lnSpc>
                <a:spcPct val="100000"/>
              </a:lnSpc>
              <a:spcAft>
                <a:spcPts val="0"/>
              </a:spcAft>
            </a:pPr>
            <a:r>
              <a:rPr sz="680" b="0" i="0">
                <a:solidFill>
                  <a:srgbClr val="718291"/>
                </a:solidFill>
                <a:latin typeface="Arial"/>
              </a:rPr>
              <a:t>15</a:t>
            </a:r>
          </a:p>
        </p:txBody>
      </p:sp>
      <p:cxnSp>
        <p:nvCxnSpPr>
          <p:cNvPr id="31" name="Connector 30"/>
          <p:cNvCxnSpPr/>
          <p:nvPr/>
        </p:nvCxnSpPr>
        <p:spPr>
          <a:xfrm>
            <a:off x="987552" y="2691993"/>
            <a:ext cx="5815584"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7512" y="2600553"/>
            <a:ext cx="256032" cy="164592"/>
          </a:xfrm>
          <a:prstGeom prst="rect">
            <a:avLst/>
          </a:prstGeom>
          <a:noFill/>
        </p:spPr>
        <p:txBody>
          <a:bodyPr wrap="square" lIns="0" rIns="0" tIns="0" bIns="0" anchor="t">
            <a:noAutofit/>
          </a:bodyPr>
          <a:lstStyle/>
          <a:p>
            <a:pPr algn="r">
              <a:lnSpc>
                <a:spcPct val="100000"/>
              </a:lnSpc>
              <a:spcAft>
                <a:spcPts val="0"/>
              </a:spcAft>
            </a:pPr>
            <a:r>
              <a:rPr sz="680" b="0" i="0">
                <a:solidFill>
                  <a:srgbClr val="718291"/>
                </a:solidFill>
                <a:latin typeface="Arial"/>
              </a:rPr>
              <a:t>20</a:t>
            </a:r>
          </a:p>
        </p:txBody>
      </p:sp>
      <p:cxnSp>
        <p:nvCxnSpPr>
          <p:cNvPr id="33" name="Connector 32"/>
          <p:cNvCxnSpPr/>
          <p:nvPr/>
        </p:nvCxnSpPr>
        <p:spPr>
          <a:xfrm>
            <a:off x="987552" y="2011679"/>
            <a:ext cx="5815584" cy="0"/>
          </a:xfrm>
          <a:prstGeom prst="line">
            <a:avLst/>
          </a:prstGeom>
          <a:ln w="8890">
            <a:solidFill>
              <a:srgbClr val="E6EDF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67512" y="1920239"/>
            <a:ext cx="256032" cy="164592"/>
          </a:xfrm>
          <a:prstGeom prst="rect">
            <a:avLst/>
          </a:prstGeom>
          <a:noFill/>
        </p:spPr>
        <p:txBody>
          <a:bodyPr wrap="square" lIns="0" rIns="0" tIns="0" bIns="0" anchor="t">
            <a:noAutofit/>
          </a:bodyPr>
          <a:lstStyle/>
          <a:p>
            <a:pPr algn="r">
              <a:lnSpc>
                <a:spcPct val="100000"/>
              </a:lnSpc>
              <a:spcAft>
                <a:spcPts val="0"/>
              </a:spcAft>
            </a:pPr>
            <a:r>
              <a:rPr sz="680" b="0" i="0">
                <a:solidFill>
                  <a:srgbClr val="718291"/>
                </a:solidFill>
                <a:latin typeface="Arial"/>
              </a:rPr>
              <a:t>25</a:t>
            </a:r>
          </a:p>
        </p:txBody>
      </p:sp>
      <p:sp>
        <p:nvSpPr>
          <p:cNvPr id="35" name="Rectangle 34"/>
          <p:cNvSpPr/>
          <p:nvPr/>
        </p:nvSpPr>
        <p:spPr>
          <a:xfrm>
            <a:off x="987552" y="5345216"/>
            <a:ext cx="658368" cy="68031"/>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7552" y="5304397"/>
            <a:ext cx="658368" cy="4081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5048365"/>
            <a:ext cx="841247" cy="182880"/>
          </a:xfrm>
          <a:prstGeom prst="rect">
            <a:avLst/>
          </a:prstGeom>
          <a:noFill/>
        </p:spPr>
        <p:txBody>
          <a:bodyPr wrap="square" lIns="0" rIns="0" tIns="0" bIns="0" anchor="t">
            <a:noAutofit/>
          </a:bodyPr>
          <a:lstStyle/>
          <a:p>
            <a:pPr algn="ctr">
              <a:lnSpc>
                <a:spcPct val="100000"/>
              </a:lnSpc>
              <a:spcAft>
                <a:spcPts val="0"/>
              </a:spcAft>
            </a:pPr>
            <a:r>
              <a:rPr sz="780" b="1" i="0">
                <a:solidFill>
                  <a:srgbClr val="0B2035"/>
                </a:solidFill>
                <a:latin typeface="Arial"/>
              </a:rPr>
              <a:t>$0.8</a:t>
            </a:r>
          </a:p>
        </p:txBody>
      </p:sp>
      <p:sp>
        <p:nvSpPr>
          <p:cNvPr id="38" name="TextBox 37"/>
          <p:cNvSpPr txBox="1"/>
          <p:nvPr/>
        </p:nvSpPr>
        <p:spPr>
          <a:xfrm>
            <a:off x="896112" y="5504688"/>
            <a:ext cx="841247" cy="182880"/>
          </a:xfrm>
          <a:prstGeom prst="rect">
            <a:avLst/>
          </a:prstGeom>
          <a:noFill/>
        </p:spPr>
        <p:txBody>
          <a:bodyPr wrap="square" lIns="0" rIns="0" tIns="0" bIns="0" anchor="t">
            <a:noAutofit/>
          </a:bodyPr>
          <a:lstStyle/>
          <a:p>
            <a:pPr algn="ctr">
              <a:lnSpc>
                <a:spcPct val="100000"/>
              </a:lnSpc>
              <a:spcAft>
                <a:spcPts val="0"/>
              </a:spcAft>
            </a:pPr>
            <a:r>
              <a:rPr sz="720" b="0" i="0">
                <a:solidFill>
                  <a:srgbClr val="718291"/>
                </a:solidFill>
                <a:latin typeface="Arial"/>
              </a:rPr>
              <a:t>Yr 1</a:t>
            </a:r>
          </a:p>
        </p:txBody>
      </p:sp>
      <p:sp>
        <p:nvSpPr>
          <p:cNvPr id="39" name="Rectangle 38"/>
          <p:cNvSpPr/>
          <p:nvPr/>
        </p:nvSpPr>
        <p:spPr>
          <a:xfrm>
            <a:off x="2276856" y="5249972"/>
            <a:ext cx="658368" cy="163275"/>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276856" y="5113910"/>
            <a:ext cx="658368" cy="136062"/>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276856" y="5086697"/>
            <a:ext cx="658368" cy="27212"/>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85416" y="4830665"/>
            <a:ext cx="841247" cy="182880"/>
          </a:xfrm>
          <a:prstGeom prst="rect">
            <a:avLst/>
          </a:prstGeom>
          <a:noFill/>
        </p:spPr>
        <p:txBody>
          <a:bodyPr wrap="square" lIns="0" rIns="0" tIns="0" bIns="0" anchor="t">
            <a:noAutofit/>
          </a:bodyPr>
          <a:lstStyle/>
          <a:p>
            <a:pPr algn="ctr">
              <a:lnSpc>
                <a:spcPct val="100000"/>
              </a:lnSpc>
              <a:spcAft>
                <a:spcPts val="0"/>
              </a:spcAft>
            </a:pPr>
            <a:r>
              <a:rPr sz="780" b="1" i="0">
                <a:solidFill>
                  <a:srgbClr val="0B2035"/>
                </a:solidFill>
                <a:latin typeface="Arial"/>
              </a:rPr>
              <a:t>$2.4</a:t>
            </a:r>
          </a:p>
        </p:txBody>
      </p:sp>
      <p:sp>
        <p:nvSpPr>
          <p:cNvPr id="43" name="TextBox 42"/>
          <p:cNvSpPr txBox="1"/>
          <p:nvPr/>
        </p:nvSpPr>
        <p:spPr>
          <a:xfrm>
            <a:off x="2185416" y="5504688"/>
            <a:ext cx="841247" cy="182880"/>
          </a:xfrm>
          <a:prstGeom prst="rect">
            <a:avLst/>
          </a:prstGeom>
          <a:noFill/>
        </p:spPr>
        <p:txBody>
          <a:bodyPr wrap="square" lIns="0" rIns="0" tIns="0" bIns="0" anchor="t">
            <a:noAutofit/>
          </a:bodyPr>
          <a:lstStyle/>
          <a:p>
            <a:pPr algn="ctr">
              <a:lnSpc>
                <a:spcPct val="100000"/>
              </a:lnSpc>
              <a:spcAft>
                <a:spcPts val="0"/>
              </a:spcAft>
            </a:pPr>
            <a:r>
              <a:rPr sz="720" b="0" i="0">
                <a:solidFill>
                  <a:srgbClr val="718291"/>
                </a:solidFill>
                <a:latin typeface="Arial"/>
              </a:rPr>
              <a:t>Yr 2</a:t>
            </a:r>
          </a:p>
        </p:txBody>
      </p:sp>
      <p:sp>
        <p:nvSpPr>
          <p:cNvPr id="44" name="Rectangle 43"/>
          <p:cNvSpPr/>
          <p:nvPr/>
        </p:nvSpPr>
        <p:spPr>
          <a:xfrm>
            <a:off x="3566160" y="5005059"/>
            <a:ext cx="658368" cy="40818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66160" y="4800965"/>
            <a:ext cx="658368" cy="204094"/>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566160" y="4583265"/>
            <a:ext cx="658368" cy="217700"/>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74720" y="4327233"/>
            <a:ext cx="841247" cy="182880"/>
          </a:xfrm>
          <a:prstGeom prst="rect">
            <a:avLst/>
          </a:prstGeom>
          <a:noFill/>
        </p:spPr>
        <p:txBody>
          <a:bodyPr wrap="square" lIns="0" rIns="0" tIns="0" bIns="0" anchor="t">
            <a:noAutofit/>
          </a:bodyPr>
          <a:lstStyle/>
          <a:p>
            <a:pPr algn="ctr">
              <a:lnSpc>
                <a:spcPct val="100000"/>
              </a:lnSpc>
              <a:spcAft>
                <a:spcPts val="0"/>
              </a:spcAft>
            </a:pPr>
            <a:r>
              <a:rPr sz="780" b="1" i="0">
                <a:solidFill>
                  <a:srgbClr val="0B2035"/>
                </a:solidFill>
                <a:latin typeface="Arial"/>
              </a:rPr>
              <a:t>$6.1</a:t>
            </a:r>
          </a:p>
        </p:txBody>
      </p:sp>
      <p:sp>
        <p:nvSpPr>
          <p:cNvPr id="48" name="TextBox 47"/>
          <p:cNvSpPr txBox="1"/>
          <p:nvPr/>
        </p:nvSpPr>
        <p:spPr>
          <a:xfrm>
            <a:off x="3474720" y="5504688"/>
            <a:ext cx="841247" cy="182880"/>
          </a:xfrm>
          <a:prstGeom prst="rect">
            <a:avLst/>
          </a:prstGeom>
          <a:noFill/>
        </p:spPr>
        <p:txBody>
          <a:bodyPr wrap="square" lIns="0" rIns="0" tIns="0" bIns="0" anchor="t">
            <a:noAutofit/>
          </a:bodyPr>
          <a:lstStyle/>
          <a:p>
            <a:pPr algn="ctr">
              <a:lnSpc>
                <a:spcPct val="100000"/>
              </a:lnSpc>
              <a:spcAft>
                <a:spcPts val="0"/>
              </a:spcAft>
            </a:pPr>
            <a:r>
              <a:rPr sz="720" b="0" i="0">
                <a:solidFill>
                  <a:srgbClr val="718291"/>
                </a:solidFill>
                <a:latin typeface="Arial"/>
              </a:rPr>
              <a:t>Yr 3</a:t>
            </a:r>
          </a:p>
        </p:txBody>
      </p:sp>
      <p:sp>
        <p:nvSpPr>
          <p:cNvPr id="49" name="Rectangle 48"/>
          <p:cNvSpPr/>
          <p:nvPr/>
        </p:nvSpPr>
        <p:spPr>
          <a:xfrm>
            <a:off x="4855464" y="4460808"/>
            <a:ext cx="658368" cy="952439"/>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855464" y="4188683"/>
            <a:ext cx="658368" cy="272125"/>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855464" y="3576401"/>
            <a:ext cx="658368" cy="612282"/>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64024" y="3320369"/>
            <a:ext cx="841247" cy="182880"/>
          </a:xfrm>
          <a:prstGeom prst="rect">
            <a:avLst/>
          </a:prstGeom>
          <a:noFill/>
        </p:spPr>
        <p:txBody>
          <a:bodyPr wrap="square" lIns="0" rIns="0" tIns="0" bIns="0" anchor="t">
            <a:noAutofit/>
          </a:bodyPr>
          <a:lstStyle/>
          <a:p>
            <a:pPr algn="ctr">
              <a:lnSpc>
                <a:spcPct val="100000"/>
              </a:lnSpc>
              <a:spcAft>
                <a:spcPts val="0"/>
              </a:spcAft>
            </a:pPr>
            <a:r>
              <a:rPr sz="780" b="1" i="0">
                <a:solidFill>
                  <a:srgbClr val="0B2035"/>
                </a:solidFill>
                <a:latin typeface="Arial"/>
              </a:rPr>
              <a:t>$13.5</a:t>
            </a:r>
          </a:p>
        </p:txBody>
      </p:sp>
      <p:sp>
        <p:nvSpPr>
          <p:cNvPr id="53" name="TextBox 52"/>
          <p:cNvSpPr txBox="1"/>
          <p:nvPr/>
        </p:nvSpPr>
        <p:spPr>
          <a:xfrm>
            <a:off x="4764024" y="5504688"/>
            <a:ext cx="841247" cy="182880"/>
          </a:xfrm>
          <a:prstGeom prst="rect">
            <a:avLst/>
          </a:prstGeom>
          <a:noFill/>
        </p:spPr>
        <p:txBody>
          <a:bodyPr wrap="square" lIns="0" rIns="0" tIns="0" bIns="0" anchor="t">
            <a:noAutofit/>
          </a:bodyPr>
          <a:lstStyle/>
          <a:p>
            <a:pPr algn="ctr">
              <a:lnSpc>
                <a:spcPct val="100000"/>
              </a:lnSpc>
              <a:spcAft>
                <a:spcPts val="0"/>
              </a:spcAft>
            </a:pPr>
            <a:r>
              <a:rPr sz="720" b="0" i="0">
                <a:solidFill>
                  <a:srgbClr val="718291"/>
                </a:solidFill>
                <a:latin typeface="Arial"/>
              </a:rPr>
              <a:t>Yr 4</a:t>
            </a:r>
          </a:p>
        </p:txBody>
      </p:sp>
      <p:sp>
        <p:nvSpPr>
          <p:cNvPr id="54" name="Rectangle 53"/>
          <p:cNvSpPr/>
          <p:nvPr/>
        </p:nvSpPr>
        <p:spPr>
          <a:xfrm>
            <a:off x="6144768" y="3508369"/>
            <a:ext cx="658368" cy="1904878"/>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44768" y="3168213"/>
            <a:ext cx="658368" cy="34015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44768" y="2120530"/>
            <a:ext cx="658368" cy="1047682"/>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53328" y="1864498"/>
            <a:ext cx="841247" cy="182880"/>
          </a:xfrm>
          <a:prstGeom prst="rect">
            <a:avLst/>
          </a:prstGeom>
          <a:noFill/>
        </p:spPr>
        <p:txBody>
          <a:bodyPr wrap="square" lIns="0" rIns="0" tIns="0" bIns="0" anchor="t">
            <a:noAutofit/>
          </a:bodyPr>
          <a:lstStyle/>
          <a:p>
            <a:pPr algn="ctr">
              <a:lnSpc>
                <a:spcPct val="100000"/>
              </a:lnSpc>
              <a:spcAft>
                <a:spcPts val="0"/>
              </a:spcAft>
            </a:pPr>
            <a:r>
              <a:rPr sz="780" b="1" i="0">
                <a:solidFill>
                  <a:srgbClr val="0B2035"/>
                </a:solidFill>
                <a:latin typeface="Arial"/>
              </a:rPr>
              <a:t>$24.2</a:t>
            </a:r>
          </a:p>
        </p:txBody>
      </p:sp>
      <p:sp>
        <p:nvSpPr>
          <p:cNvPr id="58" name="TextBox 57"/>
          <p:cNvSpPr txBox="1"/>
          <p:nvPr/>
        </p:nvSpPr>
        <p:spPr>
          <a:xfrm>
            <a:off x="6053328" y="5504688"/>
            <a:ext cx="841247" cy="182880"/>
          </a:xfrm>
          <a:prstGeom prst="rect">
            <a:avLst/>
          </a:prstGeom>
          <a:noFill/>
        </p:spPr>
        <p:txBody>
          <a:bodyPr wrap="square" lIns="0" rIns="0" tIns="0" bIns="0" anchor="t">
            <a:noAutofit/>
          </a:bodyPr>
          <a:lstStyle/>
          <a:p>
            <a:pPr algn="ctr">
              <a:lnSpc>
                <a:spcPct val="100000"/>
              </a:lnSpc>
              <a:spcAft>
                <a:spcPts val="0"/>
              </a:spcAft>
            </a:pPr>
            <a:r>
              <a:rPr sz="720" b="0" i="0">
                <a:solidFill>
                  <a:srgbClr val="718291"/>
                </a:solidFill>
                <a:latin typeface="Arial"/>
              </a:rPr>
              <a:t>Yr 5</a:t>
            </a:r>
          </a:p>
        </p:txBody>
      </p:sp>
      <p:sp>
        <p:nvSpPr>
          <p:cNvPr id="59" name="TextBox 58"/>
          <p:cNvSpPr txBox="1"/>
          <p:nvPr/>
        </p:nvSpPr>
        <p:spPr>
          <a:xfrm>
            <a:off x="768096" y="5925312"/>
            <a:ext cx="6172200" cy="164592"/>
          </a:xfrm>
          <a:prstGeom prst="rect">
            <a:avLst/>
          </a:prstGeom>
          <a:noFill/>
        </p:spPr>
        <p:txBody>
          <a:bodyPr wrap="square" lIns="0" rIns="0" tIns="0" bIns="0" anchor="t">
            <a:noAutofit/>
          </a:bodyPr>
          <a:lstStyle/>
          <a:p>
            <a:pPr algn="l">
              <a:lnSpc>
                <a:spcPct val="100000"/>
              </a:lnSpc>
              <a:spcAft>
                <a:spcPts val="0"/>
              </a:spcAft>
            </a:pPr>
            <a:r>
              <a:rPr sz="680" b="0" i="1">
                <a:solidFill>
                  <a:srgbClr val="718291"/>
                </a:solidFill>
                <a:latin typeface="Arial"/>
              </a:rPr>
              <a:t>Illustrative projections for investor discussion purposes only. Actual results will vary materially.</a:t>
            </a:r>
          </a:p>
        </p:txBody>
      </p:sp>
      <p:sp>
        <p:nvSpPr>
          <p:cNvPr id="60" name="Rounded Rectangle 59"/>
          <p:cNvSpPr/>
          <p:nvPr/>
        </p:nvSpPr>
        <p:spPr>
          <a:xfrm>
            <a:off x="7516368" y="1307592"/>
            <a:ext cx="4169663"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790688" y="1572768"/>
            <a:ext cx="2286000" cy="210312"/>
          </a:xfrm>
          <a:prstGeom prst="rect">
            <a:avLst/>
          </a:prstGeom>
          <a:noFill/>
        </p:spPr>
        <p:txBody>
          <a:bodyPr wrap="square" lIns="0" rIns="0" tIns="0" bIns="0" anchor="t">
            <a:noAutofit/>
          </a:bodyPr>
          <a:lstStyle/>
          <a:p>
            <a:pPr algn="l">
              <a:lnSpc>
                <a:spcPct val="100000"/>
              </a:lnSpc>
              <a:spcAft>
                <a:spcPts val="0"/>
              </a:spcAft>
            </a:pPr>
            <a:r>
              <a:rPr sz="850" b="1" i="0">
                <a:solidFill>
                  <a:srgbClr val="0B2035"/>
                </a:solidFill>
                <a:latin typeface="Arial"/>
              </a:rPr>
              <a:t>KEY DRIVERS</a:t>
            </a:r>
          </a:p>
        </p:txBody>
      </p:sp>
      <p:sp>
        <p:nvSpPr>
          <p:cNvPr id="62" name="Rectangle 61"/>
          <p:cNvSpPr/>
          <p:nvPr/>
        </p:nvSpPr>
        <p:spPr>
          <a:xfrm>
            <a:off x="7754112" y="1965960"/>
            <a:ext cx="3694176" cy="384048"/>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45552" y="2057400"/>
            <a:ext cx="658368" cy="146304"/>
          </a:xfrm>
          <a:prstGeom prst="rect">
            <a:avLst/>
          </a:prstGeom>
          <a:noFill/>
        </p:spPr>
        <p:txBody>
          <a:bodyPr wrap="square" lIns="0" rIns="0" tIns="0" bIns="0" anchor="t">
            <a:noAutofit/>
          </a:bodyPr>
          <a:lstStyle/>
          <a:p>
            <a:pPr algn="l">
              <a:lnSpc>
                <a:spcPct val="100000"/>
              </a:lnSpc>
              <a:spcAft>
                <a:spcPts val="0"/>
              </a:spcAft>
            </a:pPr>
            <a:r>
              <a:rPr sz="680" b="1" i="0">
                <a:solidFill>
                  <a:srgbClr val="FFFFFF"/>
                </a:solidFill>
                <a:latin typeface="Arial"/>
              </a:rPr>
              <a:t>YEAR</a:t>
            </a:r>
          </a:p>
        </p:txBody>
      </p:sp>
      <p:sp>
        <p:nvSpPr>
          <p:cNvPr id="64" name="TextBox 63"/>
          <p:cNvSpPr txBox="1"/>
          <p:nvPr/>
        </p:nvSpPr>
        <p:spPr>
          <a:xfrm>
            <a:off x="8503920" y="2057400"/>
            <a:ext cx="731520" cy="146304"/>
          </a:xfrm>
          <a:prstGeom prst="rect">
            <a:avLst/>
          </a:prstGeom>
          <a:noFill/>
        </p:spPr>
        <p:txBody>
          <a:bodyPr wrap="square" lIns="0" rIns="0" tIns="0" bIns="0" anchor="t">
            <a:noAutofit/>
          </a:bodyPr>
          <a:lstStyle/>
          <a:p>
            <a:pPr algn="l">
              <a:lnSpc>
                <a:spcPct val="100000"/>
              </a:lnSpc>
              <a:spcAft>
                <a:spcPts val="0"/>
              </a:spcAft>
            </a:pPr>
            <a:r>
              <a:rPr sz="680" b="1" i="0">
                <a:solidFill>
                  <a:srgbClr val="FFFFFF"/>
                </a:solidFill>
                <a:latin typeface="Arial"/>
              </a:rPr>
              <a:t>TOTAL</a:t>
            </a:r>
          </a:p>
        </p:txBody>
      </p:sp>
      <p:sp>
        <p:nvSpPr>
          <p:cNvPr id="65" name="TextBox 64"/>
          <p:cNvSpPr txBox="1"/>
          <p:nvPr/>
        </p:nvSpPr>
        <p:spPr>
          <a:xfrm>
            <a:off x="9235440" y="2057400"/>
            <a:ext cx="2212848" cy="146304"/>
          </a:xfrm>
          <a:prstGeom prst="rect">
            <a:avLst/>
          </a:prstGeom>
          <a:noFill/>
        </p:spPr>
        <p:txBody>
          <a:bodyPr wrap="square" lIns="0" rIns="0" tIns="0" bIns="0" anchor="t">
            <a:noAutofit/>
          </a:bodyPr>
          <a:lstStyle/>
          <a:p>
            <a:pPr algn="l">
              <a:lnSpc>
                <a:spcPct val="100000"/>
              </a:lnSpc>
              <a:spcAft>
                <a:spcPts val="0"/>
              </a:spcAft>
            </a:pPr>
            <a:r>
              <a:rPr sz="680" b="1" i="0">
                <a:solidFill>
                  <a:srgbClr val="FFFFFF"/>
                </a:solidFill>
                <a:latin typeface="Arial"/>
              </a:rPr>
              <a:t>KEY DRIVER</a:t>
            </a:r>
          </a:p>
        </p:txBody>
      </p:sp>
      <p:sp>
        <p:nvSpPr>
          <p:cNvPr id="66" name="Rectangle 65"/>
          <p:cNvSpPr/>
          <p:nvPr/>
        </p:nvSpPr>
        <p:spPr>
          <a:xfrm>
            <a:off x="7754112" y="2377440"/>
            <a:ext cx="3694176" cy="530352"/>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845552" y="2468880"/>
            <a:ext cx="612648" cy="228600"/>
          </a:xfrm>
          <a:prstGeom prst="rect">
            <a:avLst/>
          </a:prstGeom>
          <a:noFill/>
        </p:spPr>
        <p:txBody>
          <a:bodyPr wrap="square" lIns="0" rIns="0" tIns="0" bIns="0" anchor="t">
            <a:noAutofit/>
          </a:bodyPr>
          <a:lstStyle/>
          <a:p>
            <a:pPr algn="l">
              <a:lnSpc>
                <a:spcPct val="100000"/>
              </a:lnSpc>
              <a:spcAft>
                <a:spcPts val="0"/>
              </a:spcAft>
            </a:pPr>
            <a:r>
              <a:rPr sz="819" b="1" i="0">
                <a:solidFill>
                  <a:srgbClr val="516577"/>
                </a:solidFill>
                <a:latin typeface="Arial"/>
              </a:rPr>
              <a:t>Year 1</a:t>
            </a:r>
          </a:p>
        </p:txBody>
      </p:sp>
      <p:sp>
        <p:nvSpPr>
          <p:cNvPr id="68" name="TextBox 67"/>
          <p:cNvSpPr txBox="1"/>
          <p:nvPr/>
        </p:nvSpPr>
        <p:spPr>
          <a:xfrm>
            <a:off x="8503920" y="2468880"/>
            <a:ext cx="676656" cy="228600"/>
          </a:xfrm>
          <a:prstGeom prst="rect">
            <a:avLst/>
          </a:prstGeom>
          <a:noFill/>
        </p:spPr>
        <p:txBody>
          <a:bodyPr wrap="square" lIns="0" rIns="0" tIns="0" bIns="0" anchor="t">
            <a:noAutofit/>
          </a:bodyPr>
          <a:lstStyle/>
          <a:p>
            <a:pPr algn="l">
              <a:lnSpc>
                <a:spcPct val="100000"/>
              </a:lnSpc>
              <a:spcAft>
                <a:spcPts val="0"/>
              </a:spcAft>
            </a:pPr>
            <a:r>
              <a:rPr sz="850" b="1" i="0">
                <a:solidFill>
                  <a:srgbClr val="007F72"/>
                </a:solidFill>
                <a:latin typeface="Arial"/>
              </a:rPr>
              <a:t>$0.8M</a:t>
            </a:r>
          </a:p>
        </p:txBody>
      </p:sp>
      <p:sp>
        <p:nvSpPr>
          <p:cNvPr id="69" name="TextBox 68"/>
          <p:cNvSpPr txBox="1"/>
          <p:nvPr/>
        </p:nvSpPr>
        <p:spPr>
          <a:xfrm>
            <a:off x="9235440" y="2459736"/>
            <a:ext cx="2029968" cy="356616"/>
          </a:xfrm>
          <a:prstGeom prst="rect">
            <a:avLst/>
          </a:prstGeom>
          <a:noFill/>
        </p:spPr>
        <p:txBody>
          <a:bodyPr wrap="square" lIns="0" rIns="0" tIns="0" bIns="0" anchor="t">
            <a:noAutofit/>
          </a:bodyPr>
          <a:lstStyle/>
          <a:p>
            <a:pPr algn="l">
              <a:lnSpc>
                <a:spcPct val="100000"/>
              </a:lnSpc>
              <a:spcAft>
                <a:spcPts val="0"/>
              </a:spcAft>
            </a:pPr>
            <a:r>
              <a:rPr sz="760" b="0" i="0">
                <a:solidFill>
                  <a:srgbClr val="516577"/>
                </a:solidFill>
                <a:latin typeface="Arial"/>
              </a:rPr>
              <a:t>First service contracts + NASA grant</a:t>
            </a:r>
          </a:p>
        </p:txBody>
      </p:sp>
      <p:sp>
        <p:nvSpPr>
          <p:cNvPr id="70" name="TextBox 69"/>
          <p:cNvSpPr txBox="1"/>
          <p:nvPr/>
        </p:nvSpPr>
        <p:spPr>
          <a:xfrm>
            <a:off x="7845552" y="3118104"/>
            <a:ext cx="612648" cy="228600"/>
          </a:xfrm>
          <a:prstGeom prst="rect">
            <a:avLst/>
          </a:prstGeom>
          <a:noFill/>
        </p:spPr>
        <p:txBody>
          <a:bodyPr wrap="square" lIns="0" rIns="0" tIns="0" bIns="0" anchor="t">
            <a:noAutofit/>
          </a:bodyPr>
          <a:lstStyle/>
          <a:p>
            <a:pPr algn="l">
              <a:lnSpc>
                <a:spcPct val="100000"/>
              </a:lnSpc>
              <a:spcAft>
                <a:spcPts val="0"/>
              </a:spcAft>
            </a:pPr>
            <a:r>
              <a:rPr sz="819" b="1" i="0">
                <a:solidFill>
                  <a:srgbClr val="516577"/>
                </a:solidFill>
                <a:latin typeface="Arial"/>
              </a:rPr>
              <a:t>Year 2</a:t>
            </a:r>
          </a:p>
        </p:txBody>
      </p:sp>
      <p:sp>
        <p:nvSpPr>
          <p:cNvPr id="71" name="TextBox 70"/>
          <p:cNvSpPr txBox="1"/>
          <p:nvPr/>
        </p:nvSpPr>
        <p:spPr>
          <a:xfrm>
            <a:off x="8503920" y="3118104"/>
            <a:ext cx="676656" cy="228600"/>
          </a:xfrm>
          <a:prstGeom prst="rect">
            <a:avLst/>
          </a:prstGeom>
          <a:noFill/>
        </p:spPr>
        <p:txBody>
          <a:bodyPr wrap="square" lIns="0" rIns="0" tIns="0" bIns="0" anchor="t">
            <a:noAutofit/>
          </a:bodyPr>
          <a:lstStyle/>
          <a:p>
            <a:pPr algn="l">
              <a:lnSpc>
                <a:spcPct val="100000"/>
              </a:lnSpc>
              <a:spcAft>
                <a:spcPts val="0"/>
              </a:spcAft>
            </a:pPr>
            <a:r>
              <a:rPr sz="850" b="1" i="0">
                <a:solidFill>
                  <a:srgbClr val="007F72"/>
                </a:solidFill>
                <a:latin typeface="Arial"/>
              </a:rPr>
              <a:t>$2.4M</a:t>
            </a:r>
          </a:p>
        </p:txBody>
      </p:sp>
      <p:sp>
        <p:nvSpPr>
          <p:cNvPr id="72" name="TextBox 71"/>
          <p:cNvSpPr txBox="1"/>
          <p:nvPr/>
        </p:nvSpPr>
        <p:spPr>
          <a:xfrm>
            <a:off x="9235440" y="3108960"/>
            <a:ext cx="2029968" cy="356616"/>
          </a:xfrm>
          <a:prstGeom prst="rect">
            <a:avLst/>
          </a:prstGeom>
          <a:noFill/>
        </p:spPr>
        <p:txBody>
          <a:bodyPr wrap="square" lIns="0" rIns="0" tIns="0" bIns="0" anchor="t">
            <a:noAutofit/>
          </a:bodyPr>
          <a:lstStyle/>
          <a:p>
            <a:pPr algn="l">
              <a:lnSpc>
                <a:spcPct val="100000"/>
              </a:lnSpc>
              <a:spcAft>
                <a:spcPts val="0"/>
              </a:spcAft>
            </a:pPr>
            <a:r>
              <a:rPr sz="760" b="0" i="0">
                <a:solidFill>
                  <a:srgbClr val="516577"/>
                </a:solidFill>
                <a:latin typeface="Arial"/>
              </a:rPr>
              <a:t>Expanded services + IP licensing launch</a:t>
            </a:r>
          </a:p>
        </p:txBody>
      </p:sp>
      <p:sp>
        <p:nvSpPr>
          <p:cNvPr id="73" name="Rectangle 72"/>
          <p:cNvSpPr/>
          <p:nvPr/>
        </p:nvSpPr>
        <p:spPr>
          <a:xfrm>
            <a:off x="7754112" y="3675888"/>
            <a:ext cx="3694176" cy="530352"/>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45552" y="3767328"/>
            <a:ext cx="612648" cy="228600"/>
          </a:xfrm>
          <a:prstGeom prst="rect">
            <a:avLst/>
          </a:prstGeom>
          <a:noFill/>
        </p:spPr>
        <p:txBody>
          <a:bodyPr wrap="square" lIns="0" rIns="0" tIns="0" bIns="0" anchor="t">
            <a:noAutofit/>
          </a:bodyPr>
          <a:lstStyle/>
          <a:p>
            <a:pPr algn="l">
              <a:lnSpc>
                <a:spcPct val="100000"/>
              </a:lnSpc>
              <a:spcAft>
                <a:spcPts val="0"/>
              </a:spcAft>
            </a:pPr>
            <a:r>
              <a:rPr sz="819" b="1" i="0">
                <a:solidFill>
                  <a:srgbClr val="516577"/>
                </a:solidFill>
                <a:latin typeface="Arial"/>
              </a:rPr>
              <a:t>Year 3</a:t>
            </a:r>
          </a:p>
        </p:txBody>
      </p:sp>
      <p:sp>
        <p:nvSpPr>
          <p:cNvPr id="75" name="TextBox 74"/>
          <p:cNvSpPr txBox="1"/>
          <p:nvPr/>
        </p:nvSpPr>
        <p:spPr>
          <a:xfrm>
            <a:off x="8503920" y="3767328"/>
            <a:ext cx="676656" cy="228600"/>
          </a:xfrm>
          <a:prstGeom prst="rect">
            <a:avLst/>
          </a:prstGeom>
          <a:noFill/>
        </p:spPr>
        <p:txBody>
          <a:bodyPr wrap="square" lIns="0" rIns="0" tIns="0" bIns="0" anchor="t">
            <a:noAutofit/>
          </a:bodyPr>
          <a:lstStyle/>
          <a:p>
            <a:pPr algn="l">
              <a:lnSpc>
                <a:spcPct val="100000"/>
              </a:lnSpc>
              <a:spcAft>
                <a:spcPts val="0"/>
              </a:spcAft>
            </a:pPr>
            <a:r>
              <a:rPr sz="850" b="1" i="0">
                <a:solidFill>
                  <a:srgbClr val="007F72"/>
                </a:solidFill>
                <a:latin typeface="Arial"/>
              </a:rPr>
              <a:t>$6.1M</a:t>
            </a:r>
          </a:p>
        </p:txBody>
      </p:sp>
      <p:sp>
        <p:nvSpPr>
          <p:cNvPr id="76" name="TextBox 75"/>
          <p:cNvSpPr txBox="1"/>
          <p:nvPr/>
        </p:nvSpPr>
        <p:spPr>
          <a:xfrm>
            <a:off x="9235440" y="3758184"/>
            <a:ext cx="2029968" cy="356616"/>
          </a:xfrm>
          <a:prstGeom prst="rect">
            <a:avLst/>
          </a:prstGeom>
          <a:noFill/>
        </p:spPr>
        <p:txBody>
          <a:bodyPr wrap="square" lIns="0" rIns="0" tIns="0" bIns="0" anchor="t">
            <a:noAutofit/>
          </a:bodyPr>
          <a:lstStyle/>
          <a:p>
            <a:pPr algn="l">
              <a:lnSpc>
                <a:spcPct val="100000"/>
              </a:lnSpc>
              <a:spcAft>
                <a:spcPts val="0"/>
              </a:spcAft>
            </a:pPr>
            <a:r>
              <a:rPr sz="760" b="0" i="0">
                <a:solidFill>
                  <a:srgbClr val="516577"/>
                </a:solidFill>
                <a:latin typeface="Arial"/>
              </a:rPr>
              <a:t>Cardiac/ortho milestones + Starlab start</a:t>
            </a:r>
          </a:p>
        </p:txBody>
      </p:sp>
      <p:sp>
        <p:nvSpPr>
          <p:cNvPr id="77" name="TextBox 76"/>
          <p:cNvSpPr txBox="1"/>
          <p:nvPr/>
        </p:nvSpPr>
        <p:spPr>
          <a:xfrm>
            <a:off x="7845552" y="4416552"/>
            <a:ext cx="612648" cy="228600"/>
          </a:xfrm>
          <a:prstGeom prst="rect">
            <a:avLst/>
          </a:prstGeom>
          <a:noFill/>
        </p:spPr>
        <p:txBody>
          <a:bodyPr wrap="square" lIns="0" rIns="0" tIns="0" bIns="0" anchor="t">
            <a:noAutofit/>
          </a:bodyPr>
          <a:lstStyle/>
          <a:p>
            <a:pPr algn="l">
              <a:lnSpc>
                <a:spcPct val="100000"/>
              </a:lnSpc>
              <a:spcAft>
                <a:spcPts val="0"/>
              </a:spcAft>
            </a:pPr>
            <a:r>
              <a:rPr sz="819" b="1" i="0">
                <a:solidFill>
                  <a:srgbClr val="516577"/>
                </a:solidFill>
                <a:latin typeface="Arial"/>
              </a:rPr>
              <a:t>Year 4</a:t>
            </a:r>
          </a:p>
        </p:txBody>
      </p:sp>
      <p:sp>
        <p:nvSpPr>
          <p:cNvPr id="78" name="TextBox 77"/>
          <p:cNvSpPr txBox="1"/>
          <p:nvPr/>
        </p:nvSpPr>
        <p:spPr>
          <a:xfrm>
            <a:off x="8503920" y="4416552"/>
            <a:ext cx="676656" cy="228600"/>
          </a:xfrm>
          <a:prstGeom prst="rect">
            <a:avLst/>
          </a:prstGeom>
          <a:noFill/>
        </p:spPr>
        <p:txBody>
          <a:bodyPr wrap="square" lIns="0" rIns="0" tIns="0" bIns="0" anchor="t">
            <a:noAutofit/>
          </a:bodyPr>
          <a:lstStyle/>
          <a:p>
            <a:pPr algn="l">
              <a:lnSpc>
                <a:spcPct val="100000"/>
              </a:lnSpc>
              <a:spcAft>
                <a:spcPts val="0"/>
              </a:spcAft>
            </a:pPr>
            <a:r>
              <a:rPr sz="850" b="1" i="0">
                <a:solidFill>
                  <a:srgbClr val="007F72"/>
                </a:solidFill>
                <a:latin typeface="Arial"/>
              </a:rPr>
              <a:t>$13.5M</a:t>
            </a:r>
          </a:p>
        </p:txBody>
      </p:sp>
      <p:sp>
        <p:nvSpPr>
          <p:cNvPr id="79" name="TextBox 78"/>
          <p:cNvSpPr txBox="1"/>
          <p:nvPr/>
        </p:nvSpPr>
        <p:spPr>
          <a:xfrm>
            <a:off x="9235440" y="4407408"/>
            <a:ext cx="2029968" cy="356616"/>
          </a:xfrm>
          <a:prstGeom prst="rect">
            <a:avLst/>
          </a:prstGeom>
          <a:noFill/>
        </p:spPr>
        <p:txBody>
          <a:bodyPr wrap="square" lIns="0" rIns="0" tIns="0" bIns="0" anchor="t">
            <a:noAutofit/>
          </a:bodyPr>
          <a:lstStyle/>
          <a:p>
            <a:pPr algn="l">
              <a:lnSpc>
                <a:spcPct val="100000"/>
              </a:lnSpc>
              <a:spcAft>
                <a:spcPts val="0"/>
              </a:spcAft>
            </a:pPr>
            <a:r>
              <a:rPr sz="760" b="0" i="0">
                <a:solidFill>
                  <a:srgbClr val="516577"/>
                </a:solidFill>
                <a:latin typeface="Arial"/>
              </a:rPr>
              <a:t>IP licensing deals + multi-station ops</a:t>
            </a:r>
          </a:p>
        </p:txBody>
      </p:sp>
      <p:sp>
        <p:nvSpPr>
          <p:cNvPr id="80" name="Rectangle 79"/>
          <p:cNvSpPr/>
          <p:nvPr/>
        </p:nvSpPr>
        <p:spPr>
          <a:xfrm>
            <a:off x="7754112" y="4974336"/>
            <a:ext cx="3694176" cy="530352"/>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5552" y="5065776"/>
            <a:ext cx="612648" cy="228600"/>
          </a:xfrm>
          <a:prstGeom prst="rect">
            <a:avLst/>
          </a:prstGeom>
          <a:noFill/>
        </p:spPr>
        <p:txBody>
          <a:bodyPr wrap="square" lIns="0" rIns="0" tIns="0" bIns="0" anchor="t">
            <a:noAutofit/>
          </a:bodyPr>
          <a:lstStyle/>
          <a:p>
            <a:pPr algn="l">
              <a:lnSpc>
                <a:spcPct val="100000"/>
              </a:lnSpc>
              <a:spcAft>
                <a:spcPts val="0"/>
              </a:spcAft>
            </a:pPr>
            <a:r>
              <a:rPr sz="819" b="1" i="0">
                <a:solidFill>
                  <a:srgbClr val="516577"/>
                </a:solidFill>
                <a:latin typeface="Arial"/>
              </a:rPr>
              <a:t>Year 5</a:t>
            </a:r>
          </a:p>
        </p:txBody>
      </p:sp>
      <p:sp>
        <p:nvSpPr>
          <p:cNvPr id="82" name="TextBox 81"/>
          <p:cNvSpPr txBox="1"/>
          <p:nvPr/>
        </p:nvSpPr>
        <p:spPr>
          <a:xfrm>
            <a:off x="8503920" y="5065776"/>
            <a:ext cx="676656" cy="228600"/>
          </a:xfrm>
          <a:prstGeom prst="rect">
            <a:avLst/>
          </a:prstGeom>
          <a:noFill/>
        </p:spPr>
        <p:txBody>
          <a:bodyPr wrap="square" lIns="0" rIns="0" tIns="0" bIns="0" anchor="t">
            <a:noAutofit/>
          </a:bodyPr>
          <a:lstStyle/>
          <a:p>
            <a:pPr algn="l">
              <a:lnSpc>
                <a:spcPct val="100000"/>
              </a:lnSpc>
              <a:spcAft>
                <a:spcPts val="0"/>
              </a:spcAft>
            </a:pPr>
            <a:r>
              <a:rPr sz="850" b="1" i="0">
                <a:solidFill>
                  <a:srgbClr val="007F72"/>
                </a:solidFill>
                <a:latin typeface="Arial"/>
              </a:rPr>
              <a:t>$24.2M</a:t>
            </a:r>
          </a:p>
        </p:txBody>
      </p:sp>
      <p:sp>
        <p:nvSpPr>
          <p:cNvPr id="83" name="TextBox 82"/>
          <p:cNvSpPr txBox="1"/>
          <p:nvPr/>
        </p:nvSpPr>
        <p:spPr>
          <a:xfrm>
            <a:off x="9235440" y="5056632"/>
            <a:ext cx="2029968" cy="356616"/>
          </a:xfrm>
          <a:prstGeom prst="rect">
            <a:avLst/>
          </a:prstGeom>
          <a:noFill/>
        </p:spPr>
        <p:txBody>
          <a:bodyPr wrap="square" lIns="0" rIns="0" tIns="0" bIns="0" anchor="t">
            <a:noAutofit/>
          </a:bodyPr>
          <a:lstStyle/>
          <a:p>
            <a:pPr algn="l">
              <a:lnSpc>
                <a:spcPct val="100000"/>
              </a:lnSpc>
              <a:spcAft>
                <a:spcPts val="0"/>
              </a:spcAft>
            </a:pPr>
            <a:r>
              <a:rPr sz="760" b="0" i="0">
                <a:solidFill>
                  <a:srgbClr val="516577"/>
                </a:solidFill>
                <a:latin typeface="Arial"/>
              </a:rPr>
              <a:t>Full vertical scale-up across four verticals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THE ASK</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An $18M Series A to Reach First Commercial Flight</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17</a:t>
            </a:r>
          </a:p>
        </p:txBody>
      </p:sp>
      <p:sp>
        <p:nvSpPr>
          <p:cNvPr id="15" name="Rounded Rectangle 14"/>
          <p:cNvSpPr/>
          <p:nvPr/>
        </p:nvSpPr>
        <p:spPr>
          <a:xfrm>
            <a:off x="502920" y="1307592"/>
            <a:ext cx="2889504" cy="4974336"/>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1655064"/>
            <a:ext cx="1645920" cy="201168"/>
          </a:xfrm>
          <a:prstGeom prst="rect">
            <a:avLst/>
          </a:prstGeom>
          <a:noFill/>
        </p:spPr>
        <p:txBody>
          <a:bodyPr wrap="square" lIns="0" rIns="0" tIns="0" bIns="0" anchor="t">
            <a:noAutofit/>
          </a:bodyPr>
          <a:lstStyle/>
          <a:p>
            <a:pPr algn="l">
              <a:lnSpc>
                <a:spcPct val="100000"/>
              </a:lnSpc>
              <a:spcAft>
                <a:spcPts val="0"/>
              </a:spcAft>
            </a:pPr>
            <a:r>
              <a:rPr sz="819" b="1" i="0">
                <a:solidFill>
                  <a:srgbClr val="183A5A"/>
                </a:solidFill>
                <a:latin typeface="Arial"/>
              </a:rPr>
              <a:t>ROUND SIZE</a:t>
            </a:r>
          </a:p>
        </p:txBody>
      </p:sp>
      <p:sp>
        <p:nvSpPr>
          <p:cNvPr id="17" name="TextBox 16"/>
          <p:cNvSpPr txBox="1"/>
          <p:nvPr/>
        </p:nvSpPr>
        <p:spPr>
          <a:xfrm>
            <a:off x="768096" y="2011680"/>
            <a:ext cx="2212848" cy="676656"/>
          </a:xfrm>
          <a:prstGeom prst="rect">
            <a:avLst/>
          </a:prstGeom>
          <a:noFill/>
        </p:spPr>
        <p:txBody>
          <a:bodyPr wrap="square" lIns="0" rIns="0" tIns="0" bIns="0" anchor="t">
            <a:noAutofit/>
          </a:bodyPr>
          <a:lstStyle/>
          <a:p>
            <a:pPr algn="l">
              <a:lnSpc>
                <a:spcPct val="100000"/>
              </a:lnSpc>
              <a:spcAft>
                <a:spcPts val="0"/>
              </a:spcAft>
            </a:pPr>
            <a:r>
              <a:rPr sz="4200" b="1" i="0">
                <a:solidFill>
                  <a:srgbClr val="007F72"/>
                </a:solidFill>
                <a:latin typeface="Arial"/>
              </a:rPr>
              <a:t>$18M</a:t>
            </a:r>
          </a:p>
        </p:txBody>
      </p:sp>
      <p:sp>
        <p:nvSpPr>
          <p:cNvPr id="18" name="TextBox 17"/>
          <p:cNvSpPr txBox="1"/>
          <p:nvPr/>
        </p:nvSpPr>
        <p:spPr>
          <a:xfrm>
            <a:off x="804672" y="2761488"/>
            <a:ext cx="2057400" cy="292608"/>
          </a:xfrm>
          <a:prstGeom prst="rect">
            <a:avLst/>
          </a:prstGeom>
          <a:noFill/>
        </p:spPr>
        <p:txBody>
          <a:bodyPr wrap="square" lIns="0" rIns="0" tIns="0" bIns="0" anchor="t">
            <a:noAutofit/>
          </a:bodyPr>
          <a:lstStyle/>
          <a:p>
            <a:pPr algn="l">
              <a:lnSpc>
                <a:spcPct val="100000"/>
              </a:lnSpc>
              <a:spcAft>
                <a:spcPts val="0"/>
              </a:spcAft>
            </a:pPr>
            <a:r>
              <a:rPr sz="1120" b="1" i="0">
                <a:solidFill>
                  <a:srgbClr val="0B2035"/>
                </a:solidFill>
                <a:latin typeface="Arial"/>
              </a:rPr>
              <a:t>Series A Preferred Equity</a:t>
            </a:r>
          </a:p>
        </p:txBody>
      </p:sp>
      <p:cxnSp>
        <p:nvCxnSpPr>
          <p:cNvPr id="19" name="Connector 18"/>
          <p:cNvCxnSpPr/>
          <p:nvPr/>
        </p:nvCxnSpPr>
        <p:spPr>
          <a:xfrm>
            <a:off x="804672" y="3264408"/>
            <a:ext cx="2276856" cy="0"/>
          </a:xfrm>
          <a:prstGeom prst="line">
            <a:avLst/>
          </a:prstGeom>
          <a:ln w="10160">
            <a:solidFill>
              <a:srgbClr val="B9CBD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4672" y="3547872"/>
            <a:ext cx="914400" cy="310896"/>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~30 months</a:t>
            </a:r>
          </a:p>
        </p:txBody>
      </p:sp>
      <p:sp>
        <p:nvSpPr>
          <p:cNvPr id="21" name="TextBox 20"/>
          <p:cNvSpPr txBox="1"/>
          <p:nvPr/>
        </p:nvSpPr>
        <p:spPr>
          <a:xfrm>
            <a:off x="1719072" y="3566160"/>
            <a:ext cx="1353312" cy="347472"/>
          </a:xfrm>
          <a:prstGeom prst="rect">
            <a:avLst/>
          </a:prstGeom>
          <a:noFill/>
        </p:spPr>
        <p:txBody>
          <a:bodyPr wrap="square" lIns="0" rIns="0" tIns="0" bIns="0" anchor="t">
            <a:noAutofit/>
          </a:bodyPr>
          <a:lstStyle/>
          <a:p>
            <a:pPr algn="l">
              <a:lnSpc>
                <a:spcPct val="100000"/>
              </a:lnSpc>
              <a:spcAft>
                <a:spcPts val="0"/>
              </a:spcAft>
            </a:pPr>
            <a:r>
              <a:rPr sz="860" b="0" i="0">
                <a:solidFill>
                  <a:srgbClr val="516577"/>
                </a:solidFill>
                <a:latin typeface="Arial"/>
              </a:rPr>
              <a:t>Runway to next value inflection</a:t>
            </a:r>
          </a:p>
        </p:txBody>
      </p:sp>
      <p:sp>
        <p:nvSpPr>
          <p:cNvPr id="22" name="TextBox 21"/>
          <p:cNvSpPr txBox="1"/>
          <p:nvPr/>
        </p:nvSpPr>
        <p:spPr>
          <a:xfrm>
            <a:off x="804672" y="4297680"/>
            <a:ext cx="914400" cy="310896"/>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2</a:t>
            </a:r>
          </a:p>
        </p:txBody>
      </p:sp>
      <p:sp>
        <p:nvSpPr>
          <p:cNvPr id="23" name="TextBox 22"/>
          <p:cNvSpPr txBox="1"/>
          <p:nvPr/>
        </p:nvSpPr>
        <p:spPr>
          <a:xfrm>
            <a:off x="1719072" y="4315968"/>
            <a:ext cx="1353312" cy="347472"/>
          </a:xfrm>
          <a:prstGeom prst="rect">
            <a:avLst/>
          </a:prstGeom>
          <a:noFill/>
        </p:spPr>
        <p:txBody>
          <a:bodyPr wrap="square" lIns="0" rIns="0" tIns="0" bIns="0" anchor="t">
            <a:noAutofit/>
          </a:bodyPr>
          <a:lstStyle/>
          <a:p>
            <a:pPr algn="l">
              <a:lnSpc>
                <a:spcPct val="100000"/>
              </a:lnSpc>
              <a:spcAft>
                <a:spcPts val="0"/>
              </a:spcAft>
            </a:pPr>
            <a:r>
              <a:rPr sz="860" b="0" i="0">
                <a:solidFill>
                  <a:srgbClr val="516577"/>
                </a:solidFill>
                <a:latin typeface="Arial"/>
              </a:rPr>
              <a:t>Product verticals at clinical pilot</a:t>
            </a:r>
          </a:p>
        </p:txBody>
      </p:sp>
      <p:sp>
        <p:nvSpPr>
          <p:cNvPr id="24" name="TextBox 23"/>
          <p:cNvSpPr txBox="1"/>
          <p:nvPr/>
        </p:nvSpPr>
        <p:spPr>
          <a:xfrm>
            <a:off x="804672" y="5047488"/>
            <a:ext cx="914400" cy="310896"/>
          </a:xfrm>
          <a:prstGeom prst="rect">
            <a:avLst/>
          </a:prstGeom>
          <a:noFill/>
        </p:spPr>
        <p:txBody>
          <a:bodyPr wrap="square" lIns="0" rIns="0" tIns="0" bIns="0" anchor="t">
            <a:noAutofit/>
          </a:bodyPr>
          <a:lstStyle/>
          <a:p>
            <a:pPr algn="l">
              <a:lnSpc>
                <a:spcPct val="100000"/>
              </a:lnSpc>
              <a:spcAft>
                <a:spcPts val="0"/>
              </a:spcAft>
            </a:pPr>
            <a:r>
              <a:rPr sz="1600" b="1" i="0">
                <a:solidFill>
                  <a:srgbClr val="0B2035"/>
                </a:solidFill>
                <a:latin typeface="Arial"/>
              </a:rPr>
              <a:t>3–5</a:t>
            </a:r>
          </a:p>
        </p:txBody>
      </p:sp>
      <p:sp>
        <p:nvSpPr>
          <p:cNvPr id="25" name="TextBox 24"/>
          <p:cNvSpPr txBox="1"/>
          <p:nvPr/>
        </p:nvSpPr>
        <p:spPr>
          <a:xfrm>
            <a:off x="1719072" y="5065775"/>
            <a:ext cx="1353312" cy="347472"/>
          </a:xfrm>
          <a:prstGeom prst="rect">
            <a:avLst/>
          </a:prstGeom>
          <a:noFill/>
        </p:spPr>
        <p:txBody>
          <a:bodyPr wrap="square" lIns="0" rIns="0" tIns="0" bIns="0" anchor="t">
            <a:noAutofit/>
          </a:bodyPr>
          <a:lstStyle/>
          <a:p>
            <a:pPr algn="l">
              <a:lnSpc>
                <a:spcPct val="100000"/>
              </a:lnSpc>
              <a:spcAft>
                <a:spcPts val="0"/>
              </a:spcAft>
            </a:pPr>
            <a:r>
              <a:rPr sz="860" b="0" i="0">
                <a:solidFill>
                  <a:srgbClr val="516577"/>
                </a:solidFill>
                <a:latin typeface="Arial"/>
              </a:rPr>
              <a:t>Commercial flight missions secured</a:t>
            </a:r>
          </a:p>
        </p:txBody>
      </p:sp>
      <p:sp>
        <p:nvSpPr>
          <p:cNvPr id="26" name="Rounded Rectangle 25"/>
          <p:cNvSpPr/>
          <p:nvPr/>
        </p:nvSpPr>
        <p:spPr>
          <a:xfrm>
            <a:off x="804672" y="5715000"/>
            <a:ext cx="2048256"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24144"/>
            <a:ext cx="2048256" cy="301752"/>
          </a:xfrm>
          <a:prstGeom prst="rect">
            <a:avLst/>
          </a:prstGeom>
          <a:noFill/>
        </p:spPr>
        <p:txBody>
          <a:bodyPr wrap="square" lIns="0" rIns="0" tIns="0" bIns="0" anchor="ctr">
            <a:noAutofit/>
          </a:bodyPr>
          <a:lstStyle/>
          <a:p>
            <a:pPr algn="ctr">
              <a:lnSpc>
                <a:spcPct val="100000"/>
              </a:lnSpc>
              <a:spcAft>
                <a:spcPts val="0"/>
              </a:spcAft>
            </a:pPr>
            <a:r>
              <a:rPr sz="720" b="1" i="0">
                <a:solidFill>
                  <a:srgbClr val="007F72"/>
                </a:solidFill>
                <a:latin typeface="Arial"/>
              </a:rPr>
              <a:t>FIRST COMMERCIAL FLIGHT</a:t>
            </a:r>
          </a:p>
        </p:txBody>
      </p:sp>
      <p:sp>
        <p:nvSpPr>
          <p:cNvPr id="28" name="Rounded Rectangle 27"/>
          <p:cNvSpPr/>
          <p:nvPr/>
        </p:nvSpPr>
        <p:spPr>
          <a:xfrm>
            <a:off x="3602736" y="1307592"/>
            <a:ext cx="3858768"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86200" y="1618488"/>
            <a:ext cx="2011680" cy="210312"/>
          </a:xfrm>
          <a:prstGeom prst="rect">
            <a:avLst/>
          </a:prstGeom>
          <a:noFill/>
        </p:spPr>
        <p:txBody>
          <a:bodyPr wrap="square" lIns="0" rIns="0" tIns="0" bIns="0" anchor="t">
            <a:noAutofit/>
          </a:bodyPr>
          <a:lstStyle/>
          <a:p>
            <a:pPr algn="l">
              <a:lnSpc>
                <a:spcPct val="100000"/>
              </a:lnSpc>
              <a:spcAft>
                <a:spcPts val="0"/>
              </a:spcAft>
            </a:pPr>
            <a:r>
              <a:rPr sz="850" b="1" i="0">
                <a:solidFill>
                  <a:srgbClr val="0B2035"/>
                </a:solidFill>
                <a:latin typeface="Arial"/>
              </a:rPr>
              <a:t>USE OF FUNDS</a:t>
            </a:r>
          </a:p>
        </p:txBody>
      </p:sp>
      <p:graphicFrame>
        <p:nvGraphicFramePr>
          <p:cNvPr id="30" name="Chart 29"/>
          <p:cNvGraphicFramePr>
            <a:graphicFrameLocks noGrp="1"/>
          </p:cNvGraphicFramePr>
          <p:nvPr/>
        </p:nvGraphicFramePr>
        <p:xfrm>
          <a:off x="4133087" y="1938528"/>
          <a:ext cx="2788920" cy="2331720"/>
        </p:xfrm>
        <a:graphic>
          <a:graphicData uri="http://schemas.openxmlformats.org/drawingml/2006/chart">
            <c:chart xmlns:c="http://schemas.openxmlformats.org/drawingml/2006/chart" r:id="rId2"/>
          </a:graphicData>
        </a:graphic>
      </p:graphicFrame>
      <p:sp>
        <p:nvSpPr>
          <p:cNvPr id="31" name="TextBox 30"/>
          <p:cNvSpPr txBox="1"/>
          <p:nvPr/>
        </p:nvSpPr>
        <p:spPr>
          <a:xfrm>
            <a:off x="4956048" y="2761488"/>
            <a:ext cx="1143000" cy="274320"/>
          </a:xfrm>
          <a:prstGeom prst="rect">
            <a:avLst/>
          </a:prstGeom>
          <a:noFill/>
        </p:spPr>
        <p:txBody>
          <a:bodyPr wrap="square" lIns="0" rIns="0" tIns="0" bIns="0" anchor="t">
            <a:noAutofit/>
          </a:bodyPr>
          <a:lstStyle/>
          <a:p>
            <a:pPr algn="ctr">
              <a:lnSpc>
                <a:spcPct val="100000"/>
              </a:lnSpc>
              <a:spcAft>
                <a:spcPts val="0"/>
              </a:spcAft>
            </a:pPr>
            <a:r>
              <a:rPr sz="1600" b="1" i="0">
                <a:solidFill>
                  <a:srgbClr val="0B2035"/>
                </a:solidFill>
                <a:latin typeface="Arial"/>
              </a:rPr>
              <a:t>$18M</a:t>
            </a:r>
          </a:p>
        </p:txBody>
      </p:sp>
      <p:sp>
        <p:nvSpPr>
          <p:cNvPr id="32" name="TextBox 31"/>
          <p:cNvSpPr txBox="1"/>
          <p:nvPr/>
        </p:nvSpPr>
        <p:spPr>
          <a:xfrm>
            <a:off x="4956048" y="3090672"/>
            <a:ext cx="1143000" cy="164592"/>
          </a:xfrm>
          <a:prstGeom prst="rect">
            <a:avLst/>
          </a:prstGeom>
          <a:noFill/>
        </p:spPr>
        <p:txBody>
          <a:bodyPr wrap="square" lIns="0" rIns="0" tIns="0" bIns="0" anchor="t">
            <a:noAutofit/>
          </a:bodyPr>
          <a:lstStyle/>
          <a:p>
            <a:pPr algn="ctr">
              <a:lnSpc>
                <a:spcPct val="100000"/>
              </a:lnSpc>
              <a:spcAft>
                <a:spcPts val="0"/>
              </a:spcAft>
            </a:pPr>
            <a:r>
              <a:rPr sz="680" b="1" i="0">
                <a:solidFill>
                  <a:srgbClr val="718291"/>
                </a:solidFill>
                <a:latin typeface="Arial"/>
              </a:rPr>
              <a:t>TOTAL</a:t>
            </a:r>
          </a:p>
        </p:txBody>
      </p:sp>
      <p:sp>
        <p:nvSpPr>
          <p:cNvPr id="33" name="Rectangle 32"/>
          <p:cNvSpPr/>
          <p:nvPr/>
        </p:nvSpPr>
        <p:spPr>
          <a:xfrm>
            <a:off x="3950208" y="4443984"/>
            <a:ext cx="128016" cy="12801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78808" y="4416552"/>
            <a:ext cx="438912" cy="182880"/>
          </a:xfrm>
          <a:prstGeom prst="rect">
            <a:avLst/>
          </a:prstGeom>
          <a:noFill/>
        </p:spPr>
        <p:txBody>
          <a:bodyPr wrap="square" lIns="0" rIns="0" tIns="0" bIns="0" anchor="t">
            <a:noAutofit/>
          </a:bodyPr>
          <a:lstStyle/>
          <a:p>
            <a:pPr algn="l">
              <a:lnSpc>
                <a:spcPct val="100000"/>
              </a:lnSpc>
              <a:spcAft>
                <a:spcPts val="0"/>
              </a:spcAft>
            </a:pPr>
            <a:r>
              <a:rPr sz="780" b="1" i="0">
                <a:solidFill>
                  <a:srgbClr val="0B2035"/>
                </a:solidFill>
                <a:latin typeface="Arial"/>
              </a:rPr>
              <a:t>40%</a:t>
            </a:r>
          </a:p>
        </p:txBody>
      </p:sp>
      <p:sp>
        <p:nvSpPr>
          <p:cNvPr id="35" name="TextBox 34"/>
          <p:cNvSpPr txBox="1"/>
          <p:nvPr/>
        </p:nvSpPr>
        <p:spPr>
          <a:xfrm>
            <a:off x="4663440" y="4416552"/>
            <a:ext cx="2240280" cy="182880"/>
          </a:xfrm>
          <a:prstGeom prst="rect">
            <a:avLst/>
          </a:prstGeom>
          <a:noFill/>
        </p:spPr>
        <p:txBody>
          <a:bodyPr wrap="square" lIns="0" rIns="0" tIns="0" bIns="0" anchor="t">
            <a:noAutofit/>
          </a:bodyPr>
          <a:lstStyle/>
          <a:p>
            <a:pPr algn="l">
              <a:lnSpc>
                <a:spcPct val="100000"/>
              </a:lnSpc>
              <a:spcAft>
                <a:spcPts val="0"/>
              </a:spcAft>
            </a:pPr>
            <a:r>
              <a:rPr sz="740" b="0" i="0">
                <a:solidFill>
                  <a:srgbClr val="516577"/>
                </a:solidFill>
                <a:latin typeface="Arial"/>
              </a:rPr>
              <a:t>R&amp;D / Payload Development</a:t>
            </a:r>
          </a:p>
        </p:txBody>
      </p:sp>
      <p:sp>
        <p:nvSpPr>
          <p:cNvPr id="36" name="Rectangle 35"/>
          <p:cNvSpPr/>
          <p:nvPr/>
        </p:nvSpPr>
        <p:spPr>
          <a:xfrm>
            <a:off x="3950208" y="4754880"/>
            <a:ext cx="128016" cy="128016"/>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78808" y="4727448"/>
            <a:ext cx="438912" cy="182880"/>
          </a:xfrm>
          <a:prstGeom prst="rect">
            <a:avLst/>
          </a:prstGeom>
          <a:noFill/>
        </p:spPr>
        <p:txBody>
          <a:bodyPr wrap="square" lIns="0" rIns="0" tIns="0" bIns="0" anchor="t">
            <a:noAutofit/>
          </a:bodyPr>
          <a:lstStyle/>
          <a:p>
            <a:pPr algn="l">
              <a:lnSpc>
                <a:spcPct val="100000"/>
              </a:lnSpc>
              <a:spcAft>
                <a:spcPts val="0"/>
              </a:spcAft>
            </a:pPr>
            <a:r>
              <a:rPr sz="780" b="1" i="0">
                <a:solidFill>
                  <a:srgbClr val="0B2035"/>
                </a:solidFill>
                <a:latin typeface="Arial"/>
              </a:rPr>
              <a:t>25%</a:t>
            </a:r>
          </a:p>
        </p:txBody>
      </p:sp>
      <p:sp>
        <p:nvSpPr>
          <p:cNvPr id="38" name="TextBox 37"/>
          <p:cNvSpPr txBox="1"/>
          <p:nvPr/>
        </p:nvSpPr>
        <p:spPr>
          <a:xfrm>
            <a:off x="4663440" y="4727448"/>
            <a:ext cx="2240280" cy="182880"/>
          </a:xfrm>
          <a:prstGeom prst="rect">
            <a:avLst/>
          </a:prstGeom>
          <a:noFill/>
        </p:spPr>
        <p:txBody>
          <a:bodyPr wrap="square" lIns="0" rIns="0" tIns="0" bIns="0" anchor="t">
            <a:noAutofit/>
          </a:bodyPr>
          <a:lstStyle/>
          <a:p>
            <a:pPr algn="l">
              <a:lnSpc>
                <a:spcPct val="100000"/>
              </a:lnSpc>
              <a:spcAft>
                <a:spcPts val="0"/>
              </a:spcAft>
            </a:pPr>
            <a:r>
              <a:rPr sz="740" b="0" i="0">
                <a:solidFill>
                  <a:srgbClr val="516577"/>
                </a:solidFill>
                <a:latin typeface="Arial"/>
              </a:rPr>
              <a:t>Flight &amp; Integration</a:t>
            </a:r>
          </a:p>
        </p:txBody>
      </p:sp>
      <p:sp>
        <p:nvSpPr>
          <p:cNvPr id="39" name="Rectangle 38"/>
          <p:cNvSpPr/>
          <p:nvPr/>
        </p:nvSpPr>
        <p:spPr>
          <a:xfrm>
            <a:off x="3950208" y="5065776"/>
            <a:ext cx="128016" cy="128016"/>
          </a:xfrm>
          <a:prstGeom prst="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78808" y="5038344"/>
            <a:ext cx="438912" cy="182880"/>
          </a:xfrm>
          <a:prstGeom prst="rect">
            <a:avLst/>
          </a:prstGeom>
          <a:noFill/>
        </p:spPr>
        <p:txBody>
          <a:bodyPr wrap="square" lIns="0" rIns="0" tIns="0" bIns="0" anchor="t">
            <a:noAutofit/>
          </a:bodyPr>
          <a:lstStyle/>
          <a:p>
            <a:pPr algn="l">
              <a:lnSpc>
                <a:spcPct val="100000"/>
              </a:lnSpc>
              <a:spcAft>
                <a:spcPts val="0"/>
              </a:spcAft>
            </a:pPr>
            <a:r>
              <a:rPr sz="780" b="1" i="0">
                <a:solidFill>
                  <a:srgbClr val="0B2035"/>
                </a:solidFill>
                <a:latin typeface="Arial"/>
              </a:rPr>
              <a:t>15%</a:t>
            </a:r>
          </a:p>
        </p:txBody>
      </p:sp>
      <p:sp>
        <p:nvSpPr>
          <p:cNvPr id="41" name="TextBox 40"/>
          <p:cNvSpPr txBox="1"/>
          <p:nvPr/>
        </p:nvSpPr>
        <p:spPr>
          <a:xfrm>
            <a:off x="4663440" y="5038344"/>
            <a:ext cx="2240280" cy="182880"/>
          </a:xfrm>
          <a:prstGeom prst="rect">
            <a:avLst/>
          </a:prstGeom>
          <a:noFill/>
        </p:spPr>
        <p:txBody>
          <a:bodyPr wrap="square" lIns="0" rIns="0" tIns="0" bIns="0" anchor="t">
            <a:noAutofit/>
          </a:bodyPr>
          <a:lstStyle/>
          <a:p>
            <a:pPr algn="l">
              <a:lnSpc>
                <a:spcPct val="100000"/>
              </a:lnSpc>
              <a:spcAft>
                <a:spcPts val="0"/>
              </a:spcAft>
            </a:pPr>
            <a:r>
              <a:rPr sz="740" b="0" i="0">
                <a:solidFill>
                  <a:srgbClr val="516577"/>
                </a:solidFill>
                <a:latin typeface="Arial"/>
              </a:rPr>
              <a:t>Regulatory &amp; Clinical</a:t>
            </a:r>
          </a:p>
        </p:txBody>
      </p:sp>
      <p:sp>
        <p:nvSpPr>
          <p:cNvPr id="42" name="Rectangle 41"/>
          <p:cNvSpPr/>
          <p:nvPr/>
        </p:nvSpPr>
        <p:spPr>
          <a:xfrm>
            <a:off x="3950208" y="5376672"/>
            <a:ext cx="128016" cy="128016"/>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78808" y="5349240"/>
            <a:ext cx="438912" cy="182880"/>
          </a:xfrm>
          <a:prstGeom prst="rect">
            <a:avLst/>
          </a:prstGeom>
          <a:noFill/>
        </p:spPr>
        <p:txBody>
          <a:bodyPr wrap="square" lIns="0" rIns="0" tIns="0" bIns="0" anchor="t">
            <a:noAutofit/>
          </a:bodyPr>
          <a:lstStyle/>
          <a:p>
            <a:pPr algn="l">
              <a:lnSpc>
                <a:spcPct val="100000"/>
              </a:lnSpc>
              <a:spcAft>
                <a:spcPts val="0"/>
              </a:spcAft>
            </a:pPr>
            <a:r>
              <a:rPr sz="780" b="1" i="0">
                <a:solidFill>
                  <a:srgbClr val="0B2035"/>
                </a:solidFill>
                <a:latin typeface="Arial"/>
              </a:rPr>
              <a:t>15%</a:t>
            </a:r>
          </a:p>
        </p:txBody>
      </p:sp>
      <p:sp>
        <p:nvSpPr>
          <p:cNvPr id="44" name="TextBox 43"/>
          <p:cNvSpPr txBox="1"/>
          <p:nvPr/>
        </p:nvSpPr>
        <p:spPr>
          <a:xfrm>
            <a:off x="4663440" y="5349240"/>
            <a:ext cx="2240280" cy="182880"/>
          </a:xfrm>
          <a:prstGeom prst="rect">
            <a:avLst/>
          </a:prstGeom>
          <a:noFill/>
        </p:spPr>
        <p:txBody>
          <a:bodyPr wrap="square" lIns="0" rIns="0" tIns="0" bIns="0" anchor="t">
            <a:noAutofit/>
          </a:bodyPr>
          <a:lstStyle/>
          <a:p>
            <a:pPr algn="l">
              <a:lnSpc>
                <a:spcPct val="100000"/>
              </a:lnSpc>
              <a:spcAft>
                <a:spcPts val="0"/>
              </a:spcAft>
            </a:pPr>
            <a:r>
              <a:rPr sz="740" b="0" i="0">
                <a:solidFill>
                  <a:srgbClr val="516577"/>
                </a:solidFill>
                <a:latin typeface="Arial"/>
              </a:rPr>
              <a:t>Team Build-Out</a:t>
            </a:r>
          </a:p>
        </p:txBody>
      </p:sp>
      <p:sp>
        <p:nvSpPr>
          <p:cNvPr id="45" name="Rectangle 44"/>
          <p:cNvSpPr/>
          <p:nvPr/>
        </p:nvSpPr>
        <p:spPr>
          <a:xfrm>
            <a:off x="3950208" y="5687568"/>
            <a:ext cx="128016" cy="128016"/>
          </a:xfrm>
          <a:prstGeom prst="rect">
            <a:avLst/>
          </a:prstGeom>
          <a:solidFill>
            <a:srgbClr val="B8C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78808" y="5660136"/>
            <a:ext cx="438912" cy="182880"/>
          </a:xfrm>
          <a:prstGeom prst="rect">
            <a:avLst/>
          </a:prstGeom>
          <a:noFill/>
        </p:spPr>
        <p:txBody>
          <a:bodyPr wrap="square" lIns="0" rIns="0" tIns="0" bIns="0" anchor="t">
            <a:noAutofit/>
          </a:bodyPr>
          <a:lstStyle/>
          <a:p>
            <a:pPr algn="l">
              <a:lnSpc>
                <a:spcPct val="100000"/>
              </a:lnSpc>
              <a:spcAft>
                <a:spcPts val="0"/>
              </a:spcAft>
            </a:pPr>
            <a:r>
              <a:rPr sz="780" b="1" i="0">
                <a:solidFill>
                  <a:srgbClr val="0B2035"/>
                </a:solidFill>
                <a:latin typeface="Arial"/>
              </a:rPr>
              <a:t>5%</a:t>
            </a:r>
          </a:p>
        </p:txBody>
      </p:sp>
      <p:sp>
        <p:nvSpPr>
          <p:cNvPr id="47" name="TextBox 46"/>
          <p:cNvSpPr txBox="1"/>
          <p:nvPr/>
        </p:nvSpPr>
        <p:spPr>
          <a:xfrm>
            <a:off x="4663440" y="5660136"/>
            <a:ext cx="2240280" cy="182880"/>
          </a:xfrm>
          <a:prstGeom prst="rect">
            <a:avLst/>
          </a:prstGeom>
          <a:noFill/>
        </p:spPr>
        <p:txBody>
          <a:bodyPr wrap="square" lIns="0" rIns="0" tIns="0" bIns="0" anchor="t">
            <a:noAutofit/>
          </a:bodyPr>
          <a:lstStyle/>
          <a:p>
            <a:pPr algn="l">
              <a:lnSpc>
                <a:spcPct val="100000"/>
              </a:lnSpc>
              <a:spcAft>
                <a:spcPts val="0"/>
              </a:spcAft>
            </a:pPr>
            <a:r>
              <a:rPr sz="740" b="0" i="0">
                <a:solidFill>
                  <a:srgbClr val="516577"/>
                </a:solidFill>
                <a:latin typeface="Arial"/>
              </a:rPr>
              <a:t>G&amp;A</a:t>
            </a:r>
          </a:p>
        </p:txBody>
      </p:sp>
      <p:sp>
        <p:nvSpPr>
          <p:cNvPr id="48" name="Rounded Rectangle 47"/>
          <p:cNvSpPr/>
          <p:nvPr/>
        </p:nvSpPr>
        <p:spPr>
          <a:xfrm>
            <a:off x="7671816" y="1307592"/>
            <a:ext cx="4014215"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79" y="1618488"/>
            <a:ext cx="3246120" cy="210312"/>
          </a:xfrm>
          <a:prstGeom prst="rect">
            <a:avLst/>
          </a:prstGeom>
          <a:noFill/>
        </p:spPr>
        <p:txBody>
          <a:bodyPr wrap="square" lIns="0" rIns="0" tIns="0" bIns="0" anchor="t">
            <a:noAutofit/>
          </a:bodyPr>
          <a:lstStyle/>
          <a:p>
            <a:pPr algn="l">
              <a:lnSpc>
                <a:spcPct val="100000"/>
              </a:lnSpc>
              <a:spcAft>
                <a:spcPts val="0"/>
              </a:spcAft>
            </a:pPr>
            <a:r>
              <a:rPr sz="850" b="1" i="0">
                <a:solidFill>
                  <a:srgbClr val="0B2035"/>
                </a:solidFill>
                <a:latin typeface="Arial"/>
              </a:rPr>
              <a:t>KEY USE-OF-FUNDS MILESTONES</a:t>
            </a:r>
          </a:p>
        </p:txBody>
      </p:sp>
      <p:sp>
        <p:nvSpPr>
          <p:cNvPr id="50" name="Rounded Rectangle 49"/>
          <p:cNvSpPr/>
          <p:nvPr/>
        </p:nvSpPr>
        <p:spPr>
          <a:xfrm>
            <a:off x="7955279" y="2121408"/>
            <a:ext cx="420624" cy="265176"/>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55279" y="2130551"/>
            <a:ext cx="420624" cy="256031"/>
          </a:xfrm>
          <a:prstGeom prst="rect">
            <a:avLst/>
          </a:prstGeom>
          <a:noFill/>
        </p:spPr>
        <p:txBody>
          <a:bodyPr wrap="square" lIns="0" rIns="0" tIns="0" bIns="0" anchor="ctr">
            <a:noAutofit/>
          </a:bodyPr>
          <a:lstStyle/>
          <a:p>
            <a:pPr algn="ctr">
              <a:lnSpc>
                <a:spcPct val="100000"/>
              </a:lnSpc>
              <a:spcAft>
                <a:spcPts val="0"/>
              </a:spcAft>
            </a:pPr>
            <a:r>
              <a:rPr sz="730" b="1" i="0">
                <a:solidFill>
                  <a:srgbClr val="007F72"/>
                </a:solidFill>
                <a:latin typeface="Arial"/>
              </a:rPr>
              <a:t>01</a:t>
            </a:r>
          </a:p>
        </p:txBody>
      </p:sp>
      <p:sp>
        <p:nvSpPr>
          <p:cNvPr id="52" name="TextBox 51"/>
          <p:cNvSpPr txBox="1"/>
          <p:nvPr/>
        </p:nvSpPr>
        <p:spPr>
          <a:xfrm>
            <a:off x="8540496" y="2112264"/>
            <a:ext cx="2743200" cy="365760"/>
          </a:xfrm>
          <a:prstGeom prst="rect">
            <a:avLst/>
          </a:prstGeom>
          <a:noFill/>
        </p:spPr>
        <p:txBody>
          <a:bodyPr wrap="square" lIns="0" rIns="0" tIns="0" bIns="0" anchor="t">
            <a:noAutofit/>
          </a:bodyPr>
          <a:lstStyle/>
          <a:p>
            <a:pPr algn="l">
              <a:lnSpc>
                <a:spcPct val="100000"/>
              </a:lnSpc>
              <a:spcAft>
                <a:spcPts val="0"/>
              </a:spcAft>
            </a:pPr>
            <a:r>
              <a:rPr sz="960" b="1" i="0">
                <a:solidFill>
                  <a:srgbClr val="183A5A"/>
                </a:solidFill>
                <a:latin typeface="Arial"/>
              </a:rPr>
              <a:t>Flight-qualify modular payload hardware</a:t>
            </a:r>
          </a:p>
        </p:txBody>
      </p:sp>
      <p:cxnSp>
        <p:nvCxnSpPr>
          <p:cNvPr id="53" name="Connector 52"/>
          <p:cNvCxnSpPr/>
          <p:nvPr/>
        </p:nvCxnSpPr>
        <p:spPr>
          <a:xfrm>
            <a:off x="8540496" y="2578608"/>
            <a:ext cx="2743200"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7955279" y="2779776"/>
            <a:ext cx="420624" cy="265176"/>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5279" y="2788920"/>
            <a:ext cx="420624" cy="256031"/>
          </a:xfrm>
          <a:prstGeom prst="rect">
            <a:avLst/>
          </a:prstGeom>
          <a:noFill/>
        </p:spPr>
        <p:txBody>
          <a:bodyPr wrap="square" lIns="0" rIns="0" tIns="0" bIns="0" anchor="ctr">
            <a:noAutofit/>
          </a:bodyPr>
          <a:lstStyle/>
          <a:p>
            <a:pPr algn="ctr">
              <a:lnSpc>
                <a:spcPct val="100000"/>
              </a:lnSpc>
              <a:spcAft>
                <a:spcPts val="0"/>
              </a:spcAft>
            </a:pPr>
            <a:r>
              <a:rPr sz="730" b="1" i="0">
                <a:solidFill>
                  <a:srgbClr val="007F72"/>
                </a:solidFill>
                <a:latin typeface="Arial"/>
              </a:rPr>
              <a:t>02</a:t>
            </a:r>
          </a:p>
        </p:txBody>
      </p:sp>
      <p:sp>
        <p:nvSpPr>
          <p:cNvPr id="56" name="TextBox 55"/>
          <p:cNvSpPr txBox="1"/>
          <p:nvPr/>
        </p:nvSpPr>
        <p:spPr>
          <a:xfrm>
            <a:off x="8540496" y="2770632"/>
            <a:ext cx="2743200" cy="365760"/>
          </a:xfrm>
          <a:prstGeom prst="rect">
            <a:avLst/>
          </a:prstGeom>
          <a:noFill/>
        </p:spPr>
        <p:txBody>
          <a:bodyPr wrap="square" lIns="0" rIns="0" tIns="0" bIns="0" anchor="t">
            <a:noAutofit/>
          </a:bodyPr>
          <a:lstStyle/>
          <a:p>
            <a:pPr algn="l">
              <a:lnSpc>
                <a:spcPct val="100000"/>
              </a:lnSpc>
              <a:spcAft>
                <a:spcPts val="0"/>
              </a:spcAft>
            </a:pPr>
            <a:r>
              <a:rPr sz="960" b="1" i="0">
                <a:solidFill>
                  <a:srgbClr val="183A5A"/>
                </a:solidFill>
                <a:latin typeface="Arial"/>
              </a:rPr>
              <a:t>Complete 3–5 commissioned ISS missions</a:t>
            </a:r>
          </a:p>
        </p:txBody>
      </p:sp>
      <p:cxnSp>
        <p:nvCxnSpPr>
          <p:cNvPr id="57" name="Connector 56"/>
          <p:cNvCxnSpPr/>
          <p:nvPr/>
        </p:nvCxnSpPr>
        <p:spPr>
          <a:xfrm>
            <a:off x="8540496" y="3236976"/>
            <a:ext cx="2743200"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7955279" y="3438144"/>
            <a:ext cx="420624" cy="265176"/>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955279" y="3447287"/>
            <a:ext cx="420624" cy="256031"/>
          </a:xfrm>
          <a:prstGeom prst="rect">
            <a:avLst/>
          </a:prstGeom>
          <a:noFill/>
        </p:spPr>
        <p:txBody>
          <a:bodyPr wrap="square" lIns="0" rIns="0" tIns="0" bIns="0" anchor="ctr">
            <a:noAutofit/>
          </a:bodyPr>
          <a:lstStyle/>
          <a:p>
            <a:pPr algn="ctr">
              <a:lnSpc>
                <a:spcPct val="100000"/>
              </a:lnSpc>
              <a:spcAft>
                <a:spcPts val="0"/>
              </a:spcAft>
            </a:pPr>
            <a:r>
              <a:rPr sz="730" b="1" i="0">
                <a:solidFill>
                  <a:srgbClr val="007F72"/>
                </a:solidFill>
                <a:latin typeface="Arial"/>
              </a:rPr>
              <a:t>03</a:t>
            </a:r>
          </a:p>
        </p:txBody>
      </p:sp>
      <p:sp>
        <p:nvSpPr>
          <p:cNvPr id="60" name="TextBox 59"/>
          <p:cNvSpPr txBox="1"/>
          <p:nvPr/>
        </p:nvSpPr>
        <p:spPr>
          <a:xfrm>
            <a:off x="8540496" y="3429000"/>
            <a:ext cx="2743200" cy="365760"/>
          </a:xfrm>
          <a:prstGeom prst="rect">
            <a:avLst/>
          </a:prstGeom>
          <a:noFill/>
        </p:spPr>
        <p:txBody>
          <a:bodyPr wrap="square" lIns="0" rIns="0" tIns="0" bIns="0" anchor="t">
            <a:noAutofit/>
          </a:bodyPr>
          <a:lstStyle/>
          <a:p>
            <a:pPr algn="l">
              <a:lnSpc>
                <a:spcPct val="100000"/>
              </a:lnSpc>
              <a:spcAft>
                <a:spcPts val="0"/>
              </a:spcAft>
            </a:pPr>
            <a:r>
              <a:rPr sz="960" b="1" i="0">
                <a:solidFill>
                  <a:srgbClr val="183A5A"/>
                </a:solidFill>
                <a:latin typeface="Arial"/>
              </a:rPr>
              <a:t>File first NASA InSPA Phase 1 grant</a:t>
            </a:r>
          </a:p>
        </p:txBody>
      </p:sp>
      <p:cxnSp>
        <p:nvCxnSpPr>
          <p:cNvPr id="61" name="Connector 60"/>
          <p:cNvCxnSpPr/>
          <p:nvPr/>
        </p:nvCxnSpPr>
        <p:spPr>
          <a:xfrm>
            <a:off x="8540496" y="3895344"/>
            <a:ext cx="2743200"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955279" y="4096512"/>
            <a:ext cx="420624" cy="265176"/>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55279" y="4105656"/>
            <a:ext cx="420624" cy="256031"/>
          </a:xfrm>
          <a:prstGeom prst="rect">
            <a:avLst/>
          </a:prstGeom>
          <a:noFill/>
        </p:spPr>
        <p:txBody>
          <a:bodyPr wrap="square" lIns="0" rIns="0" tIns="0" bIns="0" anchor="ctr">
            <a:noAutofit/>
          </a:bodyPr>
          <a:lstStyle/>
          <a:p>
            <a:pPr algn="ctr">
              <a:lnSpc>
                <a:spcPct val="100000"/>
              </a:lnSpc>
              <a:spcAft>
                <a:spcPts val="0"/>
              </a:spcAft>
            </a:pPr>
            <a:r>
              <a:rPr sz="730" b="1" i="0">
                <a:solidFill>
                  <a:srgbClr val="007F72"/>
                </a:solidFill>
                <a:latin typeface="Arial"/>
              </a:rPr>
              <a:t>04</a:t>
            </a:r>
          </a:p>
        </p:txBody>
      </p:sp>
      <p:sp>
        <p:nvSpPr>
          <p:cNvPr id="64" name="TextBox 63"/>
          <p:cNvSpPr txBox="1"/>
          <p:nvPr/>
        </p:nvSpPr>
        <p:spPr>
          <a:xfrm>
            <a:off x="8540496" y="4087368"/>
            <a:ext cx="2743200" cy="365760"/>
          </a:xfrm>
          <a:prstGeom prst="rect">
            <a:avLst/>
          </a:prstGeom>
          <a:noFill/>
        </p:spPr>
        <p:txBody>
          <a:bodyPr wrap="square" lIns="0" rIns="0" tIns="0" bIns="0" anchor="t">
            <a:noAutofit/>
          </a:bodyPr>
          <a:lstStyle/>
          <a:p>
            <a:pPr algn="l">
              <a:lnSpc>
                <a:spcPct val="100000"/>
              </a:lnSpc>
              <a:spcAft>
                <a:spcPts val="0"/>
              </a:spcAft>
            </a:pPr>
            <a:r>
              <a:rPr sz="960" b="1" i="0">
                <a:solidFill>
                  <a:srgbClr val="183A5A"/>
                </a:solidFill>
                <a:latin typeface="Arial"/>
              </a:rPr>
              <a:t>Secure Starlab payload reservation</a:t>
            </a:r>
          </a:p>
        </p:txBody>
      </p:sp>
      <p:cxnSp>
        <p:nvCxnSpPr>
          <p:cNvPr id="65" name="Connector 64"/>
          <p:cNvCxnSpPr/>
          <p:nvPr/>
        </p:nvCxnSpPr>
        <p:spPr>
          <a:xfrm>
            <a:off x="8540496" y="4553712"/>
            <a:ext cx="2743200"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7955279" y="4754879"/>
            <a:ext cx="420624" cy="265176"/>
          </a:xfrm>
          <a:prstGeom prst="roundRect">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55279" y="4764023"/>
            <a:ext cx="420624" cy="256031"/>
          </a:xfrm>
          <a:prstGeom prst="rect">
            <a:avLst/>
          </a:prstGeom>
          <a:noFill/>
        </p:spPr>
        <p:txBody>
          <a:bodyPr wrap="square" lIns="0" rIns="0" tIns="0" bIns="0" anchor="ctr">
            <a:noAutofit/>
          </a:bodyPr>
          <a:lstStyle/>
          <a:p>
            <a:pPr algn="ctr">
              <a:lnSpc>
                <a:spcPct val="100000"/>
              </a:lnSpc>
              <a:spcAft>
                <a:spcPts val="0"/>
              </a:spcAft>
            </a:pPr>
            <a:r>
              <a:rPr sz="730" b="1" i="0">
                <a:solidFill>
                  <a:srgbClr val="007F72"/>
                </a:solidFill>
                <a:latin typeface="Arial"/>
              </a:rPr>
              <a:t>05</a:t>
            </a:r>
          </a:p>
        </p:txBody>
      </p:sp>
      <p:sp>
        <p:nvSpPr>
          <p:cNvPr id="68" name="TextBox 67"/>
          <p:cNvSpPr txBox="1"/>
          <p:nvPr/>
        </p:nvSpPr>
        <p:spPr>
          <a:xfrm>
            <a:off x="8540496" y="4745736"/>
            <a:ext cx="2743200" cy="365760"/>
          </a:xfrm>
          <a:prstGeom prst="rect">
            <a:avLst/>
          </a:prstGeom>
          <a:noFill/>
        </p:spPr>
        <p:txBody>
          <a:bodyPr wrap="square" lIns="0" rIns="0" tIns="0" bIns="0" anchor="t">
            <a:noAutofit/>
          </a:bodyPr>
          <a:lstStyle/>
          <a:p>
            <a:pPr algn="l">
              <a:lnSpc>
                <a:spcPct val="100000"/>
              </a:lnSpc>
              <a:spcAft>
                <a:spcPts val="0"/>
              </a:spcAft>
            </a:pPr>
            <a:r>
              <a:rPr sz="960" b="1" i="0">
                <a:solidFill>
                  <a:srgbClr val="183A5A"/>
                </a:solidFill>
                <a:latin typeface="Arial"/>
              </a:rPr>
              <a:t>Build core scientific &amp; engineering team</a:t>
            </a:r>
          </a:p>
        </p:txBody>
      </p:sp>
      <p:sp>
        <p:nvSpPr>
          <p:cNvPr id="69" name="TextBox 68"/>
          <p:cNvSpPr txBox="1"/>
          <p:nvPr/>
        </p:nvSpPr>
        <p:spPr>
          <a:xfrm>
            <a:off x="7955279" y="5806440"/>
            <a:ext cx="3246120" cy="256032"/>
          </a:xfrm>
          <a:prstGeom prst="rect">
            <a:avLst/>
          </a:prstGeom>
          <a:noFill/>
        </p:spPr>
        <p:txBody>
          <a:bodyPr wrap="square" lIns="0" rIns="0" tIns="0" bIns="0" anchor="t">
            <a:noAutofit/>
          </a:bodyPr>
          <a:lstStyle/>
          <a:p>
            <a:pPr algn="l">
              <a:lnSpc>
                <a:spcPct val="100000"/>
              </a:lnSpc>
              <a:spcAft>
                <a:spcPts val="0"/>
              </a:spcAft>
            </a:pPr>
            <a:r>
              <a:rPr sz="690" b="0" i="1">
                <a:solidFill>
                  <a:srgbClr val="718291"/>
                </a:solidFill>
                <a:latin typeface="Arial"/>
              </a:rPr>
              <a:t>Allocation figures are illustrative and subject to change based on diligence and negotiated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RISK FACTORS</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Key Risks and Mitigating Strategies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18</a:t>
            </a:r>
          </a:p>
        </p:txBody>
      </p:sp>
      <p:sp>
        <p:nvSpPr>
          <p:cNvPr id="15" name="Rounded Rectangle 14"/>
          <p:cNvSpPr/>
          <p:nvPr/>
        </p:nvSpPr>
        <p:spPr>
          <a:xfrm>
            <a:off x="502920" y="1307592"/>
            <a:ext cx="11183112" cy="4974336"/>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307592"/>
            <a:ext cx="11183112" cy="438912"/>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1389888"/>
            <a:ext cx="2194560" cy="164592"/>
          </a:xfrm>
          <a:prstGeom prst="rect">
            <a:avLst/>
          </a:prstGeom>
          <a:noFill/>
        </p:spPr>
        <p:txBody>
          <a:bodyPr wrap="square" lIns="0" rIns="0" tIns="0" bIns="0" anchor="t">
            <a:noAutofit/>
          </a:bodyPr>
          <a:lstStyle/>
          <a:p>
            <a:pPr algn="l">
              <a:lnSpc>
                <a:spcPct val="100000"/>
              </a:lnSpc>
              <a:spcAft>
                <a:spcPts val="0"/>
              </a:spcAft>
            </a:pPr>
            <a:r>
              <a:rPr sz="730" b="1" i="0">
                <a:solidFill>
                  <a:srgbClr val="FFFFFF"/>
                </a:solidFill>
                <a:latin typeface="Arial"/>
              </a:rPr>
              <a:t>RISK CATEGORY</a:t>
            </a:r>
          </a:p>
        </p:txBody>
      </p:sp>
      <p:sp>
        <p:nvSpPr>
          <p:cNvPr id="18" name="TextBox 17"/>
          <p:cNvSpPr txBox="1"/>
          <p:nvPr/>
        </p:nvSpPr>
        <p:spPr>
          <a:xfrm>
            <a:off x="2221992" y="1389888"/>
            <a:ext cx="2194560" cy="164592"/>
          </a:xfrm>
          <a:prstGeom prst="rect">
            <a:avLst/>
          </a:prstGeom>
          <a:noFill/>
        </p:spPr>
        <p:txBody>
          <a:bodyPr wrap="square" lIns="0" rIns="0" tIns="0" bIns="0" anchor="t">
            <a:noAutofit/>
          </a:bodyPr>
          <a:lstStyle/>
          <a:p>
            <a:pPr algn="l">
              <a:lnSpc>
                <a:spcPct val="100000"/>
              </a:lnSpc>
              <a:spcAft>
                <a:spcPts val="0"/>
              </a:spcAft>
            </a:pPr>
            <a:r>
              <a:rPr sz="730" b="1" i="0">
                <a:solidFill>
                  <a:srgbClr val="FFFFFF"/>
                </a:solidFill>
                <a:latin typeface="Arial"/>
              </a:rPr>
              <a:t>RISK</a:t>
            </a:r>
          </a:p>
        </p:txBody>
      </p:sp>
      <p:sp>
        <p:nvSpPr>
          <p:cNvPr id="19" name="TextBox 18"/>
          <p:cNvSpPr txBox="1"/>
          <p:nvPr/>
        </p:nvSpPr>
        <p:spPr>
          <a:xfrm>
            <a:off x="6766560" y="1389888"/>
            <a:ext cx="2194560" cy="164592"/>
          </a:xfrm>
          <a:prstGeom prst="rect">
            <a:avLst/>
          </a:prstGeom>
          <a:noFill/>
        </p:spPr>
        <p:txBody>
          <a:bodyPr wrap="square" lIns="0" rIns="0" tIns="0" bIns="0" anchor="t">
            <a:noAutofit/>
          </a:bodyPr>
          <a:lstStyle/>
          <a:p>
            <a:pPr algn="l">
              <a:lnSpc>
                <a:spcPct val="100000"/>
              </a:lnSpc>
              <a:spcAft>
                <a:spcPts val="0"/>
              </a:spcAft>
            </a:pPr>
            <a:r>
              <a:rPr sz="730" b="1" i="0">
                <a:solidFill>
                  <a:srgbClr val="FFFFFF"/>
                </a:solidFill>
                <a:latin typeface="Arial"/>
              </a:rPr>
              <a:t>MITIGANT</a:t>
            </a:r>
          </a:p>
        </p:txBody>
      </p:sp>
      <p:sp>
        <p:nvSpPr>
          <p:cNvPr id="20" name="Rectangle 19"/>
          <p:cNvSpPr/>
          <p:nvPr/>
        </p:nvSpPr>
        <p:spPr>
          <a:xfrm>
            <a:off x="502920" y="1746504"/>
            <a:ext cx="11183112" cy="905256"/>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1746504"/>
            <a:ext cx="73152" cy="905256"/>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9808" y="1975104"/>
            <a:ext cx="420624"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1984248"/>
            <a:ext cx="420624" cy="246888"/>
          </a:xfrm>
          <a:prstGeom prst="rect">
            <a:avLst/>
          </a:prstGeom>
          <a:noFill/>
        </p:spPr>
        <p:txBody>
          <a:bodyPr wrap="square" lIns="0" rIns="0" tIns="0" bIns="0" anchor="ctr">
            <a:noAutofit/>
          </a:bodyPr>
          <a:lstStyle/>
          <a:p>
            <a:pPr algn="ctr">
              <a:lnSpc>
                <a:spcPct val="100000"/>
              </a:lnSpc>
              <a:spcAft>
                <a:spcPts val="0"/>
              </a:spcAft>
            </a:pPr>
            <a:r>
              <a:rPr sz="720" b="1" i="0">
                <a:solidFill>
                  <a:srgbClr val="00A88F"/>
                </a:solidFill>
                <a:latin typeface="Arial"/>
              </a:rPr>
              <a:t>01</a:t>
            </a:r>
          </a:p>
        </p:txBody>
      </p:sp>
      <p:sp>
        <p:nvSpPr>
          <p:cNvPr id="24" name="TextBox 23"/>
          <p:cNvSpPr txBox="1"/>
          <p:nvPr/>
        </p:nvSpPr>
        <p:spPr>
          <a:xfrm>
            <a:off x="1243584" y="1929384"/>
            <a:ext cx="621792" cy="420624"/>
          </a:xfrm>
          <a:prstGeom prst="rect">
            <a:avLst/>
          </a:prstGeom>
          <a:noFill/>
        </p:spPr>
        <p:txBody>
          <a:bodyPr wrap="square" lIns="0" rIns="0" tIns="0" bIns="0" anchor="ctr">
            <a:noAutofit/>
          </a:bodyPr>
          <a:lstStyle/>
          <a:p>
            <a:pPr algn="l">
              <a:lnSpc>
                <a:spcPct val="100000"/>
              </a:lnSpc>
              <a:spcAft>
                <a:spcPts val="0"/>
              </a:spcAft>
            </a:pPr>
            <a:r>
              <a:rPr sz="919" b="1" i="0">
                <a:solidFill>
                  <a:srgbClr val="0B2035"/>
                </a:solidFill>
                <a:latin typeface="Arial"/>
              </a:rPr>
              <a:t>Technical</a:t>
            </a:r>
          </a:p>
        </p:txBody>
      </p:sp>
      <p:sp>
        <p:nvSpPr>
          <p:cNvPr id="25" name="TextBox 24"/>
          <p:cNvSpPr txBox="1"/>
          <p:nvPr/>
        </p:nvSpPr>
        <p:spPr>
          <a:xfrm>
            <a:off x="2221992" y="1911095"/>
            <a:ext cx="4005072" cy="548640"/>
          </a:xfrm>
          <a:prstGeom prst="rect">
            <a:avLst/>
          </a:prstGeom>
          <a:noFill/>
        </p:spPr>
        <p:txBody>
          <a:bodyPr wrap="square" lIns="0" rIns="0" tIns="0" bIns="0" anchor="ctr">
            <a:noAutofit/>
          </a:bodyPr>
          <a:lstStyle/>
          <a:p>
            <a:pPr algn="l">
              <a:lnSpc>
                <a:spcPct val="100000"/>
              </a:lnSpc>
              <a:spcAft>
                <a:spcPts val="0"/>
              </a:spcAft>
            </a:pPr>
            <a:r>
              <a:rPr sz="869" b="0" i="0">
                <a:solidFill>
                  <a:srgbClr val="516577"/>
                </a:solidFill>
                <a:latin typeface="Arial"/>
              </a:rPr>
              <a:t>Scaling from validated tissue patches to full vascularised organs remains scientifically unsolved industry-wide.</a:t>
            </a:r>
          </a:p>
        </p:txBody>
      </p:sp>
      <p:sp>
        <p:nvSpPr>
          <p:cNvPr id="26" name="TextBox 25"/>
          <p:cNvSpPr txBox="1"/>
          <p:nvPr/>
        </p:nvSpPr>
        <p:spPr>
          <a:xfrm>
            <a:off x="6766560" y="1901952"/>
            <a:ext cx="4572000" cy="576072"/>
          </a:xfrm>
          <a:prstGeom prst="rect">
            <a:avLst/>
          </a:prstGeom>
          <a:noFill/>
        </p:spPr>
        <p:txBody>
          <a:bodyPr wrap="square" lIns="0" rIns="0" tIns="0" bIns="0" anchor="ctr">
            <a:noAutofit/>
          </a:bodyPr>
          <a:lstStyle/>
          <a:p>
            <a:pPr algn="l">
              <a:lnSpc>
                <a:spcPct val="100000"/>
              </a:lnSpc>
              <a:spcAft>
                <a:spcPts val="0"/>
              </a:spcAft>
            </a:pPr>
            <a:r>
              <a:rPr sz="869" b="0" i="0">
                <a:solidFill>
                  <a:srgbClr val="183A5A"/>
                </a:solidFill>
                <a:latin typeface="Arial"/>
              </a:rPr>
              <a:t>Phased roadmap monetises lower-complexity verticals (wound care, orthopedic) before attempting whole-organ printing.</a:t>
            </a:r>
          </a:p>
        </p:txBody>
      </p:sp>
      <p:cxnSp>
        <p:nvCxnSpPr>
          <p:cNvPr id="27" name="Connector 26"/>
          <p:cNvCxnSpPr/>
          <p:nvPr/>
        </p:nvCxnSpPr>
        <p:spPr>
          <a:xfrm>
            <a:off x="640080" y="2651760"/>
            <a:ext cx="10881360" cy="0"/>
          </a:xfrm>
          <a:prstGeom prst="line">
            <a:avLst/>
          </a:prstGeom>
          <a:ln w="6350">
            <a:solidFill>
              <a:srgbClr val="D7E1E8"/>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502920" y="2651760"/>
            <a:ext cx="73152" cy="905256"/>
          </a:xfrm>
          <a:prstGeom prst="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49808" y="2880360"/>
            <a:ext cx="420624"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2889503"/>
            <a:ext cx="420624" cy="246888"/>
          </a:xfrm>
          <a:prstGeom prst="rect">
            <a:avLst/>
          </a:prstGeom>
          <a:noFill/>
        </p:spPr>
        <p:txBody>
          <a:bodyPr wrap="square" lIns="0" rIns="0" tIns="0" bIns="0" anchor="ctr">
            <a:noAutofit/>
          </a:bodyPr>
          <a:lstStyle/>
          <a:p>
            <a:pPr algn="ctr">
              <a:lnSpc>
                <a:spcPct val="100000"/>
              </a:lnSpc>
              <a:spcAft>
                <a:spcPts val="0"/>
              </a:spcAft>
            </a:pPr>
            <a:r>
              <a:rPr sz="720" b="1" i="0">
                <a:solidFill>
                  <a:srgbClr val="3C6E9B"/>
                </a:solidFill>
                <a:latin typeface="Arial"/>
              </a:rPr>
              <a:t>02</a:t>
            </a:r>
          </a:p>
        </p:txBody>
      </p:sp>
      <p:sp>
        <p:nvSpPr>
          <p:cNvPr id="31" name="TextBox 30"/>
          <p:cNvSpPr txBox="1"/>
          <p:nvPr/>
        </p:nvSpPr>
        <p:spPr>
          <a:xfrm>
            <a:off x="1243584" y="2834640"/>
            <a:ext cx="621792" cy="420624"/>
          </a:xfrm>
          <a:prstGeom prst="rect">
            <a:avLst/>
          </a:prstGeom>
          <a:noFill/>
        </p:spPr>
        <p:txBody>
          <a:bodyPr wrap="square" lIns="0" rIns="0" tIns="0" bIns="0" anchor="ctr">
            <a:noAutofit/>
          </a:bodyPr>
          <a:lstStyle/>
          <a:p>
            <a:pPr algn="l">
              <a:lnSpc>
                <a:spcPct val="100000"/>
              </a:lnSpc>
              <a:spcAft>
                <a:spcPts val="0"/>
              </a:spcAft>
            </a:pPr>
            <a:r>
              <a:rPr sz="919" b="1" i="0">
                <a:solidFill>
                  <a:srgbClr val="0B2035"/>
                </a:solidFill>
                <a:latin typeface="Arial"/>
              </a:rPr>
              <a:t>Regulatory</a:t>
            </a:r>
          </a:p>
        </p:txBody>
      </p:sp>
      <p:sp>
        <p:nvSpPr>
          <p:cNvPr id="32" name="TextBox 31"/>
          <p:cNvSpPr txBox="1"/>
          <p:nvPr/>
        </p:nvSpPr>
        <p:spPr>
          <a:xfrm>
            <a:off x="2221992" y="2816352"/>
            <a:ext cx="4005072" cy="548640"/>
          </a:xfrm>
          <a:prstGeom prst="rect">
            <a:avLst/>
          </a:prstGeom>
          <a:noFill/>
        </p:spPr>
        <p:txBody>
          <a:bodyPr wrap="square" lIns="0" rIns="0" tIns="0" bIns="0" anchor="ctr">
            <a:noAutofit/>
          </a:bodyPr>
          <a:lstStyle/>
          <a:p>
            <a:pPr algn="l">
              <a:lnSpc>
                <a:spcPct val="100000"/>
              </a:lnSpc>
              <a:spcAft>
                <a:spcPts val="0"/>
              </a:spcAft>
            </a:pPr>
            <a:r>
              <a:rPr sz="869" b="0" i="0">
                <a:solidFill>
                  <a:srgbClr val="516577"/>
                </a:solidFill>
                <a:latin typeface="Arial"/>
              </a:rPr>
              <a:t>FDA pathways for novel tissue-engineered products are long, costly, and precedent-limited.</a:t>
            </a:r>
          </a:p>
        </p:txBody>
      </p:sp>
      <p:sp>
        <p:nvSpPr>
          <p:cNvPr id="33" name="TextBox 32"/>
          <p:cNvSpPr txBox="1"/>
          <p:nvPr/>
        </p:nvSpPr>
        <p:spPr>
          <a:xfrm>
            <a:off x="6766560" y="2807208"/>
            <a:ext cx="4572000" cy="576072"/>
          </a:xfrm>
          <a:prstGeom prst="rect">
            <a:avLst/>
          </a:prstGeom>
          <a:noFill/>
        </p:spPr>
        <p:txBody>
          <a:bodyPr wrap="square" lIns="0" rIns="0" tIns="0" bIns="0" anchor="ctr">
            <a:noAutofit/>
          </a:bodyPr>
          <a:lstStyle/>
          <a:p>
            <a:pPr algn="l">
              <a:lnSpc>
                <a:spcPct val="100000"/>
              </a:lnSpc>
              <a:spcAft>
                <a:spcPts val="0"/>
              </a:spcAft>
            </a:pPr>
            <a:r>
              <a:rPr sz="869" b="0" i="0">
                <a:solidFill>
                  <a:srgbClr val="183A5A"/>
                </a:solidFill>
                <a:latin typeface="Arial"/>
              </a:rPr>
              <a:t>Symvess clearance (Dec 2024) creates a direct precedent. Samuel engages regulatory counsel in Year 1 and targets lower-risk 510(k) products first.</a:t>
            </a:r>
          </a:p>
        </p:txBody>
      </p:sp>
      <p:cxnSp>
        <p:nvCxnSpPr>
          <p:cNvPr id="34" name="Connector 33"/>
          <p:cNvCxnSpPr/>
          <p:nvPr/>
        </p:nvCxnSpPr>
        <p:spPr>
          <a:xfrm>
            <a:off x="640080" y="3557015"/>
            <a:ext cx="10881360" cy="0"/>
          </a:xfrm>
          <a:prstGeom prst="line">
            <a:avLst/>
          </a:prstGeom>
          <a:ln w="6350">
            <a:solidFill>
              <a:srgbClr val="D7E1E8"/>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02920" y="3557015"/>
            <a:ext cx="11183112" cy="905256"/>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3557015"/>
            <a:ext cx="73152" cy="905256"/>
          </a:xfrm>
          <a:prstGeom prst="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9808" y="3785615"/>
            <a:ext cx="420624"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9808" y="3794759"/>
            <a:ext cx="420624" cy="246888"/>
          </a:xfrm>
          <a:prstGeom prst="rect">
            <a:avLst/>
          </a:prstGeom>
          <a:noFill/>
        </p:spPr>
        <p:txBody>
          <a:bodyPr wrap="square" lIns="0" rIns="0" tIns="0" bIns="0" anchor="ctr">
            <a:noAutofit/>
          </a:bodyPr>
          <a:lstStyle/>
          <a:p>
            <a:pPr algn="ctr">
              <a:lnSpc>
                <a:spcPct val="100000"/>
              </a:lnSpc>
              <a:spcAft>
                <a:spcPts val="0"/>
              </a:spcAft>
            </a:pPr>
            <a:r>
              <a:rPr sz="720" b="1" i="0">
                <a:solidFill>
                  <a:srgbClr val="D7A747"/>
                </a:solidFill>
                <a:latin typeface="Arial"/>
              </a:rPr>
              <a:t>03</a:t>
            </a:r>
          </a:p>
        </p:txBody>
      </p:sp>
      <p:sp>
        <p:nvSpPr>
          <p:cNvPr id="39" name="TextBox 38"/>
          <p:cNvSpPr txBox="1"/>
          <p:nvPr/>
        </p:nvSpPr>
        <p:spPr>
          <a:xfrm>
            <a:off x="1243584" y="3739896"/>
            <a:ext cx="621792" cy="420624"/>
          </a:xfrm>
          <a:prstGeom prst="rect">
            <a:avLst/>
          </a:prstGeom>
          <a:noFill/>
        </p:spPr>
        <p:txBody>
          <a:bodyPr wrap="square" lIns="0" rIns="0" tIns="0" bIns="0" anchor="ctr">
            <a:noAutofit/>
          </a:bodyPr>
          <a:lstStyle/>
          <a:p>
            <a:pPr algn="l">
              <a:lnSpc>
                <a:spcPct val="100000"/>
              </a:lnSpc>
              <a:spcAft>
                <a:spcPts val="0"/>
              </a:spcAft>
            </a:pPr>
            <a:r>
              <a:rPr sz="919" b="1" i="0">
                <a:solidFill>
                  <a:srgbClr val="0B2035"/>
                </a:solidFill>
                <a:latin typeface="Arial"/>
              </a:rPr>
              <a:t>Platform / Access</a:t>
            </a:r>
          </a:p>
        </p:txBody>
      </p:sp>
      <p:sp>
        <p:nvSpPr>
          <p:cNvPr id="40" name="TextBox 39"/>
          <p:cNvSpPr txBox="1"/>
          <p:nvPr/>
        </p:nvSpPr>
        <p:spPr>
          <a:xfrm>
            <a:off x="2221992" y="3721607"/>
            <a:ext cx="4005072" cy="548640"/>
          </a:xfrm>
          <a:prstGeom prst="rect">
            <a:avLst/>
          </a:prstGeom>
          <a:noFill/>
        </p:spPr>
        <p:txBody>
          <a:bodyPr wrap="square" lIns="0" rIns="0" tIns="0" bIns="0" anchor="ctr">
            <a:noAutofit/>
          </a:bodyPr>
          <a:lstStyle/>
          <a:p>
            <a:pPr algn="l">
              <a:lnSpc>
                <a:spcPct val="100000"/>
              </a:lnSpc>
              <a:spcAft>
                <a:spcPts val="0"/>
              </a:spcAft>
            </a:pPr>
            <a:r>
              <a:rPr sz="869" b="0" i="0">
                <a:solidFill>
                  <a:srgbClr val="516577"/>
                </a:solidFill>
                <a:latin typeface="Arial"/>
              </a:rPr>
              <a:t>ISS retirement (~2030) creates dependency risk if commercial successor stations are delayed.</a:t>
            </a:r>
          </a:p>
        </p:txBody>
      </p:sp>
      <p:sp>
        <p:nvSpPr>
          <p:cNvPr id="41" name="TextBox 40"/>
          <p:cNvSpPr txBox="1"/>
          <p:nvPr/>
        </p:nvSpPr>
        <p:spPr>
          <a:xfrm>
            <a:off x="6766560" y="3712463"/>
            <a:ext cx="4572000" cy="576072"/>
          </a:xfrm>
          <a:prstGeom prst="rect">
            <a:avLst/>
          </a:prstGeom>
          <a:noFill/>
        </p:spPr>
        <p:txBody>
          <a:bodyPr wrap="square" lIns="0" rIns="0" tIns="0" bIns="0" anchor="ctr">
            <a:noAutofit/>
          </a:bodyPr>
          <a:lstStyle/>
          <a:p>
            <a:pPr algn="l">
              <a:lnSpc>
                <a:spcPct val="100000"/>
              </a:lnSpc>
              <a:spcAft>
                <a:spcPts val="0"/>
              </a:spcAft>
            </a:pPr>
            <a:r>
              <a:rPr sz="869" b="0" i="0">
                <a:solidFill>
                  <a:srgbClr val="183A5A"/>
                </a:solidFill>
                <a:latin typeface="Arial"/>
              </a:rPr>
              <a:t>Station-agnostic hardware supports ISS, Starlab, Axiom, Orbital Reef, and Vast, diversifying single-platform exposure.</a:t>
            </a:r>
          </a:p>
        </p:txBody>
      </p:sp>
      <p:cxnSp>
        <p:nvCxnSpPr>
          <p:cNvPr id="42" name="Connector 41"/>
          <p:cNvCxnSpPr/>
          <p:nvPr/>
        </p:nvCxnSpPr>
        <p:spPr>
          <a:xfrm>
            <a:off x="640080" y="4462272"/>
            <a:ext cx="10881360" cy="0"/>
          </a:xfrm>
          <a:prstGeom prst="line">
            <a:avLst/>
          </a:prstGeom>
          <a:ln w="6350">
            <a:solidFill>
              <a:srgbClr val="D7E1E8"/>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502920" y="4462272"/>
            <a:ext cx="73152" cy="905256"/>
          </a:xfrm>
          <a:prstGeom prst="rect">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49808" y="4690872"/>
            <a:ext cx="420624"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4700016"/>
            <a:ext cx="420624" cy="246888"/>
          </a:xfrm>
          <a:prstGeom prst="rect">
            <a:avLst/>
          </a:prstGeom>
          <a:noFill/>
        </p:spPr>
        <p:txBody>
          <a:bodyPr wrap="square" lIns="0" rIns="0" tIns="0" bIns="0" anchor="ctr">
            <a:noAutofit/>
          </a:bodyPr>
          <a:lstStyle/>
          <a:p>
            <a:pPr algn="ctr">
              <a:lnSpc>
                <a:spcPct val="100000"/>
              </a:lnSpc>
              <a:spcAft>
                <a:spcPts val="0"/>
              </a:spcAft>
            </a:pPr>
            <a:r>
              <a:rPr sz="720" b="1" i="0">
                <a:solidFill>
                  <a:srgbClr val="183A5A"/>
                </a:solidFill>
                <a:latin typeface="Arial"/>
              </a:rPr>
              <a:t>04</a:t>
            </a:r>
          </a:p>
        </p:txBody>
      </p:sp>
      <p:sp>
        <p:nvSpPr>
          <p:cNvPr id="46" name="TextBox 45"/>
          <p:cNvSpPr txBox="1"/>
          <p:nvPr/>
        </p:nvSpPr>
        <p:spPr>
          <a:xfrm>
            <a:off x="1243584" y="4645152"/>
            <a:ext cx="621792" cy="420624"/>
          </a:xfrm>
          <a:prstGeom prst="rect">
            <a:avLst/>
          </a:prstGeom>
          <a:noFill/>
        </p:spPr>
        <p:txBody>
          <a:bodyPr wrap="square" lIns="0" rIns="0" tIns="0" bIns="0" anchor="ctr">
            <a:noAutofit/>
          </a:bodyPr>
          <a:lstStyle/>
          <a:p>
            <a:pPr algn="l">
              <a:lnSpc>
                <a:spcPct val="100000"/>
              </a:lnSpc>
              <a:spcAft>
                <a:spcPts val="0"/>
              </a:spcAft>
            </a:pPr>
            <a:r>
              <a:rPr sz="919" b="1" i="0">
                <a:solidFill>
                  <a:srgbClr val="0B2035"/>
                </a:solidFill>
                <a:latin typeface="Arial"/>
              </a:rPr>
              <a:t>Capital Intensity</a:t>
            </a:r>
          </a:p>
        </p:txBody>
      </p:sp>
      <p:sp>
        <p:nvSpPr>
          <p:cNvPr id="47" name="TextBox 46"/>
          <p:cNvSpPr txBox="1"/>
          <p:nvPr/>
        </p:nvSpPr>
        <p:spPr>
          <a:xfrm>
            <a:off x="2221992" y="4626864"/>
            <a:ext cx="4005072" cy="548640"/>
          </a:xfrm>
          <a:prstGeom prst="rect">
            <a:avLst/>
          </a:prstGeom>
          <a:noFill/>
        </p:spPr>
        <p:txBody>
          <a:bodyPr wrap="square" lIns="0" rIns="0" tIns="0" bIns="0" anchor="ctr">
            <a:noAutofit/>
          </a:bodyPr>
          <a:lstStyle/>
          <a:p>
            <a:pPr algn="l">
              <a:lnSpc>
                <a:spcPct val="100000"/>
              </a:lnSpc>
              <a:spcAft>
                <a:spcPts val="0"/>
              </a:spcAft>
            </a:pPr>
            <a:r>
              <a:rPr sz="869" b="0" i="0">
                <a:solidFill>
                  <a:srgbClr val="516577"/>
                </a:solidFill>
                <a:latin typeface="Arial"/>
              </a:rPr>
              <a:t>Flight missions, payload hardware, and clinical trials require sustained, significant capital investment.</a:t>
            </a:r>
          </a:p>
        </p:txBody>
      </p:sp>
      <p:sp>
        <p:nvSpPr>
          <p:cNvPr id="48" name="TextBox 47"/>
          <p:cNvSpPr txBox="1"/>
          <p:nvPr/>
        </p:nvSpPr>
        <p:spPr>
          <a:xfrm>
            <a:off x="6766560" y="4617720"/>
            <a:ext cx="4572000" cy="576072"/>
          </a:xfrm>
          <a:prstGeom prst="rect">
            <a:avLst/>
          </a:prstGeom>
          <a:noFill/>
        </p:spPr>
        <p:txBody>
          <a:bodyPr wrap="square" lIns="0" rIns="0" tIns="0" bIns="0" anchor="ctr">
            <a:noAutofit/>
          </a:bodyPr>
          <a:lstStyle/>
          <a:p>
            <a:pPr algn="l">
              <a:lnSpc>
                <a:spcPct val="100000"/>
              </a:lnSpc>
              <a:spcAft>
                <a:spcPts val="0"/>
              </a:spcAft>
            </a:pPr>
            <a:r>
              <a:rPr sz="869" b="0" i="0">
                <a:solidFill>
                  <a:srgbClr val="183A5A"/>
                </a:solidFill>
                <a:latin typeface="Arial"/>
              </a:rPr>
              <a:t>Blended funding combines equity with non-dilutive NASA/ESA/DoD grants, following LambdaVision and Redwire precedents.</a:t>
            </a:r>
          </a:p>
        </p:txBody>
      </p:sp>
      <p:cxnSp>
        <p:nvCxnSpPr>
          <p:cNvPr id="49" name="Connector 48"/>
          <p:cNvCxnSpPr/>
          <p:nvPr/>
        </p:nvCxnSpPr>
        <p:spPr>
          <a:xfrm>
            <a:off x="640080" y="5367528"/>
            <a:ext cx="10881360" cy="0"/>
          </a:xfrm>
          <a:prstGeom prst="line">
            <a:avLst/>
          </a:prstGeom>
          <a:ln w="6350">
            <a:solidFill>
              <a:srgbClr val="D7E1E8"/>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02920" y="5367528"/>
            <a:ext cx="11183112" cy="905256"/>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5367528"/>
            <a:ext cx="73152" cy="905256"/>
          </a:xfrm>
          <a:prstGeom prst="rect">
            <a:avLst/>
          </a:prstGeom>
          <a:solidFill>
            <a:srgbClr val="C95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49808" y="5596128"/>
            <a:ext cx="420624"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808" y="5605272"/>
            <a:ext cx="420624" cy="246888"/>
          </a:xfrm>
          <a:prstGeom prst="rect">
            <a:avLst/>
          </a:prstGeom>
          <a:noFill/>
        </p:spPr>
        <p:txBody>
          <a:bodyPr wrap="square" lIns="0" rIns="0" tIns="0" bIns="0" anchor="ctr">
            <a:noAutofit/>
          </a:bodyPr>
          <a:lstStyle/>
          <a:p>
            <a:pPr algn="ctr">
              <a:lnSpc>
                <a:spcPct val="100000"/>
              </a:lnSpc>
              <a:spcAft>
                <a:spcPts val="0"/>
              </a:spcAft>
            </a:pPr>
            <a:r>
              <a:rPr sz="720" b="1" i="0">
                <a:solidFill>
                  <a:srgbClr val="C95F63"/>
                </a:solidFill>
                <a:latin typeface="Arial"/>
              </a:rPr>
              <a:t>05</a:t>
            </a:r>
          </a:p>
        </p:txBody>
      </p:sp>
      <p:sp>
        <p:nvSpPr>
          <p:cNvPr id="54" name="TextBox 53"/>
          <p:cNvSpPr txBox="1"/>
          <p:nvPr/>
        </p:nvSpPr>
        <p:spPr>
          <a:xfrm>
            <a:off x="1243584" y="5550408"/>
            <a:ext cx="621792" cy="420624"/>
          </a:xfrm>
          <a:prstGeom prst="rect">
            <a:avLst/>
          </a:prstGeom>
          <a:noFill/>
        </p:spPr>
        <p:txBody>
          <a:bodyPr wrap="square" lIns="0" rIns="0" tIns="0" bIns="0" anchor="ctr">
            <a:noAutofit/>
          </a:bodyPr>
          <a:lstStyle/>
          <a:p>
            <a:pPr algn="l">
              <a:lnSpc>
                <a:spcPct val="100000"/>
              </a:lnSpc>
              <a:spcAft>
                <a:spcPts val="0"/>
              </a:spcAft>
            </a:pPr>
            <a:r>
              <a:rPr sz="919" b="1" i="0">
                <a:solidFill>
                  <a:srgbClr val="0B2035"/>
                </a:solidFill>
                <a:latin typeface="Arial"/>
              </a:rPr>
              <a:t>Competitive</a:t>
            </a:r>
          </a:p>
        </p:txBody>
      </p:sp>
      <p:sp>
        <p:nvSpPr>
          <p:cNvPr id="55" name="TextBox 54"/>
          <p:cNvSpPr txBox="1"/>
          <p:nvPr/>
        </p:nvSpPr>
        <p:spPr>
          <a:xfrm>
            <a:off x="2221992" y="5532120"/>
            <a:ext cx="4005072" cy="548640"/>
          </a:xfrm>
          <a:prstGeom prst="rect">
            <a:avLst/>
          </a:prstGeom>
          <a:noFill/>
        </p:spPr>
        <p:txBody>
          <a:bodyPr wrap="square" lIns="0" rIns="0" tIns="0" bIns="0" anchor="ctr">
            <a:noAutofit/>
          </a:bodyPr>
          <a:lstStyle/>
          <a:p>
            <a:pPr algn="l">
              <a:lnSpc>
                <a:spcPct val="100000"/>
              </a:lnSpc>
              <a:spcAft>
                <a:spcPts val="0"/>
              </a:spcAft>
            </a:pPr>
            <a:r>
              <a:rPr sz="869" b="0" i="0">
                <a:solidFill>
                  <a:srgbClr val="516577"/>
                </a:solidFill>
                <a:latin typeface="Arial"/>
              </a:rPr>
              <a:t>Incumbents such as Redwire and LambdaVision hold first-mover relationships with NASA and station operators.</a:t>
            </a:r>
          </a:p>
        </p:txBody>
      </p:sp>
      <p:sp>
        <p:nvSpPr>
          <p:cNvPr id="56" name="TextBox 55"/>
          <p:cNvSpPr txBox="1"/>
          <p:nvPr/>
        </p:nvSpPr>
        <p:spPr>
          <a:xfrm>
            <a:off x="6766560" y="5522976"/>
            <a:ext cx="4572000" cy="576072"/>
          </a:xfrm>
          <a:prstGeom prst="rect">
            <a:avLst/>
          </a:prstGeom>
          <a:noFill/>
        </p:spPr>
        <p:txBody>
          <a:bodyPr wrap="square" lIns="0" rIns="0" tIns="0" bIns="0" anchor="ctr">
            <a:noAutofit/>
          </a:bodyPr>
          <a:lstStyle/>
          <a:p>
            <a:pPr algn="l">
              <a:lnSpc>
                <a:spcPct val="100000"/>
              </a:lnSpc>
              <a:spcAft>
                <a:spcPts val="0"/>
              </a:spcAft>
            </a:pPr>
            <a:r>
              <a:rPr sz="869" b="0" i="0">
                <a:solidFill>
                  <a:srgbClr val="183A5A"/>
                </a:solidFill>
                <a:latin typeface="Arial"/>
              </a:rPr>
              <a:t>Samuel differentiates on multi-vertical breadth and station-agnostic flexibility rather than competing for a single contract.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ORGANISATION</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Team &amp; Scientific Advisory Approach</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19</a:t>
            </a:r>
          </a:p>
        </p:txBody>
      </p:sp>
      <p:sp>
        <p:nvSpPr>
          <p:cNvPr id="15" name="Rounded Rectangle 14"/>
          <p:cNvSpPr/>
          <p:nvPr/>
        </p:nvSpPr>
        <p:spPr>
          <a:xfrm>
            <a:off x="502920" y="1298448"/>
            <a:ext cx="11183112" cy="658368"/>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1472184"/>
            <a:ext cx="10652760" cy="283464"/>
          </a:xfrm>
          <a:prstGeom prst="rect">
            <a:avLst/>
          </a:prstGeom>
          <a:noFill/>
        </p:spPr>
        <p:txBody>
          <a:bodyPr wrap="square" lIns="0" rIns="0" tIns="0" bIns="0" anchor="ctr">
            <a:noAutofit/>
          </a:bodyPr>
          <a:lstStyle/>
          <a:p>
            <a:pPr algn="l">
              <a:lnSpc>
                <a:spcPct val="100000"/>
              </a:lnSpc>
              <a:spcAft>
                <a:spcPts val="0"/>
              </a:spcAft>
            </a:pPr>
            <a:r>
              <a:rPr sz="990" b="0" i="0">
                <a:solidFill>
                  <a:srgbClr val="516577"/>
                </a:solidFill>
                <a:latin typeface="Arial"/>
              </a:rPr>
              <a:t>Samuel Space is building a founding team and Scientific Advisory Board around the specific expertise this platform requires. Roles below reflect the Company’s hiring plan and target advisory profile for the Series A period.</a:t>
            </a:r>
          </a:p>
        </p:txBody>
      </p:sp>
      <p:sp>
        <p:nvSpPr>
          <p:cNvPr id="17" name="Rounded Rectangle 16"/>
          <p:cNvSpPr/>
          <p:nvPr/>
        </p:nvSpPr>
        <p:spPr>
          <a:xfrm>
            <a:off x="502920" y="2157984"/>
            <a:ext cx="2606040" cy="251460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2423160"/>
            <a:ext cx="548640" cy="548640"/>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423160"/>
            <a:ext cx="548640" cy="54864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CEO</a:t>
            </a:r>
          </a:p>
        </p:txBody>
      </p:sp>
      <p:sp>
        <p:nvSpPr>
          <p:cNvPr id="20" name="TextBox 19"/>
          <p:cNvSpPr txBox="1"/>
          <p:nvPr/>
        </p:nvSpPr>
        <p:spPr>
          <a:xfrm>
            <a:off x="731520" y="3172968"/>
            <a:ext cx="2139696" cy="658368"/>
          </a:xfrm>
          <a:prstGeom prst="rect">
            <a:avLst/>
          </a:prstGeom>
          <a:noFill/>
        </p:spPr>
        <p:txBody>
          <a:bodyPr wrap="square" lIns="0" rIns="0" tIns="0" bIns="0" anchor="t">
            <a:noAutofit/>
          </a:bodyPr>
          <a:lstStyle/>
          <a:p>
            <a:pPr algn="l">
              <a:lnSpc>
                <a:spcPct val="100000"/>
              </a:lnSpc>
              <a:spcAft>
                <a:spcPts val="0"/>
              </a:spcAft>
            </a:pPr>
            <a:r>
              <a:rPr sz="1360" b="1" i="0">
                <a:solidFill>
                  <a:srgbClr val="0B2035"/>
                </a:solidFill>
                <a:latin typeface="Arial"/>
              </a:rPr>
              <a:t>Founder / Chief Executive Officer</a:t>
            </a:r>
          </a:p>
        </p:txBody>
      </p:sp>
      <p:sp>
        <p:nvSpPr>
          <p:cNvPr id="21" name="TextBox 20"/>
          <p:cNvSpPr txBox="1"/>
          <p:nvPr/>
        </p:nvSpPr>
        <p:spPr>
          <a:xfrm>
            <a:off x="731520" y="3886200"/>
            <a:ext cx="2139696" cy="566928"/>
          </a:xfrm>
          <a:prstGeom prst="rect">
            <a:avLst/>
          </a:prstGeom>
          <a:noFill/>
        </p:spPr>
        <p:txBody>
          <a:bodyPr wrap="square" lIns="0" rIns="0" tIns="0" bIns="0" anchor="t">
            <a:noAutofit/>
          </a:bodyPr>
          <a:lstStyle/>
          <a:p>
            <a:pPr algn="l">
              <a:lnSpc>
                <a:spcPct val="100000"/>
              </a:lnSpc>
              <a:spcAft>
                <a:spcPts val="0"/>
              </a:spcAft>
            </a:pPr>
            <a:r>
              <a:rPr sz="880" b="0" i="0">
                <a:solidFill>
                  <a:srgbClr val="516577"/>
                </a:solidFill>
                <a:latin typeface="Arial"/>
              </a:rPr>
              <a:t>Commercial space or biotech venture leadership; track record building regulated hardware or therapeutics businesses from seed to scale.</a:t>
            </a:r>
          </a:p>
        </p:txBody>
      </p:sp>
      <p:sp>
        <p:nvSpPr>
          <p:cNvPr id="22" name="Rounded Rectangle 21"/>
          <p:cNvSpPr/>
          <p:nvPr/>
        </p:nvSpPr>
        <p:spPr>
          <a:xfrm>
            <a:off x="3319272" y="2157984"/>
            <a:ext cx="2606040" cy="251460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47872" y="2423160"/>
            <a:ext cx="548640" cy="548640"/>
          </a:xfrm>
          <a:prstGeom prst="ellipse">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47872" y="2423160"/>
            <a:ext cx="548640" cy="548640"/>
          </a:xfrm>
          <a:prstGeom prst="rect">
            <a:avLst/>
          </a:prstGeom>
          <a:noFill/>
        </p:spPr>
        <p:txBody>
          <a:bodyPr wrap="square" lIns="0" rIns="0" tIns="0" bIns="0" anchor="ctr">
            <a:noAutofit/>
          </a:bodyPr>
          <a:lstStyle/>
          <a:p>
            <a:pPr algn="ctr">
              <a:lnSpc>
                <a:spcPct val="100000"/>
              </a:lnSpc>
              <a:spcAft>
                <a:spcPts val="0"/>
              </a:spcAft>
            </a:pPr>
            <a:r>
              <a:rPr sz="850" b="1" i="0">
                <a:solidFill>
                  <a:srgbClr val="3C6E9B"/>
                </a:solidFill>
                <a:latin typeface="Arial"/>
              </a:rPr>
              <a:t>CSO</a:t>
            </a:r>
          </a:p>
        </p:txBody>
      </p:sp>
      <p:sp>
        <p:nvSpPr>
          <p:cNvPr id="25" name="TextBox 24"/>
          <p:cNvSpPr txBox="1"/>
          <p:nvPr/>
        </p:nvSpPr>
        <p:spPr>
          <a:xfrm>
            <a:off x="3547872" y="3172968"/>
            <a:ext cx="2139696" cy="658368"/>
          </a:xfrm>
          <a:prstGeom prst="rect">
            <a:avLst/>
          </a:prstGeom>
          <a:noFill/>
        </p:spPr>
        <p:txBody>
          <a:bodyPr wrap="square" lIns="0" rIns="0" tIns="0" bIns="0" anchor="t">
            <a:noAutofit/>
          </a:bodyPr>
          <a:lstStyle/>
          <a:p>
            <a:pPr algn="l">
              <a:lnSpc>
                <a:spcPct val="100000"/>
              </a:lnSpc>
              <a:spcAft>
                <a:spcPts val="0"/>
              </a:spcAft>
            </a:pPr>
            <a:r>
              <a:rPr sz="1360" b="1" i="0">
                <a:solidFill>
                  <a:srgbClr val="0B2035"/>
                </a:solidFill>
                <a:latin typeface="Arial"/>
              </a:rPr>
              <a:t>Chief Scientific Officer</a:t>
            </a:r>
          </a:p>
        </p:txBody>
      </p:sp>
      <p:sp>
        <p:nvSpPr>
          <p:cNvPr id="26" name="TextBox 25"/>
          <p:cNvSpPr txBox="1"/>
          <p:nvPr/>
        </p:nvSpPr>
        <p:spPr>
          <a:xfrm>
            <a:off x="3547872" y="3886200"/>
            <a:ext cx="2139696" cy="566928"/>
          </a:xfrm>
          <a:prstGeom prst="rect">
            <a:avLst/>
          </a:prstGeom>
          <a:noFill/>
        </p:spPr>
        <p:txBody>
          <a:bodyPr wrap="square" lIns="0" rIns="0" tIns="0" bIns="0" anchor="t">
            <a:noAutofit/>
          </a:bodyPr>
          <a:lstStyle/>
          <a:p>
            <a:pPr algn="l">
              <a:lnSpc>
                <a:spcPct val="100000"/>
              </a:lnSpc>
              <a:spcAft>
                <a:spcPts val="0"/>
              </a:spcAft>
            </a:pPr>
            <a:r>
              <a:rPr sz="880" b="0" i="0">
                <a:solidFill>
                  <a:srgbClr val="516577"/>
                </a:solidFill>
                <a:latin typeface="Arial"/>
              </a:rPr>
              <a:t>PhD-level expertise in tissue engineering, stem-cell biology, or regenerative medicine; prior peer-reviewed bioprinting research.</a:t>
            </a:r>
          </a:p>
        </p:txBody>
      </p:sp>
      <p:sp>
        <p:nvSpPr>
          <p:cNvPr id="27" name="Rounded Rectangle 26"/>
          <p:cNvSpPr/>
          <p:nvPr/>
        </p:nvSpPr>
        <p:spPr>
          <a:xfrm>
            <a:off x="6135624" y="2157984"/>
            <a:ext cx="2606040" cy="251460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64224" y="2423160"/>
            <a:ext cx="548640" cy="548640"/>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2423160"/>
            <a:ext cx="548640" cy="548640"/>
          </a:xfrm>
          <a:prstGeom prst="rect">
            <a:avLst/>
          </a:prstGeom>
          <a:noFill/>
        </p:spPr>
        <p:txBody>
          <a:bodyPr wrap="square" lIns="0" rIns="0" tIns="0" bIns="0" anchor="ctr">
            <a:noAutofit/>
          </a:bodyPr>
          <a:lstStyle/>
          <a:p>
            <a:pPr algn="ctr">
              <a:lnSpc>
                <a:spcPct val="100000"/>
              </a:lnSpc>
              <a:spcAft>
                <a:spcPts val="0"/>
              </a:spcAft>
            </a:pPr>
            <a:r>
              <a:rPr sz="850" b="1" i="0">
                <a:solidFill>
                  <a:srgbClr val="007F72"/>
                </a:solidFill>
                <a:latin typeface="Arial"/>
              </a:rPr>
              <a:t>ENG</a:t>
            </a:r>
          </a:p>
        </p:txBody>
      </p:sp>
      <p:sp>
        <p:nvSpPr>
          <p:cNvPr id="30" name="TextBox 29"/>
          <p:cNvSpPr txBox="1"/>
          <p:nvPr/>
        </p:nvSpPr>
        <p:spPr>
          <a:xfrm>
            <a:off x="6364224" y="3172968"/>
            <a:ext cx="2139696" cy="658368"/>
          </a:xfrm>
          <a:prstGeom prst="rect">
            <a:avLst/>
          </a:prstGeom>
          <a:noFill/>
        </p:spPr>
        <p:txBody>
          <a:bodyPr wrap="square" lIns="0" rIns="0" tIns="0" bIns="0" anchor="t">
            <a:noAutofit/>
          </a:bodyPr>
          <a:lstStyle/>
          <a:p>
            <a:pPr algn="l">
              <a:lnSpc>
                <a:spcPct val="100000"/>
              </a:lnSpc>
              <a:spcAft>
                <a:spcPts val="0"/>
              </a:spcAft>
            </a:pPr>
            <a:r>
              <a:rPr sz="1360" b="1" i="0">
                <a:solidFill>
                  <a:srgbClr val="0B2035"/>
                </a:solidFill>
                <a:latin typeface="Arial"/>
              </a:rPr>
              <a:t>VP, Payload Engineering</a:t>
            </a:r>
          </a:p>
        </p:txBody>
      </p:sp>
      <p:sp>
        <p:nvSpPr>
          <p:cNvPr id="31" name="TextBox 30"/>
          <p:cNvSpPr txBox="1"/>
          <p:nvPr/>
        </p:nvSpPr>
        <p:spPr>
          <a:xfrm>
            <a:off x="6364224" y="3886200"/>
            <a:ext cx="2139696" cy="566928"/>
          </a:xfrm>
          <a:prstGeom prst="rect">
            <a:avLst/>
          </a:prstGeom>
          <a:noFill/>
        </p:spPr>
        <p:txBody>
          <a:bodyPr wrap="square" lIns="0" rIns="0" tIns="0" bIns="0" anchor="t">
            <a:noAutofit/>
          </a:bodyPr>
          <a:lstStyle/>
          <a:p>
            <a:pPr algn="l">
              <a:lnSpc>
                <a:spcPct val="100000"/>
              </a:lnSpc>
              <a:spcAft>
                <a:spcPts val="0"/>
              </a:spcAft>
            </a:pPr>
            <a:r>
              <a:rPr sz="880" b="0" i="0">
                <a:solidFill>
                  <a:srgbClr val="516577"/>
                </a:solidFill>
                <a:latin typeface="Arial"/>
              </a:rPr>
              <a:t>Aerospace hardware engineering background; experience flight-qualifying instrumentation for ISS or commercial LEO payloads.</a:t>
            </a:r>
          </a:p>
        </p:txBody>
      </p:sp>
      <p:sp>
        <p:nvSpPr>
          <p:cNvPr id="32" name="Rounded Rectangle 31"/>
          <p:cNvSpPr/>
          <p:nvPr/>
        </p:nvSpPr>
        <p:spPr>
          <a:xfrm>
            <a:off x="8951976" y="2157984"/>
            <a:ext cx="2606040" cy="2514600"/>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180576" y="2423160"/>
            <a:ext cx="548640" cy="548640"/>
          </a:xfrm>
          <a:prstGeom prst="ellipse">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0576" y="2423160"/>
            <a:ext cx="548640" cy="548640"/>
          </a:xfrm>
          <a:prstGeom prst="rect">
            <a:avLst/>
          </a:prstGeom>
          <a:noFill/>
        </p:spPr>
        <p:txBody>
          <a:bodyPr wrap="square" lIns="0" rIns="0" tIns="0" bIns="0" anchor="ctr">
            <a:noAutofit/>
          </a:bodyPr>
          <a:lstStyle/>
          <a:p>
            <a:pPr algn="ctr">
              <a:lnSpc>
                <a:spcPct val="100000"/>
              </a:lnSpc>
              <a:spcAft>
                <a:spcPts val="0"/>
              </a:spcAft>
            </a:pPr>
            <a:r>
              <a:rPr sz="850" b="1" i="0">
                <a:solidFill>
                  <a:srgbClr val="3C6E9B"/>
                </a:solidFill>
                <a:latin typeface="Arial"/>
              </a:rPr>
              <a:t>REG</a:t>
            </a:r>
          </a:p>
        </p:txBody>
      </p:sp>
      <p:sp>
        <p:nvSpPr>
          <p:cNvPr id="35" name="TextBox 34"/>
          <p:cNvSpPr txBox="1"/>
          <p:nvPr/>
        </p:nvSpPr>
        <p:spPr>
          <a:xfrm>
            <a:off x="9180576" y="3172968"/>
            <a:ext cx="2139696" cy="658368"/>
          </a:xfrm>
          <a:prstGeom prst="rect">
            <a:avLst/>
          </a:prstGeom>
          <a:noFill/>
        </p:spPr>
        <p:txBody>
          <a:bodyPr wrap="square" lIns="0" rIns="0" tIns="0" bIns="0" anchor="t">
            <a:noAutofit/>
          </a:bodyPr>
          <a:lstStyle/>
          <a:p>
            <a:pPr algn="l">
              <a:lnSpc>
                <a:spcPct val="100000"/>
              </a:lnSpc>
              <a:spcAft>
                <a:spcPts val="0"/>
              </a:spcAft>
            </a:pPr>
            <a:r>
              <a:rPr sz="1360" b="1" i="0">
                <a:solidFill>
                  <a:srgbClr val="0B2035"/>
                </a:solidFill>
                <a:latin typeface="Arial"/>
              </a:rPr>
              <a:t>Head of Regulatory Affairs</a:t>
            </a:r>
          </a:p>
        </p:txBody>
      </p:sp>
      <p:sp>
        <p:nvSpPr>
          <p:cNvPr id="36" name="TextBox 35"/>
          <p:cNvSpPr txBox="1"/>
          <p:nvPr/>
        </p:nvSpPr>
        <p:spPr>
          <a:xfrm>
            <a:off x="9180576" y="3886200"/>
            <a:ext cx="2139696" cy="566928"/>
          </a:xfrm>
          <a:prstGeom prst="rect">
            <a:avLst/>
          </a:prstGeom>
          <a:noFill/>
        </p:spPr>
        <p:txBody>
          <a:bodyPr wrap="square" lIns="0" rIns="0" tIns="0" bIns="0" anchor="t">
            <a:noAutofit/>
          </a:bodyPr>
          <a:lstStyle/>
          <a:p>
            <a:pPr algn="l">
              <a:lnSpc>
                <a:spcPct val="100000"/>
              </a:lnSpc>
              <a:spcAft>
                <a:spcPts val="0"/>
              </a:spcAft>
            </a:pPr>
            <a:r>
              <a:rPr sz="880" b="0" i="0">
                <a:solidFill>
                  <a:srgbClr val="516577"/>
                </a:solidFill>
                <a:latin typeface="Arial"/>
              </a:rPr>
              <a:t>FDA medical device / biologics pathway expertise; experience navigating 510(k) and PMA submissions.</a:t>
            </a:r>
          </a:p>
        </p:txBody>
      </p:sp>
      <p:sp>
        <p:nvSpPr>
          <p:cNvPr id="37" name="Rounded Rectangle 36"/>
          <p:cNvSpPr/>
          <p:nvPr/>
        </p:nvSpPr>
        <p:spPr>
          <a:xfrm>
            <a:off x="502920" y="4892040"/>
            <a:ext cx="11183112" cy="1389888"/>
          </a:xfrm>
          <a:prstGeom prst="round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2920" y="4892040"/>
            <a:ext cx="91440" cy="138988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175504"/>
            <a:ext cx="2514600" cy="201168"/>
          </a:xfrm>
          <a:prstGeom prst="rect">
            <a:avLst/>
          </a:prstGeom>
          <a:noFill/>
        </p:spPr>
        <p:txBody>
          <a:bodyPr wrap="square" lIns="0" rIns="0" tIns="0" bIns="0" anchor="t">
            <a:noAutofit/>
          </a:bodyPr>
          <a:lstStyle/>
          <a:p>
            <a:pPr algn="l">
              <a:lnSpc>
                <a:spcPct val="100000"/>
              </a:lnSpc>
              <a:spcAft>
                <a:spcPts val="0"/>
              </a:spcAft>
            </a:pPr>
            <a:r>
              <a:rPr sz="819" b="1" i="0">
                <a:solidFill>
                  <a:srgbClr val="C9EEE6"/>
                </a:solidFill>
                <a:latin typeface="Arial"/>
              </a:rPr>
              <a:t>SCIENTIFIC ADVISORY BOARD</a:t>
            </a:r>
          </a:p>
        </p:txBody>
      </p:sp>
      <p:sp>
        <p:nvSpPr>
          <p:cNvPr id="40" name="TextBox 39"/>
          <p:cNvSpPr txBox="1"/>
          <p:nvPr/>
        </p:nvSpPr>
        <p:spPr>
          <a:xfrm>
            <a:off x="804672" y="5477256"/>
            <a:ext cx="2514600" cy="384048"/>
          </a:xfrm>
          <a:prstGeom prst="rect">
            <a:avLst/>
          </a:prstGeom>
          <a:noFill/>
        </p:spPr>
        <p:txBody>
          <a:bodyPr wrap="square" lIns="0" rIns="0" tIns="0" bIns="0" anchor="t">
            <a:noAutofit/>
          </a:bodyPr>
          <a:lstStyle/>
          <a:p>
            <a:pPr algn="l">
              <a:lnSpc>
                <a:spcPct val="100000"/>
              </a:lnSpc>
              <a:spcAft>
                <a:spcPts val="0"/>
              </a:spcAft>
            </a:pPr>
            <a:r>
              <a:rPr sz="2000" b="1" i="0">
                <a:solidFill>
                  <a:srgbClr val="FFFFFF"/>
                </a:solidFill>
                <a:latin typeface="Arial"/>
              </a:rPr>
              <a:t>In formation</a:t>
            </a:r>
          </a:p>
        </p:txBody>
      </p:sp>
      <p:sp>
        <p:nvSpPr>
          <p:cNvPr id="41" name="TextBox 40"/>
          <p:cNvSpPr txBox="1"/>
          <p:nvPr/>
        </p:nvSpPr>
        <p:spPr>
          <a:xfrm>
            <a:off x="3520440" y="5202936"/>
            <a:ext cx="7635240" cy="621792"/>
          </a:xfrm>
          <a:prstGeom prst="rect">
            <a:avLst/>
          </a:prstGeom>
          <a:noFill/>
        </p:spPr>
        <p:txBody>
          <a:bodyPr wrap="square" lIns="0" rIns="0" tIns="0" bIns="0" anchor="ctr">
            <a:noAutofit/>
          </a:bodyPr>
          <a:lstStyle/>
          <a:p>
            <a:pPr algn="l">
              <a:lnSpc>
                <a:spcPct val="100000"/>
              </a:lnSpc>
              <a:spcAft>
                <a:spcPts val="0"/>
              </a:spcAft>
            </a:pPr>
            <a:r>
              <a:rPr sz="950" b="0" i="0">
                <a:solidFill>
                  <a:srgbClr val="D5E3EC"/>
                </a:solidFill>
                <a:latin typeface="Arial"/>
              </a:rPr>
              <a:t>Samuel is actively recruiting an SAB spanning stem-cell and cardiac tissue biology, microgravity payload design, and protein-based biomanufacturing — the disciplines demonstrated by the field’s existing leaders. Target appointments will be announced as the round closes.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58368" y="640080"/>
            <a:ext cx="91440" cy="91440"/>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548640"/>
            <a:ext cx="91440" cy="91440"/>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68096" y="731520"/>
            <a:ext cx="91440" cy="91440"/>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640080"/>
            <a:ext cx="91440" cy="91440"/>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548640"/>
            <a:ext cx="2148840" cy="201168"/>
          </a:xfrm>
          <a:prstGeom prst="rect">
            <a:avLst/>
          </a:prstGeom>
          <a:noFill/>
        </p:spPr>
        <p:txBody>
          <a:bodyPr wrap="square" lIns="0" rIns="0" tIns="0" bIns="0" anchor="t">
            <a:noAutofit/>
          </a:bodyPr>
          <a:lstStyle/>
          <a:p>
            <a:pPr algn="l">
              <a:lnSpc>
                <a:spcPct val="100000"/>
              </a:lnSpc>
              <a:spcAft>
                <a:spcPts val="0"/>
              </a:spcAft>
            </a:pPr>
            <a:r>
              <a:rPr sz="819" b="1" i="0">
                <a:solidFill>
                  <a:srgbClr val="007F72"/>
                </a:solidFill>
                <a:latin typeface="Arial"/>
              </a:rPr>
              <a:t>THE OPPORTUNITY</a:t>
            </a:r>
          </a:p>
        </p:txBody>
      </p:sp>
      <p:sp>
        <p:nvSpPr>
          <p:cNvPr id="9" name="TextBox 8"/>
          <p:cNvSpPr txBox="1"/>
          <p:nvPr/>
        </p:nvSpPr>
        <p:spPr>
          <a:xfrm>
            <a:off x="658368" y="1389888"/>
            <a:ext cx="6080760" cy="1554480"/>
          </a:xfrm>
          <a:prstGeom prst="rect">
            <a:avLst/>
          </a:prstGeom>
          <a:noFill/>
        </p:spPr>
        <p:txBody>
          <a:bodyPr wrap="square" lIns="0" rIns="0" tIns="0" bIns="0" anchor="t">
            <a:noAutofit/>
          </a:bodyPr>
          <a:lstStyle/>
          <a:p>
            <a:pPr algn="l">
              <a:lnSpc>
                <a:spcPct val="95000"/>
              </a:lnSpc>
              <a:spcAft>
                <a:spcPts val="0"/>
              </a:spcAft>
            </a:pPr>
            <a:r>
              <a:rPr sz="3000" b="1" i="0">
                <a:solidFill>
                  <a:srgbClr val="0B2035"/>
                </a:solidFill>
                <a:latin typeface="Arial"/>
              </a:rPr>
              <a:t>Every organ printed in orbit
is a life that didn’t have to wait.</a:t>
            </a:r>
          </a:p>
        </p:txBody>
      </p:sp>
      <p:sp>
        <p:nvSpPr>
          <p:cNvPr id="10" name="Rectangle 9"/>
          <p:cNvSpPr/>
          <p:nvPr/>
        </p:nvSpPr>
        <p:spPr>
          <a:xfrm>
            <a:off x="658368" y="3246120"/>
            <a:ext cx="566928" cy="50292"/>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547872"/>
            <a:ext cx="5742432" cy="1261872"/>
          </a:xfrm>
          <a:prstGeom prst="rect">
            <a:avLst/>
          </a:prstGeom>
          <a:noFill/>
        </p:spPr>
        <p:txBody>
          <a:bodyPr wrap="square" lIns="0" rIns="0" tIns="0" bIns="0" anchor="t">
            <a:noAutofit/>
          </a:bodyPr>
          <a:lstStyle/>
          <a:p>
            <a:pPr algn="l">
              <a:lnSpc>
                <a:spcPct val="100000"/>
              </a:lnSpc>
              <a:spcAft>
                <a:spcPts val="0"/>
              </a:spcAft>
            </a:pPr>
            <a:r>
              <a:rPr sz="1220" b="0" i="0">
                <a:solidFill>
                  <a:srgbClr val="516577"/>
                </a:solidFill>
                <a:latin typeface="Arial"/>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p>
        </p:txBody>
      </p:sp>
      <p:cxnSp>
        <p:nvCxnSpPr>
          <p:cNvPr id="12" name="Connector 11"/>
          <p:cNvCxnSpPr/>
          <p:nvPr/>
        </p:nvCxnSpPr>
        <p:spPr>
          <a:xfrm>
            <a:off x="658368" y="5157216"/>
            <a:ext cx="5330952" cy="0"/>
          </a:xfrm>
          <a:prstGeom prst="line">
            <a:avLst/>
          </a:prstGeom>
          <a:ln w="12700">
            <a:solidFill>
              <a:srgbClr val="D7E1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5413248"/>
            <a:ext cx="4434840" cy="292608"/>
          </a:xfrm>
          <a:prstGeom prst="rect">
            <a:avLst/>
          </a:prstGeom>
          <a:noFill/>
        </p:spPr>
        <p:txBody>
          <a:bodyPr wrap="square" lIns="0" rIns="0" tIns="0" bIns="0" anchor="t">
            <a:noAutofit/>
          </a:bodyPr>
          <a:lstStyle/>
          <a:p>
            <a:pPr algn="l">
              <a:lnSpc>
                <a:spcPct val="100000"/>
              </a:lnSpc>
              <a:spcAft>
                <a:spcPts val="0"/>
              </a:spcAft>
            </a:pPr>
            <a:r>
              <a:rPr sz="1150" b="1" i="0">
                <a:solidFill>
                  <a:srgbClr val="0B2035"/>
                </a:solidFill>
                <a:latin typeface="Arial"/>
              </a:rPr>
              <a:t>Samuel Space Organ and Tissue Engineering</a:t>
            </a:r>
          </a:p>
        </p:txBody>
      </p:sp>
      <p:sp>
        <p:nvSpPr>
          <p:cNvPr id="14" name="TextBox 13"/>
          <p:cNvSpPr txBox="1"/>
          <p:nvPr/>
        </p:nvSpPr>
        <p:spPr>
          <a:xfrm>
            <a:off x="658368" y="5815584"/>
            <a:ext cx="4434840" cy="219456"/>
          </a:xfrm>
          <a:prstGeom prst="rect">
            <a:avLst/>
          </a:prstGeom>
          <a:noFill/>
        </p:spPr>
        <p:txBody>
          <a:bodyPr wrap="square" lIns="0" rIns="0" tIns="0" bIns="0" anchor="t">
            <a:noAutofit/>
          </a:bodyPr>
          <a:lstStyle/>
          <a:p>
            <a:pPr algn="l">
              <a:lnSpc>
                <a:spcPct val="100000"/>
              </a:lnSpc>
              <a:spcAft>
                <a:spcPts val="0"/>
              </a:spcAft>
            </a:pPr>
            <a:r>
              <a:rPr sz="950" b="0" i="0">
                <a:solidFill>
                  <a:srgbClr val="718291"/>
                </a:solidFill>
                <a:latin typeface="Arial"/>
              </a:rPr>
              <a:t>investors@samuelspace.com  (placeholder)</a:t>
            </a:r>
          </a:p>
        </p:txBody>
      </p:sp>
      <p:sp>
        <p:nvSpPr>
          <p:cNvPr id="15" name="Oval 14"/>
          <p:cNvSpPr/>
          <p:nvPr/>
        </p:nvSpPr>
        <p:spPr>
          <a:xfrm>
            <a:off x="7437500" y="1308826"/>
            <a:ext cx="4363974" cy="4363974"/>
          </a:xfrm>
          <a:prstGeom prst="ellipse">
            <a:avLst/>
          </a:prstGeom>
          <a:solidFill>
            <a:srgbClr val="DD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4817" y="1876143"/>
            <a:ext cx="3229340" cy="3229340"/>
          </a:xfrm>
          <a:prstGeom prst="ellipse">
            <a:avLst/>
          </a:prstGeom>
          <a:solidFill>
            <a:srgbClr val="C7EC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rot="20880000">
            <a:off x="7481140" y="2508919"/>
            <a:ext cx="4276694" cy="1963788"/>
          </a:xfrm>
          <a:prstGeom prst="ellipse">
            <a:avLst/>
          </a:prstGeom>
          <a:noFill/>
          <a:ln w="13970">
            <a:solidFill>
              <a:srgbClr val="00A8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rot="1080000">
            <a:off x="7764799" y="2181621"/>
            <a:ext cx="3709377" cy="2618384"/>
          </a:xfrm>
          <a:prstGeom prst="ellipse">
            <a:avLst/>
          </a:prstGeom>
          <a:noFill/>
          <a:ln w="13970">
            <a:solidFill>
              <a:srgbClr val="3C6E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rot="2880000">
            <a:off x="8201196" y="1527025"/>
            <a:ext cx="2836583" cy="3927576"/>
          </a:xfrm>
          <a:prstGeom prst="ellipse">
            <a:avLst/>
          </a:prstGeom>
          <a:noFill/>
          <a:ln w="13970">
            <a:solidFill>
              <a:srgbClr val="183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46693" y="2901676"/>
            <a:ext cx="1745589" cy="1178272"/>
          </a:xfrm>
          <a:prstGeom prst="roundRect">
            <a:avLst/>
          </a:prstGeom>
          <a:solidFill>
            <a:srgbClr val="FFFFFF"/>
          </a:solidFill>
          <a:ln w="10160">
            <a:solidFill>
              <a:srgbClr val="BFD8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8355" y="3325855"/>
            <a:ext cx="314206" cy="329916"/>
          </a:xfrm>
          <a:prstGeom prst="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84576" y="3266941"/>
            <a:ext cx="331662" cy="76587"/>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84576" y="3479030"/>
            <a:ext cx="488765" cy="76587"/>
          </a:xfrm>
          <a:prstGeom prst="round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84576" y="3691119"/>
            <a:ext cx="593500" cy="76587"/>
          </a:xfrm>
          <a:prstGeom prst="roundRect">
            <a:avLst/>
          </a:prstGeom>
          <a:solidFill>
            <a:srgbClr val="D7A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884808" y="2367090"/>
            <a:ext cx="240018" cy="240018"/>
          </a:xfrm>
          <a:prstGeom prst="ellipse">
            <a:avLst/>
          </a:prstGeom>
          <a:solidFill>
            <a:srgbClr val="00A88F"/>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922134" y="2044156"/>
            <a:ext cx="187650" cy="187650"/>
          </a:xfrm>
          <a:prstGeom prst="ellipse">
            <a:avLst/>
          </a:prstGeom>
          <a:solidFill>
            <a:srgbClr val="183A5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277798" y="4232689"/>
            <a:ext cx="261838" cy="261838"/>
          </a:xfrm>
          <a:prstGeom prst="ellipse">
            <a:avLst/>
          </a:prstGeom>
          <a:solidFill>
            <a:srgbClr val="D7A747"/>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12106" y="4745455"/>
            <a:ext cx="196378" cy="196378"/>
          </a:xfrm>
          <a:prstGeom prst="ellipse">
            <a:avLst/>
          </a:prstGeom>
          <a:solidFill>
            <a:srgbClr val="3C6E9B"/>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892236" y="1625214"/>
            <a:ext cx="152739" cy="152739"/>
          </a:xfrm>
          <a:prstGeom prst="ellipse">
            <a:avLst/>
          </a:prstGeom>
          <a:solidFill>
            <a:srgbClr val="007F72"/>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967728" y="1005840"/>
            <a:ext cx="1188720"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67728" y="1014984"/>
            <a:ext cx="1188720" cy="246888"/>
          </a:xfrm>
          <a:prstGeom prst="rect">
            <a:avLst/>
          </a:prstGeom>
          <a:noFill/>
        </p:spPr>
        <p:txBody>
          <a:bodyPr wrap="square" lIns="0" rIns="0" tIns="0" bIns="0" anchor="ctr">
            <a:noAutofit/>
          </a:bodyPr>
          <a:lstStyle/>
          <a:p>
            <a:pPr algn="ctr">
              <a:lnSpc>
                <a:spcPct val="100000"/>
              </a:lnSpc>
              <a:spcAft>
                <a:spcPts val="0"/>
              </a:spcAft>
            </a:pPr>
            <a:r>
              <a:rPr sz="800" b="1" i="0">
                <a:solidFill>
                  <a:srgbClr val="007F72"/>
                </a:solidFill>
                <a:latin typeface="Arial"/>
              </a:rPr>
              <a:t>PROVEN SCIENCE</a:t>
            </a:r>
          </a:p>
        </p:txBody>
      </p:sp>
      <p:sp>
        <p:nvSpPr>
          <p:cNvPr id="32" name="Rounded Rectangle 31"/>
          <p:cNvSpPr/>
          <p:nvPr/>
        </p:nvSpPr>
        <p:spPr>
          <a:xfrm>
            <a:off x="9372600" y="5422392"/>
            <a:ext cx="1920240" cy="25603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72600" y="5431536"/>
            <a:ext cx="1920240" cy="246888"/>
          </a:xfrm>
          <a:prstGeom prst="rect">
            <a:avLst/>
          </a:prstGeom>
          <a:noFill/>
        </p:spPr>
        <p:txBody>
          <a:bodyPr wrap="square" lIns="0" rIns="0" tIns="0" bIns="0" anchor="ctr">
            <a:noAutofit/>
          </a:bodyPr>
          <a:lstStyle/>
          <a:p>
            <a:pPr algn="ctr">
              <a:lnSpc>
                <a:spcPct val="100000"/>
              </a:lnSpc>
              <a:spcAft>
                <a:spcPts val="0"/>
              </a:spcAft>
            </a:pPr>
            <a:r>
              <a:rPr sz="800" b="1" i="0">
                <a:solidFill>
                  <a:srgbClr val="183A5A"/>
                </a:solidFill>
                <a:latin typeface="Arial"/>
              </a:rPr>
              <a:t>COMMERCIAL INFRASTRUCTURE</a:t>
            </a:r>
          </a:p>
        </p:txBody>
      </p:sp>
      <p:sp>
        <p:nvSpPr>
          <p:cNvPr id="34" name="TextBox 33"/>
          <p:cNvSpPr txBox="1"/>
          <p:nvPr/>
        </p:nvSpPr>
        <p:spPr>
          <a:xfrm>
            <a:off x="11292840" y="6473952"/>
            <a:ext cx="365760" cy="164592"/>
          </a:xfrm>
          <a:prstGeom prst="rect">
            <a:avLst/>
          </a:prstGeom>
          <a:noFill/>
        </p:spPr>
        <p:txBody>
          <a:bodyPr wrap="square" lIns="0" rIns="0" tIns="0" bIns="0" anchor="t">
            <a:noAutofit/>
          </a:bodyPr>
          <a:lstStyle/>
          <a:p>
            <a:pPr algn="r">
              <a:lnSpc>
                <a:spcPct val="100000"/>
              </a:lnSpc>
              <a:spcAft>
                <a:spcPts val="0"/>
              </a:spcAft>
            </a:pPr>
            <a:r>
              <a:rPr sz="700" b="1" i="0">
                <a:solidFill>
                  <a:srgbClr val="718291"/>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320040"/>
            <a:ext cx="274320" cy="4114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46888"/>
            <a:ext cx="4389120" cy="182880"/>
          </a:xfrm>
          <a:prstGeom prst="rect">
            <a:avLst/>
          </a:prstGeom>
          <a:noFill/>
        </p:spPr>
        <p:txBody>
          <a:bodyPr wrap="square" lIns="0" rIns="0" tIns="0" bIns="0" anchor="ctr">
            <a:noAutofit/>
          </a:bodyPr>
          <a:lstStyle/>
          <a:p>
            <a:pPr algn="l">
              <a:lnSpc>
                <a:spcPct val="100000"/>
              </a:lnSpc>
              <a:spcAft>
                <a:spcPts val="0"/>
              </a:spcAft>
            </a:pPr>
            <a:r>
              <a:rPr sz="780" b="1" i="0">
                <a:solidFill>
                  <a:srgbClr val="007F72"/>
                </a:solidFill>
                <a:latin typeface="Arial"/>
              </a:rPr>
              <a:t>APPENDIX</a:t>
            </a:r>
          </a:p>
        </p:txBody>
      </p:sp>
      <p:sp>
        <p:nvSpPr>
          <p:cNvPr id="5" name="Rounded Rectangle 4"/>
          <p:cNvSpPr/>
          <p:nvPr/>
        </p:nvSpPr>
        <p:spPr>
          <a:xfrm>
            <a:off x="10652760" y="228600"/>
            <a:ext cx="1033271" cy="228600"/>
          </a:xfrm>
          <a:prstGeom prst="roundRect">
            <a:avLst/>
          </a:prstGeom>
          <a:solidFill>
            <a:srgbClr val="E7EF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52760" y="237744"/>
            <a:ext cx="1033271" cy="219456"/>
          </a:xfrm>
          <a:prstGeom prst="rect">
            <a:avLst/>
          </a:prstGeom>
          <a:noFill/>
        </p:spPr>
        <p:txBody>
          <a:bodyPr wrap="square" lIns="0" rIns="0" tIns="0" bIns="0" anchor="ctr">
            <a:noAutofit/>
          </a:bodyPr>
          <a:lstStyle/>
          <a:p>
            <a:pPr algn="ctr">
              <a:lnSpc>
                <a:spcPct val="100000"/>
              </a:lnSpc>
              <a:spcAft>
                <a:spcPts val="0"/>
              </a:spcAft>
            </a:pPr>
            <a:r>
              <a:rPr sz="680" b="1" i="0">
                <a:solidFill>
                  <a:srgbClr val="516577"/>
                </a:solidFill>
                <a:latin typeface="Arial"/>
              </a:rPr>
              <a:t>CONFIDENTIAL</a:t>
            </a:r>
          </a:p>
        </p:txBody>
      </p:sp>
      <p:sp>
        <p:nvSpPr>
          <p:cNvPr id="7" name="TextBox 6"/>
          <p:cNvSpPr txBox="1"/>
          <p:nvPr/>
        </p:nvSpPr>
        <p:spPr>
          <a:xfrm>
            <a:off x="502920" y="530352"/>
            <a:ext cx="10789920" cy="429768"/>
          </a:xfrm>
          <a:prstGeom prst="rect">
            <a:avLst/>
          </a:prstGeom>
          <a:noFill/>
        </p:spPr>
        <p:txBody>
          <a:bodyPr wrap="square" lIns="0" rIns="0" tIns="0" bIns="0" anchor="ctr">
            <a:noAutofit/>
          </a:bodyPr>
          <a:lstStyle/>
          <a:p>
            <a:pPr algn="l">
              <a:lnSpc>
                <a:spcPct val="100000"/>
              </a:lnSpc>
              <a:spcAft>
                <a:spcPts val="0"/>
              </a:spcAft>
            </a:pPr>
            <a:r>
              <a:rPr sz="2550" b="1" i="0">
                <a:solidFill>
                  <a:srgbClr val="0B2035"/>
                </a:solidFill>
                <a:latin typeface="Arial"/>
              </a:rPr>
              <a:t>Sources &amp; References</a:t>
            </a:r>
          </a:p>
        </p:txBody>
      </p:sp>
      <p:cxnSp>
        <p:nvCxnSpPr>
          <p:cNvPr id="8" name="Connector 7"/>
          <p:cNvCxnSpPr/>
          <p:nvPr/>
        </p:nvCxnSpPr>
        <p:spPr>
          <a:xfrm>
            <a:off x="502920" y="6473952"/>
            <a:ext cx="11183112" cy="0"/>
          </a:xfrm>
          <a:prstGeom prst="line">
            <a:avLst/>
          </a:prstGeom>
          <a:ln w="7620">
            <a:solidFill>
              <a:srgbClr val="D7E1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21207" y="6620255"/>
            <a:ext cx="54864" cy="54864"/>
          </a:xfrm>
          <a:prstGeom prst="ellipse">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7044" y="6565392"/>
            <a:ext cx="54864" cy="54864"/>
          </a:xfrm>
          <a:prstGeom prst="ellipse">
            <a:avLst/>
          </a:prstGeom>
          <a:solidFill>
            <a:srgbClr val="183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87044" y="6675120"/>
            <a:ext cx="54864" cy="54864"/>
          </a:xfrm>
          <a:prstGeom prst="ellipse">
            <a:avLst/>
          </a:prstGeom>
          <a:solidFill>
            <a:srgbClr val="C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2881" y="6620255"/>
            <a:ext cx="54864" cy="54864"/>
          </a:xfrm>
          <a:prstGeom prst="ellipse">
            <a:avLst/>
          </a:prstGeom>
          <a:solidFill>
            <a:srgbClr val="007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6547104"/>
            <a:ext cx="2286000" cy="137160"/>
          </a:xfrm>
          <a:prstGeom prst="rect">
            <a:avLst/>
          </a:prstGeom>
          <a:noFill/>
        </p:spPr>
        <p:txBody>
          <a:bodyPr wrap="square" lIns="0" rIns="0" tIns="0" bIns="0" anchor="ctr">
            <a:noAutofit/>
          </a:bodyPr>
          <a:lstStyle/>
          <a:p>
            <a:pPr algn="l">
              <a:lnSpc>
                <a:spcPct val="100000"/>
              </a:lnSpc>
              <a:spcAft>
                <a:spcPts val="0"/>
              </a:spcAft>
            </a:pPr>
            <a:r>
              <a:rPr sz="670" b="1" i="0">
                <a:solidFill>
                  <a:srgbClr val="718291"/>
                </a:solidFill>
                <a:latin typeface="Arial"/>
              </a:rPr>
              <a:t>SAMUEL SPACE  /  CONFIDENTIAL</a:t>
            </a:r>
          </a:p>
        </p:txBody>
      </p:sp>
      <p:sp>
        <p:nvSpPr>
          <p:cNvPr id="14" name="TextBox 13"/>
          <p:cNvSpPr txBox="1"/>
          <p:nvPr/>
        </p:nvSpPr>
        <p:spPr>
          <a:xfrm>
            <a:off x="11201400" y="6528816"/>
            <a:ext cx="457200" cy="164592"/>
          </a:xfrm>
          <a:prstGeom prst="rect">
            <a:avLst/>
          </a:prstGeom>
          <a:noFill/>
        </p:spPr>
        <p:txBody>
          <a:bodyPr wrap="square" lIns="0" rIns="0" tIns="0" bIns="0" anchor="ctr">
            <a:noAutofit/>
          </a:bodyPr>
          <a:lstStyle/>
          <a:p>
            <a:pPr algn="r">
              <a:lnSpc>
                <a:spcPct val="100000"/>
              </a:lnSpc>
              <a:spcAft>
                <a:spcPts val="0"/>
              </a:spcAft>
            </a:pPr>
            <a:r>
              <a:rPr sz="700" b="1" i="0">
                <a:solidFill>
                  <a:srgbClr val="718291"/>
                </a:solidFill>
                <a:latin typeface="Arial"/>
              </a:rPr>
              <a:t>21</a:t>
            </a:r>
          </a:p>
        </p:txBody>
      </p:sp>
      <p:sp>
        <p:nvSpPr>
          <p:cNvPr id="15" name="Rounded Rectangle 14"/>
          <p:cNvSpPr/>
          <p:nvPr/>
        </p:nvSpPr>
        <p:spPr>
          <a:xfrm>
            <a:off x="502920" y="1307592"/>
            <a:ext cx="5477256" cy="3621024"/>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1307592"/>
            <a:ext cx="5477256" cy="64008"/>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609344"/>
            <a:ext cx="4754880" cy="219456"/>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BIOPRINTING SCIENCE &amp; TECHNOLOGY</a:t>
            </a:r>
          </a:p>
        </p:txBody>
      </p:sp>
      <p:sp>
        <p:nvSpPr>
          <p:cNvPr id="18" name="TextBox 17"/>
          <p:cNvSpPr txBox="1"/>
          <p:nvPr/>
        </p:nvSpPr>
        <p:spPr>
          <a:xfrm>
            <a:off x="777240" y="1993392"/>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01</a:t>
            </a:r>
          </a:p>
        </p:txBody>
      </p:sp>
      <p:sp>
        <p:nvSpPr>
          <p:cNvPr id="19" name="TextBox 18"/>
          <p:cNvSpPr txBox="1"/>
          <p:nvPr/>
        </p:nvSpPr>
        <p:spPr>
          <a:xfrm>
            <a:off x="1197864" y="1984248"/>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NASA — “3D Bioprinting” research overview, ISS Research program page</a:t>
            </a:r>
          </a:p>
        </p:txBody>
      </p:sp>
      <p:cxnSp>
        <p:nvCxnSpPr>
          <p:cNvPr id="20" name="Connector 19"/>
          <p:cNvCxnSpPr/>
          <p:nvPr/>
        </p:nvCxnSpPr>
        <p:spPr>
          <a:xfrm>
            <a:off x="1197864" y="2286000"/>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2377440"/>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02</a:t>
            </a:r>
          </a:p>
        </p:txBody>
      </p:sp>
      <p:sp>
        <p:nvSpPr>
          <p:cNvPr id="22" name="TextBox 21"/>
          <p:cNvSpPr txBox="1"/>
          <p:nvPr/>
        </p:nvSpPr>
        <p:spPr>
          <a:xfrm>
            <a:off x="1197864" y="2368296"/>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NASA — BioFabrication Facility mission page; Redwire Corporation</a:t>
            </a:r>
          </a:p>
        </p:txBody>
      </p:sp>
      <p:cxnSp>
        <p:nvCxnSpPr>
          <p:cNvPr id="23" name="Connector 22"/>
          <p:cNvCxnSpPr/>
          <p:nvPr/>
        </p:nvCxnSpPr>
        <p:spPr>
          <a:xfrm>
            <a:off x="1197864" y="2670048"/>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2761488"/>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03</a:t>
            </a:r>
          </a:p>
        </p:txBody>
      </p:sp>
      <p:sp>
        <p:nvSpPr>
          <p:cNvPr id="25" name="TextBox 24"/>
          <p:cNvSpPr txBox="1"/>
          <p:nvPr/>
        </p:nvSpPr>
        <p:spPr>
          <a:xfrm>
            <a:off x="1197864" y="2752344"/>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Redwire — BFF-Meniscus first human knee meniscus printed in orbit, Sep 2023</a:t>
            </a:r>
          </a:p>
        </p:txBody>
      </p:sp>
      <p:cxnSp>
        <p:nvCxnSpPr>
          <p:cNvPr id="26" name="Connector 25"/>
          <p:cNvCxnSpPr/>
          <p:nvPr/>
        </p:nvCxnSpPr>
        <p:spPr>
          <a:xfrm>
            <a:off x="1197864" y="3054096"/>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3145536"/>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04</a:t>
            </a:r>
          </a:p>
        </p:txBody>
      </p:sp>
      <p:sp>
        <p:nvSpPr>
          <p:cNvPr id="28" name="TextBox 27"/>
          <p:cNvSpPr txBox="1"/>
          <p:nvPr/>
        </p:nvSpPr>
        <p:spPr>
          <a:xfrm>
            <a:off x="1197864" y="3136392"/>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Redwire — BFF-Cardiac investigation announcements and ISS return coverage, 2024</a:t>
            </a:r>
          </a:p>
        </p:txBody>
      </p:sp>
      <p:cxnSp>
        <p:nvCxnSpPr>
          <p:cNvPr id="29" name="Connector 28"/>
          <p:cNvCxnSpPr/>
          <p:nvPr/>
        </p:nvCxnSpPr>
        <p:spPr>
          <a:xfrm>
            <a:off x="1197864" y="3438144"/>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3529584"/>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05</a:t>
            </a:r>
          </a:p>
        </p:txBody>
      </p:sp>
      <p:sp>
        <p:nvSpPr>
          <p:cNvPr id="31" name="TextBox 30"/>
          <p:cNvSpPr txBox="1"/>
          <p:nvPr/>
        </p:nvSpPr>
        <p:spPr>
          <a:xfrm>
            <a:off x="1197864" y="3520440"/>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Redwire — NASA IDIQ contract award coverage, Sep 2025</a:t>
            </a:r>
          </a:p>
        </p:txBody>
      </p:sp>
      <p:cxnSp>
        <p:nvCxnSpPr>
          <p:cNvPr id="32" name="Connector 31"/>
          <p:cNvCxnSpPr/>
          <p:nvPr/>
        </p:nvCxnSpPr>
        <p:spPr>
          <a:xfrm>
            <a:off x="1197864" y="3822192"/>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77240" y="3913632"/>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06</a:t>
            </a:r>
          </a:p>
        </p:txBody>
      </p:sp>
      <p:sp>
        <p:nvSpPr>
          <p:cNvPr id="34" name="TextBox 33"/>
          <p:cNvSpPr txBox="1"/>
          <p:nvPr/>
        </p:nvSpPr>
        <p:spPr>
          <a:xfrm>
            <a:off x="1197864" y="3904488"/>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ESA / DLR — Bioprint FirstAid overview; Cosmic Kiss mission materials</a:t>
            </a:r>
          </a:p>
        </p:txBody>
      </p:sp>
      <p:cxnSp>
        <p:nvCxnSpPr>
          <p:cNvPr id="35" name="Connector 34"/>
          <p:cNvCxnSpPr/>
          <p:nvPr/>
        </p:nvCxnSpPr>
        <p:spPr>
          <a:xfrm>
            <a:off x="1197864" y="4206240"/>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4297680"/>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00A88F"/>
                </a:solidFill>
                <a:latin typeface="Arial"/>
              </a:rPr>
              <a:t>07</a:t>
            </a:r>
          </a:p>
        </p:txBody>
      </p:sp>
      <p:sp>
        <p:nvSpPr>
          <p:cNvPr id="37" name="TextBox 36"/>
          <p:cNvSpPr txBox="1"/>
          <p:nvPr/>
        </p:nvSpPr>
        <p:spPr>
          <a:xfrm>
            <a:off x="1197864" y="4288536"/>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LambdaVision — Space Tango partnership, NASA InSPA Phase 2 award, seed financing, 2025–2026</a:t>
            </a:r>
          </a:p>
        </p:txBody>
      </p:sp>
      <p:sp>
        <p:nvSpPr>
          <p:cNvPr id="38" name="Rounded Rectangle 37"/>
          <p:cNvSpPr/>
          <p:nvPr/>
        </p:nvSpPr>
        <p:spPr>
          <a:xfrm>
            <a:off x="6208776" y="1307592"/>
            <a:ext cx="5477256" cy="3621024"/>
          </a:xfrm>
          <a:prstGeom prst="roundRect">
            <a:avLst/>
          </a:prstGeom>
          <a:solidFill>
            <a:srgbClr val="FFFFFF"/>
          </a:solidFill>
          <a:ln w="1016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08776" y="1307592"/>
            <a:ext cx="5477256" cy="64008"/>
          </a:xfrm>
          <a:prstGeom prst="rect">
            <a:avLst/>
          </a:prstGeom>
          <a:solidFill>
            <a:srgbClr val="3C6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83096" y="1609344"/>
            <a:ext cx="4754880" cy="219456"/>
          </a:xfrm>
          <a:prstGeom prst="rect">
            <a:avLst/>
          </a:prstGeom>
          <a:noFill/>
        </p:spPr>
        <p:txBody>
          <a:bodyPr wrap="square" lIns="0" rIns="0" tIns="0" bIns="0" anchor="t">
            <a:noAutofit/>
          </a:bodyPr>
          <a:lstStyle/>
          <a:p>
            <a:pPr algn="l">
              <a:lnSpc>
                <a:spcPct val="100000"/>
              </a:lnSpc>
              <a:spcAft>
                <a:spcPts val="0"/>
              </a:spcAft>
            </a:pPr>
            <a:r>
              <a:rPr sz="819" b="1" i="0">
                <a:solidFill>
                  <a:srgbClr val="0B2035"/>
                </a:solidFill>
                <a:latin typeface="Arial"/>
              </a:rPr>
              <a:t>MARKET, REGULATORY &amp; INDUSTRY DATA</a:t>
            </a:r>
          </a:p>
        </p:txBody>
      </p:sp>
      <p:sp>
        <p:nvSpPr>
          <p:cNvPr id="41" name="TextBox 40"/>
          <p:cNvSpPr txBox="1"/>
          <p:nvPr/>
        </p:nvSpPr>
        <p:spPr>
          <a:xfrm>
            <a:off x="6483096" y="1993392"/>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01</a:t>
            </a:r>
          </a:p>
        </p:txBody>
      </p:sp>
      <p:sp>
        <p:nvSpPr>
          <p:cNvPr id="42" name="TextBox 41"/>
          <p:cNvSpPr txBox="1"/>
          <p:nvPr/>
        </p:nvSpPr>
        <p:spPr>
          <a:xfrm>
            <a:off x="6903720" y="1984248"/>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ROSCOSMOS — 3D MBP / Organ.Aut magnetic bioprinter mission summaries, 2018–2020</a:t>
            </a:r>
          </a:p>
        </p:txBody>
      </p:sp>
      <p:cxnSp>
        <p:nvCxnSpPr>
          <p:cNvPr id="43" name="Connector 42"/>
          <p:cNvCxnSpPr/>
          <p:nvPr/>
        </p:nvCxnSpPr>
        <p:spPr>
          <a:xfrm>
            <a:off x="6903720" y="2286000"/>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483096" y="2377440"/>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02</a:t>
            </a:r>
          </a:p>
        </p:txBody>
      </p:sp>
      <p:sp>
        <p:nvSpPr>
          <p:cNvPr id="45" name="TextBox 44"/>
          <p:cNvSpPr txBox="1"/>
          <p:nvPr/>
        </p:nvSpPr>
        <p:spPr>
          <a:xfrm>
            <a:off x="6903720" y="2368296"/>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American Heart Association — 2025 Heart Disease &amp; Stroke Statistics Update</a:t>
            </a:r>
          </a:p>
        </p:txBody>
      </p:sp>
      <p:cxnSp>
        <p:nvCxnSpPr>
          <p:cNvPr id="46" name="Connector 45"/>
          <p:cNvCxnSpPr/>
          <p:nvPr/>
        </p:nvCxnSpPr>
        <p:spPr>
          <a:xfrm>
            <a:off x="6903720" y="2670048"/>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483096" y="2761488"/>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03</a:t>
            </a:r>
          </a:p>
        </p:txBody>
      </p:sp>
      <p:sp>
        <p:nvSpPr>
          <p:cNvPr id="48" name="TextBox 47"/>
          <p:cNvSpPr txBox="1"/>
          <p:nvPr/>
        </p:nvSpPr>
        <p:spPr>
          <a:xfrm>
            <a:off x="6903720" y="2752344"/>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OPTN / organdonor.gov (HRSA) — U.S. transplant waiting list data, 2025</a:t>
            </a:r>
          </a:p>
        </p:txBody>
      </p:sp>
      <p:cxnSp>
        <p:nvCxnSpPr>
          <p:cNvPr id="49" name="Connector 48"/>
          <p:cNvCxnSpPr/>
          <p:nvPr/>
        </p:nvCxnSpPr>
        <p:spPr>
          <a:xfrm>
            <a:off x="6903720" y="3054096"/>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483096" y="3145536"/>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04</a:t>
            </a:r>
          </a:p>
        </p:txBody>
      </p:sp>
      <p:sp>
        <p:nvSpPr>
          <p:cNvPr id="51" name="TextBox 50"/>
          <p:cNvSpPr txBox="1"/>
          <p:nvPr/>
        </p:nvSpPr>
        <p:spPr>
          <a:xfrm>
            <a:off x="6903720" y="3136392"/>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World Health Organization — Global Observatory on Donation and Transplantation</a:t>
            </a:r>
          </a:p>
        </p:txBody>
      </p:sp>
      <p:cxnSp>
        <p:nvCxnSpPr>
          <p:cNvPr id="52" name="Connector 51"/>
          <p:cNvCxnSpPr/>
          <p:nvPr/>
        </p:nvCxnSpPr>
        <p:spPr>
          <a:xfrm>
            <a:off x="6903720" y="3438144"/>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83096" y="3529584"/>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05</a:t>
            </a:r>
          </a:p>
        </p:txBody>
      </p:sp>
      <p:sp>
        <p:nvSpPr>
          <p:cNvPr id="54" name="TextBox 53"/>
          <p:cNvSpPr txBox="1"/>
          <p:nvPr/>
        </p:nvSpPr>
        <p:spPr>
          <a:xfrm>
            <a:off x="6903720" y="3520440"/>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Mordor Intelligence — 3D Bioprinting Market Report, updated Jan 2026</a:t>
            </a:r>
          </a:p>
        </p:txBody>
      </p:sp>
      <p:cxnSp>
        <p:nvCxnSpPr>
          <p:cNvPr id="55" name="Connector 54"/>
          <p:cNvCxnSpPr/>
          <p:nvPr/>
        </p:nvCxnSpPr>
        <p:spPr>
          <a:xfrm>
            <a:off x="6903720" y="3822192"/>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483096" y="3913632"/>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06</a:t>
            </a:r>
          </a:p>
        </p:txBody>
      </p:sp>
      <p:sp>
        <p:nvSpPr>
          <p:cNvPr id="57" name="TextBox 56"/>
          <p:cNvSpPr txBox="1"/>
          <p:nvPr/>
        </p:nvSpPr>
        <p:spPr>
          <a:xfrm>
            <a:off x="6903720" y="3904488"/>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U.S. FDA — Symvess tissue-engineered vessel clearance announcement, Dec 2024</a:t>
            </a:r>
          </a:p>
        </p:txBody>
      </p:sp>
      <p:cxnSp>
        <p:nvCxnSpPr>
          <p:cNvPr id="58" name="Connector 57"/>
          <p:cNvCxnSpPr/>
          <p:nvPr/>
        </p:nvCxnSpPr>
        <p:spPr>
          <a:xfrm>
            <a:off x="6903720" y="4206240"/>
            <a:ext cx="4407408" cy="0"/>
          </a:xfrm>
          <a:prstGeom prst="line">
            <a:avLst/>
          </a:prstGeom>
          <a:ln w="6350">
            <a:solidFill>
              <a:srgbClr val="E6EDF2"/>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83096" y="4297680"/>
            <a:ext cx="347472" cy="182880"/>
          </a:xfrm>
          <a:prstGeom prst="rect">
            <a:avLst/>
          </a:prstGeom>
          <a:noFill/>
        </p:spPr>
        <p:txBody>
          <a:bodyPr wrap="square" lIns="0" rIns="0" tIns="0" bIns="0" anchor="t">
            <a:noAutofit/>
          </a:bodyPr>
          <a:lstStyle/>
          <a:p>
            <a:pPr algn="l">
              <a:lnSpc>
                <a:spcPct val="100000"/>
              </a:lnSpc>
              <a:spcAft>
                <a:spcPts val="0"/>
              </a:spcAft>
            </a:pPr>
            <a:r>
              <a:rPr sz="670" b="1" i="0">
                <a:solidFill>
                  <a:srgbClr val="3C6E9B"/>
                </a:solidFill>
                <a:latin typeface="Arial"/>
              </a:rPr>
              <a:t>07</a:t>
            </a:r>
          </a:p>
        </p:txBody>
      </p:sp>
      <p:sp>
        <p:nvSpPr>
          <p:cNvPr id="60" name="TextBox 59"/>
          <p:cNvSpPr txBox="1"/>
          <p:nvPr/>
        </p:nvSpPr>
        <p:spPr>
          <a:xfrm>
            <a:off x="6903720" y="4288536"/>
            <a:ext cx="4416552" cy="283464"/>
          </a:xfrm>
          <a:prstGeom prst="rect">
            <a:avLst/>
          </a:prstGeom>
          <a:noFill/>
        </p:spPr>
        <p:txBody>
          <a:bodyPr wrap="square" lIns="0" rIns="0" tIns="0" bIns="0" anchor="t">
            <a:noAutofit/>
          </a:bodyPr>
          <a:lstStyle/>
          <a:p>
            <a:pPr algn="l">
              <a:lnSpc>
                <a:spcPct val="100000"/>
              </a:lnSpc>
              <a:spcAft>
                <a:spcPts val="0"/>
              </a:spcAft>
            </a:pPr>
            <a:r>
              <a:rPr sz="790" b="0" i="0">
                <a:solidFill>
                  <a:srgbClr val="516577"/>
                </a:solidFill>
                <a:latin typeface="Arial"/>
              </a:rPr>
              <a:t>NASA Commercial LEO Destinations — Starlab, Axiom, Orbital Reef, Vast program pages</a:t>
            </a:r>
          </a:p>
        </p:txBody>
      </p:sp>
      <p:sp>
        <p:nvSpPr>
          <p:cNvPr id="61" name="Rounded Rectangle 60"/>
          <p:cNvSpPr/>
          <p:nvPr/>
        </p:nvSpPr>
        <p:spPr>
          <a:xfrm>
            <a:off x="502920" y="5175504"/>
            <a:ext cx="11183112" cy="1106424"/>
          </a:xfrm>
          <a:prstGeom prst="roundRect">
            <a:avLst/>
          </a:prstGeom>
          <a:solidFill>
            <a:srgbClr val="0B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02920" y="5175504"/>
            <a:ext cx="91440" cy="1106424"/>
          </a:xfrm>
          <a:prstGeom prst="rect">
            <a:avLst/>
          </a:prstGeom>
          <a:solidFill>
            <a:srgbClr val="00A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5528" y="5422392"/>
            <a:ext cx="2057400" cy="201168"/>
          </a:xfrm>
          <a:prstGeom prst="rect">
            <a:avLst/>
          </a:prstGeom>
          <a:noFill/>
        </p:spPr>
        <p:txBody>
          <a:bodyPr wrap="square" lIns="0" rIns="0" tIns="0" bIns="0" anchor="t">
            <a:noAutofit/>
          </a:bodyPr>
          <a:lstStyle/>
          <a:p>
            <a:pPr algn="l">
              <a:lnSpc>
                <a:spcPct val="100000"/>
              </a:lnSpc>
              <a:spcAft>
                <a:spcPts val="0"/>
              </a:spcAft>
            </a:pPr>
            <a:r>
              <a:rPr sz="810" b="1" i="0">
                <a:solidFill>
                  <a:srgbClr val="C9EEE6"/>
                </a:solidFill>
                <a:latin typeface="Arial"/>
              </a:rPr>
              <a:t>A NOTE ON METHODOLOGY</a:t>
            </a:r>
          </a:p>
        </p:txBody>
      </p:sp>
      <p:sp>
        <p:nvSpPr>
          <p:cNvPr id="64" name="TextBox 63"/>
          <p:cNvSpPr txBox="1"/>
          <p:nvPr/>
        </p:nvSpPr>
        <p:spPr>
          <a:xfrm>
            <a:off x="2926080" y="5367528"/>
            <a:ext cx="8275320" cy="566928"/>
          </a:xfrm>
          <a:prstGeom prst="rect">
            <a:avLst/>
          </a:prstGeom>
          <a:noFill/>
        </p:spPr>
        <p:txBody>
          <a:bodyPr wrap="square" lIns="0" rIns="0" tIns="0" bIns="0" anchor="ctr">
            <a:noAutofit/>
          </a:bodyPr>
          <a:lstStyle/>
          <a:p>
            <a:pPr algn="l">
              <a:lnSpc>
                <a:spcPct val="100000"/>
              </a:lnSpc>
              <a:spcAft>
                <a:spcPts val="0"/>
              </a:spcAft>
            </a:pPr>
            <a:r>
              <a:rPr sz="880" b="0" i="0">
                <a:solidFill>
                  <a:srgbClr val="D7E3EA"/>
                </a:solidFill>
                <a:latin typeface="Arial"/>
              </a:rPr>
              <a:t>All third-party milestones, dates, and figures are drawn from the public sources above and were current as of the citation date shown. Samuel Space is an independent platform company; references to NASA, Redwire, LambdaVision, ROSCOSMOS, and ESA/DLR describe industry validation of the underlying science — not partnerships, endorsements, or affiliations with Samuel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dc:title>
  <dc:subject>Series A Financing — June 2026</dc:subject>
  <dc:creator>Samuel Space Organ and Tissue Engineering</dc:creator>
  <cp:keywords>bioprinting, microgravity, tissue engineering, investor presentation</cp:keywords>
  <dc:description>Professionally redesigned light-background investor presentation.</dc:description>
  <cp:lastModifiedBy>Steve Canny</cp:lastModifiedBy>
  <cp:revision>1</cp:revision>
  <dcterms:created xsi:type="dcterms:W3CDTF">2013-01-27T09:14:16Z</dcterms:created>
  <dcterms:modified xsi:type="dcterms:W3CDTF">2013-01-27T09:15:58Z</dcterms:modified>
  <cp:category/>
</cp:coreProperties>
</file>