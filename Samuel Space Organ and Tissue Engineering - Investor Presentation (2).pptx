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Share (%)</c:v>
                </c:pt>
              </c:strCache>
            </c:strRef>
          </c:tx>
          <c:spPr>
            <a:solidFill>
              <a:srgbClr val="0A6B63"/>
            </a:solidFill>
          </c:spPr>
          <c:cat>
            <c:strRef>
              <c:f>Sheet1!$A$2:$A$7</c:f>
              <c:strCache>
                <c:ptCount val="6"/>
                <c:pt idx="0">
                  <c:v>Kidney</c:v>
                </c:pt>
                <c:pt idx="1">
                  <c:v>Liver</c:v>
                </c:pt>
                <c:pt idx="2">
                  <c:v>Heart</c:v>
                </c:pt>
                <c:pt idx="3">
                  <c:v>Lung</c:v>
                </c:pt>
                <c:pt idx="4">
                  <c:v>Pancreas</c:v>
                </c:pt>
                <c:pt idx="5">
                  <c:v>Other</c:v>
                </c:pt>
              </c:strCache>
            </c:strRef>
          </c:cat>
          <c:val>
            <c:numRef>
              <c:f>Sheet1!$B$2:$B$7</c:f>
              <c:numCache>
                <c:formatCode>General</c:formatCode>
                <c:ptCount val="6"/>
                <c:pt idx="0">
                  <c:v>87.0</c:v>
                </c:pt>
                <c:pt idx="1">
                  <c:v>9.0</c:v>
                </c:pt>
                <c:pt idx="2">
                  <c:v>2.0</c:v>
                </c:pt>
                <c:pt idx="3">
                  <c:v>1.0</c:v>
                </c:pt>
                <c:pt idx="4">
                  <c:v>0.5</c:v>
                </c:pt>
                <c:pt idx="5">
                  <c:v>0.5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Market ($B)</c:v>
                </c:pt>
              </c:strCache>
            </c:strRef>
          </c:tx>
          <c:spPr>
            <a:solidFill>
              <a:srgbClr val="0A6B63"/>
            </a:solidFill>
          </c:spPr>
          <c:cat>
            <c:strRef>
              <c:f>Sheet1!$A$2:$A$9</c:f>
              <c:strCache>
                <c:ptCount val="8"/>
                <c:pt idx="0">
                  <c:v>2023</c:v>
                </c:pt>
                <c:pt idx="1">
                  <c:v>2024</c:v>
                </c:pt>
                <c:pt idx="2">
                  <c:v>2025E</c:v>
                </c:pt>
                <c:pt idx="3">
                  <c:v>2026E</c:v>
                </c:pt>
                <c:pt idx="4">
                  <c:v>2027E</c:v>
                </c:pt>
                <c:pt idx="5">
                  <c:v>2028E</c:v>
                </c:pt>
                <c:pt idx="6">
                  <c:v>2029E</c:v>
                </c:pt>
                <c:pt idx="7">
                  <c:v>2030E</c:v>
                </c:pt>
              </c:strCache>
            </c: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Contract Services ($M)</c:v>
                </c:pt>
              </c:strCache>
            </c:strRef>
          </c:tx>
          <c:spPr>
            <a:solidFill>
              <a:srgbClr val="0A6B63"/>
            </a:solidFill>
          </c:spPr>
          <c:cat>
            <c:strRef>
              <c:f>Sheet1!$A$2:$A$6</c:f>
              <c:strCache>
                <c:ptCount val="5"/>
                <c:pt idx="0">
                  <c:v>Yr 1</c:v>
                </c:pt>
                <c:pt idx="1">
                  <c:v>Yr 2</c:v>
                </c:pt>
                <c:pt idx="2">
                  <c:v>Yr 3</c:v>
                </c:pt>
                <c:pt idx="3">
                  <c:v>Yr 4</c:v>
                </c:pt>
                <c:pt idx="4">
                  <c:v>Yr 5</c:v>
                </c:pt>
              </c:strCache>
            </c:strRef>
          </c:cat>
          <c:val>
            <c:numRef>
              <c:f>Sheet1!$B$2:$B$6</c:f>
              <c:numCache>
                <c:formatCode>General</c:formatCode>
                <c:ptCount val="5"/>
                <c:pt idx="0">
                  <c:v>0.5</c:v>
                </c:pt>
                <c:pt idx="1">
                  <c:v>1.2</c:v>
                </c:pt>
                <c:pt idx="2">
                  <c:v>3.0</c:v>
                </c:pt>
                <c:pt idx="3">
                  <c:v>7.0</c:v>
                </c:pt>
                <c:pt idx="4">
                  <c:v>14.0</c:v>
                </c:pt>
              </c:numCache>
            </c:numRef>
          </c:val>
        </c:ser>
        <c:ser>
          <c:idx val="1"/>
          <c:order val="1"/>
          <c:tx>
            <c:strRef>
              <c:f>Sheet1!$C$1</c:f>
              <c:strCache>
                <c:ptCount val="1"/>
                <c:pt idx="0">
                  <c:v>Grant Revenue ($M)</c:v>
                </c:pt>
              </c:strCache>
            </c:strRef>
          </c:tx>
          <c:spPr>
            <a:solidFill>
              <a:srgbClr val="2F5D8A"/>
            </a:solidFill>
          </c:spPr>
          <c:cat>
            <c:strRef>
              <c:f>Sheet1!$A$2:$A$6</c:f>
              <c:strCache>
                <c:ptCount val="5"/>
                <c:pt idx="0">
                  <c:v>Yr 1</c:v>
                </c:pt>
                <c:pt idx="1">
                  <c:v>Yr 2</c:v>
                </c:pt>
                <c:pt idx="2">
                  <c:v>Yr 3</c:v>
                </c:pt>
                <c:pt idx="3">
                  <c:v>Yr 4</c:v>
                </c:pt>
                <c:pt idx="4">
                  <c:v>Yr 5</c:v>
                </c:pt>
              </c:strCache>
            </c:strRef>
          </c:cat>
          <c:val>
            <c:numRef>
              <c:f>Sheet1!$C$2:$C$6</c:f>
              <c:numCache>
                <c:formatCode>General</c:formatCode>
                <c:ptCount val="5"/>
                <c:pt idx="0">
                  <c:v>0.3</c:v>
                </c:pt>
                <c:pt idx="1">
                  <c:v>1.0</c:v>
                </c:pt>
                <c:pt idx="2">
                  <c:v>1.5</c:v>
                </c:pt>
                <c:pt idx="3">
                  <c:v>2.0</c:v>
                </c:pt>
                <c:pt idx="4">
                  <c:v>2.5</c:v>
                </c:pt>
              </c:numCache>
            </c:numRef>
          </c:val>
        </c:ser>
        <c:ser>
          <c:idx val="2"/>
          <c:order val="2"/>
          <c:tx>
            <c:strRef>
              <c:f>Sheet1!$D$1</c:f>
              <c:strCache>
                <c:ptCount val="1"/>
                <c:pt idx="0">
                  <c:v>IP Licensing ($M)</c:v>
                </c:pt>
              </c:strCache>
            </c:strRef>
          </c:tx>
          <c:spPr>
            <a:solidFill>
              <a:srgbClr val="8A6D3B"/>
            </a:solidFill>
          </c:spPr>
          <c:cat>
            <c:strRef>
              <c:f>Sheet1!$A$2:$A$6</c:f>
              <c:strCache>
                <c:ptCount val="5"/>
                <c:pt idx="0">
                  <c:v>Yr 1</c:v>
                </c:pt>
                <c:pt idx="1">
                  <c:v>Yr 2</c:v>
                </c:pt>
                <c:pt idx="2">
                  <c:v>Yr 3</c:v>
                </c:pt>
                <c:pt idx="3">
                  <c:v>Yr 4</c:v>
                </c:pt>
                <c:pt idx="4">
                  <c:v>Yr 5</c:v>
                </c:pt>
              </c:strCache>
            </c:strRef>
          </c:cat>
          <c:val>
            <c:numRef>
              <c:f>Sheet1!$D$2:$D$6</c:f>
              <c:numCache>
                <c:formatCode>General</c:formatCode>
                <c:ptCount val="5"/>
                <c:pt idx="0">
                  <c:v>0.0</c:v>
                </c:pt>
                <c:pt idx="1">
                  <c:v>0.2</c:v>
                </c:pt>
                <c:pt idx="2">
                  <c:v>1.6</c:v>
                </c:pt>
                <c:pt idx="3">
                  <c:v>4.5</c:v>
                </c:pt>
                <c:pt idx="4">
                  <c:v>7.7</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Use of Funds</c:v>
                </c:pt>
              </c:strCache>
            </c:strRef>
          </c:tx>
          <c:dPt>
            <c:idx val="0"/>
            <c:spPr>
              <a:solidFill>
                <a:srgbClr val="0A6B63"/>
              </a:solidFill>
            </c:spPr>
          </c:dPt>
          <c:dPt>
            <c:idx val="1"/>
            <c:spPr>
              <a:solidFill>
                <a:srgbClr val="2F5D8A"/>
              </a:solidFill>
            </c:spPr>
          </c:dPt>
          <c:dPt>
            <c:idx val="2"/>
            <c:spPr>
              <a:solidFill>
                <a:srgbClr val="8A6D3B"/>
              </a:solidFill>
            </c:spPr>
          </c:dPt>
          <c:dPt>
            <c:idx val="3"/>
            <c:spPr>
              <a:solidFill>
                <a:srgbClr val="5A6B7C"/>
              </a:solidFill>
            </c:spPr>
          </c:dPt>
          <c:dPt>
            <c:idx val="4"/>
            <c:spPr>
              <a:solidFill>
                <a:srgbClr val="A8B5C2"/>
              </a:solidFill>
            </c:spPr>
          </c:dPt>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formatCode>General</c:formatCode>
                <c:ptCount val="5"/>
                <c:pt idx="0">
                  <c:v>40.0</c:v>
                </c:pt>
                <c:pt idx="1">
                  <c:v>25.0</c:v>
                </c:pt>
                <c:pt idx="2">
                  <c:v>15.0</c:v>
                </c:pt>
                <c:pt idx="3">
                  <c:v>15.0</c:v>
                </c:pt>
                <c:pt idx="4">
                  <c:v>5.0</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502920"/>
            <a:ext cx="6949440" cy="320040"/>
          </a:xfrm>
          <a:prstGeom prst="rect">
            <a:avLst/>
          </a:prstGeom>
          <a:noFill/>
        </p:spPr>
        <p:txBody>
          <a:bodyPr wrap="square" anchor="t"/>
          <a:lstStyle/>
          <a:p>
            <a:pPr algn="l">
              <a:spcBef>
                <a:spcPts val="0"/>
              </a:spcBef>
              <a:spcAft>
                <a:spcPts val="0"/>
              </a:spcAft>
            </a:pPr>
            <a:r>
              <a:rPr sz="1200" b="1">
                <a:solidFill>
                  <a:srgbClr val="0A6B63"/>
                </a:solidFill>
                <a:latin typeface="Calibri"/>
              </a:rPr>
              <a:t>CONFIDENTIAL INVESTOR PRESENTATION</a:t>
            </a:r>
          </a:p>
        </p:txBody>
      </p:sp>
      <p:sp>
        <p:nvSpPr>
          <p:cNvPr id="4" name="TextBox 3"/>
          <p:cNvSpPr txBox="1"/>
          <p:nvPr/>
        </p:nvSpPr>
        <p:spPr>
          <a:xfrm>
            <a:off x="256032" y="1234440"/>
            <a:ext cx="7132320" cy="2560320"/>
          </a:xfrm>
          <a:prstGeom prst="rect">
            <a:avLst/>
          </a:prstGeom>
          <a:noFill/>
        </p:spPr>
        <p:txBody>
          <a:bodyPr wrap="square" anchor="t"/>
          <a:lstStyle/>
          <a:p>
            <a:pPr algn="l">
              <a:spcBef>
                <a:spcPts val="0"/>
              </a:spcBef>
              <a:spcAft>
                <a:spcPts val="0"/>
              </a:spcAft>
            </a:pPr>
            <a:r>
              <a:rPr sz="4600" b="1">
                <a:solidFill>
                  <a:srgbClr val="0B1F33"/>
                </a:solidFill>
                <a:latin typeface="Georgia"/>
              </a:rPr>
              <a:t>Samuel Space</a:t>
            </a:r>
          </a:p>
          <a:p>
            <a:pPr algn="l">
              <a:spcBef>
                <a:spcPts val="0"/>
              </a:spcBef>
              <a:spcAft>
                <a:spcPts val="0"/>
              </a:spcAft>
            </a:pPr>
            <a:r>
              <a:rPr sz="4600" b="1">
                <a:solidFill>
                  <a:srgbClr val="0B1F33"/>
                </a:solidFill>
                <a:latin typeface="Georgia"/>
              </a:rPr>
              <a:t>Organ and Tissue</a:t>
            </a:r>
          </a:p>
          <a:p>
            <a:pPr algn="l">
              <a:spcBef>
                <a:spcPts val="0"/>
              </a:spcBef>
              <a:spcAft>
                <a:spcPts val="0"/>
              </a:spcAft>
            </a:pPr>
            <a:r>
              <a:rPr sz="4600" b="1">
                <a:solidFill>
                  <a:srgbClr val="0B1F33"/>
                </a:solidFill>
                <a:latin typeface="Georgia"/>
              </a:rPr>
              <a:t>Engineering</a:t>
            </a:r>
          </a:p>
        </p:txBody>
      </p:sp>
      <p:sp>
        <p:nvSpPr>
          <p:cNvPr id="5" name="Rectangle 4"/>
          <p:cNvSpPr/>
          <p:nvPr/>
        </p:nvSpPr>
        <p:spPr>
          <a:xfrm>
            <a:off x="256032" y="4069080"/>
            <a:ext cx="3657600" cy="381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4343400"/>
            <a:ext cx="6949440" cy="822960"/>
          </a:xfrm>
          <a:prstGeom prst="rect">
            <a:avLst/>
          </a:prstGeom>
          <a:noFill/>
        </p:spPr>
        <p:txBody>
          <a:bodyPr wrap="square" anchor="t"/>
          <a:lstStyle/>
          <a:p>
            <a:pPr algn="l">
              <a:spcBef>
                <a:spcPts val="0"/>
              </a:spcBef>
              <a:spcAft>
                <a:spcPts val="0"/>
              </a:spcAft>
            </a:pPr>
            <a:r>
              <a:rPr sz="1800" b="0">
                <a:solidFill>
                  <a:srgbClr val="3A4A5C"/>
                </a:solidFill>
                <a:latin typeface="Calibri"/>
              </a:rPr>
              <a:t>Manufacturing the next generation of human tissue — in orbit.</a:t>
            </a:r>
          </a:p>
        </p:txBody>
      </p:sp>
      <p:sp>
        <p:nvSpPr>
          <p:cNvPr id="7" name="Rectangle 6"/>
          <p:cNvSpPr/>
          <p:nvPr/>
        </p:nvSpPr>
        <p:spPr>
          <a:xfrm>
            <a:off x="256032" y="5394960"/>
            <a:ext cx="6949440" cy="8686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5394960"/>
            <a:ext cx="73152" cy="8686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5532120"/>
            <a:ext cx="6492240" cy="274320"/>
          </a:xfrm>
          <a:prstGeom prst="rect">
            <a:avLst/>
          </a:prstGeom>
          <a:noFill/>
        </p:spPr>
        <p:txBody>
          <a:bodyPr wrap="square" anchor="t"/>
          <a:lstStyle/>
          <a:p>
            <a:pPr algn="l">
              <a:spcBef>
                <a:spcPts val="0"/>
              </a:spcBef>
              <a:spcAft>
                <a:spcPts val="0"/>
              </a:spcAft>
            </a:pPr>
            <a:r>
              <a:rPr sz="1400" b="1">
                <a:solidFill>
                  <a:srgbClr val="0B1F33"/>
                </a:solidFill>
                <a:latin typeface="Calibri"/>
              </a:rPr>
              <a:t>Series A Financing</a:t>
            </a:r>
          </a:p>
        </p:txBody>
      </p:sp>
      <p:sp>
        <p:nvSpPr>
          <p:cNvPr id="10" name="TextBox 9"/>
          <p:cNvSpPr txBox="1"/>
          <p:nvPr/>
        </p:nvSpPr>
        <p:spPr>
          <a:xfrm>
            <a:off x="530352" y="5852160"/>
            <a:ext cx="6492240" cy="274320"/>
          </a:xfrm>
          <a:prstGeom prst="rect">
            <a:avLst/>
          </a:prstGeom>
          <a:noFill/>
        </p:spPr>
        <p:txBody>
          <a:bodyPr wrap="square" anchor="t"/>
          <a:lstStyle/>
          <a:p>
            <a:pPr algn="l">
              <a:spcBef>
                <a:spcPts val="0"/>
              </a:spcBef>
              <a:spcAft>
                <a:spcPts val="0"/>
              </a:spcAft>
            </a:pPr>
            <a:r>
              <a:rPr sz="1300" b="0">
                <a:solidFill>
                  <a:srgbClr val="6B7C8F"/>
                </a:solidFill>
                <a:latin typeface="Calibri"/>
              </a:rPr>
              <a:t>June 2026</a:t>
            </a:r>
          </a:p>
        </p:txBody>
      </p:sp>
      <p:pic>
        <p:nvPicPr>
          <p:cNvPr id="11" name="Picture 10" descr="title_panel.png"/>
          <p:cNvPicPr>
            <a:picLocks noChangeAspect="1"/>
          </p:cNvPicPr>
          <p:nvPr/>
        </p:nvPicPr>
        <p:blipFill>
          <a:blip r:embed="rId2"/>
          <a:stretch>
            <a:fillRect/>
          </a:stretch>
        </p:blipFill>
        <p:spPr>
          <a:xfrm>
            <a:off x="7635240" y="73152"/>
            <a:ext cx="4553712" cy="6711696"/>
          </a:xfrm>
          <a:prstGeom prst="rect">
            <a:avLst/>
          </a:prstGeom>
        </p:spPr>
      </p:pic>
      <p:sp>
        <p:nvSpPr>
          <p:cNvPr id="12" name="Rectangle 11"/>
          <p:cNvSpPr/>
          <p:nvPr/>
        </p:nvSpPr>
        <p:spPr>
          <a:xfrm>
            <a:off x="7635240" y="73152"/>
            <a:ext cx="73152" cy="6711696"/>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NOTICE</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Confidential — Forward-Looking Statement</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2</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11679631" cy="507492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50749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399031"/>
            <a:ext cx="11130991" cy="4572000"/>
          </a:xfrm>
          <a:prstGeom prst="rect">
            <a:avLst/>
          </a:prstGeom>
          <a:noFill/>
        </p:spPr>
        <p:txBody>
          <a:bodyPr wrap="square">
            <a:spAutoFit/>
          </a:bodyPr>
          <a:lstStyle/>
          <a:p>
            <a:pPr>
              <a:spcBef>
                <a:spcPts val="0"/>
              </a:spcBef>
              <a:spcAft>
                <a:spcPts val="0"/>
              </a:spcAft>
            </a:pPr>
            <a:r>
              <a:rPr sz="1350" b="0">
                <a:solidFill>
                  <a:srgbClr val="3A4A5C"/>
                </a:solidFill>
                <a:latin typeface="Calibri"/>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a:p>
            <a:pPr>
              <a:spcBef>
                <a:spcPts val="1400"/>
              </a:spcBef>
              <a:spcAft>
                <a:spcPts val="0"/>
              </a:spcAft>
            </a:pPr>
            <a:r>
              <a:rPr sz="1350" b="0">
                <a:solidFill>
                  <a:srgbClr val="3A4A5C"/>
                </a:solidFill>
                <a:latin typeface="Calibri"/>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a:p>
            <a:pPr>
              <a:spcBef>
                <a:spcPts val="1400"/>
              </a:spcBef>
              <a:spcAft>
                <a:spcPts val="0"/>
              </a:spcAft>
            </a:pPr>
            <a:r>
              <a:rPr sz="1350" b="0">
                <a:solidFill>
                  <a:srgbClr val="3A4A5C"/>
                </a:solidFill>
                <a:latin typeface="Calibri"/>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EXECUTIVE SUMMARY</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Translating Proven Orbital Science Into a Commercial Tissue Platform</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3</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2823895"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64008"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1243584"/>
            <a:ext cx="2549575" cy="411480"/>
          </a:xfrm>
          <a:prstGeom prst="rect">
            <a:avLst/>
          </a:prstGeom>
          <a:noFill/>
        </p:spPr>
        <p:txBody>
          <a:bodyPr wrap="square" anchor="t"/>
          <a:lstStyle/>
          <a:p>
            <a:pPr algn="l">
              <a:spcBef>
                <a:spcPts val="0"/>
              </a:spcBef>
              <a:spcAft>
                <a:spcPts val="0"/>
              </a:spcAft>
            </a:pPr>
            <a:r>
              <a:rPr sz="2000" b="1">
                <a:solidFill>
                  <a:srgbClr val="0A6B63"/>
                </a:solidFill>
                <a:latin typeface="Georgia"/>
              </a:rPr>
              <a:t>103,223</a:t>
            </a:r>
          </a:p>
        </p:txBody>
      </p:sp>
      <p:sp>
        <p:nvSpPr>
          <p:cNvPr id="11" name="TextBox 10"/>
          <p:cNvSpPr txBox="1"/>
          <p:nvPr/>
        </p:nvSpPr>
        <p:spPr>
          <a:xfrm>
            <a:off x="420624" y="1719072"/>
            <a:ext cx="2549575" cy="594360"/>
          </a:xfrm>
          <a:prstGeom prst="rect">
            <a:avLst/>
          </a:prstGeom>
          <a:noFill/>
        </p:spPr>
        <p:txBody>
          <a:bodyPr wrap="square" anchor="t"/>
          <a:lstStyle/>
          <a:p>
            <a:pPr algn="l">
              <a:spcBef>
                <a:spcPts val="0"/>
              </a:spcBef>
              <a:spcAft>
                <a:spcPts val="0"/>
              </a:spcAft>
            </a:pPr>
            <a:r>
              <a:rPr sz="1150" b="0">
                <a:solidFill>
                  <a:srgbClr val="3A4A5C"/>
                </a:solidFill>
                <a:latin typeface="Calibri"/>
              </a:rPr>
              <a:t>People on the U.S. transplant</a:t>
            </a:r>
          </a:p>
          <a:p>
            <a:pPr algn="l">
              <a:spcBef>
                <a:spcPts val="0"/>
              </a:spcBef>
              <a:spcAft>
                <a:spcPts val="0"/>
              </a:spcAft>
            </a:pPr>
            <a:r>
              <a:rPr sz="1150" b="0">
                <a:solidFill>
                  <a:srgbClr val="3A4A5C"/>
                </a:solidFill>
                <a:latin typeface="Calibri"/>
              </a:rPr>
              <a:t>waitlist today (OPTN, 2025)</a:t>
            </a:r>
          </a:p>
        </p:txBody>
      </p:sp>
      <p:sp>
        <p:nvSpPr>
          <p:cNvPr id="12" name="Rectangle 11"/>
          <p:cNvSpPr/>
          <p:nvPr/>
        </p:nvSpPr>
        <p:spPr>
          <a:xfrm>
            <a:off x="3207943" y="1078992"/>
            <a:ext cx="2823895"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07943" y="1078992"/>
            <a:ext cx="64008"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72535" y="1243584"/>
            <a:ext cx="2549575" cy="411480"/>
          </a:xfrm>
          <a:prstGeom prst="rect">
            <a:avLst/>
          </a:prstGeom>
          <a:noFill/>
        </p:spPr>
        <p:txBody>
          <a:bodyPr wrap="square" anchor="t"/>
          <a:lstStyle/>
          <a:p>
            <a:pPr algn="l">
              <a:spcBef>
                <a:spcPts val="0"/>
              </a:spcBef>
              <a:spcAft>
                <a:spcPts val="0"/>
              </a:spcAft>
            </a:pPr>
            <a:r>
              <a:rPr sz="2000" b="1">
                <a:solidFill>
                  <a:srgbClr val="0A6B63"/>
                </a:solidFill>
                <a:latin typeface="Georgia"/>
              </a:rPr>
              <a:t>13 / day</a:t>
            </a:r>
          </a:p>
        </p:txBody>
      </p:sp>
      <p:sp>
        <p:nvSpPr>
          <p:cNvPr id="15" name="TextBox 14"/>
          <p:cNvSpPr txBox="1"/>
          <p:nvPr/>
        </p:nvSpPr>
        <p:spPr>
          <a:xfrm>
            <a:off x="3372535" y="1719072"/>
            <a:ext cx="2549575" cy="594360"/>
          </a:xfrm>
          <a:prstGeom prst="rect">
            <a:avLst/>
          </a:prstGeom>
          <a:noFill/>
        </p:spPr>
        <p:txBody>
          <a:bodyPr wrap="square" anchor="t"/>
          <a:lstStyle/>
          <a:p>
            <a:pPr algn="l">
              <a:spcBef>
                <a:spcPts val="0"/>
              </a:spcBef>
              <a:spcAft>
                <a:spcPts val="0"/>
              </a:spcAft>
            </a:pPr>
            <a:r>
              <a:rPr sz="1150" b="0">
                <a:solidFill>
                  <a:srgbClr val="3A4A5C"/>
                </a:solidFill>
                <a:latin typeface="Calibri"/>
              </a:rPr>
              <a:t>Americans die waiting for</a:t>
            </a:r>
          </a:p>
          <a:p>
            <a:pPr algn="l">
              <a:spcBef>
                <a:spcPts val="0"/>
              </a:spcBef>
              <a:spcAft>
                <a:spcPts val="0"/>
              </a:spcAft>
            </a:pPr>
            <a:r>
              <a:rPr sz="1150" b="0">
                <a:solidFill>
                  <a:srgbClr val="3A4A5C"/>
                </a:solidFill>
                <a:latin typeface="Calibri"/>
              </a:rPr>
              <a:t>a donor organ</a:t>
            </a:r>
          </a:p>
        </p:txBody>
      </p:sp>
      <p:sp>
        <p:nvSpPr>
          <p:cNvPr id="16" name="Rectangle 15"/>
          <p:cNvSpPr/>
          <p:nvPr/>
        </p:nvSpPr>
        <p:spPr>
          <a:xfrm>
            <a:off x="6159855" y="1078992"/>
            <a:ext cx="2823895"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59855" y="1078992"/>
            <a:ext cx="64008"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4447" y="1243584"/>
            <a:ext cx="2549575" cy="411480"/>
          </a:xfrm>
          <a:prstGeom prst="rect">
            <a:avLst/>
          </a:prstGeom>
          <a:noFill/>
        </p:spPr>
        <p:txBody>
          <a:bodyPr wrap="square" anchor="t"/>
          <a:lstStyle/>
          <a:p>
            <a:pPr algn="l">
              <a:spcBef>
                <a:spcPts val="0"/>
              </a:spcBef>
              <a:spcAft>
                <a:spcPts val="0"/>
              </a:spcAft>
            </a:pPr>
            <a:r>
              <a:rPr sz="2000" b="1">
                <a:solidFill>
                  <a:srgbClr val="0A6B63"/>
                </a:solidFill>
                <a:latin typeface="Georgia"/>
              </a:rPr>
              <a:t>$1.7B–$3.5B+</a:t>
            </a:r>
          </a:p>
        </p:txBody>
      </p:sp>
      <p:sp>
        <p:nvSpPr>
          <p:cNvPr id="19" name="TextBox 18"/>
          <p:cNvSpPr txBox="1"/>
          <p:nvPr/>
        </p:nvSpPr>
        <p:spPr>
          <a:xfrm>
            <a:off x="6324447" y="1719072"/>
            <a:ext cx="2549575" cy="594360"/>
          </a:xfrm>
          <a:prstGeom prst="rect">
            <a:avLst/>
          </a:prstGeom>
          <a:noFill/>
        </p:spPr>
        <p:txBody>
          <a:bodyPr wrap="square" anchor="t"/>
          <a:lstStyle/>
          <a:p>
            <a:pPr algn="l">
              <a:spcBef>
                <a:spcPts val="0"/>
              </a:spcBef>
              <a:spcAft>
                <a:spcPts val="0"/>
              </a:spcAft>
            </a:pPr>
            <a:r>
              <a:rPr sz="1150" b="0">
                <a:solidFill>
                  <a:srgbClr val="3A4A5C"/>
                </a:solidFill>
                <a:latin typeface="Calibri"/>
              </a:rPr>
              <a:t>Global bioprinting market</a:t>
            </a:r>
          </a:p>
          <a:p>
            <a:pPr algn="l">
              <a:spcBef>
                <a:spcPts val="0"/>
              </a:spcBef>
              <a:spcAft>
                <a:spcPts val="0"/>
              </a:spcAft>
            </a:pPr>
            <a:r>
              <a:rPr sz="1150" b="0">
                <a:solidFill>
                  <a:srgbClr val="3A4A5C"/>
                </a:solidFill>
                <a:latin typeface="Calibri"/>
              </a:rPr>
              <a:t>2025 to 2030 (~16% CAGR)</a:t>
            </a:r>
          </a:p>
        </p:txBody>
      </p:sp>
      <p:sp>
        <p:nvSpPr>
          <p:cNvPr id="20" name="Rectangle 19"/>
          <p:cNvSpPr/>
          <p:nvPr/>
        </p:nvSpPr>
        <p:spPr>
          <a:xfrm>
            <a:off x="9111767" y="1078992"/>
            <a:ext cx="2823895"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11767" y="1078992"/>
            <a:ext cx="64008"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6359" y="1243584"/>
            <a:ext cx="2549575" cy="411480"/>
          </a:xfrm>
          <a:prstGeom prst="rect">
            <a:avLst/>
          </a:prstGeom>
          <a:noFill/>
        </p:spPr>
        <p:txBody>
          <a:bodyPr wrap="square" anchor="t"/>
          <a:lstStyle/>
          <a:p>
            <a:pPr algn="l">
              <a:spcBef>
                <a:spcPts val="0"/>
              </a:spcBef>
              <a:spcAft>
                <a:spcPts val="0"/>
              </a:spcAft>
            </a:pPr>
            <a:r>
              <a:rPr sz="2000" b="1">
                <a:solidFill>
                  <a:srgbClr val="0A6B63"/>
                </a:solidFill>
                <a:latin typeface="Georgia"/>
              </a:rPr>
              <a:t>8 years</a:t>
            </a:r>
          </a:p>
        </p:txBody>
      </p:sp>
      <p:sp>
        <p:nvSpPr>
          <p:cNvPr id="23" name="TextBox 22"/>
          <p:cNvSpPr txBox="1"/>
          <p:nvPr/>
        </p:nvSpPr>
        <p:spPr>
          <a:xfrm>
            <a:off x="9276359" y="1719072"/>
            <a:ext cx="2549575" cy="594360"/>
          </a:xfrm>
          <a:prstGeom prst="rect">
            <a:avLst/>
          </a:prstGeom>
          <a:noFill/>
        </p:spPr>
        <p:txBody>
          <a:bodyPr wrap="square" anchor="t"/>
          <a:lstStyle/>
          <a:p>
            <a:pPr algn="l">
              <a:spcBef>
                <a:spcPts val="0"/>
              </a:spcBef>
              <a:spcAft>
                <a:spcPts val="0"/>
              </a:spcAft>
            </a:pPr>
            <a:r>
              <a:rPr sz="1150" b="0">
                <a:solidFill>
                  <a:srgbClr val="3A4A5C"/>
                </a:solidFill>
                <a:latin typeface="Calibri"/>
              </a:rPr>
              <a:t>Continuous in-orbit</a:t>
            </a:r>
          </a:p>
          <a:p>
            <a:pPr algn="l">
              <a:spcBef>
                <a:spcPts val="0"/>
              </a:spcBef>
              <a:spcAft>
                <a:spcPts val="0"/>
              </a:spcAft>
            </a:pPr>
            <a:r>
              <a:rPr sz="1150" b="0">
                <a:solidFill>
                  <a:srgbClr val="3A4A5C"/>
                </a:solidFill>
                <a:latin typeface="Calibri"/>
              </a:rPr>
              <a:t>bioprinting validation</a:t>
            </a:r>
          </a:p>
        </p:txBody>
      </p:sp>
      <p:sp>
        <p:nvSpPr>
          <p:cNvPr id="24" name="Rectangle 23"/>
          <p:cNvSpPr/>
          <p:nvPr/>
        </p:nvSpPr>
        <p:spPr>
          <a:xfrm>
            <a:off x="256032" y="2532888"/>
            <a:ext cx="2823895" cy="3977639"/>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 y="2532888"/>
            <a:ext cx="28238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38912" y="2788920"/>
            <a:ext cx="310896" cy="310896"/>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27" name="TextBox 26"/>
          <p:cNvSpPr txBox="1"/>
          <p:nvPr/>
        </p:nvSpPr>
        <p:spPr>
          <a:xfrm>
            <a:off x="438912" y="3246120"/>
            <a:ext cx="2458135" cy="365760"/>
          </a:xfrm>
          <a:prstGeom prst="rect">
            <a:avLst/>
          </a:prstGeom>
          <a:noFill/>
        </p:spPr>
        <p:txBody>
          <a:bodyPr wrap="square" anchor="t"/>
          <a:lstStyle/>
          <a:p>
            <a:pPr algn="l">
              <a:spcBef>
                <a:spcPts val="0"/>
              </a:spcBef>
              <a:spcAft>
                <a:spcPts val="0"/>
              </a:spcAft>
            </a:pPr>
            <a:r>
              <a:rPr sz="1600" b="1">
                <a:solidFill>
                  <a:srgbClr val="0B1F33"/>
                </a:solidFill>
                <a:latin typeface="Georgia"/>
              </a:rPr>
              <a:t>The Problem</a:t>
            </a:r>
          </a:p>
        </p:txBody>
      </p:sp>
      <p:sp>
        <p:nvSpPr>
          <p:cNvPr id="28" name="TextBox 27"/>
          <p:cNvSpPr txBox="1"/>
          <p:nvPr/>
        </p:nvSpPr>
        <p:spPr>
          <a:xfrm>
            <a:off x="438912" y="3767328"/>
            <a:ext cx="2458135" cy="2560320"/>
          </a:xfrm>
          <a:prstGeom prst="rect">
            <a:avLst/>
          </a:prstGeom>
          <a:noFill/>
        </p:spPr>
        <p:txBody>
          <a:bodyPr wrap="square" anchor="t"/>
          <a:lstStyle/>
          <a:p>
            <a:pPr algn="l">
              <a:spcBef>
                <a:spcPts val="0"/>
              </a:spcBef>
              <a:spcAft>
                <a:spcPts val="0"/>
              </a:spcAft>
            </a:pPr>
            <a:r>
              <a:rPr sz="1250" b="0">
                <a:solidFill>
                  <a:srgbClr val="3A4A5C"/>
                </a:solidFill>
                <a:latin typeface="Calibri"/>
              </a:rPr>
              <a:t>Organ and tissue shortages persist globally. Earth-based bioprinting hits a physical ceiling: gravity causes tissues to collapse without a temporary scaffold, limiting achievable geometry.</a:t>
            </a:r>
          </a:p>
        </p:txBody>
      </p:sp>
      <p:sp>
        <p:nvSpPr>
          <p:cNvPr id="29" name="Rectangle 28"/>
          <p:cNvSpPr/>
          <p:nvPr/>
        </p:nvSpPr>
        <p:spPr>
          <a:xfrm>
            <a:off x="3207943" y="2532888"/>
            <a:ext cx="2823895" cy="3977639"/>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7943" y="2532888"/>
            <a:ext cx="28238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90823" y="2788920"/>
            <a:ext cx="310896" cy="310896"/>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32" name="TextBox 31"/>
          <p:cNvSpPr txBox="1"/>
          <p:nvPr/>
        </p:nvSpPr>
        <p:spPr>
          <a:xfrm>
            <a:off x="3390823" y="3246120"/>
            <a:ext cx="2458135" cy="365760"/>
          </a:xfrm>
          <a:prstGeom prst="rect">
            <a:avLst/>
          </a:prstGeom>
          <a:noFill/>
        </p:spPr>
        <p:txBody>
          <a:bodyPr wrap="square" anchor="t"/>
          <a:lstStyle/>
          <a:p>
            <a:pPr algn="l">
              <a:spcBef>
                <a:spcPts val="0"/>
              </a:spcBef>
              <a:spcAft>
                <a:spcPts val="0"/>
              </a:spcAft>
            </a:pPr>
            <a:r>
              <a:rPr sz="1600" b="1">
                <a:solidFill>
                  <a:srgbClr val="0B1F33"/>
                </a:solidFill>
                <a:latin typeface="Georgia"/>
              </a:rPr>
              <a:t>The Unlock</a:t>
            </a:r>
          </a:p>
        </p:txBody>
      </p:sp>
      <p:sp>
        <p:nvSpPr>
          <p:cNvPr id="33" name="TextBox 32"/>
          <p:cNvSpPr txBox="1"/>
          <p:nvPr/>
        </p:nvSpPr>
        <p:spPr>
          <a:xfrm>
            <a:off x="3390823" y="3767328"/>
            <a:ext cx="2458135" cy="2560320"/>
          </a:xfrm>
          <a:prstGeom prst="rect">
            <a:avLst/>
          </a:prstGeom>
          <a:noFill/>
        </p:spPr>
        <p:txBody>
          <a:bodyPr wrap="square" anchor="t"/>
          <a:lstStyle/>
          <a:p>
            <a:pPr algn="l">
              <a:spcBef>
                <a:spcPts val="0"/>
              </a:spcBef>
              <a:spcAft>
                <a:spcPts val="0"/>
              </a:spcAft>
            </a:pPr>
            <a:r>
              <a:rPr sz="1250" b="0">
                <a:solidFill>
                  <a:srgbClr val="3A4A5C"/>
                </a:solidFill>
                <a:latin typeface="Calibri"/>
              </a:rPr>
              <a:t>Microgravity eliminates scaffold dependency. NASA, Redwire, ESA, LambdaVision and ROSCOSMOS have validated the science aboard the ISS continuously since 2018.</a:t>
            </a:r>
          </a:p>
        </p:txBody>
      </p:sp>
      <p:sp>
        <p:nvSpPr>
          <p:cNvPr id="34" name="Rectangle 33"/>
          <p:cNvSpPr/>
          <p:nvPr/>
        </p:nvSpPr>
        <p:spPr>
          <a:xfrm>
            <a:off x="6159855" y="2532888"/>
            <a:ext cx="2823895" cy="3977639"/>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2532888"/>
            <a:ext cx="28238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42735" y="2788920"/>
            <a:ext cx="310896" cy="310896"/>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37" name="TextBox 36"/>
          <p:cNvSpPr txBox="1"/>
          <p:nvPr/>
        </p:nvSpPr>
        <p:spPr>
          <a:xfrm>
            <a:off x="6342735" y="3246120"/>
            <a:ext cx="2458135" cy="365760"/>
          </a:xfrm>
          <a:prstGeom prst="rect">
            <a:avLst/>
          </a:prstGeom>
          <a:noFill/>
        </p:spPr>
        <p:txBody>
          <a:bodyPr wrap="square" anchor="t"/>
          <a:lstStyle/>
          <a:p>
            <a:pPr algn="l">
              <a:spcBef>
                <a:spcPts val="0"/>
              </a:spcBef>
              <a:spcAft>
                <a:spcPts val="0"/>
              </a:spcAft>
            </a:pPr>
            <a:r>
              <a:rPr sz="1600" b="1">
                <a:solidFill>
                  <a:srgbClr val="0B1F33"/>
                </a:solidFill>
                <a:latin typeface="Georgia"/>
              </a:rPr>
              <a:t>The Market</a:t>
            </a:r>
          </a:p>
        </p:txBody>
      </p:sp>
      <p:sp>
        <p:nvSpPr>
          <p:cNvPr id="38" name="TextBox 37"/>
          <p:cNvSpPr txBox="1"/>
          <p:nvPr/>
        </p:nvSpPr>
        <p:spPr>
          <a:xfrm>
            <a:off x="6342735" y="3767328"/>
            <a:ext cx="2458135" cy="2560320"/>
          </a:xfrm>
          <a:prstGeom prst="rect">
            <a:avLst/>
          </a:prstGeom>
          <a:noFill/>
        </p:spPr>
        <p:txBody>
          <a:bodyPr wrap="square" anchor="t"/>
          <a:lstStyle/>
          <a:p>
            <a:pPr algn="l">
              <a:spcBef>
                <a:spcPts val="0"/>
              </a:spcBef>
              <a:spcAft>
                <a:spcPts val="0"/>
              </a:spcAft>
            </a:pPr>
            <a:r>
              <a:rPr sz="1250" b="0">
                <a:solidFill>
                  <a:srgbClr val="3A4A5C"/>
                </a:solidFill>
                <a:latin typeface="Calibri"/>
              </a:rPr>
              <a:t>A $1.7B market growing at ~16% CAGR, the first FDA-cleared tissue-engineered vascular graft (Symvess, Dec 2024), and four commercial stations entering service from 2026.</a:t>
            </a:r>
          </a:p>
        </p:txBody>
      </p:sp>
      <p:sp>
        <p:nvSpPr>
          <p:cNvPr id="39" name="Rectangle 38"/>
          <p:cNvSpPr/>
          <p:nvPr/>
        </p:nvSpPr>
        <p:spPr>
          <a:xfrm>
            <a:off x="9111767" y="2532888"/>
            <a:ext cx="2823895" cy="3977639"/>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111767" y="2532888"/>
            <a:ext cx="28238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94647" y="2788920"/>
            <a:ext cx="310896" cy="310896"/>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42" name="TextBox 41"/>
          <p:cNvSpPr txBox="1"/>
          <p:nvPr/>
        </p:nvSpPr>
        <p:spPr>
          <a:xfrm>
            <a:off x="9294647" y="3246120"/>
            <a:ext cx="2458135" cy="365760"/>
          </a:xfrm>
          <a:prstGeom prst="rect">
            <a:avLst/>
          </a:prstGeom>
          <a:noFill/>
        </p:spPr>
        <p:txBody>
          <a:bodyPr wrap="square" anchor="t"/>
          <a:lstStyle/>
          <a:p>
            <a:pPr algn="l">
              <a:spcBef>
                <a:spcPts val="0"/>
              </a:spcBef>
              <a:spcAft>
                <a:spcPts val="0"/>
              </a:spcAft>
            </a:pPr>
            <a:r>
              <a:rPr sz="1600" b="1">
                <a:solidFill>
                  <a:srgbClr val="0B1F33"/>
                </a:solidFill>
                <a:latin typeface="Georgia"/>
              </a:rPr>
              <a:t>The Ask</a:t>
            </a:r>
          </a:p>
        </p:txBody>
      </p:sp>
      <p:sp>
        <p:nvSpPr>
          <p:cNvPr id="43" name="TextBox 42"/>
          <p:cNvSpPr txBox="1"/>
          <p:nvPr/>
        </p:nvSpPr>
        <p:spPr>
          <a:xfrm>
            <a:off x="9294647" y="3767328"/>
            <a:ext cx="2458135" cy="2560320"/>
          </a:xfrm>
          <a:prstGeom prst="rect">
            <a:avLst/>
          </a:prstGeom>
          <a:noFill/>
        </p:spPr>
        <p:txBody>
          <a:bodyPr wrap="square" anchor="t"/>
          <a:lstStyle/>
          <a:p>
            <a:pPr algn="l">
              <a:spcBef>
                <a:spcPts val="0"/>
              </a:spcBef>
              <a:spcAft>
                <a:spcPts val="0"/>
              </a:spcAft>
            </a:pPr>
            <a:r>
              <a:rPr sz="1250" b="0">
                <a:solidFill>
                  <a:srgbClr val="3A4A5C"/>
                </a:solidFill>
                <a:latin typeface="Calibri"/>
              </a:rPr>
              <a:t>An $18M Series A to build Samuel's first flight-qualified payload platform, commercialise wound-care and orthopedic verticals, and file NASA InSPA Phase 1 grants.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THE PROBLEM</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A Global Organ &amp; Tissue Crisis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4</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TextBox 7"/>
          <p:cNvSpPr txBox="1"/>
          <p:nvPr/>
        </p:nvSpPr>
        <p:spPr>
          <a:xfrm>
            <a:off x="256032" y="1078992"/>
            <a:ext cx="5943600" cy="274320"/>
          </a:xfrm>
          <a:prstGeom prst="rect">
            <a:avLst/>
          </a:prstGeom>
          <a:noFill/>
        </p:spPr>
        <p:txBody>
          <a:bodyPr wrap="square" anchor="t"/>
          <a:lstStyle/>
          <a:p>
            <a:pPr algn="l">
              <a:spcBef>
                <a:spcPts val="0"/>
              </a:spcBef>
              <a:spcAft>
                <a:spcPts val="0"/>
              </a:spcAft>
            </a:pPr>
            <a:r>
              <a:rPr sz="1200" b="1">
                <a:solidFill>
                  <a:srgbClr val="0B1F33"/>
                </a:solidFill>
                <a:latin typeface="Calibri"/>
              </a:rPr>
              <a:t>U.S. Transplant Waiting List by Organ (2025)</a:t>
            </a:r>
          </a:p>
        </p:txBody>
      </p:sp>
      <p:graphicFrame>
        <p:nvGraphicFramePr>
          <p:cNvPr id="9" name="Chart 8"/>
          <p:cNvGraphicFramePr>
            <a:graphicFrameLocks noGrp="1"/>
          </p:cNvGraphicFramePr>
          <p:nvPr/>
        </p:nvGraphicFramePr>
        <p:xfrm>
          <a:off x="256032" y="1399031"/>
          <a:ext cx="5943600" cy="3383280"/>
        </p:xfrm>
        <a:graphic>
          <a:graphicData uri="http://schemas.openxmlformats.org/drawingml/2006/chart">
            <c:chart xmlns:c="http://schemas.openxmlformats.org/drawingml/2006/chart" r:id="rId2"/>
          </a:graphicData>
        </a:graphic>
      </p:graphicFrame>
      <p:sp>
        <p:nvSpPr>
          <p:cNvPr id="10" name="TextBox 9"/>
          <p:cNvSpPr txBox="1"/>
          <p:nvPr/>
        </p:nvSpPr>
        <p:spPr>
          <a:xfrm>
            <a:off x="256032" y="4828031"/>
            <a:ext cx="5943600" cy="228600"/>
          </a:xfrm>
          <a:prstGeom prst="rect">
            <a:avLst/>
          </a:prstGeom>
          <a:noFill/>
        </p:spPr>
        <p:txBody>
          <a:bodyPr wrap="square" anchor="t"/>
          <a:lstStyle/>
          <a:p>
            <a:pPr algn="l">
              <a:spcBef>
                <a:spcPts val="0"/>
              </a:spcBef>
              <a:spcAft>
                <a:spcPts val="0"/>
              </a:spcAft>
            </a:pPr>
            <a:r>
              <a:rPr sz="850" b="0">
                <a:solidFill>
                  <a:srgbClr val="6B7C8F"/>
                </a:solidFill>
                <a:latin typeface="Calibri"/>
              </a:rPr>
              <a:t>Source: OPTN / organdonor.gov, 2025</a:t>
            </a:r>
          </a:p>
        </p:txBody>
      </p:sp>
      <p:sp>
        <p:nvSpPr>
          <p:cNvPr id="11" name="Rectangle 10"/>
          <p:cNvSpPr/>
          <p:nvPr/>
        </p:nvSpPr>
        <p:spPr>
          <a:xfrm>
            <a:off x="6583680" y="1078992"/>
            <a:ext cx="525780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078992"/>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80" y="1261872"/>
            <a:ext cx="1920240" cy="777240"/>
          </a:xfrm>
          <a:prstGeom prst="rect">
            <a:avLst/>
          </a:prstGeom>
          <a:noFill/>
        </p:spPr>
        <p:txBody>
          <a:bodyPr wrap="square" anchor="ctr"/>
          <a:lstStyle/>
          <a:p>
            <a:pPr algn="l">
              <a:spcBef>
                <a:spcPts val="0"/>
              </a:spcBef>
              <a:spcAft>
                <a:spcPts val="0"/>
              </a:spcAft>
            </a:pPr>
            <a:r>
              <a:rPr sz="1800" b="1">
                <a:solidFill>
                  <a:srgbClr val="0A6B63"/>
                </a:solidFill>
                <a:latin typeface="Georgia"/>
              </a:rPr>
              <a:t>941,652</a:t>
            </a:r>
          </a:p>
        </p:txBody>
      </p:sp>
      <p:sp>
        <p:nvSpPr>
          <p:cNvPr id="14" name="TextBox 13"/>
          <p:cNvSpPr txBox="1"/>
          <p:nvPr/>
        </p:nvSpPr>
        <p:spPr>
          <a:xfrm>
            <a:off x="8778240" y="1261872"/>
            <a:ext cx="2834640" cy="777240"/>
          </a:xfrm>
          <a:prstGeom prst="rect">
            <a:avLst/>
          </a:prstGeom>
          <a:noFill/>
        </p:spPr>
        <p:txBody>
          <a:bodyPr wrap="square" anchor="ctr"/>
          <a:lstStyle/>
          <a:p>
            <a:pPr algn="l">
              <a:spcBef>
                <a:spcPts val="0"/>
              </a:spcBef>
              <a:spcAft>
                <a:spcPts val="0"/>
              </a:spcAft>
            </a:pPr>
            <a:r>
              <a:rPr sz="1100" b="0">
                <a:solidFill>
                  <a:srgbClr val="3A4A5C"/>
                </a:solidFill>
                <a:latin typeface="Calibri"/>
              </a:rPr>
              <a:t>CVD deaths in the U.S. in 2022 — still the #1 cause of death, killing more people than all cancers combined</a:t>
            </a:r>
          </a:p>
        </p:txBody>
      </p:sp>
      <p:sp>
        <p:nvSpPr>
          <p:cNvPr id="15" name="Rectangle 14"/>
          <p:cNvSpPr/>
          <p:nvPr/>
        </p:nvSpPr>
        <p:spPr>
          <a:xfrm>
            <a:off x="6583680" y="2359152"/>
            <a:ext cx="525780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2359152"/>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542032"/>
            <a:ext cx="1920240" cy="777240"/>
          </a:xfrm>
          <a:prstGeom prst="rect">
            <a:avLst/>
          </a:prstGeom>
          <a:noFill/>
        </p:spPr>
        <p:txBody>
          <a:bodyPr wrap="square" anchor="ctr"/>
          <a:lstStyle/>
          <a:p>
            <a:pPr algn="l">
              <a:spcBef>
                <a:spcPts val="0"/>
              </a:spcBef>
              <a:spcAft>
                <a:spcPts val="0"/>
              </a:spcAft>
            </a:pPr>
            <a:r>
              <a:rPr sz="1800" b="1">
                <a:solidFill>
                  <a:srgbClr val="0A6B63"/>
                </a:solidFill>
                <a:latin typeface="Georgia"/>
              </a:rPr>
              <a:t>~1 per 34 sec</a:t>
            </a:r>
          </a:p>
        </p:txBody>
      </p:sp>
      <p:sp>
        <p:nvSpPr>
          <p:cNvPr id="18" name="TextBox 17"/>
          <p:cNvSpPr txBox="1"/>
          <p:nvPr/>
        </p:nvSpPr>
        <p:spPr>
          <a:xfrm>
            <a:off x="8778240" y="2542032"/>
            <a:ext cx="2834640" cy="777240"/>
          </a:xfrm>
          <a:prstGeom prst="rect">
            <a:avLst/>
          </a:prstGeom>
          <a:noFill/>
        </p:spPr>
        <p:txBody>
          <a:bodyPr wrap="square" anchor="ctr"/>
          <a:lstStyle/>
          <a:p>
            <a:pPr algn="l">
              <a:spcBef>
                <a:spcPts val="0"/>
              </a:spcBef>
              <a:spcAft>
                <a:spcPts val="0"/>
              </a:spcAft>
            </a:pPr>
            <a:r>
              <a:rPr sz="1100" b="0">
                <a:solidFill>
                  <a:srgbClr val="3A4A5C"/>
                </a:solidFill>
                <a:latin typeface="Calibri"/>
              </a:rPr>
              <a:t>A cardiovascular death occurs in the U.S. on average every 34 seconds — roughly 2,500 per day</a:t>
            </a:r>
          </a:p>
        </p:txBody>
      </p:sp>
      <p:sp>
        <p:nvSpPr>
          <p:cNvPr id="19" name="Rectangle 18"/>
          <p:cNvSpPr/>
          <p:nvPr/>
        </p:nvSpPr>
        <p:spPr>
          <a:xfrm>
            <a:off x="6583680" y="3639311"/>
            <a:ext cx="525780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3639311"/>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3822191"/>
            <a:ext cx="1920240" cy="777240"/>
          </a:xfrm>
          <a:prstGeom prst="rect">
            <a:avLst/>
          </a:prstGeom>
          <a:noFill/>
        </p:spPr>
        <p:txBody>
          <a:bodyPr wrap="square" anchor="ctr"/>
          <a:lstStyle/>
          <a:p>
            <a:pPr algn="l">
              <a:spcBef>
                <a:spcPts val="0"/>
              </a:spcBef>
              <a:spcAft>
                <a:spcPts val="0"/>
              </a:spcAft>
            </a:pPr>
            <a:r>
              <a:rPr sz="1800" b="1">
                <a:solidFill>
                  <a:srgbClr val="0A6B63"/>
                </a:solidFill>
                <a:latin typeface="Georgia"/>
              </a:rPr>
              <a:t>10% met</a:t>
            </a:r>
          </a:p>
        </p:txBody>
      </p:sp>
      <p:sp>
        <p:nvSpPr>
          <p:cNvPr id="22" name="TextBox 21"/>
          <p:cNvSpPr txBox="1"/>
          <p:nvPr/>
        </p:nvSpPr>
        <p:spPr>
          <a:xfrm>
            <a:off x="8778240" y="3822191"/>
            <a:ext cx="2834640" cy="777240"/>
          </a:xfrm>
          <a:prstGeom prst="rect">
            <a:avLst/>
          </a:prstGeom>
          <a:noFill/>
        </p:spPr>
        <p:txBody>
          <a:bodyPr wrap="square" anchor="ctr"/>
          <a:lstStyle/>
          <a:p>
            <a:pPr algn="l">
              <a:spcBef>
                <a:spcPts val="0"/>
              </a:spcBef>
              <a:spcAft>
                <a:spcPts val="0"/>
              </a:spcAft>
            </a:pPr>
            <a:r>
              <a:rPr sz="1100" b="0">
                <a:solidFill>
                  <a:srgbClr val="3A4A5C"/>
                </a:solidFill>
                <a:latin typeface="Calibri"/>
              </a:rPr>
              <a:t>Of the estimated global transplant need. WHO reports ~130,000 transplants/yr vs. demand exceeding 1.3M</a:t>
            </a:r>
          </a:p>
        </p:txBody>
      </p:sp>
      <p:sp>
        <p:nvSpPr>
          <p:cNvPr id="23" name="TextBox 22"/>
          <p:cNvSpPr txBox="1"/>
          <p:nvPr/>
        </p:nvSpPr>
        <p:spPr>
          <a:xfrm>
            <a:off x="6583680" y="4919472"/>
            <a:ext cx="5257800" cy="320040"/>
          </a:xfrm>
          <a:prstGeom prst="rect">
            <a:avLst/>
          </a:prstGeom>
          <a:noFill/>
        </p:spPr>
        <p:txBody>
          <a:bodyPr wrap="square" anchor="t"/>
          <a:lstStyle/>
          <a:p>
            <a:pPr algn="l">
              <a:spcBef>
                <a:spcPts val="0"/>
              </a:spcBef>
              <a:spcAft>
                <a:spcPts val="0"/>
              </a:spcAft>
            </a:pPr>
            <a:r>
              <a:rPr sz="800" b="0">
                <a:solidFill>
                  <a:srgbClr val="6B7C8F"/>
                </a:solidFill>
                <a:latin typeface="Calibri"/>
              </a:rPr>
              <a:t>Source: AHA 2025 Heart Disease &amp; Stroke Statistics; WHO Global Observatory on Donation and Transplantation.</a:t>
            </a:r>
          </a:p>
        </p:txBody>
      </p:sp>
      <p:sp>
        <p:nvSpPr>
          <p:cNvPr id="24" name="Rectangle 23"/>
          <p:cNvSpPr/>
          <p:nvPr/>
        </p:nvSpPr>
        <p:spPr>
          <a:xfrm>
            <a:off x="256032" y="5623560"/>
            <a:ext cx="11679631" cy="749808"/>
          </a:xfrm>
          <a:prstGeom prst="rect">
            <a:avLst/>
          </a:prstGeom>
          <a:solidFill>
            <a:srgbClr val="075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5742432"/>
            <a:ext cx="11130991" cy="502920"/>
          </a:xfrm>
          <a:prstGeom prst="rect">
            <a:avLst/>
          </a:prstGeom>
          <a:noFill/>
        </p:spPr>
        <p:txBody>
          <a:bodyPr wrap="square" anchor="t"/>
          <a:lstStyle/>
          <a:p>
            <a:pPr algn="l">
              <a:spcBef>
                <a:spcPts val="0"/>
              </a:spcBef>
              <a:spcAft>
                <a:spcPts val="0"/>
              </a:spcAft>
            </a:pPr>
            <a:r>
              <a:rPr sz="1200" b="0">
                <a:solidFill>
                  <a:srgbClr val="FFFFFF"/>
                </a:solidFill>
                <a:latin typeface="Calibri"/>
              </a:rPr>
              <a:t>Transplant recipients also face a lifetime of immunosuppressive therapy and rejection risk. Tissue printed from a patient's own cells eliminates cross-reactive rejection entirely — removing both the clinical burden and the ongoing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THE CORE CONSTRAINT</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Why Earth-Based Bioprinting Has a Hard Ceiling</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5</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TextBox 7"/>
          <p:cNvSpPr txBox="1"/>
          <p:nvPr/>
        </p:nvSpPr>
        <p:spPr>
          <a:xfrm>
            <a:off x="256032" y="1078992"/>
            <a:ext cx="11679631" cy="502920"/>
          </a:xfrm>
          <a:prstGeom prst="rect">
            <a:avLst/>
          </a:prstGeom>
          <a:noFill/>
        </p:spPr>
        <p:txBody>
          <a:bodyPr wrap="square" anchor="t"/>
          <a:lstStyle/>
          <a:p>
            <a:pPr algn="l">
              <a:spcBef>
                <a:spcPts val="0"/>
              </a:spcBef>
              <a:spcAft>
                <a:spcPts val="0"/>
              </a:spcAft>
            </a:pPr>
            <a:r>
              <a:rPr sz="1250" b="0">
                <a:solidFill>
                  <a:srgbClr val="3A4A5C"/>
                </a:solidFill>
                <a:latin typeface="Calibri"/>
              </a:rPr>
              <a:t>On Earth, gravity forces tissues to collapse under their own weight during printing. A scaffold must be built into every construct, adding complexity, introducing foreign material, and limiting achievable geometry. Microgravity removes this constraint entirely.</a:t>
            </a:r>
          </a:p>
        </p:txBody>
      </p:sp>
      <p:sp>
        <p:nvSpPr>
          <p:cNvPr id="9" name="Rectangle 8"/>
          <p:cNvSpPr/>
          <p:nvPr/>
        </p:nvSpPr>
        <p:spPr>
          <a:xfrm>
            <a:off x="256032" y="1627631"/>
            <a:ext cx="5748375" cy="483717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1627631"/>
            <a:ext cx="5748375" cy="438912"/>
          </a:xfrm>
          <a:prstGeom prst="rect">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 y="1627631"/>
            <a:ext cx="5748375" cy="438912"/>
          </a:xfrm>
          <a:prstGeom prst="rect">
            <a:avLst/>
          </a:prstGeom>
          <a:noFill/>
        </p:spPr>
        <p:txBody>
          <a:bodyPr wrap="square" anchor="ctr"/>
          <a:lstStyle/>
          <a:p>
            <a:pPr algn="ctr">
              <a:spcBef>
                <a:spcPts val="0"/>
              </a:spcBef>
              <a:spcAft>
                <a:spcPts val="0"/>
              </a:spcAft>
            </a:pPr>
            <a:r>
              <a:rPr sz="1300" b="1">
                <a:solidFill>
                  <a:srgbClr val="3A4A5C"/>
                </a:solidFill>
                <a:latin typeface="Calibri"/>
              </a:rPr>
              <a:t>EARTH GRAVITY</a:t>
            </a:r>
          </a:p>
        </p:txBody>
      </p:sp>
      <p:pic>
        <p:nvPicPr>
          <p:cNvPr id="12" name="Picture 11" descr="diagram_earth.png"/>
          <p:cNvPicPr>
            <a:picLocks noChangeAspect="1"/>
          </p:cNvPicPr>
          <p:nvPr/>
        </p:nvPicPr>
        <p:blipFill>
          <a:blip r:embed="rId2"/>
          <a:stretch>
            <a:fillRect/>
          </a:stretch>
        </p:blipFill>
        <p:spPr>
          <a:xfrm>
            <a:off x="1712899" y="2221991"/>
            <a:ext cx="2834640" cy="2834640"/>
          </a:xfrm>
          <a:prstGeom prst="rect">
            <a:avLst/>
          </a:prstGeom>
        </p:spPr>
      </p:pic>
      <p:sp>
        <p:nvSpPr>
          <p:cNvPr id="13" name="TextBox 12"/>
          <p:cNvSpPr txBox="1"/>
          <p:nvPr/>
        </p:nvSpPr>
        <p:spPr>
          <a:xfrm>
            <a:off x="530352" y="5148072"/>
            <a:ext cx="5291175" cy="1371600"/>
          </a:xfrm>
          <a:prstGeom prst="rect">
            <a:avLst/>
          </a:prstGeom>
          <a:noFill/>
        </p:spPr>
        <p:txBody>
          <a:bodyPr wrap="square">
            <a:spAutoFit/>
          </a:bodyPr>
          <a:lstStyle/>
          <a:p>
            <a:pPr algn="l">
              <a:spcBef>
                <a:spcPts val="0"/>
              </a:spcBef>
              <a:spcAft>
                <a:spcPts val="0"/>
              </a:spcAft>
            </a:pPr>
            <a:r>
              <a:rPr sz="1200" b="0">
                <a:solidFill>
                  <a:srgbClr val="3A4A5C"/>
                </a:solidFill>
                <a:latin typeface="Calibri"/>
              </a:rPr>
              <a:t>–  Cells slump and fuse unevenly under gravitational load</a:t>
            </a:r>
          </a:p>
          <a:p>
            <a:pPr algn="l">
              <a:spcBef>
                <a:spcPts val="500"/>
              </a:spcBef>
              <a:spcAft>
                <a:spcPts val="0"/>
              </a:spcAft>
            </a:pPr>
            <a:r>
              <a:rPr sz="1200" b="0">
                <a:solidFill>
                  <a:srgbClr val="3A4A5C"/>
                </a:solidFill>
                <a:latin typeface="Calibri"/>
              </a:rPr>
              <a:t>–  Scaffold material printed first, then must be dissolved</a:t>
            </a:r>
          </a:p>
          <a:p>
            <a:pPr algn="l">
              <a:spcBef>
                <a:spcPts val="500"/>
              </a:spcBef>
              <a:spcAft>
                <a:spcPts val="0"/>
              </a:spcAft>
            </a:pPr>
            <a:r>
              <a:rPr sz="1200" b="0">
                <a:solidFill>
                  <a:srgbClr val="3A4A5C"/>
                </a:solidFill>
                <a:latin typeface="Calibri"/>
              </a:rPr>
              <a:t>–  Complex hollow structures (e.g. heart chambers) extremely difficult</a:t>
            </a:r>
          </a:p>
        </p:txBody>
      </p:sp>
      <p:sp>
        <p:nvSpPr>
          <p:cNvPr id="14" name="Rectangle 13"/>
          <p:cNvSpPr/>
          <p:nvPr/>
        </p:nvSpPr>
        <p:spPr>
          <a:xfrm>
            <a:off x="6187287" y="1627631"/>
            <a:ext cx="5748375" cy="483717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627631"/>
            <a:ext cx="5748375" cy="43891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7287" y="1627631"/>
            <a:ext cx="5748375" cy="438912"/>
          </a:xfrm>
          <a:prstGeom prst="rect">
            <a:avLst/>
          </a:prstGeom>
          <a:noFill/>
        </p:spPr>
        <p:txBody>
          <a:bodyPr wrap="square" anchor="ctr"/>
          <a:lstStyle/>
          <a:p>
            <a:pPr algn="ctr">
              <a:spcBef>
                <a:spcPts val="0"/>
              </a:spcBef>
              <a:spcAft>
                <a:spcPts val="0"/>
              </a:spcAft>
            </a:pPr>
            <a:r>
              <a:rPr sz="1300" b="1">
                <a:solidFill>
                  <a:srgbClr val="FFFFFF"/>
                </a:solidFill>
                <a:latin typeface="Calibri"/>
              </a:rPr>
              <a:t>MICROGRAVITY — ISS ORBIT</a:t>
            </a:r>
          </a:p>
        </p:txBody>
      </p:sp>
      <p:pic>
        <p:nvPicPr>
          <p:cNvPr id="17" name="Picture 16" descr="diagram_orbit.png"/>
          <p:cNvPicPr>
            <a:picLocks noChangeAspect="1"/>
          </p:cNvPicPr>
          <p:nvPr/>
        </p:nvPicPr>
        <p:blipFill>
          <a:blip r:embed="rId3"/>
          <a:stretch>
            <a:fillRect/>
          </a:stretch>
        </p:blipFill>
        <p:spPr>
          <a:xfrm>
            <a:off x="7644155" y="2221991"/>
            <a:ext cx="2834640" cy="2834640"/>
          </a:xfrm>
          <a:prstGeom prst="rect">
            <a:avLst/>
          </a:prstGeom>
        </p:spPr>
      </p:pic>
      <p:sp>
        <p:nvSpPr>
          <p:cNvPr id="18" name="TextBox 17"/>
          <p:cNvSpPr txBox="1"/>
          <p:nvPr/>
        </p:nvSpPr>
        <p:spPr>
          <a:xfrm>
            <a:off x="6461607" y="5148072"/>
            <a:ext cx="5291175" cy="1371600"/>
          </a:xfrm>
          <a:prstGeom prst="rect">
            <a:avLst/>
          </a:prstGeom>
          <a:noFill/>
        </p:spPr>
        <p:txBody>
          <a:bodyPr wrap="square">
            <a:spAutoFit/>
          </a:bodyPr>
          <a:lstStyle/>
          <a:p>
            <a:pPr algn="l">
              <a:spcBef>
                <a:spcPts val="0"/>
              </a:spcBef>
              <a:spcAft>
                <a:spcPts val="0"/>
              </a:spcAft>
            </a:pPr>
            <a:r>
              <a:rPr sz="1200" b="0">
                <a:solidFill>
                  <a:srgbClr val="07524C"/>
                </a:solidFill>
                <a:latin typeface="Calibri"/>
              </a:rPr>
              <a:t>–  Tissue self-supports in true 3D — no scaffold required</a:t>
            </a:r>
          </a:p>
          <a:p>
            <a:pPr algn="l">
              <a:spcBef>
                <a:spcPts val="500"/>
              </a:spcBef>
              <a:spcAft>
                <a:spcPts val="0"/>
              </a:spcAft>
            </a:pPr>
            <a:r>
              <a:rPr sz="1200" b="0">
                <a:solidFill>
                  <a:srgbClr val="07524C"/>
                </a:solidFill>
                <a:latin typeface="Calibri"/>
              </a:rPr>
              <a:t>–  More uniform cell distribution and structural integrity</a:t>
            </a:r>
          </a:p>
          <a:p>
            <a:pPr algn="l">
              <a:spcBef>
                <a:spcPts val="500"/>
              </a:spcBef>
              <a:spcAft>
                <a:spcPts val="0"/>
              </a:spcAft>
            </a:pPr>
            <a:r>
              <a:rPr sz="1200" b="0">
                <a:solidFill>
                  <a:srgbClr val="07524C"/>
                </a:solidFill>
                <a:latin typeface="Calibri"/>
              </a:rPr>
              <a:t>–  Complex vascular and hollow geometries become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THE TECHNOLOGY</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How Space-Based Bioprinting Works: Five-Step Process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6</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2233513" cy="21488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93192" y="1243584"/>
            <a:ext cx="329184" cy="329184"/>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1</a:t>
            </a:r>
          </a:p>
        </p:txBody>
      </p:sp>
      <p:sp>
        <p:nvSpPr>
          <p:cNvPr id="10" name="Rectangle 9"/>
          <p:cNvSpPr/>
          <p:nvPr/>
        </p:nvSpPr>
        <p:spPr>
          <a:xfrm>
            <a:off x="2471257" y="2039112"/>
            <a:ext cx="164592" cy="36576"/>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1719072"/>
            <a:ext cx="1959193" cy="502920"/>
          </a:xfrm>
          <a:prstGeom prst="rect">
            <a:avLst/>
          </a:prstGeom>
          <a:noFill/>
        </p:spPr>
        <p:txBody>
          <a:bodyPr wrap="square" anchor="t"/>
          <a:lstStyle/>
          <a:p>
            <a:pPr algn="l">
              <a:spcBef>
                <a:spcPts val="0"/>
              </a:spcBef>
              <a:spcAft>
                <a:spcPts val="0"/>
              </a:spcAft>
            </a:pPr>
            <a:r>
              <a:rPr sz="1300" b="1">
                <a:solidFill>
                  <a:srgbClr val="0B1F33"/>
                </a:solidFill>
                <a:latin typeface="Georgia"/>
              </a:rPr>
              <a:t>Cell Harvest</a:t>
            </a:r>
          </a:p>
        </p:txBody>
      </p:sp>
      <p:sp>
        <p:nvSpPr>
          <p:cNvPr id="12" name="TextBox 11"/>
          <p:cNvSpPr txBox="1"/>
          <p:nvPr/>
        </p:nvSpPr>
        <p:spPr>
          <a:xfrm>
            <a:off x="393192" y="2267712"/>
            <a:ext cx="1959193" cy="822960"/>
          </a:xfrm>
          <a:prstGeom prst="rect">
            <a:avLst/>
          </a:prstGeom>
          <a:noFill/>
        </p:spPr>
        <p:txBody>
          <a:bodyPr wrap="square" anchor="t"/>
          <a:lstStyle/>
          <a:p>
            <a:pPr algn="l">
              <a:spcBef>
                <a:spcPts val="0"/>
              </a:spcBef>
              <a:spcAft>
                <a:spcPts val="0"/>
              </a:spcAft>
            </a:pPr>
            <a:r>
              <a:rPr sz="1000" b="0">
                <a:solidFill>
                  <a:srgbClr val="3A4A5C"/>
                </a:solidFill>
                <a:latin typeface="Calibri"/>
              </a:rPr>
              <a:t>Biopsy yields patient-specific cells, eliminating immunological rejection risk</a:t>
            </a:r>
          </a:p>
        </p:txBody>
      </p:sp>
      <p:sp>
        <p:nvSpPr>
          <p:cNvPr id="13" name="Rectangle 12"/>
          <p:cNvSpPr/>
          <p:nvPr/>
        </p:nvSpPr>
        <p:spPr>
          <a:xfrm>
            <a:off x="2617561" y="1078992"/>
            <a:ext cx="2233513" cy="21488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754721" y="1243584"/>
            <a:ext cx="329184" cy="329184"/>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2</a:t>
            </a:r>
          </a:p>
        </p:txBody>
      </p:sp>
      <p:sp>
        <p:nvSpPr>
          <p:cNvPr id="15" name="Rectangle 14"/>
          <p:cNvSpPr/>
          <p:nvPr/>
        </p:nvSpPr>
        <p:spPr>
          <a:xfrm>
            <a:off x="4832786" y="2039112"/>
            <a:ext cx="164592" cy="36576"/>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4721" y="1719072"/>
            <a:ext cx="1959193" cy="502920"/>
          </a:xfrm>
          <a:prstGeom prst="rect">
            <a:avLst/>
          </a:prstGeom>
          <a:noFill/>
        </p:spPr>
        <p:txBody>
          <a:bodyPr wrap="square" anchor="t"/>
          <a:lstStyle/>
          <a:p>
            <a:pPr algn="l">
              <a:spcBef>
                <a:spcPts val="0"/>
              </a:spcBef>
              <a:spcAft>
                <a:spcPts val="0"/>
              </a:spcAft>
            </a:pPr>
            <a:r>
              <a:rPr sz="1300" b="1">
                <a:solidFill>
                  <a:srgbClr val="0B1F33"/>
                </a:solidFill>
                <a:latin typeface="Georgia"/>
              </a:rPr>
              <a:t>Stem Cell Reprogramming</a:t>
            </a:r>
          </a:p>
        </p:txBody>
      </p:sp>
      <p:sp>
        <p:nvSpPr>
          <p:cNvPr id="17" name="TextBox 16"/>
          <p:cNvSpPr txBox="1"/>
          <p:nvPr/>
        </p:nvSpPr>
        <p:spPr>
          <a:xfrm>
            <a:off x="2754721" y="2267712"/>
            <a:ext cx="1959193" cy="822960"/>
          </a:xfrm>
          <a:prstGeom prst="rect">
            <a:avLst/>
          </a:prstGeom>
          <a:noFill/>
        </p:spPr>
        <p:txBody>
          <a:bodyPr wrap="square" anchor="t"/>
          <a:lstStyle/>
          <a:p>
            <a:pPr algn="l">
              <a:spcBef>
                <a:spcPts val="0"/>
              </a:spcBef>
              <a:spcAft>
                <a:spcPts val="0"/>
              </a:spcAft>
            </a:pPr>
            <a:r>
              <a:rPr sz="1000" b="0">
                <a:solidFill>
                  <a:srgbClr val="3A4A5C"/>
                </a:solidFill>
                <a:latin typeface="Calibri"/>
              </a:rPr>
              <a:t>Nobel-winning iPSC method converts adult cells to pluripotent stem cells</a:t>
            </a:r>
          </a:p>
        </p:txBody>
      </p:sp>
      <p:sp>
        <p:nvSpPr>
          <p:cNvPr id="18" name="Rectangle 17"/>
          <p:cNvSpPr/>
          <p:nvPr/>
        </p:nvSpPr>
        <p:spPr>
          <a:xfrm>
            <a:off x="4979090" y="1078992"/>
            <a:ext cx="2233513" cy="21488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116250" y="1243584"/>
            <a:ext cx="329184" cy="329184"/>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3</a:t>
            </a:r>
          </a:p>
        </p:txBody>
      </p:sp>
      <p:sp>
        <p:nvSpPr>
          <p:cNvPr id="20" name="Rectangle 19"/>
          <p:cNvSpPr/>
          <p:nvPr/>
        </p:nvSpPr>
        <p:spPr>
          <a:xfrm>
            <a:off x="7194316" y="2039112"/>
            <a:ext cx="164592" cy="36576"/>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16250" y="1719072"/>
            <a:ext cx="1959193" cy="502920"/>
          </a:xfrm>
          <a:prstGeom prst="rect">
            <a:avLst/>
          </a:prstGeom>
          <a:noFill/>
        </p:spPr>
        <p:txBody>
          <a:bodyPr wrap="square" anchor="t"/>
          <a:lstStyle/>
          <a:p>
            <a:pPr algn="l">
              <a:spcBef>
                <a:spcPts val="0"/>
              </a:spcBef>
              <a:spcAft>
                <a:spcPts val="0"/>
              </a:spcAft>
            </a:pPr>
            <a:r>
              <a:rPr sz="1300" b="1">
                <a:solidFill>
                  <a:srgbClr val="0B1F33"/>
                </a:solidFill>
                <a:latin typeface="Georgia"/>
              </a:rPr>
              <a:t>Bioink Formulation</a:t>
            </a:r>
          </a:p>
        </p:txBody>
      </p:sp>
      <p:sp>
        <p:nvSpPr>
          <p:cNvPr id="22" name="TextBox 21"/>
          <p:cNvSpPr txBox="1"/>
          <p:nvPr/>
        </p:nvSpPr>
        <p:spPr>
          <a:xfrm>
            <a:off x="5116250" y="2267712"/>
            <a:ext cx="1959193" cy="822960"/>
          </a:xfrm>
          <a:prstGeom prst="rect">
            <a:avLst/>
          </a:prstGeom>
          <a:noFill/>
        </p:spPr>
        <p:txBody>
          <a:bodyPr wrap="square" anchor="t"/>
          <a:lstStyle/>
          <a:p>
            <a:pPr algn="l">
              <a:spcBef>
                <a:spcPts val="0"/>
              </a:spcBef>
              <a:spcAft>
                <a:spcPts val="0"/>
              </a:spcAft>
            </a:pPr>
            <a:r>
              <a:rPr sz="1000" b="0">
                <a:solidFill>
                  <a:srgbClr val="3A4A5C"/>
                </a:solidFill>
                <a:latin typeface="Calibri"/>
              </a:rPr>
              <a:t>Cells suspended in hydrogel optimised for printing viscosity and cell viability</a:t>
            </a:r>
          </a:p>
        </p:txBody>
      </p:sp>
      <p:sp>
        <p:nvSpPr>
          <p:cNvPr id="23" name="Rectangle 22"/>
          <p:cNvSpPr/>
          <p:nvPr/>
        </p:nvSpPr>
        <p:spPr>
          <a:xfrm>
            <a:off x="7340620" y="1078992"/>
            <a:ext cx="2233513" cy="21488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77780" y="1243584"/>
            <a:ext cx="329184" cy="329184"/>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4</a:t>
            </a:r>
          </a:p>
        </p:txBody>
      </p:sp>
      <p:sp>
        <p:nvSpPr>
          <p:cNvPr id="25" name="Rectangle 24"/>
          <p:cNvSpPr/>
          <p:nvPr/>
        </p:nvSpPr>
        <p:spPr>
          <a:xfrm>
            <a:off x="9555845" y="2039112"/>
            <a:ext cx="164592" cy="36576"/>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7780" y="1719072"/>
            <a:ext cx="1959193" cy="502920"/>
          </a:xfrm>
          <a:prstGeom prst="rect">
            <a:avLst/>
          </a:prstGeom>
          <a:noFill/>
        </p:spPr>
        <p:txBody>
          <a:bodyPr wrap="square" anchor="t"/>
          <a:lstStyle/>
          <a:p>
            <a:pPr algn="l">
              <a:spcBef>
                <a:spcPts val="0"/>
              </a:spcBef>
              <a:spcAft>
                <a:spcPts val="0"/>
              </a:spcAft>
            </a:pPr>
            <a:r>
              <a:rPr sz="1300" b="1">
                <a:solidFill>
                  <a:srgbClr val="0B1F33"/>
                </a:solidFill>
                <a:latin typeface="Georgia"/>
              </a:rPr>
              <a:t>In-Orbit Printing</a:t>
            </a:r>
          </a:p>
        </p:txBody>
      </p:sp>
      <p:sp>
        <p:nvSpPr>
          <p:cNvPr id="27" name="TextBox 26"/>
          <p:cNvSpPr txBox="1"/>
          <p:nvPr/>
        </p:nvSpPr>
        <p:spPr>
          <a:xfrm>
            <a:off x="7477780" y="2267712"/>
            <a:ext cx="1959193" cy="822960"/>
          </a:xfrm>
          <a:prstGeom prst="rect">
            <a:avLst/>
          </a:prstGeom>
          <a:noFill/>
        </p:spPr>
        <p:txBody>
          <a:bodyPr wrap="square" anchor="t"/>
          <a:lstStyle/>
          <a:p>
            <a:pPr algn="l">
              <a:spcBef>
                <a:spcPts val="0"/>
              </a:spcBef>
              <a:spcAft>
                <a:spcPts val="0"/>
              </a:spcAft>
            </a:pPr>
            <a:r>
              <a:rPr sz="1000" b="0">
                <a:solidFill>
                  <a:srgbClr val="3A4A5C"/>
                </a:solidFill>
                <a:latin typeface="Calibri"/>
              </a:rPr>
              <a:t>Layer-by-layer deposition in microgravity — no scaffold required</a:t>
            </a:r>
          </a:p>
        </p:txBody>
      </p:sp>
      <p:sp>
        <p:nvSpPr>
          <p:cNvPr id="28" name="Rectangle 27"/>
          <p:cNvSpPr/>
          <p:nvPr/>
        </p:nvSpPr>
        <p:spPr>
          <a:xfrm>
            <a:off x="9702149" y="1078992"/>
            <a:ext cx="2233513" cy="21488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839309" y="1243584"/>
            <a:ext cx="329184" cy="329184"/>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5</a:t>
            </a:r>
          </a:p>
        </p:txBody>
      </p:sp>
      <p:sp>
        <p:nvSpPr>
          <p:cNvPr id="30" name="TextBox 29"/>
          <p:cNvSpPr txBox="1"/>
          <p:nvPr/>
        </p:nvSpPr>
        <p:spPr>
          <a:xfrm>
            <a:off x="9839309" y="1719072"/>
            <a:ext cx="1959193" cy="502920"/>
          </a:xfrm>
          <a:prstGeom prst="rect">
            <a:avLst/>
          </a:prstGeom>
          <a:noFill/>
        </p:spPr>
        <p:txBody>
          <a:bodyPr wrap="square" anchor="t"/>
          <a:lstStyle/>
          <a:p>
            <a:pPr algn="l">
              <a:spcBef>
                <a:spcPts val="0"/>
              </a:spcBef>
              <a:spcAft>
                <a:spcPts val="0"/>
              </a:spcAft>
            </a:pPr>
            <a:r>
              <a:rPr sz="1300" b="1">
                <a:solidFill>
                  <a:srgbClr val="0B1F33"/>
                </a:solidFill>
                <a:latin typeface="Georgia"/>
              </a:rPr>
              <a:t>Tissue Maturation</a:t>
            </a:r>
          </a:p>
        </p:txBody>
      </p:sp>
      <p:sp>
        <p:nvSpPr>
          <p:cNvPr id="31" name="TextBox 30"/>
          <p:cNvSpPr txBox="1"/>
          <p:nvPr/>
        </p:nvSpPr>
        <p:spPr>
          <a:xfrm>
            <a:off x="9839309" y="2267712"/>
            <a:ext cx="1959193" cy="822960"/>
          </a:xfrm>
          <a:prstGeom prst="rect">
            <a:avLst/>
          </a:prstGeom>
          <a:noFill/>
        </p:spPr>
        <p:txBody>
          <a:bodyPr wrap="square" anchor="t"/>
          <a:lstStyle/>
          <a:p>
            <a:pPr algn="l">
              <a:spcBef>
                <a:spcPts val="0"/>
              </a:spcBef>
              <a:spcAft>
                <a:spcPts val="0"/>
              </a:spcAft>
            </a:pPr>
            <a:r>
              <a:rPr sz="1000" b="0">
                <a:solidFill>
                  <a:srgbClr val="3A4A5C"/>
                </a:solidFill>
                <a:latin typeface="Calibri"/>
              </a:rPr>
              <a:t>Bioreactor conditioning allows cells to differentiate into target tissue type</a:t>
            </a:r>
          </a:p>
        </p:txBody>
      </p:sp>
      <p:sp>
        <p:nvSpPr>
          <p:cNvPr id="32" name="Rectangle 31"/>
          <p:cNvSpPr/>
          <p:nvPr/>
        </p:nvSpPr>
        <p:spPr>
          <a:xfrm>
            <a:off x="256032" y="3410711"/>
            <a:ext cx="4572000" cy="27432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bioprint_schematic.png"/>
          <p:cNvPicPr>
            <a:picLocks noChangeAspect="1"/>
          </p:cNvPicPr>
          <p:nvPr/>
        </p:nvPicPr>
        <p:blipFill>
          <a:blip r:embed="rId2"/>
          <a:stretch>
            <a:fillRect/>
          </a:stretch>
        </p:blipFill>
        <p:spPr>
          <a:xfrm>
            <a:off x="484632" y="3639311"/>
            <a:ext cx="4114800" cy="2011680"/>
          </a:xfrm>
          <a:prstGeom prst="rect">
            <a:avLst/>
          </a:prstGeom>
        </p:spPr>
      </p:pic>
      <p:sp>
        <p:nvSpPr>
          <p:cNvPr id="34" name="TextBox 33"/>
          <p:cNvSpPr txBox="1"/>
          <p:nvPr/>
        </p:nvSpPr>
        <p:spPr>
          <a:xfrm>
            <a:off x="484632" y="5696712"/>
            <a:ext cx="4114800" cy="320040"/>
          </a:xfrm>
          <a:prstGeom prst="rect">
            <a:avLst/>
          </a:prstGeom>
          <a:noFill/>
        </p:spPr>
        <p:txBody>
          <a:bodyPr wrap="square" anchor="t"/>
          <a:lstStyle/>
          <a:p>
            <a:pPr algn="l">
              <a:spcBef>
                <a:spcPts val="0"/>
              </a:spcBef>
              <a:spcAft>
                <a:spcPts val="0"/>
              </a:spcAft>
            </a:pPr>
            <a:r>
              <a:rPr sz="950" b="0">
                <a:solidFill>
                  <a:srgbClr val="6B7C8F"/>
                </a:solidFill>
                <a:latin typeface="Calibri"/>
              </a:rPr>
              <a:t>Schematic: layer-by-layer orbital bioprinting hardware</a:t>
            </a:r>
          </a:p>
        </p:txBody>
      </p:sp>
      <p:sp>
        <p:nvSpPr>
          <p:cNvPr id="35" name="Rectangle 34"/>
          <p:cNvSpPr/>
          <p:nvPr/>
        </p:nvSpPr>
        <p:spPr>
          <a:xfrm>
            <a:off x="5010912" y="3410711"/>
            <a:ext cx="6924751" cy="27432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10912" y="3410711"/>
            <a:ext cx="73152" cy="27432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85232" y="3639311"/>
            <a:ext cx="6467551" cy="365760"/>
          </a:xfrm>
          <a:prstGeom prst="rect">
            <a:avLst/>
          </a:prstGeom>
          <a:noFill/>
        </p:spPr>
        <p:txBody>
          <a:bodyPr wrap="square" anchor="t"/>
          <a:lstStyle/>
          <a:p>
            <a:pPr algn="l">
              <a:spcBef>
                <a:spcPts val="0"/>
              </a:spcBef>
              <a:spcAft>
                <a:spcPts val="0"/>
              </a:spcAft>
            </a:pPr>
            <a:r>
              <a:rPr sz="1600" b="1">
                <a:solidFill>
                  <a:srgbClr val="0A6B63"/>
                </a:solidFill>
                <a:latin typeface="Georgia"/>
              </a:rPr>
              <a:t>Why orbit?</a:t>
            </a:r>
          </a:p>
        </p:txBody>
      </p:sp>
      <p:sp>
        <p:nvSpPr>
          <p:cNvPr id="38" name="TextBox 37"/>
          <p:cNvSpPr txBox="1"/>
          <p:nvPr/>
        </p:nvSpPr>
        <p:spPr>
          <a:xfrm>
            <a:off x="5285232" y="4096511"/>
            <a:ext cx="6467551" cy="1234440"/>
          </a:xfrm>
          <a:prstGeom prst="rect">
            <a:avLst/>
          </a:prstGeom>
          <a:noFill/>
        </p:spPr>
        <p:txBody>
          <a:bodyPr wrap="square" anchor="t"/>
          <a:lstStyle/>
          <a:p>
            <a:pPr algn="l">
              <a:spcBef>
                <a:spcPts val="0"/>
              </a:spcBef>
              <a:spcAft>
                <a:spcPts val="0"/>
              </a:spcAft>
            </a:pPr>
            <a:r>
              <a:rPr sz="1150" b="0">
                <a:solidFill>
                  <a:srgbClr val="3A4A5C"/>
                </a:solidFill>
                <a:latin typeface="Calibri"/>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entirely independently of one another.</a:t>
            </a:r>
          </a:p>
        </p:txBody>
      </p:sp>
      <p:sp>
        <p:nvSpPr>
          <p:cNvPr id="39" name="Rectangle 38"/>
          <p:cNvSpPr/>
          <p:nvPr/>
        </p:nvSpPr>
        <p:spPr>
          <a:xfrm>
            <a:off x="5285232" y="5422392"/>
            <a:ext cx="628467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85232" y="5559552"/>
            <a:ext cx="6467551" cy="502920"/>
          </a:xfrm>
          <a:prstGeom prst="rect">
            <a:avLst/>
          </a:prstGeom>
          <a:noFill/>
        </p:spPr>
        <p:txBody>
          <a:bodyPr wrap="square" anchor="t"/>
          <a:lstStyle/>
          <a:p>
            <a:pPr algn="l">
              <a:spcBef>
                <a:spcPts val="0"/>
              </a:spcBef>
              <a:spcAft>
                <a:spcPts val="0"/>
              </a:spcAft>
            </a:pPr>
            <a:r>
              <a:rPr sz="1000" b="0">
                <a:solidFill>
                  <a:srgbClr val="6B7C8F"/>
                </a:solidFill>
                <a:latin typeface="Calibri"/>
              </a:rPr>
              <a:t>Note: Adult cardiac muscle cannot self-regenerate — damaged tissue is replaced by scar tissue that blocks electrical signals, a key driver of CVD mortality and why cardiac is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PRODUCT STRATEGY</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Four High-Value Clinical Verticals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7</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5757519" cy="2587752"/>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25877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307592"/>
            <a:ext cx="731520" cy="320040"/>
          </a:xfrm>
          <a:prstGeom prst="rect">
            <a:avLst/>
          </a:prstGeom>
          <a:noFill/>
        </p:spPr>
        <p:txBody>
          <a:bodyPr wrap="square" anchor="t"/>
          <a:lstStyle/>
          <a:p>
            <a:pPr algn="l">
              <a:spcBef>
                <a:spcPts val="0"/>
              </a:spcBef>
              <a:spcAft>
                <a:spcPts val="0"/>
              </a:spcAft>
            </a:pPr>
            <a:r>
              <a:rPr sz="1800" b="1">
                <a:solidFill>
                  <a:srgbClr val="0A6B63"/>
                </a:solidFill>
                <a:latin typeface="Georgia"/>
              </a:rPr>
              <a:t>01</a:t>
            </a:r>
          </a:p>
        </p:txBody>
      </p:sp>
      <p:sp>
        <p:nvSpPr>
          <p:cNvPr id="11" name="TextBox 10"/>
          <p:cNvSpPr txBox="1"/>
          <p:nvPr/>
        </p:nvSpPr>
        <p:spPr>
          <a:xfrm>
            <a:off x="1261872" y="1335024"/>
            <a:ext cx="4477359" cy="365760"/>
          </a:xfrm>
          <a:prstGeom prst="rect">
            <a:avLst/>
          </a:prstGeom>
          <a:noFill/>
        </p:spPr>
        <p:txBody>
          <a:bodyPr wrap="square" anchor="t"/>
          <a:lstStyle/>
          <a:p>
            <a:pPr algn="l">
              <a:spcBef>
                <a:spcPts val="0"/>
              </a:spcBef>
              <a:spcAft>
                <a:spcPts val="0"/>
              </a:spcAft>
            </a:pPr>
            <a:r>
              <a:rPr sz="1700" b="1">
                <a:solidFill>
                  <a:srgbClr val="0B1F33"/>
                </a:solidFill>
                <a:latin typeface="Georgia"/>
              </a:rPr>
              <a:t>Cardiac Tissue</a:t>
            </a:r>
          </a:p>
        </p:txBody>
      </p:sp>
      <p:sp>
        <p:nvSpPr>
          <p:cNvPr id="12" name="TextBox 11"/>
          <p:cNvSpPr txBox="1"/>
          <p:nvPr/>
        </p:nvSpPr>
        <p:spPr>
          <a:xfrm>
            <a:off x="530352" y="1856231"/>
            <a:ext cx="5254599" cy="1051560"/>
          </a:xfrm>
          <a:prstGeom prst="rect">
            <a:avLst/>
          </a:prstGeom>
          <a:noFill/>
        </p:spPr>
        <p:txBody>
          <a:bodyPr wrap="square" anchor="t"/>
          <a:lstStyle/>
          <a:p>
            <a:pPr algn="l">
              <a:spcBef>
                <a:spcPts val="0"/>
              </a:spcBef>
              <a:spcAft>
                <a:spcPts val="0"/>
              </a:spcAft>
            </a:pPr>
            <a:r>
              <a:rPr sz="1200" b="0">
                <a:solidFill>
                  <a:srgbClr val="3A4A5C"/>
                </a:solidFill>
                <a:latin typeface="Calibri"/>
              </a:rPr>
              <a:t>CVD kills ~2,500 Americans daily. Adult heart tissue cannot regenerate. Redwire returned the first live human cardiac tissue from orbit in May 2024 under BFF-Cardiac.</a:t>
            </a:r>
          </a:p>
        </p:txBody>
      </p:sp>
      <p:sp>
        <p:nvSpPr>
          <p:cNvPr id="13" name="Rectangle 12"/>
          <p:cNvSpPr/>
          <p:nvPr/>
        </p:nvSpPr>
        <p:spPr>
          <a:xfrm>
            <a:off x="530352" y="3163824"/>
            <a:ext cx="5254599"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163824"/>
            <a:ext cx="5071719" cy="320040"/>
          </a:xfrm>
          <a:prstGeom prst="rect">
            <a:avLst/>
          </a:prstGeom>
          <a:noFill/>
        </p:spPr>
        <p:txBody>
          <a:bodyPr wrap="square" anchor="ctr"/>
          <a:lstStyle/>
          <a:p>
            <a:pPr algn="l">
              <a:spcBef>
                <a:spcPts val="0"/>
              </a:spcBef>
              <a:spcAft>
                <a:spcPts val="0"/>
              </a:spcAft>
            </a:pPr>
            <a:r>
              <a:rPr sz="1000" b="1">
                <a:solidFill>
                  <a:srgbClr val="07524C"/>
                </a:solidFill>
                <a:latin typeface="Calibri"/>
              </a:rPr>
              <a:t>Proven by: Redwire BFF-Cardiac, ISS, May 2024</a:t>
            </a:r>
          </a:p>
        </p:txBody>
      </p:sp>
      <p:sp>
        <p:nvSpPr>
          <p:cNvPr id="15" name="Rectangle 14"/>
          <p:cNvSpPr/>
          <p:nvPr/>
        </p:nvSpPr>
        <p:spPr>
          <a:xfrm>
            <a:off x="6178143" y="1078992"/>
            <a:ext cx="5757519" cy="2587752"/>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078992"/>
            <a:ext cx="73152" cy="25877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2463" y="1307592"/>
            <a:ext cx="731520" cy="320040"/>
          </a:xfrm>
          <a:prstGeom prst="rect">
            <a:avLst/>
          </a:prstGeom>
          <a:noFill/>
        </p:spPr>
        <p:txBody>
          <a:bodyPr wrap="square" anchor="t"/>
          <a:lstStyle/>
          <a:p>
            <a:pPr algn="l">
              <a:spcBef>
                <a:spcPts val="0"/>
              </a:spcBef>
              <a:spcAft>
                <a:spcPts val="0"/>
              </a:spcAft>
            </a:pPr>
            <a:r>
              <a:rPr sz="1800" b="1">
                <a:solidFill>
                  <a:srgbClr val="0A6B63"/>
                </a:solidFill>
                <a:latin typeface="Georgia"/>
              </a:rPr>
              <a:t>02</a:t>
            </a:r>
          </a:p>
        </p:txBody>
      </p:sp>
      <p:sp>
        <p:nvSpPr>
          <p:cNvPr id="18" name="TextBox 17"/>
          <p:cNvSpPr txBox="1"/>
          <p:nvPr/>
        </p:nvSpPr>
        <p:spPr>
          <a:xfrm>
            <a:off x="7183983" y="1335024"/>
            <a:ext cx="4477359" cy="365760"/>
          </a:xfrm>
          <a:prstGeom prst="rect">
            <a:avLst/>
          </a:prstGeom>
          <a:noFill/>
        </p:spPr>
        <p:txBody>
          <a:bodyPr wrap="square" anchor="t"/>
          <a:lstStyle/>
          <a:p>
            <a:pPr algn="l">
              <a:spcBef>
                <a:spcPts val="0"/>
              </a:spcBef>
              <a:spcAft>
                <a:spcPts val="0"/>
              </a:spcAft>
            </a:pPr>
            <a:r>
              <a:rPr sz="1700" b="1">
                <a:solidFill>
                  <a:srgbClr val="0B1F33"/>
                </a:solidFill>
                <a:latin typeface="Georgia"/>
              </a:rPr>
              <a:t>Orthopedic Grafts</a:t>
            </a:r>
          </a:p>
        </p:txBody>
      </p:sp>
      <p:sp>
        <p:nvSpPr>
          <p:cNvPr id="19" name="TextBox 18"/>
          <p:cNvSpPr txBox="1"/>
          <p:nvPr/>
        </p:nvSpPr>
        <p:spPr>
          <a:xfrm>
            <a:off x="6452463" y="1856231"/>
            <a:ext cx="5254599" cy="1051560"/>
          </a:xfrm>
          <a:prstGeom prst="rect">
            <a:avLst/>
          </a:prstGeom>
          <a:noFill/>
        </p:spPr>
        <p:txBody>
          <a:bodyPr wrap="square" anchor="t"/>
          <a:lstStyle/>
          <a:p>
            <a:pPr algn="l">
              <a:spcBef>
                <a:spcPts val="0"/>
              </a:spcBef>
              <a:spcAft>
                <a:spcPts val="0"/>
              </a:spcAft>
            </a:pPr>
            <a:r>
              <a:rPr sz="1200" b="0">
                <a:solidFill>
                  <a:srgbClr val="3A4A5C"/>
                </a:solidFill>
                <a:latin typeface="Calibri"/>
              </a:rPr>
              <a:t>Meniscal tears are among the most common U.S. military injuries. Redwire printed the first human knee meniscus in orbit in September 2023, establishing the foundational protocol.</a:t>
            </a:r>
          </a:p>
        </p:txBody>
      </p:sp>
      <p:sp>
        <p:nvSpPr>
          <p:cNvPr id="20" name="Rectangle 19"/>
          <p:cNvSpPr/>
          <p:nvPr/>
        </p:nvSpPr>
        <p:spPr>
          <a:xfrm>
            <a:off x="6452463" y="3163824"/>
            <a:ext cx="5254599"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43903" y="3163824"/>
            <a:ext cx="5071719" cy="320040"/>
          </a:xfrm>
          <a:prstGeom prst="rect">
            <a:avLst/>
          </a:prstGeom>
          <a:noFill/>
        </p:spPr>
        <p:txBody>
          <a:bodyPr wrap="square" anchor="ctr"/>
          <a:lstStyle/>
          <a:p>
            <a:pPr algn="l">
              <a:spcBef>
                <a:spcPts val="0"/>
              </a:spcBef>
              <a:spcAft>
                <a:spcPts val="0"/>
              </a:spcAft>
            </a:pPr>
            <a:r>
              <a:rPr sz="1000" b="1">
                <a:solidFill>
                  <a:srgbClr val="07524C"/>
                </a:solidFill>
                <a:latin typeface="Calibri"/>
              </a:rPr>
              <a:t>Proven by: Redwire BFF-Meniscus-2, ISS, Sept 2023</a:t>
            </a:r>
          </a:p>
        </p:txBody>
      </p:sp>
      <p:sp>
        <p:nvSpPr>
          <p:cNvPr id="22" name="Rectangle 21"/>
          <p:cNvSpPr/>
          <p:nvPr/>
        </p:nvSpPr>
        <p:spPr>
          <a:xfrm>
            <a:off x="256032" y="3831336"/>
            <a:ext cx="5757519" cy="2587752"/>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3831336"/>
            <a:ext cx="73152" cy="25877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4059936"/>
            <a:ext cx="731520" cy="320040"/>
          </a:xfrm>
          <a:prstGeom prst="rect">
            <a:avLst/>
          </a:prstGeom>
          <a:noFill/>
        </p:spPr>
        <p:txBody>
          <a:bodyPr wrap="square" anchor="t"/>
          <a:lstStyle/>
          <a:p>
            <a:pPr algn="l">
              <a:spcBef>
                <a:spcPts val="0"/>
              </a:spcBef>
              <a:spcAft>
                <a:spcPts val="0"/>
              </a:spcAft>
            </a:pPr>
            <a:r>
              <a:rPr sz="1800" b="1">
                <a:solidFill>
                  <a:srgbClr val="0A6B63"/>
                </a:solidFill>
                <a:latin typeface="Georgia"/>
              </a:rPr>
              <a:t>03</a:t>
            </a:r>
          </a:p>
        </p:txBody>
      </p:sp>
      <p:sp>
        <p:nvSpPr>
          <p:cNvPr id="25" name="TextBox 24"/>
          <p:cNvSpPr txBox="1"/>
          <p:nvPr/>
        </p:nvSpPr>
        <p:spPr>
          <a:xfrm>
            <a:off x="1261872" y="4087368"/>
            <a:ext cx="4477359" cy="365760"/>
          </a:xfrm>
          <a:prstGeom prst="rect">
            <a:avLst/>
          </a:prstGeom>
          <a:noFill/>
        </p:spPr>
        <p:txBody>
          <a:bodyPr wrap="square" anchor="t"/>
          <a:lstStyle/>
          <a:p>
            <a:pPr algn="l">
              <a:spcBef>
                <a:spcPts val="0"/>
              </a:spcBef>
              <a:spcAft>
                <a:spcPts val="0"/>
              </a:spcAft>
            </a:pPr>
            <a:r>
              <a:rPr sz="1700" b="1">
                <a:solidFill>
                  <a:srgbClr val="0B1F33"/>
                </a:solidFill>
                <a:latin typeface="Georgia"/>
              </a:rPr>
              <a:t>Artificial Retinas</a:t>
            </a:r>
          </a:p>
        </p:txBody>
      </p:sp>
      <p:sp>
        <p:nvSpPr>
          <p:cNvPr id="26" name="TextBox 25"/>
          <p:cNvSpPr txBox="1"/>
          <p:nvPr/>
        </p:nvSpPr>
        <p:spPr>
          <a:xfrm>
            <a:off x="530352" y="4608576"/>
            <a:ext cx="5254599" cy="1051560"/>
          </a:xfrm>
          <a:prstGeom prst="rect">
            <a:avLst/>
          </a:prstGeom>
          <a:noFill/>
        </p:spPr>
        <p:txBody>
          <a:bodyPr wrap="square" anchor="t"/>
          <a:lstStyle/>
          <a:p>
            <a:pPr algn="l">
              <a:spcBef>
                <a:spcPts val="0"/>
              </a:spcBef>
              <a:spcAft>
                <a:spcPts val="0"/>
              </a:spcAft>
            </a:pPr>
            <a:r>
              <a:rPr sz="1200" b="0">
                <a:solidFill>
                  <a:srgbClr val="3A4A5C"/>
                </a:solidFill>
                <a:latin typeface="Calibri"/>
              </a:rPr>
              <a:t>30 million people worldwide suffer from degenerative retinal disease. LambdaVision has produced consistent 200-layer protein retina films in microgravity across 9 ISS missions.</a:t>
            </a:r>
          </a:p>
        </p:txBody>
      </p:sp>
      <p:sp>
        <p:nvSpPr>
          <p:cNvPr id="27" name="Rectangle 26"/>
          <p:cNvSpPr/>
          <p:nvPr/>
        </p:nvSpPr>
        <p:spPr>
          <a:xfrm>
            <a:off x="530352" y="5916168"/>
            <a:ext cx="5254599"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916168"/>
            <a:ext cx="5071719" cy="320040"/>
          </a:xfrm>
          <a:prstGeom prst="rect">
            <a:avLst/>
          </a:prstGeom>
          <a:noFill/>
        </p:spPr>
        <p:txBody>
          <a:bodyPr wrap="square" anchor="ctr"/>
          <a:lstStyle/>
          <a:p>
            <a:pPr algn="l">
              <a:spcBef>
                <a:spcPts val="0"/>
              </a:spcBef>
              <a:spcAft>
                <a:spcPts val="0"/>
              </a:spcAft>
            </a:pPr>
            <a:r>
              <a:rPr sz="1000" b="1">
                <a:solidFill>
                  <a:srgbClr val="07524C"/>
                </a:solidFill>
                <a:latin typeface="Calibri"/>
              </a:rPr>
              <a:t>Proven by: LambdaVision / Space Tango, 9 ISS missions</a:t>
            </a:r>
          </a:p>
        </p:txBody>
      </p:sp>
      <p:sp>
        <p:nvSpPr>
          <p:cNvPr id="29" name="Rectangle 28"/>
          <p:cNvSpPr/>
          <p:nvPr/>
        </p:nvSpPr>
        <p:spPr>
          <a:xfrm>
            <a:off x="6178143" y="3831336"/>
            <a:ext cx="5757519" cy="2587752"/>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8143" y="3831336"/>
            <a:ext cx="73152" cy="25877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4059936"/>
            <a:ext cx="731520" cy="320040"/>
          </a:xfrm>
          <a:prstGeom prst="rect">
            <a:avLst/>
          </a:prstGeom>
          <a:noFill/>
        </p:spPr>
        <p:txBody>
          <a:bodyPr wrap="square" anchor="t"/>
          <a:lstStyle/>
          <a:p>
            <a:pPr algn="l">
              <a:spcBef>
                <a:spcPts val="0"/>
              </a:spcBef>
              <a:spcAft>
                <a:spcPts val="0"/>
              </a:spcAft>
            </a:pPr>
            <a:r>
              <a:rPr sz="1800" b="1">
                <a:solidFill>
                  <a:srgbClr val="0A6B63"/>
                </a:solidFill>
                <a:latin typeface="Georgia"/>
              </a:rPr>
              <a:t>04</a:t>
            </a:r>
          </a:p>
        </p:txBody>
      </p:sp>
      <p:sp>
        <p:nvSpPr>
          <p:cNvPr id="32" name="TextBox 31"/>
          <p:cNvSpPr txBox="1"/>
          <p:nvPr/>
        </p:nvSpPr>
        <p:spPr>
          <a:xfrm>
            <a:off x="7183983" y="4087368"/>
            <a:ext cx="4477359" cy="365760"/>
          </a:xfrm>
          <a:prstGeom prst="rect">
            <a:avLst/>
          </a:prstGeom>
          <a:noFill/>
        </p:spPr>
        <p:txBody>
          <a:bodyPr wrap="square" anchor="t"/>
          <a:lstStyle/>
          <a:p>
            <a:pPr algn="l">
              <a:spcBef>
                <a:spcPts val="0"/>
              </a:spcBef>
              <a:spcAft>
                <a:spcPts val="0"/>
              </a:spcAft>
            </a:pPr>
            <a:r>
              <a:rPr sz="1700" b="1">
                <a:solidFill>
                  <a:srgbClr val="0B1F33"/>
                </a:solidFill>
                <a:latin typeface="Georgia"/>
              </a:rPr>
              <a:t>Wound Care Patches</a:t>
            </a:r>
          </a:p>
        </p:txBody>
      </p:sp>
      <p:sp>
        <p:nvSpPr>
          <p:cNvPr id="33" name="TextBox 32"/>
          <p:cNvSpPr txBox="1"/>
          <p:nvPr/>
        </p:nvSpPr>
        <p:spPr>
          <a:xfrm>
            <a:off x="6452463" y="4608576"/>
            <a:ext cx="5254599" cy="1051560"/>
          </a:xfrm>
          <a:prstGeom prst="rect">
            <a:avLst/>
          </a:prstGeom>
          <a:noFill/>
        </p:spPr>
        <p:txBody>
          <a:bodyPr wrap="square" anchor="t"/>
          <a:lstStyle/>
          <a:p>
            <a:pPr algn="l">
              <a:spcBef>
                <a:spcPts val="0"/>
              </a:spcBef>
              <a:spcAft>
                <a:spcPts val="0"/>
              </a:spcAft>
            </a:pPr>
            <a:r>
              <a:rPr sz="1200" b="0">
                <a:solidFill>
                  <a:srgbClr val="3A4A5C"/>
                </a:solidFill>
                <a:latin typeface="Calibri"/>
              </a:rPr>
              <a:t>ESA and DLR demonstrated a handheld bioprinter creating customised skin patches aboard the ISS during the Cosmic Kiss mission. Lowest regulatory burden — Samuel's Phase 1 entry point.</a:t>
            </a:r>
          </a:p>
        </p:txBody>
      </p:sp>
      <p:sp>
        <p:nvSpPr>
          <p:cNvPr id="34" name="Rectangle 33"/>
          <p:cNvSpPr/>
          <p:nvPr/>
        </p:nvSpPr>
        <p:spPr>
          <a:xfrm>
            <a:off x="6452463" y="5916168"/>
            <a:ext cx="5254599"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3903" y="5916168"/>
            <a:ext cx="5071719" cy="320040"/>
          </a:xfrm>
          <a:prstGeom prst="rect">
            <a:avLst/>
          </a:prstGeom>
          <a:noFill/>
        </p:spPr>
        <p:txBody>
          <a:bodyPr wrap="square" anchor="ctr"/>
          <a:lstStyle/>
          <a:p>
            <a:pPr algn="l">
              <a:spcBef>
                <a:spcPts val="0"/>
              </a:spcBef>
              <a:spcAft>
                <a:spcPts val="0"/>
              </a:spcAft>
            </a:pPr>
            <a:r>
              <a:rPr sz="1000" b="1">
                <a:solidFill>
                  <a:srgbClr val="07524C"/>
                </a:solidFill>
                <a:latin typeface="Calibri"/>
              </a:rPr>
              <a:t>Proven by: ESA/DLR Bioprint FirstAid, ISS,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THIRD-PARTY VALIDATION</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Eight Years of Proven In-Orbit Bioprinting</a:t>
            </a:r>
          </a:p>
        </p:txBody>
      </p:sp>
      <p:sp>
        <p:nvSpPr>
          <p:cNvPr id="5" name="TextBox 4"/>
          <p:cNvSpPr txBox="1"/>
          <p:nvPr/>
        </p:nvSpPr>
        <p:spPr>
          <a:xfrm>
            <a:off x="256032" y="768096"/>
            <a:ext cx="11679631" cy="237744"/>
          </a:xfrm>
          <a:prstGeom prst="rect">
            <a:avLst/>
          </a:prstGeom>
          <a:noFill/>
        </p:spPr>
        <p:txBody>
          <a:bodyPr wrap="square" anchor="t"/>
          <a:lstStyle/>
          <a:p>
            <a:pPr algn="l">
              <a:spcBef>
                <a:spcPts val="0"/>
              </a:spcBef>
              <a:spcAft>
                <a:spcPts val="0"/>
              </a:spcAft>
            </a:pPr>
            <a:r>
              <a:rPr sz="1100" b="0">
                <a:solidFill>
                  <a:srgbClr val="6B7C8F"/>
                </a:solidFill>
                <a:latin typeface="Calibri"/>
              </a:rPr>
              <a:t>Every milestone below was publicly announced by an independent organisation — not by Samuel Space.</a:t>
            </a:r>
          </a:p>
        </p:txBody>
      </p:sp>
      <p:sp>
        <p:nvSpPr>
          <p:cNvPr id="6" name="TextBox 5"/>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8</a:t>
            </a:r>
          </a:p>
        </p:txBody>
      </p:sp>
      <p:sp>
        <p:nvSpPr>
          <p:cNvPr id="7" name="Rectangle 6"/>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9" name="Rectangle 8"/>
          <p:cNvSpPr/>
          <p:nvPr/>
        </p:nvSpPr>
        <p:spPr>
          <a:xfrm>
            <a:off x="256032" y="3794760"/>
            <a:ext cx="11679631" cy="381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89707"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81147" y="3538728"/>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2608" y="1481328"/>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591056"/>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2018</a:t>
            </a:r>
          </a:p>
        </p:txBody>
      </p:sp>
      <p:sp>
        <p:nvSpPr>
          <p:cNvPr id="14" name="TextBox 13"/>
          <p:cNvSpPr txBox="1"/>
          <p:nvPr/>
        </p:nvSpPr>
        <p:spPr>
          <a:xfrm>
            <a:off x="384048" y="1865376"/>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ROSCOSMOS Organ.Aut</a:t>
            </a:r>
          </a:p>
        </p:txBody>
      </p:sp>
      <p:sp>
        <p:nvSpPr>
          <p:cNvPr id="15" name="TextBox 14"/>
          <p:cNvSpPr txBox="1"/>
          <p:nvPr/>
        </p:nvSpPr>
        <p:spPr>
          <a:xfrm>
            <a:off x="384048" y="2395728"/>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First magnetic 3D bioprinter on ISS; tissue constructs created 2018–2020 prove in-orbit approach</a:t>
            </a:r>
          </a:p>
        </p:txBody>
      </p:sp>
      <p:sp>
        <p:nvSpPr>
          <p:cNvPr id="16" name="Oval 15"/>
          <p:cNvSpPr/>
          <p:nvPr/>
        </p:nvSpPr>
        <p:spPr>
          <a:xfrm>
            <a:off x="2658226"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9666" y="3895344"/>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961126" y="4050792"/>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52566" y="4160520"/>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2019</a:t>
            </a:r>
          </a:p>
        </p:txBody>
      </p:sp>
      <p:sp>
        <p:nvSpPr>
          <p:cNvPr id="20" name="TextBox 19"/>
          <p:cNvSpPr txBox="1"/>
          <p:nvPr/>
        </p:nvSpPr>
        <p:spPr>
          <a:xfrm>
            <a:off x="2052566" y="4434840"/>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Redwire BFF Launched</a:t>
            </a:r>
          </a:p>
        </p:txBody>
      </p:sp>
      <p:sp>
        <p:nvSpPr>
          <p:cNvPr id="21" name="TextBox 20"/>
          <p:cNvSpPr txBox="1"/>
          <p:nvPr/>
        </p:nvSpPr>
        <p:spPr>
          <a:xfrm>
            <a:off x="2052566" y="4965192"/>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BioFabrication Facility (Techshot/nScrypt) arrives on ISS; later wins Popular Science Best of What's New 2023</a:t>
            </a:r>
          </a:p>
        </p:txBody>
      </p:sp>
      <p:sp>
        <p:nvSpPr>
          <p:cNvPr id="22" name="Oval 21"/>
          <p:cNvSpPr/>
          <p:nvPr/>
        </p:nvSpPr>
        <p:spPr>
          <a:xfrm>
            <a:off x="4326744"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8184" y="3538728"/>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29645" y="1481328"/>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21085" y="1591056"/>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Dec '21</a:t>
            </a:r>
          </a:p>
        </p:txBody>
      </p:sp>
      <p:sp>
        <p:nvSpPr>
          <p:cNvPr id="26" name="TextBox 25"/>
          <p:cNvSpPr txBox="1"/>
          <p:nvPr/>
        </p:nvSpPr>
        <p:spPr>
          <a:xfrm>
            <a:off x="3721085" y="1865376"/>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ESA Bioprint FirstAid</a:t>
            </a:r>
          </a:p>
        </p:txBody>
      </p:sp>
      <p:sp>
        <p:nvSpPr>
          <p:cNvPr id="27" name="TextBox 26"/>
          <p:cNvSpPr txBox="1"/>
          <p:nvPr/>
        </p:nvSpPr>
        <p:spPr>
          <a:xfrm>
            <a:off x="3721085" y="2395728"/>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Portable handheld bioprinter demonstrated by astronaut Matthias Maurer on Cosmic Kiss mission</a:t>
            </a:r>
          </a:p>
        </p:txBody>
      </p:sp>
      <p:sp>
        <p:nvSpPr>
          <p:cNvPr id="28" name="Oval 27"/>
          <p:cNvSpPr/>
          <p:nvPr/>
        </p:nvSpPr>
        <p:spPr>
          <a:xfrm>
            <a:off x="5995263"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86703" y="3895344"/>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298164" y="4050792"/>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89604" y="4160520"/>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Sep '23</a:t>
            </a:r>
          </a:p>
        </p:txBody>
      </p:sp>
      <p:sp>
        <p:nvSpPr>
          <p:cNvPr id="32" name="TextBox 31"/>
          <p:cNvSpPr txBox="1"/>
          <p:nvPr/>
        </p:nvSpPr>
        <p:spPr>
          <a:xfrm>
            <a:off x="5389604" y="4434840"/>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First Knee Meniscus</a:t>
            </a:r>
          </a:p>
        </p:txBody>
      </p:sp>
      <p:sp>
        <p:nvSpPr>
          <p:cNvPr id="33" name="TextBox 32"/>
          <p:cNvSpPr txBox="1"/>
          <p:nvPr/>
        </p:nvSpPr>
        <p:spPr>
          <a:xfrm>
            <a:off x="5389604" y="4965192"/>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Redwire BFF prints first human knee meniscus in orbit — musculoskeletal milestone</a:t>
            </a:r>
          </a:p>
        </p:txBody>
      </p:sp>
      <p:sp>
        <p:nvSpPr>
          <p:cNvPr id="34" name="Oval 33"/>
          <p:cNvSpPr/>
          <p:nvPr/>
        </p:nvSpPr>
        <p:spPr>
          <a:xfrm>
            <a:off x="7663782"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55222" y="3538728"/>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966682" y="1481328"/>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58122" y="1591056"/>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May '24</a:t>
            </a:r>
          </a:p>
        </p:txBody>
      </p:sp>
      <p:sp>
        <p:nvSpPr>
          <p:cNvPr id="38" name="TextBox 37"/>
          <p:cNvSpPr txBox="1"/>
          <p:nvPr/>
        </p:nvSpPr>
        <p:spPr>
          <a:xfrm>
            <a:off x="7058122" y="1865376"/>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First Cardiac Tissue</a:t>
            </a:r>
          </a:p>
        </p:txBody>
      </p:sp>
      <p:sp>
        <p:nvSpPr>
          <p:cNvPr id="39" name="TextBox 38"/>
          <p:cNvSpPr txBox="1"/>
          <p:nvPr/>
        </p:nvSpPr>
        <p:spPr>
          <a:xfrm>
            <a:off x="7058122" y="2395728"/>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Redwire returns first live 3D-bioprinted human cardiac tissue from ISS under BFF-Cardiac</a:t>
            </a:r>
          </a:p>
        </p:txBody>
      </p:sp>
      <p:sp>
        <p:nvSpPr>
          <p:cNvPr id="40" name="Oval 39"/>
          <p:cNvSpPr/>
          <p:nvPr/>
        </p:nvSpPr>
        <p:spPr>
          <a:xfrm>
            <a:off x="9332301"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23741" y="3895344"/>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35201" y="4050792"/>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26641" y="4160520"/>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Sep '25</a:t>
            </a:r>
          </a:p>
        </p:txBody>
      </p:sp>
      <p:sp>
        <p:nvSpPr>
          <p:cNvPr id="44" name="TextBox 43"/>
          <p:cNvSpPr txBox="1"/>
          <p:nvPr/>
        </p:nvSpPr>
        <p:spPr>
          <a:xfrm>
            <a:off x="8726641" y="4434840"/>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Grants &amp; Contracts</a:t>
            </a:r>
          </a:p>
        </p:txBody>
      </p:sp>
      <p:sp>
        <p:nvSpPr>
          <p:cNvPr id="45" name="TextBox 44"/>
          <p:cNvSpPr txBox="1"/>
          <p:nvPr/>
        </p:nvSpPr>
        <p:spPr>
          <a:xfrm>
            <a:off x="8726641" y="4965192"/>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LambdaVision wins NASA InSPA Phase 2; Redwire awarded $25M NASA IDIQ for continued ISS work</a:t>
            </a:r>
          </a:p>
        </p:txBody>
      </p:sp>
      <p:sp>
        <p:nvSpPr>
          <p:cNvPr id="46" name="Oval 45"/>
          <p:cNvSpPr/>
          <p:nvPr/>
        </p:nvSpPr>
        <p:spPr>
          <a:xfrm>
            <a:off x="11000819" y="3694176"/>
            <a:ext cx="201168" cy="20116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1092259" y="3538728"/>
            <a:ext cx="18288" cy="155447"/>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03720" y="1481328"/>
            <a:ext cx="1595366" cy="20574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95160" y="1591056"/>
            <a:ext cx="1412486" cy="228600"/>
          </a:xfrm>
          <a:prstGeom prst="rect">
            <a:avLst/>
          </a:prstGeom>
          <a:noFill/>
        </p:spPr>
        <p:txBody>
          <a:bodyPr wrap="square" anchor="t"/>
          <a:lstStyle/>
          <a:p>
            <a:pPr algn="l">
              <a:spcBef>
                <a:spcPts val="0"/>
              </a:spcBef>
              <a:spcAft>
                <a:spcPts val="0"/>
              </a:spcAft>
            </a:pPr>
            <a:r>
              <a:rPr sz="1050" b="1">
                <a:solidFill>
                  <a:srgbClr val="0A6B63"/>
                </a:solidFill>
                <a:latin typeface="Calibri"/>
              </a:rPr>
              <a:t>2026</a:t>
            </a:r>
          </a:p>
        </p:txBody>
      </p:sp>
      <p:sp>
        <p:nvSpPr>
          <p:cNvPr id="50" name="TextBox 49"/>
          <p:cNvSpPr txBox="1"/>
          <p:nvPr/>
        </p:nvSpPr>
        <p:spPr>
          <a:xfrm>
            <a:off x="10395160" y="1865376"/>
            <a:ext cx="1412486" cy="457200"/>
          </a:xfrm>
          <a:prstGeom prst="rect">
            <a:avLst/>
          </a:prstGeom>
          <a:noFill/>
        </p:spPr>
        <p:txBody>
          <a:bodyPr wrap="square" anchor="t"/>
          <a:lstStyle/>
          <a:p>
            <a:pPr algn="l">
              <a:spcBef>
                <a:spcPts val="0"/>
              </a:spcBef>
              <a:spcAft>
                <a:spcPts val="0"/>
              </a:spcAft>
            </a:pPr>
            <a:r>
              <a:rPr sz="1200" b="1">
                <a:solidFill>
                  <a:srgbClr val="0B1F33"/>
                </a:solidFill>
                <a:latin typeface="Georgia"/>
              </a:rPr>
              <a:t>Commercial Pivot</a:t>
            </a:r>
          </a:p>
        </p:txBody>
      </p:sp>
      <p:sp>
        <p:nvSpPr>
          <p:cNvPr id="51" name="TextBox 50"/>
          <p:cNvSpPr txBox="1"/>
          <p:nvPr/>
        </p:nvSpPr>
        <p:spPr>
          <a:xfrm>
            <a:off x="10395160" y="2395728"/>
            <a:ext cx="1412486" cy="1005840"/>
          </a:xfrm>
          <a:prstGeom prst="rect">
            <a:avLst/>
          </a:prstGeom>
          <a:noFill/>
        </p:spPr>
        <p:txBody>
          <a:bodyPr wrap="square" anchor="t"/>
          <a:lstStyle/>
          <a:p>
            <a:pPr algn="l">
              <a:spcBef>
                <a:spcPts val="0"/>
              </a:spcBef>
              <a:spcAft>
                <a:spcPts val="0"/>
              </a:spcAft>
            </a:pPr>
            <a:r>
              <a:rPr sz="1000" b="0">
                <a:solidFill>
                  <a:srgbClr val="3A4A5C"/>
                </a:solidFill>
                <a:latin typeface="Calibri"/>
              </a:rPr>
              <a:t>LambdaVision closes $7M seed; commercial station payload slots reserved ahead of ISS 2030 retirement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MARKET OPPORTUNITY</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A Rapidly Expanding Global Addressable Market</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9</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TextBox 7"/>
          <p:cNvSpPr txBox="1"/>
          <p:nvPr/>
        </p:nvSpPr>
        <p:spPr>
          <a:xfrm>
            <a:off x="256032" y="1078992"/>
            <a:ext cx="6217920" cy="274320"/>
          </a:xfrm>
          <a:prstGeom prst="rect">
            <a:avLst/>
          </a:prstGeom>
          <a:noFill/>
        </p:spPr>
        <p:txBody>
          <a:bodyPr wrap="square" anchor="t"/>
          <a:lstStyle/>
          <a:p>
            <a:pPr algn="l">
              <a:spcBef>
                <a:spcPts val="0"/>
              </a:spcBef>
              <a:spcAft>
                <a:spcPts val="0"/>
              </a:spcAft>
            </a:pPr>
            <a:r>
              <a:rPr sz="1200" b="1">
                <a:solidFill>
                  <a:srgbClr val="0B1F33"/>
                </a:solidFill>
                <a:latin typeface="Calibri"/>
              </a:rPr>
              <a:t>Global 3D Bioprinting Market 2023–2030 (USD $B)</a:t>
            </a:r>
          </a:p>
        </p:txBody>
      </p:sp>
      <p:graphicFrame>
        <p:nvGraphicFramePr>
          <p:cNvPr id="9" name="Chart 8"/>
          <p:cNvGraphicFramePr>
            <a:graphicFrameLocks noGrp="1"/>
          </p:cNvGraphicFramePr>
          <p:nvPr/>
        </p:nvGraphicFramePr>
        <p:xfrm>
          <a:off x="256032" y="1399031"/>
          <a:ext cx="630936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256032" y="5989320"/>
            <a:ext cx="6309360" cy="274320"/>
          </a:xfrm>
          <a:prstGeom prst="rect">
            <a:avLst/>
          </a:prstGeom>
          <a:noFill/>
        </p:spPr>
        <p:txBody>
          <a:bodyPr wrap="square" anchor="t"/>
          <a:lstStyle/>
          <a:p>
            <a:pPr algn="l">
              <a:spcBef>
                <a:spcPts val="0"/>
              </a:spcBef>
              <a:spcAft>
                <a:spcPts val="0"/>
              </a:spcAft>
            </a:pPr>
            <a:r>
              <a:rPr sz="850" b="0">
                <a:solidFill>
                  <a:srgbClr val="6B7C8F"/>
                </a:solidFill>
                <a:latin typeface="Calibri"/>
              </a:rPr>
              <a:t>Source: Mordor Intelligence, 3D Bioprinting Market Report, Jan 2026  ·  ~15.9% CAGR</a:t>
            </a:r>
          </a:p>
        </p:txBody>
      </p:sp>
      <p:sp>
        <p:nvSpPr>
          <p:cNvPr id="11" name="Rectangle 10"/>
          <p:cNvSpPr/>
          <p:nvPr/>
        </p:nvSpPr>
        <p:spPr>
          <a:xfrm>
            <a:off x="6903720" y="1078992"/>
            <a:ext cx="493776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03720" y="1078992"/>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1243584"/>
            <a:ext cx="4526280" cy="320040"/>
          </a:xfrm>
          <a:prstGeom prst="rect">
            <a:avLst/>
          </a:prstGeom>
          <a:noFill/>
        </p:spPr>
        <p:txBody>
          <a:bodyPr wrap="square" anchor="t"/>
          <a:lstStyle/>
          <a:p>
            <a:pPr algn="l">
              <a:spcBef>
                <a:spcPts val="0"/>
              </a:spcBef>
              <a:spcAft>
                <a:spcPts val="0"/>
              </a:spcAft>
            </a:pPr>
            <a:r>
              <a:rPr sz="1800" b="1">
                <a:solidFill>
                  <a:srgbClr val="0A6B63"/>
                </a:solidFill>
                <a:latin typeface="Georgia"/>
              </a:rPr>
              <a:t>$3.5B+</a:t>
            </a:r>
          </a:p>
        </p:txBody>
      </p:sp>
      <p:sp>
        <p:nvSpPr>
          <p:cNvPr id="14" name="TextBox 13"/>
          <p:cNvSpPr txBox="1"/>
          <p:nvPr/>
        </p:nvSpPr>
        <p:spPr>
          <a:xfrm>
            <a:off x="7132320" y="1581912"/>
            <a:ext cx="4526280" cy="548640"/>
          </a:xfrm>
          <a:prstGeom prst="rect">
            <a:avLst/>
          </a:prstGeom>
          <a:noFill/>
        </p:spPr>
        <p:txBody>
          <a:bodyPr wrap="square" anchor="t"/>
          <a:lstStyle/>
          <a:p>
            <a:pPr algn="l">
              <a:spcBef>
                <a:spcPts val="0"/>
              </a:spcBef>
              <a:spcAft>
                <a:spcPts val="0"/>
              </a:spcAft>
            </a:pPr>
            <a:r>
              <a:rPr sz="1100" b="0">
                <a:solidFill>
                  <a:srgbClr val="3A4A5C"/>
                </a:solidFill>
                <a:latin typeface="Calibri"/>
              </a:rPr>
              <a:t>Projected global 3D bioprinting market by 2030 at ~15.9% CAGR (Mordor Intelligence, Jan 2026)</a:t>
            </a:r>
          </a:p>
        </p:txBody>
      </p:sp>
      <p:sp>
        <p:nvSpPr>
          <p:cNvPr id="15" name="Rectangle 14"/>
          <p:cNvSpPr/>
          <p:nvPr/>
        </p:nvSpPr>
        <p:spPr>
          <a:xfrm>
            <a:off x="6903720" y="2331720"/>
            <a:ext cx="493776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03720" y="2331720"/>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2496312"/>
            <a:ext cx="4526280" cy="320040"/>
          </a:xfrm>
          <a:prstGeom prst="rect">
            <a:avLst/>
          </a:prstGeom>
          <a:noFill/>
        </p:spPr>
        <p:txBody>
          <a:bodyPr wrap="square" anchor="t"/>
          <a:lstStyle/>
          <a:p>
            <a:pPr algn="l">
              <a:spcBef>
                <a:spcPts val="0"/>
              </a:spcBef>
              <a:spcAft>
                <a:spcPts val="0"/>
              </a:spcAft>
            </a:pPr>
            <a:r>
              <a:rPr sz="1800" b="1">
                <a:solidFill>
                  <a:srgbClr val="0A6B63"/>
                </a:solidFill>
                <a:latin typeface="Georgia"/>
              </a:rPr>
              <a:t>Dec 2024</a:t>
            </a:r>
          </a:p>
        </p:txBody>
      </p:sp>
      <p:sp>
        <p:nvSpPr>
          <p:cNvPr id="18" name="TextBox 17"/>
          <p:cNvSpPr txBox="1"/>
          <p:nvPr/>
        </p:nvSpPr>
        <p:spPr>
          <a:xfrm>
            <a:off x="7132320" y="2834639"/>
            <a:ext cx="4526280" cy="548640"/>
          </a:xfrm>
          <a:prstGeom prst="rect">
            <a:avLst/>
          </a:prstGeom>
          <a:noFill/>
        </p:spPr>
        <p:txBody>
          <a:bodyPr wrap="square" anchor="t"/>
          <a:lstStyle/>
          <a:p>
            <a:pPr algn="l">
              <a:spcBef>
                <a:spcPts val="0"/>
              </a:spcBef>
              <a:spcAft>
                <a:spcPts val="0"/>
              </a:spcAft>
            </a:pPr>
            <a:r>
              <a:rPr sz="1100" b="0">
                <a:solidFill>
                  <a:srgbClr val="3A4A5C"/>
                </a:solidFill>
                <a:latin typeface="Calibri"/>
              </a:rPr>
              <a:t>FDA cleared Symvess — first tissue-engineered vascular graft — setting a direct regulatory precedent</a:t>
            </a:r>
          </a:p>
        </p:txBody>
      </p:sp>
      <p:sp>
        <p:nvSpPr>
          <p:cNvPr id="19" name="Rectangle 18"/>
          <p:cNvSpPr/>
          <p:nvPr/>
        </p:nvSpPr>
        <p:spPr>
          <a:xfrm>
            <a:off x="6903720" y="3584448"/>
            <a:ext cx="493776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03720" y="3584448"/>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0" y="3749039"/>
            <a:ext cx="4526280" cy="320040"/>
          </a:xfrm>
          <a:prstGeom prst="rect">
            <a:avLst/>
          </a:prstGeom>
          <a:noFill/>
        </p:spPr>
        <p:txBody>
          <a:bodyPr wrap="square" anchor="t"/>
          <a:lstStyle/>
          <a:p>
            <a:pPr algn="l">
              <a:spcBef>
                <a:spcPts val="0"/>
              </a:spcBef>
              <a:spcAft>
                <a:spcPts val="0"/>
              </a:spcAft>
            </a:pPr>
            <a:r>
              <a:rPr sz="1800" b="1">
                <a:solidFill>
                  <a:srgbClr val="0A6B63"/>
                </a:solidFill>
                <a:latin typeface="Georgia"/>
              </a:rPr>
              <a:t>$420M+</a:t>
            </a:r>
          </a:p>
        </p:txBody>
      </p:sp>
      <p:sp>
        <p:nvSpPr>
          <p:cNvPr id="22" name="TextBox 21"/>
          <p:cNvSpPr txBox="1"/>
          <p:nvPr/>
        </p:nvSpPr>
        <p:spPr>
          <a:xfrm>
            <a:off x="7132320" y="4087368"/>
            <a:ext cx="4526280" cy="548640"/>
          </a:xfrm>
          <a:prstGeom prst="rect">
            <a:avLst/>
          </a:prstGeom>
          <a:noFill/>
        </p:spPr>
        <p:txBody>
          <a:bodyPr wrap="square" anchor="t"/>
          <a:lstStyle/>
          <a:p>
            <a:pPr algn="l">
              <a:spcBef>
                <a:spcPts val="0"/>
              </a:spcBef>
              <a:spcAft>
                <a:spcPts val="0"/>
              </a:spcAft>
            </a:pPr>
            <a:r>
              <a:rPr sz="1100" b="0">
                <a:solidFill>
                  <a:srgbClr val="3A4A5C"/>
                </a:solidFill>
                <a:latin typeface="Calibri"/>
              </a:rPr>
              <a:t>Committed by pharma companies to commercial-station research programs through 2030 (industry research)</a:t>
            </a:r>
          </a:p>
        </p:txBody>
      </p:sp>
      <p:sp>
        <p:nvSpPr>
          <p:cNvPr id="23" name="Rectangle 22"/>
          <p:cNvSpPr/>
          <p:nvPr/>
        </p:nvSpPr>
        <p:spPr>
          <a:xfrm>
            <a:off x="6903720" y="4837176"/>
            <a:ext cx="4937760" cy="114300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03720" y="4837176"/>
            <a:ext cx="64008" cy="114300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0" y="5001768"/>
            <a:ext cx="4526280" cy="320040"/>
          </a:xfrm>
          <a:prstGeom prst="rect">
            <a:avLst/>
          </a:prstGeom>
          <a:noFill/>
        </p:spPr>
        <p:txBody>
          <a:bodyPr wrap="square" anchor="t"/>
          <a:lstStyle/>
          <a:p>
            <a:pPr algn="l">
              <a:spcBef>
                <a:spcPts val="0"/>
              </a:spcBef>
              <a:spcAft>
                <a:spcPts val="0"/>
              </a:spcAft>
            </a:pPr>
            <a:r>
              <a:rPr sz="1800" b="1">
                <a:solidFill>
                  <a:srgbClr val="0A6B63"/>
                </a:solidFill>
                <a:latin typeface="Georgia"/>
              </a:rPr>
              <a:t>$200–400M</a:t>
            </a:r>
          </a:p>
        </p:txBody>
      </p:sp>
      <p:sp>
        <p:nvSpPr>
          <p:cNvPr id="26" name="TextBox 25"/>
          <p:cNvSpPr txBox="1"/>
          <p:nvPr/>
        </p:nvSpPr>
        <p:spPr>
          <a:xfrm>
            <a:off x="7132320" y="5340096"/>
            <a:ext cx="4526280" cy="548640"/>
          </a:xfrm>
          <a:prstGeom prst="rect">
            <a:avLst/>
          </a:prstGeom>
          <a:noFill/>
        </p:spPr>
        <p:txBody>
          <a:bodyPr wrap="square" anchor="t"/>
          <a:lstStyle/>
          <a:p>
            <a:pPr algn="l">
              <a:spcBef>
                <a:spcPts val="0"/>
              </a:spcBef>
              <a:spcAft>
                <a:spcPts val="0"/>
              </a:spcAft>
            </a:pPr>
            <a:r>
              <a:rPr sz="1100" b="0">
                <a:solidFill>
                  <a:srgbClr val="3A4A5C"/>
                </a:solidFill>
                <a:latin typeface="Calibri"/>
              </a:rPr>
              <a:t>Samuel's estimated initial SAM by 2030 (cardiac patches, ortho grafts, retinal constructs)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MARKET TIMING</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Four Converging Tailwinds Create a Unique Entry Window</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10</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5766663" cy="2624328"/>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2624328"/>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280160"/>
            <a:ext cx="5309463" cy="365760"/>
          </a:xfrm>
          <a:prstGeom prst="rect">
            <a:avLst/>
          </a:prstGeom>
          <a:noFill/>
        </p:spPr>
        <p:txBody>
          <a:bodyPr wrap="square" anchor="t"/>
          <a:lstStyle/>
          <a:p>
            <a:pPr algn="l">
              <a:spcBef>
                <a:spcPts val="0"/>
              </a:spcBef>
              <a:spcAft>
                <a:spcPts val="0"/>
              </a:spcAft>
            </a:pPr>
            <a:r>
              <a:rPr sz="2200" b="1">
                <a:solidFill>
                  <a:srgbClr val="0A6B63"/>
                </a:solidFill>
                <a:latin typeface="Georgia"/>
              </a:rPr>
              <a:t>~89%</a:t>
            </a:r>
          </a:p>
        </p:txBody>
      </p:sp>
      <p:sp>
        <p:nvSpPr>
          <p:cNvPr id="11" name="TextBox 10"/>
          <p:cNvSpPr txBox="1"/>
          <p:nvPr/>
        </p:nvSpPr>
        <p:spPr>
          <a:xfrm>
            <a:off x="530352" y="1673352"/>
            <a:ext cx="5309463" cy="256032"/>
          </a:xfrm>
          <a:prstGeom prst="rect">
            <a:avLst/>
          </a:prstGeom>
          <a:noFill/>
        </p:spPr>
        <p:txBody>
          <a:bodyPr wrap="square" anchor="t"/>
          <a:lstStyle/>
          <a:p>
            <a:pPr algn="l">
              <a:spcBef>
                <a:spcPts val="0"/>
              </a:spcBef>
              <a:spcAft>
                <a:spcPts val="0"/>
              </a:spcAft>
            </a:pPr>
            <a:r>
              <a:rPr sz="1000" b="0">
                <a:solidFill>
                  <a:srgbClr val="6B7C8F"/>
                </a:solidFill>
                <a:latin typeface="Calibri"/>
              </a:rPr>
              <a:t>reduction in launch cost/kg since 2010</a:t>
            </a:r>
          </a:p>
        </p:txBody>
      </p:sp>
      <p:sp>
        <p:nvSpPr>
          <p:cNvPr id="12" name="TextBox 11"/>
          <p:cNvSpPr txBox="1"/>
          <p:nvPr/>
        </p:nvSpPr>
        <p:spPr>
          <a:xfrm>
            <a:off x="530352" y="2039112"/>
            <a:ext cx="5309463" cy="320040"/>
          </a:xfrm>
          <a:prstGeom prst="rect">
            <a:avLst/>
          </a:prstGeom>
          <a:noFill/>
        </p:spPr>
        <p:txBody>
          <a:bodyPr wrap="square" anchor="t"/>
          <a:lstStyle/>
          <a:p>
            <a:pPr algn="l">
              <a:spcBef>
                <a:spcPts val="0"/>
              </a:spcBef>
              <a:spcAft>
                <a:spcPts val="0"/>
              </a:spcAft>
            </a:pPr>
            <a:r>
              <a:rPr sz="1500" b="1">
                <a:solidFill>
                  <a:srgbClr val="0B1F33"/>
                </a:solidFill>
                <a:latin typeface="Georgia"/>
              </a:rPr>
              <a:t>Launch Costs Have Collapsed</a:t>
            </a:r>
          </a:p>
        </p:txBody>
      </p:sp>
      <p:sp>
        <p:nvSpPr>
          <p:cNvPr id="13" name="TextBox 12"/>
          <p:cNvSpPr txBox="1"/>
          <p:nvPr/>
        </p:nvSpPr>
        <p:spPr>
          <a:xfrm>
            <a:off x="530352" y="2450591"/>
            <a:ext cx="5309463" cy="1051560"/>
          </a:xfrm>
          <a:prstGeom prst="rect">
            <a:avLst/>
          </a:prstGeom>
          <a:noFill/>
        </p:spPr>
        <p:txBody>
          <a:bodyPr wrap="square" anchor="t"/>
          <a:lstStyle/>
          <a:p>
            <a:pPr algn="l">
              <a:spcBef>
                <a:spcPts val="0"/>
              </a:spcBef>
              <a:spcAft>
                <a:spcPts val="0"/>
              </a:spcAft>
            </a:pPr>
            <a:r>
              <a:rPr sz="1100" b="0">
                <a:solidFill>
                  <a:srgbClr val="3A4A5C"/>
                </a:solidFill>
                <a:latin typeface="Calibri"/>
              </a:rPr>
              <a:t>Cost-to-orbit has dropped from ~$54,000/kg (Space Shuttle era) to ~$6,000/kg (Falcon 9). Starship is expected to reduce this further. Research payloads that were cost-prohibitive a decade ago are now commercially viable.</a:t>
            </a:r>
          </a:p>
        </p:txBody>
      </p:sp>
      <p:sp>
        <p:nvSpPr>
          <p:cNvPr id="14" name="Rectangle 13"/>
          <p:cNvSpPr/>
          <p:nvPr/>
        </p:nvSpPr>
        <p:spPr>
          <a:xfrm>
            <a:off x="6168999" y="1078992"/>
            <a:ext cx="5766663" cy="2624328"/>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8999" y="1078992"/>
            <a:ext cx="73152" cy="2624328"/>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280160"/>
            <a:ext cx="5309463" cy="365760"/>
          </a:xfrm>
          <a:prstGeom prst="rect">
            <a:avLst/>
          </a:prstGeom>
          <a:noFill/>
        </p:spPr>
        <p:txBody>
          <a:bodyPr wrap="square" anchor="t"/>
          <a:lstStyle/>
          <a:p>
            <a:pPr algn="l">
              <a:spcBef>
                <a:spcPts val="0"/>
              </a:spcBef>
              <a:spcAft>
                <a:spcPts val="0"/>
              </a:spcAft>
            </a:pPr>
            <a:r>
              <a:rPr sz="2200" b="1">
                <a:solidFill>
                  <a:srgbClr val="0A6B63"/>
                </a:solidFill>
                <a:latin typeface="Georgia"/>
              </a:rPr>
              <a:t>4</a:t>
            </a:r>
          </a:p>
        </p:txBody>
      </p:sp>
      <p:sp>
        <p:nvSpPr>
          <p:cNvPr id="17" name="TextBox 16"/>
          <p:cNvSpPr txBox="1"/>
          <p:nvPr/>
        </p:nvSpPr>
        <p:spPr>
          <a:xfrm>
            <a:off x="6443319" y="1673352"/>
            <a:ext cx="5309463" cy="256032"/>
          </a:xfrm>
          <a:prstGeom prst="rect">
            <a:avLst/>
          </a:prstGeom>
          <a:noFill/>
        </p:spPr>
        <p:txBody>
          <a:bodyPr wrap="square" anchor="t"/>
          <a:lstStyle/>
          <a:p>
            <a:pPr algn="l">
              <a:spcBef>
                <a:spcPts val="0"/>
              </a:spcBef>
              <a:spcAft>
                <a:spcPts val="0"/>
              </a:spcAft>
            </a:pPr>
            <a:r>
              <a:rPr sz="1000" b="0">
                <a:solidFill>
                  <a:srgbClr val="6B7C8F"/>
                </a:solidFill>
                <a:latin typeface="Calibri"/>
              </a:rPr>
              <a:t>NASA-funded commercial station programs</a:t>
            </a:r>
          </a:p>
        </p:txBody>
      </p:sp>
      <p:sp>
        <p:nvSpPr>
          <p:cNvPr id="18" name="TextBox 17"/>
          <p:cNvSpPr txBox="1"/>
          <p:nvPr/>
        </p:nvSpPr>
        <p:spPr>
          <a:xfrm>
            <a:off x="6443319" y="2039112"/>
            <a:ext cx="5309463" cy="320040"/>
          </a:xfrm>
          <a:prstGeom prst="rect">
            <a:avLst/>
          </a:prstGeom>
          <a:noFill/>
        </p:spPr>
        <p:txBody>
          <a:bodyPr wrap="square" anchor="t"/>
          <a:lstStyle/>
          <a:p>
            <a:pPr algn="l">
              <a:spcBef>
                <a:spcPts val="0"/>
              </a:spcBef>
              <a:spcAft>
                <a:spcPts val="0"/>
              </a:spcAft>
            </a:pPr>
            <a:r>
              <a:rPr sz="1500" b="1">
                <a:solidFill>
                  <a:srgbClr val="0B1F33"/>
                </a:solidFill>
                <a:latin typeface="Georgia"/>
              </a:rPr>
              <a:t>Commercial Stations Are Coming</a:t>
            </a:r>
          </a:p>
        </p:txBody>
      </p:sp>
      <p:sp>
        <p:nvSpPr>
          <p:cNvPr id="19" name="TextBox 18"/>
          <p:cNvSpPr txBox="1"/>
          <p:nvPr/>
        </p:nvSpPr>
        <p:spPr>
          <a:xfrm>
            <a:off x="6443319" y="2450591"/>
            <a:ext cx="5309463" cy="1051560"/>
          </a:xfrm>
          <a:prstGeom prst="rect">
            <a:avLst/>
          </a:prstGeom>
          <a:noFill/>
        </p:spPr>
        <p:txBody>
          <a:bodyPr wrap="square" anchor="t"/>
          <a:lstStyle/>
          <a:p>
            <a:pPr algn="l">
              <a:spcBef>
                <a:spcPts val="0"/>
              </a:spcBef>
              <a:spcAft>
                <a:spcPts val="0"/>
              </a:spcAft>
            </a:pPr>
            <a:r>
              <a:rPr sz="1100" b="0">
                <a:solidFill>
                  <a:srgbClr val="3A4A5C"/>
                </a:solidFill>
                <a:latin typeface="Calibri"/>
              </a:rPr>
              <a:t>ISS retires ~2030. NASA's CLD program has funded four successors: Starlab (Voyager/Airbus, targeting 2029), Axiom Station, Orbital Reef (Blue Origin/Sierra Space), and Vast Haven-1. Samuel is designed station-agnostic from day one.</a:t>
            </a:r>
          </a:p>
        </p:txBody>
      </p:sp>
      <p:sp>
        <p:nvSpPr>
          <p:cNvPr id="20" name="Rectangle 19"/>
          <p:cNvSpPr/>
          <p:nvPr/>
        </p:nvSpPr>
        <p:spPr>
          <a:xfrm>
            <a:off x="256032" y="3849624"/>
            <a:ext cx="5766663" cy="2624328"/>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6032" y="3849624"/>
            <a:ext cx="73152" cy="2624328"/>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4050791"/>
            <a:ext cx="5309463" cy="365760"/>
          </a:xfrm>
          <a:prstGeom prst="rect">
            <a:avLst/>
          </a:prstGeom>
          <a:noFill/>
        </p:spPr>
        <p:txBody>
          <a:bodyPr wrap="square" anchor="t"/>
          <a:lstStyle/>
          <a:p>
            <a:pPr algn="l">
              <a:spcBef>
                <a:spcPts val="0"/>
              </a:spcBef>
              <a:spcAft>
                <a:spcPts val="0"/>
              </a:spcAft>
            </a:pPr>
            <a:r>
              <a:rPr sz="2200" b="1">
                <a:solidFill>
                  <a:srgbClr val="0A6B63"/>
                </a:solidFill>
                <a:latin typeface="Georgia"/>
              </a:rPr>
              <a:t>Dec 2024</a:t>
            </a:r>
          </a:p>
        </p:txBody>
      </p:sp>
      <p:sp>
        <p:nvSpPr>
          <p:cNvPr id="23" name="TextBox 22"/>
          <p:cNvSpPr txBox="1"/>
          <p:nvPr/>
        </p:nvSpPr>
        <p:spPr>
          <a:xfrm>
            <a:off x="530352" y="4443984"/>
            <a:ext cx="5309463" cy="256032"/>
          </a:xfrm>
          <a:prstGeom prst="rect">
            <a:avLst/>
          </a:prstGeom>
          <a:noFill/>
        </p:spPr>
        <p:txBody>
          <a:bodyPr wrap="square" anchor="t"/>
          <a:lstStyle/>
          <a:p>
            <a:pPr algn="l">
              <a:spcBef>
                <a:spcPts val="0"/>
              </a:spcBef>
              <a:spcAft>
                <a:spcPts val="0"/>
              </a:spcAft>
            </a:pPr>
            <a:r>
              <a:rPr sz="1000" b="0">
                <a:solidFill>
                  <a:srgbClr val="6B7C8F"/>
                </a:solidFill>
                <a:latin typeface="Calibri"/>
              </a:rPr>
              <a:t>First FDA-cleared tissue-engineered vascular graft</a:t>
            </a:r>
          </a:p>
        </p:txBody>
      </p:sp>
      <p:sp>
        <p:nvSpPr>
          <p:cNvPr id="24" name="TextBox 23"/>
          <p:cNvSpPr txBox="1"/>
          <p:nvPr/>
        </p:nvSpPr>
        <p:spPr>
          <a:xfrm>
            <a:off x="530352" y="4809744"/>
            <a:ext cx="5309463" cy="320040"/>
          </a:xfrm>
          <a:prstGeom prst="rect">
            <a:avLst/>
          </a:prstGeom>
          <a:noFill/>
        </p:spPr>
        <p:txBody>
          <a:bodyPr wrap="square" anchor="t"/>
          <a:lstStyle/>
          <a:p>
            <a:pPr algn="l">
              <a:spcBef>
                <a:spcPts val="0"/>
              </a:spcBef>
              <a:spcAft>
                <a:spcPts val="0"/>
              </a:spcAft>
            </a:pPr>
            <a:r>
              <a:rPr sz="1500" b="1">
                <a:solidFill>
                  <a:srgbClr val="0B1F33"/>
                </a:solidFill>
                <a:latin typeface="Georgia"/>
              </a:rPr>
              <a:t>Regulatory Precedent Is Set</a:t>
            </a:r>
          </a:p>
        </p:txBody>
      </p:sp>
      <p:sp>
        <p:nvSpPr>
          <p:cNvPr id="25" name="TextBox 24"/>
          <p:cNvSpPr txBox="1"/>
          <p:nvPr/>
        </p:nvSpPr>
        <p:spPr>
          <a:xfrm>
            <a:off x="530352" y="5221224"/>
            <a:ext cx="5309463" cy="1051560"/>
          </a:xfrm>
          <a:prstGeom prst="rect">
            <a:avLst/>
          </a:prstGeom>
          <a:noFill/>
        </p:spPr>
        <p:txBody>
          <a:bodyPr wrap="square" anchor="t"/>
          <a:lstStyle/>
          <a:p>
            <a:pPr algn="l">
              <a:spcBef>
                <a:spcPts val="0"/>
              </a:spcBef>
              <a:spcAft>
                <a:spcPts val="0"/>
              </a:spcAft>
            </a:pPr>
            <a:r>
              <a:rPr sz="1100" b="0">
                <a:solidFill>
                  <a:srgbClr val="3A4A5C"/>
                </a:solidFill>
                <a:latin typeface="Calibri"/>
              </a:rPr>
              <a:t>The FDA cleared Symvess — the first tissue-engineered synthetic vascular graft — in December 2024. This is the single most important regulatory precedent for clinical bioprinted tissue and validates the FDA's review pathway.</a:t>
            </a:r>
          </a:p>
        </p:txBody>
      </p:sp>
      <p:sp>
        <p:nvSpPr>
          <p:cNvPr id="26" name="Rectangle 25"/>
          <p:cNvSpPr/>
          <p:nvPr/>
        </p:nvSpPr>
        <p:spPr>
          <a:xfrm>
            <a:off x="6168999" y="3849624"/>
            <a:ext cx="5766663" cy="2624328"/>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8999" y="3849624"/>
            <a:ext cx="73152" cy="2624328"/>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050791"/>
            <a:ext cx="5309463" cy="365760"/>
          </a:xfrm>
          <a:prstGeom prst="rect">
            <a:avLst/>
          </a:prstGeom>
          <a:noFill/>
        </p:spPr>
        <p:txBody>
          <a:bodyPr wrap="square" anchor="t"/>
          <a:lstStyle/>
          <a:p>
            <a:pPr algn="l">
              <a:spcBef>
                <a:spcPts val="0"/>
              </a:spcBef>
              <a:spcAft>
                <a:spcPts val="0"/>
              </a:spcAft>
            </a:pPr>
            <a:r>
              <a:rPr sz="2200" b="1">
                <a:solidFill>
                  <a:srgbClr val="0A6B63"/>
                </a:solidFill>
                <a:latin typeface="Georgia"/>
              </a:rPr>
              <a:t>$329M</a:t>
            </a:r>
          </a:p>
        </p:txBody>
      </p:sp>
      <p:sp>
        <p:nvSpPr>
          <p:cNvPr id="29" name="TextBox 28"/>
          <p:cNvSpPr txBox="1"/>
          <p:nvPr/>
        </p:nvSpPr>
        <p:spPr>
          <a:xfrm>
            <a:off x="6443319" y="4443984"/>
            <a:ext cx="5309463" cy="256032"/>
          </a:xfrm>
          <a:prstGeom prst="rect">
            <a:avLst/>
          </a:prstGeom>
          <a:noFill/>
        </p:spPr>
        <p:txBody>
          <a:bodyPr wrap="square" anchor="t"/>
          <a:lstStyle/>
          <a:p>
            <a:pPr algn="l">
              <a:spcBef>
                <a:spcPts val="0"/>
              </a:spcBef>
              <a:spcAft>
                <a:spcPts val="0"/>
              </a:spcAft>
            </a:pPr>
            <a:r>
              <a:rPr sz="1000" b="0">
                <a:solidFill>
                  <a:srgbClr val="6B7C8F"/>
                </a:solidFill>
                <a:latin typeface="Calibri"/>
              </a:rPr>
              <a:t>Raised by Varda Space (in-space manufacturing)</a:t>
            </a:r>
          </a:p>
        </p:txBody>
      </p:sp>
      <p:sp>
        <p:nvSpPr>
          <p:cNvPr id="30" name="TextBox 29"/>
          <p:cNvSpPr txBox="1"/>
          <p:nvPr/>
        </p:nvSpPr>
        <p:spPr>
          <a:xfrm>
            <a:off x="6443319" y="4809744"/>
            <a:ext cx="5309463" cy="320040"/>
          </a:xfrm>
          <a:prstGeom prst="rect">
            <a:avLst/>
          </a:prstGeom>
          <a:noFill/>
        </p:spPr>
        <p:txBody>
          <a:bodyPr wrap="square" anchor="t"/>
          <a:lstStyle/>
          <a:p>
            <a:pPr algn="l">
              <a:spcBef>
                <a:spcPts val="0"/>
              </a:spcBef>
              <a:spcAft>
                <a:spcPts val="0"/>
              </a:spcAft>
            </a:pPr>
            <a:r>
              <a:rPr sz="1500" b="1">
                <a:solidFill>
                  <a:srgbClr val="0B1F33"/>
                </a:solidFill>
                <a:latin typeface="Georgia"/>
              </a:rPr>
              <a:t>Capital Is Already Flowing</a:t>
            </a:r>
          </a:p>
        </p:txBody>
      </p:sp>
      <p:sp>
        <p:nvSpPr>
          <p:cNvPr id="31" name="TextBox 30"/>
          <p:cNvSpPr txBox="1"/>
          <p:nvPr/>
        </p:nvSpPr>
        <p:spPr>
          <a:xfrm>
            <a:off x="6443319" y="5221224"/>
            <a:ext cx="5309463" cy="1051560"/>
          </a:xfrm>
          <a:prstGeom prst="rect">
            <a:avLst/>
          </a:prstGeom>
          <a:noFill/>
        </p:spPr>
        <p:txBody>
          <a:bodyPr wrap="square" anchor="t"/>
          <a:lstStyle/>
          <a:p>
            <a:pPr algn="l">
              <a:spcBef>
                <a:spcPts val="0"/>
              </a:spcBef>
              <a:spcAft>
                <a:spcPts val="0"/>
              </a:spcAft>
            </a:pPr>
            <a:r>
              <a:rPr sz="1100" b="0">
                <a:solidFill>
                  <a:srgbClr val="3A4A5C"/>
                </a:solidFill>
                <a:latin typeface="Calibri"/>
              </a:rPr>
              <a:t>Varda Space Industries has raised $329M total, including a $187M Series C (July 2025) led by Natural Capital and Shrug Capital with Founders Fund and Khosla Ventures. LambdaVision closed a $7M seed atop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OUR PLATFORM</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Station-Agnostic Payload Platform</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11</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TextBox 7"/>
          <p:cNvSpPr txBox="1"/>
          <p:nvPr/>
        </p:nvSpPr>
        <p:spPr>
          <a:xfrm>
            <a:off x="256032" y="1078992"/>
            <a:ext cx="6949440" cy="640080"/>
          </a:xfrm>
          <a:prstGeom prst="rect">
            <a:avLst/>
          </a:prstGeom>
          <a:noFill/>
        </p:spPr>
        <p:txBody>
          <a:bodyPr wrap="square" anchor="t"/>
          <a:lstStyle/>
          <a:p>
            <a:pPr algn="l">
              <a:spcBef>
                <a:spcPts val="0"/>
              </a:spcBef>
              <a:spcAft>
                <a:spcPts val="0"/>
              </a:spcAft>
            </a:pPr>
            <a:r>
              <a:rPr sz="1200" b="0">
                <a:solidFill>
                  <a:srgbClr val="3A4A5C"/>
                </a:solidFill>
                <a:latin typeface="Calibri"/>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p>
        </p:txBody>
      </p:sp>
      <p:sp>
        <p:nvSpPr>
          <p:cNvPr id="9" name="Rectangle 8"/>
          <p:cNvSpPr/>
          <p:nvPr/>
        </p:nvSpPr>
        <p:spPr>
          <a:xfrm>
            <a:off x="256032" y="1856231"/>
            <a:ext cx="6949440" cy="96012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1856231"/>
            <a:ext cx="73152" cy="9601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 y="1993391"/>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01</a:t>
            </a:r>
          </a:p>
        </p:txBody>
      </p:sp>
      <p:sp>
        <p:nvSpPr>
          <p:cNvPr id="12" name="TextBox 11"/>
          <p:cNvSpPr txBox="1"/>
          <p:nvPr/>
        </p:nvSpPr>
        <p:spPr>
          <a:xfrm>
            <a:off x="1124712" y="1993391"/>
            <a:ext cx="5760720" cy="274320"/>
          </a:xfrm>
          <a:prstGeom prst="rect">
            <a:avLst/>
          </a:prstGeom>
          <a:noFill/>
        </p:spPr>
        <p:txBody>
          <a:bodyPr wrap="square" anchor="t"/>
          <a:lstStyle/>
          <a:p>
            <a:pPr algn="l">
              <a:spcBef>
                <a:spcPts val="0"/>
              </a:spcBef>
              <a:spcAft>
                <a:spcPts val="0"/>
              </a:spcAft>
            </a:pPr>
            <a:r>
              <a:rPr sz="1400" b="1">
                <a:solidFill>
                  <a:srgbClr val="0B1F33"/>
                </a:solidFill>
                <a:latin typeface="Georgia"/>
              </a:rPr>
              <a:t>Modular Payload Design</a:t>
            </a:r>
          </a:p>
        </p:txBody>
      </p:sp>
      <p:sp>
        <p:nvSpPr>
          <p:cNvPr id="13" name="TextBox 12"/>
          <p:cNvSpPr txBox="1"/>
          <p:nvPr/>
        </p:nvSpPr>
        <p:spPr>
          <a:xfrm>
            <a:off x="1124712" y="2313432"/>
            <a:ext cx="5760720" cy="411480"/>
          </a:xfrm>
          <a:prstGeom prst="rect">
            <a:avLst/>
          </a:prstGeom>
          <a:noFill/>
        </p:spPr>
        <p:txBody>
          <a:bodyPr wrap="square" anchor="t"/>
          <a:lstStyle/>
          <a:p>
            <a:pPr algn="l">
              <a:spcBef>
                <a:spcPts val="0"/>
              </a:spcBef>
              <a:spcAft>
                <a:spcPts val="0"/>
              </a:spcAft>
            </a:pPr>
            <a:r>
              <a:rPr sz="1100" b="0">
                <a:solidFill>
                  <a:srgbClr val="3A4A5C"/>
                </a:solidFill>
                <a:latin typeface="Calibri"/>
              </a:rPr>
              <a:t>Hardware footprint matches standard double-locker form factor compatible with ISS, Starlab, and Axiom interfaces — one build, many stations.</a:t>
            </a:r>
          </a:p>
        </p:txBody>
      </p:sp>
      <p:sp>
        <p:nvSpPr>
          <p:cNvPr id="14" name="Rectangle 13"/>
          <p:cNvSpPr/>
          <p:nvPr/>
        </p:nvSpPr>
        <p:spPr>
          <a:xfrm>
            <a:off x="256032" y="2907791"/>
            <a:ext cx="6949440" cy="96012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907791"/>
            <a:ext cx="73152" cy="9601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4632" y="3044951"/>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02</a:t>
            </a:r>
          </a:p>
        </p:txBody>
      </p:sp>
      <p:sp>
        <p:nvSpPr>
          <p:cNvPr id="17" name="TextBox 16"/>
          <p:cNvSpPr txBox="1"/>
          <p:nvPr/>
        </p:nvSpPr>
        <p:spPr>
          <a:xfrm>
            <a:off x="1124712" y="3044951"/>
            <a:ext cx="5760720" cy="274320"/>
          </a:xfrm>
          <a:prstGeom prst="rect">
            <a:avLst/>
          </a:prstGeom>
          <a:noFill/>
        </p:spPr>
        <p:txBody>
          <a:bodyPr wrap="square" anchor="t"/>
          <a:lstStyle/>
          <a:p>
            <a:pPr algn="l">
              <a:spcBef>
                <a:spcPts val="0"/>
              </a:spcBef>
              <a:spcAft>
                <a:spcPts val="0"/>
              </a:spcAft>
            </a:pPr>
            <a:r>
              <a:rPr sz="1400" b="1">
                <a:solidFill>
                  <a:srgbClr val="0B1F33"/>
                </a:solidFill>
                <a:latin typeface="Georgia"/>
              </a:rPr>
              <a:t>Proprietary Cell-Line IP</a:t>
            </a:r>
          </a:p>
        </p:txBody>
      </p:sp>
      <p:sp>
        <p:nvSpPr>
          <p:cNvPr id="18" name="TextBox 17"/>
          <p:cNvSpPr txBox="1"/>
          <p:nvPr/>
        </p:nvSpPr>
        <p:spPr>
          <a:xfrm>
            <a:off x="1124712" y="3364991"/>
            <a:ext cx="5760720" cy="411480"/>
          </a:xfrm>
          <a:prstGeom prst="rect">
            <a:avLst/>
          </a:prstGeom>
          <a:noFill/>
        </p:spPr>
        <p:txBody>
          <a:bodyPr wrap="square" anchor="t"/>
          <a:lstStyle/>
          <a:p>
            <a:pPr algn="l">
              <a:spcBef>
                <a:spcPts val="0"/>
              </a:spcBef>
              <a:spcAft>
                <a:spcPts val="0"/>
              </a:spcAft>
            </a:pPr>
            <a:r>
              <a:rPr sz="1100" b="0">
                <a:solidFill>
                  <a:srgbClr val="3A4A5C"/>
                </a:solidFill>
                <a:latin typeface="Calibri"/>
              </a:rPr>
              <a:t>Bioink formulations and printing protocols optimised for microgravity are the core defensible IP asset, accumulated across every mission flown.</a:t>
            </a:r>
          </a:p>
        </p:txBody>
      </p:sp>
      <p:sp>
        <p:nvSpPr>
          <p:cNvPr id="19" name="Rectangle 18"/>
          <p:cNvSpPr/>
          <p:nvPr/>
        </p:nvSpPr>
        <p:spPr>
          <a:xfrm>
            <a:off x="256032" y="3959352"/>
            <a:ext cx="6949440" cy="96012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6032" y="3959352"/>
            <a:ext cx="73152" cy="9601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4096512"/>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03</a:t>
            </a:r>
          </a:p>
        </p:txBody>
      </p:sp>
      <p:sp>
        <p:nvSpPr>
          <p:cNvPr id="22" name="TextBox 21"/>
          <p:cNvSpPr txBox="1"/>
          <p:nvPr/>
        </p:nvSpPr>
        <p:spPr>
          <a:xfrm>
            <a:off x="1124712" y="4096512"/>
            <a:ext cx="5760720" cy="274320"/>
          </a:xfrm>
          <a:prstGeom prst="rect">
            <a:avLst/>
          </a:prstGeom>
          <a:noFill/>
        </p:spPr>
        <p:txBody>
          <a:bodyPr wrap="square" anchor="t"/>
          <a:lstStyle/>
          <a:p>
            <a:pPr algn="l">
              <a:spcBef>
                <a:spcPts val="0"/>
              </a:spcBef>
              <a:spcAft>
                <a:spcPts val="0"/>
              </a:spcAft>
            </a:pPr>
            <a:r>
              <a:rPr sz="1400" b="1">
                <a:solidFill>
                  <a:srgbClr val="0B1F33"/>
                </a:solidFill>
                <a:latin typeface="Georgia"/>
              </a:rPr>
              <a:t>Service-First Revenue</a:t>
            </a:r>
          </a:p>
        </p:txBody>
      </p:sp>
      <p:sp>
        <p:nvSpPr>
          <p:cNvPr id="23" name="TextBox 22"/>
          <p:cNvSpPr txBox="1"/>
          <p:nvPr/>
        </p:nvSpPr>
        <p:spPr>
          <a:xfrm>
            <a:off x="1124712" y="4416552"/>
            <a:ext cx="5760720" cy="411480"/>
          </a:xfrm>
          <a:prstGeom prst="rect">
            <a:avLst/>
          </a:prstGeom>
          <a:noFill/>
        </p:spPr>
        <p:txBody>
          <a:bodyPr wrap="square" anchor="t"/>
          <a:lstStyle/>
          <a:p>
            <a:pPr algn="l">
              <a:spcBef>
                <a:spcPts val="0"/>
              </a:spcBef>
              <a:spcAft>
                <a:spcPts val="0"/>
              </a:spcAft>
            </a:pPr>
            <a:r>
              <a:rPr sz="1100" b="0">
                <a:solidFill>
                  <a:srgbClr val="3A4A5C"/>
                </a:solidFill>
                <a:latin typeface="Calibri"/>
              </a:rPr>
              <a:t>Fee-for-service bioprinting generates near-term revenue from pharma and academic customers while building the IP base that creates long-term enterprise value.</a:t>
            </a:r>
          </a:p>
        </p:txBody>
      </p:sp>
      <p:sp>
        <p:nvSpPr>
          <p:cNvPr id="24" name="TextBox 23"/>
          <p:cNvSpPr txBox="1"/>
          <p:nvPr/>
        </p:nvSpPr>
        <p:spPr>
          <a:xfrm>
            <a:off x="7589520" y="1078992"/>
            <a:ext cx="4251960" cy="274320"/>
          </a:xfrm>
          <a:prstGeom prst="rect">
            <a:avLst/>
          </a:prstGeom>
          <a:noFill/>
        </p:spPr>
        <p:txBody>
          <a:bodyPr wrap="square" anchor="t"/>
          <a:lstStyle/>
          <a:p>
            <a:pPr algn="l">
              <a:spcBef>
                <a:spcPts val="0"/>
              </a:spcBef>
              <a:spcAft>
                <a:spcPts val="0"/>
              </a:spcAft>
            </a:pPr>
            <a:r>
              <a:rPr sz="1000" b="1">
                <a:solidFill>
                  <a:srgbClr val="0A6B63"/>
                </a:solidFill>
                <a:latin typeface="Calibri"/>
              </a:rPr>
              <a:t>STATION ECOSYSTEM COMPATIBILITY</a:t>
            </a:r>
          </a:p>
        </p:txBody>
      </p:sp>
      <p:sp>
        <p:nvSpPr>
          <p:cNvPr id="25" name="Rectangle 24"/>
          <p:cNvSpPr/>
          <p:nvPr/>
        </p:nvSpPr>
        <p:spPr>
          <a:xfrm>
            <a:off x="7589520" y="1444752"/>
            <a:ext cx="4251960" cy="5029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444752"/>
            <a:ext cx="4251960" cy="502920"/>
          </a:xfrm>
          <a:prstGeom prst="rect">
            <a:avLst/>
          </a:prstGeom>
          <a:noFill/>
        </p:spPr>
        <p:txBody>
          <a:bodyPr wrap="square" anchor="ctr"/>
          <a:lstStyle/>
          <a:p>
            <a:pPr algn="ctr">
              <a:spcBef>
                <a:spcPts val="0"/>
              </a:spcBef>
              <a:spcAft>
                <a:spcPts val="0"/>
              </a:spcAft>
            </a:pPr>
            <a:r>
              <a:rPr sz="1400" b="1">
                <a:solidFill>
                  <a:srgbClr val="FFFFFF"/>
                </a:solidFill>
                <a:latin typeface="Georgia"/>
              </a:rPr>
              <a:t>Samuel Space Platform</a:t>
            </a:r>
          </a:p>
        </p:txBody>
      </p:sp>
      <p:sp>
        <p:nvSpPr>
          <p:cNvPr id="27" name="Rectangle 26"/>
          <p:cNvSpPr/>
          <p:nvPr/>
        </p:nvSpPr>
        <p:spPr>
          <a:xfrm>
            <a:off x="7589520" y="2084832"/>
            <a:ext cx="4251960" cy="6400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89520" y="2084832"/>
            <a:ext cx="73152" cy="640080"/>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18120" y="2157984"/>
            <a:ext cx="3886200" cy="256032"/>
          </a:xfrm>
          <a:prstGeom prst="rect">
            <a:avLst/>
          </a:prstGeom>
          <a:noFill/>
        </p:spPr>
        <p:txBody>
          <a:bodyPr wrap="square" anchor="t"/>
          <a:lstStyle/>
          <a:p>
            <a:pPr algn="l">
              <a:spcBef>
                <a:spcPts val="0"/>
              </a:spcBef>
              <a:spcAft>
                <a:spcPts val="0"/>
              </a:spcAft>
            </a:pPr>
            <a:r>
              <a:rPr sz="1250" b="1">
                <a:solidFill>
                  <a:srgbClr val="0B1F33"/>
                </a:solidFill>
                <a:latin typeface="Georgia"/>
              </a:rPr>
              <a:t>ISS</a:t>
            </a:r>
          </a:p>
        </p:txBody>
      </p:sp>
      <p:sp>
        <p:nvSpPr>
          <p:cNvPr id="30" name="TextBox 29"/>
          <p:cNvSpPr txBox="1"/>
          <p:nvPr/>
        </p:nvSpPr>
        <p:spPr>
          <a:xfrm>
            <a:off x="7818120" y="2414016"/>
            <a:ext cx="3886200" cy="256032"/>
          </a:xfrm>
          <a:prstGeom prst="rect">
            <a:avLst/>
          </a:prstGeom>
          <a:noFill/>
        </p:spPr>
        <p:txBody>
          <a:bodyPr wrap="square" anchor="t"/>
          <a:lstStyle/>
          <a:p>
            <a:pPr algn="l">
              <a:spcBef>
                <a:spcPts val="0"/>
              </a:spcBef>
              <a:spcAft>
                <a:spcPts val="0"/>
              </a:spcAft>
            </a:pPr>
            <a:r>
              <a:rPr sz="1000" b="0">
                <a:solidFill>
                  <a:srgbClr val="6B7C8F"/>
                </a:solidFill>
                <a:latin typeface="Calibri"/>
              </a:rPr>
              <a:t>Redwire BFF — active now through ~2030</a:t>
            </a:r>
          </a:p>
        </p:txBody>
      </p:sp>
      <p:sp>
        <p:nvSpPr>
          <p:cNvPr id="31" name="Rectangle 30"/>
          <p:cNvSpPr/>
          <p:nvPr/>
        </p:nvSpPr>
        <p:spPr>
          <a:xfrm>
            <a:off x="7589520" y="2798064"/>
            <a:ext cx="4251960" cy="6400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589520" y="2798064"/>
            <a:ext cx="73152" cy="640080"/>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2871216"/>
            <a:ext cx="3886200" cy="256032"/>
          </a:xfrm>
          <a:prstGeom prst="rect">
            <a:avLst/>
          </a:prstGeom>
          <a:noFill/>
        </p:spPr>
        <p:txBody>
          <a:bodyPr wrap="square" anchor="t"/>
          <a:lstStyle/>
          <a:p>
            <a:pPr algn="l">
              <a:spcBef>
                <a:spcPts val="0"/>
              </a:spcBef>
              <a:spcAft>
                <a:spcPts val="0"/>
              </a:spcAft>
            </a:pPr>
            <a:r>
              <a:rPr sz="1250" b="1">
                <a:solidFill>
                  <a:srgbClr val="0B1F33"/>
                </a:solidFill>
                <a:latin typeface="Georgia"/>
              </a:rPr>
              <a:t>Starlab</a:t>
            </a:r>
          </a:p>
        </p:txBody>
      </p:sp>
      <p:sp>
        <p:nvSpPr>
          <p:cNvPr id="34" name="TextBox 33"/>
          <p:cNvSpPr txBox="1"/>
          <p:nvPr/>
        </p:nvSpPr>
        <p:spPr>
          <a:xfrm>
            <a:off x="7818120" y="3127248"/>
            <a:ext cx="3886200" cy="256032"/>
          </a:xfrm>
          <a:prstGeom prst="rect">
            <a:avLst/>
          </a:prstGeom>
          <a:noFill/>
        </p:spPr>
        <p:txBody>
          <a:bodyPr wrap="square" anchor="t"/>
          <a:lstStyle/>
          <a:p>
            <a:pPr algn="l">
              <a:spcBef>
                <a:spcPts val="0"/>
              </a:spcBef>
              <a:spcAft>
                <a:spcPts val="0"/>
              </a:spcAft>
            </a:pPr>
            <a:r>
              <a:rPr sz="1000" b="0">
                <a:solidFill>
                  <a:srgbClr val="6B7C8F"/>
                </a:solidFill>
                <a:latin typeface="Calibri"/>
              </a:rPr>
              <a:t>Voyager/Airbus JV — targeting 2029 launch</a:t>
            </a:r>
          </a:p>
        </p:txBody>
      </p:sp>
      <p:sp>
        <p:nvSpPr>
          <p:cNvPr id="35" name="Rectangle 34"/>
          <p:cNvSpPr/>
          <p:nvPr/>
        </p:nvSpPr>
        <p:spPr>
          <a:xfrm>
            <a:off x="7589520" y="3511296"/>
            <a:ext cx="4251960" cy="6400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89520" y="3511296"/>
            <a:ext cx="73152" cy="640080"/>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18120" y="3584448"/>
            <a:ext cx="3886200" cy="256032"/>
          </a:xfrm>
          <a:prstGeom prst="rect">
            <a:avLst/>
          </a:prstGeom>
          <a:noFill/>
        </p:spPr>
        <p:txBody>
          <a:bodyPr wrap="square" anchor="t"/>
          <a:lstStyle/>
          <a:p>
            <a:pPr algn="l">
              <a:spcBef>
                <a:spcPts val="0"/>
              </a:spcBef>
              <a:spcAft>
                <a:spcPts val="0"/>
              </a:spcAft>
            </a:pPr>
            <a:r>
              <a:rPr sz="1250" b="1">
                <a:solidFill>
                  <a:srgbClr val="0B1F33"/>
                </a:solidFill>
                <a:latin typeface="Georgia"/>
              </a:rPr>
              <a:t>Axiom Station</a:t>
            </a:r>
          </a:p>
        </p:txBody>
      </p:sp>
      <p:sp>
        <p:nvSpPr>
          <p:cNvPr id="38" name="TextBox 37"/>
          <p:cNvSpPr txBox="1"/>
          <p:nvPr/>
        </p:nvSpPr>
        <p:spPr>
          <a:xfrm>
            <a:off x="7818120" y="3840480"/>
            <a:ext cx="3886200" cy="256032"/>
          </a:xfrm>
          <a:prstGeom prst="rect">
            <a:avLst/>
          </a:prstGeom>
          <a:noFill/>
        </p:spPr>
        <p:txBody>
          <a:bodyPr wrap="square" anchor="t"/>
          <a:lstStyle/>
          <a:p>
            <a:pPr algn="l">
              <a:spcBef>
                <a:spcPts val="0"/>
              </a:spcBef>
              <a:spcAft>
                <a:spcPts val="0"/>
              </a:spcAft>
            </a:pPr>
            <a:r>
              <a:rPr sz="1000" b="0">
                <a:solidFill>
                  <a:srgbClr val="6B7C8F"/>
                </a:solidFill>
                <a:latin typeface="Calibri"/>
              </a:rPr>
              <a:t>First commercial modules ~2026–2028</a:t>
            </a:r>
          </a:p>
        </p:txBody>
      </p:sp>
      <p:sp>
        <p:nvSpPr>
          <p:cNvPr id="39" name="Rectangle 38"/>
          <p:cNvSpPr/>
          <p:nvPr/>
        </p:nvSpPr>
        <p:spPr>
          <a:xfrm>
            <a:off x="7589520" y="4224528"/>
            <a:ext cx="4251960" cy="6400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89520" y="4224528"/>
            <a:ext cx="73152" cy="640080"/>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18120" y="4297680"/>
            <a:ext cx="3886200" cy="256032"/>
          </a:xfrm>
          <a:prstGeom prst="rect">
            <a:avLst/>
          </a:prstGeom>
          <a:noFill/>
        </p:spPr>
        <p:txBody>
          <a:bodyPr wrap="square" anchor="t"/>
          <a:lstStyle/>
          <a:p>
            <a:pPr algn="l">
              <a:spcBef>
                <a:spcPts val="0"/>
              </a:spcBef>
              <a:spcAft>
                <a:spcPts val="0"/>
              </a:spcAft>
            </a:pPr>
            <a:r>
              <a:rPr sz="1250" b="1">
                <a:solidFill>
                  <a:srgbClr val="0B1F33"/>
                </a:solidFill>
                <a:latin typeface="Georgia"/>
              </a:rPr>
              <a:t>Orbital Reef</a:t>
            </a:r>
          </a:p>
        </p:txBody>
      </p:sp>
      <p:sp>
        <p:nvSpPr>
          <p:cNvPr id="42" name="TextBox 41"/>
          <p:cNvSpPr txBox="1"/>
          <p:nvPr/>
        </p:nvSpPr>
        <p:spPr>
          <a:xfrm>
            <a:off x="7818120" y="4553712"/>
            <a:ext cx="3886200" cy="256032"/>
          </a:xfrm>
          <a:prstGeom prst="rect">
            <a:avLst/>
          </a:prstGeom>
          <a:noFill/>
        </p:spPr>
        <p:txBody>
          <a:bodyPr wrap="square" anchor="t"/>
          <a:lstStyle/>
          <a:p>
            <a:pPr algn="l">
              <a:spcBef>
                <a:spcPts val="0"/>
              </a:spcBef>
              <a:spcAft>
                <a:spcPts val="0"/>
              </a:spcAft>
            </a:pPr>
            <a:r>
              <a:rPr sz="1000" b="0">
                <a:solidFill>
                  <a:srgbClr val="6B7C8F"/>
                </a:solidFill>
                <a:latin typeface="Calibri"/>
              </a:rPr>
              <a:t>Blue Origin/Sierra Space — CLD-funded</a:t>
            </a:r>
          </a:p>
        </p:txBody>
      </p:sp>
      <p:sp>
        <p:nvSpPr>
          <p:cNvPr id="43" name="Rectangle 42"/>
          <p:cNvSpPr/>
          <p:nvPr/>
        </p:nvSpPr>
        <p:spPr>
          <a:xfrm>
            <a:off x="7589520" y="4937760"/>
            <a:ext cx="4251960" cy="6400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89520" y="4937760"/>
            <a:ext cx="73152" cy="640080"/>
          </a:xfrm>
          <a:prstGeom prst="rect">
            <a:avLst/>
          </a:prstGeom>
          <a:solidFill>
            <a:srgbClr val="1A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18120" y="5010912"/>
            <a:ext cx="3886200" cy="256032"/>
          </a:xfrm>
          <a:prstGeom prst="rect">
            <a:avLst/>
          </a:prstGeom>
          <a:noFill/>
        </p:spPr>
        <p:txBody>
          <a:bodyPr wrap="square" anchor="t"/>
          <a:lstStyle/>
          <a:p>
            <a:pPr algn="l">
              <a:spcBef>
                <a:spcPts val="0"/>
              </a:spcBef>
              <a:spcAft>
                <a:spcPts val="0"/>
              </a:spcAft>
            </a:pPr>
            <a:r>
              <a:rPr sz="1250" b="1">
                <a:solidFill>
                  <a:srgbClr val="0B1F33"/>
                </a:solidFill>
                <a:latin typeface="Georgia"/>
              </a:rPr>
              <a:t>Vast Haven-1</a:t>
            </a:r>
          </a:p>
        </p:txBody>
      </p:sp>
      <p:sp>
        <p:nvSpPr>
          <p:cNvPr id="46" name="TextBox 45"/>
          <p:cNvSpPr txBox="1"/>
          <p:nvPr/>
        </p:nvSpPr>
        <p:spPr>
          <a:xfrm>
            <a:off x="7818120" y="5266944"/>
            <a:ext cx="3886200" cy="256032"/>
          </a:xfrm>
          <a:prstGeom prst="rect">
            <a:avLst/>
          </a:prstGeom>
          <a:noFill/>
        </p:spPr>
        <p:txBody>
          <a:bodyPr wrap="square" anchor="t"/>
          <a:lstStyle/>
          <a:p>
            <a:pPr algn="l">
              <a:spcBef>
                <a:spcPts val="0"/>
              </a:spcBef>
              <a:spcAft>
                <a:spcPts val="0"/>
              </a:spcAft>
            </a:pPr>
            <a:r>
              <a:rPr sz="1000" b="0">
                <a:solidFill>
                  <a:srgbClr val="6B7C8F"/>
                </a:solidFill>
                <a:latin typeface="Calibri"/>
              </a:rPr>
              <a:t>First dedicated commercial station, 2026</a:t>
            </a:r>
          </a:p>
        </p:txBody>
      </p:sp>
      <p:sp>
        <p:nvSpPr>
          <p:cNvPr id="47" name="TextBox 46"/>
          <p:cNvSpPr txBox="1"/>
          <p:nvPr/>
        </p:nvSpPr>
        <p:spPr>
          <a:xfrm>
            <a:off x="256032" y="6172200"/>
            <a:ext cx="6949440" cy="228600"/>
          </a:xfrm>
          <a:prstGeom prst="rect">
            <a:avLst/>
          </a:prstGeom>
          <a:noFill/>
        </p:spPr>
        <p:txBody>
          <a:bodyPr wrap="square" anchor="t"/>
          <a:lstStyle/>
          <a:p>
            <a:pPr algn="l">
              <a:spcBef>
                <a:spcPts val="0"/>
              </a:spcBef>
              <a:spcAft>
                <a:spcPts val="0"/>
              </a:spcAft>
            </a:pPr>
            <a:r>
              <a:rPr sz="900" b="0">
                <a:solidFill>
                  <a:srgbClr val="6B7C8F"/>
                </a:solidFill>
                <a:latin typeface="Calibri"/>
              </a:rPr>
              <a:t>Station names shown as market context only — not as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EXECUTION PLAN</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Four-Phase Technology &amp; Commercialisation Roadmap</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12</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2810179" cy="5385816"/>
          </a:xfrm>
          <a:prstGeom prst="rect">
            <a:avLst/>
          </a:prstGeom>
          <a:solidFill>
            <a:srgbClr val="D7EBE8"/>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2810179"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1307592"/>
            <a:ext cx="2490139" cy="228600"/>
          </a:xfrm>
          <a:prstGeom prst="rect">
            <a:avLst/>
          </a:prstGeom>
          <a:noFill/>
        </p:spPr>
        <p:txBody>
          <a:bodyPr wrap="square" anchor="t"/>
          <a:lstStyle/>
          <a:p>
            <a:pPr algn="l">
              <a:spcBef>
                <a:spcPts val="0"/>
              </a:spcBef>
              <a:spcAft>
                <a:spcPts val="0"/>
              </a:spcAft>
            </a:pPr>
            <a:r>
              <a:rPr sz="1100" b="1">
                <a:solidFill>
                  <a:srgbClr val="0A6B63"/>
                </a:solidFill>
                <a:latin typeface="Calibri"/>
              </a:rPr>
              <a:t>PHASE 1</a:t>
            </a:r>
          </a:p>
        </p:txBody>
      </p:sp>
      <p:sp>
        <p:nvSpPr>
          <p:cNvPr id="11" name="TextBox 10"/>
          <p:cNvSpPr txBox="1"/>
          <p:nvPr/>
        </p:nvSpPr>
        <p:spPr>
          <a:xfrm>
            <a:off x="420624" y="1554480"/>
            <a:ext cx="2490139" cy="228600"/>
          </a:xfrm>
          <a:prstGeom prst="rect">
            <a:avLst/>
          </a:prstGeom>
          <a:noFill/>
        </p:spPr>
        <p:txBody>
          <a:bodyPr wrap="square" anchor="t"/>
          <a:lstStyle/>
          <a:p>
            <a:pPr algn="l">
              <a:spcBef>
                <a:spcPts val="0"/>
              </a:spcBef>
              <a:spcAft>
                <a:spcPts val="0"/>
              </a:spcAft>
            </a:pPr>
            <a:r>
              <a:rPr sz="1100" b="0">
                <a:solidFill>
                  <a:srgbClr val="6B7C8F"/>
                </a:solidFill>
                <a:latin typeface="Calibri"/>
              </a:rPr>
              <a:t>Years 1–2</a:t>
            </a:r>
          </a:p>
        </p:txBody>
      </p:sp>
      <p:sp>
        <p:nvSpPr>
          <p:cNvPr id="12" name="Rectangle 11"/>
          <p:cNvSpPr/>
          <p:nvPr/>
        </p:nvSpPr>
        <p:spPr>
          <a:xfrm>
            <a:off x="420624" y="1856231"/>
            <a:ext cx="2480995" cy="1905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 y="2039112"/>
            <a:ext cx="2490139" cy="502920"/>
          </a:xfrm>
          <a:prstGeom prst="rect">
            <a:avLst/>
          </a:prstGeom>
          <a:noFill/>
        </p:spPr>
        <p:txBody>
          <a:bodyPr wrap="square" anchor="t"/>
          <a:lstStyle/>
          <a:p>
            <a:pPr algn="l">
              <a:spcBef>
                <a:spcPts val="0"/>
              </a:spcBef>
              <a:spcAft>
                <a:spcPts val="0"/>
              </a:spcAft>
            </a:pPr>
            <a:r>
              <a:rPr sz="1500" b="1">
                <a:solidFill>
                  <a:srgbClr val="0B1F33"/>
                </a:solidFill>
                <a:latin typeface="Georgia"/>
              </a:rPr>
              <a:t>Platform &amp; Wound Care</a:t>
            </a:r>
          </a:p>
        </p:txBody>
      </p:sp>
      <p:sp>
        <p:nvSpPr>
          <p:cNvPr id="14" name="TextBox 13"/>
          <p:cNvSpPr txBox="1"/>
          <p:nvPr/>
        </p:nvSpPr>
        <p:spPr>
          <a:xfrm>
            <a:off x="420624" y="2633472"/>
            <a:ext cx="2490139" cy="2560320"/>
          </a:xfrm>
          <a:prstGeom prst="rect">
            <a:avLst/>
          </a:prstGeom>
          <a:noFill/>
        </p:spPr>
        <p:txBody>
          <a:bodyPr wrap="square">
            <a:spAutoFit/>
          </a:bodyPr>
          <a:lstStyle/>
          <a:p>
            <a:pPr algn="l">
              <a:spcBef>
                <a:spcPts val="0"/>
              </a:spcBef>
              <a:spcAft>
                <a:spcPts val="0"/>
              </a:spcAft>
            </a:pPr>
            <a:r>
              <a:rPr sz="1150" b="0">
                <a:solidFill>
                  <a:srgbClr val="07524C"/>
                </a:solidFill>
                <a:latin typeface="Calibri"/>
              </a:rPr>
              <a:t>–  ISS payload hardware certification</a:t>
            </a:r>
          </a:p>
          <a:p>
            <a:pPr algn="l">
              <a:spcBef>
                <a:spcPts val="800"/>
              </a:spcBef>
              <a:spcAft>
                <a:spcPts val="0"/>
              </a:spcAft>
            </a:pPr>
            <a:r>
              <a:rPr sz="1150" b="0">
                <a:solidFill>
                  <a:srgbClr val="07524C"/>
                </a:solidFill>
                <a:latin typeface="Calibri"/>
              </a:rPr>
              <a:t>–  Commercial wound-care patch trials</a:t>
            </a:r>
          </a:p>
          <a:p>
            <a:pPr algn="l">
              <a:spcBef>
                <a:spcPts val="800"/>
              </a:spcBef>
              <a:spcAft>
                <a:spcPts val="0"/>
              </a:spcAft>
            </a:pPr>
            <a:r>
              <a:rPr sz="1150" b="0">
                <a:solidFill>
                  <a:srgbClr val="07524C"/>
                </a:solidFill>
                <a:latin typeface="Calibri"/>
              </a:rPr>
              <a:t>–  NASA InSPA Phase 1 grant applications</a:t>
            </a:r>
          </a:p>
          <a:p>
            <a:pPr algn="l">
              <a:spcBef>
                <a:spcPts val="800"/>
              </a:spcBef>
              <a:spcAft>
                <a:spcPts val="0"/>
              </a:spcAft>
            </a:pPr>
            <a:r>
              <a:rPr sz="1150" b="0">
                <a:solidFill>
                  <a:srgbClr val="07524C"/>
                </a:solidFill>
                <a:latin typeface="Calibri"/>
              </a:rPr>
              <a:t>–  Research tissue models for pharma CROs</a:t>
            </a:r>
          </a:p>
        </p:txBody>
      </p:sp>
      <p:sp>
        <p:nvSpPr>
          <p:cNvPr id="15" name="Rectangle 14"/>
          <p:cNvSpPr/>
          <p:nvPr/>
        </p:nvSpPr>
        <p:spPr>
          <a:xfrm>
            <a:off x="420624" y="5961888"/>
            <a:ext cx="2480995" cy="34747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 y="5961888"/>
            <a:ext cx="2480995" cy="347472"/>
          </a:xfrm>
          <a:prstGeom prst="rect">
            <a:avLst/>
          </a:prstGeom>
          <a:noFill/>
        </p:spPr>
        <p:txBody>
          <a:bodyPr wrap="square" anchor="ctr"/>
          <a:lstStyle/>
          <a:p>
            <a:pPr algn="ctr">
              <a:spcBef>
                <a:spcPts val="0"/>
              </a:spcBef>
              <a:spcAft>
                <a:spcPts val="0"/>
              </a:spcAft>
            </a:pPr>
            <a:r>
              <a:rPr sz="1100" b="1">
                <a:solidFill>
                  <a:srgbClr val="FFFFFF"/>
                </a:solidFill>
                <a:latin typeface="Calibri"/>
              </a:rPr>
              <a:t>TRL 4 → 6</a:t>
            </a:r>
          </a:p>
        </p:txBody>
      </p:sp>
      <p:sp>
        <p:nvSpPr>
          <p:cNvPr id="17" name="Rectangle 16"/>
          <p:cNvSpPr/>
          <p:nvPr/>
        </p:nvSpPr>
        <p:spPr>
          <a:xfrm>
            <a:off x="3212515"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12515" y="1078992"/>
            <a:ext cx="2810179" cy="73152"/>
          </a:xfrm>
          <a:prstGeom prst="rect">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7107" y="1307592"/>
            <a:ext cx="2490139" cy="228600"/>
          </a:xfrm>
          <a:prstGeom prst="rect">
            <a:avLst/>
          </a:prstGeom>
          <a:noFill/>
        </p:spPr>
        <p:txBody>
          <a:bodyPr wrap="square" anchor="t"/>
          <a:lstStyle/>
          <a:p>
            <a:pPr algn="l">
              <a:spcBef>
                <a:spcPts val="0"/>
              </a:spcBef>
              <a:spcAft>
                <a:spcPts val="0"/>
              </a:spcAft>
            </a:pPr>
            <a:r>
              <a:rPr sz="1100" b="1">
                <a:solidFill>
                  <a:srgbClr val="0B1F33"/>
                </a:solidFill>
                <a:latin typeface="Calibri"/>
              </a:rPr>
              <a:t>PHASE 2</a:t>
            </a:r>
          </a:p>
        </p:txBody>
      </p:sp>
      <p:sp>
        <p:nvSpPr>
          <p:cNvPr id="20" name="TextBox 19"/>
          <p:cNvSpPr txBox="1"/>
          <p:nvPr/>
        </p:nvSpPr>
        <p:spPr>
          <a:xfrm>
            <a:off x="3377107" y="1554480"/>
            <a:ext cx="2490139" cy="228600"/>
          </a:xfrm>
          <a:prstGeom prst="rect">
            <a:avLst/>
          </a:prstGeom>
          <a:noFill/>
        </p:spPr>
        <p:txBody>
          <a:bodyPr wrap="square" anchor="t"/>
          <a:lstStyle/>
          <a:p>
            <a:pPr algn="l">
              <a:spcBef>
                <a:spcPts val="0"/>
              </a:spcBef>
              <a:spcAft>
                <a:spcPts val="0"/>
              </a:spcAft>
            </a:pPr>
            <a:r>
              <a:rPr sz="1100" b="0">
                <a:solidFill>
                  <a:srgbClr val="6B7C8F"/>
                </a:solidFill>
                <a:latin typeface="Calibri"/>
              </a:rPr>
              <a:t>Years 3–5</a:t>
            </a:r>
          </a:p>
        </p:txBody>
      </p:sp>
      <p:sp>
        <p:nvSpPr>
          <p:cNvPr id="21" name="Rectangle 20"/>
          <p:cNvSpPr/>
          <p:nvPr/>
        </p:nvSpPr>
        <p:spPr>
          <a:xfrm>
            <a:off x="3377107" y="1856231"/>
            <a:ext cx="2480995" cy="1905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77107" y="2039112"/>
            <a:ext cx="2490139" cy="502920"/>
          </a:xfrm>
          <a:prstGeom prst="rect">
            <a:avLst/>
          </a:prstGeom>
          <a:noFill/>
        </p:spPr>
        <p:txBody>
          <a:bodyPr wrap="square" anchor="t"/>
          <a:lstStyle/>
          <a:p>
            <a:pPr algn="l">
              <a:spcBef>
                <a:spcPts val="0"/>
              </a:spcBef>
              <a:spcAft>
                <a:spcPts val="0"/>
              </a:spcAft>
            </a:pPr>
            <a:r>
              <a:rPr sz="1500" b="1">
                <a:solidFill>
                  <a:srgbClr val="0B1F33"/>
                </a:solidFill>
                <a:latin typeface="Georgia"/>
              </a:rPr>
              <a:t>Orthopedic &amp; Cardiac</a:t>
            </a:r>
          </a:p>
        </p:txBody>
      </p:sp>
      <p:sp>
        <p:nvSpPr>
          <p:cNvPr id="23" name="TextBox 22"/>
          <p:cNvSpPr txBox="1"/>
          <p:nvPr/>
        </p:nvSpPr>
        <p:spPr>
          <a:xfrm>
            <a:off x="3377107" y="2633472"/>
            <a:ext cx="2490139" cy="2560320"/>
          </a:xfrm>
          <a:prstGeom prst="rect">
            <a:avLst/>
          </a:prstGeom>
          <a:noFill/>
        </p:spPr>
        <p:txBody>
          <a:bodyPr wrap="square">
            <a:spAutoFit/>
          </a:bodyPr>
          <a:lstStyle/>
          <a:p>
            <a:pPr algn="l">
              <a:spcBef>
                <a:spcPts val="0"/>
              </a:spcBef>
              <a:spcAft>
                <a:spcPts val="0"/>
              </a:spcAft>
            </a:pPr>
            <a:r>
              <a:rPr sz="1150" b="0">
                <a:solidFill>
                  <a:srgbClr val="3A4A5C"/>
                </a:solidFill>
                <a:latin typeface="Calibri"/>
              </a:rPr>
              <a:t>–  510(k) filing for wound-care products</a:t>
            </a:r>
          </a:p>
          <a:p>
            <a:pPr algn="l">
              <a:spcBef>
                <a:spcPts val="800"/>
              </a:spcBef>
              <a:spcAft>
                <a:spcPts val="0"/>
              </a:spcAft>
            </a:pPr>
            <a:r>
              <a:rPr sz="1150" b="0">
                <a:solidFill>
                  <a:srgbClr val="3A4A5C"/>
                </a:solidFill>
                <a:latin typeface="Calibri"/>
              </a:rPr>
              <a:t>–  Orthopedic graft BFF-compatible program</a:t>
            </a:r>
          </a:p>
          <a:p>
            <a:pPr algn="l">
              <a:spcBef>
                <a:spcPts val="800"/>
              </a:spcBef>
              <a:spcAft>
                <a:spcPts val="0"/>
              </a:spcAft>
            </a:pPr>
            <a:r>
              <a:rPr sz="1150" b="0">
                <a:solidFill>
                  <a:srgbClr val="3A4A5C"/>
                </a:solidFill>
                <a:latin typeface="Calibri"/>
              </a:rPr>
              <a:t>–  Cardiac patch preclinical studies</a:t>
            </a:r>
          </a:p>
          <a:p>
            <a:pPr algn="l">
              <a:spcBef>
                <a:spcPts val="800"/>
              </a:spcBef>
              <a:spcAft>
                <a:spcPts val="0"/>
              </a:spcAft>
            </a:pPr>
            <a:r>
              <a:rPr sz="1150" b="0">
                <a:solidFill>
                  <a:srgbClr val="3A4A5C"/>
                </a:solidFill>
                <a:latin typeface="Calibri"/>
              </a:rPr>
              <a:t>–  Series B fundraise</a:t>
            </a:r>
          </a:p>
        </p:txBody>
      </p:sp>
      <p:sp>
        <p:nvSpPr>
          <p:cNvPr id="24" name="Rectangle 23"/>
          <p:cNvSpPr/>
          <p:nvPr/>
        </p:nvSpPr>
        <p:spPr>
          <a:xfrm>
            <a:off x="3377107" y="5961888"/>
            <a:ext cx="2480995" cy="347472"/>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7107" y="5961888"/>
            <a:ext cx="2480995" cy="347472"/>
          </a:xfrm>
          <a:prstGeom prst="rect">
            <a:avLst/>
          </a:prstGeom>
          <a:noFill/>
        </p:spPr>
        <p:txBody>
          <a:bodyPr wrap="square" anchor="ctr"/>
          <a:lstStyle/>
          <a:p>
            <a:pPr algn="ctr">
              <a:spcBef>
                <a:spcPts val="0"/>
              </a:spcBef>
              <a:spcAft>
                <a:spcPts val="0"/>
              </a:spcAft>
            </a:pPr>
            <a:r>
              <a:rPr sz="1100" b="1">
                <a:solidFill>
                  <a:srgbClr val="FFFFFF"/>
                </a:solidFill>
                <a:latin typeface="Calibri"/>
              </a:rPr>
              <a:t>TRL 6 → 8</a:t>
            </a:r>
          </a:p>
        </p:txBody>
      </p:sp>
      <p:sp>
        <p:nvSpPr>
          <p:cNvPr id="26" name="Rectangle 25"/>
          <p:cNvSpPr/>
          <p:nvPr/>
        </p:nvSpPr>
        <p:spPr>
          <a:xfrm>
            <a:off x="6168999"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8999" y="1078992"/>
            <a:ext cx="2810179" cy="73152"/>
          </a:xfrm>
          <a:prstGeom prst="rect">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3591" y="1307592"/>
            <a:ext cx="2490139" cy="228600"/>
          </a:xfrm>
          <a:prstGeom prst="rect">
            <a:avLst/>
          </a:prstGeom>
          <a:noFill/>
        </p:spPr>
        <p:txBody>
          <a:bodyPr wrap="square" anchor="t"/>
          <a:lstStyle/>
          <a:p>
            <a:pPr algn="l">
              <a:spcBef>
                <a:spcPts val="0"/>
              </a:spcBef>
              <a:spcAft>
                <a:spcPts val="0"/>
              </a:spcAft>
            </a:pPr>
            <a:r>
              <a:rPr sz="1100" b="1">
                <a:solidFill>
                  <a:srgbClr val="0B1F33"/>
                </a:solidFill>
                <a:latin typeface="Calibri"/>
              </a:rPr>
              <a:t>PHASE 3</a:t>
            </a:r>
          </a:p>
        </p:txBody>
      </p:sp>
      <p:sp>
        <p:nvSpPr>
          <p:cNvPr id="29" name="TextBox 28"/>
          <p:cNvSpPr txBox="1"/>
          <p:nvPr/>
        </p:nvSpPr>
        <p:spPr>
          <a:xfrm>
            <a:off x="6333591" y="1554480"/>
            <a:ext cx="2490139" cy="228600"/>
          </a:xfrm>
          <a:prstGeom prst="rect">
            <a:avLst/>
          </a:prstGeom>
          <a:noFill/>
        </p:spPr>
        <p:txBody>
          <a:bodyPr wrap="square" anchor="t"/>
          <a:lstStyle/>
          <a:p>
            <a:pPr algn="l">
              <a:spcBef>
                <a:spcPts val="0"/>
              </a:spcBef>
              <a:spcAft>
                <a:spcPts val="0"/>
              </a:spcAft>
            </a:pPr>
            <a:r>
              <a:rPr sz="1100" b="0">
                <a:solidFill>
                  <a:srgbClr val="6B7C8F"/>
                </a:solidFill>
                <a:latin typeface="Calibri"/>
              </a:rPr>
              <a:t>Years 6–9</a:t>
            </a:r>
          </a:p>
        </p:txBody>
      </p:sp>
      <p:sp>
        <p:nvSpPr>
          <p:cNvPr id="30" name="Rectangle 29"/>
          <p:cNvSpPr/>
          <p:nvPr/>
        </p:nvSpPr>
        <p:spPr>
          <a:xfrm>
            <a:off x="6333591" y="1856231"/>
            <a:ext cx="2480995" cy="1905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3591" y="2039112"/>
            <a:ext cx="2490139" cy="502920"/>
          </a:xfrm>
          <a:prstGeom prst="rect">
            <a:avLst/>
          </a:prstGeom>
          <a:noFill/>
        </p:spPr>
        <p:txBody>
          <a:bodyPr wrap="square" anchor="t"/>
          <a:lstStyle/>
          <a:p>
            <a:pPr algn="l">
              <a:spcBef>
                <a:spcPts val="0"/>
              </a:spcBef>
              <a:spcAft>
                <a:spcPts val="0"/>
              </a:spcAft>
            </a:pPr>
            <a:r>
              <a:rPr sz="1500" b="1">
                <a:solidFill>
                  <a:srgbClr val="0B1F33"/>
                </a:solidFill>
                <a:latin typeface="Georgia"/>
              </a:rPr>
              <a:t>Retinal &amp; Vascular</a:t>
            </a:r>
          </a:p>
        </p:txBody>
      </p:sp>
      <p:sp>
        <p:nvSpPr>
          <p:cNvPr id="32" name="TextBox 31"/>
          <p:cNvSpPr txBox="1"/>
          <p:nvPr/>
        </p:nvSpPr>
        <p:spPr>
          <a:xfrm>
            <a:off x="6333591" y="2633472"/>
            <a:ext cx="2490139" cy="2560320"/>
          </a:xfrm>
          <a:prstGeom prst="rect">
            <a:avLst/>
          </a:prstGeom>
          <a:noFill/>
        </p:spPr>
        <p:txBody>
          <a:bodyPr wrap="square">
            <a:spAutoFit/>
          </a:bodyPr>
          <a:lstStyle/>
          <a:p>
            <a:pPr algn="l">
              <a:spcBef>
                <a:spcPts val="0"/>
              </a:spcBef>
              <a:spcAft>
                <a:spcPts val="0"/>
              </a:spcAft>
            </a:pPr>
            <a:r>
              <a:rPr sz="1150" b="0">
                <a:solidFill>
                  <a:srgbClr val="3A4A5C"/>
                </a:solidFill>
                <a:latin typeface="Calibri"/>
              </a:rPr>
              <a:t>–  Clinical trials for retinal constructs</a:t>
            </a:r>
          </a:p>
          <a:p>
            <a:pPr algn="l">
              <a:spcBef>
                <a:spcPts val="800"/>
              </a:spcBef>
              <a:spcAft>
                <a:spcPts val="0"/>
              </a:spcAft>
            </a:pPr>
            <a:r>
              <a:rPr sz="1150" b="0">
                <a:solidFill>
                  <a:srgbClr val="3A4A5C"/>
                </a:solidFill>
                <a:latin typeface="Calibri"/>
              </a:rPr>
              <a:t>–  FDA PMA pathway engagement</a:t>
            </a:r>
          </a:p>
          <a:p>
            <a:pPr algn="l">
              <a:spcBef>
                <a:spcPts val="800"/>
              </a:spcBef>
              <a:spcAft>
                <a:spcPts val="0"/>
              </a:spcAft>
            </a:pPr>
            <a:r>
              <a:rPr sz="1150" b="0">
                <a:solidFill>
                  <a:srgbClr val="3A4A5C"/>
                </a:solidFill>
                <a:latin typeface="Calibri"/>
              </a:rPr>
              <a:t>–  Expand to Orbital Reef / Axiom</a:t>
            </a:r>
          </a:p>
          <a:p>
            <a:pPr algn="l">
              <a:spcBef>
                <a:spcPts val="800"/>
              </a:spcBef>
              <a:spcAft>
                <a:spcPts val="0"/>
              </a:spcAft>
            </a:pPr>
            <a:r>
              <a:rPr sz="1150" b="0">
                <a:solidFill>
                  <a:srgbClr val="3A4A5C"/>
                </a:solidFill>
                <a:latin typeface="Calibri"/>
              </a:rPr>
              <a:t>–  Series C / pre-IPO raise</a:t>
            </a:r>
          </a:p>
        </p:txBody>
      </p:sp>
      <p:sp>
        <p:nvSpPr>
          <p:cNvPr id="33" name="Rectangle 32"/>
          <p:cNvSpPr/>
          <p:nvPr/>
        </p:nvSpPr>
        <p:spPr>
          <a:xfrm>
            <a:off x="6333591" y="5961888"/>
            <a:ext cx="2480995" cy="347472"/>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33591" y="5961888"/>
            <a:ext cx="2480995" cy="347472"/>
          </a:xfrm>
          <a:prstGeom prst="rect">
            <a:avLst/>
          </a:prstGeom>
          <a:noFill/>
        </p:spPr>
        <p:txBody>
          <a:bodyPr wrap="square" anchor="ctr"/>
          <a:lstStyle/>
          <a:p>
            <a:pPr algn="ctr">
              <a:spcBef>
                <a:spcPts val="0"/>
              </a:spcBef>
              <a:spcAft>
                <a:spcPts val="0"/>
              </a:spcAft>
            </a:pPr>
            <a:r>
              <a:rPr sz="1100" b="1">
                <a:solidFill>
                  <a:srgbClr val="FFFFFF"/>
                </a:solidFill>
                <a:latin typeface="Calibri"/>
              </a:rPr>
              <a:t>TRL 7 → 9</a:t>
            </a:r>
          </a:p>
        </p:txBody>
      </p:sp>
      <p:sp>
        <p:nvSpPr>
          <p:cNvPr id="35" name="Rectangle 34"/>
          <p:cNvSpPr/>
          <p:nvPr/>
        </p:nvSpPr>
        <p:spPr>
          <a:xfrm>
            <a:off x="9125483"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5483" y="1078992"/>
            <a:ext cx="2810179" cy="73152"/>
          </a:xfrm>
          <a:prstGeom prst="rect">
            <a:avLst/>
          </a:prstGeom>
          <a:solidFill>
            <a:srgbClr val="E4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90075" y="1307592"/>
            <a:ext cx="2490139" cy="228600"/>
          </a:xfrm>
          <a:prstGeom prst="rect">
            <a:avLst/>
          </a:prstGeom>
          <a:noFill/>
        </p:spPr>
        <p:txBody>
          <a:bodyPr wrap="square" anchor="t"/>
          <a:lstStyle/>
          <a:p>
            <a:pPr algn="l">
              <a:spcBef>
                <a:spcPts val="0"/>
              </a:spcBef>
              <a:spcAft>
                <a:spcPts val="0"/>
              </a:spcAft>
            </a:pPr>
            <a:r>
              <a:rPr sz="1100" b="1">
                <a:solidFill>
                  <a:srgbClr val="0B1F33"/>
                </a:solidFill>
                <a:latin typeface="Calibri"/>
              </a:rPr>
              <a:t>PHASE 4</a:t>
            </a:r>
          </a:p>
        </p:txBody>
      </p:sp>
      <p:sp>
        <p:nvSpPr>
          <p:cNvPr id="38" name="TextBox 37"/>
          <p:cNvSpPr txBox="1"/>
          <p:nvPr/>
        </p:nvSpPr>
        <p:spPr>
          <a:xfrm>
            <a:off x="9290075" y="1554480"/>
            <a:ext cx="2490139" cy="228600"/>
          </a:xfrm>
          <a:prstGeom prst="rect">
            <a:avLst/>
          </a:prstGeom>
          <a:noFill/>
        </p:spPr>
        <p:txBody>
          <a:bodyPr wrap="square" anchor="t"/>
          <a:lstStyle/>
          <a:p>
            <a:pPr algn="l">
              <a:spcBef>
                <a:spcPts val="0"/>
              </a:spcBef>
              <a:spcAft>
                <a:spcPts val="0"/>
              </a:spcAft>
            </a:pPr>
            <a:r>
              <a:rPr sz="1100" b="0">
                <a:solidFill>
                  <a:srgbClr val="6B7C8F"/>
                </a:solidFill>
                <a:latin typeface="Calibri"/>
              </a:rPr>
              <a:t>Year 10+</a:t>
            </a:r>
          </a:p>
        </p:txBody>
      </p:sp>
      <p:sp>
        <p:nvSpPr>
          <p:cNvPr id="39" name="Rectangle 38"/>
          <p:cNvSpPr/>
          <p:nvPr/>
        </p:nvSpPr>
        <p:spPr>
          <a:xfrm>
            <a:off x="9290075" y="1856231"/>
            <a:ext cx="2480995" cy="1905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90075" y="2039112"/>
            <a:ext cx="2490139" cy="502920"/>
          </a:xfrm>
          <a:prstGeom prst="rect">
            <a:avLst/>
          </a:prstGeom>
          <a:noFill/>
        </p:spPr>
        <p:txBody>
          <a:bodyPr wrap="square" anchor="t"/>
          <a:lstStyle/>
          <a:p>
            <a:pPr algn="l">
              <a:spcBef>
                <a:spcPts val="0"/>
              </a:spcBef>
              <a:spcAft>
                <a:spcPts val="0"/>
              </a:spcAft>
            </a:pPr>
            <a:r>
              <a:rPr sz="1500" b="1">
                <a:solidFill>
                  <a:srgbClr val="0B1F33"/>
                </a:solidFill>
                <a:latin typeface="Georgia"/>
              </a:rPr>
              <a:t>Whole-Organ Platform</a:t>
            </a:r>
          </a:p>
        </p:txBody>
      </p:sp>
      <p:sp>
        <p:nvSpPr>
          <p:cNvPr id="41" name="TextBox 40"/>
          <p:cNvSpPr txBox="1"/>
          <p:nvPr/>
        </p:nvSpPr>
        <p:spPr>
          <a:xfrm>
            <a:off x="9290075" y="2633472"/>
            <a:ext cx="2490139" cy="2560320"/>
          </a:xfrm>
          <a:prstGeom prst="rect">
            <a:avLst/>
          </a:prstGeom>
          <a:noFill/>
        </p:spPr>
        <p:txBody>
          <a:bodyPr wrap="square">
            <a:spAutoFit/>
          </a:bodyPr>
          <a:lstStyle/>
          <a:p>
            <a:pPr algn="l">
              <a:spcBef>
                <a:spcPts val="0"/>
              </a:spcBef>
              <a:spcAft>
                <a:spcPts val="0"/>
              </a:spcAft>
            </a:pPr>
            <a:r>
              <a:rPr sz="1150" b="0">
                <a:solidFill>
                  <a:srgbClr val="3A4A5C"/>
                </a:solidFill>
                <a:latin typeface="Calibri"/>
              </a:rPr>
              <a:t>–  Vascularised full-organ constructs</a:t>
            </a:r>
          </a:p>
          <a:p>
            <a:pPr algn="l">
              <a:spcBef>
                <a:spcPts val="800"/>
              </a:spcBef>
              <a:spcAft>
                <a:spcPts val="0"/>
              </a:spcAft>
            </a:pPr>
            <a:r>
              <a:rPr sz="1150" b="0">
                <a:solidFill>
                  <a:srgbClr val="3A4A5C"/>
                </a:solidFill>
                <a:latin typeface="Calibri"/>
              </a:rPr>
              <a:t>–  Commercial station scale-up</a:t>
            </a:r>
          </a:p>
          <a:p>
            <a:pPr algn="l">
              <a:spcBef>
                <a:spcPts val="800"/>
              </a:spcBef>
              <a:spcAft>
                <a:spcPts val="0"/>
              </a:spcAft>
            </a:pPr>
            <a:r>
              <a:rPr sz="1150" b="0">
                <a:solidFill>
                  <a:srgbClr val="3A4A5C"/>
                </a:solidFill>
                <a:latin typeface="Calibri"/>
              </a:rPr>
              <a:t>–  Platform licensing to pharma majors</a:t>
            </a:r>
          </a:p>
          <a:p>
            <a:pPr algn="l">
              <a:spcBef>
                <a:spcPts val="800"/>
              </a:spcBef>
              <a:spcAft>
                <a:spcPts val="0"/>
              </a:spcAft>
            </a:pPr>
            <a:r>
              <a:rPr sz="1150" b="0">
                <a:solidFill>
                  <a:srgbClr val="3A4A5C"/>
                </a:solidFill>
                <a:latin typeface="Calibri"/>
              </a:rPr>
              <a:t>–  IPO or strategic exit</a:t>
            </a:r>
          </a:p>
        </p:txBody>
      </p:sp>
      <p:sp>
        <p:nvSpPr>
          <p:cNvPr id="42" name="Rectangle 41"/>
          <p:cNvSpPr/>
          <p:nvPr/>
        </p:nvSpPr>
        <p:spPr>
          <a:xfrm>
            <a:off x="9290075" y="5961888"/>
            <a:ext cx="2480995" cy="347472"/>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90075" y="5961888"/>
            <a:ext cx="2480995" cy="347472"/>
          </a:xfrm>
          <a:prstGeom prst="rect">
            <a:avLst/>
          </a:prstGeom>
          <a:noFill/>
        </p:spPr>
        <p:txBody>
          <a:bodyPr wrap="square" anchor="ctr"/>
          <a:lstStyle/>
          <a:p>
            <a:pPr algn="ctr">
              <a:spcBef>
                <a:spcPts val="0"/>
              </a:spcBef>
              <a:spcAft>
                <a:spcPts val="0"/>
              </a:spcAft>
            </a:pPr>
            <a:r>
              <a:rPr sz="1100" b="1">
                <a:solidFill>
                  <a:srgbClr val="FFFFFF"/>
                </a:solidFill>
                <a:latin typeface="Calibri"/>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COMPETITIVE LANDSCAPE</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Samuel Space Targets the Space-Based Clinical Quadrant</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13</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11679631" cy="51572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14135" y="1490472"/>
            <a:ext cx="5638647" cy="2258568"/>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93192" y="3749039"/>
            <a:ext cx="11405311" cy="22225"/>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5847" y="1490472"/>
            <a:ext cx="22225" cy="4517136"/>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632" y="1188719"/>
            <a:ext cx="5474055" cy="256032"/>
          </a:xfrm>
          <a:prstGeom prst="rect">
            <a:avLst/>
          </a:prstGeom>
          <a:noFill/>
        </p:spPr>
        <p:txBody>
          <a:bodyPr wrap="square" anchor="t"/>
          <a:lstStyle/>
          <a:p>
            <a:pPr algn="l">
              <a:spcBef>
                <a:spcPts val="0"/>
              </a:spcBef>
              <a:spcAft>
                <a:spcPts val="0"/>
              </a:spcAft>
            </a:pPr>
            <a:r>
              <a:rPr sz="1200" b="1">
                <a:solidFill>
                  <a:srgbClr val="6B7C8F"/>
                </a:solidFill>
                <a:latin typeface="Calibri"/>
              </a:rPr>
              <a:t>EARTH-BASED</a:t>
            </a:r>
          </a:p>
        </p:txBody>
      </p:sp>
      <p:sp>
        <p:nvSpPr>
          <p:cNvPr id="13" name="TextBox 12"/>
          <p:cNvSpPr txBox="1"/>
          <p:nvPr/>
        </p:nvSpPr>
        <p:spPr>
          <a:xfrm>
            <a:off x="6278727" y="1188719"/>
            <a:ext cx="5474055" cy="256032"/>
          </a:xfrm>
          <a:prstGeom prst="rect">
            <a:avLst/>
          </a:prstGeom>
          <a:noFill/>
        </p:spPr>
        <p:txBody>
          <a:bodyPr wrap="square" anchor="t"/>
          <a:lstStyle/>
          <a:p>
            <a:pPr algn="l">
              <a:spcBef>
                <a:spcPts val="0"/>
              </a:spcBef>
              <a:spcAft>
                <a:spcPts val="0"/>
              </a:spcAft>
            </a:pPr>
            <a:r>
              <a:rPr sz="1200" b="1">
                <a:solidFill>
                  <a:srgbClr val="0A6B63"/>
                </a:solidFill>
                <a:latin typeface="Calibri"/>
              </a:rPr>
              <a:t>SPACE-BASED</a:t>
            </a:r>
          </a:p>
        </p:txBody>
      </p:sp>
      <p:sp>
        <p:nvSpPr>
          <p:cNvPr id="14" name="TextBox 13"/>
          <p:cNvSpPr txBox="1"/>
          <p:nvPr/>
        </p:nvSpPr>
        <p:spPr>
          <a:xfrm>
            <a:off x="438912" y="1581912"/>
            <a:ext cx="2194560" cy="228600"/>
          </a:xfrm>
          <a:prstGeom prst="rect">
            <a:avLst/>
          </a:prstGeom>
          <a:noFill/>
        </p:spPr>
        <p:txBody>
          <a:bodyPr wrap="square" anchor="t"/>
          <a:lstStyle/>
          <a:p>
            <a:pPr algn="l">
              <a:spcBef>
                <a:spcPts val="0"/>
              </a:spcBef>
              <a:spcAft>
                <a:spcPts val="0"/>
              </a:spcAft>
            </a:pPr>
            <a:r>
              <a:rPr sz="1000" b="1">
                <a:solidFill>
                  <a:srgbClr val="3A4A5C"/>
                </a:solidFill>
                <a:latin typeface="Calibri"/>
              </a:rPr>
              <a:t>CLINICAL / COMMERCIAL</a:t>
            </a:r>
          </a:p>
        </p:txBody>
      </p:sp>
      <p:sp>
        <p:nvSpPr>
          <p:cNvPr id="15" name="TextBox 14"/>
          <p:cNvSpPr txBox="1"/>
          <p:nvPr/>
        </p:nvSpPr>
        <p:spPr>
          <a:xfrm>
            <a:off x="438912" y="5916168"/>
            <a:ext cx="2011680" cy="228600"/>
          </a:xfrm>
          <a:prstGeom prst="rect">
            <a:avLst/>
          </a:prstGeom>
          <a:noFill/>
        </p:spPr>
        <p:txBody>
          <a:bodyPr wrap="square" anchor="t"/>
          <a:lstStyle/>
          <a:p>
            <a:pPr algn="l">
              <a:spcBef>
                <a:spcPts val="0"/>
              </a:spcBef>
              <a:spcAft>
                <a:spcPts val="0"/>
              </a:spcAft>
            </a:pPr>
            <a:r>
              <a:rPr sz="1000" b="1">
                <a:solidFill>
                  <a:srgbClr val="6B7C8F"/>
                </a:solidFill>
                <a:latin typeface="Calibri"/>
              </a:rPr>
              <a:t>EARLY RESEARCH</a:t>
            </a:r>
          </a:p>
        </p:txBody>
      </p:sp>
      <p:sp>
        <p:nvSpPr>
          <p:cNvPr id="16" name="Oval 15"/>
          <p:cNvSpPr/>
          <p:nvPr/>
        </p:nvSpPr>
        <p:spPr>
          <a:xfrm>
            <a:off x="2124772" y="3141878"/>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41892" y="3361334"/>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Cellink / BICO</a:t>
            </a:r>
          </a:p>
        </p:txBody>
      </p:sp>
      <p:sp>
        <p:nvSpPr>
          <p:cNvPr id="18" name="Oval 17"/>
          <p:cNvSpPr/>
          <p:nvPr/>
        </p:nvSpPr>
        <p:spPr>
          <a:xfrm>
            <a:off x="2825550" y="4070177"/>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42670" y="4289633"/>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Organovo</a:t>
            </a:r>
          </a:p>
        </p:txBody>
      </p:sp>
      <p:sp>
        <p:nvSpPr>
          <p:cNvPr id="20" name="Oval 19"/>
          <p:cNvSpPr/>
          <p:nvPr/>
        </p:nvSpPr>
        <p:spPr>
          <a:xfrm>
            <a:off x="3526328" y="2523012"/>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43448" y="2742468"/>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3D Systems (Med)</a:t>
            </a:r>
          </a:p>
        </p:txBody>
      </p:sp>
      <p:sp>
        <p:nvSpPr>
          <p:cNvPr id="22" name="Oval 21"/>
          <p:cNvSpPr/>
          <p:nvPr/>
        </p:nvSpPr>
        <p:spPr>
          <a:xfrm>
            <a:off x="7964588" y="3554455"/>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81708" y="3773911"/>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Redwire BFF</a:t>
            </a:r>
          </a:p>
        </p:txBody>
      </p:sp>
      <p:sp>
        <p:nvSpPr>
          <p:cNvPr id="24" name="Oval 23"/>
          <p:cNvSpPr/>
          <p:nvPr/>
        </p:nvSpPr>
        <p:spPr>
          <a:xfrm>
            <a:off x="9599736" y="2832445"/>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6856" y="3051901"/>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LambdaVision</a:t>
            </a:r>
          </a:p>
        </p:txBody>
      </p:sp>
      <p:sp>
        <p:nvSpPr>
          <p:cNvPr id="26" name="Oval 25"/>
          <p:cNvSpPr/>
          <p:nvPr/>
        </p:nvSpPr>
        <p:spPr>
          <a:xfrm>
            <a:off x="7030218" y="4895331"/>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47338" y="5114787"/>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ROSCOSMOS / 3D BPS</a:t>
            </a:r>
          </a:p>
        </p:txBody>
      </p:sp>
      <p:sp>
        <p:nvSpPr>
          <p:cNvPr id="28" name="Oval 27"/>
          <p:cNvSpPr/>
          <p:nvPr/>
        </p:nvSpPr>
        <p:spPr>
          <a:xfrm>
            <a:off x="7730995" y="4379610"/>
            <a:ext cx="182880" cy="182880"/>
          </a:xfrm>
          <a:prstGeom prst="ellipse">
            <a:avLst/>
          </a:prstGeom>
          <a:solidFill>
            <a:srgbClr val="5A6B7C"/>
          </a:solidFill>
          <a:ln w="19050">
            <a:solidFill>
              <a:srgbClr val="5A6B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48115" y="4599066"/>
            <a:ext cx="1554480" cy="365760"/>
          </a:xfrm>
          <a:prstGeom prst="rect">
            <a:avLst/>
          </a:prstGeom>
          <a:noFill/>
        </p:spPr>
        <p:txBody>
          <a:bodyPr wrap="square" anchor="t"/>
          <a:lstStyle/>
          <a:p>
            <a:pPr algn="l">
              <a:spcBef>
                <a:spcPts val="0"/>
              </a:spcBef>
              <a:spcAft>
                <a:spcPts val="0"/>
              </a:spcAft>
            </a:pPr>
            <a:r>
              <a:rPr sz="1000" b="0">
                <a:solidFill>
                  <a:srgbClr val="3A4A5C"/>
                </a:solidFill>
                <a:latin typeface="Calibri"/>
              </a:rPr>
              <a:t>Entry</a:t>
            </a:r>
          </a:p>
        </p:txBody>
      </p:sp>
      <p:sp>
        <p:nvSpPr>
          <p:cNvPr id="30" name="Oval 29"/>
          <p:cNvSpPr/>
          <p:nvPr/>
        </p:nvSpPr>
        <p:spPr>
          <a:xfrm>
            <a:off x="8898959" y="2110435"/>
            <a:ext cx="292608" cy="292608"/>
          </a:xfrm>
          <a:prstGeom prst="ellipse">
            <a:avLst/>
          </a:prstGeom>
          <a:solidFill>
            <a:srgbClr val="0A6B6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6079" y="2439619"/>
            <a:ext cx="1554480" cy="365760"/>
          </a:xfrm>
          <a:prstGeom prst="rect">
            <a:avLst/>
          </a:prstGeom>
          <a:noFill/>
        </p:spPr>
        <p:txBody>
          <a:bodyPr wrap="square" anchor="t"/>
          <a:lstStyle/>
          <a:p>
            <a:pPr algn="l">
              <a:spcBef>
                <a:spcPts val="0"/>
              </a:spcBef>
              <a:spcAft>
                <a:spcPts val="0"/>
              </a:spcAft>
            </a:pPr>
            <a:r>
              <a:rPr sz="1100" b="1">
                <a:solidFill>
                  <a:srgbClr val="0A6B63"/>
                </a:solidFill>
                <a:latin typeface="Calibri"/>
              </a:rPr>
              <a:t>Samuel Space (target)</a:t>
            </a:r>
          </a:p>
        </p:txBody>
      </p:sp>
      <p:sp>
        <p:nvSpPr>
          <p:cNvPr id="32" name="TextBox 31"/>
          <p:cNvSpPr txBox="1"/>
          <p:nvPr/>
        </p:nvSpPr>
        <p:spPr>
          <a:xfrm>
            <a:off x="256032" y="6263640"/>
            <a:ext cx="11679631" cy="228600"/>
          </a:xfrm>
          <a:prstGeom prst="rect">
            <a:avLst/>
          </a:prstGeom>
          <a:noFill/>
        </p:spPr>
        <p:txBody>
          <a:bodyPr wrap="square" anchor="t"/>
          <a:lstStyle/>
          <a:p>
            <a:pPr algn="l">
              <a:spcBef>
                <a:spcPts val="0"/>
              </a:spcBef>
              <a:spcAft>
                <a:spcPts val="0"/>
              </a:spcAft>
            </a:pPr>
            <a:r>
              <a:rPr sz="900" b="0">
                <a:solidFill>
                  <a:srgbClr val="6B7C8F"/>
                </a:solidFill>
                <a:latin typeface="Calibri"/>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REVENUE MODEL</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Three Complementary Revenue Streams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14</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11679631" cy="17373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17373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243584"/>
            <a:ext cx="914400" cy="274320"/>
          </a:xfrm>
          <a:prstGeom prst="rect">
            <a:avLst/>
          </a:prstGeom>
          <a:noFill/>
        </p:spPr>
        <p:txBody>
          <a:bodyPr wrap="square" anchor="t"/>
          <a:lstStyle/>
          <a:p>
            <a:pPr algn="l">
              <a:spcBef>
                <a:spcPts val="0"/>
              </a:spcBef>
              <a:spcAft>
                <a:spcPts val="0"/>
              </a:spcAft>
            </a:pPr>
            <a:r>
              <a:rPr sz="1600" b="1">
                <a:solidFill>
                  <a:srgbClr val="0A6B63"/>
                </a:solidFill>
                <a:latin typeface="Georgia"/>
              </a:rPr>
              <a:t>01</a:t>
            </a:r>
          </a:p>
        </p:txBody>
      </p:sp>
      <p:sp>
        <p:nvSpPr>
          <p:cNvPr id="11" name="TextBox 10"/>
          <p:cNvSpPr txBox="1"/>
          <p:nvPr/>
        </p:nvSpPr>
        <p:spPr>
          <a:xfrm>
            <a:off x="1444752" y="1243584"/>
            <a:ext cx="3200400" cy="228600"/>
          </a:xfrm>
          <a:prstGeom prst="rect">
            <a:avLst/>
          </a:prstGeom>
          <a:noFill/>
        </p:spPr>
        <p:txBody>
          <a:bodyPr wrap="square" anchor="t"/>
          <a:lstStyle/>
          <a:p>
            <a:pPr algn="l">
              <a:spcBef>
                <a:spcPts val="0"/>
              </a:spcBef>
              <a:spcAft>
                <a:spcPts val="0"/>
              </a:spcAft>
            </a:pPr>
            <a:r>
              <a:rPr sz="1000" b="1">
                <a:solidFill>
                  <a:srgbClr val="0A6B63"/>
                </a:solidFill>
                <a:latin typeface="Calibri"/>
              </a:rPr>
              <a:t>REVENUE STREAM 1</a:t>
            </a:r>
          </a:p>
        </p:txBody>
      </p:sp>
      <p:sp>
        <p:nvSpPr>
          <p:cNvPr id="12" name="TextBox 11"/>
          <p:cNvSpPr txBox="1"/>
          <p:nvPr/>
        </p:nvSpPr>
        <p:spPr>
          <a:xfrm>
            <a:off x="1444752" y="1490472"/>
            <a:ext cx="7315200" cy="320040"/>
          </a:xfrm>
          <a:prstGeom prst="rect">
            <a:avLst/>
          </a:prstGeom>
          <a:noFill/>
        </p:spPr>
        <p:txBody>
          <a:bodyPr wrap="square" anchor="t"/>
          <a:lstStyle/>
          <a:p>
            <a:pPr algn="l">
              <a:spcBef>
                <a:spcPts val="0"/>
              </a:spcBef>
              <a:spcAft>
                <a:spcPts val="0"/>
              </a:spcAft>
            </a:pPr>
            <a:r>
              <a:rPr sz="1700" b="1">
                <a:solidFill>
                  <a:srgbClr val="0B1F33"/>
                </a:solidFill>
                <a:latin typeface="Georgia"/>
              </a:rPr>
              <a:t>Contract Bioprinting Services</a:t>
            </a:r>
          </a:p>
        </p:txBody>
      </p:sp>
      <p:sp>
        <p:nvSpPr>
          <p:cNvPr id="13" name="TextBox 12"/>
          <p:cNvSpPr txBox="1"/>
          <p:nvPr/>
        </p:nvSpPr>
        <p:spPr>
          <a:xfrm>
            <a:off x="1444752" y="1901952"/>
            <a:ext cx="7498079" cy="640080"/>
          </a:xfrm>
          <a:prstGeom prst="rect">
            <a:avLst/>
          </a:prstGeom>
          <a:noFill/>
        </p:spPr>
        <p:txBody>
          <a:bodyPr wrap="square" anchor="t"/>
          <a:lstStyle/>
          <a:p>
            <a:pPr algn="l">
              <a:spcBef>
                <a:spcPts val="0"/>
              </a:spcBef>
              <a:spcAft>
                <a:spcPts val="0"/>
              </a:spcAft>
            </a:pPr>
            <a:r>
              <a:rPr sz="1200" b="0">
                <a:solidFill>
                  <a:srgbClr val="3A4A5C"/>
                </a:solidFill>
                <a:latin typeface="Calibri"/>
              </a:rPr>
              <a:t>Fee-for-service orbital bioprinting missions for pharmaceutical companies, academic medical centres, and government research agencies, modelled on how Redwire's BFF and Space Tango currently operate commercially. Revenue begins in Year 1.</a:t>
            </a:r>
          </a:p>
        </p:txBody>
      </p:sp>
      <p:sp>
        <p:nvSpPr>
          <p:cNvPr id="14" name="Rectangle 13"/>
          <p:cNvSpPr/>
          <p:nvPr/>
        </p:nvSpPr>
        <p:spPr>
          <a:xfrm>
            <a:off x="9558223" y="1399031"/>
            <a:ext cx="2057400"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58223" y="1399031"/>
            <a:ext cx="2057400" cy="320040"/>
          </a:xfrm>
          <a:prstGeom prst="rect">
            <a:avLst/>
          </a:prstGeom>
          <a:noFill/>
        </p:spPr>
        <p:txBody>
          <a:bodyPr wrap="square" anchor="ctr"/>
          <a:lstStyle/>
          <a:p>
            <a:pPr algn="ctr">
              <a:spcBef>
                <a:spcPts val="0"/>
              </a:spcBef>
              <a:spcAft>
                <a:spcPts val="0"/>
              </a:spcAft>
            </a:pPr>
            <a:r>
              <a:rPr sz="1000" b="1">
                <a:solidFill>
                  <a:srgbClr val="07524C"/>
                </a:solidFill>
                <a:latin typeface="Calibri"/>
              </a:rPr>
              <a:t>Near-Term Revenue</a:t>
            </a:r>
          </a:p>
        </p:txBody>
      </p:sp>
      <p:sp>
        <p:nvSpPr>
          <p:cNvPr id="16" name="Rectangle 15"/>
          <p:cNvSpPr/>
          <p:nvPr/>
        </p:nvSpPr>
        <p:spPr>
          <a:xfrm>
            <a:off x="256032" y="2926080"/>
            <a:ext cx="11679631" cy="17373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6032" y="2926080"/>
            <a:ext cx="73152" cy="17373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3090672"/>
            <a:ext cx="914400" cy="274320"/>
          </a:xfrm>
          <a:prstGeom prst="rect">
            <a:avLst/>
          </a:prstGeom>
          <a:noFill/>
        </p:spPr>
        <p:txBody>
          <a:bodyPr wrap="square" anchor="t"/>
          <a:lstStyle/>
          <a:p>
            <a:pPr algn="l">
              <a:spcBef>
                <a:spcPts val="0"/>
              </a:spcBef>
              <a:spcAft>
                <a:spcPts val="0"/>
              </a:spcAft>
            </a:pPr>
            <a:r>
              <a:rPr sz="1600" b="1">
                <a:solidFill>
                  <a:srgbClr val="0A6B63"/>
                </a:solidFill>
                <a:latin typeface="Georgia"/>
              </a:rPr>
              <a:t>02</a:t>
            </a:r>
          </a:p>
        </p:txBody>
      </p:sp>
      <p:sp>
        <p:nvSpPr>
          <p:cNvPr id="19" name="TextBox 18"/>
          <p:cNvSpPr txBox="1"/>
          <p:nvPr/>
        </p:nvSpPr>
        <p:spPr>
          <a:xfrm>
            <a:off x="1444752" y="3090672"/>
            <a:ext cx="3200400" cy="228600"/>
          </a:xfrm>
          <a:prstGeom prst="rect">
            <a:avLst/>
          </a:prstGeom>
          <a:noFill/>
        </p:spPr>
        <p:txBody>
          <a:bodyPr wrap="square" anchor="t"/>
          <a:lstStyle/>
          <a:p>
            <a:pPr algn="l">
              <a:spcBef>
                <a:spcPts val="0"/>
              </a:spcBef>
              <a:spcAft>
                <a:spcPts val="0"/>
              </a:spcAft>
            </a:pPr>
            <a:r>
              <a:rPr sz="1000" b="1">
                <a:solidFill>
                  <a:srgbClr val="0A6B63"/>
                </a:solidFill>
                <a:latin typeface="Calibri"/>
              </a:rPr>
              <a:t>REVENUE STREAM 2</a:t>
            </a:r>
          </a:p>
        </p:txBody>
      </p:sp>
      <p:sp>
        <p:nvSpPr>
          <p:cNvPr id="20" name="TextBox 19"/>
          <p:cNvSpPr txBox="1"/>
          <p:nvPr/>
        </p:nvSpPr>
        <p:spPr>
          <a:xfrm>
            <a:off x="1444752" y="3337560"/>
            <a:ext cx="7315200" cy="320040"/>
          </a:xfrm>
          <a:prstGeom prst="rect">
            <a:avLst/>
          </a:prstGeom>
          <a:noFill/>
        </p:spPr>
        <p:txBody>
          <a:bodyPr wrap="square" anchor="t"/>
          <a:lstStyle/>
          <a:p>
            <a:pPr algn="l">
              <a:spcBef>
                <a:spcPts val="0"/>
              </a:spcBef>
              <a:spcAft>
                <a:spcPts val="0"/>
              </a:spcAft>
            </a:pPr>
            <a:r>
              <a:rPr sz="1700" b="1">
                <a:solidFill>
                  <a:srgbClr val="0B1F33"/>
                </a:solidFill>
                <a:latin typeface="Georgia"/>
              </a:rPr>
              <a:t>Non-Dilutive Grant Funding</a:t>
            </a:r>
          </a:p>
        </p:txBody>
      </p:sp>
      <p:sp>
        <p:nvSpPr>
          <p:cNvPr id="21" name="TextBox 20"/>
          <p:cNvSpPr txBox="1"/>
          <p:nvPr/>
        </p:nvSpPr>
        <p:spPr>
          <a:xfrm>
            <a:off x="1444752" y="3749040"/>
            <a:ext cx="7498079" cy="640080"/>
          </a:xfrm>
          <a:prstGeom prst="rect">
            <a:avLst/>
          </a:prstGeom>
          <a:noFill/>
        </p:spPr>
        <p:txBody>
          <a:bodyPr wrap="square" anchor="t"/>
          <a:lstStyle/>
          <a:p>
            <a:pPr algn="l">
              <a:spcBef>
                <a:spcPts val="0"/>
              </a:spcBef>
              <a:spcAft>
                <a:spcPts val="0"/>
              </a:spcAft>
            </a:pPr>
            <a:r>
              <a:rPr sz="1200" b="0">
                <a:solidFill>
                  <a:srgbClr val="3A4A5C"/>
                </a:solidFill>
                <a:latin typeface="Calibri"/>
              </a:rPr>
              <a:t>NASA InSPA, ESA BIC, DoD SBIR/STTR, and National Eye Institute mechanisms provide substantial non-dilutive capital. LambdaVision has secured $15M+ cumulatively; Redwire holds a $25M NASA IDIQ. Samuel targets $4–8M in grants across Years 1–4.</a:t>
            </a:r>
          </a:p>
        </p:txBody>
      </p:sp>
      <p:sp>
        <p:nvSpPr>
          <p:cNvPr id="22" name="Rectangle 21"/>
          <p:cNvSpPr/>
          <p:nvPr/>
        </p:nvSpPr>
        <p:spPr>
          <a:xfrm>
            <a:off x="9558223" y="3246120"/>
            <a:ext cx="2057400"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58223" y="3246120"/>
            <a:ext cx="2057400" cy="320040"/>
          </a:xfrm>
          <a:prstGeom prst="rect">
            <a:avLst/>
          </a:prstGeom>
          <a:noFill/>
        </p:spPr>
        <p:txBody>
          <a:bodyPr wrap="square" anchor="ctr"/>
          <a:lstStyle/>
          <a:p>
            <a:pPr algn="ctr">
              <a:spcBef>
                <a:spcPts val="0"/>
              </a:spcBef>
              <a:spcAft>
                <a:spcPts val="0"/>
              </a:spcAft>
            </a:pPr>
            <a:r>
              <a:rPr sz="1000" b="1">
                <a:solidFill>
                  <a:srgbClr val="07524C"/>
                </a:solidFill>
                <a:latin typeface="Calibri"/>
              </a:rPr>
              <a:t>Reduces Equity Burn</a:t>
            </a:r>
          </a:p>
        </p:txBody>
      </p:sp>
      <p:sp>
        <p:nvSpPr>
          <p:cNvPr id="24" name="Rectangle 23"/>
          <p:cNvSpPr/>
          <p:nvPr/>
        </p:nvSpPr>
        <p:spPr>
          <a:xfrm>
            <a:off x="256032" y="4773168"/>
            <a:ext cx="11679631" cy="17373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 y="4773168"/>
            <a:ext cx="73152" cy="17373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937759"/>
            <a:ext cx="914400" cy="274320"/>
          </a:xfrm>
          <a:prstGeom prst="rect">
            <a:avLst/>
          </a:prstGeom>
          <a:noFill/>
        </p:spPr>
        <p:txBody>
          <a:bodyPr wrap="square" anchor="t"/>
          <a:lstStyle/>
          <a:p>
            <a:pPr algn="l">
              <a:spcBef>
                <a:spcPts val="0"/>
              </a:spcBef>
              <a:spcAft>
                <a:spcPts val="0"/>
              </a:spcAft>
            </a:pPr>
            <a:r>
              <a:rPr sz="1600" b="1">
                <a:solidFill>
                  <a:srgbClr val="0A6B63"/>
                </a:solidFill>
                <a:latin typeface="Georgia"/>
              </a:rPr>
              <a:t>03</a:t>
            </a:r>
          </a:p>
        </p:txBody>
      </p:sp>
      <p:sp>
        <p:nvSpPr>
          <p:cNvPr id="27" name="TextBox 26"/>
          <p:cNvSpPr txBox="1"/>
          <p:nvPr/>
        </p:nvSpPr>
        <p:spPr>
          <a:xfrm>
            <a:off x="1444752" y="4937759"/>
            <a:ext cx="3200400" cy="228600"/>
          </a:xfrm>
          <a:prstGeom prst="rect">
            <a:avLst/>
          </a:prstGeom>
          <a:noFill/>
        </p:spPr>
        <p:txBody>
          <a:bodyPr wrap="square" anchor="t"/>
          <a:lstStyle/>
          <a:p>
            <a:pPr algn="l">
              <a:spcBef>
                <a:spcPts val="0"/>
              </a:spcBef>
              <a:spcAft>
                <a:spcPts val="0"/>
              </a:spcAft>
            </a:pPr>
            <a:r>
              <a:rPr sz="1000" b="1">
                <a:solidFill>
                  <a:srgbClr val="0A6B63"/>
                </a:solidFill>
                <a:latin typeface="Calibri"/>
              </a:rPr>
              <a:t>REVENUE STREAM 3</a:t>
            </a:r>
          </a:p>
        </p:txBody>
      </p:sp>
      <p:sp>
        <p:nvSpPr>
          <p:cNvPr id="28" name="TextBox 27"/>
          <p:cNvSpPr txBox="1"/>
          <p:nvPr/>
        </p:nvSpPr>
        <p:spPr>
          <a:xfrm>
            <a:off x="1444752" y="5184648"/>
            <a:ext cx="7315200" cy="320040"/>
          </a:xfrm>
          <a:prstGeom prst="rect">
            <a:avLst/>
          </a:prstGeom>
          <a:noFill/>
        </p:spPr>
        <p:txBody>
          <a:bodyPr wrap="square" anchor="t"/>
          <a:lstStyle/>
          <a:p>
            <a:pPr algn="l">
              <a:spcBef>
                <a:spcPts val="0"/>
              </a:spcBef>
              <a:spcAft>
                <a:spcPts val="0"/>
              </a:spcAft>
            </a:pPr>
            <a:r>
              <a:rPr sz="1700" b="1">
                <a:solidFill>
                  <a:srgbClr val="0B1F33"/>
                </a:solidFill>
                <a:latin typeface="Georgia"/>
              </a:rPr>
              <a:t>Tissue IP Licensing &amp; Royalties</a:t>
            </a:r>
          </a:p>
        </p:txBody>
      </p:sp>
      <p:sp>
        <p:nvSpPr>
          <p:cNvPr id="29" name="TextBox 28"/>
          <p:cNvSpPr txBox="1"/>
          <p:nvPr/>
        </p:nvSpPr>
        <p:spPr>
          <a:xfrm>
            <a:off x="1444752" y="5596128"/>
            <a:ext cx="7498079" cy="640080"/>
          </a:xfrm>
          <a:prstGeom prst="rect">
            <a:avLst/>
          </a:prstGeom>
          <a:noFill/>
        </p:spPr>
        <p:txBody>
          <a:bodyPr wrap="square" anchor="t"/>
          <a:lstStyle/>
          <a:p>
            <a:pPr algn="l">
              <a:spcBef>
                <a:spcPts val="0"/>
              </a:spcBef>
              <a:spcAft>
                <a:spcPts val="0"/>
              </a:spcAft>
            </a:pPr>
            <a:r>
              <a:rPr sz="1200" b="0">
                <a:solidFill>
                  <a:srgbClr val="3A4A5C"/>
                </a:solidFill>
                <a:latin typeface="Calibri"/>
              </a:rPr>
              <a:t>As proprietary bioink formulations and protocols demonstrate clinical-grade output, Samuel licenses IP to pharmaceutical and device manufacturers. This becomes the primary long-term value driver, targeted from Year 3 onward.</a:t>
            </a:r>
          </a:p>
        </p:txBody>
      </p:sp>
      <p:sp>
        <p:nvSpPr>
          <p:cNvPr id="30" name="Rectangle 29"/>
          <p:cNvSpPr/>
          <p:nvPr/>
        </p:nvSpPr>
        <p:spPr>
          <a:xfrm>
            <a:off x="9558223" y="5093207"/>
            <a:ext cx="2057400" cy="320040"/>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58223" y="5093207"/>
            <a:ext cx="2057400" cy="320040"/>
          </a:xfrm>
          <a:prstGeom prst="rect">
            <a:avLst/>
          </a:prstGeom>
          <a:noFill/>
        </p:spPr>
        <p:txBody>
          <a:bodyPr wrap="square" anchor="ctr"/>
          <a:lstStyle/>
          <a:p>
            <a:pPr algn="ctr">
              <a:spcBef>
                <a:spcPts val="0"/>
              </a:spcBef>
              <a:spcAft>
                <a:spcPts val="0"/>
              </a:spcAft>
            </a:pPr>
            <a:r>
              <a:rPr sz="1000" b="1">
                <a:solidFill>
                  <a:srgbClr val="07524C"/>
                </a:solidFill>
                <a:latin typeface="Calibri"/>
              </a:rPr>
              <a:t>Long-Term Value Driver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GO-TO-MARKET</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Sequenced Market Entry Across Four Partner Categories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15</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2810179"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8912" y="1353312"/>
            <a:ext cx="384048" cy="38404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00" b="1">
                <a:solidFill>
                  <a:srgbClr val="FFFFFF"/>
                </a:solidFill>
                <a:latin typeface="Calibri"/>
              </a:rPr>
              <a:t>1</a:t>
            </a:r>
          </a:p>
        </p:txBody>
      </p:sp>
      <p:sp>
        <p:nvSpPr>
          <p:cNvPr id="11" name="TextBox 10"/>
          <p:cNvSpPr txBox="1"/>
          <p:nvPr/>
        </p:nvSpPr>
        <p:spPr>
          <a:xfrm>
            <a:off x="438912" y="1947672"/>
            <a:ext cx="2444419" cy="685800"/>
          </a:xfrm>
          <a:prstGeom prst="rect">
            <a:avLst/>
          </a:prstGeom>
          <a:noFill/>
        </p:spPr>
        <p:txBody>
          <a:bodyPr wrap="square" anchor="t"/>
          <a:lstStyle/>
          <a:p>
            <a:pPr algn="l">
              <a:spcBef>
                <a:spcPts val="0"/>
              </a:spcBef>
              <a:spcAft>
                <a:spcPts val="0"/>
              </a:spcAft>
            </a:pPr>
            <a:r>
              <a:rPr sz="1500" b="1">
                <a:solidFill>
                  <a:srgbClr val="0B1F33"/>
                </a:solidFill>
                <a:latin typeface="Georgia"/>
              </a:rPr>
              <a:t>Commercial Station Operators</a:t>
            </a:r>
          </a:p>
        </p:txBody>
      </p:sp>
      <p:sp>
        <p:nvSpPr>
          <p:cNvPr id="12" name="TextBox 11"/>
          <p:cNvSpPr txBox="1"/>
          <p:nvPr/>
        </p:nvSpPr>
        <p:spPr>
          <a:xfrm>
            <a:off x="438912" y="2770632"/>
            <a:ext cx="2444419" cy="2560320"/>
          </a:xfrm>
          <a:prstGeom prst="rect">
            <a:avLst/>
          </a:prstGeom>
          <a:noFill/>
        </p:spPr>
        <p:txBody>
          <a:bodyPr wrap="square" anchor="t"/>
          <a:lstStyle/>
          <a:p>
            <a:pPr algn="l">
              <a:spcBef>
                <a:spcPts val="0"/>
              </a:spcBef>
              <a:spcAft>
                <a:spcPts val="0"/>
              </a:spcAft>
            </a:pPr>
            <a:r>
              <a:rPr sz="1150" b="0">
                <a:solidFill>
                  <a:srgbClr val="3A4A5C"/>
                </a:solidFill>
                <a:latin typeface="Calibri"/>
              </a:rPr>
              <a:t>Redwire (active BFF operator), Starlab (Voyager/Airbus JV), Axiom Space, Blue Origin Orbital Reef, and Vast Haven-1. Samuel negotiates research-service agreements and payload manifesting rights with each.</a:t>
            </a:r>
          </a:p>
        </p:txBody>
      </p:sp>
      <p:sp>
        <p:nvSpPr>
          <p:cNvPr id="13" name="Rectangle 12"/>
          <p:cNvSpPr/>
          <p:nvPr/>
        </p:nvSpPr>
        <p:spPr>
          <a:xfrm>
            <a:off x="438912" y="5961888"/>
            <a:ext cx="2444419" cy="347472"/>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5961888"/>
            <a:ext cx="2352979" cy="347472"/>
          </a:xfrm>
          <a:prstGeom prst="rect">
            <a:avLst/>
          </a:prstGeom>
          <a:noFill/>
        </p:spPr>
        <p:txBody>
          <a:bodyPr wrap="square" anchor="ctr"/>
          <a:lstStyle/>
          <a:p>
            <a:pPr algn="ctr">
              <a:spcBef>
                <a:spcPts val="0"/>
              </a:spcBef>
              <a:spcAft>
                <a:spcPts val="0"/>
              </a:spcAft>
            </a:pPr>
            <a:r>
              <a:rPr sz="950" b="1">
                <a:solidFill>
                  <a:srgbClr val="07524C"/>
                </a:solidFill>
                <a:latin typeface="Calibri"/>
              </a:rPr>
              <a:t>Redwire, Starlab, Axiom, Vast</a:t>
            </a:r>
          </a:p>
        </p:txBody>
      </p:sp>
      <p:sp>
        <p:nvSpPr>
          <p:cNvPr id="15" name="Rectangle 14"/>
          <p:cNvSpPr/>
          <p:nvPr/>
        </p:nvSpPr>
        <p:spPr>
          <a:xfrm>
            <a:off x="3212515"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2515" y="1078992"/>
            <a:ext cx="2810179"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395395" y="1353312"/>
            <a:ext cx="384048" cy="38404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00" b="1">
                <a:solidFill>
                  <a:srgbClr val="FFFFFF"/>
                </a:solidFill>
                <a:latin typeface="Calibri"/>
              </a:rPr>
              <a:t>2</a:t>
            </a:r>
          </a:p>
        </p:txBody>
      </p:sp>
      <p:sp>
        <p:nvSpPr>
          <p:cNvPr id="18" name="TextBox 17"/>
          <p:cNvSpPr txBox="1"/>
          <p:nvPr/>
        </p:nvSpPr>
        <p:spPr>
          <a:xfrm>
            <a:off x="3395395" y="1947672"/>
            <a:ext cx="2444419" cy="685800"/>
          </a:xfrm>
          <a:prstGeom prst="rect">
            <a:avLst/>
          </a:prstGeom>
          <a:noFill/>
        </p:spPr>
        <p:txBody>
          <a:bodyPr wrap="square" anchor="t"/>
          <a:lstStyle/>
          <a:p>
            <a:pPr algn="l">
              <a:spcBef>
                <a:spcPts val="0"/>
              </a:spcBef>
              <a:spcAft>
                <a:spcPts val="0"/>
              </a:spcAft>
            </a:pPr>
            <a:r>
              <a:rPr sz="1500" b="1">
                <a:solidFill>
                  <a:srgbClr val="0B1F33"/>
                </a:solidFill>
                <a:latin typeface="Georgia"/>
              </a:rPr>
              <a:t>Payload Integrators &amp; CROs</a:t>
            </a:r>
          </a:p>
        </p:txBody>
      </p:sp>
      <p:sp>
        <p:nvSpPr>
          <p:cNvPr id="19" name="TextBox 18"/>
          <p:cNvSpPr txBox="1"/>
          <p:nvPr/>
        </p:nvSpPr>
        <p:spPr>
          <a:xfrm>
            <a:off x="3395395" y="2770632"/>
            <a:ext cx="2444419" cy="2560320"/>
          </a:xfrm>
          <a:prstGeom prst="rect">
            <a:avLst/>
          </a:prstGeom>
          <a:noFill/>
        </p:spPr>
        <p:txBody>
          <a:bodyPr wrap="square" anchor="t"/>
          <a:lstStyle/>
          <a:p>
            <a:pPr algn="l">
              <a:spcBef>
                <a:spcPts val="0"/>
              </a:spcBef>
              <a:spcAft>
                <a:spcPts val="0"/>
              </a:spcAft>
            </a:pPr>
            <a:r>
              <a:rPr sz="1150" b="0">
                <a:solidFill>
                  <a:srgbClr val="3A4A5C"/>
                </a:solidFill>
                <a:latin typeface="Calibri"/>
              </a:rPr>
              <a:t>Partners such as Space Tango, LambdaVision's enabling integrator, provide environmental control, crew interface, and downlink services. Samuel outsources non-core integration to move faster and preserve capital.</a:t>
            </a:r>
          </a:p>
        </p:txBody>
      </p:sp>
      <p:sp>
        <p:nvSpPr>
          <p:cNvPr id="20" name="Rectangle 19"/>
          <p:cNvSpPr/>
          <p:nvPr/>
        </p:nvSpPr>
        <p:spPr>
          <a:xfrm>
            <a:off x="3395395" y="5961888"/>
            <a:ext cx="2444419" cy="347472"/>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41115" y="5961888"/>
            <a:ext cx="2352979" cy="347472"/>
          </a:xfrm>
          <a:prstGeom prst="rect">
            <a:avLst/>
          </a:prstGeom>
          <a:noFill/>
        </p:spPr>
        <p:txBody>
          <a:bodyPr wrap="square" anchor="ctr"/>
          <a:lstStyle/>
          <a:p>
            <a:pPr algn="ctr">
              <a:spcBef>
                <a:spcPts val="0"/>
              </a:spcBef>
              <a:spcAft>
                <a:spcPts val="0"/>
              </a:spcAft>
            </a:pPr>
            <a:r>
              <a:rPr sz="950" b="1">
                <a:solidFill>
                  <a:srgbClr val="07524C"/>
                </a:solidFill>
                <a:latin typeface="Calibri"/>
              </a:rPr>
              <a:t>Space Tango, Nanoracks/Voyager</a:t>
            </a:r>
          </a:p>
        </p:txBody>
      </p:sp>
      <p:sp>
        <p:nvSpPr>
          <p:cNvPr id="22" name="Rectangle 21"/>
          <p:cNvSpPr/>
          <p:nvPr/>
        </p:nvSpPr>
        <p:spPr>
          <a:xfrm>
            <a:off x="6168999"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68999" y="1078992"/>
            <a:ext cx="2810179"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1879" y="1353312"/>
            <a:ext cx="384048" cy="38404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00" b="1">
                <a:solidFill>
                  <a:srgbClr val="FFFFFF"/>
                </a:solidFill>
                <a:latin typeface="Calibri"/>
              </a:rPr>
              <a:t>3</a:t>
            </a:r>
          </a:p>
        </p:txBody>
      </p:sp>
      <p:sp>
        <p:nvSpPr>
          <p:cNvPr id="25" name="TextBox 24"/>
          <p:cNvSpPr txBox="1"/>
          <p:nvPr/>
        </p:nvSpPr>
        <p:spPr>
          <a:xfrm>
            <a:off x="6351879" y="1947672"/>
            <a:ext cx="2444419" cy="685800"/>
          </a:xfrm>
          <a:prstGeom prst="rect">
            <a:avLst/>
          </a:prstGeom>
          <a:noFill/>
        </p:spPr>
        <p:txBody>
          <a:bodyPr wrap="square" anchor="t"/>
          <a:lstStyle/>
          <a:p>
            <a:pPr algn="l">
              <a:spcBef>
                <a:spcPts val="0"/>
              </a:spcBef>
              <a:spcAft>
                <a:spcPts val="0"/>
              </a:spcAft>
            </a:pPr>
            <a:r>
              <a:rPr sz="1500" b="1">
                <a:solidFill>
                  <a:srgbClr val="0B1F33"/>
                </a:solidFill>
                <a:latin typeface="Georgia"/>
              </a:rPr>
              <a:t>Pharma &amp; Academic Medical Centres</a:t>
            </a:r>
          </a:p>
        </p:txBody>
      </p:sp>
      <p:sp>
        <p:nvSpPr>
          <p:cNvPr id="26" name="TextBox 25"/>
          <p:cNvSpPr txBox="1"/>
          <p:nvPr/>
        </p:nvSpPr>
        <p:spPr>
          <a:xfrm>
            <a:off x="6351879" y="2770632"/>
            <a:ext cx="2444419" cy="2560320"/>
          </a:xfrm>
          <a:prstGeom prst="rect">
            <a:avLst/>
          </a:prstGeom>
          <a:noFill/>
        </p:spPr>
        <p:txBody>
          <a:bodyPr wrap="square" anchor="t"/>
          <a:lstStyle/>
          <a:p>
            <a:pPr algn="l">
              <a:spcBef>
                <a:spcPts val="0"/>
              </a:spcBef>
              <a:spcAft>
                <a:spcPts val="0"/>
              </a:spcAft>
            </a:pPr>
            <a:r>
              <a:rPr sz="1150" b="0">
                <a:solidFill>
                  <a:srgbClr val="3A4A5C"/>
                </a:solidFill>
                <a:latin typeface="Calibri"/>
              </a:rPr>
              <a:t>Initial contract-service revenue comes from pharmaceutical R&amp;D divisions seeking orbital tissue models for drug screening, and from NIH-funded academic biotech groups with institutional mandates.</a:t>
            </a:r>
          </a:p>
        </p:txBody>
      </p:sp>
      <p:sp>
        <p:nvSpPr>
          <p:cNvPr id="27" name="Rectangle 26"/>
          <p:cNvSpPr/>
          <p:nvPr/>
        </p:nvSpPr>
        <p:spPr>
          <a:xfrm>
            <a:off x="6351879" y="5961888"/>
            <a:ext cx="2444419" cy="347472"/>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5961888"/>
            <a:ext cx="2352979" cy="347472"/>
          </a:xfrm>
          <a:prstGeom prst="rect">
            <a:avLst/>
          </a:prstGeom>
          <a:noFill/>
        </p:spPr>
        <p:txBody>
          <a:bodyPr wrap="square" anchor="ctr"/>
          <a:lstStyle/>
          <a:p>
            <a:pPr algn="ctr">
              <a:spcBef>
                <a:spcPts val="0"/>
              </a:spcBef>
              <a:spcAft>
                <a:spcPts val="0"/>
              </a:spcAft>
            </a:pPr>
            <a:r>
              <a:rPr sz="950" b="1">
                <a:solidFill>
                  <a:srgbClr val="07524C"/>
                </a:solidFill>
                <a:latin typeface="Calibri"/>
              </a:rPr>
              <a:t>Pharma R&amp;D, NIH-funded labs</a:t>
            </a:r>
          </a:p>
        </p:txBody>
      </p:sp>
      <p:sp>
        <p:nvSpPr>
          <p:cNvPr id="29" name="Rectangle 28"/>
          <p:cNvSpPr/>
          <p:nvPr/>
        </p:nvSpPr>
        <p:spPr>
          <a:xfrm>
            <a:off x="9125483" y="1078992"/>
            <a:ext cx="2810179" cy="5385816"/>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125483" y="1078992"/>
            <a:ext cx="2810179"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308363" y="1353312"/>
            <a:ext cx="384048" cy="384048"/>
          </a:xfrm>
          <a:prstGeom prst="ellipse">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00" b="1">
                <a:solidFill>
                  <a:srgbClr val="FFFFFF"/>
                </a:solidFill>
                <a:latin typeface="Calibri"/>
              </a:rPr>
              <a:t>4</a:t>
            </a:r>
          </a:p>
        </p:txBody>
      </p:sp>
      <p:sp>
        <p:nvSpPr>
          <p:cNvPr id="32" name="TextBox 31"/>
          <p:cNvSpPr txBox="1"/>
          <p:nvPr/>
        </p:nvSpPr>
        <p:spPr>
          <a:xfrm>
            <a:off x="9308363" y="1947672"/>
            <a:ext cx="2444419" cy="685800"/>
          </a:xfrm>
          <a:prstGeom prst="rect">
            <a:avLst/>
          </a:prstGeom>
          <a:noFill/>
        </p:spPr>
        <p:txBody>
          <a:bodyPr wrap="square" anchor="t"/>
          <a:lstStyle/>
          <a:p>
            <a:pPr algn="l">
              <a:spcBef>
                <a:spcPts val="0"/>
              </a:spcBef>
              <a:spcAft>
                <a:spcPts val="0"/>
              </a:spcAft>
            </a:pPr>
            <a:r>
              <a:rPr sz="1500" b="1">
                <a:solidFill>
                  <a:srgbClr val="0B1F33"/>
                </a:solidFill>
                <a:latin typeface="Georgia"/>
              </a:rPr>
              <a:t>Government &amp; Grant Agencies</a:t>
            </a:r>
          </a:p>
        </p:txBody>
      </p:sp>
      <p:sp>
        <p:nvSpPr>
          <p:cNvPr id="33" name="TextBox 32"/>
          <p:cNvSpPr txBox="1"/>
          <p:nvPr/>
        </p:nvSpPr>
        <p:spPr>
          <a:xfrm>
            <a:off x="9308363" y="2770632"/>
            <a:ext cx="2444419" cy="2560320"/>
          </a:xfrm>
          <a:prstGeom prst="rect">
            <a:avLst/>
          </a:prstGeom>
          <a:noFill/>
        </p:spPr>
        <p:txBody>
          <a:bodyPr wrap="square" anchor="t"/>
          <a:lstStyle/>
          <a:p>
            <a:pPr algn="l">
              <a:spcBef>
                <a:spcPts val="0"/>
              </a:spcBef>
              <a:spcAft>
                <a:spcPts val="0"/>
              </a:spcAft>
            </a:pPr>
            <a:r>
              <a:rPr sz="1150" b="0">
                <a:solidFill>
                  <a:srgbClr val="3A4A5C"/>
                </a:solidFill>
                <a:latin typeface="Calibri"/>
              </a:rPr>
              <a:t>NASA (InSPA, SBIR/STTR), ESA, NIH National Eye Institute, and DoD MTEC provide non-dilutive grant capital that de-risks early development and validates the technology for commercial buyers.</a:t>
            </a:r>
          </a:p>
        </p:txBody>
      </p:sp>
      <p:sp>
        <p:nvSpPr>
          <p:cNvPr id="34" name="Rectangle 33"/>
          <p:cNvSpPr/>
          <p:nvPr/>
        </p:nvSpPr>
        <p:spPr>
          <a:xfrm>
            <a:off x="9308363" y="5961888"/>
            <a:ext cx="2444419" cy="347472"/>
          </a:xfrm>
          <a:prstGeom prst="rect">
            <a:avLst/>
          </a:prstGeom>
          <a:solidFill>
            <a:srgbClr val="D7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54083" y="5961888"/>
            <a:ext cx="2352979" cy="347472"/>
          </a:xfrm>
          <a:prstGeom prst="rect">
            <a:avLst/>
          </a:prstGeom>
          <a:noFill/>
        </p:spPr>
        <p:txBody>
          <a:bodyPr wrap="square" anchor="ctr"/>
          <a:lstStyle/>
          <a:p>
            <a:pPr algn="ctr">
              <a:spcBef>
                <a:spcPts val="0"/>
              </a:spcBef>
              <a:spcAft>
                <a:spcPts val="0"/>
              </a:spcAft>
            </a:pPr>
            <a:r>
              <a:rPr sz="950" b="1">
                <a:solidFill>
                  <a:srgbClr val="07524C"/>
                </a:solidFill>
                <a:latin typeface="Calibri"/>
              </a:rPr>
              <a:t>NASA, ESA, NIH NEI, DoD MTEC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FINANCIALS — ILLUSTRATIVE</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Five-Year Revenue Model (Illustrative Projections)</a:t>
            </a:r>
          </a:p>
        </p:txBody>
      </p:sp>
      <p:sp>
        <p:nvSpPr>
          <p:cNvPr id="5" name="TextBox 4"/>
          <p:cNvSpPr txBox="1"/>
          <p:nvPr/>
        </p:nvSpPr>
        <p:spPr>
          <a:xfrm>
            <a:off x="256032" y="768096"/>
            <a:ext cx="11679631" cy="237744"/>
          </a:xfrm>
          <a:prstGeom prst="rect">
            <a:avLst/>
          </a:prstGeom>
          <a:noFill/>
        </p:spPr>
        <p:txBody>
          <a:bodyPr wrap="square" anchor="t"/>
          <a:lstStyle/>
          <a:p>
            <a:pPr algn="l">
              <a:spcBef>
                <a:spcPts val="0"/>
              </a:spcBef>
              <a:spcAft>
                <a:spcPts val="0"/>
              </a:spcAft>
            </a:pPr>
            <a:r>
              <a:rPr sz="1100" b="0">
                <a:solidFill>
                  <a:srgbClr val="6B7C8F"/>
                </a:solidFill>
                <a:latin typeface="Calibri"/>
              </a:rPr>
              <a:t>Figures are illustrative projections for investor discussion purposes only. Actual results will vary materially.</a:t>
            </a:r>
          </a:p>
        </p:txBody>
      </p:sp>
      <p:sp>
        <p:nvSpPr>
          <p:cNvPr id="6" name="TextBox 5"/>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16</a:t>
            </a:r>
          </a:p>
        </p:txBody>
      </p:sp>
      <p:sp>
        <p:nvSpPr>
          <p:cNvPr id="7" name="Rectangle 6"/>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graphicFrame>
        <p:nvGraphicFramePr>
          <p:cNvPr id="9" name="Chart 8"/>
          <p:cNvGraphicFramePr>
            <a:graphicFrameLocks noGrp="1"/>
          </p:cNvGraphicFramePr>
          <p:nvPr/>
        </p:nvGraphicFramePr>
        <p:xfrm>
          <a:off x="256032" y="1078992"/>
          <a:ext cx="6400800" cy="4937760"/>
        </p:xfrm>
        <a:graphic>
          <a:graphicData uri="http://schemas.openxmlformats.org/drawingml/2006/chart">
            <c:chart xmlns:c="http://schemas.openxmlformats.org/drawingml/2006/chart" r:id="rId2"/>
          </a:graphicData>
        </a:graphic>
      </p:graphicFrame>
      <p:graphicFrame>
        <p:nvGraphicFramePr>
          <p:cNvPr id="10" name="Table 9"/>
          <p:cNvGraphicFramePr>
            <a:graphicFrameLocks noGrp="1"/>
          </p:cNvGraphicFramePr>
          <p:nvPr/>
        </p:nvGraphicFramePr>
        <p:xfrm>
          <a:off x="6903720" y="1261872"/>
          <a:ext cx="4937760" cy="4389120"/>
        </p:xfrm>
        <a:graphic>
          <a:graphicData uri="http://schemas.openxmlformats.org/drawingml/2006/table">
            <a:tbl>
              <a:tblPr firstRow="1" bandRow="1">
                <a:tableStyleId>{5C22544A-7EE6-4342-B048-85BDC9FD1C3A}</a:tableStyleId>
              </a:tblPr>
              <a:tblGrid>
                <a:gridCol w="1005840"/>
                <a:gridCol w="1097280"/>
                <a:gridCol w="2834640"/>
              </a:tblGrid>
              <a:tr h="731520">
                <a:tc>
                  <a:txBody>
                    <a:bodyPr/>
                    <a:lstStyle/>
                    <a:p>
                      <a:r>
                        <a:rPr b="1" sz="1050">
                          <a:solidFill>
                            <a:srgbClr val="FFFFFF"/>
                          </a:solidFill>
                          <a:latin typeface="Calibri"/>
                        </a:rPr>
                        <a:t>Year</a:t>
                      </a:r>
                    </a:p>
                  </a:txBody>
                  <a:tcPr>
                    <a:solidFill>
                      <a:srgbClr val="0A6B63"/>
                    </a:solidFill>
                  </a:tcPr>
                </a:tc>
                <a:tc>
                  <a:txBody>
                    <a:bodyPr/>
                    <a:lstStyle/>
                    <a:p>
                      <a:r>
                        <a:rPr b="1" sz="1050">
                          <a:solidFill>
                            <a:srgbClr val="FFFFFF"/>
                          </a:solidFill>
                          <a:latin typeface="Calibri"/>
                        </a:rPr>
                        <a:t>Total Rev.</a:t>
                      </a:r>
                    </a:p>
                  </a:txBody>
                  <a:tcPr>
                    <a:solidFill>
                      <a:srgbClr val="0A6B63"/>
                    </a:solidFill>
                  </a:tcPr>
                </a:tc>
                <a:tc>
                  <a:txBody>
                    <a:bodyPr/>
                    <a:lstStyle/>
                    <a:p>
                      <a:r>
                        <a:rPr b="1" sz="1050">
                          <a:solidFill>
                            <a:srgbClr val="FFFFFF"/>
                          </a:solidFill>
                          <a:latin typeface="Calibri"/>
                        </a:rPr>
                        <a:t>Key Driver</a:t>
                      </a:r>
                    </a:p>
                  </a:txBody>
                  <a:tcPr>
                    <a:solidFill>
                      <a:srgbClr val="0A6B63"/>
                    </a:solidFill>
                  </a:tcPr>
                </a:tc>
              </a:tr>
              <a:tr h="731520">
                <a:tc>
                  <a:txBody>
                    <a:bodyPr/>
                    <a:lstStyle/>
                    <a:p>
                      <a:r>
                        <a:rPr sz="1050" b="0">
                          <a:solidFill>
                            <a:srgbClr val="3A4A5C"/>
                          </a:solidFill>
                          <a:latin typeface="Calibri"/>
                        </a:rPr>
                        <a:t>Year 1</a:t>
                      </a:r>
                    </a:p>
                  </a:txBody>
                  <a:tcPr>
                    <a:solidFill>
                      <a:srgbClr val="EEF3F8"/>
                    </a:solidFill>
                  </a:tcPr>
                </a:tc>
                <a:tc>
                  <a:txBody>
                    <a:bodyPr/>
                    <a:lstStyle/>
                    <a:p>
                      <a:r>
                        <a:rPr sz="1050" b="0">
                          <a:solidFill>
                            <a:srgbClr val="3A4A5C"/>
                          </a:solidFill>
                          <a:latin typeface="Calibri"/>
                        </a:rPr>
                        <a:t>$0.8M</a:t>
                      </a:r>
                    </a:p>
                  </a:txBody>
                  <a:tcPr>
                    <a:solidFill>
                      <a:srgbClr val="EEF3F8"/>
                    </a:solidFill>
                  </a:tcPr>
                </a:tc>
                <a:tc>
                  <a:txBody>
                    <a:bodyPr/>
                    <a:lstStyle/>
                    <a:p>
                      <a:r>
                        <a:rPr sz="1050" b="0">
                          <a:solidFill>
                            <a:srgbClr val="3A4A5C"/>
                          </a:solidFill>
                          <a:latin typeface="Calibri"/>
                        </a:rPr>
                        <a:t>First service contracts + NASA grant</a:t>
                      </a:r>
                    </a:p>
                  </a:txBody>
                  <a:tcPr>
                    <a:solidFill>
                      <a:srgbClr val="EEF3F8"/>
                    </a:solidFill>
                  </a:tcPr>
                </a:tc>
              </a:tr>
              <a:tr h="731520">
                <a:tc>
                  <a:txBody>
                    <a:bodyPr/>
                    <a:lstStyle/>
                    <a:p>
                      <a:r>
                        <a:rPr sz="1050" b="0">
                          <a:solidFill>
                            <a:srgbClr val="3A4A5C"/>
                          </a:solidFill>
                          <a:latin typeface="Calibri"/>
                        </a:rPr>
                        <a:t>Year 2</a:t>
                      </a:r>
                    </a:p>
                  </a:txBody>
                  <a:tcPr>
                    <a:solidFill>
                      <a:srgbClr val="FFFFFF"/>
                    </a:solidFill>
                  </a:tcPr>
                </a:tc>
                <a:tc>
                  <a:txBody>
                    <a:bodyPr/>
                    <a:lstStyle/>
                    <a:p>
                      <a:r>
                        <a:rPr sz="1050" b="0">
                          <a:solidFill>
                            <a:srgbClr val="3A4A5C"/>
                          </a:solidFill>
                          <a:latin typeface="Calibri"/>
                        </a:rPr>
                        <a:t>$2.4M</a:t>
                      </a:r>
                    </a:p>
                  </a:txBody>
                  <a:tcPr>
                    <a:solidFill>
                      <a:srgbClr val="FFFFFF"/>
                    </a:solidFill>
                  </a:tcPr>
                </a:tc>
                <a:tc>
                  <a:txBody>
                    <a:bodyPr/>
                    <a:lstStyle/>
                    <a:p>
                      <a:r>
                        <a:rPr sz="1050" b="0">
                          <a:solidFill>
                            <a:srgbClr val="3A4A5C"/>
                          </a:solidFill>
                          <a:latin typeface="Calibri"/>
                        </a:rPr>
                        <a:t>Expanded services + IP licensing launch</a:t>
                      </a:r>
                    </a:p>
                  </a:txBody>
                  <a:tcPr>
                    <a:solidFill>
                      <a:srgbClr val="FFFFFF"/>
                    </a:solidFill>
                  </a:tcPr>
                </a:tc>
              </a:tr>
              <a:tr h="731520">
                <a:tc>
                  <a:txBody>
                    <a:bodyPr/>
                    <a:lstStyle/>
                    <a:p>
                      <a:r>
                        <a:rPr sz="1050" b="0">
                          <a:solidFill>
                            <a:srgbClr val="3A4A5C"/>
                          </a:solidFill>
                          <a:latin typeface="Calibri"/>
                        </a:rPr>
                        <a:t>Year 3</a:t>
                      </a:r>
                    </a:p>
                  </a:txBody>
                  <a:tcPr>
                    <a:solidFill>
                      <a:srgbClr val="EEF3F8"/>
                    </a:solidFill>
                  </a:tcPr>
                </a:tc>
                <a:tc>
                  <a:txBody>
                    <a:bodyPr/>
                    <a:lstStyle/>
                    <a:p>
                      <a:r>
                        <a:rPr sz="1050" b="0">
                          <a:solidFill>
                            <a:srgbClr val="3A4A5C"/>
                          </a:solidFill>
                          <a:latin typeface="Calibri"/>
                        </a:rPr>
                        <a:t>$6.1M</a:t>
                      </a:r>
                    </a:p>
                  </a:txBody>
                  <a:tcPr>
                    <a:solidFill>
                      <a:srgbClr val="EEF3F8"/>
                    </a:solidFill>
                  </a:tcPr>
                </a:tc>
                <a:tc>
                  <a:txBody>
                    <a:bodyPr/>
                    <a:lstStyle/>
                    <a:p>
                      <a:r>
                        <a:rPr sz="1050" b="0">
                          <a:solidFill>
                            <a:srgbClr val="3A4A5C"/>
                          </a:solidFill>
                          <a:latin typeface="Calibri"/>
                        </a:rPr>
                        <a:t>Cardiac/ortho milestones + Starlab start</a:t>
                      </a:r>
                    </a:p>
                  </a:txBody>
                  <a:tcPr>
                    <a:solidFill>
                      <a:srgbClr val="EEF3F8"/>
                    </a:solidFill>
                  </a:tcPr>
                </a:tc>
              </a:tr>
              <a:tr h="731520">
                <a:tc>
                  <a:txBody>
                    <a:bodyPr/>
                    <a:lstStyle/>
                    <a:p>
                      <a:r>
                        <a:rPr sz="1050" b="0">
                          <a:solidFill>
                            <a:srgbClr val="3A4A5C"/>
                          </a:solidFill>
                          <a:latin typeface="Calibri"/>
                        </a:rPr>
                        <a:t>Year 4</a:t>
                      </a:r>
                    </a:p>
                  </a:txBody>
                  <a:tcPr>
                    <a:solidFill>
                      <a:srgbClr val="FFFFFF"/>
                    </a:solidFill>
                  </a:tcPr>
                </a:tc>
                <a:tc>
                  <a:txBody>
                    <a:bodyPr/>
                    <a:lstStyle/>
                    <a:p>
                      <a:r>
                        <a:rPr sz="1050" b="0">
                          <a:solidFill>
                            <a:srgbClr val="3A4A5C"/>
                          </a:solidFill>
                          <a:latin typeface="Calibri"/>
                        </a:rPr>
                        <a:t>$13.5M</a:t>
                      </a:r>
                    </a:p>
                  </a:txBody>
                  <a:tcPr>
                    <a:solidFill>
                      <a:srgbClr val="FFFFFF"/>
                    </a:solidFill>
                  </a:tcPr>
                </a:tc>
                <a:tc>
                  <a:txBody>
                    <a:bodyPr/>
                    <a:lstStyle/>
                    <a:p>
                      <a:r>
                        <a:rPr sz="1050" b="0">
                          <a:solidFill>
                            <a:srgbClr val="3A4A5C"/>
                          </a:solidFill>
                          <a:latin typeface="Calibri"/>
                        </a:rPr>
                        <a:t>IP licensing deals + multi-station ops</a:t>
                      </a:r>
                    </a:p>
                  </a:txBody>
                  <a:tcPr>
                    <a:solidFill>
                      <a:srgbClr val="FFFFFF"/>
                    </a:solidFill>
                  </a:tcPr>
                </a:tc>
              </a:tr>
              <a:tr h="731520">
                <a:tc>
                  <a:txBody>
                    <a:bodyPr/>
                    <a:lstStyle/>
                    <a:p>
                      <a:r>
                        <a:rPr sz="1050" b="0">
                          <a:solidFill>
                            <a:srgbClr val="3A4A5C"/>
                          </a:solidFill>
                          <a:latin typeface="Calibri"/>
                        </a:rPr>
                        <a:t>Year 5</a:t>
                      </a:r>
                    </a:p>
                  </a:txBody>
                  <a:tcPr>
                    <a:solidFill>
                      <a:srgbClr val="EEF3F8"/>
                    </a:solidFill>
                  </a:tcPr>
                </a:tc>
                <a:tc>
                  <a:txBody>
                    <a:bodyPr/>
                    <a:lstStyle/>
                    <a:p>
                      <a:r>
                        <a:rPr sz="1050" b="0">
                          <a:solidFill>
                            <a:srgbClr val="3A4A5C"/>
                          </a:solidFill>
                          <a:latin typeface="Calibri"/>
                        </a:rPr>
                        <a:t>$24.2M</a:t>
                      </a:r>
                    </a:p>
                  </a:txBody>
                  <a:tcPr>
                    <a:solidFill>
                      <a:srgbClr val="EEF3F8"/>
                    </a:solidFill>
                  </a:tcPr>
                </a:tc>
                <a:tc>
                  <a:txBody>
                    <a:bodyPr/>
                    <a:lstStyle/>
                    <a:p>
                      <a:r>
                        <a:rPr sz="1050" b="0">
                          <a:solidFill>
                            <a:srgbClr val="3A4A5C"/>
                          </a:solidFill>
                          <a:latin typeface="Calibri"/>
                        </a:rPr>
                        <a:t>Full vertical scale-up across four verticals</a:t>
                      </a:r>
                    </a:p>
                  </a:txBody>
                  <a:tcPr>
                    <a:solidFill>
                      <a:srgbClr val="EEF3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THE ASK</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An $18M Series A to Reach First Commercial Flight</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17</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3977639" cy="1965960"/>
          </a:xfrm>
          <a:prstGeom prst="rect">
            <a:avLst/>
          </a:prstGeom>
          <a:solidFill>
            <a:srgbClr val="D7EBE8"/>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19659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261872"/>
            <a:ext cx="3474720" cy="228600"/>
          </a:xfrm>
          <a:prstGeom prst="rect">
            <a:avLst/>
          </a:prstGeom>
          <a:noFill/>
        </p:spPr>
        <p:txBody>
          <a:bodyPr wrap="square" anchor="t"/>
          <a:lstStyle/>
          <a:p>
            <a:pPr algn="l">
              <a:spcBef>
                <a:spcPts val="0"/>
              </a:spcBef>
              <a:spcAft>
                <a:spcPts val="0"/>
              </a:spcAft>
            </a:pPr>
            <a:r>
              <a:rPr sz="1100" b="1">
                <a:solidFill>
                  <a:srgbClr val="0A6B63"/>
                </a:solidFill>
                <a:latin typeface="Calibri"/>
              </a:rPr>
              <a:t>ROUND SIZE</a:t>
            </a:r>
          </a:p>
        </p:txBody>
      </p:sp>
      <p:sp>
        <p:nvSpPr>
          <p:cNvPr id="11" name="TextBox 10"/>
          <p:cNvSpPr txBox="1"/>
          <p:nvPr/>
        </p:nvSpPr>
        <p:spPr>
          <a:xfrm>
            <a:off x="530352" y="1536192"/>
            <a:ext cx="3474720" cy="594360"/>
          </a:xfrm>
          <a:prstGeom prst="rect">
            <a:avLst/>
          </a:prstGeom>
          <a:noFill/>
        </p:spPr>
        <p:txBody>
          <a:bodyPr wrap="square" anchor="t"/>
          <a:lstStyle/>
          <a:p>
            <a:pPr algn="l">
              <a:spcBef>
                <a:spcPts val="0"/>
              </a:spcBef>
              <a:spcAft>
                <a:spcPts val="0"/>
              </a:spcAft>
            </a:pPr>
            <a:r>
              <a:rPr sz="4000" b="1">
                <a:solidFill>
                  <a:srgbClr val="0B1F33"/>
                </a:solidFill>
                <a:latin typeface="Georgia"/>
              </a:rPr>
              <a:t>$18M</a:t>
            </a:r>
          </a:p>
        </p:txBody>
      </p:sp>
      <p:sp>
        <p:nvSpPr>
          <p:cNvPr id="12" name="TextBox 11"/>
          <p:cNvSpPr txBox="1"/>
          <p:nvPr/>
        </p:nvSpPr>
        <p:spPr>
          <a:xfrm>
            <a:off x="530352" y="2221991"/>
            <a:ext cx="3474720" cy="320040"/>
          </a:xfrm>
          <a:prstGeom prst="rect">
            <a:avLst/>
          </a:prstGeom>
          <a:noFill/>
        </p:spPr>
        <p:txBody>
          <a:bodyPr wrap="square" anchor="t"/>
          <a:lstStyle/>
          <a:p>
            <a:pPr algn="l">
              <a:spcBef>
                <a:spcPts val="0"/>
              </a:spcBef>
              <a:spcAft>
                <a:spcPts val="0"/>
              </a:spcAft>
            </a:pPr>
            <a:r>
              <a:rPr sz="1400" b="1">
                <a:solidFill>
                  <a:srgbClr val="3A4A5C"/>
                </a:solidFill>
                <a:latin typeface="Calibri"/>
              </a:rPr>
              <a:t>Series A Preferred Equity</a:t>
            </a:r>
          </a:p>
        </p:txBody>
      </p:sp>
      <p:sp>
        <p:nvSpPr>
          <p:cNvPr id="13" name="TextBox 12"/>
          <p:cNvSpPr txBox="1"/>
          <p:nvPr/>
        </p:nvSpPr>
        <p:spPr>
          <a:xfrm>
            <a:off x="530352" y="2587752"/>
            <a:ext cx="3474720" cy="320040"/>
          </a:xfrm>
          <a:prstGeom prst="rect">
            <a:avLst/>
          </a:prstGeom>
          <a:noFill/>
        </p:spPr>
        <p:txBody>
          <a:bodyPr wrap="square" anchor="t"/>
          <a:lstStyle/>
          <a:p>
            <a:pPr algn="l">
              <a:spcBef>
                <a:spcPts val="0"/>
              </a:spcBef>
              <a:spcAft>
                <a:spcPts val="0"/>
              </a:spcAft>
            </a:pPr>
            <a:r>
              <a:rPr sz="1000" b="0">
                <a:solidFill>
                  <a:srgbClr val="6B7C8F"/>
                </a:solidFill>
                <a:latin typeface="Calibri"/>
              </a:rPr>
              <a:t>Allocation figures are illustrative and subject to diligence.</a:t>
            </a:r>
          </a:p>
        </p:txBody>
      </p:sp>
      <p:sp>
        <p:nvSpPr>
          <p:cNvPr id="14" name="Rectangle 13"/>
          <p:cNvSpPr/>
          <p:nvPr/>
        </p:nvSpPr>
        <p:spPr>
          <a:xfrm>
            <a:off x="4370832" y="1078992"/>
            <a:ext cx="2475890" cy="19659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1078992"/>
            <a:ext cx="64008" cy="19659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7992" y="1444752"/>
            <a:ext cx="2201570" cy="502920"/>
          </a:xfrm>
          <a:prstGeom prst="rect">
            <a:avLst/>
          </a:prstGeom>
          <a:noFill/>
        </p:spPr>
        <p:txBody>
          <a:bodyPr wrap="square" anchor="t"/>
          <a:lstStyle/>
          <a:p>
            <a:pPr algn="ctr">
              <a:spcBef>
                <a:spcPts val="0"/>
              </a:spcBef>
              <a:spcAft>
                <a:spcPts val="0"/>
              </a:spcAft>
            </a:pPr>
            <a:r>
              <a:rPr sz="2200" b="1">
                <a:solidFill>
                  <a:srgbClr val="0A6B63"/>
                </a:solidFill>
                <a:latin typeface="Georgia"/>
              </a:rPr>
              <a:t>~30 months</a:t>
            </a:r>
          </a:p>
        </p:txBody>
      </p:sp>
      <p:sp>
        <p:nvSpPr>
          <p:cNvPr id="17" name="TextBox 16"/>
          <p:cNvSpPr txBox="1"/>
          <p:nvPr/>
        </p:nvSpPr>
        <p:spPr>
          <a:xfrm>
            <a:off x="4507992" y="2130552"/>
            <a:ext cx="2201570" cy="731520"/>
          </a:xfrm>
          <a:prstGeom prst="rect">
            <a:avLst/>
          </a:prstGeom>
          <a:noFill/>
        </p:spPr>
        <p:txBody>
          <a:bodyPr wrap="square" anchor="t"/>
          <a:lstStyle/>
          <a:p>
            <a:pPr algn="ctr">
              <a:spcBef>
                <a:spcPts val="0"/>
              </a:spcBef>
              <a:spcAft>
                <a:spcPts val="0"/>
              </a:spcAft>
            </a:pPr>
            <a:r>
              <a:rPr sz="1200" b="0">
                <a:solidFill>
                  <a:srgbClr val="3A4A5C"/>
                </a:solidFill>
                <a:latin typeface="Calibri"/>
              </a:rPr>
              <a:t>Runway to next value-inflection milestone</a:t>
            </a:r>
          </a:p>
        </p:txBody>
      </p:sp>
      <p:sp>
        <p:nvSpPr>
          <p:cNvPr id="18" name="Rectangle 17"/>
          <p:cNvSpPr/>
          <p:nvPr/>
        </p:nvSpPr>
        <p:spPr>
          <a:xfrm>
            <a:off x="6938162" y="1078992"/>
            <a:ext cx="2475890" cy="19659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38162" y="1078992"/>
            <a:ext cx="64008" cy="19659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75322" y="1444752"/>
            <a:ext cx="2201570" cy="502920"/>
          </a:xfrm>
          <a:prstGeom prst="rect">
            <a:avLst/>
          </a:prstGeom>
          <a:noFill/>
        </p:spPr>
        <p:txBody>
          <a:bodyPr wrap="square" anchor="t"/>
          <a:lstStyle/>
          <a:p>
            <a:pPr algn="ctr">
              <a:spcBef>
                <a:spcPts val="0"/>
              </a:spcBef>
              <a:spcAft>
                <a:spcPts val="0"/>
              </a:spcAft>
            </a:pPr>
            <a:r>
              <a:rPr sz="2200" b="1">
                <a:solidFill>
                  <a:srgbClr val="0A6B63"/>
                </a:solidFill>
                <a:latin typeface="Georgia"/>
              </a:rPr>
              <a:t>2</a:t>
            </a:r>
          </a:p>
        </p:txBody>
      </p:sp>
      <p:sp>
        <p:nvSpPr>
          <p:cNvPr id="21" name="TextBox 20"/>
          <p:cNvSpPr txBox="1"/>
          <p:nvPr/>
        </p:nvSpPr>
        <p:spPr>
          <a:xfrm>
            <a:off x="7075322" y="2130552"/>
            <a:ext cx="2201570" cy="731520"/>
          </a:xfrm>
          <a:prstGeom prst="rect">
            <a:avLst/>
          </a:prstGeom>
          <a:noFill/>
        </p:spPr>
        <p:txBody>
          <a:bodyPr wrap="square" anchor="t"/>
          <a:lstStyle/>
          <a:p>
            <a:pPr algn="ctr">
              <a:spcBef>
                <a:spcPts val="0"/>
              </a:spcBef>
              <a:spcAft>
                <a:spcPts val="0"/>
              </a:spcAft>
            </a:pPr>
            <a:r>
              <a:rPr sz="1200" b="0">
                <a:solidFill>
                  <a:srgbClr val="3A4A5C"/>
                </a:solidFill>
                <a:latin typeface="Calibri"/>
              </a:rPr>
              <a:t>Product verticals reaching clinical pilot stage</a:t>
            </a:r>
          </a:p>
        </p:txBody>
      </p:sp>
      <p:sp>
        <p:nvSpPr>
          <p:cNvPr id="22" name="Rectangle 21"/>
          <p:cNvSpPr/>
          <p:nvPr/>
        </p:nvSpPr>
        <p:spPr>
          <a:xfrm>
            <a:off x="9505492" y="1078992"/>
            <a:ext cx="2475890" cy="19659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5492" y="1078992"/>
            <a:ext cx="64008" cy="19659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2652" y="1444752"/>
            <a:ext cx="2201570" cy="502920"/>
          </a:xfrm>
          <a:prstGeom prst="rect">
            <a:avLst/>
          </a:prstGeom>
          <a:noFill/>
        </p:spPr>
        <p:txBody>
          <a:bodyPr wrap="square" anchor="t"/>
          <a:lstStyle/>
          <a:p>
            <a:pPr algn="ctr">
              <a:spcBef>
                <a:spcPts val="0"/>
              </a:spcBef>
              <a:spcAft>
                <a:spcPts val="0"/>
              </a:spcAft>
            </a:pPr>
            <a:r>
              <a:rPr sz="2200" b="1">
                <a:solidFill>
                  <a:srgbClr val="0A6B63"/>
                </a:solidFill>
                <a:latin typeface="Georgia"/>
              </a:rPr>
              <a:t>3–5</a:t>
            </a:r>
          </a:p>
        </p:txBody>
      </p:sp>
      <p:sp>
        <p:nvSpPr>
          <p:cNvPr id="25" name="TextBox 24"/>
          <p:cNvSpPr txBox="1"/>
          <p:nvPr/>
        </p:nvSpPr>
        <p:spPr>
          <a:xfrm>
            <a:off x="9642652" y="2130552"/>
            <a:ext cx="2201570" cy="731520"/>
          </a:xfrm>
          <a:prstGeom prst="rect">
            <a:avLst/>
          </a:prstGeom>
          <a:noFill/>
        </p:spPr>
        <p:txBody>
          <a:bodyPr wrap="square" anchor="t"/>
          <a:lstStyle/>
          <a:p>
            <a:pPr algn="ctr">
              <a:spcBef>
                <a:spcPts val="0"/>
              </a:spcBef>
              <a:spcAft>
                <a:spcPts val="0"/>
              </a:spcAft>
            </a:pPr>
            <a:r>
              <a:rPr sz="1200" b="0">
                <a:solidFill>
                  <a:srgbClr val="3A4A5C"/>
                </a:solidFill>
                <a:latin typeface="Calibri"/>
              </a:rPr>
              <a:t>Targeted commercial flight missions secured</a:t>
            </a:r>
          </a:p>
        </p:txBody>
      </p:sp>
      <p:sp>
        <p:nvSpPr>
          <p:cNvPr id="26" name="TextBox 25"/>
          <p:cNvSpPr txBox="1"/>
          <p:nvPr/>
        </p:nvSpPr>
        <p:spPr>
          <a:xfrm>
            <a:off x="256032" y="3172968"/>
            <a:ext cx="5029200" cy="256032"/>
          </a:xfrm>
          <a:prstGeom prst="rect">
            <a:avLst/>
          </a:prstGeom>
          <a:noFill/>
        </p:spPr>
        <p:txBody>
          <a:bodyPr wrap="square" anchor="t"/>
          <a:lstStyle/>
          <a:p>
            <a:pPr algn="l">
              <a:spcBef>
                <a:spcPts val="0"/>
              </a:spcBef>
              <a:spcAft>
                <a:spcPts val="0"/>
              </a:spcAft>
            </a:pPr>
            <a:r>
              <a:rPr sz="1400" b="1">
                <a:solidFill>
                  <a:srgbClr val="0B1F33"/>
                </a:solidFill>
                <a:latin typeface="Georgia"/>
              </a:rPr>
              <a:t>Use of Funds</a:t>
            </a:r>
          </a:p>
        </p:txBody>
      </p:sp>
      <p:graphicFrame>
        <p:nvGraphicFramePr>
          <p:cNvPr id="27" name="Chart 26"/>
          <p:cNvGraphicFramePr>
            <a:graphicFrameLocks noGrp="1"/>
          </p:cNvGraphicFramePr>
          <p:nvPr/>
        </p:nvGraphicFramePr>
        <p:xfrm>
          <a:off x="256032" y="3447288"/>
          <a:ext cx="3200400" cy="3017520"/>
        </p:xfrm>
        <a:graphic>
          <a:graphicData uri="http://schemas.openxmlformats.org/drawingml/2006/chart">
            <c:chart xmlns:c="http://schemas.openxmlformats.org/drawingml/2006/chart" r:id="rId2"/>
          </a:graphicData>
        </a:graphic>
      </p:graphicFrame>
      <p:sp>
        <p:nvSpPr>
          <p:cNvPr id="28" name="Rectangle 27"/>
          <p:cNvSpPr/>
          <p:nvPr/>
        </p:nvSpPr>
        <p:spPr>
          <a:xfrm>
            <a:off x="3547872" y="3630168"/>
            <a:ext cx="201168" cy="201168"/>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67912" y="3584448"/>
            <a:ext cx="640080" cy="274320"/>
          </a:xfrm>
          <a:prstGeom prst="rect">
            <a:avLst/>
          </a:prstGeom>
          <a:noFill/>
        </p:spPr>
        <p:txBody>
          <a:bodyPr wrap="square" anchor="t"/>
          <a:lstStyle/>
          <a:p>
            <a:pPr algn="l">
              <a:spcBef>
                <a:spcPts val="0"/>
              </a:spcBef>
              <a:spcAft>
                <a:spcPts val="0"/>
              </a:spcAft>
            </a:pPr>
            <a:r>
              <a:rPr sz="1200" b="1">
                <a:solidFill>
                  <a:srgbClr val="0B1F33"/>
                </a:solidFill>
                <a:latin typeface="Calibri"/>
              </a:rPr>
              <a:t>40%</a:t>
            </a:r>
          </a:p>
        </p:txBody>
      </p:sp>
      <p:sp>
        <p:nvSpPr>
          <p:cNvPr id="30" name="TextBox 29"/>
          <p:cNvSpPr txBox="1"/>
          <p:nvPr/>
        </p:nvSpPr>
        <p:spPr>
          <a:xfrm>
            <a:off x="4462272" y="3584448"/>
            <a:ext cx="2468880" cy="274320"/>
          </a:xfrm>
          <a:prstGeom prst="rect">
            <a:avLst/>
          </a:prstGeom>
          <a:noFill/>
        </p:spPr>
        <p:txBody>
          <a:bodyPr wrap="square" anchor="t"/>
          <a:lstStyle/>
          <a:p>
            <a:pPr algn="l">
              <a:spcBef>
                <a:spcPts val="0"/>
              </a:spcBef>
              <a:spcAft>
                <a:spcPts val="0"/>
              </a:spcAft>
            </a:pPr>
            <a:r>
              <a:rPr sz="1200" b="0">
                <a:solidFill>
                  <a:srgbClr val="3A4A5C"/>
                </a:solidFill>
                <a:latin typeface="Calibri"/>
              </a:rPr>
              <a:t>R&amp;D / Payload Development</a:t>
            </a:r>
          </a:p>
        </p:txBody>
      </p:sp>
      <p:sp>
        <p:nvSpPr>
          <p:cNvPr id="31" name="Rectangle 30"/>
          <p:cNvSpPr/>
          <p:nvPr/>
        </p:nvSpPr>
        <p:spPr>
          <a:xfrm>
            <a:off x="3547872" y="4069080"/>
            <a:ext cx="201168" cy="201168"/>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67912" y="4023360"/>
            <a:ext cx="640080" cy="274320"/>
          </a:xfrm>
          <a:prstGeom prst="rect">
            <a:avLst/>
          </a:prstGeom>
          <a:noFill/>
        </p:spPr>
        <p:txBody>
          <a:bodyPr wrap="square" anchor="t"/>
          <a:lstStyle/>
          <a:p>
            <a:pPr algn="l">
              <a:spcBef>
                <a:spcPts val="0"/>
              </a:spcBef>
              <a:spcAft>
                <a:spcPts val="0"/>
              </a:spcAft>
            </a:pPr>
            <a:r>
              <a:rPr sz="1200" b="1">
                <a:solidFill>
                  <a:srgbClr val="0B1F33"/>
                </a:solidFill>
                <a:latin typeface="Calibri"/>
              </a:rPr>
              <a:t>25%</a:t>
            </a:r>
          </a:p>
        </p:txBody>
      </p:sp>
      <p:sp>
        <p:nvSpPr>
          <p:cNvPr id="33" name="TextBox 32"/>
          <p:cNvSpPr txBox="1"/>
          <p:nvPr/>
        </p:nvSpPr>
        <p:spPr>
          <a:xfrm>
            <a:off x="4462272" y="4023360"/>
            <a:ext cx="2468880" cy="274320"/>
          </a:xfrm>
          <a:prstGeom prst="rect">
            <a:avLst/>
          </a:prstGeom>
          <a:noFill/>
        </p:spPr>
        <p:txBody>
          <a:bodyPr wrap="square" anchor="t"/>
          <a:lstStyle/>
          <a:p>
            <a:pPr algn="l">
              <a:spcBef>
                <a:spcPts val="0"/>
              </a:spcBef>
              <a:spcAft>
                <a:spcPts val="0"/>
              </a:spcAft>
            </a:pPr>
            <a:r>
              <a:rPr sz="1200" b="0">
                <a:solidFill>
                  <a:srgbClr val="3A4A5C"/>
                </a:solidFill>
                <a:latin typeface="Calibri"/>
              </a:rPr>
              <a:t>Flight &amp; Integration Costs</a:t>
            </a:r>
          </a:p>
        </p:txBody>
      </p:sp>
      <p:sp>
        <p:nvSpPr>
          <p:cNvPr id="34" name="Rectangle 33"/>
          <p:cNvSpPr/>
          <p:nvPr/>
        </p:nvSpPr>
        <p:spPr>
          <a:xfrm>
            <a:off x="3547872" y="4507992"/>
            <a:ext cx="201168" cy="201168"/>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67912" y="4462272"/>
            <a:ext cx="640080" cy="274320"/>
          </a:xfrm>
          <a:prstGeom prst="rect">
            <a:avLst/>
          </a:prstGeom>
          <a:noFill/>
        </p:spPr>
        <p:txBody>
          <a:bodyPr wrap="square" anchor="t"/>
          <a:lstStyle/>
          <a:p>
            <a:pPr algn="l">
              <a:spcBef>
                <a:spcPts val="0"/>
              </a:spcBef>
              <a:spcAft>
                <a:spcPts val="0"/>
              </a:spcAft>
            </a:pPr>
            <a:r>
              <a:rPr sz="1200" b="1">
                <a:solidFill>
                  <a:srgbClr val="0B1F33"/>
                </a:solidFill>
                <a:latin typeface="Calibri"/>
              </a:rPr>
              <a:t>15%</a:t>
            </a:r>
          </a:p>
        </p:txBody>
      </p:sp>
      <p:sp>
        <p:nvSpPr>
          <p:cNvPr id="36" name="TextBox 35"/>
          <p:cNvSpPr txBox="1"/>
          <p:nvPr/>
        </p:nvSpPr>
        <p:spPr>
          <a:xfrm>
            <a:off x="4462272" y="4462272"/>
            <a:ext cx="2468880" cy="274320"/>
          </a:xfrm>
          <a:prstGeom prst="rect">
            <a:avLst/>
          </a:prstGeom>
          <a:noFill/>
        </p:spPr>
        <p:txBody>
          <a:bodyPr wrap="square" anchor="t"/>
          <a:lstStyle/>
          <a:p>
            <a:pPr algn="l">
              <a:spcBef>
                <a:spcPts val="0"/>
              </a:spcBef>
              <a:spcAft>
                <a:spcPts val="0"/>
              </a:spcAft>
            </a:pPr>
            <a:r>
              <a:rPr sz="1200" b="0">
                <a:solidFill>
                  <a:srgbClr val="3A4A5C"/>
                </a:solidFill>
                <a:latin typeface="Calibri"/>
              </a:rPr>
              <a:t>Regulatory &amp; Clinical Prep</a:t>
            </a:r>
          </a:p>
        </p:txBody>
      </p:sp>
      <p:sp>
        <p:nvSpPr>
          <p:cNvPr id="37" name="Rectangle 36"/>
          <p:cNvSpPr/>
          <p:nvPr/>
        </p:nvSpPr>
        <p:spPr>
          <a:xfrm>
            <a:off x="3547872" y="4946904"/>
            <a:ext cx="201168" cy="201168"/>
          </a:xfrm>
          <a:prstGeom prst="rect">
            <a:avLst/>
          </a:prstGeom>
          <a:solidFill>
            <a:srgbClr val="5A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67912" y="4901184"/>
            <a:ext cx="640080" cy="274320"/>
          </a:xfrm>
          <a:prstGeom prst="rect">
            <a:avLst/>
          </a:prstGeom>
          <a:noFill/>
        </p:spPr>
        <p:txBody>
          <a:bodyPr wrap="square" anchor="t"/>
          <a:lstStyle/>
          <a:p>
            <a:pPr algn="l">
              <a:spcBef>
                <a:spcPts val="0"/>
              </a:spcBef>
              <a:spcAft>
                <a:spcPts val="0"/>
              </a:spcAft>
            </a:pPr>
            <a:r>
              <a:rPr sz="1200" b="1">
                <a:solidFill>
                  <a:srgbClr val="0B1F33"/>
                </a:solidFill>
                <a:latin typeface="Calibri"/>
              </a:rPr>
              <a:t>15%</a:t>
            </a:r>
          </a:p>
        </p:txBody>
      </p:sp>
      <p:sp>
        <p:nvSpPr>
          <p:cNvPr id="39" name="TextBox 38"/>
          <p:cNvSpPr txBox="1"/>
          <p:nvPr/>
        </p:nvSpPr>
        <p:spPr>
          <a:xfrm>
            <a:off x="4462272" y="4901184"/>
            <a:ext cx="2468880" cy="274320"/>
          </a:xfrm>
          <a:prstGeom prst="rect">
            <a:avLst/>
          </a:prstGeom>
          <a:noFill/>
        </p:spPr>
        <p:txBody>
          <a:bodyPr wrap="square" anchor="t"/>
          <a:lstStyle/>
          <a:p>
            <a:pPr algn="l">
              <a:spcBef>
                <a:spcPts val="0"/>
              </a:spcBef>
              <a:spcAft>
                <a:spcPts val="0"/>
              </a:spcAft>
            </a:pPr>
            <a:r>
              <a:rPr sz="1200" b="0">
                <a:solidFill>
                  <a:srgbClr val="3A4A5C"/>
                </a:solidFill>
                <a:latin typeface="Calibri"/>
              </a:rPr>
              <a:t>Team Build-Out</a:t>
            </a:r>
          </a:p>
        </p:txBody>
      </p:sp>
      <p:sp>
        <p:nvSpPr>
          <p:cNvPr id="40" name="Rectangle 39"/>
          <p:cNvSpPr/>
          <p:nvPr/>
        </p:nvSpPr>
        <p:spPr>
          <a:xfrm>
            <a:off x="3547872" y="5385816"/>
            <a:ext cx="201168" cy="201168"/>
          </a:xfrm>
          <a:prstGeom prst="rect">
            <a:avLst/>
          </a:prstGeom>
          <a:solidFill>
            <a:srgbClr val="A8B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67912" y="5340096"/>
            <a:ext cx="640080" cy="274320"/>
          </a:xfrm>
          <a:prstGeom prst="rect">
            <a:avLst/>
          </a:prstGeom>
          <a:noFill/>
        </p:spPr>
        <p:txBody>
          <a:bodyPr wrap="square" anchor="t"/>
          <a:lstStyle/>
          <a:p>
            <a:pPr algn="l">
              <a:spcBef>
                <a:spcPts val="0"/>
              </a:spcBef>
              <a:spcAft>
                <a:spcPts val="0"/>
              </a:spcAft>
            </a:pPr>
            <a:r>
              <a:rPr sz="1200" b="1">
                <a:solidFill>
                  <a:srgbClr val="0B1F33"/>
                </a:solidFill>
                <a:latin typeface="Calibri"/>
              </a:rPr>
              <a:t>5%</a:t>
            </a:r>
          </a:p>
        </p:txBody>
      </p:sp>
      <p:sp>
        <p:nvSpPr>
          <p:cNvPr id="42" name="TextBox 41"/>
          <p:cNvSpPr txBox="1"/>
          <p:nvPr/>
        </p:nvSpPr>
        <p:spPr>
          <a:xfrm>
            <a:off x="4462272" y="5340096"/>
            <a:ext cx="2468880" cy="274320"/>
          </a:xfrm>
          <a:prstGeom prst="rect">
            <a:avLst/>
          </a:prstGeom>
          <a:noFill/>
        </p:spPr>
        <p:txBody>
          <a:bodyPr wrap="square" anchor="t"/>
          <a:lstStyle/>
          <a:p>
            <a:pPr algn="l">
              <a:spcBef>
                <a:spcPts val="0"/>
              </a:spcBef>
              <a:spcAft>
                <a:spcPts val="0"/>
              </a:spcAft>
            </a:pPr>
            <a:r>
              <a:rPr sz="1200" b="0">
                <a:solidFill>
                  <a:srgbClr val="3A4A5C"/>
                </a:solidFill>
                <a:latin typeface="Calibri"/>
              </a:rPr>
              <a:t>G&amp;A</a:t>
            </a:r>
          </a:p>
        </p:txBody>
      </p:sp>
      <p:sp>
        <p:nvSpPr>
          <p:cNvPr id="43" name="Rectangle 42"/>
          <p:cNvSpPr/>
          <p:nvPr/>
        </p:nvSpPr>
        <p:spPr>
          <a:xfrm>
            <a:off x="7315200" y="3172968"/>
            <a:ext cx="4620463" cy="333756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15200" y="3172968"/>
            <a:ext cx="73152" cy="33375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20" y="3355848"/>
            <a:ext cx="4114800" cy="320040"/>
          </a:xfrm>
          <a:prstGeom prst="rect">
            <a:avLst/>
          </a:prstGeom>
          <a:noFill/>
        </p:spPr>
        <p:txBody>
          <a:bodyPr wrap="square" anchor="t"/>
          <a:lstStyle/>
          <a:p>
            <a:pPr algn="l">
              <a:spcBef>
                <a:spcPts val="0"/>
              </a:spcBef>
              <a:spcAft>
                <a:spcPts val="0"/>
              </a:spcAft>
            </a:pPr>
            <a:r>
              <a:rPr sz="1400" b="1">
                <a:solidFill>
                  <a:srgbClr val="0B1F33"/>
                </a:solidFill>
                <a:latin typeface="Georgia"/>
              </a:rPr>
              <a:t>Key Use-of-Funds Milestones</a:t>
            </a:r>
          </a:p>
        </p:txBody>
      </p:sp>
      <p:sp>
        <p:nvSpPr>
          <p:cNvPr id="46" name="TextBox 45"/>
          <p:cNvSpPr txBox="1"/>
          <p:nvPr/>
        </p:nvSpPr>
        <p:spPr>
          <a:xfrm>
            <a:off x="7589520" y="3813048"/>
            <a:ext cx="4114800" cy="2514600"/>
          </a:xfrm>
          <a:prstGeom prst="rect">
            <a:avLst/>
          </a:prstGeom>
          <a:noFill/>
        </p:spPr>
        <p:txBody>
          <a:bodyPr wrap="square">
            <a:spAutoFit/>
          </a:bodyPr>
          <a:lstStyle/>
          <a:p>
            <a:pPr algn="l">
              <a:spcBef>
                <a:spcPts val="0"/>
              </a:spcBef>
              <a:spcAft>
                <a:spcPts val="0"/>
              </a:spcAft>
            </a:pPr>
            <a:r>
              <a:rPr sz="1300" b="0">
                <a:solidFill>
                  <a:srgbClr val="3A4A5C"/>
                </a:solidFill>
                <a:latin typeface="Calibri"/>
              </a:rPr>
              <a:t>–  Flight-qualify modular payload hardware</a:t>
            </a:r>
          </a:p>
          <a:p>
            <a:pPr algn="l">
              <a:spcBef>
                <a:spcPts val="1000"/>
              </a:spcBef>
              <a:spcAft>
                <a:spcPts val="0"/>
              </a:spcAft>
            </a:pPr>
            <a:r>
              <a:rPr sz="1300" b="0">
                <a:solidFill>
                  <a:srgbClr val="3A4A5C"/>
                </a:solidFill>
                <a:latin typeface="Calibri"/>
              </a:rPr>
              <a:t>–  Complete 3–5 commissioned ISS missions</a:t>
            </a:r>
          </a:p>
          <a:p>
            <a:pPr algn="l">
              <a:spcBef>
                <a:spcPts val="1000"/>
              </a:spcBef>
              <a:spcAft>
                <a:spcPts val="0"/>
              </a:spcAft>
            </a:pPr>
            <a:r>
              <a:rPr sz="1300" b="0">
                <a:solidFill>
                  <a:srgbClr val="3A4A5C"/>
                </a:solidFill>
                <a:latin typeface="Calibri"/>
              </a:rPr>
              <a:t>–  File first NASA InSPA Phase 1 grant</a:t>
            </a:r>
          </a:p>
          <a:p>
            <a:pPr algn="l">
              <a:spcBef>
                <a:spcPts val="1000"/>
              </a:spcBef>
              <a:spcAft>
                <a:spcPts val="0"/>
              </a:spcAft>
            </a:pPr>
            <a:r>
              <a:rPr sz="1300" b="0">
                <a:solidFill>
                  <a:srgbClr val="3A4A5C"/>
                </a:solidFill>
                <a:latin typeface="Calibri"/>
              </a:rPr>
              <a:t>–  Secure Starlab payload reservation</a:t>
            </a:r>
          </a:p>
          <a:p>
            <a:pPr algn="l">
              <a:spcBef>
                <a:spcPts val="1000"/>
              </a:spcBef>
              <a:spcAft>
                <a:spcPts val="0"/>
              </a:spcAft>
            </a:pPr>
            <a:r>
              <a:rPr sz="1300" b="0">
                <a:solidFill>
                  <a:srgbClr val="3A4A5C"/>
                </a:solidFill>
                <a:latin typeface="Calibri"/>
              </a:rPr>
              <a:t>–  Build core scientific &amp; engineering team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RISK FACTORS</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Key Risks and Mitigating Strategies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18</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graphicFrame>
        <p:nvGraphicFramePr>
          <p:cNvPr id="8" name="Table 7"/>
          <p:cNvGraphicFramePr>
            <a:graphicFrameLocks noGrp="1"/>
          </p:cNvGraphicFramePr>
          <p:nvPr/>
        </p:nvGraphicFramePr>
        <p:xfrm>
          <a:off x="256032" y="1078992"/>
          <a:ext cx="11679631" cy="5029200"/>
        </p:xfrm>
        <a:graphic>
          <a:graphicData uri="http://schemas.openxmlformats.org/drawingml/2006/table">
            <a:tbl>
              <a:tblPr firstRow="1" bandRow="1">
                <a:tableStyleId>{5C22544A-7EE6-4342-B048-85BDC9FD1C3A}</a:tableStyleId>
              </a:tblPr>
              <a:tblGrid>
                <a:gridCol w="1645920"/>
                <a:gridCol w="4754880"/>
                <a:gridCol w="5278831"/>
              </a:tblGrid>
              <a:tr h="838200">
                <a:tc>
                  <a:txBody>
                    <a:bodyPr/>
                    <a:lstStyle/>
                    <a:p>
                      <a:r>
                        <a:rPr b="1" sz="1050">
                          <a:solidFill>
                            <a:srgbClr val="FFFFFF"/>
                          </a:solidFill>
                          <a:latin typeface="Calibri"/>
                        </a:rPr>
                        <a:t>Risk Category</a:t>
                      </a:r>
                    </a:p>
                  </a:txBody>
                  <a:tcPr anchor="ctr">
                    <a:solidFill>
                      <a:srgbClr val="0A6B63"/>
                    </a:solidFill>
                  </a:tcPr>
                </a:tc>
                <a:tc>
                  <a:txBody>
                    <a:bodyPr/>
                    <a:lstStyle/>
                    <a:p>
                      <a:r>
                        <a:rPr b="1" sz="1050">
                          <a:solidFill>
                            <a:srgbClr val="FFFFFF"/>
                          </a:solidFill>
                          <a:latin typeface="Calibri"/>
                        </a:rPr>
                        <a:t>Risk</a:t>
                      </a:r>
                    </a:p>
                  </a:txBody>
                  <a:tcPr anchor="ctr">
                    <a:solidFill>
                      <a:srgbClr val="0A6B63"/>
                    </a:solidFill>
                  </a:tcPr>
                </a:tc>
                <a:tc>
                  <a:txBody>
                    <a:bodyPr/>
                    <a:lstStyle/>
                    <a:p>
                      <a:r>
                        <a:rPr b="1" sz="1050">
                          <a:solidFill>
                            <a:srgbClr val="FFFFFF"/>
                          </a:solidFill>
                          <a:latin typeface="Calibri"/>
                        </a:rPr>
                        <a:t>Mitigant</a:t>
                      </a:r>
                    </a:p>
                  </a:txBody>
                  <a:tcPr anchor="ctr">
                    <a:solidFill>
                      <a:srgbClr val="0A6B63"/>
                    </a:solidFill>
                  </a:tcPr>
                </a:tc>
              </a:tr>
              <a:tr h="838200">
                <a:tc>
                  <a:txBody>
                    <a:bodyPr/>
                    <a:lstStyle/>
                    <a:p>
                      <a:r>
                        <a:rPr sz="1050" b="0">
                          <a:solidFill>
                            <a:srgbClr val="3A4A5C"/>
                          </a:solidFill>
                          <a:latin typeface="Calibri"/>
                        </a:rPr>
                        <a:t>Technical</a:t>
                      </a:r>
                    </a:p>
                  </a:txBody>
                  <a:tcPr anchor="ctr">
                    <a:solidFill>
                      <a:srgbClr val="EEF3F8"/>
                    </a:solidFill>
                  </a:tcPr>
                </a:tc>
                <a:tc>
                  <a:txBody>
                    <a:bodyPr/>
                    <a:lstStyle/>
                    <a:p>
                      <a:r>
                        <a:rPr sz="1050" b="0">
                          <a:solidFill>
                            <a:srgbClr val="3A4A5C"/>
                          </a:solidFill>
                          <a:latin typeface="Calibri"/>
                        </a:rPr>
                        <a:t>Scaling from validated tissue patches to full vascularised organs remains scientifically unsolved industry-wide.</a:t>
                      </a:r>
                    </a:p>
                  </a:txBody>
                  <a:tcPr anchor="ctr">
                    <a:solidFill>
                      <a:srgbClr val="EEF3F8"/>
                    </a:solidFill>
                  </a:tcPr>
                </a:tc>
                <a:tc>
                  <a:txBody>
                    <a:bodyPr/>
                    <a:lstStyle/>
                    <a:p>
                      <a:r>
                        <a:rPr sz="1050" b="0">
                          <a:solidFill>
                            <a:srgbClr val="3A4A5C"/>
                          </a:solidFill>
                          <a:latin typeface="Calibri"/>
                        </a:rPr>
                        <a:t>Phased roadmap monetises near-term, lower-complexity verticals (wound care, orthopedic) before attempting whole-organ printing.</a:t>
                      </a:r>
                    </a:p>
                  </a:txBody>
                  <a:tcPr anchor="ctr">
                    <a:solidFill>
                      <a:srgbClr val="EEF3F8"/>
                    </a:solidFill>
                  </a:tcPr>
                </a:tc>
              </a:tr>
              <a:tr h="838200">
                <a:tc>
                  <a:txBody>
                    <a:bodyPr/>
                    <a:lstStyle/>
                    <a:p>
                      <a:r>
                        <a:rPr sz="1050" b="0">
                          <a:solidFill>
                            <a:srgbClr val="3A4A5C"/>
                          </a:solidFill>
                          <a:latin typeface="Calibri"/>
                        </a:rPr>
                        <a:t>Regulatory</a:t>
                      </a:r>
                    </a:p>
                  </a:txBody>
                  <a:tcPr anchor="ctr">
                    <a:solidFill>
                      <a:srgbClr val="FFFFFF"/>
                    </a:solidFill>
                  </a:tcPr>
                </a:tc>
                <a:tc>
                  <a:txBody>
                    <a:bodyPr/>
                    <a:lstStyle/>
                    <a:p>
                      <a:r>
                        <a:rPr sz="1050" b="0">
                          <a:solidFill>
                            <a:srgbClr val="3A4A5C"/>
                          </a:solidFill>
                          <a:latin typeface="Calibri"/>
                        </a:rPr>
                        <a:t>FDA approval pathways for novel tissue-engineered products are long, costly, and precedent-limited.</a:t>
                      </a:r>
                    </a:p>
                  </a:txBody>
                  <a:tcPr anchor="ctr">
                    <a:solidFill>
                      <a:srgbClr val="FFFFFF"/>
                    </a:solidFill>
                  </a:tcPr>
                </a:tc>
                <a:tc>
                  <a:txBody>
                    <a:bodyPr/>
                    <a:lstStyle/>
                    <a:p>
                      <a:r>
                        <a:rPr sz="1050" b="0">
                          <a:solidFill>
                            <a:srgbClr val="3A4A5C"/>
                          </a:solidFill>
                          <a:latin typeface="Calibri"/>
                        </a:rPr>
                        <a:t>Symvess clearance (Dec 2024) establishes the first direct precedent. Samuel engages regulatory counsel from Year 1 and targets lower-risk 510(k) products first.</a:t>
                      </a:r>
                    </a:p>
                  </a:txBody>
                  <a:tcPr anchor="ctr">
                    <a:solidFill>
                      <a:srgbClr val="FFFFFF"/>
                    </a:solidFill>
                  </a:tcPr>
                </a:tc>
              </a:tr>
              <a:tr h="838200">
                <a:tc>
                  <a:txBody>
                    <a:bodyPr/>
                    <a:lstStyle/>
                    <a:p>
                      <a:r>
                        <a:rPr sz="1050" b="0">
                          <a:solidFill>
                            <a:srgbClr val="3A4A5C"/>
                          </a:solidFill>
                          <a:latin typeface="Calibri"/>
                        </a:rPr>
                        <a:t>Platform / Access</a:t>
                      </a:r>
                    </a:p>
                  </a:txBody>
                  <a:tcPr anchor="ctr">
                    <a:solidFill>
                      <a:srgbClr val="EEF3F8"/>
                    </a:solidFill>
                  </a:tcPr>
                </a:tc>
                <a:tc>
                  <a:txBody>
                    <a:bodyPr/>
                    <a:lstStyle/>
                    <a:p>
                      <a:r>
                        <a:rPr sz="1050" b="0">
                          <a:solidFill>
                            <a:srgbClr val="3A4A5C"/>
                          </a:solidFill>
                          <a:latin typeface="Calibri"/>
                        </a:rPr>
                        <a:t>ISS retirement (~2030) creates dependency risk if commercial successor stations are delayed.</a:t>
                      </a:r>
                    </a:p>
                  </a:txBody>
                  <a:tcPr anchor="ctr">
                    <a:solidFill>
                      <a:srgbClr val="EEF3F8"/>
                    </a:solidFill>
                  </a:tcPr>
                </a:tc>
                <a:tc>
                  <a:txBody>
                    <a:bodyPr/>
                    <a:lstStyle/>
                    <a:p>
                      <a:r>
                        <a:rPr sz="1050" b="0">
                          <a:solidFill>
                            <a:srgbClr val="3A4A5C"/>
                          </a:solidFill>
                          <a:latin typeface="Calibri"/>
                        </a:rPr>
                        <a:t>Station-agnostic hardware design supports ISS, Starlab, Axiom, Orbital Reef, and Vast simultaneously, diversifying single-platform exposure.</a:t>
                      </a:r>
                    </a:p>
                  </a:txBody>
                  <a:tcPr anchor="ctr">
                    <a:solidFill>
                      <a:srgbClr val="EEF3F8"/>
                    </a:solidFill>
                  </a:tcPr>
                </a:tc>
              </a:tr>
              <a:tr h="838200">
                <a:tc>
                  <a:txBody>
                    <a:bodyPr/>
                    <a:lstStyle/>
                    <a:p>
                      <a:r>
                        <a:rPr sz="1050" b="0">
                          <a:solidFill>
                            <a:srgbClr val="3A4A5C"/>
                          </a:solidFill>
                          <a:latin typeface="Calibri"/>
                        </a:rPr>
                        <a:t>Capital Intensity</a:t>
                      </a:r>
                    </a:p>
                  </a:txBody>
                  <a:tcPr anchor="ctr">
                    <a:solidFill>
                      <a:srgbClr val="FFFFFF"/>
                    </a:solidFill>
                  </a:tcPr>
                </a:tc>
                <a:tc>
                  <a:txBody>
                    <a:bodyPr/>
                    <a:lstStyle/>
                    <a:p>
                      <a:r>
                        <a:rPr sz="1050" b="0">
                          <a:solidFill>
                            <a:srgbClr val="3A4A5C"/>
                          </a:solidFill>
                          <a:latin typeface="Calibri"/>
                        </a:rPr>
                        <a:t>Flight missions, payload hardware, and clinical trials require sustained, significant capital investment.</a:t>
                      </a:r>
                    </a:p>
                  </a:txBody>
                  <a:tcPr anchor="ctr">
                    <a:solidFill>
                      <a:srgbClr val="FFFFFF"/>
                    </a:solidFill>
                  </a:tcPr>
                </a:tc>
                <a:tc>
                  <a:txBody>
                    <a:bodyPr/>
                    <a:lstStyle/>
                    <a:p>
                      <a:r>
                        <a:rPr sz="1050" b="0">
                          <a:solidFill>
                            <a:srgbClr val="3A4A5C"/>
                          </a:solidFill>
                          <a:latin typeface="Calibri"/>
                        </a:rPr>
                        <a:t>Blended funding strategy combines equity with non-dilutive NASA/ESA/DoD grants, following the precedent set by LambdaVision and Redwire.</a:t>
                      </a:r>
                    </a:p>
                  </a:txBody>
                  <a:tcPr anchor="ctr">
                    <a:solidFill>
                      <a:srgbClr val="FFFFFF"/>
                    </a:solidFill>
                  </a:tcPr>
                </a:tc>
              </a:tr>
              <a:tr h="838200">
                <a:tc>
                  <a:txBody>
                    <a:bodyPr/>
                    <a:lstStyle/>
                    <a:p>
                      <a:r>
                        <a:rPr sz="1050" b="0">
                          <a:solidFill>
                            <a:srgbClr val="3A4A5C"/>
                          </a:solidFill>
                          <a:latin typeface="Calibri"/>
                        </a:rPr>
                        <a:t>Competitive</a:t>
                      </a:r>
                    </a:p>
                  </a:txBody>
                  <a:tcPr anchor="ctr">
                    <a:solidFill>
                      <a:srgbClr val="EEF3F8"/>
                    </a:solidFill>
                  </a:tcPr>
                </a:tc>
                <a:tc>
                  <a:txBody>
                    <a:bodyPr/>
                    <a:lstStyle/>
                    <a:p>
                      <a:r>
                        <a:rPr sz="1050" b="0">
                          <a:solidFill>
                            <a:srgbClr val="3A4A5C"/>
                          </a:solidFill>
                          <a:latin typeface="Calibri"/>
                        </a:rPr>
                        <a:t>Incumbent operators (Redwire, LambdaVision) hold first-mover relationships with NASA and station operators.</a:t>
                      </a:r>
                    </a:p>
                  </a:txBody>
                  <a:tcPr anchor="ctr">
                    <a:solidFill>
                      <a:srgbClr val="EEF3F8"/>
                    </a:solidFill>
                  </a:tcPr>
                </a:tc>
                <a:tc>
                  <a:txBody>
                    <a:bodyPr/>
                    <a:lstStyle/>
                    <a:p>
                      <a:r>
                        <a:rPr sz="1050" b="0">
                          <a:solidFill>
                            <a:srgbClr val="3A4A5C"/>
                          </a:solidFill>
                          <a:latin typeface="Calibri"/>
                        </a:rPr>
                        <a:t>Samuel differentiates on multi-vertical platform breadth and station-agnostic flexibility rather than competing head-on for any single contract.</a:t>
                      </a:r>
                    </a:p>
                  </a:txBody>
                  <a:tcPr anchor="ctr">
                    <a:solidFill>
                      <a:srgbClr val="EEF3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ORGANISATION</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Team &amp; Scientific Advisory Approach</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19</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TextBox 7"/>
          <p:cNvSpPr txBox="1"/>
          <p:nvPr/>
        </p:nvSpPr>
        <p:spPr>
          <a:xfrm>
            <a:off x="256032" y="1078992"/>
            <a:ext cx="11679631" cy="502920"/>
          </a:xfrm>
          <a:prstGeom prst="rect">
            <a:avLst/>
          </a:prstGeom>
          <a:noFill/>
        </p:spPr>
        <p:txBody>
          <a:bodyPr wrap="square" anchor="t"/>
          <a:lstStyle/>
          <a:p>
            <a:pPr algn="l">
              <a:spcBef>
                <a:spcPts val="0"/>
              </a:spcBef>
              <a:spcAft>
                <a:spcPts val="0"/>
              </a:spcAft>
            </a:pPr>
            <a:r>
              <a:rPr sz="1200" b="0">
                <a:solidFill>
                  <a:srgbClr val="3A4A5C"/>
                </a:solidFill>
                <a:latin typeface="Calibri"/>
              </a:rPr>
              <a:t>Samuel Space is building a founding team and Scientific Advisory Board around the specific expertise this platform requires. Roles below reflect the Company's hiring plan and target advisory profile for the Series A period.</a:t>
            </a:r>
          </a:p>
        </p:txBody>
      </p:sp>
      <p:sp>
        <p:nvSpPr>
          <p:cNvPr id="9" name="Rectangle 8"/>
          <p:cNvSpPr/>
          <p:nvPr/>
        </p:nvSpPr>
        <p:spPr>
          <a:xfrm>
            <a:off x="256032" y="1719072"/>
            <a:ext cx="5766663"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1719072"/>
            <a:ext cx="73152"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 y="1901952"/>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01</a:t>
            </a:r>
          </a:p>
        </p:txBody>
      </p:sp>
      <p:sp>
        <p:nvSpPr>
          <p:cNvPr id="12" name="TextBox 11"/>
          <p:cNvSpPr txBox="1"/>
          <p:nvPr/>
        </p:nvSpPr>
        <p:spPr>
          <a:xfrm>
            <a:off x="1078992" y="1920240"/>
            <a:ext cx="4715103" cy="320040"/>
          </a:xfrm>
          <a:prstGeom prst="rect">
            <a:avLst/>
          </a:prstGeom>
          <a:noFill/>
        </p:spPr>
        <p:txBody>
          <a:bodyPr wrap="square" anchor="t"/>
          <a:lstStyle/>
          <a:p>
            <a:pPr algn="l">
              <a:spcBef>
                <a:spcPts val="0"/>
              </a:spcBef>
              <a:spcAft>
                <a:spcPts val="0"/>
              </a:spcAft>
            </a:pPr>
            <a:r>
              <a:rPr sz="1400" b="1">
                <a:solidFill>
                  <a:srgbClr val="0B1F33"/>
                </a:solidFill>
                <a:latin typeface="Georgia"/>
              </a:rPr>
              <a:t>Founder / Chief Executive Officer</a:t>
            </a:r>
          </a:p>
        </p:txBody>
      </p:sp>
      <p:sp>
        <p:nvSpPr>
          <p:cNvPr id="13" name="TextBox 12"/>
          <p:cNvSpPr txBox="1"/>
          <p:nvPr/>
        </p:nvSpPr>
        <p:spPr>
          <a:xfrm>
            <a:off x="484632" y="2359152"/>
            <a:ext cx="5309463" cy="548640"/>
          </a:xfrm>
          <a:prstGeom prst="rect">
            <a:avLst/>
          </a:prstGeom>
          <a:noFill/>
        </p:spPr>
        <p:txBody>
          <a:bodyPr wrap="square" anchor="t"/>
          <a:lstStyle/>
          <a:p>
            <a:pPr algn="l">
              <a:spcBef>
                <a:spcPts val="0"/>
              </a:spcBef>
              <a:spcAft>
                <a:spcPts val="0"/>
              </a:spcAft>
            </a:pPr>
            <a:r>
              <a:rPr sz="1150" b="0">
                <a:solidFill>
                  <a:srgbClr val="3A4A5C"/>
                </a:solidFill>
                <a:latin typeface="Calibri"/>
              </a:rPr>
              <a:t>Commercial space or biotech venture leadership; track record building regulated hardware or therapeutics businesses from seed to scale.</a:t>
            </a:r>
          </a:p>
        </p:txBody>
      </p:sp>
      <p:sp>
        <p:nvSpPr>
          <p:cNvPr id="14" name="Rectangle 13"/>
          <p:cNvSpPr/>
          <p:nvPr/>
        </p:nvSpPr>
        <p:spPr>
          <a:xfrm>
            <a:off x="6168999" y="1719072"/>
            <a:ext cx="5766663"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8999" y="1719072"/>
            <a:ext cx="73152"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7599" y="1901952"/>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02</a:t>
            </a:r>
          </a:p>
        </p:txBody>
      </p:sp>
      <p:sp>
        <p:nvSpPr>
          <p:cNvPr id="17" name="TextBox 16"/>
          <p:cNvSpPr txBox="1"/>
          <p:nvPr/>
        </p:nvSpPr>
        <p:spPr>
          <a:xfrm>
            <a:off x="6991959" y="1920240"/>
            <a:ext cx="4715103" cy="320040"/>
          </a:xfrm>
          <a:prstGeom prst="rect">
            <a:avLst/>
          </a:prstGeom>
          <a:noFill/>
        </p:spPr>
        <p:txBody>
          <a:bodyPr wrap="square" anchor="t"/>
          <a:lstStyle/>
          <a:p>
            <a:pPr algn="l">
              <a:spcBef>
                <a:spcPts val="0"/>
              </a:spcBef>
              <a:spcAft>
                <a:spcPts val="0"/>
              </a:spcAft>
            </a:pPr>
            <a:r>
              <a:rPr sz="1400" b="1">
                <a:solidFill>
                  <a:srgbClr val="0B1F33"/>
                </a:solidFill>
                <a:latin typeface="Georgia"/>
              </a:rPr>
              <a:t>Chief Scientific Officer</a:t>
            </a:r>
          </a:p>
        </p:txBody>
      </p:sp>
      <p:sp>
        <p:nvSpPr>
          <p:cNvPr id="18" name="TextBox 17"/>
          <p:cNvSpPr txBox="1"/>
          <p:nvPr/>
        </p:nvSpPr>
        <p:spPr>
          <a:xfrm>
            <a:off x="6397599" y="2359152"/>
            <a:ext cx="5309463" cy="548640"/>
          </a:xfrm>
          <a:prstGeom prst="rect">
            <a:avLst/>
          </a:prstGeom>
          <a:noFill/>
        </p:spPr>
        <p:txBody>
          <a:bodyPr wrap="square" anchor="t"/>
          <a:lstStyle/>
          <a:p>
            <a:pPr algn="l">
              <a:spcBef>
                <a:spcPts val="0"/>
              </a:spcBef>
              <a:spcAft>
                <a:spcPts val="0"/>
              </a:spcAft>
            </a:pPr>
            <a:r>
              <a:rPr sz="1150" b="0">
                <a:solidFill>
                  <a:srgbClr val="3A4A5C"/>
                </a:solidFill>
                <a:latin typeface="Calibri"/>
              </a:rPr>
              <a:t>PhD-level expertise in tissue engineering, stem cell biology, or regenerative medicine; prior peer-reviewed bioprinting research.</a:t>
            </a:r>
          </a:p>
        </p:txBody>
      </p:sp>
      <p:sp>
        <p:nvSpPr>
          <p:cNvPr id="19" name="Rectangle 18"/>
          <p:cNvSpPr/>
          <p:nvPr/>
        </p:nvSpPr>
        <p:spPr>
          <a:xfrm>
            <a:off x="256032" y="3172968"/>
            <a:ext cx="5766663"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6032" y="3172968"/>
            <a:ext cx="73152"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3355848"/>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03</a:t>
            </a:r>
          </a:p>
        </p:txBody>
      </p:sp>
      <p:sp>
        <p:nvSpPr>
          <p:cNvPr id="22" name="TextBox 21"/>
          <p:cNvSpPr txBox="1"/>
          <p:nvPr/>
        </p:nvSpPr>
        <p:spPr>
          <a:xfrm>
            <a:off x="1078992" y="3374136"/>
            <a:ext cx="4715103" cy="320040"/>
          </a:xfrm>
          <a:prstGeom prst="rect">
            <a:avLst/>
          </a:prstGeom>
          <a:noFill/>
        </p:spPr>
        <p:txBody>
          <a:bodyPr wrap="square" anchor="t"/>
          <a:lstStyle/>
          <a:p>
            <a:pPr algn="l">
              <a:spcBef>
                <a:spcPts val="0"/>
              </a:spcBef>
              <a:spcAft>
                <a:spcPts val="0"/>
              </a:spcAft>
            </a:pPr>
            <a:r>
              <a:rPr sz="1400" b="1">
                <a:solidFill>
                  <a:srgbClr val="0B1F33"/>
                </a:solidFill>
                <a:latin typeface="Georgia"/>
              </a:rPr>
              <a:t>VP, Payload Engineering</a:t>
            </a:r>
          </a:p>
        </p:txBody>
      </p:sp>
      <p:sp>
        <p:nvSpPr>
          <p:cNvPr id="23" name="TextBox 22"/>
          <p:cNvSpPr txBox="1"/>
          <p:nvPr/>
        </p:nvSpPr>
        <p:spPr>
          <a:xfrm>
            <a:off x="484632" y="3813048"/>
            <a:ext cx="5309463" cy="548640"/>
          </a:xfrm>
          <a:prstGeom prst="rect">
            <a:avLst/>
          </a:prstGeom>
          <a:noFill/>
        </p:spPr>
        <p:txBody>
          <a:bodyPr wrap="square" anchor="t"/>
          <a:lstStyle/>
          <a:p>
            <a:pPr algn="l">
              <a:spcBef>
                <a:spcPts val="0"/>
              </a:spcBef>
              <a:spcAft>
                <a:spcPts val="0"/>
              </a:spcAft>
            </a:pPr>
            <a:r>
              <a:rPr sz="1150" b="0">
                <a:solidFill>
                  <a:srgbClr val="3A4A5C"/>
                </a:solidFill>
                <a:latin typeface="Calibri"/>
              </a:rPr>
              <a:t>Aerospace hardware engineering background; experience flight-qualifying instrumentation for ISS or commercial LEO payloads.</a:t>
            </a:r>
          </a:p>
        </p:txBody>
      </p:sp>
      <p:sp>
        <p:nvSpPr>
          <p:cNvPr id="24" name="Rectangle 23"/>
          <p:cNvSpPr/>
          <p:nvPr/>
        </p:nvSpPr>
        <p:spPr>
          <a:xfrm>
            <a:off x="6168999" y="3172968"/>
            <a:ext cx="5766663" cy="132588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68999" y="3172968"/>
            <a:ext cx="73152" cy="132588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7599" y="3355848"/>
            <a:ext cx="548640" cy="274320"/>
          </a:xfrm>
          <a:prstGeom prst="rect">
            <a:avLst/>
          </a:prstGeom>
          <a:noFill/>
        </p:spPr>
        <p:txBody>
          <a:bodyPr wrap="square" anchor="t"/>
          <a:lstStyle/>
          <a:p>
            <a:pPr algn="l">
              <a:spcBef>
                <a:spcPts val="0"/>
              </a:spcBef>
              <a:spcAft>
                <a:spcPts val="0"/>
              </a:spcAft>
            </a:pPr>
            <a:r>
              <a:rPr sz="1400" b="1">
                <a:solidFill>
                  <a:srgbClr val="0A6B63"/>
                </a:solidFill>
                <a:latin typeface="Georgia"/>
              </a:rPr>
              <a:t>04</a:t>
            </a:r>
          </a:p>
        </p:txBody>
      </p:sp>
      <p:sp>
        <p:nvSpPr>
          <p:cNvPr id="27" name="TextBox 26"/>
          <p:cNvSpPr txBox="1"/>
          <p:nvPr/>
        </p:nvSpPr>
        <p:spPr>
          <a:xfrm>
            <a:off x="6991959" y="3374136"/>
            <a:ext cx="4715103" cy="320040"/>
          </a:xfrm>
          <a:prstGeom prst="rect">
            <a:avLst/>
          </a:prstGeom>
          <a:noFill/>
        </p:spPr>
        <p:txBody>
          <a:bodyPr wrap="square" anchor="t"/>
          <a:lstStyle/>
          <a:p>
            <a:pPr algn="l">
              <a:spcBef>
                <a:spcPts val="0"/>
              </a:spcBef>
              <a:spcAft>
                <a:spcPts val="0"/>
              </a:spcAft>
            </a:pPr>
            <a:r>
              <a:rPr sz="1400" b="1">
                <a:solidFill>
                  <a:srgbClr val="0B1F33"/>
                </a:solidFill>
                <a:latin typeface="Georgia"/>
              </a:rPr>
              <a:t>Head of Regulatory Affairs</a:t>
            </a:r>
          </a:p>
        </p:txBody>
      </p:sp>
      <p:sp>
        <p:nvSpPr>
          <p:cNvPr id="28" name="TextBox 27"/>
          <p:cNvSpPr txBox="1"/>
          <p:nvPr/>
        </p:nvSpPr>
        <p:spPr>
          <a:xfrm>
            <a:off x="6397599" y="3813048"/>
            <a:ext cx="5309463" cy="548640"/>
          </a:xfrm>
          <a:prstGeom prst="rect">
            <a:avLst/>
          </a:prstGeom>
          <a:noFill/>
        </p:spPr>
        <p:txBody>
          <a:bodyPr wrap="square" anchor="t"/>
          <a:lstStyle/>
          <a:p>
            <a:pPr algn="l">
              <a:spcBef>
                <a:spcPts val="0"/>
              </a:spcBef>
              <a:spcAft>
                <a:spcPts val="0"/>
              </a:spcAft>
            </a:pPr>
            <a:r>
              <a:rPr sz="1150" b="0">
                <a:solidFill>
                  <a:srgbClr val="3A4A5C"/>
                </a:solidFill>
                <a:latin typeface="Calibri"/>
              </a:rPr>
              <a:t>FDA medical device / biologics regulatory pathway expertise; experience navigating 510(k) and PMA submissions.</a:t>
            </a:r>
          </a:p>
        </p:txBody>
      </p:sp>
      <p:sp>
        <p:nvSpPr>
          <p:cNvPr id="29" name="Rectangle 28"/>
          <p:cNvSpPr/>
          <p:nvPr/>
        </p:nvSpPr>
        <p:spPr>
          <a:xfrm>
            <a:off x="256032" y="4672583"/>
            <a:ext cx="11679631" cy="1417320"/>
          </a:xfrm>
          <a:prstGeom prst="rect">
            <a:avLst/>
          </a:prstGeom>
          <a:solidFill>
            <a:srgbClr val="D7EBE8"/>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6032" y="4672583"/>
            <a:ext cx="73152" cy="141732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4809744"/>
            <a:ext cx="11222431" cy="274320"/>
          </a:xfrm>
          <a:prstGeom prst="rect">
            <a:avLst/>
          </a:prstGeom>
          <a:noFill/>
        </p:spPr>
        <p:txBody>
          <a:bodyPr wrap="square" anchor="t"/>
          <a:lstStyle/>
          <a:p>
            <a:pPr algn="l">
              <a:spcBef>
                <a:spcPts val="0"/>
              </a:spcBef>
              <a:spcAft>
                <a:spcPts val="0"/>
              </a:spcAft>
            </a:pPr>
            <a:r>
              <a:rPr sz="1400" b="1">
                <a:solidFill>
                  <a:srgbClr val="0B1F33"/>
                </a:solidFill>
                <a:latin typeface="Georgia"/>
              </a:rPr>
              <a:t>Scientific Advisory Board — In Formation</a:t>
            </a:r>
          </a:p>
        </p:txBody>
      </p:sp>
      <p:sp>
        <p:nvSpPr>
          <p:cNvPr id="32" name="TextBox 31"/>
          <p:cNvSpPr txBox="1"/>
          <p:nvPr/>
        </p:nvSpPr>
        <p:spPr>
          <a:xfrm>
            <a:off x="530352" y="5175503"/>
            <a:ext cx="11222431" cy="777240"/>
          </a:xfrm>
          <a:prstGeom prst="rect">
            <a:avLst/>
          </a:prstGeom>
          <a:noFill/>
        </p:spPr>
        <p:txBody>
          <a:bodyPr wrap="square" anchor="t"/>
          <a:lstStyle/>
          <a:p>
            <a:pPr algn="l">
              <a:spcBef>
                <a:spcPts val="0"/>
              </a:spcBef>
              <a:spcAft>
                <a:spcPts val="0"/>
              </a:spcAft>
            </a:pPr>
            <a:r>
              <a:rPr sz="1150" b="0">
                <a:solidFill>
                  <a:srgbClr val="3A4A5C"/>
                </a:solidFill>
                <a:latin typeface="Calibri"/>
              </a:rPr>
              <a:t>Samuel is actively recruiting an SAB spanning the disciplines proven essential by the field's existing leaders: stem-cell and cardiac tissue biology (in the tradition of Harvard's bioengineering research community), microgravity payload design (as demonstrated by Redwire's BFF engineering team), and protein-based biomanufacturing (as practiced by LambdaVision and Space Tango). Target SAB appointments will be announced as the round closes.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panel.png"/>
          <p:cNvPicPr>
            <a:picLocks noChangeAspect="1"/>
          </p:cNvPicPr>
          <p:nvPr/>
        </p:nvPicPr>
        <p:blipFill>
          <a:blip r:embed="rId2"/>
          <a:stretch>
            <a:fillRect/>
          </a:stretch>
        </p:blipFill>
        <p:spPr>
          <a:xfrm>
            <a:off x="0" y="73152"/>
            <a:ext cx="4480560" cy="6711696"/>
          </a:xfrm>
          <a:prstGeom prst="rect">
            <a:avLst/>
          </a:prstGeom>
        </p:spPr>
      </p:pic>
      <p:sp>
        <p:nvSpPr>
          <p:cNvPr id="4" name="Rectangle 3"/>
          <p:cNvSpPr/>
          <p:nvPr/>
        </p:nvSpPr>
        <p:spPr>
          <a:xfrm>
            <a:off x="4407408" y="73152"/>
            <a:ext cx="73152" cy="6711696"/>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46320" y="640080"/>
            <a:ext cx="6858000" cy="320040"/>
          </a:xfrm>
          <a:prstGeom prst="rect">
            <a:avLst/>
          </a:prstGeom>
          <a:noFill/>
        </p:spPr>
        <p:txBody>
          <a:bodyPr wrap="square" anchor="t"/>
          <a:lstStyle/>
          <a:p>
            <a:pPr algn="l">
              <a:spcBef>
                <a:spcPts val="0"/>
              </a:spcBef>
              <a:spcAft>
                <a:spcPts val="0"/>
              </a:spcAft>
            </a:pPr>
            <a:r>
              <a:rPr sz="1300" b="1">
                <a:solidFill>
                  <a:srgbClr val="0A6B63"/>
                </a:solidFill>
                <a:latin typeface="Calibri"/>
              </a:rPr>
              <a:t>THE OPPORTUNITY</a:t>
            </a:r>
          </a:p>
        </p:txBody>
      </p:sp>
      <p:sp>
        <p:nvSpPr>
          <p:cNvPr id="6" name="TextBox 5"/>
          <p:cNvSpPr txBox="1"/>
          <p:nvPr/>
        </p:nvSpPr>
        <p:spPr>
          <a:xfrm>
            <a:off x="4846320" y="1234440"/>
            <a:ext cx="6858000" cy="1554480"/>
          </a:xfrm>
          <a:prstGeom prst="rect">
            <a:avLst/>
          </a:prstGeom>
          <a:noFill/>
        </p:spPr>
        <p:txBody>
          <a:bodyPr wrap="square" anchor="t"/>
          <a:lstStyle/>
          <a:p>
            <a:pPr algn="l">
              <a:spcBef>
                <a:spcPts val="0"/>
              </a:spcBef>
              <a:spcAft>
                <a:spcPts val="0"/>
              </a:spcAft>
            </a:pPr>
            <a:r>
              <a:rPr sz="3200" b="1">
                <a:solidFill>
                  <a:srgbClr val="0B1F33"/>
                </a:solidFill>
                <a:latin typeface="Georgia"/>
              </a:rPr>
              <a:t>Every organ printed in orbit</a:t>
            </a:r>
          </a:p>
          <a:p>
            <a:pPr algn="l">
              <a:spcBef>
                <a:spcPts val="0"/>
              </a:spcBef>
              <a:spcAft>
                <a:spcPts val="0"/>
              </a:spcAft>
            </a:pPr>
            <a:r>
              <a:rPr sz="3200" b="1">
                <a:solidFill>
                  <a:srgbClr val="0B1F33"/>
                </a:solidFill>
                <a:latin typeface="Georgia"/>
              </a:rPr>
              <a:t>is a life that didn't have to wait.</a:t>
            </a:r>
          </a:p>
        </p:txBody>
      </p:sp>
      <p:sp>
        <p:nvSpPr>
          <p:cNvPr id="7" name="Rectangle 6"/>
          <p:cNvSpPr/>
          <p:nvPr/>
        </p:nvSpPr>
        <p:spPr>
          <a:xfrm>
            <a:off x="4846320" y="3017520"/>
            <a:ext cx="3108960" cy="381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46320" y="3337560"/>
            <a:ext cx="6766560" cy="1554480"/>
          </a:xfrm>
          <a:prstGeom prst="rect">
            <a:avLst/>
          </a:prstGeom>
          <a:noFill/>
        </p:spPr>
        <p:txBody>
          <a:bodyPr wrap="square" anchor="t"/>
          <a:lstStyle/>
          <a:p>
            <a:pPr algn="l">
              <a:spcBef>
                <a:spcPts val="0"/>
              </a:spcBef>
              <a:spcAft>
                <a:spcPts val="0"/>
              </a:spcAft>
            </a:pPr>
            <a:r>
              <a:rPr sz="1500" b="0">
                <a:solidFill>
                  <a:srgbClr val="3A4A5C"/>
                </a:solidFill>
                <a:latin typeface="Calibri"/>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p>
        </p:txBody>
      </p:sp>
      <p:sp>
        <p:nvSpPr>
          <p:cNvPr id="9" name="Rectangle 8"/>
          <p:cNvSpPr/>
          <p:nvPr/>
        </p:nvSpPr>
        <p:spPr>
          <a:xfrm>
            <a:off x="4846320" y="5212080"/>
            <a:ext cx="6766560" cy="105156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46320" y="5212080"/>
            <a:ext cx="73152" cy="105156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5394960"/>
            <a:ext cx="6309360" cy="320040"/>
          </a:xfrm>
          <a:prstGeom prst="rect">
            <a:avLst/>
          </a:prstGeom>
          <a:noFill/>
        </p:spPr>
        <p:txBody>
          <a:bodyPr wrap="square" anchor="t"/>
          <a:lstStyle/>
          <a:p>
            <a:pPr algn="l">
              <a:spcBef>
                <a:spcPts val="0"/>
              </a:spcBef>
              <a:spcAft>
                <a:spcPts val="0"/>
              </a:spcAft>
            </a:pPr>
            <a:r>
              <a:rPr sz="1400" b="1">
                <a:solidFill>
                  <a:srgbClr val="0B1F33"/>
                </a:solidFill>
                <a:latin typeface="Calibri"/>
              </a:rPr>
              <a:t>Samuel Space Organ and Tissue Engineering</a:t>
            </a:r>
          </a:p>
        </p:txBody>
      </p:sp>
      <p:sp>
        <p:nvSpPr>
          <p:cNvPr id="12" name="TextBox 11"/>
          <p:cNvSpPr txBox="1"/>
          <p:nvPr/>
        </p:nvSpPr>
        <p:spPr>
          <a:xfrm>
            <a:off x="5120640" y="5760720"/>
            <a:ext cx="6309360" cy="320040"/>
          </a:xfrm>
          <a:prstGeom prst="rect">
            <a:avLst/>
          </a:prstGeom>
          <a:noFill/>
        </p:spPr>
        <p:txBody>
          <a:bodyPr wrap="square" anchor="t"/>
          <a:lstStyle/>
          <a:p>
            <a:pPr algn="l">
              <a:spcBef>
                <a:spcPts val="0"/>
              </a:spcBef>
              <a:spcAft>
                <a:spcPts val="0"/>
              </a:spcAft>
            </a:pPr>
            <a:r>
              <a:rPr sz="1300" b="0">
                <a:solidFill>
                  <a:srgbClr val="6B7C8F"/>
                </a:solidFill>
                <a:latin typeface="Calibri"/>
              </a:rPr>
              <a:t>investors@samuelspace.com  (placeholder)</a:t>
            </a:r>
          </a:p>
        </p:txBody>
      </p:sp>
      <p:sp>
        <p:nvSpPr>
          <p:cNvPr id="13" name="TextBox 12"/>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6032" y="128016"/>
            <a:ext cx="11679631" cy="219456"/>
          </a:xfrm>
          <a:prstGeom prst="rect">
            <a:avLst/>
          </a:prstGeom>
          <a:noFill/>
        </p:spPr>
        <p:txBody>
          <a:bodyPr wrap="square" anchor="t"/>
          <a:lstStyle/>
          <a:p>
            <a:pPr algn="l">
              <a:spcBef>
                <a:spcPts val="0"/>
              </a:spcBef>
              <a:spcAft>
                <a:spcPts val="0"/>
              </a:spcAft>
            </a:pPr>
            <a:r>
              <a:rPr sz="1000" b="1">
                <a:solidFill>
                  <a:srgbClr val="0A6B63"/>
                </a:solidFill>
                <a:latin typeface="Calibri"/>
              </a:rPr>
              <a:t>APPENDIX</a:t>
            </a:r>
          </a:p>
        </p:txBody>
      </p:sp>
      <p:sp>
        <p:nvSpPr>
          <p:cNvPr id="4" name="TextBox 3"/>
          <p:cNvSpPr txBox="1"/>
          <p:nvPr/>
        </p:nvSpPr>
        <p:spPr>
          <a:xfrm>
            <a:off x="256032" y="329184"/>
            <a:ext cx="11496751" cy="438912"/>
          </a:xfrm>
          <a:prstGeom prst="rect">
            <a:avLst/>
          </a:prstGeom>
          <a:noFill/>
        </p:spPr>
        <p:txBody>
          <a:bodyPr wrap="square" anchor="t"/>
          <a:lstStyle/>
          <a:p>
            <a:pPr algn="l">
              <a:spcBef>
                <a:spcPts val="0"/>
              </a:spcBef>
              <a:spcAft>
                <a:spcPts val="0"/>
              </a:spcAft>
            </a:pPr>
            <a:r>
              <a:rPr sz="2400" b="1">
                <a:solidFill>
                  <a:srgbClr val="0B1F33"/>
                </a:solidFill>
                <a:latin typeface="Georgia"/>
              </a:rPr>
              <a:t>Sources &amp; References</a:t>
            </a:r>
          </a:p>
        </p:txBody>
      </p:sp>
      <p:sp>
        <p:nvSpPr>
          <p:cNvPr id="5" name="TextBox 4"/>
          <p:cNvSpPr txBox="1"/>
          <p:nvPr/>
        </p:nvSpPr>
        <p:spPr>
          <a:xfrm>
            <a:off x="11295583" y="6537960"/>
            <a:ext cx="640080" cy="228600"/>
          </a:xfrm>
          <a:prstGeom prst="rect">
            <a:avLst/>
          </a:prstGeom>
          <a:noFill/>
        </p:spPr>
        <p:txBody>
          <a:bodyPr wrap="square" anchor="ctr"/>
          <a:lstStyle/>
          <a:p>
            <a:pPr algn="r">
              <a:spcBef>
                <a:spcPts val="0"/>
              </a:spcBef>
              <a:spcAft>
                <a:spcPts val="0"/>
              </a:spcAft>
            </a:pPr>
            <a:r>
              <a:rPr sz="900" b="0">
                <a:solidFill>
                  <a:srgbClr val="6B7C8F"/>
                </a:solidFill>
                <a:latin typeface="Calibri"/>
              </a:rPr>
              <a:t>21</a:t>
            </a:r>
          </a:p>
        </p:txBody>
      </p:sp>
      <p:sp>
        <p:nvSpPr>
          <p:cNvPr id="6" name="Rectangle 5"/>
          <p:cNvSpPr/>
          <p:nvPr/>
        </p:nvSpPr>
        <p:spPr>
          <a:xfrm>
            <a:off x="256032" y="6565392"/>
            <a:ext cx="11679631" cy="12700"/>
          </a:xfrm>
          <a:prstGeom prst="rect">
            <a:avLst/>
          </a:prstGeom>
          <a:solidFill>
            <a:srgbClr val="C5D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6601968"/>
            <a:ext cx="4572000" cy="201168"/>
          </a:xfrm>
          <a:prstGeom prst="rect">
            <a:avLst/>
          </a:prstGeom>
          <a:noFill/>
        </p:spPr>
        <p:txBody>
          <a:bodyPr wrap="square" anchor="t"/>
          <a:lstStyle/>
          <a:p>
            <a:pPr algn="l">
              <a:spcBef>
                <a:spcPts val="0"/>
              </a:spcBef>
              <a:spcAft>
                <a:spcPts val="0"/>
              </a:spcAft>
            </a:pPr>
            <a:r>
              <a:rPr sz="850" b="0">
                <a:solidFill>
                  <a:srgbClr val="6B7C8F"/>
                </a:solidFill>
                <a:latin typeface="Calibri"/>
              </a:rPr>
              <a:t>Samuel Space  |  Confidential</a:t>
            </a:r>
          </a:p>
        </p:txBody>
      </p:sp>
      <p:sp>
        <p:nvSpPr>
          <p:cNvPr id="8" name="Rectangle 7"/>
          <p:cNvSpPr/>
          <p:nvPr/>
        </p:nvSpPr>
        <p:spPr>
          <a:xfrm>
            <a:off x="256032" y="1078992"/>
            <a:ext cx="5748375" cy="35204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1078992"/>
            <a:ext cx="73152" cy="352044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243584"/>
            <a:ext cx="5382615" cy="320040"/>
          </a:xfrm>
          <a:prstGeom prst="rect">
            <a:avLst/>
          </a:prstGeom>
          <a:noFill/>
        </p:spPr>
        <p:txBody>
          <a:bodyPr wrap="square" anchor="t"/>
          <a:lstStyle/>
          <a:p>
            <a:pPr algn="l">
              <a:spcBef>
                <a:spcPts val="0"/>
              </a:spcBef>
              <a:spcAft>
                <a:spcPts val="0"/>
              </a:spcAft>
            </a:pPr>
            <a:r>
              <a:rPr sz="1300" b="1">
                <a:solidFill>
                  <a:srgbClr val="0B1F33"/>
                </a:solidFill>
                <a:latin typeface="Georgia"/>
              </a:rPr>
              <a:t>Bioprinting Science &amp; Technology</a:t>
            </a:r>
          </a:p>
        </p:txBody>
      </p:sp>
      <p:sp>
        <p:nvSpPr>
          <p:cNvPr id="11" name="TextBox 10"/>
          <p:cNvSpPr txBox="1"/>
          <p:nvPr/>
        </p:nvSpPr>
        <p:spPr>
          <a:xfrm>
            <a:off x="484632" y="1627631"/>
            <a:ext cx="5336895" cy="2834640"/>
          </a:xfrm>
          <a:prstGeom prst="rect">
            <a:avLst/>
          </a:prstGeom>
          <a:noFill/>
        </p:spPr>
        <p:txBody>
          <a:bodyPr wrap="square">
            <a:spAutoFit/>
          </a:bodyPr>
          <a:lstStyle/>
          <a:p>
            <a:pPr algn="l">
              <a:spcBef>
                <a:spcPts val="0"/>
              </a:spcBef>
              <a:spcAft>
                <a:spcPts val="0"/>
              </a:spcAft>
            </a:pPr>
            <a:r>
              <a:rPr sz="1050" b="0">
                <a:solidFill>
                  <a:srgbClr val="3A4A5C"/>
                </a:solidFill>
                <a:latin typeface="Calibri"/>
              </a:rPr>
              <a:t>–  NASA — "3D Bioprinting" research overview, iss-research program page</a:t>
            </a:r>
          </a:p>
          <a:p>
            <a:pPr algn="l">
              <a:spcBef>
                <a:spcPts val="500"/>
              </a:spcBef>
              <a:spcAft>
                <a:spcPts val="0"/>
              </a:spcAft>
            </a:pPr>
            <a:r>
              <a:rPr sz="1050" b="0">
                <a:solidFill>
                  <a:srgbClr val="3A4A5C"/>
                </a:solidFill>
                <a:latin typeface="Calibri"/>
              </a:rPr>
              <a:t>–  NASA — BioFabrication Facility mission page, Redwire Corporation</a:t>
            </a:r>
          </a:p>
          <a:p>
            <a:pPr algn="l">
              <a:spcBef>
                <a:spcPts val="500"/>
              </a:spcBef>
              <a:spcAft>
                <a:spcPts val="0"/>
              </a:spcAft>
            </a:pPr>
            <a:r>
              <a:rPr sz="1050" b="0">
                <a:solidFill>
                  <a:srgbClr val="3A4A5C"/>
                </a:solidFill>
                <a:latin typeface="Calibri"/>
              </a:rPr>
              <a:t>–  Redwire Corporation — Newsroom: BFF-Meniscus first human knee meniscus printed in orbit, Sept 2023</a:t>
            </a:r>
          </a:p>
          <a:p>
            <a:pPr algn="l">
              <a:spcBef>
                <a:spcPts val="500"/>
              </a:spcBef>
              <a:spcAft>
                <a:spcPts val="0"/>
              </a:spcAft>
            </a:pPr>
            <a:r>
              <a:rPr sz="1050" b="0">
                <a:solidFill>
                  <a:srgbClr val="3A4A5C"/>
                </a:solidFill>
                <a:latin typeface="Calibri"/>
              </a:rPr>
              <a:t>–  Redwire Corporation — BFF-Cardiac investigation announcements and ISS return coverage, 2024</a:t>
            </a:r>
          </a:p>
          <a:p>
            <a:pPr algn="l">
              <a:spcBef>
                <a:spcPts val="500"/>
              </a:spcBef>
              <a:spcAft>
                <a:spcPts val="0"/>
              </a:spcAft>
            </a:pPr>
            <a:r>
              <a:rPr sz="1050" b="0">
                <a:solidFill>
                  <a:srgbClr val="3A4A5C"/>
                </a:solidFill>
                <a:latin typeface="Calibri"/>
              </a:rPr>
              <a:t>–  Redwire Corporation — NASA IDIQ contract award coverage, Sept 2025</a:t>
            </a:r>
          </a:p>
          <a:p>
            <a:pPr algn="l">
              <a:spcBef>
                <a:spcPts val="500"/>
              </a:spcBef>
              <a:spcAft>
                <a:spcPts val="0"/>
              </a:spcAft>
            </a:pPr>
            <a:r>
              <a:rPr sz="1050" b="0">
                <a:solidFill>
                  <a:srgbClr val="3A4A5C"/>
                </a:solidFill>
                <a:latin typeface="Calibri"/>
              </a:rPr>
              <a:t>–  ESA / DLR — Bioprint FirstAid investigation overview, Cosmic Kiss mission materials</a:t>
            </a:r>
          </a:p>
          <a:p>
            <a:pPr algn="l">
              <a:spcBef>
                <a:spcPts val="500"/>
              </a:spcBef>
              <a:spcAft>
                <a:spcPts val="0"/>
              </a:spcAft>
            </a:pPr>
            <a:r>
              <a:rPr sz="1050" b="0">
                <a:solidFill>
                  <a:srgbClr val="3A4A5C"/>
                </a:solidFill>
                <a:latin typeface="Calibri"/>
              </a:rPr>
              <a:t>–  LambdaVision Inc. — Press releases: Space Tango partnership, NASA InSPA Phase 2 award, seed financing, 2025–2026</a:t>
            </a:r>
          </a:p>
        </p:txBody>
      </p:sp>
      <p:sp>
        <p:nvSpPr>
          <p:cNvPr id="12" name="Rectangle 11"/>
          <p:cNvSpPr/>
          <p:nvPr/>
        </p:nvSpPr>
        <p:spPr>
          <a:xfrm>
            <a:off x="6187287" y="1078992"/>
            <a:ext cx="5748375" cy="3520440"/>
          </a:xfrm>
          <a:prstGeom prst="rect">
            <a:avLst/>
          </a:prstGeom>
          <a:solidFill>
            <a:srgbClr val="FFFFFF"/>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1078992"/>
            <a:ext cx="73152" cy="3520440"/>
          </a:xfrm>
          <a:prstGeom prst="rect">
            <a:avLst/>
          </a:prstGeom>
          <a:solidFill>
            <a:srgbClr val="0A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5887" y="1243584"/>
            <a:ext cx="5382615" cy="320040"/>
          </a:xfrm>
          <a:prstGeom prst="rect">
            <a:avLst/>
          </a:prstGeom>
          <a:noFill/>
        </p:spPr>
        <p:txBody>
          <a:bodyPr wrap="square" anchor="t"/>
          <a:lstStyle/>
          <a:p>
            <a:pPr algn="l">
              <a:spcBef>
                <a:spcPts val="0"/>
              </a:spcBef>
              <a:spcAft>
                <a:spcPts val="0"/>
              </a:spcAft>
            </a:pPr>
            <a:r>
              <a:rPr sz="1300" b="1">
                <a:solidFill>
                  <a:srgbClr val="0B1F33"/>
                </a:solidFill>
                <a:latin typeface="Georgia"/>
              </a:rPr>
              <a:t>Market, Regulatory &amp; Industry Data</a:t>
            </a:r>
          </a:p>
        </p:txBody>
      </p:sp>
      <p:sp>
        <p:nvSpPr>
          <p:cNvPr id="15" name="TextBox 14"/>
          <p:cNvSpPr txBox="1"/>
          <p:nvPr/>
        </p:nvSpPr>
        <p:spPr>
          <a:xfrm>
            <a:off x="6415887" y="1627631"/>
            <a:ext cx="5336895" cy="2834640"/>
          </a:xfrm>
          <a:prstGeom prst="rect">
            <a:avLst/>
          </a:prstGeom>
          <a:noFill/>
        </p:spPr>
        <p:txBody>
          <a:bodyPr wrap="square">
            <a:spAutoFit/>
          </a:bodyPr>
          <a:lstStyle/>
          <a:p>
            <a:pPr algn="l">
              <a:spcBef>
                <a:spcPts val="0"/>
              </a:spcBef>
              <a:spcAft>
                <a:spcPts val="0"/>
              </a:spcAft>
            </a:pPr>
            <a:r>
              <a:rPr sz="1050" b="0">
                <a:solidFill>
                  <a:srgbClr val="3A4A5C"/>
                </a:solidFill>
                <a:latin typeface="Calibri"/>
              </a:rPr>
              <a:t>–  ROSCOSMOS — 3D MBP / Organ.Aut magnetic bioprinter mission summaries, 2018–2020</a:t>
            </a:r>
          </a:p>
          <a:p>
            <a:pPr algn="l">
              <a:spcBef>
                <a:spcPts val="500"/>
              </a:spcBef>
              <a:spcAft>
                <a:spcPts val="0"/>
              </a:spcAft>
            </a:pPr>
            <a:r>
              <a:rPr sz="1050" b="0">
                <a:solidFill>
                  <a:srgbClr val="3A4A5C"/>
                </a:solidFill>
                <a:latin typeface="Calibri"/>
              </a:rPr>
              <a:t>–  American Heart Association — 2025 Heart Disease &amp; Stroke Statistics Update</a:t>
            </a:r>
          </a:p>
          <a:p>
            <a:pPr algn="l">
              <a:spcBef>
                <a:spcPts val="500"/>
              </a:spcBef>
              <a:spcAft>
                <a:spcPts val="0"/>
              </a:spcAft>
            </a:pPr>
            <a:r>
              <a:rPr sz="1050" b="0">
                <a:solidFill>
                  <a:srgbClr val="3A4A5C"/>
                </a:solidFill>
                <a:latin typeface="Calibri"/>
              </a:rPr>
              <a:t>–  OPTN / organdonor.gov (HRSA) — U.S. transplant waiting list data, 2025</a:t>
            </a:r>
          </a:p>
          <a:p>
            <a:pPr algn="l">
              <a:spcBef>
                <a:spcPts val="500"/>
              </a:spcBef>
              <a:spcAft>
                <a:spcPts val="0"/>
              </a:spcAft>
            </a:pPr>
            <a:r>
              <a:rPr sz="1050" b="0">
                <a:solidFill>
                  <a:srgbClr val="3A4A5C"/>
                </a:solidFill>
                <a:latin typeface="Calibri"/>
              </a:rPr>
              <a:t>–  World Health Organization — Global Observatory on Donation and Transplantation</a:t>
            </a:r>
          </a:p>
          <a:p>
            <a:pPr algn="l">
              <a:spcBef>
                <a:spcPts val="500"/>
              </a:spcBef>
              <a:spcAft>
                <a:spcPts val="0"/>
              </a:spcAft>
            </a:pPr>
            <a:r>
              <a:rPr sz="1050" b="0">
                <a:solidFill>
                  <a:srgbClr val="3A4A5C"/>
                </a:solidFill>
                <a:latin typeface="Calibri"/>
              </a:rPr>
              <a:t>–  Mordor Intelligence — 3D Bioprinting Market Report, updated January 2026</a:t>
            </a:r>
          </a:p>
          <a:p>
            <a:pPr algn="l">
              <a:spcBef>
                <a:spcPts val="500"/>
              </a:spcBef>
              <a:spcAft>
                <a:spcPts val="0"/>
              </a:spcAft>
            </a:pPr>
            <a:r>
              <a:rPr sz="1050" b="0">
                <a:solidFill>
                  <a:srgbClr val="3A4A5C"/>
                </a:solidFill>
                <a:latin typeface="Calibri"/>
              </a:rPr>
              <a:t>–  U.S. FDA — Symvess (acellular tissue-engineered vessel) clearance announcement, Dec 2024</a:t>
            </a:r>
          </a:p>
          <a:p>
            <a:pPr algn="l">
              <a:spcBef>
                <a:spcPts val="500"/>
              </a:spcBef>
              <a:spcAft>
                <a:spcPts val="0"/>
              </a:spcAft>
            </a:pPr>
            <a:r>
              <a:rPr sz="1050" b="0">
                <a:solidFill>
                  <a:srgbClr val="3A4A5C"/>
                </a:solidFill>
                <a:latin typeface="Calibri"/>
              </a:rPr>
              <a:t>–  NASA Commercial LEO Destinations (CLD) program — Starlab, Axiom, Orbital Reef, Vast program pages</a:t>
            </a:r>
          </a:p>
        </p:txBody>
      </p:sp>
      <p:sp>
        <p:nvSpPr>
          <p:cNvPr id="16" name="Rectangle 15"/>
          <p:cNvSpPr/>
          <p:nvPr/>
        </p:nvSpPr>
        <p:spPr>
          <a:xfrm>
            <a:off x="256032" y="4736592"/>
            <a:ext cx="11679631" cy="1325880"/>
          </a:xfrm>
          <a:prstGeom prst="rect">
            <a:avLst/>
          </a:prstGeom>
          <a:solidFill>
            <a:srgbClr val="EEF3F8"/>
          </a:solidFill>
          <a:ln w="12700">
            <a:solidFill>
              <a:srgbClr val="D0DA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4873752"/>
            <a:ext cx="11222431" cy="274320"/>
          </a:xfrm>
          <a:prstGeom prst="rect">
            <a:avLst/>
          </a:prstGeom>
          <a:noFill/>
        </p:spPr>
        <p:txBody>
          <a:bodyPr wrap="square" anchor="t"/>
          <a:lstStyle/>
          <a:p>
            <a:pPr algn="l">
              <a:spcBef>
                <a:spcPts val="0"/>
              </a:spcBef>
              <a:spcAft>
                <a:spcPts val="0"/>
              </a:spcAft>
            </a:pPr>
            <a:r>
              <a:rPr sz="1200" b="1">
                <a:solidFill>
                  <a:srgbClr val="0B1F33"/>
                </a:solidFill>
                <a:latin typeface="Georgia"/>
              </a:rPr>
              <a:t>A Note on Methodology</a:t>
            </a:r>
          </a:p>
        </p:txBody>
      </p:sp>
      <p:sp>
        <p:nvSpPr>
          <p:cNvPr id="18" name="TextBox 17"/>
          <p:cNvSpPr txBox="1"/>
          <p:nvPr/>
        </p:nvSpPr>
        <p:spPr>
          <a:xfrm>
            <a:off x="530352" y="5193792"/>
            <a:ext cx="11222431" cy="640080"/>
          </a:xfrm>
          <a:prstGeom prst="rect">
            <a:avLst/>
          </a:prstGeom>
          <a:noFill/>
        </p:spPr>
        <p:txBody>
          <a:bodyPr wrap="square" anchor="t"/>
          <a:lstStyle/>
          <a:p>
            <a:pPr algn="l">
              <a:spcBef>
                <a:spcPts val="0"/>
              </a:spcBef>
              <a:spcAft>
                <a:spcPts val="0"/>
              </a:spcAft>
            </a:pPr>
            <a:r>
              <a:rPr sz="1100" b="0">
                <a:solidFill>
                  <a:srgbClr val="3A4A5C"/>
                </a:solidFill>
                <a:latin typeface="Calibri"/>
              </a:rPr>
              <a:t>All third-party scientific milestones, dates, and figures in this presentation are drawn from the public sources listed above and were current as of the citation date shown. Samuel Space Organ and Tissue Engineering is an independent platform company; references to NASA, Redwire, LambdaVision, ROSCOSMOS, and ESA/DLR describe industry validation of the underlying science,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