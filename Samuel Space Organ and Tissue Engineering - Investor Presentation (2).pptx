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 (%)</c:v>
                </c:pt>
              </c:strCache>
            </c:strRef>
          </c:tx>
          <c:spPr>
            <a:solidFill>
              <a:srgbClr val="13B8A9"/>
            </a:solidFill>
            <a:ln>
              <a:solidFill>
                <a:srgbClr val="13B8A9"/>
              </a:solidFill>
            </a:ln>
          </c:spPr>
          <c:cat>
            <c:strRef>
              <c:f>Sheet1!$A$2:$A$7</c:f>
              <c:strCache>
                <c:ptCount val="6"/>
                <c:pt idx="0">
                  <c:v>Kidney</c:v>
                </c:pt>
                <c:pt idx="1">
                  <c:v>Liver</c:v>
                </c:pt>
                <c:pt idx="2">
                  <c:v>Heart</c:v>
                </c:pt>
                <c:pt idx="3">
                  <c:v>Lung</c:v>
                </c:pt>
                <c:pt idx="4">
                  <c:v>Pancreas</c:v>
                </c:pt>
                <c:pt idx="5">
                  <c:v>Other</c:v>
                </c:pt>
              </c:strCache>
            </c:strRef>
          </c:cat>
          <c:val>
            <c:numRef>
              <c:f>Sheet1!$B$2:$B$7</c:f>
              <c:numCache>
                <c:formatCode>General</c:formatCode>
                <c:ptCount val="6"/>
                <c:pt idx="0">
                  <c:v>87.0</c:v>
                </c:pt>
                <c:pt idx="1">
                  <c:v>9.0</c:v>
                </c:pt>
                <c:pt idx="2">
                  <c:v>2.0</c:v>
                </c:pt>
                <c:pt idx="3">
                  <c:v>1.0</c:v>
                </c:pt>
                <c:pt idx="4">
                  <c:v>0.5</c:v>
                </c:pt>
                <c:pt idx="5">
                  <c:v>0.5</c:v>
                </c:pt>
              </c:numCache>
            </c:numRef>
          </c:val>
        </c:ser>
        <c:dLbls>
          <c:numFmt formatCode="0.0" sourceLinked="0"/>
          <c:txPr>
            <a:bodyPr/>
            <a:lstStyle/>
            <a:p>
              <a:pPr>
                <a:defRPr sz="900">
                  <a:solidFill>
                    <a:srgbClr val="24314A"/>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txPr>
          <a:bodyPr/>
          <a:lstStyle/>
          <a:p>
            <a:pPr>
              <a:defRPr sz="900">
                <a:solidFill>
                  <a:srgbClr val="24314A"/>
                </a:solidFill>
              </a:defRPr>
            </a:pPr>
          </a:p>
        </c:txPr>
        <c:crossAx val="-2113994440"/>
        <c:crosses val="autoZero"/>
        <c:auto val="1"/>
        <c:lblAlgn val="ctr"/>
        <c:lblOffset val="100"/>
        <c:noMultiLvlLbl val="0"/>
      </c:catAx>
      <c:valAx>
        <c:axId val="-2113994440"/>
        <c:scaling>
          <c:max val="100.0"/>
          <c:min val="0.0"/>
        </c:scaling>
        <c:delete val="0"/>
        <c:axPos val="b"/>
        <c:majorGridlines>
          <c:spPr>
            <a:ln>
              <a:solidFill>
                <a:srgbClr val="DCE4EE"/>
              </a:solidFill>
            </a:ln>
          </c:spPr>
        </c:majorGridlines>
        <c:majorTickMark val="out"/>
        <c:minorTickMark val="none"/>
        <c:tickLblPos val="nextTo"/>
        <c:txPr>
          <a:bodyPr/>
          <a:lstStyle/>
          <a:p>
            <a:pPr>
              <a:defRPr sz="900">
                <a:solidFill>
                  <a:srgbClr val="606D82"/>
                </a:solidFill>
              </a:defRPr>
            </a:pPr>
          </a:p>
        </c:txPr>
        <c:crossAx val="-2068027336"/>
        <c:crosses val="autoZero"/>
        <c:majorUnit val="2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Market ($B)</c:v>
                </c:pt>
              </c:strCache>
            </c:strRef>
          </c:tx>
          <c:spPr>
            <a:solidFill>
              <a:srgbClr val="111F3D"/>
            </a:solidFill>
            <a:ln>
              <a:solidFill>
                <a:srgbClr val="111F3D"/>
              </a:solidFill>
            </a:ln>
          </c:spPr>
          <c:cat>
            <c:strRef>
              <c:f>Sheet1!$A$2:$A$9</c:f>
              <c:strCache>
                <c:ptCount val="8"/>
                <c:pt idx="0">
                  <c:v>2023</c:v>
                </c:pt>
                <c:pt idx="1">
                  <c:v>2024</c:v>
                </c:pt>
                <c:pt idx="2">
                  <c:v>2025E</c:v>
                </c:pt>
                <c:pt idx="3">
                  <c:v>2026E</c:v>
                </c:pt>
                <c:pt idx="4">
                  <c:v>2027E</c:v>
                </c:pt>
                <c:pt idx="5">
                  <c:v>2028E</c:v>
                </c:pt>
                <c:pt idx="6">
                  <c:v>2029E</c:v>
                </c:pt>
                <c:pt idx="7">
                  <c:v>2030E</c:v>
                </c:pt>
              </c:strCache>
            </c:strRef>
          </c:cat>
          <c:val>
            <c:numRef>
              <c:f>Sheet1!$B$2:$B$9</c:f>
              <c:numCache>
                <c:formatCode>General</c:formatCode>
                <c:ptCount val="8"/>
                <c:pt idx="0">
                  <c:v>1.28</c:v>
                </c:pt>
                <c:pt idx="1">
                  <c:v>1.46</c:v>
                </c:pt>
                <c:pt idx="2">
                  <c:v>1.7</c:v>
                </c:pt>
                <c:pt idx="3">
                  <c:v>1.97</c:v>
                </c:pt>
                <c:pt idx="4">
                  <c:v>2.28</c:v>
                </c:pt>
                <c:pt idx="5">
                  <c:v>2.64</c:v>
                </c:pt>
                <c:pt idx="6">
                  <c:v>3.06</c:v>
                </c:pt>
                <c:pt idx="7">
                  <c:v>3.49</c:v>
                </c:pt>
              </c:numCache>
            </c:numRef>
          </c:val>
        </c:ser>
        <c:dLbls>
          <c:numFmt formatCode="0.00&quot;" sourceLinked="0"/>
          <c:txPr>
            <a:bodyPr/>
            <a:lstStyle/>
            <a:p>
              <a:pPr>
                <a:defRPr sz="850">
                  <a:solidFill>
                    <a:srgbClr val="24314A"/>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txPr>
          <a:bodyPr/>
          <a:lstStyle/>
          <a:p>
            <a:pPr>
              <a:defRPr sz="900">
                <a:solidFill>
                  <a:srgbClr val="24314A"/>
                </a:solidFill>
              </a:defRPr>
            </a:pPr>
          </a:p>
        </c:txPr>
        <c:crossAx val="-2113994440"/>
        <c:crosses val="autoZero"/>
        <c:auto val="1"/>
        <c:lblAlgn val="ctr"/>
        <c:lblOffset val="100"/>
        <c:noMultiLvlLbl val="0"/>
      </c:catAx>
      <c:valAx>
        <c:axId val="-2113994440"/>
        <c:scaling>
          <c:max val="4.0"/>
          <c:min val="0.0"/>
        </c:scaling>
        <c:delete val="0"/>
        <c:axPos val="l"/>
        <c:majorGridlines>
          <c:spPr>
            <a:ln>
              <a:solidFill>
                <a:srgbClr val="DCE4EE"/>
              </a:solidFill>
            </a:ln>
          </c:spPr>
        </c:majorGridlines>
        <c:majorTickMark val="out"/>
        <c:minorTickMark val="none"/>
        <c:tickLblPos val="nextTo"/>
        <c:txPr>
          <a:bodyPr/>
          <a:lstStyle/>
          <a:p>
            <a:pPr>
              <a:defRPr sz="900">
                <a:solidFill>
                  <a:srgbClr val="606D82"/>
                </a:solidFill>
              </a:defRPr>
            </a:pPr>
          </a:p>
        </c:txPr>
        <c:crossAx val="-2068027336"/>
        <c:crosses val="autoZero"/>
        <c:majorUnit val="0.5"/>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Contract Services ($M)</c:v>
                </c:pt>
              </c:strCache>
            </c:strRef>
          </c:tx>
          <c:spPr>
            <a:solidFill>
              <a:srgbClr val="13B8A9"/>
            </a:solidFill>
            <a:ln>
              <a:solidFill>
                <a:srgbClr val="13B8A9"/>
              </a:solidFill>
            </a:ln>
          </c:spPr>
          <c:cat>
            <c:strRef>
              <c:f>Sheet1!$A$2:$A$6</c:f>
              <c:strCache>
                <c:ptCount val="5"/>
                <c:pt idx="0">
                  <c:v>Yr 1</c:v>
                </c:pt>
                <c:pt idx="1">
                  <c:v>Yr 2</c:v>
                </c:pt>
                <c:pt idx="2">
                  <c:v>Yr 3</c:v>
                </c:pt>
                <c:pt idx="3">
                  <c:v>Yr 4</c:v>
                </c:pt>
                <c:pt idx="4">
                  <c:v>Yr 5</c:v>
                </c:pt>
              </c:strCache>
            </c:strRef>
          </c:cat>
          <c:val>
            <c:numRef>
              <c:f>Sheet1!$B$2:$B$6</c:f>
              <c:numCache>
                <c:formatCode>General</c:formatCode>
                <c:ptCount val="5"/>
                <c:pt idx="0">
                  <c:v>0.5</c:v>
                </c:pt>
                <c:pt idx="1">
                  <c:v>1.2</c:v>
                </c:pt>
                <c:pt idx="2">
                  <c:v>3.0</c:v>
                </c:pt>
                <c:pt idx="3">
                  <c:v>7.0</c:v>
                </c:pt>
                <c:pt idx="4">
                  <c:v>14.0</c:v>
                </c:pt>
              </c:numCache>
            </c:numRef>
          </c:val>
        </c:ser>
        <c:ser>
          <c:idx val="1"/>
          <c:order val="1"/>
          <c:tx>
            <c:strRef>
              <c:f>Sheet1!$C$1</c:f>
              <c:strCache>
                <c:ptCount val="1"/>
                <c:pt idx="0">
                  <c:v>Grant Revenue ($M)</c:v>
                </c:pt>
              </c:strCache>
            </c:strRef>
          </c:tx>
          <c:spPr>
            <a:solidFill>
              <a:srgbClr val="111F3D"/>
            </a:solidFill>
            <a:ln>
              <a:solidFill>
                <a:srgbClr val="111F3D"/>
              </a:solidFill>
            </a:ln>
          </c:spPr>
          <c:cat>
            <c:strRef>
              <c:f>Sheet1!$A$2:$A$6</c:f>
              <c:strCache>
                <c:ptCount val="5"/>
                <c:pt idx="0">
                  <c:v>Yr 1</c:v>
                </c:pt>
                <c:pt idx="1">
                  <c:v>Yr 2</c:v>
                </c:pt>
                <c:pt idx="2">
                  <c:v>Yr 3</c:v>
                </c:pt>
                <c:pt idx="3">
                  <c:v>Yr 4</c:v>
                </c:pt>
                <c:pt idx="4">
                  <c:v>Yr 5</c:v>
                </c:pt>
              </c:strCache>
            </c:strRef>
          </c:cat>
          <c:val>
            <c:numRef>
              <c:f>Sheet1!$C$2:$C$6</c:f>
              <c:numCache>
                <c:formatCode>General</c:formatCode>
                <c:ptCount val="5"/>
                <c:pt idx="0">
                  <c:v>0.3</c:v>
                </c:pt>
                <c:pt idx="1">
                  <c:v>1.0</c:v>
                </c:pt>
                <c:pt idx="2">
                  <c:v>1.5</c:v>
                </c:pt>
                <c:pt idx="3">
                  <c:v>2.0</c:v>
                </c:pt>
                <c:pt idx="4">
                  <c:v>2.5</c:v>
                </c:pt>
              </c:numCache>
            </c:numRef>
          </c:val>
        </c:ser>
        <c:ser>
          <c:idx val="2"/>
          <c:order val="2"/>
          <c:tx>
            <c:strRef>
              <c:f>Sheet1!$D$1</c:f>
              <c:strCache>
                <c:ptCount val="1"/>
                <c:pt idx="0">
                  <c:v>IP Licensing ($M)</c:v>
                </c:pt>
              </c:strCache>
            </c:strRef>
          </c:tx>
          <c:spPr>
            <a:solidFill>
              <a:srgbClr val="5E86FF"/>
            </a:solidFill>
            <a:ln>
              <a:solidFill>
                <a:srgbClr val="5E86FF"/>
              </a:solidFill>
            </a:ln>
          </c:spPr>
          <c:cat>
            <c:strRef>
              <c:f>Sheet1!$A$2:$A$6</c:f>
              <c:strCache>
                <c:ptCount val="5"/>
                <c:pt idx="0">
                  <c:v>Yr 1</c:v>
                </c:pt>
                <c:pt idx="1">
                  <c:v>Yr 2</c:v>
                </c:pt>
                <c:pt idx="2">
                  <c:v>Yr 3</c:v>
                </c:pt>
                <c:pt idx="3">
                  <c:v>Yr 4</c:v>
                </c:pt>
                <c:pt idx="4">
                  <c:v>Yr 5</c:v>
                </c:pt>
              </c:strCache>
            </c:strRef>
          </c:cat>
          <c:val>
            <c:numRef>
              <c:f>Sheet1!$D$2:$D$6</c:f>
              <c:numCache>
                <c:formatCode>General</c:formatCode>
                <c:ptCount val="5"/>
                <c:pt idx="0">
                  <c:v>0.0</c:v>
                </c:pt>
                <c:pt idx="1">
                  <c:v>0.2</c:v>
                </c:pt>
                <c:pt idx="2">
                  <c:v>1.6</c:v>
                </c:pt>
                <c:pt idx="3">
                  <c:v>4.5</c:v>
                </c:pt>
                <c:pt idx="4">
                  <c:v>7.7</c:v>
                </c:pt>
              </c:numCache>
            </c:numRef>
          </c:val>
        </c:ser>
        <c:gapWidth val="55"/>
        <c:overlap val="100"/>
        <c:axId val="-2068027336"/>
        <c:axId val="-2113994440"/>
      </c:barChart>
      <c:catAx>
        <c:axId val="-2068027336"/>
        <c:scaling>
          <c:orientation val="minMax"/>
        </c:scaling>
        <c:delete val="0"/>
        <c:axPos val="b"/>
        <c:majorTickMark val="out"/>
        <c:minorTickMark val="none"/>
        <c:tickLblPos val="nextTo"/>
        <c:txPr>
          <a:bodyPr/>
          <a:lstStyle/>
          <a:p>
            <a:pPr>
              <a:defRPr sz="900">
                <a:solidFill>
                  <a:srgbClr val="24314A"/>
                </a:solidFill>
              </a:defRPr>
            </a:pPr>
          </a:p>
        </c:txPr>
        <c:crossAx val="-2113994440"/>
        <c:crosses val="autoZero"/>
        <c:auto val="1"/>
        <c:lblAlgn val="ctr"/>
        <c:lblOffset val="100"/>
        <c:noMultiLvlLbl val="0"/>
      </c:catAx>
      <c:valAx>
        <c:axId val="-2113994440"/>
        <c:scaling>
          <c:max val="26.0"/>
          <c:min val="0.0"/>
        </c:scaling>
        <c:delete val="0"/>
        <c:axPos val="l"/>
        <c:majorGridlines>
          <c:spPr>
            <a:ln>
              <a:solidFill>
                <a:srgbClr val="DCE4EE"/>
              </a:solidFill>
            </a:ln>
          </c:spPr>
        </c:majorGridlines>
        <c:majorTickMark val="out"/>
        <c:minorTickMark val="none"/>
        <c:tickLblPos val="nextTo"/>
        <c:txPr>
          <a:bodyPr/>
          <a:lstStyle/>
          <a:p>
            <a:pPr>
              <a:defRPr sz="900">
                <a:solidFill>
                  <a:srgbClr val="606D82"/>
                </a:solidFill>
              </a:defRPr>
            </a:pPr>
          </a:p>
        </c:txPr>
        <c:crossAx val="-2068027336"/>
        <c:crosses val="autoZero"/>
        <c:majorUnit val="5.0"/>
      </c:valAx>
    </c:plotArea>
    <c:legend>
      <c:legendPos val="t"/>
      <c:overlay val="0"/>
      <c:txPr>
        <a:bodyPr/>
        <a:lstStyle/>
        <a:p>
          <a:pPr>
            <a:defRPr sz="900">
              <a:solidFill>
                <a:srgbClr val="24314A"/>
              </a:solidFill>
              <a:latin typeface="Aptos"/>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Use of Funds</c:v>
                </c:pt>
              </c:strCache>
            </c:strRef>
          </c:tx>
          <c:dPt>
            <c:idx val="0"/>
            <c:spPr>
              <a:solidFill>
                <a:srgbClr val="13B8A9"/>
              </a:solidFill>
              <a:ln>
                <a:solidFill>
                  <a:srgbClr val="FFFFFF"/>
                </a:solidFill>
              </a:ln>
            </c:spPr>
          </c:dPt>
          <c:dPt>
            <c:idx val="1"/>
            <c:spPr>
              <a:solidFill>
                <a:srgbClr val="111F3D"/>
              </a:solidFill>
              <a:ln>
                <a:solidFill>
                  <a:srgbClr val="FFFFFF"/>
                </a:solidFill>
              </a:ln>
            </c:spPr>
          </c:dPt>
          <c:dPt>
            <c:idx val="2"/>
            <c:spPr>
              <a:solidFill>
                <a:srgbClr val="5E86FF"/>
              </a:solidFill>
              <a:ln>
                <a:solidFill>
                  <a:srgbClr val="FFFFFF"/>
                </a:solidFill>
              </a:ln>
            </c:spPr>
          </c:dPt>
          <c:dPt>
            <c:idx val="3"/>
            <c:spPr>
              <a:solidFill>
                <a:srgbClr val="9DBFFF"/>
              </a:solidFill>
              <a:ln>
                <a:solidFill>
                  <a:srgbClr val="FFFFFF"/>
                </a:solidFill>
              </a:ln>
            </c:spPr>
          </c:dPt>
          <c:dPt>
            <c:idx val="4"/>
            <c:spPr>
              <a:solidFill>
                <a:srgbClr val="E9EFF8"/>
              </a:solidFill>
              <a:ln>
                <a:solidFill>
                  <a:srgbClr val="FFFFFF"/>
                </a:solidFill>
              </a:ln>
            </c:spPr>
          </c:dPt>
          <c:cat>
            <c:strRef>
              <c:f>Sheet1!$A$2:$A$6</c:f>
              <c:strCache>
                <c:ptCount val="5"/>
                <c:pt idx="0">
                  <c:v>R&amp;D / Payload Dev</c:v>
                </c:pt>
                <c:pt idx="1">
                  <c:v>Flight &amp; Integration</c:v>
                </c:pt>
                <c:pt idx="2">
                  <c:v>Regulatory &amp; Clinical</c:v>
                </c:pt>
                <c:pt idx="3">
                  <c:v>Team Build-Out</c:v>
                </c:pt>
                <c:pt idx="4">
                  <c:v>G&amp;A</c:v>
                </c:pt>
              </c:strCache>
            </c:strRef>
          </c:cat>
          <c:val>
            <c:numRef>
              <c:f>Sheet1!$B$2:$B$6</c:f>
              <c:numCache>
                <c:formatCode>General</c:formatCode>
                <c:ptCount val="5"/>
                <c:pt idx="0">
                  <c:v>40.0</c:v>
                </c:pt>
                <c:pt idx="1">
                  <c:v>25.0</c:v>
                </c:pt>
                <c:pt idx="2">
                  <c:v>15.0</c:v>
                </c:pt>
                <c:pt idx="3">
                  <c:v>15.0</c:v>
                </c:pt>
                <c:pt idx="4">
                  <c:v>5.0</c:v>
                </c:pt>
              </c:numCache>
            </c:numRef>
          </c:val>
        </c:ser>
        <c:dLbls>
          <c:numFmt formatCode="0&quot;%&quot;" sourceLinked="0"/>
          <c:txPr>
            <a:bodyPr/>
            <a:lstStyle/>
            <a:p>
              <a:pPr>
                <a:defRPr sz="900">
                  <a:solidFill>
                    <a:srgbClr val="FFFFFF"/>
                  </a:solidFill>
                </a:defRPr>
              </a:pPr>
            </a:p>
          </c:txPr>
          <c:dLblPos val="ctr"/>
          <c:showLegendKey val="0"/>
          <c:showVal val="0"/>
          <c:showCatName val="0"/>
          <c:showSerName val="0"/>
          <c:showPercent val="0"/>
          <c:showBubbleSize val="0"/>
          <c:showLeaderLines val="1"/>
        </c:dLbls>
        <c:firstSliceAng val="0"/>
        <c:holeSize val="50"/>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863840" y="0"/>
            <a:ext cx="4327855" cy="6858000"/>
          </a:xfrm>
          <a:prstGeom prst="rect">
            <a:avLst/>
          </a:prstGeom>
          <a:solidFill>
            <a:srgbClr val="EC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png"/>
          <p:cNvPicPr>
            <a:picLocks noChangeAspect="1"/>
          </p:cNvPicPr>
          <p:nvPr/>
        </p:nvPicPr>
        <p:blipFill>
          <a:blip r:embed="rId2"/>
          <a:stretch>
            <a:fillRect/>
          </a:stretch>
        </p:blipFill>
        <p:spPr>
          <a:xfrm>
            <a:off x="8028431" y="0"/>
            <a:ext cx="4572000" cy="6858000"/>
          </a:xfrm>
          <a:prstGeom prst="rect">
            <a:avLst/>
          </a:prstGeom>
        </p:spPr>
      </p:pic>
      <p:sp>
        <p:nvSpPr>
          <p:cNvPr id="4" name="Rectangle 3"/>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384048"/>
            <a:ext cx="2560320" cy="219456"/>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CONFIDENTIAL INVESTOR PRESENTATION</a:t>
            </a:r>
          </a:p>
        </p:txBody>
      </p:sp>
      <p:sp>
        <p:nvSpPr>
          <p:cNvPr id="6" name="TextBox 5"/>
          <p:cNvSpPr txBox="1"/>
          <p:nvPr/>
        </p:nvSpPr>
        <p:spPr>
          <a:xfrm>
            <a:off x="713232" y="1078992"/>
            <a:ext cx="6309360" cy="1737360"/>
          </a:xfrm>
          <a:prstGeom prst="rect">
            <a:avLst/>
          </a:prstGeom>
          <a:noFill/>
        </p:spPr>
        <p:txBody>
          <a:bodyPr wrap="square" lIns="36576" rIns="36576" tIns="36576" bIns="36576" anchor="t">
            <a:noAutofit/>
          </a:bodyPr>
          <a:lstStyle/>
          <a:p>
            <a:pPr algn="l">
              <a:spcBef>
                <a:spcPts val="0"/>
              </a:spcBef>
              <a:spcAft>
                <a:spcPts val="0"/>
              </a:spcAft>
            </a:pPr>
            <a:r>
              <a:rPr sz="2800" b="1">
                <a:solidFill>
                  <a:srgbClr val="111F3D"/>
                </a:solidFill>
                <a:latin typeface="Aptos Display"/>
              </a:rPr>
              <a:t>Samuel Space</a:t>
            </a:r>
          </a:p>
          <a:p>
            <a:pPr algn="l">
              <a:spcBef>
                <a:spcPts val="0"/>
              </a:spcBef>
              <a:spcAft>
                <a:spcPts val="0"/>
              </a:spcAft>
            </a:pPr>
            <a:r>
              <a:rPr sz="2800" b="1">
                <a:solidFill>
                  <a:srgbClr val="111F3D"/>
                </a:solidFill>
                <a:latin typeface="Aptos Display"/>
              </a:rPr>
              <a:t>Organ and Tissue</a:t>
            </a:r>
          </a:p>
          <a:p>
            <a:pPr algn="l">
              <a:spcBef>
                <a:spcPts val="0"/>
              </a:spcBef>
              <a:spcAft>
                <a:spcPts val="0"/>
              </a:spcAft>
            </a:pPr>
            <a:r>
              <a:rPr sz="2800" b="1">
                <a:solidFill>
                  <a:srgbClr val="111F3D"/>
                </a:solidFill>
                <a:latin typeface="Aptos Display"/>
              </a:rPr>
              <a:t>Engineering</a:t>
            </a:r>
          </a:p>
        </p:txBody>
      </p:sp>
      <p:sp>
        <p:nvSpPr>
          <p:cNvPr id="7" name="TextBox 6"/>
          <p:cNvSpPr txBox="1"/>
          <p:nvPr/>
        </p:nvSpPr>
        <p:spPr>
          <a:xfrm>
            <a:off x="713232" y="3054096"/>
            <a:ext cx="5943600" cy="640080"/>
          </a:xfrm>
          <a:prstGeom prst="rect">
            <a:avLst/>
          </a:prstGeom>
          <a:noFill/>
        </p:spPr>
        <p:txBody>
          <a:bodyPr wrap="square" lIns="36576" rIns="36576" tIns="36576" bIns="36576" anchor="t">
            <a:noAutofit/>
          </a:bodyPr>
          <a:lstStyle/>
          <a:p>
            <a:pPr algn="l">
              <a:spcBef>
                <a:spcPts val="0"/>
              </a:spcBef>
              <a:spcAft>
                <a:spcPts val="0"/>
              </a:spcAft>
            </a:pPr>
            <a:r>
              <a:rPr sz="1550" b="0">
                <a:solidFill>
                  <a:srgbClr val="24314A"/>
                </a:solidFill>
                <a:latin typeface="Aptos"/>
              </a:rPr>
              <a:t>Manufacturing the next generation of human tissue - in orbit.</a:t>
            </a:r>
          </a:p>
        </p:txBody>
      </p:sp>
      <p:sp>
        <p:nvSpPr>
          <p:cNvPr id="8" name="Rounded Rectangle 7"/>
          <p:cNvSpPr/>
          <p:nvPr/>
        </p:nvSpPr>
        <p:spPr>
          <a:xfrm>
            <a:off x="713232" y="5230368"/>
            <a:ext cx="2907792" cy="56692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5394960"/>
            <a:ext cx="2606040" cy="182880"/>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Series A Financing  -  June 2026</a:t>
            </a:r>
          </a:p>
        </p:txBody>
      </p:sp>
      <p:sp>
        <p:nvSpPr>
          <p:cNvPr id="10" name="TextBox 9"/>
          <p:cNvSpPr txBox="1"/>
          <p:nvPr/>
        </p:nvSpPr>
        <p:spPr>
          <a:xfrm>
            <a:off x="713232" y="6144768"/>
            <a:ext cx="5029200" cy="146304"/>
          </a:xfrm>
          <a:prstGeom prst="rect">
            <a:avLst/>
          </a:prstGeom>
          <a:noFill/>
        </p:spPr>
        <p:txBody>
          <a:bodyPr wrap="square" lIns="36576" rIns="36576" tIns="36576" bIns="36576" anchor="t">
            <a:noAutofit/>
          </a:bodyPr>
          <a:lstStyle/>
          <a:p>
            <a:pPr algn="l">
              <a:spcBef>
                <a:spcPts val="0"/>
              </a:spcBef>
              <a:spcAft>
                <a:spcPts val="0"/>
              </a:spcAft>
            </a:pPr>
            <a:r>
              <a:rPr sz="950" b="0">
                <a:solidFill>
                  <a:srgbClr val="606D82"/>
                </a:solidFill>
                <a:latin typeface="Aptos"/>
              </a:rPr>
              <a:t>Science-led orbital biomanufacturing platform for tissue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NOTICE</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Confidential - Forward-Looking Statement</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2</a:t>
            </a:r>
          </a:p>
        </p:txBody>
      </p:sp>
      <p:sp>
        <p:nvSpPr>
          <p:cNvPr id="6" name="Rounded Rectangle 5"/>
          <p:cNvSpPr/>
          <p:nvPr/>
        </p:nvSpPr>
        <p:spPr>
          <a:xfrm>
            <a:off x="713232" y="1234440"/>
            <a:ext cx="10789920" cy="50749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36192"/>
            <a:ext cx="10287000" cy="4206240"/>
          </a:xfrm>
          <a:prstGeom prst="rect">
            <a:avLst/>
          </a:prstGeom>
          <a:noFill/>
        </p:spPr>
        <p:txBody>
          <a:bodyPr wrap="square" lIns="45720" rIns="45720" anchor="t">
            <a:noAutofit/>
          </a:bodyPr>
          <a:lstStyle/>
          <a:p>
            <a:pPr algn="l">
              <a:spcAft>
                <a:spcPts val="700"/>
              </a:spcAft>
            </a:pPr>
            <a:r>
              <a:rPr sz="1080" b="0">
                <a:solidFill>
                  <a:srgbClr val="24314A"/>
                </a:solidFill>
                <a:latin typeface="Aptos"/>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p>
          <a:p>
            <a:pPr algn="l">
              <a:spcAft>
                <a:spcPts val="700"/>
              </a:spcAft>
            </a:pPr>
            <a:r>
              <a:rPr sz="1080" b="0">
                <a:solidFill>
                  <a:srgbClr val="24314A"/>
                </a:solidFill>
                <a:latin typeface="Aptos"/>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p>
          <a:p>
            <a:pPr algn="l">
              <a:spcAft>
                <a:spcPts val="700"/>
              </a:spcAft>
            </a:pPr>
            <a:r>
              <a:rPr sz="1080" b="0">
                <a:solidFill>
                  <a:srgbClr val="24314A"/>
                </a:solidFill>
                <a:latin typeface="Aptos"/>
              </a:rPr>
              <a:t>Certain industry, market, and scientific data in this presentation has been compiled from third-party sources, including government agencies, peer-reviewed publications, and public company disclosures, as cited in the Appendix. The Company has not independently verified all such data and makes no representation as to its completeness or accuracy.</a:t>
            </a:r>
          </a:p>
        </p:txBody>
      </p:sp>
      <p:sp>
        <p:nvSpPr>
          <p:cNvPr id="8" name="Rounded Rectangle 7"/>
          <p:cNvSpPr/>
          <p:nvPr/>
        </p:nvSpPr>
        <p:spPr>
          <a:xfrm>
            <a:off x="960120" y="5650992"/>
            <a:ext cx="2468880" cy="329184"/>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5669279"/>
            <a:ext cx="2432304" cy="292608"/>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Investor discussion material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EXECUTIVE SUMMARY</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Translating Proven Orbital Science Into a Commercial Tissue Platform</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3</a:t>
            </a:r>
          </a:p>
        </p:txBody>
      </p:sp>
      <p:sp>
        <p:nvSpPr>
          <p:cNvPr id="6" name="Rounded Rectangle 5"/>
          <p:cNvSpPr/>
          <p:nvPr/>
        </p:nvSpPr>
        <p:spPr>
          <a:xfrm>
            <a:off x="713232" y="1261872"/>
            <a:ext cx="2633472" cy="12344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389888"/>
            <a:ext cx="2304288" cy="438912"/>
          </a:xfrm>
          <a:prstGeom prst="rect">
            <a:avLst/>
          </a:prstGeom>
          <a:noFill/>
        </p:spPr>
        <p:txBody>
          <a:bodyPr wrap="square" lIns="36576" rIns="36576" tIns="36576" bIns="36576" anchor="t">
            <a:noAutofit/>
          </a:bodyPr>
          <a:lstStyle/>
          <a:p>
            <a:pPr algn="l">
              <a:spcBef>
                <a:spcPts val="0"/>
              </a:spcBef>
              <a:spcAft>
                <a:spcPts val="0"/>
              </a:spcAft>
            </a:pPr>
            <a:r>
              <a:rPr sz="2400" b="1">
                <a:solidFill>
                  <a:srgbClr val="111F3D"/>
                </a:solidFill>
                <a:latin typeface="Aptos"/>
              </a:rPr>
              <a:t>103,223</a:t>
            </a:r>
          </a:p>
        </p:txBody>
      </p:sp>
      <p:sp>
        <p:nvSpPr>
          <p:cNvPr id="8" name="TextBox 7"/>
          <p:cNvSpPr txBox="1"/>
          <p:nvPr/>
        </p:nvSpPr>
        <p:spPr>
          <a:xfrm>
            <a:off x="877824" y="1883664"/>
            <a:ext cx="2304288" cy="484632"/>
          </a:xfrm>
          <a:prstGeom prst="rect">
            <a:avLst/>
          </a:prstGeom>
          <a:noFill/>
        </p:spPr>
        <p:txBody>
          <a:bodyPr wrap="square" lIns="36576" rIns="36576" tIns="36576" bIns="36576" anchor="t">
            <a:noAutofit/>
          </a:bodyPr>
          <a:lstStyle/>
          <a:p>
            <a:pPr algn="l">
              <a:spcBef>
                <a:spcPts val="0"/>
              </a:spcBef>
              <a:spcAft>
                <a:spcPts val="0"/>
              </a:spcAft>
            </a:pPr>
            <a:r>
              <a:rPr sz="1019" b="0">
                <a:solidFill>
                  <a:srgbClr val="606D82"/>
                </a:solidFill>
                <a:latin typeface="Aptos"/>
              </a:rPr>
              <a:t>People on the U.S. transplant waitlist today (OPTN, 2025)</a:t>
            </a:r>
          </a:p>
        </p:txBody>
      </p:sp>
      <p:sp>
        <p:nvSpPr>
          <p:cNvPr id="9" name="Rounded Rectangle 8"/>
          <p:cNvSpPr/>
          <p:nvPr/>
        </p:nvSpPr>
        <p:spPr>
          <a:xfrm>
            <a:off x="3474720" y="1261872"/>
            <a:ext cx="2633472" cy="12344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1389888"/>
            <a:ext cx="2304288" cy="438912"/>
          </a:xfrm>
          <a:prstGeom prst="rect">
            <a:avLst/>
          </a:prstGeom>
          <a:noFill/>
        </p:spPr>
        <p:txBody>
          <a:bodyPr wrap="square" lIns="36576" rIns="36576" tIns="36576" bIns="36576" anchor="t">
            <a:noAutofit/>
          </a:bodyPr>
          <a:lstStyle/>
          <a:p>
            <a:pPr algn="l">
              <a:spcBef>
                <a:spcPts val="0"/>
              </a:spcBef>
              <a:spcAft>
                <a:spcPts val="0"/>
              </a:spcAft>
            </a:pPr>
            <a:r>
              <a:rPr sz="2400" b="1">
                <a:solidFill>
                  <a:srgbClr val="111F3D"/>
                </a:solidFill>
                <a:latin typeface="Aptos"/>
              </a:rPr>
              <a:t>13 / day</a:t>
            </a:r>
          </a:p>
        </p:txBody>
      </p:sp>
      <p:sp>
        <p:nvSpPr>
          <p:cNvPr id="11" name="TextBox 10"/>
          <p:cNvSpPr txBox="1"/>
          <p:nvPr/>
        </p:nvSpPr>
        <p:spPr>
          <a:xfrm>
            <a:off x="3639312" y="1883664"/>
            <a:ext cx="2304288" cy="484632"/>
          </a:xfrm>
          <a:prstGeom prst="rect">
            <a:avLst/>
          </a:prstGeom>
          <a:noFill/>
        </p:spPr>
        <p:txBody>
          <a:bodyPr wrap="square" lIns="36576" rIns="36576" tIns="36576" bIns="36576" anchor="t">
            <a:noAutofit/>
          </a:bodyPr>
          <a:lstStyle/>
          <a:p>
            <a:pPr algn="l">
              <a:spcBef>
                <a:spcPts val="0"/>
              </a:spcBef>
              <a:spcAft>
                <a:spcPts val="0"/>
              </a:spcAft>
            </a:pPr>
            <a:r>
              <a:rPr sz="1019" b="0">
                <a:solidFill>
                  <a:srgbClr val="606D82"/>
                </a:solidFill>
                <a:latin typeface="Aptos"/>
              </a:rPr>
              <a:t>Americans die waiting for a donor organ</a:t>
            </a:r>
          </a:p>
        </p:txBody>
      </p:sp>
      <p:sp>
        <p:nvSpPr>
          <p:cNvPr id="12" name="Rounded Rectangle 11"/>
          <p:cNvSpPr/>
          <p:nvPr/>
        </p:nvSpPr>
        <p:spPr>
          <a:xfrm>
            <a:off x="6236208" y="1261872"/>
            <a:ext cx="2633472" cy="12344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389888"/>
            <a:ext cx="2304288" cy="438912"/>
          </a:xfrm>
          <a:prstGeom prst="rect">
            <a:avLst/>
          </a:prstGeom>
          <a:noFill/>
        </p:spPr>
        <p:txBody>
          <a:bodyPr wrap="square" lIns="36576" rIns="36576" tIns="36576" bIns="36576" anchor="t">
            <a:noAutofit/>
          </a:bodyPr>
          <a:lstStyle/>
          <a:p>
            <a:pPr algn="l">
              <a:spcBef>
                <a:spcPts val="0"/>
              </a:spcBef>
              <a:spcAft>
                <a:spcPts val="0"/>
              </a:spcAft>
            </a:pPr>
            <a:r>
              <a:rPr sz="2400" b="1">
                <a:solidFill>
                  <a:srgbClr val="111F3D"/>
                </a:solidFill>
                <a:latin typeface="Aptos"/>
              </a:rPr>
              <a:t>$1.7B to $3.5B+</a:t>
            </a:r>
          </a:p>
        </p:txBody>
      </p:sp>
      <p:sp>
        <p:nvSpPr>
          <p:cNvPr id="14" name="TextBox 13"/>
          <p:cNvSpPr txBox="1"/>
          <p:nvPr/>
        </p:nvSpPr>
        <p:spPr>
          <a:xfrm>
            <a:off x="6400800" y="1883664"/>
            <a:ext cx="2304288" cy="484632"/>
          </a:xfrm>
          <a:prstGeom prst="rect">
            <a:avLst/>
          </a:prstGeom>
          <a:noFill/>
        </p:spPr>
        <p:txBody>
          <a:bodyPr wrap="square" lIns="36576" rIns="36576" tIns="36576" bIns="36576" anchor="t">
            <a:noAutofit/>
          </a:bodyPr>
          <a:lstStyle/>
          <a:p>
            <a:pPr algn="l">
              <a:spcBef>
                <a:spcPts val="0"/>
              </a:spcBef>
              <a:spcAft>
                <a:spcPts val="0"/>
              </a:spcAft>
            </a:pPr>
            <a:r>
              <a:rPr sz="1019" b="0">
                <a:solidFill>
                  <a:srgbClr val="606D82"/>
                </a:solidFill>
                <a:latin typeface="Aptos"/>
              </a:rPr>
              <a:t>Global bioprinting market from 2025 to 2030 (~16% CAGR)</a:t>
            </a:r>
          </a:p>
        </p:txBody>
      </p:sp>
      <p:sp>
        <p:nvSpPr>
          <p:cNvPr id="15" name="Rounded Rectangle 14"/>
          <p:cNvSpPr/>
          <p:nvPr/>
        </p:nvSpPr>
        <p:spPr>
          <a:xfrm>
            <a:off x="8997696" y="1261872"/>
            <a:ext cx="2633472" cy="12344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62288" y="1389888"/>
            <a:ext cx="2304288" cy="438912"/>
          </a:xfrm>
          <a:prstGeom prst="rect">
            <a:avLst/>
          </a:prstGeom>
          <a:noFill/>
        </p:spPr>
        <p:txBody>
          <a:bodyPr wrap="square" lIns="36576" rIns="36576" tIns="36576" bIns="36576" anchor="t">
            <a:noAutofit/>
          </a:bodyPr>
          <a:lstStyle/>
          <a:p>
            <a:pPr algn="l">
              <a:spcBef>
                <a:spcPts val="0"/>
              </a:spcBef>
              <a:spcAft>
                <a:spcPts val="0"/>
              </a:spcAft>
            </a:pPr>
            <a:r>
              <a:rPr sz="2400" b="1">
                <a:solidFill>
                  <a:srgbClr val="111F3D"/>
                </a:solidFill>
                <a:latin typeface="Aptos"/>
              </a:rPr>
              <a:t>8 years</a:t>
            </a:r>
          </a:p>
        </p:txBody>
      </p:sp>
      <p:sp>
        <p:nvSpPr>
          <p:cNvPr id="17" name="TextBox 16"/>
          <p:cNvSpPr txBox="1"/>
          <p:nvPr/>
        </p:nvSpPr>
        <p:spPr>
          <a:xfrm>
            <a:off x="9162288" y="1883664"/>
            <a:ext cx="2304288" cy="484632"/>
          </a:xfrm>
          <a:prstGeom prst="rect">
            <a:avLst/>
          </a:prstGeom>
          <a:noFill/>
        </p:spPr>
        <p:txBody>
          <a:bodyPr wrap="square" lIns="36576" rIns="36576" tIns="36576" bIns="36576" anchor="t">
            <a:noAutofit/>
          </a:bodyPr>
          <a:lstStyle/>
          <a:p>
            <a:pPr algn="l">
              <a:spcBef>
                <a:spcPts val="0"/>
              </a:spcBef>
              <a:spcAft>
                <a:spcPts val="0"/>
              </a:spcAft>
            </a:pPr>
            <a:r>
              <a:rPr sz="1019" b="0">
                <a:solidFill>
                  <a:srgbClr val="606D82"/>
                </a:solidFill>
                <a:latin typeface="Aptos"/>
              </a:rPr>
              <a:t>Continuous in-orbit bioprinting validation</a:t>
            </a:r>
          </a:p>
        </p:txBody>
      </p:sp>
      <p:sp>
        <p:nvSpPr>
          <p:cNvPr id="18" name="Rounded Rectangle 17"/>
          <p:cNvSpPr/>
          <p:nvPr/>
        </p:nvSpPr>
        <p:spPr>
          <a:xfrm>
            <a:off x="713232" y="2761488"/>
            <a:ext cx="4910328" cy="15087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2907792"/>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The Problem</a:t>
            </a:r>
          </a:p>
        </p:txBody>
      </p:sp>
      <p:sp>
        <p:nvSpPr>
          <p:cNvPr id="20" name="TextBox 19"/>
          <p:cNvSpPr txBox="1"/>
          <p:nvPr/>
        </p:nvSpPr>
        <p:spPr>
          <a:xfrm>
            <a:off x="877824" y="3200400"/>
            <a:ext cx="4581144" cy="8869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Organ and tissue shortages persist globally. Earth-based bioprinting hits a physical ceiling: gravity causes tissues to collapse without a temporary scaffold, limiting achievable geometry.</a:t>
            </a:r>
          </a:p>
        </p:txBody>
      </p:sp>
      <p:sp>
        <p:nvSpPr>
          <p:cNvPr id="21" name="Rounded Rectangle 20"/>
          <p:cNvSpPr/>
          <p:nvPr/>
        </p:nvSpPr>
        <p:spPr>
          <a:xfrm>
            <a:off x="5650992" y="2761488"/>
            <a:ext cx="4910328" cy="15087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2907792"/>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The Unlock</a:t>
            </a:r>
          </a:p>
        </p:txBody>
      </p:sp>
      <p:sp>
        <p:nvSpPr>
          <p:cNvPr id="23" name="TextBox 22"/>
          <p:cNvSpPr txBox="1"/>
          <p:nvPr/>
        </p:nvSpPr>
        <p:spPr>
          <a:xfrm>
            <a:off x="5815583" y="3200400"/>
            <a:ext cx="4581144" cy="8869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Microgravity eliminates scaffold dependency. NASA, Redwire, ESA, LambdaVision and ROSCOSMOS have validated the science aboard the ISS continuously since 2018.</a:t>
            </a:r>
          </a:p>
        </p:txBody>
      </p:sp>
      <p:sp>
        <p:nvSpPr>
          <p:cNvPr id="24" name="Rounded Rectangle 23"/>
          <p:cNvSpPr/>
          <p:nvPr/>
        </p:nvSpPr>
        <p:spPr>
          <a:xfrm>
            <a:off x="713232" y="4599432"/>
            <a:ext cx="4910328" cy="15087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4745736"/>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The Market</a:t>
            </a:r>
          </a:p>
        </p:txBody>
      </p:sp>
      <p:sp>
        <p:nvSpPr>
          <p:cNvPr id="26" name="TextBox 25"/>
          <p:cNvSpPr txBox="1"/>
          <p:nvPr/>
        </p:nvSpPr>
        <p:spPr>
          <a:xfrm>
            <a:off x="877824" y="5038344"/>
            <a:ext cx="4581144" cy="8869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 $1.7B market growing at ~16% CAGR, the first FDA-cleared tissue-engineered vascular graft (Symvess, Dec 2024), and four commercial stations entering service from 2026.</a:t>
            </a:r>
          </a:p>
        </p:txBody>
      </p:sp>
      <p:sp>
        <p:nvSpPr>
          <p:cNvPr id="27" name="Rounded Rectangle 26"/>
          <p:cNvSpPr/>
          <p:nvPr/>
        </p:nvSpPr>
        <p:spPr>
          <a:xfrm>
            <a:off x="5650992" y="4599432"/>
            <a:ext cx="4910328" cy="15087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15583" y="4745736"/>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The Ask</a:t>
            </a:r>
          </a:p>
        </p:txBody>
      </p:sp>
      <p:sp>
        <p:nvSpPr>
          <p:cNvPr id="29" name="TextBox 28"/>
          <p:cNvSpPr txBox="1"/>
          <p:nvPr/>
        </p:nvSpPr>
        <p:spPr>
          <a:xfrm>
            <a:off x="5815583" y="5038344"/>
            <a:ext cx="4581144" cy="8869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An $18M Series A to build Samuel's first flight-qualified payload platform, commercialise wound-care and orthopedic verticals, and file NASA InSPA Phase 1 grants.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PROBLEM</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A Global Organ &amp; Tissue Crisis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4</a:t>
            </a:r>
          </a:p>
        </p:txBody>
      </p:sp>
      <p:sp>
        <p:nvSpPr>
          <p:cNvPr id="6" name="Rounded Rectangle 5"/>
          <p:cNvSpPr/>
          <p:nvPr/>
        </p:nvSpPr>
        <p:spPr>
          <a:xfrm>
            <a:off x="713232" y="1243584"/>
            <a:ext cx="5486400" cy="42519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26464"/>
            <a:ext cx="4206240" cy="182880"/>
          </a:xfrm>
          <a:prstGeom prst="rect">
            <a:avLst/>
          </a:prstGeom>
          <a:noFill/>
        </p:spPr>
        <p:txBody>
          <a:bodyPr wrap="square" lIns="36576" rIns="36576" tIns="36576" bIns="36576" anchor="t">
            <a:noAutofit/>
          </a:bodyPr>
          <a:lstStyle/>
          <a:p>
            <a:pPr algn="l">
              <a:spcBef>
                <a:spcPts val="0"/>
              </a:spcBef>
              <a:spcAft>
                <a:spcPts val="0"/>
              </a:spcAft>
            </a:pPr>
            <a:r>
              <a:rPr sz="1150" b="1">
                <a:solidFill>
                  <a:srgbClr val="111F3D"/>
                </a:solidFill>
                <a:latin typeface="Aptos"/>
              </a:rPr>
              <a:t>U.S. Transplant Waiting List by Organ (2025)</a:t>
            </a:r>
          </a:p>
        </p:txBody>
      </p:sp>
      <p:graphicFrame>
        <p:nvGraphicFramePr>
          <p:cNvPr id="8" name="Chart 7"/>
          <p:cNvGraphicFramePr>
            <a:graphicFrameLocks noGrp="1"/>
          </p:cNvGraphicFramePr>
          <p:nvPr/>
        </p:nvGraphicFramePr>
        <p:xfrm>
          <a:off x="914400" y="1737360"/>
          <a:ext cx="5074920" cy="3246120"/>
        </p:xfrm>
        <a:graphic>
          <a:graphicData uri="http://schemas.openxmlformats.org/drawingml/2006/chart">
            <c:chart xmlns:c="http://schemas.openxmlformats.org/drawingml/2006/chart" r:id="rId2"/>
          </a:graphicData>
        </a:graphic>
      </p:graphicFrame>
      <p:sp>
        <p:nvSpPr>
          <p:cNvPr id="9" name="TextBox 8"/>
          <p:cNvSpPr txBox="1"/>
          <p:nvPr/>
        </p:nvSpPr>
        <p:spPr>
          <a:xfrm>
            <a:off x="914400" y="5084064"/>
            <a:ext cx="4937760" cy="164592"/>
          </a:xfrm>
          <a:prstGeom prst="rect">
            <a:avLst/>
          </a:prstGeom>
          <a:noFill/>
        </p:spPr>
        <p:txBody>
          <a:bodyPr wrap="square" lIns="36576" rIns="36576" tIns="36576" bIns="36576" anchor="t">
            <a:noAutofit/>
          </a:bodyPr>
          <a:lstStyle/>
          <a:p>
            <a:pPr algn="l">
              <a:spcBef>
                <a:spcPts val="0"/>
              </a:spcBef>
              <a:spcAft>
                <a:spcPts val="0"/>
              </a:spcAft>
            </a:pPr>
            <a:r>
              <a:rPr sz="850" b="0">
                <a:solidFill>
                  <a:srgbClr val="606D82"/>
                </a:solidFill>
                <a:latin typeface="Aptos"/>
              </a:rPr>
              <a:t>Source: OPTN / organdonor.gov, 2025</a:t>
            </a:r>
          </a:p>
        </p:txBody>
      </p:sp>
      <p:sp>
        <p:nvSpPr>
          <p:cNvPr id="10" name="Rounded Rectangle 9"/>
          <p:cNvSpPr/>
          <p:nvPr/>
        </p:nvSpPr>
        <p:spPr>
          <a:xfrm>
            <a:off x="6400800" y="1325880"/>
            <a:ext cx="507492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1472184"/>
            <a:ext cx="474573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941,652</a:t>
            </a:r>
          </a:p>
        </p:txBody>
      </p:sp>
      <p:sp>
        <p:nvSpPr>
          <p:cNvPr id="12" name="TextBox 11"/>
          <p:cNvSpPr txBox="1"/>
          <p:nvPr/>
        </p:nvSpPr>
        <p:spPr>
          <a:xfrm>
            <a:off x="6565392" y="1764792"/>
            <a:ext cx="474573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CVD deaths in the U.S. in 2022 - still the #1 cause of death, killing more people than all cancers combined</a:t>
            </a:r>
          </a:p>
        </p:txBody>
      </p:sp>
      <p:sp>
        <p:nvSpPr>
          <p:cNvPr id="13" name="Rounded Rectangle 12"/>
          <p:cNvSpPr/>
          <p:nvPr/>
        </p:nvSpPr>
        <p:spPr>
          <a:xfrm>
            <a:off x="6400800" y="2587752"/>
            <a:ext cx="507492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2734056"/>
            <a:ext cx="474573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~1 per 34 sec</a:t>
            </a:r>
          </a:p>
        </p:txBody>
      </p:sp>
      <p:sp>
        <p:nvSpPr>
          <p:cNvPr id="15" name="TextBox 14"/>
          <p:cNvSpPr txBox="1"/>
          <p:nvPr/>
        </p:nvSpPr>
        <p:spPr>
          <a:xfrm>
            <a:off x="6565392" y="3026664"/>
            <a:ext cx="474573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 cardiovascular death occurs in the U.S. on average every 34 seconds - roughly 2,500 per day</a:t>
            </a:r>
          </a:p>
        </p:txBody>
      </p:sp>
      <p:sp>
        <p:nvSpPr>
          <p:cNvPr id="16" name="Rounded Rectangle 15"/>
          <p:cNvSpPr/>
          <p:nvPr/>
        </p:nvSpPr>
        <p:spPr>
          <a:xfrm>
            <a:off x="6400800" y="3849624"/>
            <a:ext cx="507492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3995928"/>
            <a:ext cx="474573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10% met</a:t>
            </a:r>
          </a:p>
        </p:txBody>
      </p:sp>
      <p:sp>
        <p:nvSpPr>
          <p:cNvPr id="18" name="TextBox 17"/>
          <p:cNvSpPr txBox="1"/>
          <p:nvPr/>
        </p:nvSpPr>
        <p:spPr>
          <a:xfrm>
            <a:off x="6565392" y="4288536"/>
            <a:ext cx="474573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Of the estimated global transplant need. WHO reports ~130,000 transplants/yr vs. demand exceeding 1.3M</a:t>
            </a:r>
          </a:p>
        </p:txBody>
      </p:sp>
      <p:sp>
        <p:nvSpPr>
          <p:cNvPr id="19" name="TextBox 18"/>
          <p:cNvSpPr txBox="1"/>
          <p:nvPr/>
        </p:nvSpPr>
        <p:spPr>
          <a:xfrm>
            <a:off x="6473952" y="5120640"/>
            <a:ext cx="4846320" cy="146304"/>
          </a:xfrm>
          <a:prstGeom prst="rect">
            <a:avLst/>
          </a:prstGeom>
          <a:noFill/>
        </p:spPr>
        <p:txBody>
          <a:bodyPr wrap="square" lIns="36576" rIns="36576" tIns="36576" bIns="36576" anchor="t">
            <a:noAutofit/>
          </a:bodyPr>
          <a:lstStyle/>
          <a:p>
            <a:pPr algn="l">
              <a:spcBef>
                <a:spcPts val="0"/>
              </a:spcBef>
              <a:spcAft>
                <a:spcPts val="0"/>
              </a:spcAft>
            </a:pPr>
            <a:r>
              <a:rPr sz="810" b="0">
                <a:solidFill>
                  <a:srgbClr val="606D82"/>
                </a:solidFill>
                <a:latin typeface="Aptos"/>
              </a:rPr>
              <a:t>Source: AHA 2025 Heart Disease &amp; Stroke Statistics; WHO Global Observatory on Donation and Transplantation.</a:t>
            </a:r>
          </a:p>
        </p:txBody>
      </p:sp>
      <p:sp>
        <p:nvSpPr>
          <p:cNvPr id="20" name="Rounded Rectangle 19"/>
          <p:cNvSpPr/>
          <p:nvPr/>
        </p:nvSpPr>
        <p:spPr>
          <a:xfrm>
            <a:off x="713232" y="5650992"/>
            <a:ext cx="10762488" cy="65836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806440"/>
            <a:ext cx="10332720" cy="256032"/>
          </a:xfrm>
          <a:prstGeom prst="rect">
            <a:avLst/>
          </a:prstGeom>
          <a:noFill/>
        </p:spPr>
        <p:txBody>
          <a:bodyPr wrap="square" lIns="36576" rIns="36576" tIns="36576" bIns="36576" anchor="t">
            <a:noAutofit/>
          </a:bodyPr>
          <a:lstStyle/>
          <a:p>
            <a:pPr algn="l">
              <a:spcBef>
                <a:spcPts val="0"/>
              </a:spcBef>
              <a:spcAft>
                <a:spcPts val="0"/>
              </a:spcAft>
            </a:pPr>
            <a:r>
              <a:rPr sz="960" b="0">
                <a:solidFill>
                  <a:srgbClr val="24314A"/>
                </a:solidFill>
                <a:latin typeface="Aptos"/>
              </a:rPr>
              <a:t>Transplant recipients also face a lifetime of immunosuppressive therapy and rejection risk. Tissue printed from a patient's own cells eliminates cross-reactive rejection entirely - removing both the clinical burden and the ongoing drug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CORE CONSTRAINT</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Why Earth-Based Bioprinting Has a Hard Ceiling</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5</a:t>
            </a:r>
          </a:p>
        </p:txBody>
      </p:sp>
      <p:sp>
        <p:nvSpPr>
          <p:cNvPr id="6" name="Rounded Rectangle 5"/>
          <p:cNvSpPr/>
          <p:nvPr/>
        </p:nvSpPr>
        <p:spPr>
          <a:xfrm>
            <a:off x="713232" y="1207008"/>
            <a:ext cx="10762488" cy="6583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310896"/>
          </a:xfrm>
          <a:prstGeom prst="rect">
            <a:avLst/>
          </a:prstGeom>
          <a:noFill/>
        </p:spPr>
        <p:txBody>
          <a:bodyPr wrap="square" lIns="36576" rIns="36576" tIns="36576" bIns="36576" anchor="t">
            <a:noAutofit/>
          </a:bodyPr>
          <a:lstStyle/>
          <a:p>
            <a:pPr algn="l">
              <a:spcBef>
                <a:spcPts val="0"/>
              </a:spcBef>
              <a:spcAft>
                <a:spcPts val="0"/>
              </a:spcAft>
            </a:pPr>
            <a:r>
              <a:rPr sz="1019" b="0">
                <a:solidFill>
                  <a:srgbClr val="24314A"/>
                </a:solidFill>
                <a:latin typeface="Aptos"/>
              </a:rPr>
              <a:t>On Earth, gravity forces tissues to collapse under their own weight during printing. A scaffold must be built into every construct, adding complexity, introducing foreign material, and limiting achievable geometry. Microgravity removes this constraint entirely.</a:t>
            </a:r>
          </a:p>
        </p:txBody>
      </p:sp>
      <p:sp>
        <p:nvSpPr>
          <p:cNvPr id="8" name="Rounded Rectangle 7"/>
          <p:cNvSpPr/>
          <p:nvPr/>
        </p:nvSpPr>
        <p:spPr>
          <a:xfrm>
            <a:off x="713232" y="2039112"/>
            <a:ext cx="5212080" cy="40690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63640" y="2039112"/>
            <a:ext cx="5212080" cy="40690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231136"/>
            <a:ext cx="2377440" cy="201168"/>
          </a:xfrm>
          <a:prstGeom prst="rect">
            <a:avLst/>
          </a:prstGeom>
          <a:noFill/>
        </p:spPr>
        <p:txBody>
          <a:bodyPr wrap="square" lIns="36576" rIns="36576" tIns="36576" bIns="36576" anchor="t">
            <a:noAutofit/>
          </a:bodyPr>
          <a:lstStyle/>
          <a:p>
            <a:pPr algn="l">
              <a:spcBef>
                <a:spcPts val="0"/>
              </a:spcBef>
              <a:spcAft>
                <a:spcPts val="0"/>
              </a:spcAft>
            </a:pPr>
            <a:r>
              <a:rPr sz="1200" b="1">
                <a:solidFill>
                  <a:srgbClr val="111F3D"/>
                </a:solidFill>
                <a:latin typeface="Aptos"/>
              </a:rPr>
              <a:t>EARTH GRAVITY</a:t>
            </a:r>
          </a:p>
        </p:txBody>
      </p:sp>
      <p:sp>
        <p:nvSpPr>
          <p:cNvPr id="11" name="TextBox 10"/>
          <p:cNvSpPr txBox="1"/>
          <p:nvPr/>
        </p:nvSpPr>
        <p:spPr>
          <a:xfrm>
            <a:off x="6473952" y="2231136"/>
            <a:ext cx="3200400" cy="201168"/>
          </a:xfrm>
          <a:prstGeom prst="rect">
            <a:avLst/>
          </a:prstGeom>
          <a:noFill/>
        </p:spPr>
        <p:txBody>
          <a:bodyPr wrap="square" lIns="36576" rIns="36576" tIns="36576" bIns="36576" anchor="t">
            <a:noAutofit/>
          </a:bodyPr>
          <a:lstStyle/>
          <a:p>
            <a:pPr algn="l">
              <a:spcBef>
                <a:spcPts val="0"/>
              </a:spcBef>
              <a:spcAft>
                <a:spcPts val="0"/>
              </a:spcAft>
            </a:pPr>
            <a:r>
              <a:rPr sz="1200" b="1">
                <a:solidFill>
                  <a:srgbClr val="111F3D"/>
                </a:solidFill>
                <a:latin typeface="Aptos"/>
              </a:rPr>
              <a:t>MICROGRAVITY  -  ISS ORBIT</a:t>
            </a:r>
          </a:p>
        </p:txBody>
      </p:sp>
      <p:sp>
        <p:nvSpPr>
          <p:cNvPr id="12" name="Rounded Rectangle 11"/>
          <p:cNvSpPr/>
          <p:nvPr/>
        </p:nvSpPr>
        <p:spPr>
          <a:xfrm>
            <a:off x="914400" y="2578608"/>
            <a:ext cx="4809744" cy="1737360"/>
          </a:xfrm>
          <a:prstGeom prst="roundRect">
            <a:avLst/>
          </a:prstGeom>
          <a:solidFill>
            <a:srgbClr val="FAF3F3"/>
          </a:solidFill>
          <a:ln w="12700">
            <a:solidFill>
              <a:srgbClr val="FAF3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arth.png"/>
          <p:cNvPicPr>
            <a:picLocks noChangeAspect="1"/>
          </p:cNvPicPr>
          <p:nvPr/>
        </p:nvPicPr>
        <p:blipFill>
          <a:blip r:embed="rId2"/>
          <a:stretch>
            <a:fillRect/>
          </a:stretch>
        </p:blipFill>
        <p:spPr>
          <a:xfrm>
            <a:off x="1865376" y="2679192"/>
            <a:ext cx="1508760" cy="1508760"/>
          </a:xfrm>
          <a:prstGeom prst="rect">
            <a:avLst/>
          </a:prstGeom>
        </p:spPr>
      </p:pic>
      <p:sp>
        <p:nvSpPr>
          <p:cNvPr id="14" name="Rounded Rectangle 13"/>
          <p:cNvSpPr/>
          <p:nvPr/>
        </p:nvSpPr>
        <p:spPr>
          <a:xfrm>
            <a:off x="6473952" y="2578608"/>
            <a:ext cx="4809744" cy="173736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icrogravity.png"/>
          <p:cNvPicPr>
            <a:picLocks noChangeAspect="1"/>
          </p:cNvPicPr>
          <p:nvPr/>
        </p:nvPicPr>
        <p:blipFill>
          <a:blip r:embed="rId3"/>
          <a:stretch>
            <a:fillRect/>
          </a:stretch>
        </p:blipFill>
        <p:spPr>
          <a:xfrm>
            <a:off x="7424927" y="2651760"/>
            <a:ext cx="1517904" cy="1517904"/>
          </a:xfrm>
          <a:prstGeom prst="rect">
            <a:avLst/>
          </a:prstGeom>
        </p:spPr>
      </p:pic>
      <p:sp>
        <p:nvSpPr>
          <p:cNvPr id="16" name="TextBox 15"/>
          <p:cNvSpPr txBox="1"/>
          <p:nvPr/>
        </p:nvSpPr>
        <p:spPr>
          <a:xfrm>
            <a:off x="969264" y="4553712"/>
            <a:ext cx="4718304" cy="1225296"/>
          </a:xfrm>
          <a:prstGeom prst="rect">
            <a:avLst/>
          </a:prstGeom>
          <a:noFill/>
        </p:spPr>
        <p:txBody>
          <a:bodyPr wrap="square" lIns="45720" rIns="45720" anchor="t">
            <a:noAutofit/>
          </a:bodyPr>
          <a:lstStyle/>
          <a:p>
            <a:pPr algn="l">
              <a:spcAft>
                <a:spcPts val="200"/>
              </a:spcAft>
            </a:pPr>
            <a:r>
              <a:rPr sz="1000" b="0">
                <a:solidFill>
                  <a:srgbClr val="13B8A9"/>
                </a:solidFill>
                <a:latin typeface="Aptos"/>
              </a:rPr>
              <a:t>- Cells slump and fuse unevenly under gravitational load</a:t>
            </a:r>
          </a:p>
          <a:p>
            <a:pPr algn="l">
              <a:spcAft>
                <a:spcPts val="200"/>
              </a:spcAft>
            </a:pPr>
            <a:r>
              <a:rPr sz="1000" b="0">
                <a:solidFill>
                  <a:srgbClr val="13B8A9"/>
                </a:solidFill>
                <a:latin typeface="Aptos"/>
              </a:rPr>
              <a:t>- Scaffold material printed first, then must be dissolved</a:t>
            </a:r>
          </a:p>
          <a:p>
            <a:pPr algn="l">
              <a:spcAft>
                <a:spcPts val="200"/>
              </a:spcAft>
            </a:pPr>
            <a:r>
              <a:rPr sz="1000" b="0">
                <a:solidFill>
                  <a:srgbClr val="13B8A9"/>
                </a:solidFill>
                <a:latin typeface="Aptos"/>
              </a:rPr>
              <a:t>- Complex hollow structures (e.g. heart chambers) are extremely difficult</a:t>
            </a:r>
          </a:p>
        </p:txBody>
      </p:sp>
      <p:sp>
        <p:nvSpPr>
          <p:cNvPr id="17" name="TextBox 16"/>
          <p:cNvSpPr txBox="1"/>
          <p:nvPr/>
        </p:nvSpPr>
        <p:spPr>
          <a:xfrm>
            <a:off x="6528816" y="4553712"/>
            <a:ext cx="4681728" cy="1225296"/>
          </a:xfrm>
          <a:prstGeom prst="rect">
            <a:avLst/>
          </a:prstGeom>
          <a:noFill/>
        </p:spPr>
        <p:txBody>
          <a:bodyPr wrap="square" lIns="45720" rIns="45720" anchor="t">
            <a:noAutofit/>
          </a:bodyPr>
          <a:lstStyle/>
          <a:p>
            <a:pPr algn="l">
              <a:spcAft>
                <a:spcPts val="200"/>
              </a:spcAft>
            </a:pPr>
            <a:r>
              <a:rPr sz="1000" b="0">
                <a:solidFill>
                  <a:srgbClr val="13B8A9"/>
                </a:solidFill>
                <a:latin typeface="Aptos"/>
              </a:rPr>
              <a:t>- Tissue self-supports in true 3D - no scaffold required</a:t>
            </a:r>
          </a:p>
          <a:p>
            <a:pPr algn="l">
              <a:spcAft>
                <a:spcPts val="200"/>
              </a:spcAft>
            </a:pPr>
            <a:r>
              <a:rPr sz="1000" b="0">
                <a:solidFill>
                  <a:srgbClr val="13B8A9"/>
                </a:solidFill>
                <a:latin typeface="Aptos"/>
              </a:rPr>
              <a:t>- More uniform cell distribution and structural integrity</a:t>
            </a:r>
          </a:p>
          <a:p>
            <a:pPr algn="l">
              <a:spcAft>
                <a:spcPts val="200"/>
              </a:spcAft>
            </a:pPr>
            <a:r>
              <a:rPr sz="1000" b="0">
                <a:solidFill>
                  <a:srgbClr val="13B8A9"/>
                </a:solidFill>
                <a:latin typeface="Aptos"/>
              </a:rPr>
              <a:t>- Complex vascular and hollow geometries become achievable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TECHNOLOGY</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How Space-Based Bioprinting Works: Five-Step Process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6</a:t>
            </a:r>
          </a:p>
        </p:txBody>
      </p:sp>
      <p:sp>
        <p:nvSpPr>
          <p:cNvPr id="6" name="Rounded Rectangle 5"/>
          <p:cNvSpPr/>
          <p:nvPr/>
        </p:nvSpPr>
        <p:spPr>
          <a:xfrm>
            <a:off x="713232"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59536"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1</a:t>
            </a:r>
          </a:p>
        </p:txBody>
      </p:sp>
      <p:sp>
        <p:nvSpPr>
          <p:cNvPr id="9" name="TextBox 8"/>
          <p:cNvSpPr txBox="1"/>
          <p:nvPr/>
        </p:nvSpPr>
        <p:spPr>
          <a:xfrm>
            <a:off x="1280160"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Cell Harvest</a:t>
            </a:r>
          </a:p>
        </p:txBody>
      </p:sp>
      <p:sp>
        <p:nvSpPr>
          <p:cNvPr id="10" name="TextBox 9"/>
          <p:cNvSpPr txBox="1"/>
          <p:nvPr/>
        </p:nvSpPr>
        <p:spPr>
          <a:xfrm>
            <a:off x="859536"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Biopsy yields patient-specific cells, eliminating immunological rejection risk.</a:t>
            </a:r>
          </a:p>
        </p:txBody>
      </p:sp>
      <p:sp>
        <p:nvSpPr>
          <p:cNvPr id="11" name="Rounded Rectangle 10"/>
          <p:cNvSpPr/>
          <p:nvPr/>
        </p:nvSpPr>
        <p:spPr>
          <a:xfrm>
            <a:off x="2916936"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63240"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63240"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2</a:t>
            </a:r>
          </a:p>
        </p:txBody>
      </p:sp>
      <p:sp>
        <p:nvSpPr>
          <p:cNvPr id="14" name="TextBox 13"/>
          <p:cNvSpPr txBox="1"/>
          <p:nvPr/>
        </p:nvSpPr>
        <p:spPr>
          <a:xfrm>
            <a:off x="3483864"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Stem Cell Reprogramming</a:t>
            </a:r>
          </a:p>
        </p:txBody>
      </p:sp>
      <p:sp>
        <p:nvSpPr>
          <p:cNvPr id="15" name="TextBox 14"/>
          <p:cNvSpPr txBox="1"/>
          <p:nvPr/>
        </p:nvSpPr>
        <p:spPr>
          <a:xfrm>
            <a:off x="3063240"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Nobel-winning iPSC method converts adult cells to pluripotent stem cells.</a:t>
            </a:r>
          </a:p>
        </p:txBody>
      </p:sp>
      <p:sp>
        <p:nvSpPr>
          <p:cNvPr id="16" name="Rounded Rectangle 15"/>
          <p:cNvSpPr/>
          <p:nvPr/>
        </p:nvSpPr>
        <p:spPr>
          <a:xfrm>
            <a:off x="5120640"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66944"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66944"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3</a:t>
            </a:r>
          </a:p>
        </p:txBody>
      </p:sp>
      <p:sp>
        <p:nvSpPr>
          <p:cNvPr id="19" name="TextBox 18"/>
          <p:cNvSpPr txBox="1"/>
          <p:nvPr/>
        </p:nvSpPr>
        <p:spPr>
          <a:xfrm>
            <a:off x="5687568"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Bioink Formulation</a:t>
            </a:r>
          </a:p>
        </p:txBody>
      </p:sp>
      <p:sp>
        <p:nvSpPr>
          <p:cNvPr id="20" name="TextBox 19"/>
          <p:cNvSpPr txBox="1"/>
          <p:nvPr/>
        </p:nvSpPr>
        <p:spPr>
          <a:xfrm>
            <a:off x="5266944"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Cells are suspended in hydrogel optimised for viscosity and viability.</a:t>
            </a:r>
          </a:p>
        </p:txBody>
      </p:sp>
      <p:sp>
        <p:nvSpPr>
          <p:cNvPr id="21" name="Rounded Rectangle 20"/>
          <p:cNvSpPr/>
          <p:nvPr/>
        </p:nvSpPr>
        <p:spPr>
          <a:xfrm>
            <a:off x="7324344"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470648"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70648"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4</a:t>
            </a:r>
          </a:p>
        </p:txBody>
      </p:sp>
      <p:sp>
        <p:nvSpPr>
          <p:cNvPr id="24" name="TextBox 23"/>
          <p:cNvSpPr txBox="1"/>
          <p:nvPr/>
        </p:nvSpPr>
        <p:spPr>
          <a:xfrm>
            <a:off x="7891271"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In-Orbit Printing</a:t>
            </a:r>
          </a:p>
        </p:txBody>
      </p:sp>
      <p:sp>
        <p:nvSpPr>
          <p:cNvPr id="25" name="TextBox 24"/>
          <p:cNvSpPr txBox="1"/>
          <p:nvPr/>
        </p:nvSpPr>
        <p:spPr>
          <a:xfrm>
            <a:off x="7470648"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Layer-by-layer deposition in microgravity - no scaffold required.</a:t>
            </a:r>
          </a:p>
        </p:txBody>
      </p:sp>
      <p:sp>
        <p:nvSpPr>
          <p:cNvPr id="26" name="Rounded Rectangle 25"/>
          <p:cNvSpPr/>
          <p:nvPr/>
        </p:nvSpPr>
        <p:spPr>
          <a:xfrm>
            <a:off x="9528048" y="1225296"/>
            <a:ext cx="2084831" cy="15727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674352" y="1353312"/>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74352" y="1426464"/>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5</a:t>
            </a:r>
          </a:p>
        </p:txBody>
      </p:sp>
      <p:sp>
        <p:nvSpPr>
          <p:cNvPr id="29" name="TextBox 28"/>
          <p:cNvSpPr txBox="1"/>
          <p:nvPr/>
        </p:nvSpPr>
        <p:spPr>
          <a:xfrm>
            <a:off x="10094976" y="1344168"/>
            <a:ext cx="1353312" cy="310896"/>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Tissue Maturation</a:t>
            </a:r>
          </a:p>
        </p:txBody>
      </p:sp>
      <p:sp>
        <p:nvSpPr>
          <p:cNvPr id="30" name="TextBox 29"/>
          <p:cNvSpPr txBox="1"/>
          <p:nvPr/>
        </p:nvSpPr>
        <p:spPr>
          <a:xfrm>
            <a:off x="9674352" y="1700784"/>
            <a:ext cx="1783080" cy="731520"/>
          </a:xfrm>
          <a:prstGeom prst="rect">
            <a:avLst/>
          </a:prstGeom>
          <a:noFill/>
        </p:spPr>
        <p:txBody>
          <a:bodyPr wrap="square" lIns="36576" rIns="36576" tIns="36576" bIns="36576" anchor="t">
            <a:noAutofit/>
          </a:bodyPr>
          <a:lstStyle/>
          <a:p>
            <a:pPr algn="l">
              <a:spcBef>
                <a:spcPts val="0"/>
              </a:spcBef>
              <a:spcAft>
                <a:spcPts val="0"/>
              </a:spcAft>
            </a:pPr>
            <a:r>
              <a:rPr sz="930" b="0">
                <a:solidFill>
                  <a:srgbClr val="24314A"/>
                </a:solidFill>
                <a:latin typeface="Aptos"/>
              </a:rPr>
              <a:t>Bioreactor conditioning allows cells to differentiate into target tissue type.</a:t>
            </a:r>
          </a:p>
        </p:txBody>
      </p:sp>
      <p:sp>
        <p:nvSpPr>
          <p:cNvPr id="31" name="Rounded Rectangle 30"/>
          <p:cNvSpPr/>
          <p:nvPr/>
        </p:nvSpPr>
        <p:spPr>
          <a:xfrm>
            <a:off x="713232" y="3063240"/>
            <a:ext cx="5486400" cy="29718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246120"/>
            <a:ext cx="5029200" cy="164592"/>
          </a:xfrm>
          <a:prstGeom prst="rect">
            <a:avLst/>
          </a:prstGeom>
          <a:noFill/>
        </p:spPr>
        <p:txBody>
          <a:bodyPr wrap="square" lIns="36576" rIns="36576" tIns="36576" bIns="36576" anchor="t">
            <a:noAutofit/>
          </a:bodyPr>
          <a:lstStyle/>
          <a:p>
            <a:pPr algn="l">
              <a:spcBef>
                <a:spcPts val="0"/>
              </a:spcBef>
              <a:spcAft>
                <a:spcPts val="0"/>
              </a:spcAft>
            </a:pPr>
            <a:r>
              <a:rPr sz="960" b="1">
                <a:solidFill>
                  <a:srgbClr val="00847A"/>
                </a:solidFill>
                <a:latin typeface="Aptos"/>
              </a:rPr>
              <a:t>Schematic: layer-by-layer orbital bioprinting hardware</a:t>
            </a:r>
          </a:p>
        </p:txBody>
      </p:sp>
      <p:pic>
        <p:nvPicPr>
          <p:cNvPr id="33" name="Picture 32" descr="printer.png"/>
          <p:cNvPicPr>
            <a:picLocks noChangeAspect="1"/>
          </p:cNvPicPr>
          <p:nvPr/>
        </p:nvPicPr>
        <p:blipFill>
          <a:blip r:embed="rId2"/>
          <a:stretch>
            <a:fillRect/>
          </a:stretch>
        </p:blipFill>
        <p:spPr>
          <a:xfrm>
            <a:off x="914400" y="3474720"/>
            <a:ext cx="5074920" cy="3856939"/>
          </a:xfrm>
          <a:prstGeom prst="rect">
            <a:avLst/>
          </a:prstGeom>
        </p:spPr>
      </p:pic>
      <p:sp>
        <p:nvSpPr>
          <p:cNvPr id="34" name="Rounded Rectangle 33"/>
          <p:cNvSpPr/>
          <p:nvPr/>
        </p:nvSpPr>
        <p:spPr>
          <a:xfrm>
            <a:off x="6400800" y="3063240"/>
            <a:ext cx="5074920" cy="18288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246120"/>
            <a:ext cx="2011680" cy="164592"/>
          </a:xfrm>
          <a:prstGeom prst="rect">
            <a:avLst/>
          </a:prstGeom>
          <a:noFill/>
        </p:spPr>
        <p:txBody>
          <a:bodyPr wrap="square" lIns="36576" rIns="36576" tIns="36576" bIns="36576" anchor="t">
            <a:noAutofit/>
          </a:bodyPr>
          <a:lstStyle/>
          <a:p>
            <a:pPr algn="l">
              <a:spcBef>
                <a:spcPts val="0"/>
              </a:spcBef>
              <a:spcAft>
                <a:spcPts val="0"/>
              </a:spcAft>
            </a:pPr>
            <a:r>
              <a:rPr sz="1200" b="1">
                <a:solidFill>
                  <a:srgbClr val="111F3D"/>
                </a:solidFill>
                <a:latin typeface="Aptos"/>
              </a:rPr>
              <a:t>Why orbit?</a:t>
            </a:r>
          </a:p>
        </p:txBody>
      </p:sp>
      <p:sp>
        <p:nvSpPr>
          <p:cNvPr id="36" name="TextBox 35"/>
          <p:cNvSpPr txBox="1"/>
          <p:nvPr/>
        </p:nvSpPr>
        <p:spPr>
          <a:xfrm>
            <a:off x="6601968" y="3493008"/>
            <a:ext cx="4663440" cy="1143000"/>
          </a:xfrm>
          <a:prstGeom prst="rect">
            <a:avLst/>
          </a:prstGeom>
          <a:noFill/>
        </p:spPr>
        <p:txBody>
          <a:bodyPr wrap="square" lIns="36576" rIns="36576" tIns="36576" bIns="36576" anchor="t">
            <a:noAutofit/>
          </a:bodyPr>
          <a:lstStyle/>
          <a:p>
            <a:pPr algn="l">
              <a:spcBef>
                <a:spcPts val="0"/>
              </a:spcBef>
              <a:spcAft>
                <a:spcPts val="0"/>
              </a:spcAft>
            </a:pPr>
            <a:r>
              <a:rPr sz="1010" b="0">
                <a:solidFill>
                  <a:srgbClr val="24314A"/>
                </a:solidFill>
                <a:latin typeface="Aptos"/>
              </a:rPr>
              <a:t>In the near-weightlessness of ISS orbit (~400 km altitude), tissues grow in true three dimensions with no gravitational compression. This principle has been validated continuously since 2018 across NASA, Redwire Corporation, ROSCOSMOS, LambdaVision Inc., and ESA/DLR - eight years of confirmation by organisations operating independently of one another.</a:t>
            </a:r>
          </a:p>
        </p:txBody>
      </p:sp>
      <p:sp>
        <p:nvSpPr>
          <p:cNvPr id="37" name="Rounded Rectangle 36"/>
          <p:cNvSpPr/>
          <p:nvPr/>
        </p:nvSpPr>
        <p:spPr>
          <a:xfrm>
            <a:off x="6400800" y="5102352"/>
            <a:ext cx="5074920" cy="93268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5276088"/>
            <a:ext cx="4645152" cy="566928"/>
          </a:xfrm>
          <a:prstGeom prst="rect">
            <a:avLst/>
          </a:prstGeom>
          <a:noFill/>
        </p:spPr>
        <p:txBody>
          <a:bodyPr wrap="square" lIns="36576" rIns="36576" tIns="36576" bIns="36576" anchor="t">
            <a:noAutofit/>
          </a:bodyPr>
          <a:lstStyle/>
          <a:p>
            <a:pPr algn="l">
              <a:spcBef>
                <a:spcPts val="0"/>
              </a:spcBef>
              <a:spcAft>
                <a:spcPts val="0"/>
              </a:spcAft>
            </a:pPr>
            <a:r>
              <a:rPr sz="960" b="0">
                <a:solidFill>
                  <a:srgbClr val="24314A"/>
                </a:solidFill>
                <a:latin typeface="Aptos"/>
              </a:rPr>
              <a:t>Note: Adult cardiac muscle cannot self-regenerate - damaged tissue is replaced by scar tissue that blocks electrical signals, a key driver of CVD mortality and why cardiac is Samuel's highest-value target vertical.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PRODUCT STRATEGY</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Four High-Value Clinical Verticals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7</a:t>
            </a:r>
          </a:p>
        </p:txBody>
      </p:sp>
      <p:sp>
        <p:nvSpPr>
          <p:cNvPr id="6" name="Rounded Rectangle 5"/>
          <p:cNvSpPr/>
          <p:nvPr/>
        </p:nvSpPr>
        <p:spPr>
          <a:xfrm>
            <a:off x="713232" y="1325880"/>
            <a:ext cx="4910328" cy="20574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77824" y="1508760"/>
            <a:ext cx="713232"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ardiac.png"/>
          <p:cNvPicPr>
            <a:picLocks noChangeAspect="1"/>
          </p:cNvPicPr>
          <p:nvPr/>
        </p:nvPicPr>
        <p:blipFill>
          <a:blip r:embed="rId2"/>
          <a:stretch>
            <a:fillRect/>
          </a:stretch>
        </p:blipFill>
        <p:spPr>
          <a:xfrm>
            <a:off x="1051560" y="1682495"/>
            <a:ext cx="365760" cy="365760"/>
          </a:xfrm>
          <a:prstGeom prst="rect">
            <a:avLst/>
          </a:prstGeom>
        </p:spPr>
      </p:pic>
      <p:sp>
        <p:nvSpPr>
          <p:cNvPr id="9" name="TextBox 8"/>
          <p:cNvSpPr txBox="1"/>
          <p:nvPr/>
        </p:nvSpPr>
        <p:spPr>
          <a:xfrm>
            <a:off x="1700784" y="1545336"/>
            <a:ext cx="3657600" cy="219456"/>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Cardiac Tissue</a:t>
            </a:r>
          </a:p>
        </p:txBody>
      </p:sp>
      <p:sp>
        <p:nvSpPr>
          <p:cNvPr id="10" name="TextBox 9"/>
          <p:cNvSpPr txBox="1"/>
          <p:nvPr/>
        </p:nvSpPr>
        <p:spPr>
          <a:xfrm>
            <a:off x="1700784" y="1874519"/>
            <a:ext cx="3657600" cy="877824"/>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CVD kills ~2,500 Americans daily. Adult heart tissue cannot regenerate. Redwire returned the first live human cardiac tissue from orbit in May 2024 under BFF-Cardiac.</a:t>
            </a:r>
          </a:p>
        </p:txBody>
      </p:sp>
      <p:sp>
        <p:nvSpPr>
          <p:cNvPr id="11" name="TextBox 10"/>
          <p:cNvSpPr txBox="1"/>
          <p:nvPr/>
        </p:nvSpPr>
        <p:spPr>
          <a:xfrm>
            <a:off x="1700784" y="2898648"/>
            <a:ext cx="3657600" cy="164592"/>
          </a:xfrm>
          <a:prstGeom prst="rect">
            <a:avLst/>
          </a:prstGeom>
          <a:noFill/>
        </p:spPr>
        <p:txBody>
          <a:bodyPr wrap="square" lIns="36576" rIns="36576" tIns="36576" bIns="36576" anchor="t">
            <a:noAutofit/>
          </a:bodyPr>
          <a:lstStyle/>
          <a:p>
            <a:pPr algn="l">
              <a:spcBef>
                <a:spcPts val="0"/>
              </a:spcBef>
              <a:spcAft>
                <a:spcPts val="0"/>
              </a:spcAft>
            </a:pPr>
            <a:r>
              <a:rPr sz="880" b="1">
                <a:solidFill>
                  <a:srgbClr val="00847A"/>
                </a:solidFill>
                <a:latin typeface="Aptos"/>
              </a:rPr>
              <a:t>Proven by: Redwire BFF-Cardiac, ISS, May 2024</a:t>
            </a:r>
          </a:p>
        </p:txBody>
      </p:sp>
      <p:sp>
        <p:nvSpPr>
          <p:cNvPr id="12" name="Rounded Rectangle 11"/>
          <p:cNvSpPr/>
          <p:nvPr/>
        </p:nvSpPr>
        <p:spPr>
          <a:xfrm>
            <a:off x="5650992" y="1325880"/>
            <a:ext cx="4910328" cy="20574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815583" y="1508760"/>
            <a:ext cx="713232"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png"/>
          <p:cNvPicPr>
            <a:picLocks noChangeAspect="1"/>
          </p:cNvPicPr>
          <p:nvPr/>
        </p:nvPicPr>
        <p:blipFill>
          <a:blip r:embed="rId3"/>
          <a:stretch>
            <a:fillRect/>
          </a:stretch>
        </p:blipFill>
        <p:spPr>
          <a:xfrm>
            <a:off x="5989320" y="1682495"/>
            <a:ext cx="365760" cy="365760"/>
          </a:xfrm>
          <a:prstGeom prst="rect">
            <a:avLst/>
          </a:prstGeom>
        </p:spPr>
      </p:pic>
      <p:sp>
        <p:nvSpPr>
          <p:cNvPr id="15" name="TextBox 14"/>
          <p:cNvSpPr txBox="1"/>
          <p:nvPr/>
        </p:nvSpPr>
        <p:spPr>
          <a:xfrm>
            <a:off x="6638544" y="1545336"/>
            <a:ext cx="3657600" cy="219456"/>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Orthopedic Grafts</a:t>
            </a:r>
          </a:p>
        </p:txBody>
      </p:sp>
      <p:sp>
        <p:nvSpPr>
          <p:cNvPr id="16" name="TextBox 15"/>
          <p:cNvSpPr txBox="1"/>
          <p:nvPr/>
        </p:nvSpPr>
        <p:spPr>
          <a:xfrm>
            <a:off x="6638544" y="1874519"/>
            <a:ext cx="3657600" cy="877824"/>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Meniscal tears are among the most common U.S. military injuries. Redwire printed the first human knee meniscus in orbit in September 2023, establishing the foundational protocol.</a:t>
            </a:r>
          </a:p>
        </p:txBody>
      </p:sp>
      <p:sp>
        <p:nvSpPr>
          <p:cNvPr id="17" name="TextBox 16"/>
          <p:cNvSpPr txBox="1"/>
          <p:nvPr/>
        </p:nvSpPr>
        <p:spPr>
          <a:xfrm>
            <a:off x="6638544" y="2898648"/>
            <a:ext cx="3657600" cy="164592"/>
          </a:xfrm>
          <a:prstGeom prst="rect">
            <a:avLst/>
          </a:prstGeom>
          <a:noFill/>
        </p:spPr>
        <p:txBody>
          <a:bodyPr wrap="square" lIns="36576" rIns="36576" tIns="36576" bIns="36576" anchor="t">
            <a:noAutofit/>
          </a:bodyPr>
          <a:lstStyle/>
          <a:p>
            <a:pPr algn="l">
              <a:spcBef>
                <a:spcPts val="0"/>
              </a:spcBef>
              <a:spcAft>
                <a:spcPts val="0"/>
              </a:spcAft>
            </a:pPr>
            <a:r>
              <a:rPr sz="880" b="1">
                <a:solidFill>
                  <a:srgbClr val="00847A"/>
                </a:solidFill>
                <a:latin typeface="Aptos"/>
              </a:rPr>
              <a:t>Proven by: Redwire BFF-Meniscus-2, ISS, Sept 2023</a:t>
            </a:r>
          </a:p>
        </p:txBody>
      </p:sp>
      <p:sp>
        <p:nvSpPr>
          <p:cNvPr id="18" name="Rounded Rectangle 17"/>
          <p:cNvSpPr/>
          <p:nvPr/>
        </p:nvSpPr>
        <p:spPr>
          <a:xfrm>
            <a:off x="713232" y="3657600"/>
            <a:ext cx="4910328" cy="20574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77824" y="3840480"/>
            <a:ext cx="713232"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tina.png"/>
          <p:cNvPicPr>
            <a:picLocks noChangeAspect="1"/>
          </p:cNvPicPr>
          <p:nvPr/>
        </p:nvPicPr>
        <p:blipFill>
          <a:blip r:embed="rId4"/>
          <a:stretch>
            <a:fillRect/>
          </a:stretch>
        </p:blipFill>
        <p:spPr>
          <a:xfrm>
            <a:off x="1051560" y="4014215"/>
            <a:ext cx="365760" cy="365760"/>
          </a:xfrm>
          <a:prstGeom prst="rect">
            <a:avLst/>
          </a:prstGeom>
        </p:spPr>
      </p:pic>
      <p:sp>
        <p:nvSpPr>
          <p:cNvPr id="21" name="TextBox 20"/>
          <p:cNvSpPr txBox="1"/>
          <p:nvPr/>
        </p:nvSpPr>
        <p:spPr>
          <a:xfrm>
            <a:off x="1700784" y="3877056"/>
            <a:ext cx="3657600" cy="219456"/>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Artificial Retinas</a:t>
            </a:r>
          </a:p>
        </p:txBody>
      </p:sp>
      <p:sp>
        <p:nvSpPr>
          <p:cNvPr id="22" name="TextBox 21"/>
          <p:cNvSpPr txBox="1"/>
          <p:nvPr/>
        </p:nvSpPr>
        <p:spPr>
          <a:xfrm>
            <a:off x="1700784" y="4206240"/>
            <a:ext cx="3657600" cy="877824"/>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30 million people worldwide suffer from degenerative retinal disease. LambdaVision has produced consistent 200-layer protein retina films in microgravity across 9 ISS missions.</a:t>
            </a:r>
          </a:p>
        </p:txBody>
      </p:sp>
      <p:sp>
        <p:nvSpPr>
          <p:cNvPr id="23" name="TextBox 22"/>
          <p:cNvSpPr txBox="1"/>
          <p:nvPr/>
        </p:nvSpPr>
        <p:spPr>
          <a:xfrm>
            <a:off x="1700784" y="5230368"/>
            <a:ext cx="3657600" cy="164592"/>
          </a:xfrm>
          <a:prstGeom prst="rect">
            <a:avLst/>
          </a:prstGeom>
          <a:noFill/>
        </p:spPr>
        <p:txBody>
          <a:bodyPr wrap="square" lIns="36576" rIns="36576" tIns="36576" bIns="36576" anchor="t">
            <a:noAutofit/>
          </a:bodyPr>
          <a:lstStyle/>
          <a:p>
            <a:pPr algn="l">
              <a:spcBef>
                <a:spcPts val="0"/>
              </a:spcBef>
              <a:spcAft>
                <a:spcPts val="0"/>
              </a:spcAft>
            </a:pPr>
            <a:r>
              <a:rPr sz="880" b="1">
                <a:solidFill>
                  <a:srgbClr val="00847A"/>
                </a:solidFill>
                <a:latin typeface="Aptos"/>
              </a:rPr>
              <a:t>Proven by: LambdaVision / Space Tango, 9 ISS missions</a:t>
            </a:r>
          </a:p>
        </p:txBody>
      </p:sp>
      <p:sp>
        <p:nvSpPr>
          <p:cNvPr id="24" name="Rounded Rectangle 23"/>
          <p:cNvSpPr/>
          <p:nvPr/>
        </p:nvSpPr>
        <p:spPr>
          <a:xfrm>
            <a:off x="5650992" y="3657600"/>
            <a:ext cx="4910328" cy="20574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815583" y="3840480"/>
            <a:ext cx="713232"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ound.png"/>
          <p:cNvPicPr>
            <a:picLocks noChangeAspect="1"/>
          </p:cNvPicPr>
          <p:nvPr/>
        </p:nvPicPr>
        <p:blipFill>
          <a:blip r:embed="rId5"/>
          <a:stretch>
            <a:fillRect/>
          </a:stretch>
        </p:blipFill>
        <p:spPr>
          <a:xfrm>
            <a:off x="5989320" y="4014215"/>
            <a:ext cx="365760" cy="365760"/>
          </a:xfrm>
          <a:prstGeom prst="rect">
            <a:avLst/>
          </a:prstGeom>
        </p:spPr>
      </p:pic>
      <p:sp>
        <p:nvSpPr>
          <p:cNvPr id="27" name="TextBox 26"/>
          <p:cNvSpPr txBox="1"/>
          <p:nvPr/>
        </p:nvSpPr>
        <p:spPr>
          <a:xfrm>
            <a:off x="6638544" y="3877056"/>
            <a:ext cx="3657600" cy="219456"/>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Wound Care Patches</a:t>
            </a:r>
          </a:p>
        </p:txBody>
      </p:sp>
      <p:sp>
        <p:nvSpPr>
          <p:cNvPr id="28" name="TextBox 27"/>
          <p:cNvSpPr txBox="1"/>
          <p:nvPr/>
        </p:nvSpPr>
        <p:spPr>
          <a:xfrm>
            <a:off x="6638544" y="4206240"/>
            <a:ext cx="3657600" cy="877824"/>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ESA and DLR demonstrated a handheld bioprinter creating customised skin patches aboard the ISS during the Cosmic Kiss mission. Lowest regulatory burden - Samuel's Phase 1 entry point.</a:t>
            </a:r>
          </a:p>
        </p:txBody>
      </p:sp>
      <p:sp>
        <p:nvSpPr>
          <p:cNvPr id="29" name="TextBox 28"/>
          <p:cNvSpPr txBox="1"/>
          <p:nvPr/>
        </p:nvSpPr>
        <p:spPr>
          <a:xfrm>
            <a:off x="6638544" y="5230368"/>
            <a:ext cx="3657600" cy="164592"/>
          </a:xfrm>
          <a:prstGeom prst="rect">
            <a:avLst/>
          </a:prstGeom>
          <a:noFill/>
        </p:spPr>
        <p:txBody>
          <a:bodyPr wrap="square" lIns="36576" rIns="36576" tIns="36576" bIns="36576" anchor="t">
            <a:noAutofit/>
          </a:bodyPr>
          <a:lstStyle/>
          <a:p>
            <a:pPr algn="l">
              <a:spcBef>
                <a:spcPts val="0"/>
              </a:spcBef>
              <a:spcAft>
                <a:spcPts val="0"/>
              </a:spcAft>
            </a:pPr>
            <a:r>
              <a:rPr sz="880" b="1">
                <a:solidFill>
                  <a:srgbClr val="00847A"/>
                </a:solidFill>
                <a:latin typeface="Aptos"/>
              </a:rPr>
              <a:t>Proven by: ESA/DLR Bioprint FirstAid, ISS, Dec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THIRD-PARTY VALIDATION</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Eight Years of Proven In-Orbit Bioprinting</a:t>
            </a:r>
          </a:p>
        </p:txBody>
      </p:sp>
      <p:sp>
        <p:nvSpPr>
          <p:cNvPr id="5" name="TextBox 4"/>
          <p:cNvSpPr txBox="1"/>
          <p:nvPr/>
        </p:nvSpPr>
        <p:spPr>
          <a:xfrm>
            <a:off x="548640" y="877824"/>
            <a:ext cx="10698480" cy="310896"/>
          </a:xfrm>
          <a:prstGeom prst="rect">
            <a:avLst/>
          </a:prstGeom>
          <a:noFill/>
        </p:spPr>
        <p:txBody>
          <a:bodyPr wrap="square" lIns="36576" rIns="36576" tIns="36576" bIns="36576" anchor="t">
            <a:noAutofit/>
          </a:bodyPr>
          <a:lstStyle/>
          <a:p>
            <a:pPr algn="l">
              <a:spcBef>
                <a:spcPts val="0"/>
              </a:spcBef>
              <a:spcAft>
                <a:spcPts val="0"/>
              </a:spcAft>
            </a:pPr>
            <a:r>
              <a:rPr sz="1120" b="0">
                <a:solidFill>
                  <a:srgbClr val="606D82"/>
                </a:solidFill>
                <a:latin typeface="Aptos"/>
              </a:rPr>
              <a:t>Every milestone below was publicly announced by an independent organisation - not by Samuel Space. They validate the market premise and demonstrate commercial feasibility.</a:t>
            </a:r>
          </a:p>
        </p:txBody>
      </p:sp>
      <p:sp>
        <p:nvSpPr>
          <p:cNvPr id="6" name="TextBox 5"/>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8</a:t>
            </a:r>
          </a:p>
        </p:txBody>
      </p:sp>
      <p:sp>
        <p:nvSpPr>
          <p:cNvPr id="7" name="Rectangle 6"/>
          <p:cNvSpPr/>
          <p:nvPr/>
        </p:nvSpPr>
        <p:spPr>
          <a:xfrm>
            <a:off x="868680" y="3447288"/>
            <a:ext cx="10378440" cy="36576"/>
          </a:xfrm>
          <a:prstGeom prst="rect">
            <a:avLst/>
          </a:prstGeom>
          <a:solidFill>
            <a:srgbClr val="DC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029968"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146304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0120" y="1627632"/>
            <a:ext cx="6583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645920"/>
            <a:ext cx="6217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2018</a:t>
            </a:r>
          </a:p>
        </p:txBody>
      </p:sp>
      <p:sp>
        <p:nvSpPr>
          <p:cNvPr id="12" name="TextBox 11"/>
          <p:cNvSpPr txBox="1"/>
          <p:nvPr/>
        </p:nvSpPr>
        <p:spPr>
          <a:xfrm>
            <a:off x="960120" y="197510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ROSCOSMOS Organ.Aut</a:t>
            </a:r>
          </a:p>
        </p:txBody>
      </p:sp>
      <p:sp>
        <p:nvSpPr>
          <p:cNvPr id="13" name="TextBox 12"/>
          <p:cNvSpPr txBox="1"/>
          <p:nvPr/>
        </p:nvSpPr>
        <p:spPr>
          <a:xfrm>
            <a:off x="960120" y="226771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First magnetic 3D bioprinter on ISS; tissue constructs created 2018-2020 prove the in-orbit approach.</a:t>
            </a:r>
          </a:p>
        </p:txBody>
      </p:sp>
      <p:sp>
        <p:nvSpPr>
          <p:cNvPr id="14" name="Oval 13"/>
          <p:cNvSpPr/>
          <p:nvPr/>
        </p:nvSpPr>
        <p:spPr>
          <a:xfrm>
            <a:off x="4818888"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11880" y="146304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749040" y="1627632"/>
            <a:ext cx="6583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67328" y="1645920"/>
            <a:ext cx="6217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2019</a:t>
            </a:r>
          </a:p>
        </p:txBody>
      </p:sp>
      <p:sp>
        <p:nvSpPr>
          <p:cNvPr id="18" name="TextBox 17"/>
          <p:cNvSpPr txBox="1"/>
          <p:nvPr/>
        </p:nvSpPr>
        <p:spPr>
          <a:xfrm>
            <a:off x="3749040" y="197510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Redwire BFF Launched</a:t>
            </a:r>
          </a:p>
        </p:txBody>
      </p:sp>
      <p:sp>
        <p:nvSpPr>
          <p:cNvPr id="19" name="TextBox 18"/>
          <p:cNvSpPr txBox="1"/>
          <p:nvPr/>
        </p:nvSpPr>
        <p:spPr>
          <a:xfrm>
            <a:off x="3749040" y="226771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BioFabrication Facility arrives on ISS; later wins Popular Science Best of What's New 2023.</a:t>
            </a:r>
          </a:p>
        </p:txBody>
      </p:sp>
      <p:sp>
        <p:nvSpPr>
          <p:cNvPr id="20" name="Oval 19"/>
          <p:cNvSpPr/>
          <p:nvPr/>
        </p:nvSpPr>
        <p:spPr>
          <a:xfrm>
            <a:off x="7607808"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400800" y="146304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1627632"/>
            <a:ext cx="6583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6248" y="1645920"/>
            <a:ext cx="6217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Dec '21</a:t>
            </a:r>
          </a:p>
        </p:txBody>
      </p:sp>
      <p:sp>
        <p:nvSpPr>
          <p:cNvPr id="24" name="TextBox 23"/>
          <p:cNvSpPr txBox="1"/>
          <p:nvPr/>
        </p:nvSpPr>
        <p:spPr>
          <a:xfrm>
            <a:off x="6537960" y="197510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ESA Bioprint FirstAid</a:t>
            </a:r>
          </a:p>
        </p:txBody>
      </p:sp>
      <p:sp>
        <p:nvSpPr>
          <p:cNvPr id="25" name="TextBox 24"/>
          <p:cNvSpPr txBox="1"/>
          <p:nvPr/>
        </p:nvSpPr>
        <p:spPr>
          <a:xfrm>
            <a:off x="6537960" y="226771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Portable handheld bioprinter demonstrated by astronaut Matthias Maurer on the Cosmic Kiss mission.</a:t>
            </a:r>
          </a:p>
        </p:txBody>
      </p:sp>
      <p:sp>
        <p:nvSpPr>
          <p:cNvPr id="26" name="Oval 25"/>
          <p:cNvSpPr/>
          <p:nvPr/>
        </p:nvSpPr>
        <p:spPr>
          <a:xfrm>
            <a:off x="10396728"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89720" y="146304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0" y="1627632"/>
            <a:ext cx="6583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45168" y="1645920"/>
            <a:ext cx="6217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Sep '23</a:t>
            </a:r>
          </a:p>
        </p:txBody>
      </p:sp>
      <p:sp>
        <p:nvSpPr>
          <p:cNvPr id="30" name="TextBox 29"/>
          <p:cNvSpPr txBox="1"/>
          <p:nvPr/>
        </p:nvSpPr>
        <p:spPr>
          <a:xfrm>
            <a:off x="9326880" y="197510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First Knee Meniscus</a:t>
            </a:r>
          </a:p>
        </p:txBody>
      </p:sp>
      <p:sp>
        <p:nvSpPr>
          <p:cNvPr id="31" name="TextBox 30"/>
          <p:cNvSpPr txBox="1"/>
          <p:nvPr/>
        </p:nvSpPr>
        <p:spPr>
          <a:xfrm>
            <a:off x="9326880" y="226771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Redwire BFF prints the first human knee meniscus in orbit - a musculoskeletal milestone.</a:t>
            </a:r>
          </a:p>
        </p:txBody>
      </p:sp>
      <p:sp>
        <p:nvSpPr>
          <p:cNvPr id="32" name="Oval 31"/>
          <p:cNvSpPr/>
          <p:nvPr/>
        </p:nvSpPr>
        <p:spPr>
          <a:xfrm>
            <a:off x="3429000"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221992" y="379476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359152" y="3959352"/>
            <a:ext cx="713232"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377440" y="3977639"/>
            <a:ext cx="676656"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May '24</a:t>
            </a:r>
          </a:p>
        </p:txBody>
      </p:sp>
      <p:sp>
        <p:nvSpPr>
          <p:cNvPr id="36" name="TextBox 35"/>
          <p:cNvSpPr txBox="1"/>
          <p:nvPr/>
        </p:nvSpPr>
        <p:spPr>
          <a:xfrm>
            <a:off x="2359152" y="430682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First Cardiac Tissue</a:t>
            </a:r>
          </a:p>
        </p:txBody>
      </p:sp>
      <p:sp>
        <p:nvSpPr>
          <p:cNvPr id="37" name="TextBox 36"/>
          <p:cNvSpPr txBox="1"/>
          <p:nvPr/>
        </p:nvSpPr>
        <p:spPr>
          <a:xfrm>
            <a:off x="2359152" y="459943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Redwire returns the first live 3D-bioprinted human cardiac tissue from ISS under BFF-Cardiac.</a:t>
            </a:r>
          </a:p>
        </p:txBody>
      </p:sp>
      <p:sp>
        <p:nvSpPr>
          <p:cNvPr id="38" name="Oval 37"/>
          <p:cNvSpPr/>
          <p:nvPr/>
        </p:nvSpPr>
        <p:spPr>
          <a:xfrm>
            <a:off x="6217920"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010912" y="379476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148072" y="3959352"/>
            <a:ext cx="713232"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66360" y="3977639"/>
            <a:ext cx="676656"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Sep '25</a:t>
            </a:r>
          </a:p>
        </p:txBody>
      </p:sp>
      <p:sp>
        <p:nvSpPr>
          <p:cNvPr id="42" name="TextBox 41"/>
          <p:cNvSpPr txBox="1"/>
          <p:nvPr/>
        </p:nvSpPr>
        <p:spPr>
          <a:xfrm>
            <a:off x="5148072" y="430682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Grants &amp; Contracts</a:t>
            </a:r>
          </a:p>
        </p:txBody>
      </p:sp>
      <p:sp>
        <p:nvSpPr>
          <p:cNvPr id="43" name="TextBox 42"/>
          <p:cNvSpPr txBox="1"/>
          <p:nvPr/>
        </p:nvSpPr>
        <p:spPr>
          <a:xfrm>
            <a:off x="5148072" y="459943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LambdaVision wins NASA InSPA Phase 2; Redwire is awarded a $25M NASA IDIQ for continued ISS work.</a:t>
            </a:r>
          </a:p>
        </p:txBody>
      </p:sp>
      <p:sp>
        <p:nvSpPr>
          <p:cNvPr id="44" name="Oval 43"/>
          <p:cNvSpPr/>
          <p:nvPr/>
        </p:nvSpPr>
        <p:spPr>
          <a:xfrm>
            <a:off x="9006840" y="3346704"/>
            <a:ext cx="137160" cy="137160"/>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799831" y="3794760"/>
            <a:ext cx="2377440" cy="15544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936992" y="3959352"/>
            <a:ext cx="713232"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3977639"/>
            <a:ext cx="676656"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2026</a:t>
            </a:r>
          </a:p>
        </p:txBody>
      </p:sp>
      <p:sp>
        <p:nvSpPr>
          <p:cNvPr id="48" name="TextBox 47"/>
          <p:cNvSpPr txBox="1"/>
          <p:nvPr/>
        </p:nvSpPr>
        <p:spPr>
          <a:xfrm>
            <a:off x="7936992" y="4306824"/>
            <a:ext cx="2084831" cy="237744"/>
          </a:xfrm>
          <a:prstGeom prst="rect">
            <a:avLst/>
          </a:prstGeom>
          <a:noFill/>
        </p:spPr>
        <p:txBody>
          <a:bodyPr wrap="square" lIns="36576" rIns="36576" tIns="36576" bIns="36576" anchor="t">
            <a:noAutofit/>
          </a:bodyPr>
          <a:lstStyle/>
          <a:p>
            <a:pPr algn="l">
              <a:spcBef>
                <a:spcPts val="0"/>
              </a:spcBef>
              <a:spcAft>
                <a:spcPts val="0"/>
              </a:spcAft>
            </a:pPr>
            <a:r>
              <a:rPr sz="1110" b="1">
                <a:solidFill>
                  <a:srgbClr val="111F3D"/>
                </a:solidFill>
                <a:latin typeface="Aptos"/>
              </a:rPr>
              <a:t>Commercial Pivot</a:t>
            </a:r>
          </a:p>
        </p:txBody>
      </p:sp>
      <p:sp>
        <p:nvSpPr>
          <p:cNvPr id="49" name="TextBox 48"/>
          <p:cNvSpPr txBox="1"/>
          <p:nvPr/>
        </p:nvSpPr>
        <p:spPr>
          <a:xfrm>
            <a:off x="7936992" y="4599432"/>
            <a:ext cx="2084831" cy="566928"/>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LambdaVision closes a $7M seed; commercial station payload slots are reserved ahead of ISS retirement.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MARKET OPPORTUNITY</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A Rapidly Expanding Global Addressable Market</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9</a:t>
            </a:r>
          </a:p>
        </p:txBody>
      </p:sp>
      <p:sp>
        <p:nvSpPr>
          <p:cNvPr id="6" name="Rounded Rectangle 5"/>
          <p:cNvSpPr/>
          <p:nvPr/>
        </p:nvSpPr>
        <p:spPr>
          <a:xfrm>
            <a:off x="713232" y="1243584"/>
            <a:ext cx="5623560" cy="45262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26464"/>
            <a:ext cx="4480560" cy="182880"/>
          </a:xfrm>
          <a:prstGeom prst="rect">
            <a:avLst/>
          </a:prstGeom>
          <a:noFill/>
        </p:spPr>
        <p:txBody>
          <a:bodyPr wrap="square" lIns="36576" rIns="36576" tIns="36576" bIns="36576" anchor="t">
            <a:noAutofit/>
          </a:bodyPr>
          <a:lstStyle/>
          <a:p>
            <a:pPr algn="l">
              <a:spcBef>
                <a:spcPts val="0"/>
              </a:spcBef>
              <a:spcAft>
                <a:spcPts val="0"/>
              </a:spcAft>
            </a:pPr>
            <a:r>
              <a:rPr sz="1150" b="1">
                <a:solidFill>
                  <a:srgbClr val="111F3D"/>
                </a:solidFill>
                <a:latin typeface="Aptos"/>
              </a:rPr>
              <a:t>Global 3D Bioprinting Market 2023-2030 (USD $B)</a:t>
            </a:r>
          </a:p>
        </p:txBody>
      </p:sp>
      <p:graphicFrame>
        <p:nvGraphicFramePr>
          <p:cNvPr id="8" name="Chart 7"/>
          <p:cNvGraphicFramePr>
            <a:graphicFrameLocks noGrp="1"/>
          </p:cNvGraphicFramePr>
          <p:nvPr/>
        </p:nvGraphicFramePr>
        <p:xfrm>
          <a:off x="914400" y="1737360"/>
          <a:ext cx="5257800" cy="3547872"/>
        </p:xfrm>
        <a:graphic>
          <a:graphicData uri="http://schemas.openxmlformats.org/drawingml/2006/chart">
            <c:chart xmlns:c="http://schemas.openxmlformats.org/drawingml/2006/chart" r:id="rId2"/>
          </a:graphicData>
        </a:graphic>
      </p:graphicFrame>
      <p:sp>
        <p:nvSpPr>
          <p:cNvPr id="9" name="TextBox 8"/>
          <p:cNvSpPr txBox="1"/>
          <p:nvPr/>
        </p:nvSpPr>
        <p:spPr>
          <a:xfrm>
            <a:off x="914400" y="5321808"/>
            <a:ext cx="5212080" cy="164592"/>
          </a:xfrm>
          <a:prstGeom prst="rect">
            <a:avLst/>
          </a:prstGeom>
          <a:noFill/>
        </p:spPr>
        <p:txBody>
          <a:bodyPr wrap="square" lIns="36576" rIns="36576" tIns="36576" bIns="36576" anchor="t">
            <a:noAutofit/>
          </a:bodyPr>
          <a:lstStyle/>
          <a:p>
            <a:pPr algn="l">
              <a:spcBef>
                <a:spcPts val="0"/>
              </a:spcBef>
              <a:spcAft>
                <a:spcPts val="0"/>
              </a:spcAft>
            </a:pPr>
            <a:r>
              <a:rPr sz="850" b="0">
                <a:solidFill>
                  <a:srgbClr val="606D82"/>
                </a:solidFill>
                <a:latin typeface="Aptos"/>
              </a:rPr>
              <a:t>Source: Mordor Intelligence, 3D Bioprinting Market Report, Jan 2026  |  ~15.9% CAGR</a:t>
            </a:r>
          </a:p>
        </p:txBody>
      </p:sp>
      <p:sp>
        <p:nvSpPr>
          <p:cNvPr id="10" name="Rounded Rectangle 9"/>
          <p:cNvSpPr/>
          <p:nvPr/>
        </p:nvSpPr>
        <p:spPr>
          <a:xfrm>
            <a:off x="6537960" y="1325880"/>
            <a:ext cx="4937760" cy="8686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02552" y="1472184"/>
            <a:ext cx="460857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$3.5B+</a:t>
            </a:r>
          </a:p>
        </p:txBody>
      </p:sp>
      <p:sp>
        <p:nvSpPr>
          <p:cNvPr id="12" name="TextBox 11"/>
          <p:cNvSpPr txBox="1"/>
          <p:nvPr/>
        </p:nvSpPr>
        <p:spPr>
          <a:xfrm>
            <a:off x="6702552" y="1764792"/>
            <a:ext cx="4608576" cy="24688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Projected global 3D bioprinting market by 2030 at ~15.9% CAGR (Mordor Intelligence, Jan 2026)</a:t>
            </a:r>
          </a:p>
        </p:txBody>
      </p:sp>
      <p:sp>
        <p:nvSpPr>
          <p:cNvPr id="13" name="Rounded Rectangle 12"/>
          <p:cNvSpPr/>
          <p:nvPr/>
        </p:nvSpPr>
        <p:spPr>
          <a:xfrm>
            <a:off x="6537960" y="2423160"/>
            <a:ext cx="4937760" cy="8686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02552" y="2569464"/>
            <a:ext cx="460857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Dec 2024</a:t>
            </a:r>
          </a:p>
        </p:txBody>
      </p:sp>
      <p:sp>
        <p:nvSpPr>
          <p:cNvPr id="15" name="TextBox 14"/>
          <p:cNvSpPr txBox="1"/>
          <p:nvPr/>
        </p:nvSpPr>
        <p:spPr>
          <a:xfrm>
            <a:off x="6702552" y="2862072"/>
            <a:ext cx="4608576" cy="24688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FDA cleared Symvess - the first tissue-engineered vascular graft - setting a direct regulatory precedent</a:t>
            </a:r>
          </a:p>
        </p:txBody>
      </p:sp>
      <p:sp>
        <p:nvSpPr>
          <p:cNvPr id="16" name="Rounded Rectangle 15"/>
          <p:cNvSpPr/>
          <p:nvPr/>
        </p:nvSpPr>
        <p:spPr>
          <a:xfrm>
            <a:off x="6537960" y="3520439"/>
            <a:ext cx="4937760" cy="8686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3666744"/>
            <a:ext cx="460857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$420M+</a:t>
            </a:r>
          </a:p>
        </p:txBody>
      </p:sp>
      <p:sp>
        <p:nvSpPr>
          <p:cNvPr id="18" name="TextBox 17"/>
          <p:cNvSpPr txBox="1"/>
          <p:nvPr/>
        </p:nvSpPr>
        <p:spPr>
          <a:xfrm>
            <a:off x="6702552" y="3959352"/>
            <a:ext cx="4608576" cy="24688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Committed by pharma companies to commercial-station research programs through 2030 (industry research)</a:t>
            </a:r>
          </a:p>
        </p:txBody>
      </p:sp>
      <p:sp>
        <p:nvSpPr>
          <p:cNvPr id="19" name="Rounded Rectangle 18"/>
          <p:cNvSpPr/>
          <p:nvPr/>
        </p:nvSpPr>
        <p:spPr>
          <a:xfrm>
            <a:off x="6537960" y="4617720"/>
            <a:ext cx="4937760" cy="8686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02552" y="4764024"/>
            <a:ext cx="460857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$200-400M</a:t>
            </a:r>
          </a:p>
        </p:txBody>
      </p:sp>
      <p:sp>
        <p:nvSpPr>
          <p:cNvPr id="21" name="TextBox 20"/>
          <p:cNvSpPr txBox="1"/>
          <p:nvPr/>
        </p:nvSpPr>
        <p:spPr>
          <a:xfrm>
            <a:off x="6702552" y="5056631"/>
            <a:ext cx="4608576" cy="24688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Samuel's estimated initial SAM by 2030 (cardiac patches, ortho grafts, retinal constructs)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MARKET TIMING</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Four Converging Tailwinds Create a Unique Entry Window</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10</a:t>
            </a:r>
          </a:p>
        </p:txBody>
      </p:sp>
      <p:sp>
        <p:nvSpPr>
          <p:cNvPr id="6" name="Rounded Rectangle 5"/>
          <p:cNvSpPr/>
          <p:nvPr/>
        </p:nvSpPr>
        <p:spPr>
          <a:xfrm>
            <a:off x="713232" y="1325880"/>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77824" y="1490472"/>
            <a:ext cx="822960" cy="27432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508760"/>
            <a:ext cx="786384" cy="237744"/>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~89%</a:t>
            </a:r>
          </a:p>
        </p:txBody>
      </p:sp>
      <p:sp>
        <p:nvSpPr>
          <p:cNvPr id="9" name="TextBox 8"/>
          <p:cNvSpPr txBox="1"/>
          <p:nvPr/>
        </p:nvSpPr>
        <p:spPr>
          <a:xfrm>
            <a:off x="877824" y="1892807"/>
            <a:ext cx="4389120"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Launch Costs Have Collapsed</a:t>
            </a:r>
          </a:p>
        </p:txBody>
      </p:sp>
      <p:sp>
        <p:nvSpPr>
          <p:cNvPr id="10" name="TextBox 9"/>
          <p:cNvSpPr txBox="1"/>
          <p:nvPr/>
        </p:nvSpPr>
        <p:spPr>
          <a:xfrm>
            <a:off x="877824" y="2221991"/>
            <a:ext cx="4526280" cy="868680"/>
          </a:xfrm>
          <a:prstGeom prst="rect">
            <a:avLst/>
          </a:prstGeom>
          <a:noFill/>
        </p:spPr>
        <p:txBody>
          <a:bodyPr wrap="square" lIns="36576" rIns="36576" tIns="36576" bIns="36576" anchor="t">
            <a:noAutofit/>
          </a:bodyPr>
          <a:lstStyle/>
          <a:p>
            <a:pPr algn="l">
              <a:spcBef>
                <a:spcPts val="0"/>
              </a:spcBef>
              <a:spcAft>
                <a:spcPts val="0"/>
              </a:spcAft>
            </a:pPr>
            <a:r>
              <a:rPr sz="980" b="0">
                <a:solidFill>
                  <a:srgbClr val="24314A"/>
                </a:solidFill>
                <a:latin typeface="Aptos"/>
              </a:rPr>
              <a:t>Cost-to-orbit has dropped from ~$54,000/kg (Space Shuttle era) to ~$6,000/kg (Falcon 9). Starship is expected to reduce this further. Research payloads that were cost-prohibitive a decade ago are now commercially viable.</a:t>
            </a:r>
          </a:p>
        </p:txBody>
      </p:sp>
      <p:sp>
        <p:nvSpPr>
          <p:cNvPr id="11" name="Rounded Rectangle 10"/>
          <p:cNvSpPr/>
          <p:nvPr/>
        </p:nvSpPr>
        <p:spPr>
          <a:xfrm>
            <a:off x="5650992" y="1325880"/>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15583" y="1490472"/>
            <a:ext cx="822960" cy="27432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33871" y="1508760"/>
            <a:ext cx="786384" cy="237744"/>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4</a:t>
            </a:r>
          </a:p>
        </p:txBody>
      </p:sp>
      <p:sp>
        <p:nvSpPr>
          <p:cNvPr id="14" name="TextBox 13"/>
          <p:cNvSpPr txBox="1"/>
          <p:nvPr/>
        </p:nvSpPr>
        <p:spPr>
          <a:xfrm>
            <a:off x="5815583" y="1892807"/>
            <a:ext cx="4389120"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Commercial Stations Are Coming</a:t>
            </a:r>
          </a:p>
        </p:txBody>
      </p:sp>
      <p:sp>
        <p:nvSpPr>
          <p:cNvPr id="15" name="TextBox 14"/>
          <p:cNvSpPr txBox="1"/>
          <p:nvPr/>
        </p:nvSpPr>
        <p:spPr>
          <a:xfrm>
            <a:off x="5815583" y="2221991"/>
            <a:ext cx="4526280" cy="868680"/>
          </a:xfrm>
          <a:prstGeom prst="rect">
            <a:avLst/>
          </a:prstGeom>
          <a:noFill/>
        </p:spPr>
        <p:txBody>
          <a:bodyPr wrap="square" lIns="36576" rIns="36576" tIns="36576" bIns="36576" anchor="t">
            <a:noAutofit/>
          </a:bodyPr>
          <a:lstStyle/>
          <a:p>
            <a:pPr algn="l">
              <a:spcBef>
                <a:spcPts val="0"/>
              </a:spcBef>
              <a:spcAft>
                <a:spcPts val="0"/>
              </a:spcAft>
            </a:pPr>
            <a:r>
              <a:rPr sz="980" b="0">
                <a:solidFill>
                  <a:srgbClr val="24314A"/>
                </a:solidFill>
                <a:latin typeface="Aptos"/>
              </a:rPr>
              <a:t>ISS retires around 2030. NASA's CLD program has funded four successors: Starlab, Axiom Station, Orbital Reef, and Vast Haven-1. Samuel is designed to remain station-agnostic from day one.</a:t>
            </a:r>
          </a:p>
        </p:txBody>
      </p:sp>
      <p:sp>
        <p:nvSpPr>
          <p:cNvPr id="16" name="Rounded Rectangle 15"/>
          <p:cNvSpPr/>
          <p:nvPr/>
        </p:nvSpPr>
        <p:spPr>
          <a:xfrm>
            <a:off x="713232" y="3703320"/>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7824" y="3867911"/>
            <a:ext cx="822960" cy="27432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886199"/>
            <a:ext cx="786384" cy="237744"/>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Dec 2024</a:t>
            </a:r>
          </a:p>
        </p:txBody>
      </p:sp>
      <p:sp>
        <p:nvSpPr>
          <p:cNvPr id="19" name="TextBox 18"/>
          <p:cNvSpPr txBox="1"/>
          <p:nvPr/>
        </p:nvSpPr>
        <p:spPr>
          <a:xfrm>
            <a:off x="877824" y="4270248"/>
            <a:ext cx="4389120"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Regulatory Precedent Is Set</a:t>
            </a:r>
          </a:p>
        </p:txBody>
      </p:sp>
      <p:sp>
        <p:nvSpPr>
          <p:cNvPr id="20" name="TextBox 19"/>
          <p:cNvSpPr txBox="1"/>
          <p:nvPr/>
        </p:nvSpPr>
        <p:spPr>
          <a:xfrm>
            <a:off x="877824" y="4599431"/>
            <a:ext cx="4526280" cy="868680"/>
          </a:xfrm>
          <a:prstGeom prst="rect">
            <a:avLst/>
          </a:prstGeom>
          <a:noFill/>
        </p:spPr>
        <p:txBody>
          <a:bodyPr wrap="square" lIns="36576" rIns="36576" tIns="36576" bIns="36576" anchor="t">
            <a:noAutofit/>
          </a:bodyPr>
          <a:lstStyle/>
          <a:p>
            <a:pPr algn="l">
              <a:spcBef>
                <a:spcPts val="0"/>
              </a:spcBef>
              <a:spcAft>
                <a:spcPts val="0"/>
              </a:spcAft>
            </a:pPr>
            <a:r>
              <a:rPr sz="980" b="0">
                <a:solidFill>
                  <a:srgbClr val="24314A"/>
                </a:solidFill>
                <a:latin typeface="Aptos"/>
              </a:rPr>
              <a:t>The FDA cleared Symvess - the first tissue-engineered synthetic vascular graft - in December 2024. This is the most important regulatory precedent for clinical bioprinted tissue and validates the FDA's review pathway.</a:t>
            </a:r>
          </a:p>
        </p:txBody>
      </p:sp>
      <p:sp>
        <p:nvSpPr>
          <p:cNvPr id="21" name="Rounded Rectangle 20"/>
          <p:cNvSpPr/>
          <p:nvPr/>
        </p:nvSpPr>
        <p:spPr>
          <a:xfrm>
            <a:off x="5650992" y="3703320"/>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815583" y="3867911"/>
            <a:ext cx="822960" cy="274320"/>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33871" y="3886199"/>
            <a:ext cx="786384" cy="237744"/>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$329M</a:t>
            </a:r>
          </a:p>
        </p:txBody>
      </p:sp>
      <p:sp>
        <p:nvSpPr>
          <p:cNvPr id="24" name="TextBox 23"/>
          <p:cNvSpPr txBox="1"/>
          <p:nvPr/>
        </p:nvSpPr>
        <p:spPr>
          <a:xfrm>
            <a:off x="5815583" y="4270248"/>
            <a:ext cx="4389120"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Capital Is Already Flowing</a:t>
            </a:r>
          </a:p>
        </p:txBody>
      </p:sp>
      <p:sp>
        <p:nvSpPr>
          <p:cNvPr id="25" name="TextBox 24"/>
          <p:cNvSpPr txBox="1"/>
          <p:nvPr/>
        </p:nvSpPr>
        <p:spPr>
          <a:xfrm>
            <a:off x="5815583" y="4599431"/>
            <a:ext cx="4526280" cy="868680"/>
          </a:xfrm>
          <a:prstGeom prst="rect">
            <a:avLst/>
          </a:prstGeom>
          <a:noFill/>
        </p:spPr>
        <p:txBody>
          <a:bodyPr wrap="square" lIns="36576" rIns="36576" tIns="36576" bIns="36576" anchor="t">
            <a:noAutofit/>
          </a:bodyPr>
          <a:lstStyle/>
          <a:p>
            <a:pPr algn="l">
              <a:spcBef>
                <a:spcPts val="0"/>
              </a:spcBef>
              <a:spcAft>
                <a:spcPts val="0"/>
              </a:spcAft>
            </a:pPr>
            <a:r>
              <a:rPr sz="980" b="0">
                <a:solidFill>
                  <a:srgbClr val="24314A"/>
                </a:solidFill>
                <a:latin typeface="Aptos"/>
              </a:rPr>
              <a:t>Varda Space Industries has raised $329M total, including a $187M Series C in July 2025. LambdaVision closed a $7M seed atop $15M+ in non-dilutive grants.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OUR PLATFORM</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Station-Agnostic Payload Platform</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11</a:t>
            </a:r>
          </a:p>
        </p:txBody>
      </p:sp>
      <p:sp>
        <p:nvSpPr>
          <p:cNvPr id="6" name="Rounded Rectangle 5"/>
          <p:cNvSpPr/>
          <p:nvPr/>
        </p:nvSpPr>
        <p:spPr>
          <a:xfrm>
            <a:off x="713232" y="1207008"/>
            <a:ext cx="10762488" cy="6583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310896"/>
          </a:xfrm>
          <a:prstGeom prst="rect">
            <a:avLst/>
          </a:prstGeom>
          <a:noFill/>
        </p:spPr>
        <p:txBody>
          <a:bodyPr wrap="square" lIns="36576" rIns="36576" tIns="36576" bIns="36576" anchor="t">
            <a:noAutofit/>
          </a:bodyPr>
          <a:lstStyle/>
          <a:p>
            <a:pPr algn="l">
              <a:spcBef>
                <a:spcPts val="0"/>
              </a:spcBef>
              <a:spcAft>
                <a:spcPts val="0"/>
              </a:spcAft>
            </a:pPr>
            <a:r>
              <a:rPr sz="1010" b="0">
                <a:solidFill>
                  <a:srgbClr val="24314A"/>
                </a:solidFill>
                <a:latin typeface="Aptos"/>
              </a:rPr>
              <a:t>Samuel Space is built as a payload integrator and tissue manufacturing platform - hardware-compatible across all emerging commercial LEO stations. The same flight-qualified platform, bioink libraries, and protocols deploy whether the payload flies on the ISS, Starlab, Axiom, Orbital Reef, or Vast.</a:t>
            </a:r>
          </a:p>
        </p:txBody>
      </p:sp>
      <p:sp>
        <p:nvSpPr>
          <p:cNvPr id="8" name="Rounded Rectangle 7"/>
          <p:cNvSpPr/>
          <p:nvPr/>
        </p:nvSpPr>
        <p:spPr>
          <a:xfrm>
            <a:off x="713232" y="2057400"/>
            <a:ext cx="475488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03704"/>
            <a:ext cx="442569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Modular Payload Design</a:t>
            </a:r>
          </a:p>
        </p:txBody>
      </p:sp>
      <p:sp>
        <p:nvSpPr>
          <p:cNvPr id="10" name="TextBox 9"/>
          <p:cNvSpPr txBox="1"/>
          <p:nvPr/>
        </p:nvSpPr>
        <p:spPr>
          <a:xfrm>
            <a:off x="877824" y="2496312"/>
            <a:ext cx="442569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Hardware footprint matches standard double-locker form factor compatible with ISS, Starlab, and Axiom interfaces - one build, many stations.</a:t>
            </a:r>
          </a:p>
        </p:txBody>
      </p:sp>
      <p:sp>
        <p:nvSpPr>
          <p:cNvPr id="11" name="Rounded Rectangle 10"/>
          <p:cNvSpPr/>
          <p:nvPr/>
        </p:nvSpPr>
        <p:spPr>
          <a:xfrm>
            <a:off x="713232" y="3300984"/>
            <a:ext cx="475488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447288"/>
            <a:ext cx="442569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Proprietary Cell-Line IP</a:t>
            </a:r>
          </a:p>
        </p:txBody>
      </p:sp>
      <p:sp>
        <p:nvSpPr>
          <p:cNvPr id="13" name="TextBox 12"/>
          <p:cNvSpPr txBox="1"/>
          <p:nvPr/>
        </p:nvSpPr>
        <p:spPr>
          <a:xfrm>
            <a:off x="877824" y="3739896"/>
            <a:ext cx="442569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Bioink formulations and printing protocols optimised for microgravity are the core defensible IP asset, accumulated across every mission flown.</a:t>
            </a:r>
          </a:p>
        </p:txBody>
      </p:sp>
      <p:sp>
        <p:nvSpPr>
          <p:cNvPr id="14" name="Rounded Rectangle 13"/>
          <p:cNvSpPr/>
          <p:nvPr/>
        </p:nvSpPr>
        <p:spPr>
          <a:xfrm>
            <a:off x="713232" y="4544568"/>
            <a:ext cx="4754880" cy="105156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4690872"/>
            <a:ext cx="4425696"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Service-First Revenue</a:t>
            </a:r>
          </a:p>
        </p:txBody>
      </p:sp>
      <p:sp>
        <p:nvSpPr>
          <p:cNvPr id="16" name="TextBox 15"/>
          <p:cNvSpPr txBox="1"/>
          <p:nvPr/>
        </p:nvSpPr>
        <p:spPr>
          <a:xfrm>
            <a:off x="877824" y="4983480"/>
            <a:ext cx="4425696" cy="429767"/>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Fee-for-service bioprinting generates near-term revenue from pharma and academic customers while building the IP base that creates long-term enterprise value.</a:t>
            </a:r>
          </a:p>
        </p:txBody>
      </p:sp>
      <p:sp>
        <p:nvSpPr>
          <p:cNvPr id="17" name="Rounded Rectangle 16"/>
          <p:cNvSpPr/>
          <p:nvPr/>
        </p:nvSpPr>
        <p:spPr>
          <a:xfrm>
            <a:off x="5669280" y="2057400"/>
            <a:ext cx="5806440" cy="4050791"/>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97880" y="2231136"/>
            <a:ext cx="2926080" cy="201168"/>
          </a:xfrm>
          <a:prstGeom prst="rect">
            <a:avLst/>
          </a:prstGeom>
          <a:noFill/>
        </p:spPr>
        <p:txBody>
          <a:bodyPr wrap="square" lIns="36576" rIns="36576" tIns="36576" bIns="36576" anchor="t">
            <a:noAutofit/>
          </a:bodyPr>
          <a:lstStyle/>
          <a:p>
            <a:pPr algn="l">
              <a:spcBef>
                <a:spcPts val="0"/>
              </a:spcBef>
              <a:spcAft>
                <a:spcPts val="0"/>
              </a:spcAft>
            </a:pPr>
            <a:r>
              <a:rPr sz="1150" b="1">
                <a:solidFill>
                  <a:srgbClr val="111F3D"/>
                </a:solidFill>
                <a:latin typeface="Aptos"/>
              </a:rPr>
              <a:t>STATION ECOSYSTEM COMPATIBILITY</a:t>
            </a:r>
          </a:p>
        </p:txBody>
      </p:sp>
      <p:sp>
        <p:nvSpPr>
          <p:cNvPr id="19" name="TextBox 18"/>
          <p:cNvSpPr txBox="1"/>
          <p:nvPr/>
        </p:nvSpPr>
        <p:spPr>
          <a:xfrm>
            <a:off x="5897880" y="2487168"/>
            <a:ext cx="3108960" cy="164592"/>
          </a:xfrm>
          <a:prstGeom prst="rect">
            <a:avLst/>
          </a:prstGeom>
          <a:noFill/>
        </p:spPr>
        <p:txBody>
          <a:bodyPr wrap="square" lIns="36576" rIns="36576" tIns="36576" bIns="36576" anchor="t">
            <a:noAutofit/>
          </a:bodyPr>
          <a:lstStyle/>
          <a:p>
            <a:pPr algn="l">
              <a:spcBef>
                <a:spcPts val="0"/>
              </a:spcBef>
              <a:spcAft>
                <a:spcPts val="0"/>
              </a:spcAft>
            </a:pPr>
            <a:r>
              <a:rPr sz="950" b="0">
                <a:solidFill>
                  <a:srgbClr val="606D82"/>
                </a:solidFill>
                <a:latin typeface="Aptos"/>
              </a:rPr>
              <a:t>Engineered for compatibility with next-generation orbital infrastructure.</a:t>
            </a:r>
          </a:p>
        </p:txBody>
      </p:sp>
      <p:pic>
        <p:nvPicPr>
          <p:cNvPr id="20" name="Picture 19" descr="platform.png"/>
          <p:cNvPicPr>
            <a:picLocks noChangeAspect="1"/>
          </p:cNvPicPr>
          <p:nvPr/>
        </p:nvPicPr>
        <p:blipFill>
          <a:blip r:embed="rId2"/>
          <a:stretch>
            <a:fillRect/>
          </a:stretch>
        </p:blipFill>
        <p:spPr>
          <a:xfrm>
            <a:off x="5897880" y="2761488"/>
            <a:ext cx="5349240" cy="2496312"/>
          </a:xfrm>
          <a:prstGeom prst="rect">
            <a:avLst/>
          </a:prstGeom>
        </p:spPr>
      </p:pic>
      <p:sp>
        <p:nvSpPr>
          <p:cNvPr id="21" name="TextBox 20"/>
          <p:cNvSpPr txBox="1"/>
          <p:nvPr/>
        </p:nvSpPr>
        <p:spPr>
          <a:xfrm>
            <a:off x="5897880" y="4681728"/>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ISS</a:t>
            </a:r>
          </a:p>
        </p:txBody>
      </p:sp>
      <p:sp>
        <p:nvSpPr>
          <p:cNvPr id="22" name="TextBox 21"/>
          <p:cNvSpPr txBox="1"/>
          <p:nvPr/>
        </p:nvSpPr>
        <p:spPr>
          <a:xfrm>
            <a:off x="7269480" y="4681728"/>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Redwire BFF - active now through ~2030</a:t>
            </a:r>
          </a:p>
        </p:txBody>
      </p:sp>
      <p:sp>
        <p:nvSpPr>
          <p:cNvPr id="23" name="TextBox 22"/>
          <p:cNvSpPr txBox="1"/>
          <p:nvPr/>
        </p:nvSpPr>
        <p:spPr>
          <a:xfrm>
            <a:off x="5897880" y="4928616"/>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Starlab</a:t>
            </a:r>
          </a:p>
        </p:txBody>
      </p:sp>
      <p:sp>
        <p:nvSpPr>
          <p:cNvPr id="24" name="TextBox 23"/>
          <p:cNvSpPr txBox="1"/>
          <p:nvPr/>
        </p:nvSpPr>
        <p:spPr>
          <a:xfrm>
            <a:off x="7269480" y="4928616"/>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Voyager/Airbus JV - targeting 2029 launch</a:t>
            </a:r>
          </a:p>
        </p:txBody>
      </p:sp>
      <p:sp>
        <p:nvSpPr>
          <p:cNvPr id="25" name="TextBox 24"/>
          <p:cNvSpPr txBox="1"/>
          <p:nvPr/>
        </p:nvSpPr>
        <p:spPr>
          <a:xfrm>
            <a:off x="5897880" y="5175504"/>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Axiom Station</a:t>
            </a:r>
          </a:p>
        </p:txBody>
      </p:sp>
      <p:sp>
        <p:nvSpPr>
          <p:cNvPr id="26" name="TextBox 25"/>
          <p:cNvSpPr txBox="1"/>
          <p:nvPr/>
        </p:nvSpPr>
        <p:spPr>
          <a:xfrm>
            <a:off x="7269480" y="5175504"/>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First commercial modules ~2026-2028</a:t>
            </a:r>
          </a:p>
        </p:txBody>
      </p:sp>
      <p:sp>
        <p:nvSpPr>
          <p:cNvPr id="27" name="TextBox 26"/>
          <p:cNvSpPr txBox="1"/>
          <p:nvPr/>
        </p:nvSpPr>
        <p:spPr>
          <a:xfrm>
            <a:off x="5897880" y="5422392"/>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Orbital Reef</a:t>
            </a:r>
          </a:p>
        </p:txBody>
      </p:sp>
      <p:sp>
        <p:nvSpPr>
          <p:cNvPr id="28" name="TextBox 27"/>
          <p:cNvSpPr txBox="1"/>
          <p:nvPr/>
        </p:nvSpPr>
        <p:spPr>
          <a:xfrm>
            <a:off x="7269480" y="5422392"/>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Blue Origin/Sierra Space - CLD-funded</a:t>
            </a:r>
          </a:p>
        </p:txBody>
      </p:sp>
      <p:sp>
        <p:nvSpPr>
          <p:cNvPr id="29" name="TextBox 28"/>
          <p:cNvSpPr txBox="1"/>
          <p:nvPr/>
        </p:nvSpPr>
        <p:spPr>
          <a:xfrm>
            <a:off x="5897880" y="5669280"/>
            <a:ext cx="1417320" cy="146304"/>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Vast Haven-1</a:t>
            </a:r>
          </a:p>
        </p:txBody>
      </p:sp>
      <p:sp>
        <p:nvSpPr>
          <p:cNvPr id="30" name="TextBox 29"/>
          <p:cNvSpPr txBox="1"/>
          <p:nvPr/>
        </p:nvSpPr>
        <p:spPr>
          <a:xfrm>
            <a:off x="7269480" y="5669280"/>
            <a:ext cx="3822191" cy="146304"/>
          </a:xfrm>
          <a:prstGeom prst="rect">
            <a:avLst/>
          </a:prstGeom>
          <a:noFill/>
        </p:spPr>
        <p:txBody>
          <a:bodyPr wrap="square" lIns="36576" rIns="36576" tIns="36576" bIns="36576" anchor="t">
            <a:noAutofit/>
          </a:bodyPr>
          <a:lstStyle/>
          <a:p>
            <a:pPr algn="l">
              <a:spcBef>
                <a:spcPts val="0"/>
              </a:spcBef>
              <a:spcAft>
                <a:spcPts val="0"/>
              </a:spcAft>
            </a:pPr>
            <a:r>
              <a:rPr sz="860" b="0">
                <a:solidFill>
                  <a:srgbClr val="606D82"/>
                </a:solidFill>
                <a:latin typeface="Aptos"/>
              </a:rPr>
              <a:t>First dedicated commercial station, 2026</a:t>
            </a:r>
          </a:p>
        </p:txBody>
      </p:sp>
      <p:sp>
        <p:nvSpPr>
          <p:cNvPr id="31" name="TextBox 30"/>
          <p:cNvSpPr txBox="1"/>
          <p:nvPr/>
        </p:nvSpPr>
        <p:spPr>
          <a:xfrm>
            <a:off x="5897880" y="5961888"/>
            <a:ext cx="5212080" cy="128016"/>
          </a:xfrm>
          <a:prstGeom prst="rect">
            <a:avLst/>
          </a:prstGeom>
          <a:noFill/>
        </p:spPr>
        <p:txBody>
          <a:bodyPr wrap="square" lIns="36576" rIns="36576" tIns="36576" bIns="36576" anchor="t">
            <a:noAutofit/>
          </a:bodyPr>
          <a:lstStyle/>
          <a:p>
            <a:pPr algn="l">
              <a:spcBef>
                <a:spcPts val="0"/>
              </a:spcBef>
              <a:spcAft>
                <a:spcPts val="0"/>
              </a:spcAft>
            </a:pPr>
            <a:r>
              <a:rPr sz="780" b="0">
                <a:solidFill>
                  <a:srgbClr val="606D82"/>
                </a:solidFill>
                <a:latin typeface="Aptos"/>
              </a:rPr>
              <a:t>Station names shown as market context only - not as confirmed Samuel partnerships.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EXECUTION PLAN</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Four-Phase Technology &amp; Commercialisation Roadmap</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12</a:t>
            </a:r>
          </a:p>
        </p:txBody>
      </p:sp>
      <p:sp>
        <p:nvSpPr>
          <p:cNvPr id="6" name="Rounded Rectangle 5"/>
          <p:cNvSpPr/>
          <p:nvPr/>
        </p:nvSpPr>
        <p:spPr>
          <a:xfrm>
            <a:off x="713232" y="1325880"/>
            <a:ext cx="2606040" cy="47548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59536" y="1517904"/>
            <a:ext cx="786384"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536192"/>
            <a:ext cx="749808"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PHASE 1</a:t>
            </a:r>
          </a:p>
        </p:txBody>
      </p:sp>
      <p:sp>
        <p:nvSpPr>
          <p:cNvPr id="9" name="TextBox 8"/>
          <p:cNvSpPr txBox="1"/>
          <p:nvPr/>
        </p:nvSpPr>
        <p:spPr>
          <a:xfrm>
            <a:off x="859536" y="1901952"/>
            <a:ext cx="1417320" cy="164592"/>
          </a:xfrm>
          <a:prstGeom prst="rect">
            <a:avLst/>
          </a:prstGeom>
          <a:noFill/>
        </p:spPr>
        <p:txBody>
          <a:bodyPr wrap="square" lIns="36576" rIns="36576" tIns="36576" bIns="36576" anchor="t">
            <a:noAutofit/>
          </a:bodyPr>
          <a:lstStyle/>
          <a:p>
            <a:pPr algn="l">
              <a:spcBef>
                <a:spcPts val="0"/>
              </a:spcBef>
              <a:spcAft>
                <a:spcPts val="0"/>
              </a:spcAft>
            </a:pPr>
            <a:r>
              <a:rPr sz="919" b="1">
                <a:solidFill>
                  <a:srgbClr val="606D82"/>
                </a:solidFill>
                <a:latin typeface="Aptos"/>
              </a:rPr>
              <a:t>Years 1-2</a:t>
            </a:r>
          </a:p>
        </p:txBody>
      </p:sp>
      <p:sp>
        <p:nvSpPr>
          <p:cNvPr id="10" name="TextBox 9"/>
          <p:cNvSpPr txBox="1"/>
          <p:nvPr/>
        </p:nvSpPr>
        <p:spPr>
          <a:xfrm>
            <a:off x="859536" y="2176272"/>
            <a:ext cx="2240280" cy="256032"/>
          </a:xfrm>
          <a:prstGeom prst="rect">
            <a:avLst/>
          </a:prstGeom>
          <a:noFill/>
        </p:spPr>
        <p:txBody>
          <a:bodyPr wrap="square" lIns="36576" rIns="36576" tIns="36576" bIns="36576" anchor="t">
            <a:noAutofit/>
          </a:bodyPr>
          <a:lstStyle/>
          <a:p>
            <a:pPr algn="l">
              <a:spcBef>
                <a:spcPts val="0"/>
              </a:spcBef>
              <a:spcAft>
                <a:spcPts val="0"/>
              </a:spcAft>
            </a:pPr>
            <a:r>
              <a:rPr sz="1220" b="1">
                <a:solidFill>
                  <a:srgbClr val="111F3D"/>
                </a:solidFill>
                <a:latin typeface="Aptos"/>
              </a:rPr>
              <a:t>Platform &amp; Wound Care</a:t>
            </a:r>
          </a:p>
        </p:txBody>
      </p:sp>
      <p:sp>
        <p:nvSpPr>
          <p:cNvPr id="11" name="TextBox 10"/>
          <p:cNvSpPr txBox="1"/>
          <p:nvPr/>
        </p:nvSpPr>
        <p:spPr>
          <a:xfrm>
            <a:off x="859536" y="2578608"/>
            <a:ext cx="2240280" cy="2560320"/>
          </a:xfrm>
          <a:prstGeom prst="rect">
            <a:avLst/>
          </a:prstGeom>
          <a:noFill/>
        </p:spPr>
        <p:txBody>
          <a:bodyPr wrap="square" lIns="45720" rIns="45720" anchor="t">
            <a:noAutofit/>
          </a:bodyPr>
          <a:lstStyle/>
          <a:p>
            <a:pPr algn="l">
              <a:spcAft>
                <a:spcPts val="200"/>
              </a:spcAft>
            </a:pPr>
            <a:r>
              <a:rPr sz="960" b="0">
                <a:solidFill>
                  <a:srgbClr val="13B8A9"/>
                </a:solidFill>
                <a:latin typeface="Aptos"/>
              </a:rPr>
              <a:t>- ISS payload hardware certification</a:t>
            </a:r>
          </a:p>
          <a:p>
            <a:pPr algn="l">
              <a:spcAft>
                <a:spcPts val="200"/>
              </a:spcAft>
            </a:pPr>
            <a:r>
              <a:rPr sz="960" b="0">
                <a:solidFill>
                  <a:srgbClr val="13B8A9"/>
                </a:solidFill>
                <a:latin typeface="Aptos"/>
              </a:rPr>
              <a:t>- Commercial wound-care patch trials</a:t>
            </a:r>
          </a:p>
          <a:p>
            <a:pPr algn="l">
              <a:spcAft>
                <a:spcPts val="200"/>
              </a:spcAft>
            </a:pPr>
            <a:r>
              <a:rPr sz="960" b="0">
                <a:solidFill>
                  <a:srgbClr val="13B8A9"/>
                </a:solidFill>
                <a:latin typeface="Aptos"/>
              </a:rPr>
              <a:t>- NASA InSPA Phase 1 grant applications</a:t>
            </a:r>
          </a:p>
          <a:p>
            <a:pPr algn="l">
              <a:spcAft>
                <a:spcPts val="200"/>
              </a:spcAft>
            </a:pPr>
            <a:r>
              <a:rPr sz="960" b="0">
                <a:solidFill>
                  <a:srgbClr val="13B8A9"/>
                </a:solidFill>
                <a:latin typeface="Aptos"/>
              </a:rPr>
              <a:t>- Research tissue models for pharma CROs</a:t>
            </a:r>
          </a:p>
        </p:txBody>
      </p:sp>
      <p:sp>
        <p:nvSpPr>
          <p:cNvPr id="12" name="Rounded Rectangle 11"/>
          <p:cNvSpPr/>
          <p:nvPr/>
        </p:nvSpPr>
        <p:spPr>
          <a:xfrm>
            <a:off x="859536" y="5486400"/>
            <a:ext cx="1024128" cy="256032"/>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5550408"/>
            <a:ext cx="914400" cy="109728"/>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TRL 4 -&gt; 6</a:t>
            </a:r>
          </a:p>
        </p:txBody>
      </p:sp>
      <p:sp>
        <p:nvSpPr>
          <p:cNvPr id="14" name="Rounded Rectangle 13"/>
          <p:cNvSpPr/>
          <p:nvPr/>
        </p:nvSpPr>
        <p:spPr>
          <a:xfrm>
            <a:off x="3456432" y="1325880"/>
            <a:ext cx="2606040" cy="47548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02736" y="1517904"/>
            <a:ext cx="786384"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536192"/>
            <a:ext cx="749808"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PHASE 2</a:t>
            </a:r>
          </a:p>
        </p:txBody>
      </p:sp>
      <p:sp>
        <p:nvSpPr>
          <p:cNvPr id="17" name="TextBox 16"/>
          <p:cNvSpPr txBox="1"/>
          <p:nvPr/>
        </p:nvSpPr>
        <p:spPr>
          <a:xfrm>
            <a:off x="3602736" y="1901952"/>
            <a:ext cx="1417320" cy="164592"/>
          </a:xfrm>
          <a:prstGeom prst="rect">
            <a:avLst/>
          </a:prstGeom>
          <a:noFill/>
        </p:spPr>
        <p:txBody>
          <a:bodyPr wrap="square" lIns="36576" rIns="36576" tIns="36576" bIns="36576" anchor="t">
            <a:noAutofit/>
          </a:bodyPr>
          <a:lstStyle/>
          <a:p>
            <a:pPr algn="l">
              <a:spcBef>
                <a:spcPts val="0"/>
              </a:spcBef>
              <a:spcAft>
                <a:spcPts val="0"/>
              </a:spcAft>
            </a:pPr>
            <a:r>
              <a:rPr sz="919" b="1">
                <a:solidFill>
                  <a:srgbClr val="606D82"/>
                </a:solidFill>
                <a:latin typeface="Aptos"/>
              </a:rPr>
              <a:t>Years 3-5</a:t>
            </a:r>
          </a:p>
        </p:txBody>
      </p:sp>
      <p:sp>
        <p:nvSpPr>
          <p:cNvPr id="18" name="TextBox 17"/>
          <p:cNvSpPr txBox="1"/>
          <p:nvPr/>
        </p:nvSpPr>
        <p:spPr>
          <a:xfrm>
            <a:off x="3602736" y="2176272"/>
            <a:ext cx="2240280" cy="256032"/>
          </a:xfrm>
          <a:prstGeom prst="rect">
            <a:avLst/>
          </a:prstGeom>
          <a:noFill/>
        </p:spPr>
        <p:txBody>
          <a:bodyPr wrap="square" lIns="36576" rIns="36576" tIns="36576" bIns="36576" anchor="t">
            <a:noAutofit/>
          </a:bodyPr>
          <a:lstStyle/>
          <a:p>
            <a:pPr algn="l">
              <a:spcBef>
                <a:spcPts val="0"/>
              </a:spcBef>
              <a:spcAft>
                <a:spcPts val="0"/>
              </a:spcAft>
            </a:pPr>
            <a:r>
              <a:rPr sz="1220" b="1">
                <a:solidFill>
                  <a:srgbClr val="111F3D"/>
                </a:solidFill>
                <a:latin typeface="Aptos"/>
              </a:rPr>
              <a:t>Orthopedic &amp; Cardiac</a:t>
            </a:r>
          </a:p>
        </p:txBody>
      </p:sp>
      <p:sp>
        <p:nvSpPr>
          <p:cNvPr id="19" name="TextBox 18"/>
          <p:cNvSpPr txBox="1"/>
          <p:nvPr/>
        </p:nvSpPr>
        <p:spPr>
          <a:xfrm>
            <a:off x="3602736" y="2578608"/>
            <a:ext cx="2240280" cy="2560320"/>
          </a:xfrm>
          <a:prstGeom prst="rect">
            <a:avLst/>
          </a:prstGeom>
          <a:noFill/>
        </p:spPr>
        <p:txBody>
          <a:bodyPr wrap="square" lIns="45720" rIns="45720" anchor="t">
            <a:noAutofit/>
          </a:bodyPr>
          <a:lstStyle/>
          <a:p>
            <a:pPr algn="l">
              <a:spcAft>
                <a:spcPts val="200"/>
              </a:spcAft>
            </a:pPr>
            <a:r>
              <a:rPr sz="960" b="0">
                <a:solidFill>
                  <a:srgbClr val="13B8A9"/>
                </a:solidFill>
                <a:latin typeface="Aptos"/>
              </a:rPr>
              <a:t>- 510(k) filing for wound-care products</a:t>
            </a:r>
          </a:p>
          <a:p>
            <a:pPr algn="l">
              <a:spcAft>
                <a:spcPts val="200"/>
              </a:spcAft>
            </a:pPr>
            <a:r>
              <a:rPr sz="960" b="0">
                <a:solidFill>
                  <a:srgbClr val="13B8A9"/>
                </a:solidFill>
                <a:latin typeface="Aptos"/>
              </a:rPr>
              <a:t>- Orthopedic graft BFF-compatible program</a:t>
            </a:r>
          </a:p>
          <a:p>
            <a:pPr algn="l">
              <a:spcAft>
                <a:spcPts val="200"/>
              </a:spcAft>
            </a:pPr>
            <a:r>
              <a:rPr sz="960" b="0">
                <a:solidFill>
                  <a:srgbClr val="13B8A9"/>
                </a:solidFill>
                <a:latin typeface="Aptos"/>
              </a:rPr>
              <a:t>- Cardiac patch preclinical studies</a:t>
            </a:r>
          </a:p>
          <a:p>
            <a:pPr algn="l">
              <a:spcAft>
                <a:spcPts val="200"/>
              </a:spcAft>
            </a:pPr>
            <a:r>
              <a:rPr sz="960" b="0">
                <a:solidFill>
                  <a:srgbClr val="13B8A9"/>
                </a:solidFill>
                <a:latin typeface="Aptos"/>
              </a:rPr>
              <a:t>- Series B fundraise</a:t>
            </a:r>
          </a:p>
        </p:txBody>
      </p:sp>
      <p:sp>
        <p:nvSpPr>
          <p:cNvPr id="20" name="Rounded Rectangle 19"/>
          <p:cNvSpPr/>
          <p:nvPr/>
        </p:nvSpPr>
        <p:spPr>
          <a:xfrm>
            <a:off x="3602736" y="5486400"/>
            <a:ext cx="1024128" cy="256032"/>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8" y="5550408"/>
            <a:ext cx="914400" cy="109728"/>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TRL 6 -&gt; 8</a:t>
            </a:r>
          </a:p>
        </p:txBody>
      </p:sp>
      <p:sp>
        <p:nvSpPr>
          <p:cNvPr id="22" name="Rounded Rectangle 21"/>
          <p:cNvSpPr/>
          <p:nvPr/>
        </p:nvSpPr>
        <p:spPr>
          <a:xfrm>
            <a:off x="6199632" y="1325880"/>
            <a:ext cx="2606040" cy="47548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45936" y="1517904"/>
            <a:ext cx="786384"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4224" y="1536192"/>
            <a:ext cx="749808"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PHASE 3</a:t>
            </a:r>
          </a:p>
        </p:txBody>
      </p:sp>
      <p:sp>
        <p:nvSpPr>
          <p:cNvPr id="25" name="TextBox 24"/>
          <p:cNvSpPr txBox="1"/>
          <p:nvPr/>
        </p:nvSpPr>
        <p:spPr>
          <a:xfrm>
            <a:off x="6345936" y="1901952"/>
            <a:ext cx="1417320" cy="164592"/>
          </a:xfrm>
          <a:prstGeom prst="rect">
            <a:avLst/>
          </a:prstGeom>
          <a:noFill/>
        </p:spPr>
        <p:txBody>
          <a:bodyPr wrap="square" lIns="36576" rIns="36576" tIns="36576" bIns="36576" anchor="t">
            <a:noAutofit/>
          </a:bodyPr>
          <a:lstStyle/>
          <a:p>
            <a:pPr algn="l">
              <a:spcBef>
                <a:spcPts val="0"/>
              </a:spcBef>
              <a:spcAft>
                <a:spcPts val="0"/>
              </a:spcAft>
            </a:pPr>
            <a:r>
              <a:rPr sz="919" b="1">
                <a:solidFill>
                  <a:srgbClr val="606D82"/>
                </a:solidFill>
                <a:latin typeface="Aptos"/>
              </a:rPr>
              <a:t>Years 6-9</a:t>
            </a:r>
          </a:p>
        </p:txBody>
      </p:sp>
      <p:sp>
        <p:nvSpPr>
          <p:cNvPr id="26" name="TextBox 25"/>
          <p:cNvSpPr txBox="1"/>
          <p:nvPr/>
        </p:nvSpPr>
        <p:spPr>
          <a:xfrm>
            <a:off x="6345936" y="2176272"/>
            <a:ext cx="2240280" cy="256032"/>
          </a:xfrm>
          <a:prstGeom prst="rect">
            <a:avLst/>
          </a:prstGeom>
          <a:noFill/>
        </p:spPr>
        <p:txBody>
          <a:bodyPr wrap="square" lIns="36576" rIns="36576" tIns="36576" bIns="36576" anchor="t">
            <a:noAutofit/>
          </a:bodyPr>
          <a:lstStyle/>
          <a:p>
            <a:pPr algn="l">
              <a:spcBef>
                <a:spcPts val="0"/>
              </a:spcBef>
              <a:spcAft>
                <a:spcPts val="0"/>
              </a:spcAft>
            </a:pPr>
            <a:r>
              <a:rPr sz="1220" b="1">
                <a:solidFill>
                  <a:srgbClr val="111F3D"/>
                </a:solidFill>
                <a:latin typeface="Aptos"/>
              </a:rPr>
              <a:t>Retinal &amp; Vascular</a:t>
            </a:r>
          </a:p>
        </p:txBody>
      </p:sp>
      <p:sp>
        <p:nvSpPr>
          <p:cNvPr id="27" name="TextBox 26"/>
          <p:cNvSpPr txBox="1"/>
          <p:nvPr/>
        </p:nvSpPr>
        <p:spPr>
          <a:xfrm>
            <a:off x="6345936" y="2578608"/>
            <a:ext cx="2240280" cy="2560320"/>
          </a:xfrm>
          <a:prstGeom prst="rect">
            <a:avLst/>
          </a:prstGeom>
          <a:noFill/>
        </p:spPr>
        <p:txBody>
          <a:bodyPr wrap="square" lIns="45720" rIns="45720" anchor="t">
            <a:noAutofit/>
          </a:bodyPr>
          <a:lstStyle/>
          <a:p>
            <a:pPr algn="l">
              <a:spcAft>
                <a:spcPts val="200"/>
              </a:spcAft>
            </a:pPr>
            <a:r>
              <a:rPr sz="960" b="0">
                <a:solidFill>
                  <a:srgbClr val="13B8A9"/>
                </a:solidFill>
                <a:latin typeface="Aptos"/>
              </a:rPr>
              <a:t>- Clinical trials for retinal constructs</a:t>
            </a:r>
          </a:p>
          <a:p>
            <a:pPr algn="l">
              <a:spcAft>
                <a:spcPts val="200"/>
              </a:spcAft>
            </a:pPr>
            <a:r>
              <a:rPr sz="960" b="0">
                <a:solidFill>
                  <a:srgbClr val="13B8A9"/>
                </a:solidFill>
                <a:latin typeface="Aptos"/>
              </a:rPr>
              <a:t>- FDA PMA pathway engagement</a:t>
            </a:r>
          </a:p>
          <a:p>
            <a:pPr algn="l">
              <a:spcAft>
                <a:spcPts val="200"/>
              </a:spcAft>
            </a:pPr>
            <a:r>
              <a:rPr sz="960" b="0">
                <a:solidFill>
                  <a:srgbClr val="13B8A9"/>
                </a:solidFill>
                <a:latin typeface="Aptos"/>
              </a:rPr>
              <a:t>- Expand to Orbital Reef / Axiom</a:t>
            </a:r>
          </a:p>
          <a:p>
            <a:pPr algn="l">
              <a:spcAft>
                <a:spcPts val="200"/>
              </a:spcAft>
            </a:pPr>
            <a:r>
              <a:rPr sz="960" b="0">
                <a:solidFill>
                  <a:srgbClr val="13B8A9"/>
                </a:solidFill>
                <a:latin typeface="Aptos"/>
              </a:rPr>
              <a:t>- Series C / pre-IPO raise</a:t>
            </a:r>
          </a:p>
        </p:txBody>
      </p:sp>
      <p:sp>
        <p:nvSpPr>
          <p:cNvPr id="28" name="Rounded Rectangle 27"/>
          <p:cNvSpPr/>
          <p:nvPr/>
        </p:nvSpPr>
        <p:spPr>
          <a:xfrm>
            <a:off x="6345936" y="5486400"/>
            <a:ext cx="1024128" cy="256032"/>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5550408"/>
            <a:ext cx="914400" cy="109728"/>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TRL 7 -&gt; 9</a:t>
            </a:r>
          </a:p>
        </p:txBody>
      </p:sp>
      <p:sp>
        <p:nvSpPr>
          <p:cNvPr id="30" name="Rounded Rectangle 29"/>
          <p:cNvSpPr/>
          <p:nvPr/>
        </p:nvSpPr>
        <p:spPr>
          <a:xfrm>
            <a:off x="8942832" y="1325880"/>
            <a:ext cx="2606040" cy="475488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89136" y="1517904"/>
            <a:ext cx="786384"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424" y="1536192"/>
            <a:ext cx="749808"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PHASE 4</a:t>
            </a:r>
          </a:p>
        </p:txBody>
      </p:sp>
      <p:sp>
        <p:nvSpPr>
          <p:cNvPr id="33" name="TextBox 32"/>
          <p:cNvSpPr txBox="1"/>
          <p:nvPr/>
        </p:nvSpPr>
        <p:spPr>
          <a:xfrm>
            <a:off x="9089136" y="1901952"/>
            <a:ext cx="1417320" cy="164592"/>
          </a:xfrm>
          <a:prstGeom prst="rect">
            <a:avLst/>
          </a:prstGeom>
          <a:noFill/>
        </p:spPr>
        <p:txBody>
          <a:bodyPr wrap="square" lIns="36576" rIns="36576" tIns="36576" bIns="36576" anchor="t">
            <a:noAutofit/>
          </a:bodyPr>
          <a:lstStyle/>
          <a:p>
            <a:pPr algn="l">
              <a:spcBef>
                <a:spcPts val="0"/>
              </a:spcBef>
              <a:spcAft>
                <a:spcPts val="0"/>
              </a:spcAft>
            </a:pPr>
            <a:r>
              <a:rPr sz="919" b="1">
                <a:solidFill>
                  <a:srgbClr val="606D82"/>
                </a:solidFill>
                <a:latin typeface="Aptos"/>
              </a:rPr>
              <a:t>Year 10+</a:t>
            </a:r>
          </a:p>
        </p:txBody>
      </p:sp>
      <p:sp>
        <p:nvSpPr>
          <p:cNvPr id="34" name="TextBox 33"/>
          <p:cNvSpPr txBox="1"/>
          <p:nvPr/>
        </p:nvSpPr>
        <p:spPr>
          <a:xfrm>
            <a:off x="9089136" y="2176272"/>
            <a:ext cx="2240280" cy="256032"/>
          </a:xfrm>
          <a:prstGeom prst="rect">
            <a:avLst/>
          </a:prstGeom>
          <a:noFill/>
        </p:spPr>
        <p:txBody>
          <a:bodyPr wrap="square" lIns="36576" rIns="36576" tIns="36576" bIns="36576" anchor="t">
            <a:noAutofit/>
          </a:bodyPr>
          <a:lstStyle/>
          <a:p>
            <a:pPr algn="l">
              <a:spcBef>
                <a:spcPts val="0"/>
              </a:spcBef>
              <a:spcAft>
                <a:spcPts val="0"/>
              </a:spcAft>
            </a:pPr>
            <a:r>
              <a:rPr sz="1220" b="1">
                <a:solidFill>
                  <a:srgbClr val="111F3D"/>
                </a:solidFill>
                <a:latin typeface="Aptos"/>
              </a:rPr>
              <a:t>Whole-Organ Platform</a:t>
            </a:r>
          </a:p>
        </p:txBody>
      </p:sp>
      <p:sp>
        <p:nvSpPr>
          <p:cNvPr id="35" name="TextBox 34"/>
          <p:cNvSpPr txBox="1"/>
          <p:nvPr/>
        </p:nvSpPr>
        <p:spPr>
          <a:xfrm>
            <a:off x="9089136" y="2578608"/>
            <a:ext cx="2240280" cy="2560320"/>
          </a:xfrm>
          <a:prstGeom prst="rect">
            <a:avLst/>
          </a:prstGeom>
          <a:noFill/>
        </p:spPr>
        <p:txBody>
          <a:bodyPr wrap="square" lIns="45720" rIns="45720" anchor="t">
            <a:noAutofit/>
          </a:bodyPr>
          <a:lstStyle/>
          <a:p>
            <a:pPr algn="l">
              <a:spcAft>
                <a:spcPts val="200"/>
              </a:spcAft>
            </a:pPr>
            <a:r>
              <a:rPr sz="960" b="0">
                <a:solidFill>
                  <a:srgbClr val="13B8A9"/>
                </a:solidFill>
                <a:latin typeface="Aptos"/>
              </a:rPr>
              <a:t>- Vascularised full-organ constructs</a:t>
            </a:r>
          </a:p>
          <a:p>
            <a:pPr algn="l">
              <a:spcAft>
                <a:spcPts val="200"/>
              </a:spcAft>
            </a:pPr>
            <a:r>
              <a:rPr sz="960" b="0">
                <a:solidFill>
                  <a:srgbClr val="13B8A9"/>
                </a:solidFill>
                <a:latin typeface="Aptos"/>
              </a:rPr>
              <a:t>- Commercial station scale-up</a:t>
            </a:r>
          </a:p>
          <a:p>
            <a:pPr algn="l">
              <a:spcAft>
                <a:spcPts val="200"/>
              </a:spcAft>
            </a:pPr>
            <a:r>
              <a:rPr sz="960" b="0">
                <a:solidFill>
                  <a:srgbClr val="13B8A9"/>
                </a:solidFill>
                <a:latin typeface="Aptos"/>
              </a:rPr>
              <a:t>- Platform licensing to pharma majors</a:t>
            </a:r>
          </a:p>
          <a:p>
            <a:pPr algn="l">
              <a:spcAft>
                <a:spcPts val="200"/>
              </a:spcAft>
            </a:pPr>
            <a:r>
              <a:rPr sz="960" b="0">
                <a:solidFill>
                  <a:srgbClr val="13B8A9"/>
                </a:solidFill>
                <a:latin typeface="Aptos"/>
              </a:rPr>
              <a:t>- IPO or strategic exit</a:t>
            </a:r>
          </a:p>
        </p:txBody>
      </p:sp>
      <p:sp>
        <p:nvSpPr>
          <p:cNvPr id="36" name="Rounded Rectangle 35"/>
          <p:cNvSpPr/>
          <p:nvPr/>
        </p:nvSpPr>
        <p:spPr>
          <a:xfrm>
            <a:off x="9089136" y="5486400"/>
            <a:ext cx="1024128" cy="256032"/>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62288" y="5550408"/>
            <a:ext cx="914400" cy="109728"/>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TRL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COMPETITIVE LANDSCAPE</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Samuel Space Targets the Space-Based Clinical Quadrant</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13</a:t>
            </a:r>
          </a:p>
        </p:txBody>
      </p:sp>
      <p:sp>
        <p:nvSpPr>
          <p:cNvPr id="6" name="Rounded Rectangle 5"/>
          <p:cNvSpPr/>
          <p:nvPr/>
        </p:nvSpPr>
        <p:spPr>
          <a:xfrm>
            <a:off x="960120" y="1325880"/>
            <a:ext cx="10058400" cy="44348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80160" y="3547872"/>
            <a:ext cx="9418320" cy="27432"/>
          </a:xfrm>
          <a:prstGeom prst="rect">
            <a:avLst/>
          </a:prstGeom>
          <a:solidFill>
            <a:srgbClr val="DC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89320" y="1645920"/>
            <a:ext cx="27432" cy="3794760"/>
          </a:xfrm>
          <a:prstGeom prst="rect">
            <a:avLst/>
          </a:prstGeom>
          <a:solidFill>
            <a:srgbClr val="DCE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517904"/>
            <a:ext cx="2011680" cy="146304"/>
          </a:xfrm>
          <a:prstGeom prst="rect">
            <a:avLst/>
          </a:prstGeom>
          <a:noFill/>
        </p:spPr>
        <p:txBody>
          <a:bodyPr wrap="square" lIns="36576" rIns="36576" tIns="36576" bIns="36576" anchor="t">
            <a:noAutofit/>
          </a:bodyPr>
          <a:lstStyle/>
          <a:p>
            <a:pPr algn="l">
              <a:spcBef>
                <a:spcPts val="0"/>
              </a:spcBef>
              <a:spcAft>
                <a:spcPts val="0"/>
              </a:spcAft>
            </a:pPr>
            <a:r>
              <a:rPr sz="950" b="1">
                <a:solidFill>
                  <a:srgbClr val="606D82"/>
                </a:solidFill>
                <a:latin typeface="Aptos"/>
              </a:rPr>
              <a:t>EARTH-BASED</a:t>
            </a:r>
          </a:p>
        </p:txBody>
      </p:sp>
      <p:sp>
        <p:nvSpPr>
          <p:cNvPr id="10" name="TextBox 9"/>
          <p:cNvSpPr txBox="1"/>
          <p:nvPr/>
        </p:nvSpPr>
        <p:spPr>
          <a:xfrm>
            <a:off x="6181344" y="1517904"/>
            <a:ext cx="2011680" cy="146304"/>
          </a:xfrm>
          <a:prstGeom prst="rect">
            <a:avLst/>
          </a:prstGeom>
          <a:noFill/>
        </p:spPr>
        <p:txBody>
          <a:bodyPr wrap="square" lIns="36576" rIns="36576" tIns="36576" bIns="36576" anchor="t">
            <a:noAutofit/>
          </a:bodyPr>
          <a:lstStyle/>
          <a:p>
            <a:pPr algn="l">
              <a:spcBef>
                <a:spcPts val="0"/>
              </a:spcBef>
              <a:spcAft>
                <a:spcPts val="0"/>
              </a:spcAft>
            </a:pPr>
            <a:r>
              <a:rPr sz="950" b="1">
                <a:solidFill>
                  <a:srgbClr val="606D82"/>
                </a:solidFill>
                <a:latin typeface="Aptos"/>
              </a:rPr>
              <a:t>SPACE-BASED</a:t>
            </a:r>
          </a:p>
        </p:txBody>
      </p:sp>
      <p:sp>
        <p:nvSpPr>
          <p:cNvPr id="11" name="TextBox 10"/>
          <p:cNvSpPr txBox="1"/>
          <p:nvPr/>
        </p:nvSpPr>
        <p:spPr>
          <a:xfrm>
            <a:off x="1005840" y="1810512"/>
            <a:ext cx="1737360" cy="146304"/>
          </a:xfrm>
          <a:prstGeom prst="rect">
            <a:avLst/>
          </a:prstGeom>
          <a:noFill/>
        </p:spPr>
        <p:txBody>
          <a:bodyPr wrap="square" lIns="36576" rIns="36576" tIns="36576" bIns="36576" anchor="t">
            <a:noAutofit/>
          </a:bodyPr>
          <a:lstStyle/>
          <a:p>
            <a:pPr algn="l">
              <a:spcBef>
                <a:spcPts val="0"/>
              </a:spcBef>
              <a:spcAft>
                <a:spcPts val="0"/>
              </a:spcAft>
            </a:pPr>
            <a:r>
              <a:rPr sz="950" b="1">
                <a:solidFill>
                  <a:srgbClr val="606D82"/>
                </a:solidFill>
                <a:latin typeface="Aptos"/>
              </a:rPr>
              <a:t>CLINICAL / COMMERCIAL</a:t>
            </a:r>
          </a:p>
        </p:txBody>
      </p:sp>
      <p:sp>
        <p:nvSpPr>
          <p:cNvPr id="12" name="TextBox 11"/>
          <p:cNvSpPr txBox="1"/>
          <p:nvPr/>
        </p:nvSpPr>
        <p:spPr>
          <a:xfrm>
            <a:off x="1005840" y="5285232"/>
            <a:ext cx="1417320" cy="146304"/>
          </a:xfrm>
          <a:prstGeom prst="rect">
            <a:avLst/>
          </a:prstGeom>
          <a:noFill/>
        </p:spPr>
        <p:txBody>
          <a:bodyPr wrap="square" lIns="36576" rIns="36576" tIns="36576" bIns="36576" anchor="t">
            <a:noAutofit/>
          </a:bodyPr>
          <a:lstStyle/>
          <a:p>
            <a:pPr algn="l">
              <a:spcBef>
                <a:spcPts val="0"/>
              </a:spcBef>
              <a:spcAft>
                <a:spcPts val="0"/>
              </a:spcAft>
            </a:pPr>
            <a:r>
              <a:rPr sz="950" b="1">
                <a:solidFill>
                  <a:srgbClr val="606D82"/>
                </a:solidFill>
                <a:latin typeface="Aptos"/>
              </a:rPr>
              <a:t>EARLY RESEARCH</a:t>
            </a:r>
          </a:p>
        </p:txBody>
      </p:sp>
      <p:sp>
        <p:nvSpPr>
          <p:cNvPr id="13" name="Oval 12"/>
          <p:cNvSpPr/>
          <p:nvPr/>
        </p:nvSpPr>
        <p:spPr>
          <a:xfrm>
            <a:off x="2011680" y="256032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31136" y="254203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3D Systems (Med)</a:t>
            </a:r>
          </a:p>
        </p:txBody>
      </p:sp>
      <p:sp>
        <p:nvSpPr>
          <p:cNvPr id="15" name="Oval 14"/>
          <p:cNvSpPr/>
          <p:nvPr/>
        </p:nvSpPr>
        <p:spPr>
          <a:xfrm>
            <a:off x="1554480" y="347472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773936" y="345643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Cellink / BICO</a:t>
            </a:r>
          </a:p>
        </p:txBody>
      </p:sp>
      <p:sp>
        <p:nvSpPr>
          <p:cNvPr id="17" name="Oval 16"/>
          <p:cNvSpPr/>
          <p:nvPr/>
        </p:nvSpPr>
        <p:spPr>
          <a:xfrm>
            <a:off x="1828800" y="429768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48256" y="427939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Organovo</a:t>
            </a:r>
          </a:p>
        </p:txBody>
      </p:sp>
      <p:sp>
        <p:nvSpPr>
          <p:cNvPr id="19" name="Oval 18"/>
          <p:cNvSpPr/>
          <p:nvPr/>
        </p:nvSpPr>
        <p:spPr>
          <a:xfrm>
            <a:off x="7955279" y="361188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74736" y="359359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Redwire BFF</a:t>
            </a:r>
          </a:p>
        </p:txBody>
      </p:sp>
      <p:sp>
        <p:nvSpPr>
          <p:cNvPr id="21" name="Oval 20"/>
          <p:cNvSpPr/>
          <p:nvPr/>
        </p:nvSpPr>
        <p:spPr>
          <a:xfrm>
            <a:off x="9144000" y="278892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3456" y="277063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LambdaVision</a:t>
            </a:r>
          </a:p>
        </p:txBody>
      </p:sp>
      <p:sp>
        <p:nvSpPr>
          <p:cNvPr id="23" name="Oval 22"/>
          <p:cNvSpPr/>
          <p:nvPr/>
        </p:nvSpPr>
        <p:spPr>
          <a:xfrm>
            <a:off x="6949440" y="4572000"/>
            <a:ext cx="164592" cy="164592"/>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68896" y="4553712"/>
            <a:ext cx="1783080" cy="201168"/>
          </a:xfrm>
          <a:prstGeom prst="rect">
            <a:avLst/>
          </a:prstGeom>
          <a:noFill/>
        </p:spPr>
        <p:txBody>
          <a:bodyPr wrap="square" lIns="36576" rIns="36576" tIns="36576" bIns="36576" anchor="t">
            <a:noAutofit/>
          </a:bodyPr>
          <a:lstStyle/>
          <a:p>
            <a:pPr algn="l">
              <a:spcBef>
                <a:spcPts val="0"/>
              </a:spcBef>
              <a:spcAft>
                <a:spcPts val="0"/>
              </a:spcAft>
            </a:pPr>
            <a:r>
              <a:rPr sz="940" b="0">
                <a:solidFill>
                  <a:srgbClr val="24314A"/>
                </a:solidFill>
                <a:latin typeface="Aptos"/>
              </a:rPr>
              <a:t>ROSCOSMOS / 3D BPS</a:t>
            </a:r>
          </a:p>
        </p:txBody>
      </p:sp>
      <p:sp>
        <p:nvSpPr>
          <p:cNvPr id="25" name="Oval 24"/>
          <p:cNvSpPr/>
          <p:nvPr/>
        </p:nvSpPr>
        <p:spPr>
          <a:xfrm>
            <a:off x="9098280" y="2011680"/>
            <a:ext cx="219456" cy="219456"/>
          </a:xfrm>
          <a:prstGeom prst="ellipse">
            <a:avLst/>
          </a:prstGeom>
          <a:solidFill>
            <a:srgbClr val="00847A"/>
          </a:solidFill>
          <a:ln w="12700">
            <a:solidFill>
              <a:srgbClr val="0084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17736" y="1993392"/>
            <a:ext cx="1783080" cy="201168"/>
          </a:xfrm>
          <a:prstGeom prst="rect">
            <a:avLst/>
          </a:prstGeom>
          <a:noFill/>
        </p:spPr>
        <p:txBody>
          <a:bodyPr wrap="square" lIns="36576" rIns="36576" tIns="36576" bIns="36576" anchor="t">
            <a:noAutofit/>
          </a:bodyPr>
          <a:lstStyle/>
          <a:p>
            <a:pPr algn="l">
              <a:spcBef>
                <a:spcPts val="0"/>
              </a:spcBef>
              <a:spcAft>
                <a:spcPts val="0"/>
              </a:spcAft>
            </a:pPr>
            <a:r>
              <a:rPr sz="940" b="1">
                <a:solidFill>
                  <a:srgbClr val="24314A"/>
                </a:solidFill>
                <a:latin typeface="Aptos"/>
              </a:rPr>
              <a:t>Samuel Space (target)</a:t>
            </a:r>
          </a:p>
        </p:txBody>
      </p:sp>
      <p:sp>
        <p:nvSpPr>
          <p:cNvPr id="27" name="TextBox 26"/>
          <p:cNvSpPr txBox="1"/>
          <p:nvPr/>
        </p:nvSpPr>
        <p:spPr>
          <a:xfrm>
            <a:off x="960120" y="5961888"/>
            <a:ext cx="6583680" cy="128016"/>
          </a:xfrm>
          <a:prstGeom prst="rect">
            <a:avLst/>
          </a:prstGeom>
          <a:noFill/>
        </p:spPr>
        <p:txBody>
          <a:bodyPr wrap="square" lIns="36576" rIns="36576" tIns="36576" bIns="36576" anchor="t">
            <a:noAutofit/>
          </a:bodyPr>
          <a:lstStyle/>
          <a:p>
            <a:pPr algn="l">
              <a:spcBef>
                <a:spcPts val="0"/>
              </a:spcBef>
              <a:spcAft>
                <a:spcPts val="0"/>
              </a:spcAft>
            </a:pPr>
            <a:r>
              <a:rPr sz="800" b="0">
                <a:solidFill>
                  <a:srgbClr val="606D82"/>
                </a:solidFill>
                <a:latin typeface="Aptos"/>
              </a:rPr>
              <a:t>Positions are illustrative, based on public technology and commercialisation-stage disclosures.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REVENUE MODEL</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Three Complementary Revenue Streams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14</a:t>
            </a:r>
          </a:p>
        </p:txBody>
      </p:sp>
      <p:sp>
        <p:nvSpPr>
          <p:cNvPr id="6" name="Rounded Rectangle 5"/>
          <p:cNvSpPr/>
          <p:nvPr/>
        </p:nvSpPr>
        <p:spPr>
          <a:xfrm>
            <a:off x="713232" y="1481328"/>
            <a:ext cx="3429000" cy="42062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77824" y="1673352"/>
            <a:ext cx="11155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691640"/>
            <a:ext cx="10789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REVENUE STREAM 1</a:t>
            </a:r>
          </a:p>
        </p:txBody>
      </p:sp>
      <p:sp>
        <p:nvSpPr>
          <p:cNvPr id="9" name="TextBox 8"/>
          <p:cNvSpPr txBox="1"/>
          <p:nvPr/>
        </p:nvSpPr>
        <p:spPr>
          <a:xfrm>
            <a:off x="877824" y="2084831"/>
            <a:ext cx="2834640" cy="256032"/>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Contract Bioprinting Services</a:t>
            </a:r>
          </a:p>
        </p:txBody>
      </p:sp>
      <p:sp>
        <p:nvSpPr>
          <p:cNvPr id="10" name="TextBox 9"/>
          <p:cNvSpPr txBox="1"/>
          <p:nvPr/>
        </p:nvSpPr>
        <p:spPr>
          <a:xfrm>
            <a:off x="877824" y="2487168"/>
            <a:ext cx="2907792" cy="2240280"/>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Fee-for-service orbital bioprinting missions for pharmaceutical companies, academic medical centres, and government research agencies, modelled on how Redwire's BFF and Space Tango currently operate commercially. Revenue begins in Year 1.</a:t>
            </a:r>
          </a:p>
        </p:txBody>
      </p:sp>
      <p:sp>
        <p:nvSpPr>
          <p:cNvPr id="11" name="Rounded Rectangle 10"/>
          <p:cNvSpPr/>
          <p:nvPr/>
        </p:nvSpPr>
        <p:spPr>
          <a:xfrm>
            <a:off x="877824" y="5010912"/>
            <a:ext cx="1609344" cy="29260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5074920"/>
            <a:ext cx="1463040" cy="128016"/>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Near-Term Revenue</a:t>
            </a:r>
          </a:p>
        </p:txBody>
      </p:sp>
      <p:sp>
        <p:nvSpPr>
          <p:cNvPr id="13" name="Rounded Rectangle 12"/>
          <p:cNvSpPr/>
          <p:nvPr/>
        </p:nvSpPr>
        <p:spPr>
          <a:xfrm>
            <a:off x="4389120" y="1481328"/>
            <a:ext cx="3429000" cy="42062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3712" y="1673352"/>
            <a:ext cx="11155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1999" y="1691640"/>
            <a:ext cx="10789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REVENUE STREAM 2</a:t>
            </a:r>
          </a:p>
        </p:txBody>
      </p:sp>
      <p:sp>
        <p:nvSpPr>
          <p:cNvPr id="16" name="TextBox 15"/>
          <p:cNvSpPr txBox="1"/>
          <p:nvPr/>
        </p:nvSpPr>
        <p:spPr>
          <a:xfrm>
            <a:off x="4553712" y="2084831"/>
            <a:ext cx="2834640" cy="256032"/>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Non-Dilutive Grant Funding</a:t>
            </a:r>
          </a:p>
        </p:txBody>
      </p:sp>
      <p:sp>
        <p:nvSpPr>
          <p:cNvPr id="17" name="TextBox 16"/>
          <p:cNvSpPr txBox="1"/>
          <p:nvPr/>
        </p:nvSpPr>
        <p:spPr>
          <a:xfrm>
            <a:off x="4553712" y="2487168"/>
            <a:ext cx="2907792" cy="2240280"/>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NASA InSPA, ESA BIC, DoD SBIR/STTR, and National Eye Institute mechanisms provide substantial non-dilutive capital. LambdaVision has secured $15M+ cumulatively; Redwire holds a $25M NASA IDIQ. Samuel targets $4-8M in grants across Years 1-4.</a:t>
            </a:r>
          </a:p>
        </p:txBody>
      </p:sp>
      <p:sp>
        <p:nvSpPr>
          <p:cNvPr id="18" name="Rounded Rectangle 17"/>
          <p:cNvSpPr/>
          <p:nvPr/>
        </p:nvSpPr>
        <p:spPr>
          <a:xfrm>
            <a:off x="4553712" y="5010912"/>
            <a:ext cx="1609344" cy="29260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26864" y="5074920"/>
            <a:ext cx="1463040" cy="128016"/>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Reduces Equity Burn</a:t>
            </a:r>
          </a:p>
        </p:txBody>
      </p:sp>
      <p:sp>
        <p:nvSpPr>
          <p:cNvPr id="20" name="Rounded Rectangle 19"/>
          <p:cNvSpPr/>
          <p:nvPr/>
        </p:nvSpPr>
        <p:spPr>
          <a:xfrm>
            <a:off x="8065007" y="1481328"/>
            <a:ext cx="3429000" cy="420624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29599" y="1673352"/>
            <a:ext cx="1115568" cy="2560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7887" y="1691640"/>
            <a:ext cx="1078992" cy="219456"/>
          </a:xfrm>
          <a:prstGeom prst="rect">
            <a:avLst/>
          </a:prstGeom>
          <a:noFill/>
        </p:spPr>
        <p:txBody>
          <a:bodyPr wrap="square" lIns="0" rIns="0" tIns="0" bIns="0" anchor="t">
            <a:noAutofit/>
          </a:bodyPr>
          <a:lstStyle/>
          <a:p>
            <a:pPr algn="ctr">
              <a:spcBef>
                <a:spcPts val="0"/>
              </a:spcBef>
              <a:spcAft>
                <a:spcPts val="0"/>
              </a:spcAft>
            </a:pPr>
            <a:r>
              <a:rPr sz="900" b="1">
                <a:solidFill>
                  <a:srgbClr val="00847A"/>
                </a:solidFill>
                <a:latin typeface="Aptos"/>
              </a:rPr>
              <a:t>REVENUE STREAM 3</a:t>
            </a:r>
          </a:p>
        </p:txBody>
      </p:sp>
      <p:sp>
        <p:nvSpPr>
          <p:cNvPr id="23" name="TextBox 22"/>
          <p:cNvSpPr txBox="1"/>
          <p:nvPr/>
        </p:nvSpPr>
        <p:spPr>
          <a:xfrm>
            <a:off x="8229599" y="2084831"/>
            <a:ext cx="2834640" cy="256032"/>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Tissue IP Licensing &amp; Royalties</a:t>
            </a:r>
          </a:p>
        </p:txBody>
      </p:sp>
      <p:sp>
        <p:nvSpPr>
          <p:cNvPr id="24" name="TextBox 23"/>
          <p:cNvSpPr txBox="1"/>
          <p:nvPr/>
        </p:nvSpPr>
        <p:spPr>
          <a:xfrm>
            <a:off x="8229599" y="2487168"/>
            <a:ext cx="2907792" cy="2240280"/>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As proprietary bioink formulations and protocols demonstrate clinical-grade output, Samuel licenses IP to pharmaceutical and device manufacturers. This becomes the primary long-term value driver, targeted from Year 3 onward.</a:t>
            </a:r>
          </a:p>
        </p:txBody>
      </p:sp>
      <p:sp>
        <p:nvSpPr>
          <p:cNvPr id="25" name="Rounded Rectangle 24"/>
          <p:cNvSpPr/>
          <p:nvPr/>
        </p:nvSpPr>
        <p:spPr>
          <a:xfrm>
            <a:off x="8229599" y="5010912"/>
            <a:ext cx="1609344" cy="29260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02751" y="5074920"/>
            <a:ext cx="1463040" cy="128016"/>
          </a:xfrm>
          <a:prstGeom prst="rect">
            <a:avLst/>
          </a:prstGeom>
          <a:noFill/>
        </p:spPr>
        <p:txBody>
          <a:bodyPr wrap="square" lIns="36576" rIns="36576" tIns="36576" bIns="36576" anchor="t">
            <a:noAutofit/>
          </a:bodyPr>
          <a:lstStyle/>
          <a:p>
            <a:pPr algn="l">
              <a:spcBef>
                <a:spcPts val="0"/>
              </a:spcBef>
              <a:spcAft>
                <a:spcPts val="0"/>
              </a:spcAft>
            </a:pPr>
            <a:r>
              <a:rPr sz="880" b="1">
                <a:solidFill>
                  <a:srgbClr val="111F3D"/>
                </a:solidFill>
                <a:latin typeface="Aptos"/>
              </a:rPr>
              <a:t>Long-Term Value Driver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GO-TO-MARKET</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Sequenced Market Entry Across Four Partner Categories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15</a:t>
            </a:r>
          </a:p>
        </p:txBody>
      </p:sp>
      <p:sp>
        <p:nvSpPr>
          <p:cNvPr id="6" name="Rounded Rectangle 5"/>
          <p:cNvSpPr/>
          <p:nvPr/>
        </p:nvSpPr>
        <p:spPr>
          <a:xfrm>
            <a:off x="713232" y="1444752"/>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96112" y="1609344"/>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682496"/>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1</a:t>
            </a:r>
          </a:p>
        </p:txBody>
      </p:sp>
      <p:sp>
        <p:nvSpPr>
          <p:cNvPr id="9" name="TextBox 8"/>
          <p:cNvSpPr txBox="1"/>
          <p:nvPr/>
        </p:nvSpPr>
        <p:spPr>
          <a:xfrm>
            <a:off x="1335024" y="1609344"/>
            <a:ext cx="3886200" cy="228600"/>
          </a:xfrm>
          <a:prstGeom prst="rect">
            <a:avLst/>
          </a:prstGeom>
          <a:noFill/>
        </p:spPr>
        <p:txBody>
          <a:bodyPr wrap="square" lIns="36576" rIns="36576" tIns="36576" bIns="36576" anchor="t">
            <a:noAutofit/>
          </a:bodyPr>
          <a:lstStyle/>
          <a:p>
            <a:pPr algn="l">
              <a:spcBef>
                <a:spcPts val="0"/>
              </a:spcBef>
              <a:spcAft>
                <a:spcPts val="0"/>
              </a:spcAft>
            </a:pPr>
            <a:r>
              <a:rPr sz="1280" b="1">
                <a:solidFill>
                  <a:srgbClr val="111F3D"/>
                </a:solidFill>
                <a:latin typeface="Aptos"/>
              </a:rPr>
              <a:t>Commercial Station Operators</a:t>
            </a:r>
          </a:p>
        </p:txBody>
      </p:sp>
      <p:sp>
        <p:nvSpPr>
          <p:cNvPr id="10" name="TextBox 9"/>
          <p:cNvSpPr txBox="1"/>
          <p:nvPr/>
        </p:nvSpPr>
        <p:spPr>
          <a:xfrm>
            <a:off x="896112" y="2011680"/>
            <a:ext cx="4526280" cy="868680"/>
          </a:xfrm>
          <a:prstGeom prst="rect">
            <a:avLst/>
          </a:prstGeom>
          <a:noFill/>
        </p:spPr>
        <p:txBody>
          <a:bodyPr wrap="square" lIns="36576" rIns="36576" tIns="36576" bIns="36576" anchor="t">
            <a:noAutofit/>
          </a:bodyPr>
          <a:lstStyle/>
          <a:p>
            <a:pPr algn="l">
              <a:spcBef>
                <a:spcPts val="0"/>
              </a:spcBef>
              <a:spcAft>
                <a:spcPts val="0"/>
              </a:spcAft>
            </a:pPr>
            <a:r>
              <a:rPr sz="990" b="0">
                <a:solidFill>
                  <a:srgbClr val="24314A"/>
                </a:solidFill>
                <a:latin typeface="Aptos"/>
              </a:rPr>
              <a:t>Redwire (active BFF operator), Starlab (Voyager/Airbus JV), Axiom Space, Blue Origin Orbital Reef, and Vast Haven-1. Samuel negotiates research-service agreements and payload manifesting rights with each.</a:t>
            </a:r>
          </a:p>
        </p:txBody>
      </p:sp>
      <p:sp>
        <p:nvSpPr>
          <p:cNvPr id="11" name="Rounded Rectangle 10"/>
          <p:cNvSpPr/>
          <p:nvPr/>
        </p:nvSpPr>
        <p:spPr>
          <a:xfrm>
            <a:off x="896112" y="3017520"/>
            <a:ext cx="2011680" cy="27432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35808"/>
            <a:ext cx="1975104" cy="237744"/>
          </a:xfrm>
          <a:prstGeom prst="rect">
            <a:avLst/>
          </a:prstGeom>
          <a:noFill/>
        </p:spPr>
        <p:txBody>
          <a:bodyPr wrap="square" lIns="0" rIns="0" tIns="0" bIns="0" anchor="t">
            <a:noAutofit/>
          </a:bodyPr>
          <a:lstStyle/>
          <a:p>
            <a:pPr algn="l">
              <a:spcBef>
                <a:spcPts val="0"/>
              </a:spcBef>
              <a:spcAft>
                <a:spcPts val="0"/>
              </a:spcAft>
            </a:pPr>
            <a:r>
              <a:rPr sz="900" b="1">
                <a:solidFill>
                  <a:srgbClr val="111F3D"/>
                </a:solidFill>
                <a:latin typeface="Aptos"/>
              </a:rPr>
              <a:t>Redwire, Starlab, Axiom, Vast</a:t>
            </a:r>
          </a:p>
        </p:txBody>
      </p:sp>
      <p:sp>
        <p:nvSpPr>
          <p:cNvPr id="13" name="Rounded Rectangle 12"/>
          <p:cNvSpPr/>
          <p:nvPr/>
        </p:nvSpPr>
        <p:spPr>
          <a:xfrm>
            <a:off x="5650992" y="1444752"/>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833872" y="1609344"/>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33872" y="1682496"/>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2</a:t>
            </a:r>
          </a:p>
        </p:txBody>
      </p:sp>
      <p:sp>
        <p:nvSpPr>
          <p:cNvPr id="16" name="TextBox 15"/>
          <p:cNvSpPr txBox="1"/>
          <p:nvPr/>
        </p:nvSpPr>
        <p:spPr>
          <a:xfrm>
            <a:off x="6272783" y="1609344"/>
            <a:ext cx="3886200" cy="228600"/>
          </a:xfrm>
          <a:prstGeom prst="rect">
            <a:avLst/>
          </a:prstGeom>
          <a:noFill/>
        </p:spPr>
        <p:txBody>
          <a:bodyPr wrap="square" lIns="36576" rIns="36576" tIns="36576" bIns="36576" anchor="t">
            <a:noAutofit/>
          </a:bodyPr>
          <a:lstStyle/>
          <a:p>
            <a:pPr algn="l">
              <a:spcBef>
                <a:spcPts val="0"/>
              </a:spcBef>
              <a:spcAft>
                <a:spcPts val="0"/>
              </a:spcAft>
            </a:pPr>
            <a:r>
              <a:rPr sz="1280" b="1">
                <a:solidFill>
                  <a:srgbClr val="111F3D"/>
                </a:solidFill>
                <a:latin typeface="Aptos"/>
              </a:rPr>
              <a:t>Payload Integrators &amp; CROs</a:t>
            </a:r>
          </a:p>
        </p:txBody>
      </p:sp>
      <p:sp>
        <p:nvSpPr>
          <p:cNvPr id="17" name="TextBox 16"/>
          <p:cNvSpPr txBox="1"/>
          <p:nvPr/>
        </p:nvSpPr>
        <p:spPr>
          <a:xfrm>
            <a:off x="5833872" y="2011680"/>
            <a:ext cx="4526280" cy="868680"/>
          </a:xfrm>
          <a:prstGeom prst="rect">
            <a:avLst/>
          </a:prstGeom>
          <a:noFill/>
        </p:spPr>
        <p:txBody>
          <a:bodyPr wrap="square" lIns="36576" rIns="36576" tIns="36576" bIns="36576" anchor="t">
            <a:noAutofit/>
          </a:bodyPr>
          <a:lstStyle/>
          <a:p>
            <a:pPr algn="l">
              <a:spcBef>
                <a:spcPts val="0"/>
              </a:spcBef>
              <a:spcAft>
                <a:spcPts val="0"/>
              </a:spcAft>
            </a:pPr>
            <a:r>
              <a:rPr sz="990" b="0">
                <a:solidFill>
                  <a:srgbClr val="24314A"/>
                </a:solidFill>
                <a:latin typeface="Aptos"/>
              </a:rPr>
              <a:t>Partners such as Space Tango, LambdaVision's enabling integrator, provide environmental control, crew interface, and downlink services. Samuel outsources non-core integration to move faster and preserve capital.</a:t>
            </a:r>
          </a:p>
        </p:txBody>
      </p:sp>
      <p:sp>
        <p:nvSpPr>
          <p:cNvPr id="18" name="Rounded Rectangle 17"/>
          <p:cNvSpPr/>
          <p:nvPr/>
        </p:nvSpPr>
        <p:spPr>
          <a:xfrm>
            <a:off x="5833872" y="3017520"/>
            <a:ext cx="2011680" cy="27432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59" y="3035808"/>
            <a:ext cx="1975104" cy="237744"/>
          </a:xfrm>
          <a:prstGeom prst="rect">
            <a:avLst/>
          </a:prstGeom>
          <a:noFill/>
        </p:spPr>
        <p:txBody>
          <a:bodyPr wrap="square" lIns="0" rIns="0" tIns="0" bIns="0" anchor="t">
            <a:noAutofit/>
          </a:bodyPr>
          <a:lstStyle/>
          <a:p>
            <a:pPr algn="l">
              <a:spcBef>
                <a:spcPts val="0"/>
              </a:spcBef>
              <a:spcAft>
                <a:spcPts val="0"/>
              </a:spcAft>
            </a:pPr>
            <a:r>
              <a:rPr sz="900" b="1">
                <a:solidFill>
                  <a:srgbClr val="111F3D"/>
                </a:solidFill>
                <a:latin typeface="Aptos"/>
              </a:rPr>
              <a:t>Space Tango, Nanoracks/Voyager</a:t>
            </a:r>
          </a:p>
        </p:txBody>
      </p:sp>
      <p:sp>
        <p:nvSpPr>
          <p:cNvPr id="20" name="Rounded Rectangle 19"/>
          <p:cNvSpPr/>
          <p:nvPr/>
        </p:nvSpPr>
        <p:spPr>
          <a:xfrm>
            <a:off x="713232" y="3749039"/>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96112" y="3913631"/>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986783"/>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3</a:t>
            </a:r>
          </a:p>
        </p:txBody>
      </p:sp>
      <p:sp>
        <p:nvSpPr>
          <p:cNvPr id="23" name="TextBox 22"/>
          <p:cNvSpPr txBox="1"/>
          <p:nvPr/>
        </p:nvSpPr>
        <p:spPr>
          <a:xfrm>
            <a:off x="1335024" y="3913631"/>
            <a:ext cx="3886200" cy="228600"/>
          </a:xfrm>
          <a:prstGeom prst="rect">
            <a:avLst/>
          </a:prstGeom>
          <a:noFill/>
        </p:spPr>
        <p:txBody>
          <a:bodyPr wrap="square" lIns="36576" rIns="36576" tIns="36576" bIns="36576" anchor="t">
            <a:noAutofit/>
          </a:bodyPr>
          <a:lstStyle/>
          <a:p>
            <a:pPr algn="l">
              <a:spcBef>
                <a:spcPts val="0"/>
              </a:spcBef>
              <a:spcAft>
                <a:spcPts val="0"/>
              </a:spcAft>
            </a:pPr>
            <a:r>
              <a:rPr sz="1280" b="1">
                <a:solidFill>
                  <a:srgbClr val="111F3D"/>
                </a:solidFill>
                <a:latin typeface="Aptos"/>
              </a:rPr>
              <a:t>Pharma &amp; Academic Medical Centres</a:t>
            </a:r>
          </a:p>
        </p:txBody>
      </p:sp>
      <p:sp>
        <p:nvSpPr>
          <p:cNvPr id="24" name="TextBox 23"/>
          <p:cNvSpPr txBox="1"/>
          <p:nvPr/>
        </p:nvSpPr>
        <p:spPr>
          <a:xfrm>
            <a:off x="896112" y="4315968"/>
            <a:ext cx="4526280" cy="868680"/>
          </a:xfrm>
          <a:prstGeom prst="rect">
            <a:avLst/>
          </a:prstGeom>
          <a:noFill/>
        </p:spPr>
        <p:txBody>
          <a:bodyPr wrap="square" lIns="36576" rIns="36576" tIns="36576" bIns="36576" anchor="t">
            <a:noAutofit/>
          </a:bodyPr>
          <a:lstStyle/>
          <a:p>
            <a:pPr algn="l">
              <a:spcBef>
                <a:spcPts val="0"/>
              </a:spcBef>
              <a:spcAft>
                <a:spcPts val="0"/>
              </a:spcAft>
            </a:pPr>
            <a:r>
              <a:rPr sz="990" b="0">
                <a:solidFill>
                  <a:srgbClr val="24314A"/>
                </a:solidFill>
                <a:latin typeface="Aptos"/>
              </a:rPr>
              <a:t>Initial contract-service revenue comes from pharmaceutical R&amp;D divisions seeking orbital tissue models for drug screening, and from NIH-funded academic biotech groups with institutional mandates.</a:t>
            </a:r>
          </a:p>
        </p:txBody>
      </p:sp>
      <p:sp>
        <p:nvSpPr>
          <p:cNvPr id="25" name="Rounded Rectangle 24"/>
          <p:cNvSpPr/>
          <p:nvPr/>
        </p:nvSpPr>
        <p:spPr>
          <a:xfrm>
            <a:off x="896112" y="5321807"/>
            <a:ext cx="2011680" cy="27432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340095"/>
            <a:ext cx="1975104" cy="237744"/>
          </a:xfrm>
          <a:prstGeom prst="rect">
            <a:avLst/>
          </a:prstGeom>
          <a:noFill/>
        </p:spPr>
        <p:txBody>
          <a:bodyPr wrap="square" lIns="0" rIns="0" tIns="0" bIns="0" anchor="t">
            <a:noAutofit/>
          </a:bodyPr>
          <a:lstStyle/>
          <a:p>
            <a:pPr algn="l">
              <a:spcBef>
                <a:spcPts val="0"/>
              </a:spcBef>
              <a:spcAft>
                <a:spcPts val="0"/>
              </a:spcAft>
            </a:pPr>
            <a:r>
              <a:rPr sz="900" b="1">
                <a:solidFill>
                  <a:srgbClr val="111F3D"/>
                </a:solidFill>
                <a:latin typeface="Aptos"/>
              </a:rPr>
              <a:t>Pharma R&amp;D, NIH-funded labs</a:t>
            </a:r>
          </a:p>
        </p:txBody>
      </p:sp>
      <p:sp>
        <p:nvSpPr>
          <p:cNvPr id="27" name="Rounded Rectangle 26"/>
          <p:cNvSpPr/>
          <p:nvPr/>
        </p:nvSpPr>
        <p:spPr>
          <a:xfrm>
            <a:off x="5650992" y="3749039"/>
            <a:ext cx="4910328" cy="1993392"/>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33872" y="3913631"/>
            <a:ext cx="329184" cy="329184"/>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33872" y="3986783"/>
            <a:ext cx="329184" cy="109728"/>
          </a:xfrm>
          <a:prstGeom prst="rect">
            <a:avLst/>
          </a:prstGeom>
          <a:noFill/>
        </p:spPr>
        <p:txBody>
          <a:bodyPr wrap="square" lIns="0" rIns="0" tIns="0" bIns="0" anchor="t">
            <a:noAutofit/>
          </a:bodyPr>
          <a:lstStyle/>
          <a:p>
            <a:pPr algn="ctr">
              <a:spcBef>
                <a:spcPts val="0"/>
              </a:spcBef>
              <a:spcAft>
                <a:spcPts val="0"/>
              </a:spcAft>
            </a:pPr>
            <a:r>
              <a:rPr sz="1000" b="1">
                <a:solidFill>
                  <a:srgbClr val="FFFFFF"/>
                </a:solidFill>
                <a:latin typeface="Aptos"/>
              </a:rPr>
              <a:t>4</a:t>
            </a:r>
          </a:p>
        </p:txBody>
      </p:sp>
      <p:sp>
        <p:nvSpPr>
          <p:cNvPr id="30" name="TextBox 29"/>
          <p:cNvSpPr txBox="1"/>
          <p:nvPr/>
        </p:nvSpPr>
        <p:spPr>
          <a:xfrm>
            <a:off x="6272783" y="3913631"/>
            <a:ext cx="3886200" cy="228600"/>
          </a:xfrm>
          <a:prstGeom prst="rect">
            <a:avLst/>
          </a:prstGeom>
          <a:noFill/>
        </p:spPr>
        <p:txBody>
          <a:bodyPr wrap="square" lIns="36576" rIns="36576" tIns="36576" bIns="36576" anchor="t">
            <a:noAutofit/>
          </a:bodyPr>
          <a:lstStyle/>
          <a:p>
            <a:pPr algn="l">
              <a:spcBef>
                <a:spcPts val="0"/>
              </a:spcBef>
              <a:spcAft>
                <a:spcPts val="0"/>
              </a:spcAft>
            </a:pPr>
            <a:r>
              <a:rPr sz="1280" b="1">
                <a:solidFill>
                  <a:srgbClr val="111F3D"/>
                </a:solidFill>
                <a:latin typeface="Aptos"/>
              </a:rPr>
              <a:t>Government &amp; Grant Agencies</a:t>
            </a:r>
          </a:p>
        </p:txBody>
      </p:sp>
      <p:sp>
        <p:nvSpPr>
          <p:cNvPr id="31" name="TextBox 30"/>
          <p:cNvSpPr txBox="1"/>
          <p:nvPr/>
        </p:nvSpPr>
        <p:spPr>
          <a:xfrm>
            <a:off x="5833872" y="4315968"/>
            <a:ext cx="4526280" cy="868680"/>
          </a:xfrm>
          <a:prstGeom prst="rect">
            <a:avLst/>
          </a:prstGeom>
          <a:noFill/>
        </p:spPr>
        <p:txBody>
          <a:bodyPr wrap="square" lIns="36576" rIns="36576" tIns="36576" bIns="36576" anchor="t">
            <a:noAutofit/>
          </a:bodyPr>
          <a:lstStyle/>
          <a:p>
            <a:pPr algn="l">
              <a:spcBef>
                <a:spcPts val="0"/>
              </a:spcBef>
              <a:spcAft>
                <a:spcPts val="0"/>
              </a:spcAft>
            </a:pPr>
            <a:r>
              <a:rPr sz="990" b="0">
                <a:solidFill>
                  <a:srgbClr val="24314A"/>
                </a:solidFill>
                <a:latin typeface="Aptos"/>
              </a:rPr>
              <a:t>NASA (InSPA, SBIR/STTR), ESA, NIH National Eye Institute, and DoD MTEC provide non-dilutive grant capital that de-risks early development and validates the technology for commercial buyers.</a:t>
            </a:r>
          </a:p>
        </p:txBody>
      </p:sp>
      <p:sp>
        <p:nvSpPr>
          <p:cNvPr id="32" name="Rounded Rectangle 31"/>
          <p:cNvSpPr/>
          <p:nvPr/>
        </p:nvSpPr>
        <p:spPr>
          <a:xfrm>
            <a:off x="5833872" y="5321807"/>
            <a:ext cx="2011680" cy="27432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52159" y="5340095"/>
            <a:ext cx="1975104" cy="237744"/>
          </a:xfrm>
          <a:prstGeom prst="rect">
            <a:avLst/>
          </a:prstGeom>
          <a:noFill/>
        </p:spPr>
        <p:txBody>
          <a:bodyPr wrap="square" lIns="0" rIns="0" tIns="0" bIns="0" anchor="t">
            <a:noAutofit/>
          </a:bodyPr>
          <a:lstStyle/>
          <a:p>
            <a:pPr algn="l">
              <a:spcBef>
                <a:spcPts val="0"/>
              </a:spcBef>
              <a:spcAft>
                <a:spcPts val="0"/>
              </a:spcAft>
            </a:pPr>
            <a:r>
              <a:rPr sz="900" b="1">
                <a:solidFill>
                  <a:srgbClr val="111F3D"/>
                </a:solidFill>
                <a:latin typeface="Aptos"/>
              </a:rPr>
              <a:t>NASA, ESA, NIH NEI, DoD MTEC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FINANCIALS - ILLUSTRATIVE</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Five-Year Revenue Model (Illustrative Projections)</a:t>
            </a:r>
          </a:p>
        </p:txBody>
      </p:sp>
      <p:sp>
        <p:nvSpPr>
          <p:cNvPr id="5" name="TextBox 4"/>
          <p:cNvSpPr txBox="1"/>
          <p:nvPr/>
        </p:nvSpPr>
        <p:spPr>
          <a:xfrm>
            <a:off x="548640" y="877824"/>
            <a:ext cx="10698480" cy="310896"/>
          </a:xfrm>
          <a:prstGeom prst="rect">
            <a:avLst/>
          </a:prstGeom>
          <a:noFill/>
        </p:spPr>
        <p:txBody>
          <a:bodyPr wrap="square" lIns="36576" rIns="36576" tIns="36576" bIns="36576" anchor="t">
            <a:noAutofit/>
          </a:bodyPr>
          <a:lstStyle/>
          <a:p>
            <a:pPr algn="l">
              <a:spcBef>
                <a:spcPts val="0"/>
              </a:spcBef>
              <a:spcAft>
                <a:spcPts val="0"/>
              </a:spcAft>
            </a:pPr>
            <a:r>
              <a:rPr sz="1120" b="0">
                <a:solidFill>
                  <a:srgbClr val="606D82"/>
                </a:solidFill>
                <a:latin typeface="Aptos"/>
              </a:rPr>
              <a:t>Figures are illustrative projections for investor discussion purposes only. Actual results will vary materially.</a:t>
            </a:r>
          </a:p>
        </p:txBody>
      </p:sp>
      <p:sp>
        <p:nvSpPr>
          <p:cNvPr id="6" name="TextBox 5"/>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16</a:t>
            </a:r>
          </a:p>
        </p:txBody>
      </p:sp>
      <p:sp>
        <p:nvSpPr>
          <p:cNvPr id="7" name="Rounded Rectangle 6"/>
          <p:cNvSpPr/>
          <p:nvPr/>
        </p:nvSpPr>
        <p:spPr>
          <a:xfrm>
            <a:off x="713232" y="1298448"/>
            <a:ext cx="5852160" cy="46177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914400" y="1609344"/>
          <a:ext cx="5440680" cy="3886200"/>
        </p:xfrm>
        <a:graphic>
          <a:graphicData uri="http://schemas.openxmlformats.org/drawingml/2006/chart">
            <c:chart xmlns:c="http://schemas.openxmlformats.org/drawingml/2006/chart" r:id="rId2"/>
          </a:graphicData>
        </a:graphic>
      </p:graphicFrame>
      <p:sp>
        <p:nvSpPr>
          <p:cNvPr id="9" name="Rounded Rectangle 8"/>
          <p:cNvSpPr/>
          <p:nvPr/>
        </p:nvSpPr>
        <p:spPr>
          <a:xfrm>
            <a:off x="6720840" y="1298448"/>
            <a:ext cx="4754880" cy="46177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903720" y="1591056"/>
            <a:ext cx="914400" cy="384048"/>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76872" y="1645920"/>
            <a:ext cx="768096" cy="274320"/>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Year</a:t>
            </a:r>
          </a:p>
        </p:txBody>
      </p:sp>
      <p:sp>
        <p:nvSpPr>
          <p:cNvPr id="12" name="Rectangle 11"/>
          <p:cNvSpPr/>
          <p:nvPr/>
        </p:nvSpPr>
        <p:spPr>
          <a:xfrm>
            <a:off x="7818120" y="1591056"/>
            <a:ext cx="914400" cy="384048"/>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91272" y="1645920"/>
            <a:ext cx="768096" cy="274320"/>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Total Rev.</a:t>
            </a:r>
          </a:p>
        </p:txBody>
      </p:sp>
      <p:sp>
        <p:nvSpPr>
          <p:cNvPr id="14" name="Rectangle 13"/>
          <p:cNvSpPr/>
          <p:nvPr/>
        </p:nvSpPr>
        <p:spPr>
          <a:xfrm>
            <a:off x="8732520" y="1591056"/>
            <a:ext cx="2697480" cy="384048"/>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05672" y="1645920"/>
            <a:ext cx="2551176" cy="274320"/>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Key Driver</a:t>
            </a:r>
          </a:p>
        </p:txBody>
      </p:sp>
      <p:sp>
        <p:nvSpPr>
          <p:cNvPr id="16" name="Rectangle 15"/>
          <p:cNvSpPr/>
          <p:nvPr/>
        </p:nvSpPr>
        <p:spPr>
          <a:xfrm>
            <a:off x="6903720" y="1975104"/>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2029968"/>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1</a:t>
            </a:r>
          </a:p>
        </p:txBody>
      </p:sp>
      <p:sp>
        <p:nvSpPr>
          <p:cNvPr id="18" name="Rectangle 17"/>
          <p:cNvSpPr/>
          <p:nvPr/>
        </p:nvSpPr>
        <p:spPr>
          <a:xfrm>
            <a:off x="7818120" y="1975104"/>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1272" y="2029968"/>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$0.8M</a:t>
            </a:r>
          </a:p>
        </p:txBody>
      </p:sp>
      <p:sp>
        <p:nvSpPr>
          <p:cNvPr id="20" name="Rectangle 19"/>
          <p:cNvSpPr/>
          <p:nvPr/>
        </p:nvSpPr>
        <p:spPr>
          <a:xfrm>
            <a:off x="8732520" y="1975104"/>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05672" y="2029968"/>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First service contracts + NASA grant</a:t>
            </a:r>
          </a:p>
        </p:txBody>
      </p:sp>
      <p:sp>
        <p:nvSpPr>
          <p:cNvPr id="22" name="Rectangle 21"/>
          <p:cNvSpPr/>
          <p:nvPr/>
        </p:nvSpPr>
        <p:spPr>
          <a:xfrm>
            <a:off x="6903720" y="2505456"/>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6872" y="2560320"/>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2</a:t>
            </a:r>
          </a:p>
        </p:txBody>
      </p:sp>
      <p:sp>
        <p:nvSpPr>
          <p:cNvPr id="24" name="Rectangle 23"/>
          <p:cNvSpPr/>
          <p:nvPr/>
        </p:nvSpPr>
        <p:spPr>
          <a:xfrm>
            <a:off x="7818120" y="2505456"/>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91272" y="2560320"/>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$2.4M</a:t>
            </a:r>
          </a:p>
        </p:txBody>
      </p:sp>
      <p:sp>
        <p:nvSpPr>
          <p:cNvPr id="26" name="Rectangle 25"/>
          <p:cNvSpPr/>
          <p:nvPr/>
        </p:nvSpPr>
        <p:spPr>
          <a:xfrm>
            <a:off x="8732520" y="2505456"/>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05672" y="2560320"/>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Expanded services + IP licensing launch</a:t>
            </a:r>
          </a:p>
        </p:txBody>
      </p:sp>
      <p:sp>
        <p:nvSpPr>
          <p:cNvPr id="28" name="Rectangle 27"/>
          <p:cNvSpPr/>
          <p:nvPr/>
        </p:nvSpPr>
        <p:spPr>
          <a:xfrm>
            <a:off x="6903720" y="3035808"/>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76872" y="3090672"/>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3</a:t>
            </a:r>
          </a:p>
        </p:txBody>
      </p:sp>
      <p:sp>
        <p:nvSpPr>
          <p:cNvPr id="30" name="Rectangle 29"/>
          <p:cNvSpPr/>
          <p:nvPr/>
        </p:nvSpPr>
        <p:spPr>
          <a:xfrm>
            <a:off x="7818120" y="3035808"/>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91272" y="3090672"/>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$6.1M</a:t>
            </a:r>
          </a:p>
        </p:txBody>
      </p:sp>
      <p:sp>
        <p:nvSpPr>
          <p:cNvPr id="32" name="Rectangle 31"/>
          <p:cNvSpPr/>
          <p:nvPr/>
        </p:nvSpPr>
        <p:spPr>
          <a:xfrm>
            <a:off x="8732520" y="3035808"/>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05672" y="3090672"/>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Cardiac/ortho milestones + Starlab start</a:t>
            </a:r>
          </a:p>
        </p:txBody>
      </p:sp>
      <p:sp>
        <p:nvSpPr>
          <p:cNvPr id="34" name="Rectangle 33"/>
          <p:cNvSpPr/>
          <p:nvPr/>
        </p:nvSpPr>
        <p:spPr>
          <a:xfrm>
            <a:off x="6903720" y="3566160"/>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76872" y="3621024"/>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4</a:t>
            </a:r>
          </a:p>
        </p:txBody>
      </p:sp>
      <p:sp>
        <p:nvSpPr>
          <p:cNvPr id="36" name="Rectangle 35"/>
          <p:cNvSpPr/>
          <p:nvPr/>
        </p:nvSpPr>
        <p:spPr>
          <a:xfrm>
            <a:off x="7818120" y="3566160"/>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91272" y="3621024"/>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$13.5M</a:t>
            </a:r>
          </a:p>
        </p:txBody>
      </p:sp>
      <p:sp>
        <p:nvSpPr>
          <p:cNvPr id="38" name="Rectangle 37"/>
          <p:cNvSpPr/>
          <p:nvPr/>
        </p:nvSpPr>
        <p:spPr>
          <a:xfrm>
            <a:off x="8732520" y="3566160"/>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05672" y="3621024"/>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IP licensing deals + multi-station ops</a:t>
            </a:r>
          </a:p>
        </p:txBody>
      </p:sp>
      <p:sp>
        <p:nvSpPr>
          <p:cNvPr id="40" name="Rectangle 39"/>
          <p:cNvSpPr/>
          <p:nvPr/>
        </p:nvSpPr>
        <p:spPr>
          <a:xfrm>
            <a:off x="6903720" y="4096512"/>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76872" y="4151376"/>
            <a:ext cx="768096" cy="420623"/>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Year 5</a:t>
            </a:r>
          </a:p>
        </p:txBody>
      </p:sp>
      <p:sp>
        <p:nvSpPr>
          <p:cNvPr id="42" name="Rectangle 41"/>
          <p:cNvSpPr/>
          <p:nvPr/>
        </p:nvSpPr>
        <p:spPr>
          <a:xfrm>
            <a:off x="7818120" y="4096512"/>
            <a:ext cx="91440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91272" y="4151376"/>
            <a:ext cx="76809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$24.2M</a:t>
            </a:r>
          </a:p>
        </p:txBody>
      </p:sp>
      <p:sp>
        <p:nvSpPr>
          <p:cNvPr id="44" name="Rectangle 43"/>
          <p:cNvSpPr/>
          <p:nvPr/>
        </p:nvSpPr>
        <p:spPr>
          <a:xfrm>
            <a:off x="8732520" y="4096512"/>
            <a:ext cx="2697480" cy="530352"/>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05672" y="4151376"/>
            <a:ext cx="2551176" cy="420623"/>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Full vertical scale-up across four verticals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ASK</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An $18M Series A to Reach First Commercial Flight</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17</a:t>
            </a:r>
          </a:p>
        </p:txBody>
      </p:sp>
      <p:sp>
        <p:nvSpPr>
          <p:cNvPr id="6" name="Rounded Rectangle 5"/>
          <p:cNvSpPr/>
          <p:nvPr/>
        </p:nvSpPr>
        <p:spPr>
          <a:xfrm>
            <a:off x="713232" y="1325880"/>
            <a:ext cx="2880360" cy="45720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72768"/>
            <a:ext cx="1280160" cy="164592"/>
          </a:xfrm>
          <a:prstGeom prst="rect">
            <a:avLst/>
          </a:prstGeom>
          <a:noFill/>
        </p:spPr>
        <p:txBody>
          <a:bodyPr wrap="square" lIns="36576" rIns="36576" tIns="36576" bIns="36576" anchor="t">
            <a:noAutofit/>
          </a:bodyPr>
          <a:lstStyle/>
          <a:p>
            <a:pPr algn="l">
              <a:spcBef>
                <a:spcPts val="0"/>
              </a:spcBef>
              <a:spcAft>
                <a:spcPts val="0"/>
              </a:spcAft>
            </a:pPr>
            <a:r>
              <a:rPr sz="1050" b="1">
                <a:solidFill>
                  <a:srgbClr val="00847A"/>
                </a:solidFill>
                <a:latin typeface="Aptos"/>
              </a:rPr>
              <a:t>ROUND SIZE</a:t>
            </a:r>
          </a:p>
        </p:txBody>
      </p:sp>
      <p:sp>
        <p:nvSpPr>
          <p:cNvPr id="8" name="TextBox 7"/>
          <p:cNvSpPr txBox="1"/>
          <p:nvPr/>
        </p:nvSpPr>
        <p:spPr>
          <a:xfrm>
            <a:off x="950976" y="1828800"/>
            <a:ext cx="1920240" cy="548640"/>
          </a:xfrm>
          <a:prstGeom prst="rect">
            <a:avLst/>
          </a:prstGeom>
          <a:noFill/>
        </p:spPr>
        <p:txBody>
          <a:bodyPr wrap="square" lIns="36576" rIns="36576" tIns="36576" bIns="36576" anchor="t">
            <a:noAutofit/>
          </a:bodyPr>
          <a:lstStyle/>
          <a:p>
            <a:pPr algn="l">
              <a:spcBef>
                <a:spcPts val="0"/>
              </a:spcBef>
              <a:spcAft>
                <a:spcPts val="0"/>
              </a:spcAft>
            </a:pPr>
            <a:r>
              <a:rPr sz="3000" b="1">
                <a:solidFill>
                  <a:srgbClr val="111F3D"/>
                </a:solidFill>
                <a:latin typeface="Aptos"/>
              </a:rPr>
              <a:t>$18M</a:t>
            </a:r>
          </a:p>
        </p:txBody>
      </p:sp>
      <p:sp>
        <p:nvSpPr>
          <p:cNvPr id="9" name="TextBox 8"/>
          <p:cNvSpPr txBox="1"/>
          <p:nvPr/>
        </p:nvSpPr>
        <p:spPr>
          <a:xfrm>
            <a:off x="950976" y="2395728"/>
            <a:ext cx="1920240" cy="182880"/>
          </a:xfrm>
          <a:prstGeom prst="rect">
            <a:avLst/>
          </a:prstGeom>
          <a:noFill/>
        </p:spPr>
        <p:txBody>
          <a:bodyPr wrap="square" lIns="36576" rIns="36576" tIns="36576" bIns="36576" anchor="t">
            <a:noAutofit/>
          </a:bodyPr>
          <a:lstStyle/>
          <a:p>
            <a:pPr algn="l">
              <a:spcBef>
                <a:spcPts val="0"/>
              </a:spcBef>
              <a:spcAft>
                <a:spcPts val="0"/>
              </a:spcAft>
            </a:pPr>
            <a:r>
              <a:rPr sz="1040" b="1">
                <a:solidFill>
                  <a:srgbClr val="24314A"/>
                </a:solidFill>
                <a:latin typeface="Aptos"/>
              </a:rPr>
              <a:t>Series A Preferred Equity</a:t>
            </a:r>
          </a:p>
        </p:txBody>
      </p:sp>
      <p:sp>
        <p:nvSpPr>
          <p:cNvPr id="10" name="Rounded Rectangle 9"/>
          <p:cNvSpPr/>
          <p:nvPr/>
        </p:nvSpPr>
        <p:spPr>
          <a:xfrm>
            <a:off x="950976" y="2926080"/>
            <a:ext cx="2377440" cy="65836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3026664"/>
            <a:ext cx="868680" cy="164592"/>
          </a:xfrm>
          <a:prstGeom prst="rect">
            <a:avLst/>
          </a:prstGeom>
          <a:noFill/>
        </p:spPr>
        <p:txBody>
          <a:bodyPr wrap="square" lIns="36576" rIns="36576" tIns="36576" bIns="36576" anchor="t">
            <a:noAutofit/>
          </a:bodyPr>
          <a:lstStyle/>
          <a:p>
            <a:pPr algn="l">
              <a:spcBef>
                <a:spcPts val="0"/>
              </a:spcBef>
              <a:spcAft>
                <a:spcPts val="0"/>
              </a:spcAft>
            </a:pPr>
            <a:r>
              <a:rPr sz="1250" b="1">
                <a:solidFill>
                  <a:srgbClr val="111F3D"/>
                </a:solidFill>
                <a:latin typeface="Aptos"/>
              </a:rPr>
              <a:t>~30 months</a:t>
            </a:r>
          </a:p>
        </p:txBody>
      </p:sp>
      <p:sp>
        <p:nvSpPr>
          <p:cNvPr id="12" name="TextBox 11"/>
          <p:cNvSpPr txBox="1"/>
          <p:nvPr/>
        </p:nvSpPr>
        <p:spPr>
          <a:xfrm>
            <a:off x="1920240" y="3026664"/>
            <a:ext cx="1280160" cy="274320"/>
          </a:xfrm>
          <a:prstGeom prst="rect">
            <a:avLst/>
          </a:prstGeom>
          <a:noFill/>
        </p:spPr>
        <p:txBody>
          <a:bodyPr wrap="square" lIns="36576" rIns="36576" tIns="36576" bIns="36576" anchor="t">
            <a:noAutofit/>
          </a:bodyPr>
          <a:lstStyle/>
          <a:p>
            <a:pPr algn="l">
              <a:spcBef>
                <a:spcPts val="0"/>
              </a:spcBef>
              <a:spcAft>
                <a:spcPts val="0"/>
              </a:spcAft>
            </a:pPr>
            <a:r>
              <a:rPr sz="880" b="0">
                <a:solidFill>
                  <a:srgbClr val="24314A"/>
                </a:solidFill>
                <a:latin typeface="Aptos"/>
              </a:rPr>
              <a:t>Runway to next value-inflection milestone</a:t>
            </a:r>
          </a:p>
        </p:txBody>
      </p:sp>
      <p:sp>
        <p:nvSpPr>
          <p:cNvPr id="13" name="Rounded Rectangle 12"/>
          <p:cNvSpPr/>
          <p:nvPr/>
        </p:nvSpPr>
        <p:spPr>
          <a:xfrm>
            <a:off x="950976" y="3767328"/>
            <a:ext cx="2377440" cy="65836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3867912"/>
            <a:ext cx="868680" cy="164592"/>
          </a:xfrm>
          <a:prstGeom prst="rect">
            <a:avLst/>
          </a:prstGeom>
          <a:noFill/>
        </p:spPr>
        <p:txBody>
          <a:bodyPr wrap="square" lIns="36576" rIns="36576" tIns="36576" bIns="36576" anchor="t">
            <a:noAutofit/>
          </a:bodyPr>
          <a:lstStyle/>
          <a:p>
            <a:pPr algn="l">
              <a:spcBef>
                <a:spcPts val="0"/>
              </a:spcBef>
              <a:spcAft>
                <a:spcPts val="0"/>
              </a:spcAft>
            </a:pPr>
            <a:r>
              <a:rPr sz="1250" b="1">
                <a:solidFill>
                  <a:srgbClr val="111F3D"/>
                </a:solidFill>
                <a:latin typeface="Aptos"/>
              </a:rPr>
              <a:t>2</a:t>
            </a:r>
          </a:p>
        </p:txBody>
      </p:sp>
      <p:sp>
        <p:nvSpPr>
          <p:cNvPr id="15" name="TextBox 14"/>
          <p:cNvSpPr txBox="1"/>
          <p:nvPr/>
        </p:nvSpPr>
        <p:spPr>
          <a:xfrm>
            <a:off x="1920240" y="3867912"/>
            <a:ext cx="1280160" cy="274320"/>
          </a:xfrm>
          <a:prstGeom prst="rect">
            <a:avLst/>
          </a:prstGeom>
          <a:noFill/>
        </p:spPr>
        <p:txBody>
          <a:bodyPr wrap="square" lIns="36576" rIns="36576" tIns="36576" bIns="36576" anchor="t">
            <a:noAutofit/>
          </a:bodyPr>
          <a:lstStyle/>
          <a:p>
            <a:pPr algn="l">
              <a:spcBef>
                <a:spcPts val="0"/>
              </a:spcBef>
              <a:spcAft>
                <a:spcPts val="0"/>
              </a:spcAft>
            </a:pPr>
            <a:r>
              <a:rPr sz="880" b="0">
                <a:solidFill>
                  <a:srgbClr val="24314A"/>
                </a:solidFill>
                <a:latin typeface="Aptos"/>
              </a:rPr>
              <a:t>Product verticals reaching clinical pilot stage</a:t>
            </a:r>
          </a:p>
        </p:txBody>
      </p:sp>
      <p:sp>
        <p:nvSpPr>
          <p:cNvPr id="16" name="Rounded Rectangle 15"/>
          <p:cNvSpPr/>
          <p:nvPr/>
        </p:nvSpPr>
        <p:spPr>
          <a:xfrm>
            <a:off x="950976" y="4608576"/>
            <a:ext cx="2377440" cy="658368"/>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8992" y="4709160"/>
            <a:ext cx="868680" cy="164592"/>
          </a:xfrm>
          <a:prstGeom prst="rect">
            <a:avLst/>
          </a:prstGeom>
          <a:noFill/>
        </p:spPr>
        <p:txBody>
          <a:bodyPr wrap="square" lIns="36576" rIns="36576" tIns="36576" bIns="36576" anchor="t">
            <a:noAutofit/>
          </a:bodyPr>
          <a:lstStyle/>
          <a:p>
            <a:pPr algn="l">
              <a:spcBef>
                <a:spcPts val="0"/>
              </a:spcBef>
              <a:spcAft>
                <a:spcPts val="0"/>
              </a:spcAft>
            </a:pPr>
            <a:r>
              <a:rPr sz="1250" b="1">
                <a:solidFill>
                  <a:srgbClr val="111F3D"/>
                </a:solidFill>
                <a:latin typeface="Aptos"/>
              </a:rPr>
              <a:t>3-5</a:t>
            </a:r>
          </a:p>
        </p:txBody>
      </p:sp>
      <p:sp>
        <p:nvSpPr>
          <p:cNvPr id="18" name="TextBox 17"/>
          <p:cNvSpPr txBox="1"/>
          <p:nvPr/>
        </p:nvSpPr>
        <p:spPr>
          <a:xfrm>
            <a:off x="1920240" y="4709160"/>
            <a:ext cx="1280160" cy="274320"/>
          </a:xfrm>
          <a:prstGeom prst="rect">
            <a:avLst/>
          </a:prstGeom>
          <a:noFill/>
        </p:spPr>
        <p:txBody>
          <a:bodyPr wrap="square" lIns="36576" rIns="36576" tIns="36576" bIns="36576" anchor="t">
            <a:noAutofit/>
          </a:bodyPr>
          <a:lstStyle/>
          <a:p>
            <a:pPr algn="l">
              <a:spcBef>
                <a:spcPts val="0"/>
              </a:spcBef>
              <a:spcAft>
                <a:spcPts val="0"/>
              </a:spcAft>
            </a:pPr>
            <a:r>
              <a:rPr sz="880" b="0">
                <a:solidFill>
                  <a:srgbClr val="24314A"/>
                </a:solidFill>
                <a:latin typeface="Aptos"/>
              </a:rPr>
              <a:t>Targeted commercial flight missions secured</a:t>
            </a:r>
          </a:p>
        </p:txBody>
      </p:sp>
      <p:sp>
        <p:nvSpPr>
          <p:cNvPr id="19" name="Rounded Rectangle 18"/>
          <p:cNvSpPr/>
          <p:nvPr/>
        </p:nvSpPr>
        <p:spPr>
          <a:xfrm>
            <a:off x="3822191" y="1325880"/>
            <a:ext cx="3383280" cy="45720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59936" y="1572768"/>
            <a:ext cx="1828800" cy="164592"/>
          </a:xfrm>
          <a:prstGeom prst="rect">
            <a:avLst/>
          </a:prstGeom>
          <a:noFill/>
        </p:spPr>
        <p:txBody>
          <a:bodyPr wrap="square" lIns="36576" rIns="36576" tIns="36576" bIns="36576" anchor="t">
            <a:noAutofit/>
          </a:bodyPr>
          <a:lstStyle/>
          <a:p>
            <a:pPr algn="l">
              <a:spcBef>
                <a:spcPts val="0"/>
              </a:spcBef>
              <a:spcAft>
                <a:spcPts val="0"/>
              </a:spcAft>
            </a:pPr>
            <a:r>
              <a:rPr sz="1050" b="1">
                <a:solidFill>
                  <a:srgbClr val="00847A"/>
                </a:solidFill>
                <a:latin typeface="Aptos"/>
              </a:rPr>
              <a:t>Use of Funds</a:t>
            </a:r>
          </a:p>
        </p:txBody>
      </p:sp>
      <p:graphicFrame>
        <p:nvGraphicFramePr>
          <p:cNvPr id="21" name="Chart 20"/>
          <p:cNvGraphicFramePr>
            <a:graphicFrameLocks noGrp="1"/>
          </p:cNvGraphicFramePr>
          <p:nvPr/>
        </p:nvGraphicFramePr>
        <p:xfrm>
          <a:off x="4206240" y="1847088"/>
          <a:ext cx="2606040" cy="2331720"/>
        </p:xfrm>
        <a:graphic>
          <a:graphicData uri="http://schemas.openxmlformats.org/drawingml/2006/chart">
            <c:chart xmlns:c="http://schemas.openxmlformats.org/drawingml/2006/chart" r:id="rId2"/>
          </a:graphicData>
        </a:graphic>
      </p:graphicFrame>
      <p:sp>
        <p:nvSpPr>
          <p:cNvPr id="22" name="Oval 21"/>
          <p:cNvSpPr/>
          <p:nvPr/>
        </p:nvSpPr>
        <p:spPr>
          <a:xfrm>
            <a:off x="4114800" y="4434840"/>
            <a:ext cx="109728" cy="109728"/>
          </a:xfrm>
          <a:prstGeom prst="ellipse">
            <a:avLst/>
          </a:prstGeom>
          <a:solidFill>
            <a:srgbClr val="13B8A9"/>
          </a:solidFill>
          <a:ln w="12700">
            <a:solidFill>
              <a:srgbClr val="13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79392" y="4425696"/>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R&amp;D / Payload Development</a:t>
            </a:r>
          </a:p>
        </p:txBody>
      </p:sp>
      <p:sp>
        <p:nvSpPr>
          <p:cNvPr id="24" name="Oval 23"/>
          <p:cNvSpPr/>
          <p:nvPr/>
        </p:nvSpPr>
        <p:spPr>
          <a:xfrm>
            <a:off x="4114800" y="4672583"/>
            <a:ext cx="109728" cy="109728"/>
          </a:xfrm>
          <a:prstGeom prst="ellipse">
            <a:avLst/>
          </a:prstGeom>
          <a:solidFill>
            <a:srgbClr val="111F3D"/>
          </a:solidFill>
          <a:ln w="1270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79392" y="4663440"/>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Flight &amp; Integration Costs</a:t>
            </a:r>
          </a:p>
        </p:txBody>
      </p:sp>
      <p:sp>
        <p:nvSpPr>
          <p:cNvPr id="26" name="Oval 25"/>
          <p:cNvSpPr/>
          <p:nvPr/>
        </p:nvSpPr>
        <p:spPr>
          <a:xfrm>
            <a:off x="4114800" y="4910327"/>
            <a:ext cx="109728" cy="109728"/>
          </a:xfrm>
          <a:prstGeom prst="ellipse">
            <a:avLst/>
          </a:prstGeom>
          <a:solidFill>
            <a:srgbClr val="5E86FF"/>
          </a:solidFill>
          <a:ln w="12700">
            <a:solidFill>
              <a:srgbClr val="5E8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79392" y="4901183"/>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Regulatory &amp; Clinical Prep</a:t>
            </a:r>
          </a:p>
        </p:txBody>
      </p:sp>
      <p:sp>
        <p:nvSpPr>
          <p:cNvPr id="28" name="Oval 27"/>
          <p:cNvSpPr/>
          <p:nvPr/>
        </p:nvSpPr>
        <p:spPr>
          <a:xfrm>
            <a:off x="4114800" y="5148072"/>
            <a:ext cx="109728" cy="109728"/>
          </a:xfrm>
          <a:prstGeom prst="ellipse">
            <a:avLst/>
          </a:prstGeom>
          <a:solidFill>
            <a:srgbClr val="9DBFFF"/>
          </a:solidFill>
          <a:ln w="12700">
            <a:solidFill>
              <a:srgbClr val="9D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9392" y="5138928"/>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Team Build-Out</a:t>
            </a:r>
          </a:p>
        </p:txBody>
      </p:sp>
      <p:sp>
        <p:nvSpPr>
          <p:cNvPr id="30" name="Oval 29"/>
          <p:cNvSpPr/>
          <p:nvPr/>
        </p:nvSpPr>
        <p:spPr>
          <a:xfrm>
            <a:off x="4114800" y="5385816"/>
            <a:ext cx="109728" cy="109728"/>
          </a:xfrm>
          <a:prstGeom prst="ellipse">
            <a:avLst/>
          </a:prstGeom>
          <a:solidFill>
            <a:srgbClr val="E9EFF8"/>
          </a:solidFill>
          <a:ln w="12700">
            <a:solidFill>
              <a:srgbClr val="E9EF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79392" y="5376672"/>
            <a:ext cx="2423160" cy="128016"/>
          </a:xfrm>
          <a:prstGeom prst="rect">
            <a:avLst/>
          </a:prstGeom>
          <a:noFill/>
        </p:spPr>
        <p:txBody>
          <a:bodyPr wrap="square" lIns="36576" rIns="36576" tIns="36576" bIns="36576" anchor="t">
            <a:noAutofit/>
          </a:bodyPr>
          <a:lstStyle/>
          <a:p>
            <a:pPr algn="l">
              <a:spcBef>
                <a:spcPts val="0"/>
              </a:spcBef>
              <a:spcAft>
                <a:spcPts val="0"/>
              </a:spcAft>
            </a:pPr>
            <a:r>
              <a:rPr sz="860" b="0">
                <a:solidFill>
                  <a:srgbClr val="24314A"/>
                </a:solidFill>
                <a:latin typeface="Aptos"/>
              </a:rPr>
              <a:t>G&amp;A</a:t>
            </a:r>
          </a:p>
        </p:txBody>
      </p:sp>
      <p:sp>
        <p:nvSpPr>
          <p:cNvPr id="32" name="Rounded Rectangle 31"/>
          <p:cNvSpPr/>
          <p:nvPr/>
        </p:nvSpPr>
        <p:spPr>
          <a:xfrm>
            <a:off x="7424927" y="1325880"/>
            <a:ext cx="4050791" cy="457200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2" y="1572768"/>
            <a:ext cx="2377440" cy="164592"/>
          </a:xfrm>
          <a:prstGeom prst="rect">
            <a:avLst/>
          </a:prstGeom>
          <a:noFill/>
        </p:spPr>
        <p:txBody>
          <a:bodyPr wrap="square" lIns="36576" rIns="36576" tIns="36576" bIns="36576" anchor="t">
            <a:noAutofit/>
          </a:bodyPr>
          <a:lstStyle/>
          <a:p>
            <a:pPr algn="l">
              <a:spcBef>
                <a:spcPts val="0"/>
              </a:spcBef>
              <a:spcAft>
                <a:spcPts val="0"/>
              </a:spcAft>
            </a:pPr>
            <a:r>
              <a:rPr sz="1050" b="1">
                <a:solidFill>
                  <a:srgbClr val="00847A"/>
                </a:solidFill>
                <a:latin typeface="Aptos"/>
              </a:rPr>
              <a:t>Key Use-of-Funds Milestones</a:t>
            </a:r>
          </a:p>
        </p:txBody>
      </p:sp>
      <p:sp>
        <p:nvSpPr>
          <p:cNvPr id="34" name="TextBox 33"/>
          <p:cNvSpPr txBox="1"/>
          <p:nvPr/>
        </p:nvSpPr>
        <p:spPr>
          <a:xfrm>
            <a:off x="7626096" y="1901952"/>
            <a:ext cx="3520440" cy="3337560"/>
          </a:xfrm>
          <a:prstGeom prst="rect">
            <a:avLst/>
          </a:prstGeom>
          <a:noFill/>
        </p:spPr>
        <p:txBody>
          <a:bodyPr wrap="square" lIns="45720" rIns="45720" anchor="t">
            <a:noAutofit/>
          </a:bodyPr>
          <a:lstStyle/>
          <a:p>
            <a:pPr algn="l">
              <a:spcAft>
                <a:spcPts val="200"/>
              </a:spcAft>
            </a:pPr>
            <a:r>
              <a:rPr sz="1000" b="0">
                <a:solidFill>
                  <a:srgbClr val="13B8A9"/>
                </a:solidFill>
                <a:latin typeface="Aptos"/>
              </a:rPr>
              <a:t>- Flight-qualify modular payload hardware</a:t>
            </a:r>
          </a:p>
          <a:p>
            <a:pPr algn="l">
              <a:spcAft>
                <a:spcPts val="200"/>
              </a:spcAft>
            </a:pPr>
            <a:r>
              <a:rPr sz="1000" b="0">
                <a:solidFill>
                  <a:srgbClr val="13B8A9"/>
                </a:solidFill>
                <a:latin typeface="Aptos"/>
              </a:rPr>
              <a:t>- Complete 3-5 commissioned ISS missions</a:t>
            </a:r>
          </a:p>
          <a:p>
            <a:pPr algn="l">
              <a:spcAft>
                <a:spcPts val="200"/>
              </a:spcAft>
            </a:pPr>
            <a:r>
              <a:rPr sz="1000" b="0">
                <a:solidFill>
                  <a:srgbClr val="13B8A9"/>
                </a:solidFill>
                <a:latin typeface="Aptos"/>
              </a:rPr>
              <a:t>- File first NASA InSPA Phase 1 grant</a:t>
            </a:r>
          </a:p>
          <a:p>
            <a:pPr algn="l">
              <a:spcAft>
                <a:spcPts val="200"/>
              </a:spcAft>
            </a:pPr>
            <a:r>
              <a:rPr sz="1000" b="0">
                <a:solidFill>
                  <a:srgbClr val="13B8A9"/>
                </a:solidFill>
                <a:latin typeface="Aptos"/>
              </a:rPr>
              <a:t>- Secure Starlab payload reservation</a:t>
            </a:r>
          </a:p>
          <a:p>
            <a:pPr algn="l">
              <a:spcAft>
                <a:spcPts val="200"/>
              </a:spcAft>
            </a:pPr>
            <a:r>
              <a:rPr sz="1000" b="0">
                <a:solidFill>
                  <a:srgbClr val="13B8A9"/>
                </a:solidFill>
                <a:latin typeface="Aptos"/>
              </a:rPr>
              <a:t>- Build core scientific and engineering team</a:t>
            </a:r>
          </a:p>
        </p:txBody>
      </p:sp>
      <p:sp>
        <p:nvSpPr>
          <p:cNvPr id="35" name="TextBox 34"/>
          <p:cNvSpPr txBox="1"/>
          <p:nvPr/>
        </p:nvSpPr>
        <p:spPr>
          <a:xfrm>
            <a:off x="713232" y="6144768"/>
            <a:ext cx="6400800" cy="128016"/>
          </a:xfrm>
          <a:prstGeom prst="rect">
            <a:avLst/>
          </a:prstGeom>
          <a:noFill/>
        </p:spPr>
        <p:txBody>
          <a:bodyPr wrap="square" lIns="36576" rIns="36576" tIns="36576" bIns="36576" anchor="t">
            <a:noAutofit/>
          </a:bodyPr>
          <a:lstStyle/>
          <a:p>
            <a:pPr algn="l">
              <a:spcBef>
                <a:spcPts val="0"/>
              </a:spcBef>
              <a:spcAft>
                <a:spcPts val="0"/>
              </a:spcAft>
            </a:pPr>
            <a:r>
              <a:rPr sz="810" b="0">
                <a:solidFill>
                  <a:srgbClr val="606D82"/>
                </a:solidFill>
                <a:latin typeface="Aptos"/>
              </a:rPr>
              <a:t>Allocation figures are illustrative and subject to change based on diligence and negotiated terms.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RISK FACTORS</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Key Risks and Mitigating Strategies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18</a:t>
            </a:r>
          </a:p>
        </p:txBody>
      </p:sp>
      <p:sp>
        <p:nvSpPr>
          <p:cNvPr id="6" name="Rectangle 5"/>
          <p:cNvSpPr/>
          <p:nvPr/>
        </p:nvSpPr>
        <p:spPr>
          <a:xfrm>
            <a:off x="713232" y="1353312"/>
            <a:ext cx="1828800" cy="402336"/>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408176"/>
            <a:ext cx="1682496" cy="292608"/>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Risk Category</a:t>
            </a:r>
          </a:p>
        </p:txBody>
      </p:sp>
      <p:sp>
        <p:nvSpPr>
          <p:cNvPr id="8" name="Rectangle 7"/>
          <p:cNvSpPr/>
          <p:nvPr/>
        </p:nvSpPr>
        <p:spPr>
          <a:xfrm>
            <a:off x="2542032" y="1353312"/>
            <a:ext cx="3886200" cy="402336"/>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15184" y="1408176"/>
            <a:ext cx="3739896" cy="292608"/>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Risk</a:t>
            </a:r>
          </a:p>
        </p:txBody>
      </p:sp>
      <p:sp>
        <p:nvSpPr>
          <p:cNvPr id="10" name="Rectangle 9"/>
          <p:cNvSpPr/>
          <p:nvPr/>
        </p:nvSpPr>
        <p:spPr>
          <a:xfrm>
            <a:off x="6428232" y="1353312"/>
            <a:ext cx="5047488" cy="402336"/>
          </a:xfrm>
          <a:prstGeom prst="rect">
            <a:avLst/>
          </a:prstGeom>
          <a:solidFill>
            <a:srgbClr val="111F3D"/>
          </a:solidFill>
          <a:ln w="10160">
            <a:solidFill>
              <a:srgbClr val="111F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01384" y="1408176"/>
            <a:ext cx="4901183" cy="292608"/>
          </a:xfrm>
          <a:prstGeom prst="rect">
            <a:avLst/>
          </a:prstGeom>
          <a:noFill/>
        </p:spPr>
        <p:txBody>
          <a:bodyPr wrap="square" lIns="36576" rIns="36576" tIns="36576" bIns="36576" anchor="t">
            <a:noAutofit/>
          </a:bodyPr>
          <a:lstStyle/>
          <a:p>
            <a:pPr algn="l">
              <a:spcBef>
                <a:spcPts val="0"/>
              </a:spcBef>
              <a:spcAft>
                <a:spcPts val="0"/>
              </a:spcAft>
            </a:pPr>
            <a:r>
              <a:rPr sz="919" b="1">
                <a:solidFill>
                  <a:srgbClr val="FFFFFF"/>
                </a:solidFill>
                <a:latin typeface="Aptos"/>
              </a:rPr>
              <a:t>Mitigant</a:t>
            </a:r>
          </a:p>
        </p:txBody>
      </p:sp>
      <p:sp>
        <p:nvSpPr>
          <p:cNvPr id="12" name="Rectangle 11"/>
          <p:cNvSpPr/>
          <p:nvPr/>
        </p:nvSpPr>
        <p:spPr>
          <a:xfrm>
            <a:off x="713232" y="1755648"/>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1810512"/>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Technical</a:t>
            </a:r>
          </a:p>
        </p:txBody>
      </p:sp>
      <p:sp>
        <p:nvSpPr>
          <p:cNvPr id="14" name="Rectangle 13"/>
          <p:cNvSpPr/>
          <p:nvPr/>
        </p:nvSpPr>
        <p:spPr>
          <a:xfrm>
            <a:off x="2542032" y="1755648"/>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5184" y="1810512"/>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Scaling from validated tissue patches to full vascularised organs remains scientifically unsolved industry-wide.</a:t>
            </a:r>
          </a:p>
        </p:txBody>
      </p:sp>
      <p:sp>
        <p:nvSpPr>
          <p:cNvPr id="16" name="Rectangle 15"/>
          <p:cNvSpPr/>
          <p:nvPr/>
        </p:nvSpPr>
        <p:spPr>
          <a:xfrm>
            <a:off x="6428232" y="1755648"/>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1384" y="1810512"/>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Phased roadmap monetises near-term, lower-complexity verticals (wound care, orthopedic) before attempting whole-organ printing.</a:t>
            </a:r>
          </a:p>
        </p:txBody>
      </p:sp>
      <p:sp>
        <p:nvSpPr>
          <p:cNvPr id="18" name="Rectangle 17"/>
          <p:cNvSpPr/>
          <p:nvPr/>
        </p:nvSpPr>
        <p:spPr>
          <a:xfrm>
            <a:off x="713232" y="2596896"/>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651760"/>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Regulatory</a:t>
            </a:r>
          </a:p>
        </p:txBody>
      </p:sp>
      <p:sp>
        <p:nvSpPr>
          <p:cNvPr id="20" name="Rectangle 19"/>
          <p:cNvSpPr/>
          <p:nvPr/>
        </p:nvSpPr>
        <p:spPr>
          <a:xfrm>
            <a:off x="2542032" y="2596896"/>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15184" y="2651760"/>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FDA approval pathways for novel tissue-engineered products are long, costly, and precedent-limited.</a:t>
            </a:r>
          </a:p>
        </p:txBody>
      </p:sp>
      <p:sp>
        <p:nvSpPr>
          <p:cNvPr id="22" name="Rectangle 21"/>
          <p:cNvSpPr/>
          <p:nvPr/>
        </p:nvSpPr>
        <p:spPr>
          <a:xfrm>
            <a:off x="6428232" y="2596896"/>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4" y="2651760"/>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Symvess clearance (Dec 2024) establishes the first direct precedent. Samuel engages regulatory counsel from Year 1 and targets lower-risk 510(k) products first.</a:t>
            </a:r>
          </a:p>
        </p:txBody>
      </p:sp>
      <p:sp>
        <p:nvSpPr>
          <p:cNvPr id="24" name="Rectangle 23"/>
          <p:cNvSpPr/>
          <p:nvPr/>
        </p:nvSpPr>
        <p:spPr>
          <a:xfrm>
            <a:off x="713232" y="3438144"/>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3493008"/>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Platform / Access</a:t>
            </a:r>
          </a:p>
        </p:txBody>
      </p:sp>
      <p:sp>
        <p:nvSpPr>
          <p:cNvPr id="26" name="Rectangle 25"/>
          <p:cNvSpPr/>
          <p:nvPr/>
        </p:nvSpPr>
        <p:spPr>
          <a:xfrm>
            <a:off x="2542032" y="3438144"/>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15184" y="3493008"/>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ISS retirement (~2030) creates dependency risk if commercial successor stations are delayed.</a:t>
            </a:r>
          </a:p>
        </p:txBody>
      </p:sp>
      <p:sp>
        <p:nvSpPr>
          <p:cNvPr id="28" name="Rectangle 27"/>
          <p:cNvSpPr/>
          <p:nvPr/>
        </p:nvSpPr>
        <p:spPr>
          <a:xfrm>
            <a:off x="6428232" y="3438144"/>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01384" y="3493008"/>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Station-agnostic hardware design supports ISS, Starlab, Axiom, Orbital Reef, and Vast simultaneously, diversifying single-platform exposure.</a:t>
            </a:r>
          </a:p>
        </p:txBody>
      </p:sp>
      <p:sp>
        <p:nvSpPr>
          <p:cNvPr id="30" name="Rectangle 29"/>
          <p:cNvSpPr/>
          <p:nvPr/>
        </p:nvSpPr>
        <p:spPr>
          <a:xfrm>
            <a:off x="713232" y="4279392"/>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4334255"/>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Capital Intensity</a:t>
            </a:r>
          </a:p>
        </p:txBody>
      </p:sp>
      <p:sp>
        <p:nvSpPr>
          <p:cNvPr id="32" name="Rectangle 31"/>
          <p:cNvSpPr/>
          <p:nvPr/>
        </p:nvSpPr>
        <p:spPr>
          <a:xfrm>
            <a:off x="2542032" y="4279392"/>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15184" y="4334255"/>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Flight missions, payload hardware, and clinical trials require sustained, significant capital investment.</a:t>
            </a:r>
          </a:p>
        </p:txBody>
      </p:sp>
      <p:sp>
        <p:nvSpPr>
          <p:cNvPr id="34" name="Rectangle 33"/>
          <p:cNvSpPr/>
          <p:nvPr/>
        </p:nvSpPr>
        <p:spPr>
          <a:xfrm>
            <a:off x="6428232" y="4279392"/>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01384" y="4334255"/>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Blended funding strategy combines equity with non-dilutive NASA/ESA/DoD grants, following the precedent set by LambdaVision and Redwire.</a:t>
            </a:r>
          </a:p>
        </p:txBody>
      </p:sp>
      <p:sp>
        <p:nvSpPr>
          <p:cNvPr id="36" name="Rectangle 35"/>
          <p:cNvSpPr/>
          <p:nvPr/>
        </p:nvSpPr>
        <p:spPr>
          <a:xfrm>
            <a:off x="713232" y="5120640"/>
            <a:ext cx="18288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5175503"/>
            <a:ext cx="1682496" cy="731520"/>
          </a:xfrm>
          <a:prstGeom prst="rect">
            <a:avLst/>
          </a:prstGeom>
          <a:noFill/>
        </p:spPr>
        <p:txBody>
          <a:bodyPr wrap="square" lIns="36576" rIns="36576" tIns="36576" bIns="36576" anchor="t">
            <a:noAutofit/>
          </a:bodyPr>
          <a:lstStyle/>
          <a:p>
            <a:pPr algn="l">
              <a:spcBef>
                <a:spcPts val="0"/>
              </a:spcBef>
              <a:spcAft>
                <a:spcPts val="0"/>
              </a:spcAft>
            </a:pPr>
            <a:r>
              <a:rPr sz="890" b="1">
                <a:solidFill>
                  <a:srgbClr val="24314A"/>
                </a:solidFill>
                <a:latin typeface="Aptos"/>
              </a:rPr>
              <a:t>Competitive</a:t>
            </a:r>
          </a:p>
        </p:txBody>
      </p:sp>
      <p:sp>
        <p:nvSpPr>
          <p:cNvPr id="38" name="Rectangle 37"/>
          <p:cNvSpPr/>
          <p:nvPr/>
        </p:nvSpPr>
        <p:spPr>
          <a:xfrm>
            <a:off x="2542032" y="5120640"/>
            <a:ext cx="3886200"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15184" y="5175503"/>
            <a:ext cx="3739896"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Incumbent operators (Redwire, LambdaVision) hold first-mover relationships with NASA and station operators.</a:t>
            </a:r>
          </a:p>
        </p:txBody>
      </p:sp>
      <p:sp>
        <p:nvSpPr>
          <p:cNvPr id="40" name="Rectangle 39"/>
          <p:cNvSpPr/>
          <p:nvPr/>
        </p:nvSpPr>
        <p:spPr>
          <a:xfrm>
            <a:off x="6428232" y="5120640"/>
            <a:ext cx="5047488" cy="841248"/>
          </a:xfrm>
          <a:prstGeom prst="rect">
            <a:avLst/>
          </a:prstGeom>
          <a:solidFill>
            <a:srgbClr val="FFFFFF"/>
          </a:solidFill>
          <a:ln w="1016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01384" y="5175503"/>
            <a:ext cx="4901183" cy="731520"/>
          </a:xfrm>
          <a:prstGeom prst="rect">
            <a:avLst/>
          </a:prstGeom>
          <a:noFill/>
        </p:spPr>
        <p:txBody>
          <a:bodyPr wrap="square" lIns="36576" rIns="36576" tIns="36576" bIns="36576" anchor="t">
            <a:noAutofit/>
          </a:bodyPr>
          <a:lstStyle/>
          <a:p>
            <a:pPr algn="l">
              <a:spcBef>
                <a:spcPts val="0"/>
              </a:spcBef>
              <a:spcAft>
                <a:spcPts val="0"/>
              </a:spcAft>
            </a:pPr>
            <a:r>
              <a:rPr sz="890" b="0">
                <a:solidFill>
                  <a:srgbClr val="24314A"/>
                </a:solidFill>
                <a:latin typeface="Aptos"/>
              </a:rPr>
              <a:t>Samuel differentiates on multi-vertical platform breadth and station-agnostic flexibility rather than competing head-on for any single contract.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ORGANISATION</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Team &amp; Scientific Advisory Approach</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19</a:t>
            </a:r>
          </a:p>
        </p:txBody>
      </p:sp>
      <p:sp>
        <p:nvSpPr>
          <p:cNvPr id="6" name="Rounded Rectangle 5"/>
          <p:cNvSpPr/>
          <p:nvPr/>
        </p:nvSpPr>
        <p:spPr>
          <a:xfrm>
            <a:off x="713232" y="1207008"/>
            <a:ext cx="10762488" cy="65836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332720" cy="310896"/>
          </a:xfrm>
          <a:prstGeom prst="rect">
            <a:avLst/>
          </a:prstGeom>
          <a:noFill/>
        </p:spPr>
        <p:txBody>
          <a:bodyPr wrap="square" lIns="36576" rIns="36576" tIns="36576" bIns="36576" anchor="t">
            <a:noAutofit/>
          </a:bodyPr>
          <a:lstStyle/>
          <a:p>
            <a:pPr algn="l">
              <a:spcBef>
                <a:spcPts val="0"/>
              </a:spcBef>
              <a:spcAft>
                <a:spcPts val="0"/>
              </a:spcAft>
            </a:pPr>
            <a:r>
              <a:rPr sz="1019" b="0">
                <a:solidFill>
                  <a:srgbClr val="24314A"/>
                </a:solidFill>
                <a:latin typeface="Aptos"/>
              </a:rPr>
              <a:t>Samuel Space is building a founding team and Scientific Advisory Board around the specific expertise this platform requires. Roles below reflect the Company's hiring plan and target advisory profile for the Series A period.</a:t>
            </a:r>
          </a:p>
        </p:txBody>
      </p:sp>
      <p:sp>
        <p:nvSpPr>
          <p:cNvPr id="8" name="Rounded Rectangle 7"/>
          <p:cNvSpPr/>
          <p:nvPr/>
        </p:nvSpPr>
        <p:spPr>
          <a:xfrm>
            <a:off x="713232" y="2103120"/>
            <a:ext cx="4910328" cy="148132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249424"/>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Founder / Chief Executive Officer</a:t>
            </a:r>
          </a:p>
        </p:txBody>
      </p:sp>
      <p:sp>
        <p:nvSpPr>
          <p:cNvPr id="10" name="TextBox 9"/>
          <p:cNvSpPr txBox="1"/>
          <p:nvPr/>
        </p:nvSpPr>
        <p:spPr>
          <a:xfrm>
            <a:off x="877824" y="2542032"/>
            <a:ext cx="4581144" cy="859536"/>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Commercial space or biotech venture leadership; track record building regulated hardware or therapeutics businesses from seed to scale.</a:t>
            </a:r>
          </a:p>
        </p:txBody>
      </p:sp>
      <p:sp>
        <p:nvSpPr>
          <p:cNvPr id="11" name="Rounded Rectangle 10"/>
          <p:cNvSpPr/>
          <p:nvPr/>
        </p:nvSpPr>
        <p:spPr>
          <a:xfrm>
            <a:off x="5650992" y="2103120"/>
            <a:ext cx="4910328" cy="148132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15583" y="2249424"/>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Chief Scientific Officer</a:t>
            </a:r>
          </a:p>
        </p:txBody>
      </p:sp>
      <p:sp>
        <p:nvSpPr>
          <p:cNvPr id="13" name="TextBox 12"/>
          <p:cNvSpPr txBox="1"/>
          <p:nvPr/>
        </p:nvSpPr>
        <p:spPr>
          <a:xfrm>
            <a:off x="5815583" y="2542032"/>
            <a:ext cx="4581144" cy="859536"/>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PhD-level expertise in tissue engineering, stem cell biology, or regenerative medicine; prior peer-reviewed bioprinting research.</a:t>
            </a:r>
          </a:p>
        </p:txBody>
      </p:sp>
      <p:sp>
        <p:nvSpPr>
          <p:cNvPr id="14" name="Rounded Rectangle 13"/>
          <p:cNvSpPr/>
          <p:nvPr/>
        </p:nvSpPr>
        <p:spPr>
          <a:xfrm>
            <a:off x="713232" y="3840480"/>
            <a:ext cx="4910328" cy="148132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986784"/>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VP, Payload Engineering</a:t>
            </a:r>
          </a:p>
        </p:txBody>
      </p:sp>
      <p:sp>
        <p:nvSpPr>
          <p:cNvPr id="16" name="TextBox 15"/>
          <p:cNvSpPr txBox="1"/>
          <p:nvPr/>
        </p:nvSpPr>
        <p:spPr>
          <a:xfrm>
            <a:off x="877824" y="4279392"/>
            <a:ext cx="4581144" cy="859536"/>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Aerospace hardware engineering background; experience flight-qualifying instrumentation for ISS or commercial LEO payloads.</a:t>
            </a:r>
          </a:p>
        </p:txBody>
      </p:sp>
      <p:sp>
        <p:nvSpPr>
          <p:cNvPr id="17" name="Rounded Rectangle 16"/>
          <p:cNvSpPr/>
          <p:nvPr/>
        </p:nvSpPr>
        <p:spPr>
          <a:xfrm>
            <a:off x="5650992" y="3840480"/>
            <a:ext cx="4910328" cy="1481328"/>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15583" y="3986784"/>
            <a:ext cx="4581144" cy="228600"/>
          </a:xfrm>
          <a:prstGeom prst="rect">
            <a:avLst/>
          </a:prstGeom>
          <a:noFill/>
        </p:spPr>
        <p:txBody>
          <a:bodyPr wrap="square" lIns="36576" rIns="36576" tIns="36576" bIns="36576" anchor="t">
            <a:noAutofit/>
          </a:bodyPr>
          <a:lstStyle/>
          <a:p>
            <a:pPr algn="l">
              <a:spcBef>
                <a:spcPts val="0"/>
              </a:spcBef>
              <a:spcAft>
                <a:spcPts val="0"/>
              </a:spcAft>
            </a:pPr>
            <a:r>
              <a:rPr sz="1300" b="1">
                <a:solidFill>
                  <a:srgbClr val="111F3D"/>
                </a:solidFill>
                <a:latin typeface="Aptos"/>
              </a:rPr>
              <a:t>Head of Regulatory Affairs</a:t>
            </a:r>
          </a:p>
        </p:txBody>
      </p:sp>
      <p:sp>
        <p:nvSpPr>
          <p:cNvPr id="19" name="TextBox 18"/>
          <p:cNvSpPr txBox="1"/>
          <p:nvPr/>
        </p:nvSpPr>
        <p:spPr>
          <a:xfrm>
            <a:off x="5815583" y="4279392"/>
            <a:ext cx="4581144" cy="859536"/>
          </a:xfrm>
          <a:prstGeom prst="rect">
            <a:avLst/>
          </a:prstGeom>
          <a:noFill/>
        </p:spPr>
        <p:txBody>
          <a:bodyPr wrap="square" lIns="36576" rIns="36576" tIns="36576" bIns="36576" anchor="t">
            <a:noAutofit/>
          </a:bodyPr>
          <a:lstStyle/>
          <a:p>
            <a:pPr algn="l">
              <a:spcBef>
                <a:spcPts val="0"/>
              </a:spcBef>
              <a:spcAft>
                <a:spcPts val="0"/>
              </a:spcAft>
            </a:pPr>
            <a:r>
              <a:rPr sz="1000" b="0">
                <a:solidFill>
                  <a:srgbClr val="24314A"/>
                </a:solidFill>
                <a:latin typeface="Aptos"/>
              </a:rPr>
              <a:t>FDA medical device / biologics regulatory pathway expertise; experience navigating 510(k) and PMA submissions.</a:t>
            </a:r>
          </a:p>
        </p:txBody>
      </p:sp>
      <p:sp>
        <p:nvSpPr>
          <p:cNvPr id="20" name="Rounded Rectangle 19"/>
          <p:cNvSpPr/>
          <p:nvPr/>
        </p:nvSpPr>
        <p:spPr>
          <a:xfrm>
            <a:off x="713232" y="5486400"/>
            <a:ext cx="10762488" cy="64008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623560"/>
            <a:ext cx="2560320" cy="164592"/>
          </a:xfrm>
          <a:prstGeom prst="rect">
            <a:avLst/>
          </a:prstGeom>
          <a:noFill/>
        </p:spPr>
        <p:txBody>
          <a:bodyPr wrap="square" lIns="36576" rIns="36576" tIns="36576" bIns="36576" anchor="t">
            <a:noAutofit/>
          </a:bodyPr>
          <a:lstStyle/>
          <a:p>
            <a:pPr algn="l">
              <a:spcBef>
                <a:spcPts val="0"/>
              </a:spcBef>
              <a:spcAft>
                <a:spcPts val="0"/>
              </a:spcAft>
            </a:pPr>
            <a:r>
              <a:rPr sz="1080" b="1">
                <a:solidFill>
                  <a:srgbClr val="111F3D"/>
                </a:solidFill>
                <a:latin typeface="Aptos"/>
              </a:rPr>
              <a:t>Scientific Advisory Board - In Formation</a:t>
            </a:r>
          </a:p>
        </p:txBody>
      </p:sp>
      <p:sp>
        <p:nvSpPr>
          <p:cNvPr id="22" name="TextBox 21"/>
          <p:cNvSpPr txBox="1"/>
          <p:nvPr/>
        </p:nvSpPr>
        <p:spPr>
          <a:xfrm>
            <a:off x="914400" y="5806440"/>
            <a:ext cx="10287000" cy="164592"/>
          </a:xfrm>
          <a:prstGeom prst="rect">
            <a:avLst/>
          </a:prstGeom>
          <a:noFill/>
        </p:spPr>
        <p:txBody>
          <a:bodyPr wrap="square" lIns="36576" rIns="36576" tIns="36576" bIns="36576" anchor="t">
            <a:noAutofit/>
          </a:bodyPr>
          <a:lstStyle/>
          <a:p>
            <a:pPr algn="l">
              <a:spcBef>
                <a:spcPts val="0"/>
              </a:spcBef>
              <a:spcAft>
                <a:spcPts val="0"/>
              </a:spcAft>
            </a:pPr>
            <a:r>
              <a:rPr sz="919" b="0">
                <a:solidFill>
                  <a:srgbClr val="24314A"/>
                </a:solidFill>
                <a:latin typeface="Aptos"/>
              </a:rPr>
              <a:t>Samuel is actively recruiting an SAB spanning stem-cell and cardiac tissue biology, microgravity payload design, and protein-based biomanufacturing. Target SAB appointments will be announced as the round closes.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680960" y="0"/>
            <a:ext cx="4510735" cy="6858000"/>
          </a:xfrm>
          <a:prstGeom prst="rect">
            <a:avLst/>
          </a:prstGeom>
          <a:solidFill>
            <a:srgbClr val="EEF4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png"/>
          <p:cNvPicPr>
            <a:picLocks noChangeAspect="1"/>
          </p:cNvPicPr>
          <p:nvPr/>
        </p:nvPicPr>
        <p:blipFill>
          <a:blip r:embed="rId2"/>
          <a:stretch>
            <a:fillRect/>
          </a:stretch>
        </p:blipFill>
        <p:spPr>
          <a:xfrm>
            <a:off x="7790688" y="0"/>
            <a:ext cx="4572000" cy="6858000"/>
          </a:xfrm>
          <a:prstGeom prst="rect">
            <a:avLst/>
          </a:prstGeom>
        </p:spPr>
      </p:pic>
      <p:sp>
        <p:nvSpPr>
          <p:cNvPr id="4" name="Rectangle 3"/>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530352"/>
            <a:ext cx="2286000" cy="182880"/>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THE OPPORTUNITY</a:t>
            </a:r>
          </a:p>
        </p:txBody>
      </p:sp>
      <p:sp>
        <p:nvSpPr>
          <p:cNvPr id="6" name="TextBox 5"/>
          <p:cNvSpPr txBox="1"/>
          <p:nvPr/>
        </p:nvSpPr>
        <p:spPr>
          <a:xfrm>
            <a:off x="713232" y="1188720"/>
            <a:ext cx="6263640" cy="1371600"/>
          </a:xfrm>
          <a:prstGeom prst="rect">
            <a:avLst/>
          </a:prstGeom>
          <a:noFill/>
        </p:spPr>
        <p:txBody>
          <a:bodyPr wrap="square" lIns="36576" rIns="36576" tIns="36576" bIns="36576" anchor="t">
            <a:noAutofit/>
          </a:bodyPr>
          <a:lstStyle/>
          <a:p>
            <a:pPr algn="l">
              <a:spcBef>
                <a:spcPts val="0"/>
              </a:spcBef>
              <a:spcAft>
                <a:spcPts val="0"/>
              </a:spcAft>
            </a:pPr>
            <a:r>
              <a:rPr sz="2650" b="1">
                <a:solidFill>
                  <a:srgbClr val="111F3D"/>
                </a:solidFill>
                <a:latin typeface="Aptos Display"/>
              </a:rPr>
              <a:t>Every organ printed in orbit</a:t>
            </a:r>
          </a:p>
          <a:p>
            <a:pPr algn="l">
              <a:spcBef>
                <a:spcPts val="0"/>
              </a:spcBef>
              <a:spcAft>
                <a:spcPts val="0"/>
              </a:spcAft>
            </a:pPr>
            <a:r>
              <a:rPr sz="2650" b="1">
                <a:solidFill>
                  <a:srgbClr val="111F3D"/>
                </a:solidFill>
                <a:latin typeface="Aptos Display"/>
              </a:rPr>
              <a:t>is a life that didn't have to wait.</a:t>
            </a:r>
          </a:p>
        </p:txBody>
      </p:sp>
      <p:sp>
        <p:nvSpPr>
          <p:cNvPr id="7" name="TextBox 6"/>
          <p:cNvSpPr txBox="1"/>
          <p:nvPr/>
        </p:nvSpPr>
        <p:spPr>
          <a:xfrm>
            <a:off x="713232" y="2999232"/>
            <a:ext cx="6309360" cy="1051560"/>
          </a:xfrm>
          <a:prstGeom prst="rect">
            <a:avLst/>
          </a:prstGeom>
          <a:noFill/>
        </p:spPr>
        <p:txBody>
          <a:bodyPr wrap="square" lIns="36576" rIns="36576" tIns="36576" bIns="36576" anchor="t">
            <a:noAutofit/>
          </a:bodyPr>
          <a:lstStyle/>
          <a:p>
            <a:pPr algn="l">
              <a:spcBef>
                <a:spcPts val="0"/>
              </a:spcBef>
              <a:spcAft>
                <a:spcPts val="0"/>
              </a:spcAft>
            </a:pPr>
            <a:r>
              <a:rPr sz="1140" b="0">
                <a:solidFill>
                  <a:srgbClr val="24314A"/>
                </a:solidFill>
                <a:latin typeface="Aptos"/>
              </a:rPr>
              <a:t>Samuel Space stands at the intersection of two converging trends: a mature, validated microgravity bioprinting science base, and the arrival of commercial space stations built for exactly this kind of work. The science already works. What's needed now is a company built to commercialise it.</a:t>
            </a:r>
          </a:p>
        </p:txBody>
      </p:sp>
      <p:sp>
        <p:nvSpPr>
          <p:cNvPr id="8" name="Rounded Rectangle 7"/>
          <p:cNvSpPr/>
          <p:nvPr/>
        </p:nvSpPr>
        <p:spPr>
          <a:xfrm>
            <a:off x="713232" y="5074920"/>
            <a:ext cx="4023360" cy="713232"/>
          </a:xfrm>
          <a:prstGeom prst="roundRect">
            <a:avLst/>
          </a:prstGeom>
          <a:solidFill>
            <a:srgbClr val="ECF8F6"/>
          </a:solidFill>
          <a:ln w="12700">
            <a:solidFill>
              <a:srgbClr val="ECF8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248656"/>
            <a:ext cx="3566160" cy="146304"/>
          </a:xfrm>
          <a:prstGeom prst="rect">
            <a:avLst/>
          </a:prstGeom>
          <a:noFill/>
        </p:spPr>
        <p:txBody>
          <a:bodyPr wrap="square" lIns="36576" rIns="36576" tIns="36576" bIns="36576" anchor="t">
            <a:noAutofit/>
          </a:bodyPr>
          <a:lstStyle/>
          <a:p>
            <a:pPr algn="l">
              <a:spcBef>
                <a:spcPts val="0"/>
              </a:spcBef>
              <a:spcAft>
                <a:spcPts val="0"/>
              </a:spcAft>
            </a:pPr>
            <a:r>
              <a:rPr sz="1040" b="1">
                <a:solidFill>
                  <a:srgbClr val="111F3D"/>
                </a:solidFill>
                <a:latin typeface="Aptos"/>
              </a:rPr>
              <a:t>Samuel Space Organ and Tissue Engineering</a:t>
            </a:r>
          </a:p>
        </p:txBody>
      </p:sp>
      <p:sp>
        <p:nvSpPr>
          <p:cNvPr id="10" name="TextBox 9"/>
          <p:cNvSpPr txBox="1"/>
          <p:nvPr/>
        </p:nvSpPr>
        <p:spPr>
          <a:xfrm>
            <a:off x="914400" y="5468112"/>
            <a:ext cx="3566160" cy="146304"/>
          </a:xfrm>
          <a:prstGeom prst="rect">
            <a:avLst/>
          </a:prstGeom>
          <a:noFill/>
        </p:spPr>
        <p:txBody>
          <a:bodyPr wrap="square" lIns="36576" rIns="36576" tIns="36576" bIns="36576" anchor="t">
            <a:noAutofit/>
          </a:bodyPr>
          <a:lstStyle/>
          <a:p>
            <a:pPr algn="l">
              <a:spcBef>
                <a:spcPts val="0"/>
              </a:spcBef>
              <a:spcAft>
                <a:spcPts val="0"/>
              </a:spcAft>
            </a:pPr>
            <a:r>
              <a:rPr sz="960" b="0">
                <a:solidFill>
                  <a:srgbClr val="606D82"/>
                </a:solidFill>
                <a:latin typeface="Aptos"/>
              </a:rPr>
              <a:t>investors@samuelspace.com  (placeholder)</a:t>
            </a:r>
          </a:p>
        </p:txBody>
      </p:sp>
      <p:sp>
        <p:nvSpPr>
          <p:cNvPr id="11" name="TextBox 10"/>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3B8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2286000" cy="201168"/>
          </a:xfrm>
          <a:prstGeom prst="rect">
            <a:avLst/>
          </a:prstGeom>
          <a:noFill/>
        </p:spPr>
        <p:txBody>
          <a:bodyPr wrap="square" lIns="36576" rIns="36576" tIns="36576" bIns="36576" anchor="t">
            <a:noAutofit/>
          </a:bodyPr>
          <a:lstStyle/>
          <a:p>
            <a:pPr algn="l">
              <a:spcBef>
                <a:spcPts val="0"/>
              </a:spcBef>
              <a:spcAft>
                <a:spcPts val="0"/>
              </a:spcAft>
            </a:pPr>
            <a:r>
              <a:rPr sz="1000" b="1">
                <a:solidFill>
                  <a:srgbClr val="00847A"/>
                </a:solidFill>
                <a:latin typeface="Aptos"/>
              </a:rPr>
              <a:t>APPENDIX</a:t>
            </a:r>
          </a:p>
        </p:txBody>
      </p:sp>
      <p:sp>
        <p:nvSpPr>
          <p:cNvPr id="4" name="TextBox 3"/>
          <p:cNvSpPr txBox="1"/>
          <p:nvPr/>
        </p:nvSpPr>
        <p:spPr>
          <a:xfrm>
            <a:off x="548640" y="438912"/>
            <a:ext cx="8595360" cy="475488"/>
          </a:xfrm>
          <a:prstGeom prst="rect">
            <a:avLst/>
          </a:prstGeom>
          <a:noFill/>
        </p:spPr>
        <p:txBody>
          <a:bodyPr wrap="square" lIns="36576" rIns="36576" tIns="36576" bIns="36576" anchor="t">
            <a:noAutofit/>
          </a:bodyPr>
          <a:lstStyle/>
          <a:p>
            <a:pPr algn="l">
              <a:spcBef>
                <a:spcPts val="0"/>
              </a:spcBef>
              <a:spcAft>
                <a:spcPts val="0"/>
              </a:spcAft>
            </a:pPr>
            <a:r>
              <a:rPr sz="2700" b="1">
                <a:solidFill>
                  <a:srgbClr val="111F3D"/>
                </a:solidFill>
                <a:latin typeface="Aptos Display"/>
              </a:rPr>
              <a:t>Sources &amp; References</a:t>
            </a:r>
          </a:p>
        </p:txBody>
      </p:sp>
      <p:sp>
        <p:nvSpPr>
          <p:cNvPr id="5" name="TextBox 4"/>
          <p:cNvSpPr txBox="1"/>
          <p:nvPr/>
        </p:nvSpPr>
        <p:spPr>
          <a:xfrm>
            <a:off x="11292840" y="6400800"/>
            <a:ext cx="365760" cy="164592"/>
          </a:xfrm>
          <a:prstGeom prst="rect">
            <a:avLst/>
          </a:prstGeom>
          <a:noFill/>
        </p:spPr>
        <p:txBody>
          <a:bodyPr wrap="square" lIns="0" rIns="0" tIns="0" bIns="0" anchor="t">
            <a:noAutofit/>
          </a:bodyPr>
          <a:lstStyle/>
          <a:p>
            <a:pPr algn="r">
              <a:spcBef>
                <a:spcPts val="0"/>
              </a:spcBef>
              <a:spcAft>
                <a:spcPts val="0"/>
              </a:spcAft>
            </a:pPr>
            <a:r>
              <a:rPr sz="850" b="0">
                <a:solidFill>
                  <a:srgbClr val="606D82"/>
                </a:solidFill>
                <a:latin typeface="Aptos"/>
              </a:rPr>
              <a:t>21</a:t>
            </a:r>
          </a:p>
        </p:txBody>
      </p:sp>
      <p:sp>
        <p:nvSpPr>
          <p:cNvPr id="6" name="Rounded Rectangle 5"/>
          <p:cNvSpPr/>
          <p:nvPr/>
        </p:nvSpPr>
        <p:spPr>
          <a:xfrm>
            <a:off x="713232" y="1298448"/>
            <a:ext cx="5166360" cy="41605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09360" y="1298448"/>
            <a:ext cx="5166360" cy="4160520"/>
          </a:xfrm>
          <a:prstGeom prst="roundRect">
            <a:avLst/>
          </a:prstGeom>
          <a:solidFill>
            <a:srgbClr val="FFFFFF"/>
          </a:solidFill>
          <a:ln w="12700">
            <a:solidFill>
              <a:srgbClr val="DCE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499616"/>
            <a:ext cx="2743200" cy="164592"/>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Bioprinting Science &amp; Technology</a:t>
            </a:r>
          </a:p>
        </p:txBody>
      </p:sp>
      <p:sp>
        <p:nvSpPr>
          <p:cNvPr id="9" name="TextBox 8"/>
          <p:cNvSpPr txBox="1"/>
          <p:nvPr/>
        </p:nvSpPr>
        <p:spPr>
          <a:xfrm>
            <a:off x="914400" y="1773936"/>
            <a:ext cx="4709160" cy="3383280"/>
          </a:xfrm>
          <a:prstGeom prst="rect">
            <a:avLst/>
          </a:prstGeom>
          <a:noFill/>
        </p:spPr>
        <p:txBody>
          <a:bodyPr wrap="square" lIns="45720" rIns="45720" anchor="t">
            <a:noAutofit/>
          </a:bodyPr>
          <a:lstStyle/>
          <a:p>
            <a:pPr algn="l">
              <a:spcAft>
                <a:spcPts val="200"/>
              </a:spcAft>
            </a:pPr>
            <a:r>
              <a:rPr sz="890" b="0">
                <a:solidFill>
                  <a:srgbClr val="13B8A9"/>
                </a:solidFill>
                <a:latin typeface="Aptos"/>
              </a:rPr>
              <a:t>- NASA - "3D Bioprinting" research overview, iss-research program page</a:t>
            </a:r>
          </a:p>
          <a:p>
            <a:pPr algn="l">
              <a:spcAft>
                <a:spcPts val="200"/>
              </a:spcAft>
            </a:pPr>
            <a:r>
              <a:rPr sz="890" b="0">
                <a:solidFill>
                  <a:srgbClr val="13B8A9"/>
                </a:solidFill>
                <a:latin typeface="Aptos"/>
              </a:rPr>
              <a:t>- NASA - BioFabrication Facility mission page, Redwire Corporation</a:t>
            </a:r>
          </a:p>
          <a:p>
            <a:pPr algn="l">
              <a:spcAft>
                <a:spcPts val="200"/>
              </a:spcAft>
            </a:pPr>
            <a:r>
              <a:rPr sz="890" b="0">
                <a:solidFill>
                  <a:srgbClr val="13B8A9"/>
                </a:solidFill>
                <a:latin typeface="Aptos"/>
              </a:rPr>
              <a:t>- Redwire Corporation - BFF-Meniscus first human knee meniscus printed in orbit, Sept 2023</a:t>
            </a:r>
          </a:p>
          <a:p>
            <a:pPr algn="l">
              <a:spcAft>
                <a:spcPts val="200"/>
              </a:spcAft>
            </a:pPr>
            <a:r>
              <a:rPr sz="890" b="0">
                <a:solidFill>
                  <a:srgbClr val="13B8A9"/>
                </a:solidFill>
                <a:latin typeface="Aptos"/>
              </a:rPr>
              <a:t>- Redwire Corporation - BFF-Cardiac investigation announcements and ISS return coverage, 2024</a:t>
            </a:r>
          </a:p>
          <a:p>
            <a:pPr algn="l">
              <a:spcAft>
                <a:spcPts val="200"/>
              </a:spcAft>
            </a:pPr>
            <a:r>
              <a:rPr sz="890" b="0">
                <a:solidFill>
                  <a:srgbClr val="13B8A9"/>
                </a:solidFill>
                <a:latin typeface="Aptos"/>
              </a:rPr>
              <a:t>- Redwire Corporation - NASA IDIQ contract award coverage, Sept 2025</a:t>
            </a:r>
          </a:p>
          <a:p>
            <a:pPr algn="l">
              <a:spcAft>
                <a:spcPts val="200"/>
              </a:spcAft>
            </a:pPr>
            <a:r>
              <a:rPr sz="890" b="0">
                <a:solidFill>
                  <a:srgbClr val="13B8A9"/>
                </a:solidFill>
                <a:latin typeface="Aptos"/>
              </a:rPr>
              <a:t>- ESA / DLR - Bioprint FirstAid investigation overview, Cosmic Kiss mission materials</a:t>
            </a:r>
          </a:p>
          <a:p>
            <a:pPr algn="l">
              <a:spcAft>
                <a:spcPts val="200"/>
              </a:spcAft>
            </a:pPr>
            <a:r>
              <a:rPr sz="890" b="0">
                <a:solidFill>
                  <a:srgbClr val="13B8A9"/>
                </a:solidFill>
                <a:latin typeface="Aptos"/>
              </a:rPr>
              <a:t>- LambdaVision Inc. - Press releases on Space Tango partnership, NASA InSPA Phase 2 award, and seed financing</a:t>
            </a:r>
          </a:p>
        </p:txBody>
      </p:sp>
      <p:sp>
        <p:nvSpPr>
          <p:cNvPr id="10" name="TextBox 9"/>
          <p:cNvSpPr txBox="1"/>
          <p:nvPr/>
        </p:nvSpPr>
        <p:spPr>
          <a:xfrm>
            <a:off x="6528816" y="1499616"/>
            <a:ext cx="2926080" cy="164592"/>
          </a:xfrm>
          <a:prstGeom prst="rect">
            <a:avLst/>
          </a:prstGeom>
          <a:noFill/>
        </p:spPr>
        <p:txBody>
          <a:bodyPr wrap="square" lIns="36576" rIns="36576" tIns="36576" bIns="36576" anchor="t">
            <a:noAutofit/>
          </a:bodyPr>
          <a:lstStyle/>
          <a:p>
            <a:pPr algn="l">
              <a:spcBef>
                <a:spcPts val="0"/>
              </a:spcBef>
              <a:spcAft>
                <a:spcPts val="0"/>
              </a:spcAft>
            </a:pPr>
            <a:r>
              <a:rPr sz="1120" b="1">
                <a:solidFill>
                  <a:srgbClr val="111F3D"/>
                </a:solidFill>
                <a:latin typeface="Aptos"/>
              </a:rPr>
              <a:t>Market, Regulatory &amp; Industry Data</a:t>
            </a:r>
          </a:p>
        </p:txBody>
      </p:sp>
      <p:sp>
        <p:nvSpPr>
          <p:cNvPr id="11" name="TextBox 10"/>
          <p:cNvSpPr txBox="1"/>
          <p:nvPr/>
        </p:nvSpPr>
        <p:spPr>
          <a:xfrm>
            <a:off x="6510528" y="1773936"/>
            <a:ext cx="4709160" cy="3383280"/>
          </a:xfrm>
          <a:prstGeom prst="rect">
            <a:avLst/>
          </a:prstGeom>
          <a:noFill/>
        </p:spPr>
        <p:txBody>
          <a:bodyPr wrap="square" lIns="45720" rIns="45720" anchor="t">
            <a:noAutofit/>
          </a:bodyPr>
          <a:lstStyle/>
          <a:p>
            <a:pPr algn="l">
              <a:spcAft>
                <a:spcPts val="200"/>
              </a:spcAft>
            </a:pPr>
            <a:r>
              <a:rPr sz="890" b="0">
                <a:solidFill>
                  <a:srgbClr val="13B8A9"/>
                </a:solidFill>
                <a:latin typeface="Aptos"/>
              </a:rPr>
              <a:t>- ROSCOSMOS - 3D MBP / Organ.Aut magnetic bioprinter mission summaries, 2018-2020</a:t>
            </a:r>
          </a:p>
          <a:p>
            <a:pPr algn="l">
              <a:spcAft>
                <a:spcPts val="200"/>
              </a:spcAft>
            </a:pPr>
            <a:r>
              <a:rPr sz="890" b="0">
                <a:solidFill>
                  <a:srgbClr val="13B8A9"/>
                </a:solidFill>
                <a:latin typeface="Aptos"/>
              </a:rPr>
              <a:t>- American Heart Association - 2025 Heart Disease &amp; Stroke Statistics Update</a:t>
            </a:r>
          </a:p>
          <a:p>
            <a:pPr algn="l">
              <a:spcAft>
                <a:spcPts val="200"/>
              </a:spcAft>
            </a:pPr>
            <a:r>
              <a:rPr sz="890" b="0">
                <a:solidFill>
                  <a:srgbClr val="13B8A9"/>
                </a:solidFill>
                <a:latin typeface="Aptos"/>
              </a:rPr>
              <a:t>- OPTN / organdonor.gov (HRSA) - U.S. transplant waiting list data, 2025</a:t>
            </a:r>
          </a:p>
          <a:p>
            <a:pPr algn="l">
              <a:spcAft>
                <a:spcPts val="200"/>
              </a:spcAft>
            </a:pPr>
            <a:r>
              <a:rPr sz="890" b="0">
                <a:solidFill>
                  <a:srgbClr val="13B8A9"/>
                </a:solidFill>
                <a:latin typeface="Aptos"/>
              </a:rPr>
              <a:t>- World Health Organization - Global Observatory on Donation and Transplantation</a:t>
            </a:r>
          </a:p>
          <a:p>
            <a:pPr algn="l">
              <a:spcAft>
                <a:spcPts val="200"/>
              </a:spcAft>
            </a:pPr>
            <a:r>
              <a:rPr sz="890" b="0">
                <a:solidFill>
                  <a:srgbClr val="13B8A9"/>
                </a:solidFill>
                <a:latin typeface="Aptos"/>
              </a:rPr>
              <a:t>- Mordor Intelligence - 3D Bioprinting Market Report, updated January 2026</a:t>
            </a:r>
          </a:p>
          <a:p>
            <a:pPr algn="l">
              <a:spcAft>
                <a:spcPts val="200"/>
              </a:spcAft>
            </a:pPr>
            <a:r>
              <a:rPr sz="890" b="0">
                <a:solidFill>
                  <a:srgbClr val="13B8A9"/>
                </a:solidFill>
                <a:latin typeface="Aptos"/>
              </a:rPr>
              <a:t>- U.S. FDA - Symvess clearance announcement, Dec 2024</a:t>
            </a:r>
          </a:p>
          <a:p>
            <a:pPr algn="l">
              <a:spcAft>
                <a:spcPts val="200"/>
              </a:spcAft>
            </a:pPr>
            <a:r>
              <a:rPr sz="890" b="0">
                <a:solidFill>
                  <a:srgbClr val="13B8A9"/>
                </a:solidFill>
                <a:latin typeface="Aptos"/>
              </a:rPr>
              <a:t>- NASA Commercial LEO Destinations program pages covering Starlab, Axiom, Orbital Reef, and Vast</a:t>
            </a:r>
          </a:p>
        </p:txBody>
      </p:sp>
      <p:sp>
        <p:nvSpPr>
          <p:cNvPr id="12" name="Rounded Rectangle 11"/>
          <p:cNvSpPr/>
          <p:nvPr/>
        </p:nvSpPr>
        <p:spPr>
          <a:xfrm>
            <a:off x="713232" y="5559552"/>
            <a:ext cx="10762488" cy="640080"/>
          </a:xfrm>
          <a:prstGeom prst="roundRect">
            <a:avLst/>
          </a:prstGeom>
          <a:solidFill>
            <a:srgbClr val="EEF4FC"/>
          </a:solidFill>
          <a:ln w="12700">
            <a:solidFill>
              <a:srgbClr val="EEF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696712"/>
            <a:ext cx="1737360" cy="164592"/>
          </a:xfrm>
          <a:prstGeom prst="rect">
            <a:avLst/>
          </a:prstGeom>
          <a:noFill/>
        </p:spPr>
        <p:txBody>
          <a:bodyPr wrap="square" lIns="36576" rIns="36576" tIns="36576" bIns="36576" anchor="t">
            <a:noAutofit/>
          </a:bodyPr>
          <a:lstStyle/>
          <a:p>
            <a:pPr algn="l">
              <a:spcBef>
                <a:spcPts val="0"/>
              </a:spcBef>
              <a:spcAft>
                <a:spcPts val="0"/>
              </a:spcAft>
            </a:pPr>
            <a:r>
              <a:rPr sz="1080" b="1">
                <a:solidFill>
                  <a:srgbClr val="111F3D"/>
                </a:solidFill>
                <a:latin typeface="Aptos"/>
              </a:rPr>
              <a:t>A Note on Methodology</a:t>
            </a:r>
          </a:p>
        </p:txBody>
      </p:sp>
      <p:sp>
        <p:nvSpPr>
          <p:cNvPr id="14" name="TextBox 13"/>
          <p:cNvSpPr txBox="1"/>
          <p:nvPr/>
        </p:nvSpPr>
        <p:spPr>
          <a:xfrm>
            <a:off x="2304288" y="5669280"/>
            <a:ext cx="8869680" cy="201168"/>
          </a:xfrm>
          <a:prstGeom prst="rect">
            <a:avLst/>
          </a:prstGeom>
          <a:noFill/>
        </p:spPr>
        <p:txBody>
          <a:bodyPr wrap="square" lIns="36576" rIns="36576" tIns="36576" bIns="36576" anchor="t">
            <a:noAutofit/>
          </a:bodyPr>
          <a:lstStyle/>
          <a:p>
            <a:pPr algn="l">
              <a:spcBef>
                <a:spcPts val="0"/>
              </a:spcBef>
              <a:spcAft>
                <a:spcPts val="0"/>
              </a:spcAft>
            </a:pPr>
            <a:r>
              <a:rPr sz="880" b="0">
                <a:solidFill>
                  <a:srgbClr val="24314A"/>
                </a:solidFill>
                <a:latin typeface="Aptos"/>
              </a:rPr>
              <a:t>All third-party scientific milestones, dates, and figures in this presentation are drawn from the public sources listed above and were current as of the citation date shown. References to NASA, Redwire, LambdaVision, ROSCOSMOS, and ESA/DLR describe industry validation of the underlying science, not partnerships, endorsements, or affiliations with Samuel Space.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