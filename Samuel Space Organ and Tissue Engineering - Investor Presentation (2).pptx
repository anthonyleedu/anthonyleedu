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Share (%)</c:v>
                </c:pt>
              </c:strCache>
            </c:strRef>
          </c:tx>
          <c:spPr>
            <a:solidFill>
              <a:srgbClr val="00A991"/>
            </a:solidFill>
            <a:ln>
              <a:noFill/>
            </a:ln>
          </c:spPr>
          <c:cat>
            <c:strRef>
              <c:f>Sheet1!$A$2:$A$7</c:f>
              <c:strCache>
                <c:ptCount val="6"/>
                <c:pt idx="0">
                  <c:v>Kidney</c:v>
                </c:pt>
                <c:pt idx="1">
                  <c:v>Liver</c:v>
                </c:pt>
                <c:pt idx="2">
                  <c:v>Heart</c:v>
                </c:pt>
                <c:pt idx="3">
                  <c:v>Lung</c:v>
                </c:pt>
                <c:pt idx="4">
                  <c:v>Pancreas</c:v>
                </c:pt>
                <c:pt idx="5">
                  <c:v>Other</c:v>
                </c:pt>
              </c:strCache>
            </c:strRef>
          </c:cat>
          <c:val>
            <c:numRef>
              <c:f>Sheet1!$B$2:$B$7</c:f>
              <c:numCache>
                <c:formatCode>General</c:formatCode>
                <c:ptCount val="6"/>
                <c:pt idx="0">
                  <c:v>87.0</c:v>
                </c:pt>
                <c:pt idx="1">
                  <c:v>9.0</c:v>
                </c:pt>
                <c:pt idx="2">
                  <c:v>2.0</c:v>
                </c:pt>
                <c:pt idx="3">
                  <c:v>1.0</c:v>
                </c:pt>
                <c:pt idx="4">
                  <c:v>0.5</c:v>
                </c:pt>
                <c:pt idx="5">
                  <c:v>0.5</c:v>
                </c:pt>
              </c:numCache>
            </c:numRef>
          </c:val>
        </c:ser>
        <c:dLbls>
          <c:numFmt formatCode="0.0&quot;%&quot;" sourceLinked="0"/>
          <c:txPr>
            <a:bodyPr/>
            <a:lstStyle/>
            <a:p>
              <a:pPr>
                <a:defRPr sz="900" b="1">
                  <a:solidFill>
                    <a:srgbClr val="0B1F3A"/>
                  </a:solidFill>
                  <a:latin typeface="Aptos"/>
                </a:defRPr>
              </a:pPr>
            </a:p>
          </c:txPr>
          <c:dLblPos val="outEnd"/>
          <c:showLegendKey val="0"/>
          <c:showVal val="1"/>
          <c:showCatName val="0"/>
          <c:showSerName val="0"/>
          <c:showPercent val="0"/>
          <c:showBubbleSize val="0"/>
          <c:showLeaderLines val="1"/>
        </c:dLbls>
        <c:gapWidth val="45"/>
        <c:axId val="-2068027336"/>
        <c:axId val="-2113994440"/>
      </c:barChart>
      <c:catAx>
        <c:axId val="-2068027336"/>
        <c:scaling>
          <c:orientation val="maxMin"/>
        </c:scaling>
        <c:delete val="0"/>
        <c:axPos val="l"/>
        <c:majorTickMark val="out"/>
        <c:minorTickMark val="none"/>
        <c:tickLblPos val="nextTo"/>
        <c:spPr>
          <a:ln>
            <a:noFill/>
          </a:ln>
        </c:spPr>
        <c:txPr>
          <a:bodyPr/>
          <a:lstStyle/>
          <a:p>
            <a:pPr>
              <a:defRPr sz="950">
                <a:solidFill>
                  <a:srgbClr val="50657B"/>
                </a:solidFill>
                <a:latin typeface="Aptos"/>
              </a:defRPr>
            </a:pPr>
          </a:p>
        </c:txPr>
        <c:crossAx val="-2113994440"/>
        <c:crosses val="autoZero"/>
        <c:auto val="1"/>
        <c:lblAlgn val="ctr"/>
        <c:lblOffset val="100"/>
        <c:noMultiLvlLbl val="0"/>
      </c:catAx>
      <c:valAx>
        <c:axId val="-2113994440"/>
        <c:scaling>
          <c:max val="100.0"/>
          <c:min val="0.0"/>
        </c:scaling>
        <c:delete val="0"/>
        <c:axPos val="b"/>
        <c:majorGridlines>
          <c:spPr>
            <a:ln w="7620">
              <a:solidFill>
                <a:srgbClr val="DCE5ED"/>
              </a:solidFill>
            </a:ln>
          </c:spPr>
        </c:majorGridlines>
        <c:majorTickMark val="out"/>
        <c:minorTickMark val="none"/>
        <c:tickLblPos val="nextTo"/>
        <c:spPr>
          <a:ln>
            <a:noFill/>
          </a:ln>
        </c:spPr>
        <c:txPr>
          <a:bodyPr/>
          <a:lstStyle/>
          <a:p>
            <a:pPr>
              <a:defRPr sz="800">
                <a:solidFill>
                  <a:srgbClr val="708399"/>
                </a:solidFill>
                <a:latin typeface="Aptos"/>
              </a:defRPr>
            </a:pPr>
          </a:p>
        </c:txPr>
        <c:crossAx val="-2068027336"/>
        <c:crosses val="autoZero"/>
        <c:majorUnit val="20.0"/>
      </c:valAx>
    </c:plotArea>
    <c:dispBlanksAs val="gap"/>
  </c:chart>
  <c:txPr>
    <a:bodyPr/>
    <a:lstStyle/>
    <a:p>
      <a:pPr>
        <a:defRPr sz="900">
          <a:solidFill>
            <a:srgbClr val="50657B"/>
          </a:solidFill>
          <a:latin typeface="Aptos"/>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Market ($B)</c:v>
                </c:pt>
              </c:strCache>
            </c:strRef>
          </c:tx>
          <c:spPr>
            <a:solidFill>
              <a:srgbClr val="00A991"/>
            </a:solidFill>
            <a:ln>
              <a:noFill/>
            </a:ln>
          </c:spPr>
          <c:cat>
            <c:strRef>
              <c:f>Sheet1!$A$2:$A$9</c:f>
              <c:strCache>
                <c:ptCount val="8"/>
                <c:pt idx="0">
                  <c:v>2023</c:v>
                </c:pt>
                <c:pt idx="1">
                  <c:v>2024</c:v>
                </c:pt>
                <c:pt idx="2">
                  <c:v>2025E</c:v>
                </c:pt>
                <c:pt idx="3">
                  <c:v>2026E</c:v>
                </c:pt>
                <c:pt idx="4">
                  <c:v>2027E</c:v>
                </c:pt>
                <c:pt idx="5">
                  <c:v>2028E</c:v>
                </c:pt>
                <c:pt idx="6">
                  <c:v>2029E</c:v>
                </c:pt>
                <c:pt idx="7">
                  <c:v>2030E</c:v>
                </c:pt>
              </c:strCache>
            </c:strRef>
          </c:cat>
          <c:val>
            <c:numRef>
              <c:f>Sheet1!$B$2:$B$9</c:f>
              <c:numCache>
                <c:formatCode>General</c:formatCode>
                <c:ptCount val="8"/>
                <c:pt idx="0">
                  <c:v>1.28</c:v>
                </c:pt>
                <c:pt idx="1">
                  <c:v>1.46</c:v>
                </c:pt>
                <c:pt idx="2">
                  <c:v>1.7</c:v>
                </c:pt>
                <c:pt idx="3">
                  <c:v>1.97</c:v>
                </c:pt>
                <c:pt idx="4">
                  <c:v>2.28</c:v>
                </c:pt>
                <c:pt idx="5">
                  <c:v>2.64</c:v>
                </c:pt>
                <c:pt idx="6">
                  <c:v>3.06</c:v>
                </c:pt>
                <c:pt idx="7">
                  <c:v>3.49</c:v>
                </c:pt>
              </c:numCache>
            </c:numRef>
          </c:val>
        </c:ser>
        <c:dLbls>
          <c:numFmt formatCode="$0.0&quot;B&quot;" sourceLinked="0"/>
          <c:txPr>
            <a:bodyPr/>
            <a:lstStyle/>
            <a:p>
              <a:pPr>
                <a:defRPr sz="850" b="1">
                  <a:solidFill>
                    <a:srgbClr val="0B1F3A"/>
                  </a:solidFill>
                  <a:latin typeface="Aptos"/>
                </a:defRPr>
              </a:pPr>
            </a:p>
          </c:txPr>
          <c:dLblPos val="outEnd"/>
          <c:showLegendKey val="0"/>
          <c:showVal val="1"/>
          <c:showCatName val="0"/>
          <c:showSerName val="0"/>
          <c:showPercent val="0"/>
          <c:showBubbleSize val="0"/>
          <c:showLeaderLines val="1"/>
        </c:dLbls>
        <c:gapWidth val="48"/>
        <c:axId val="-2068027336"/>
        <c:axId val="-2113994440"/>
      </c:barChart>
      <c:catAx>
        <c:axId val="-2068027336"/>
        <c:scaling>
          <c:orientation val="minMax"/>
        </c:scaling>
        <c:delete val="0"/>
        <c:axPos val="b"/>
        <c:majorTickMark val="out"/>
        <c:minorTickMark val="none"/>
        <c:tickLblPos val="nextTo"/>
        <c:spPr>
          <a:ln>
            <a:solidFill>
              <a:srgbClr val="D7E1EA"/>
            </a:solidFill>
          </a:ln>
        </c:spPr>
        <c:txPr>
          <a:bodyPr/>
          <a:lstStyle/>
          <a:p>
            <a:pPr>
              <a:defRPr sz="850">
                <a:solidFill>
                  <a:srgbClr val="50657B"/>
                </a:solidFill>
                <a:latin typeface="Aptos"/>
              </a:defRPr>
            </a:pPr>
          </a:p>
        </c:txPr>
        <c:crossAx val="-2113994440"/>
        <c:crosses val="autoZero"/>
        <c:auto val="1"/>
        <c:lblAlgn val="ctr"/>
        <c:lblOffset val="100"/>
        <c:noMultiLvlLbl val="0"/>
      </c:catAx>
      <c:valAx>
        <c:axId val="-2113994440"/>
        <c:scaling>
          <c:max val="4.0"/>
          <c:min val="0.0"/>
        </c:scaling>
        <c:delete val="0"/>
        <c:axPos val="l"/>
        <c:majorGridlines>
          <c:spPr>
            <a:ln w="7620">
              <a:solidFill>
                <a:srgbClr val="DCE5ED"/>
              </a:solidFill>
            </a:ln>
          </c:spPr>
        </c:majorGridlines>
        <c:majorTickMark val="out"/>
        <c:minorTickMark val="none"/>
        <c:tickLblPos val="nextTo"/>
        <c:spPr>
          <a:ln>
            <a:noFill/>
          </a:ln>
        </c:spPr>
        <c:txPr>
          <a:bodyPr/>
          <a:lstStyle/>
          <a:p>
            <a:pPr>
              <a:defRPr sz="800">
                <a:solidFill>
                  <a:srgbClr val="708399"/>
                </a:solidFill>
                <a:latin typeface="Aptos"/>
              </a:defRPr>
            </a:pPr>
          </a:p>
        </c:txPr>
        <c:crossAx val="-2068027336"/>
        <c:crosses val="autoZero"/>
        <c:majorUnit val="1.0"/>
      </c:valAx>
    </c:plotArea>
    <c:dispBlanksAs val="gap"/>
  </c:chart>
  <c:txPr>
    <a:bodyPr/>
    <a:lstStyle/>
    <a:p>
      <a:pPr>
        <a:defRPr sz="900">
          <a:solidFill>
            <a:srgbClr val="50657B"/>
          </a:solidFill>
          <a:latin typeface="Aptos"/>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Contract Services</c:v>
                </c:pt>
              </c:strCache>
            </c:strRef>
          </c:tx>
          <c:spPr>
            <a:solidFill>
              <a:srgbClr val="00A991"/>
            </a:solidFill>
            <a:ln>
              <a:noFill/>
            </a:ln>
          </c:spPr>
          <c:cat>
            <c:strRef>
              <c:f>Sheet1!$A$2:$A$6</c:f>
              <c:strCache>
                <c:ptCount val="5"/>
                <c:pt idx="0">
                  <c:v>Year 1</c:v>
                </c:pt>
                <c:pt idx="1">
                  <c:v>Year 2</c:v>
                </c:pt>
                <c:pt idx="2">
                  <c:v>Year 3</c:v>
                </c:pt>
                <c:pt idx="3">
                  <c:v>Year 4</c:v>
                </c:pt>
                <c:pt idx="4">
                  <c:v>Year 5</c:v>
                </c:pt>
              </c:strCache>
            </c:strRef>
          </c:cat>
          <c:val>
            <c:numRef>
              <c:f>Sheet1!$B$2:$B$6</c:f>
              <c:numCache>
                <c:formatCode>General</c:formatCode>
                <c:ptCount val="5"/>
                <c:pt idx="0">
                  <c:v>0.5</c:v>
                </c:pt>
                <c:pt idx="1">
                  <c:v>1.2</c:v>
                </c:pt>
                <c:pt idx="2">
                  <c:v>3.0</c:v>
                </c:pt>
                <c:pt idx="3">
                  <c:v>7.0</c:v>
                </c:pt>
                <c:pt idx="4">
                  <c:v>14.0</c:v>
                </c:pt>
              </c:numCache>
            </c:numRef>
          </c:val>
        </c:ser>
        <c:ser>
          <c:idx val="1"/>
          <c:order val="1"/>
          <c:tx>
            <c:strRef>
              <c:f>Sheet1!$C$1</c:f>
              <c:strCache>
                <c:ptCount val="1"/>
                <c:pt idx="0">
                  <c:v>Grant Revenue</c:v>
                </c:pt>
              </c:strCache>
            </c:strRef>
          </c:tx>
          <c:spPr>
            <a:solidFill>
              <a:srgbClr val="2B6B93"/>
            </a:solidFill>
            <a:ln>
              <a:noFill/>
            </a:ln>
          </c:spPr>
          <c:cat>
            <c:strRef>
              <c:f>Sheet1!$A$2:$A$6</c:f>
              <c:strCache>
                <c:ptCount val="5"/>
                <c:pt idx="0">
                  <c:v>Year 1</c:v>
                </c:pt>
                <c:pt idx="1">
                  <c:v>Year 2</c:v>
                </c:pt>
                <c:pt idx="2">
                  <c:v>Year 3</c:v>
                </c:pt>
                <c:pt idx="3">
                  <c:v>Year 4</c:v>
                </c:pt>
                <c:pt idx="4">
                  <c:v>Year 5</c:v>
                </c:pt>
              </c:strCache>
            </c:strRef>
          </c:cat>
          <c:val>
            <c:numRef>
              <c:f>Sheet1!$C$2:$C$6</c:f>
              <c:numCache>
                <c:formatCode>General</c:formatCode>
                <c:ptCount val="5"/>
                <c:pt idx="0">
                  <c:v>0.3</c:v>
                </c:pt>
                <c:pt idx="1">
                  <c:v>1.0</c:v>
                </c:pt>
                <c:pt idx="2">
                  <c:v>1.5</c:v>
                </c:pt>
                <c:pt idx="3">
                  <c:v>2.0</c:v>
                </c:pt>
                <c:pt idx="4">
                  <c:v>2.5</c:v>
                </c:pt>
              </c:numCache>
            </c:numRef>
          </c:val>
        </c:ser>
        <c:ser>
          <c:idx val="2"/>
          <c:order val="2"/>
          <c:tx>
            <c:strRef>
              <c:f>Sheet1!$D$1</c:f>
              <c:strCache>
                <c:ptCount val="1"/>
                <c:pt idx="0">
                  <c:v>IP Licensing</c:v>
                </c:pt>
              </c:strCache>
            </c:strRef>
          </c:tx>
          <c:spPr>
            <a:solidFill>
              <a:srgbClr val="0B1F3A"/>
            </a:solidFill>
            <a:ln>
              <a:noFill/>
            </a:ln>
          </c:spPr>
          <c:cat>
            <c:strRef>
              <c:f>Sheet1!$A$2:$A$6</c:f>
              <c:strCache>
                <c:ptCount val="5"/>
                <c:pt idx="0">
                  <c:v>Year 1</c:v>
                </c:pt>
                <c:pt idx="1">
                  <c:v>Year 2</c:v>
                </c:pt>
                <c:pt idx="2">
                  <c:v>Year 3</c:v>
                </c:pt>
                <c:pt idx="3">
                  <c:v>Year 4</c:v>
                </c:pt>
                <c:pt idx="4">
                  <c:v>Year 5</c:v>
                </c:pt>
              </c:strCache>
            </c:strRef>
          </c:cat>
          <c:val>
            <c:numRef>
              <c:f>Sheet1!$D$2:$D$6</c:f>
              <c:numCache>
                <c:formatCode>General</c:formatCode>
                <c:ptCount val="5"/>
                <c:pt idx="0">
                  <c:v>0.0</c:v>
                </c:pt>
                <c:pt idx="1">
                  <c:v>0.2</c:v>
                </c:pt>
                <c:pt idx="2">
                  <c:v>1.6</c:v>
                </c:pt>
                <c:pt idx="3">
                  <c:v>4.5</c:v>
                </c:pt>
                <c:pt idx="4">
                  <c:v>7.7</c:v>
                </c:pt>
              </c:numCache>
            </c:numRef>
          </c:val>
        </c:ser>
        <c:gapWidth val="55"/>
        <c:overlap val="100"/>
        <c:axId val="-2068027336"/>
        <c:axId val="-2113994440"/>
      </c:barChart>
      <c:catAx>
        <c:axId val="-2068027336"/>
        <c:scaling>
          <c:orientation val="minMax"/>
        </c:scaling>
        <c:delete val="0"/>
        <c:axPos val="b"/>
        <c:majorTickMark val="out"/>
        <c:minorTickMark val="none"/>
        <c:tickLblPos val="nextTo"/>
        <c:spPr>
          <a:ln>
            <a:solidFill>
              <a:srgbClr val="D7E1EA"/>
            </a:solidFill>
          </a:ln>
        </c:spPr>
        <c:txPr>
          <a:bodyPr/>
          <a:lstStyle/>
          <a:p>
            <a:pPr>
              <a:defRPr sz="900">
                <a:solidFill>
                  <a:srgbClr val="50657B"/>
                </a:solidFill>
                <a:latin typeface="Aptos"/>
              </a:defRPr>
            </a:pPr>
          </a:p>
        </c:txPr>
        <c:crossAx val="-2113994440"/>
        <c:crosses val="autoZero"/>
        <c:auto val="1"/>
        <c:lblAlgn val="ctr"/>
        <c:lblOffset val="100"/>
        <c:noMultiLvlLbl val="0"/>
      </c:catAx>
      <c:valAx>
        <c:axId val="-2113994440"/>
        <c:scaling>
          <c:max val="30.0"/>
          <c:min val="0.0"/>
        </c:scaling>
        <c:delete val="0"/>
        <c:axPos val="l"/>
        <c:majorGridlines>
          <c:spPr>
            <a:ln w="7620">
              <a:solidFill>
                <a:srgbClr val="DCE5ED"/>
              </a:solidFill>
            </a:ln>
          </c:spPr>
        </c:majorGridlines>
        <c:majorTickMark val="out"/>
        <c:minorTickMark val="none"/>
        <c:tickLblPos val="nextTo"/>
        <c:spPr>
          <a:ln>
            <a:noFill/>
          </a:ln>
        </c:spPr>
        <c:txPr>
          <a:bodyPr/>
          <a:lstStyle/>
          <a:p>
            <a:pPr>
              <a:defRPr sz="800">
                <a:solidFill>
                  <a:srgbClr val="708399"/>
                </a:solidFill>
                <a:latin typeface="Aptos"/>
              </a:defRPr>
            </a:pPr>
          </a:p>
        </c:txPr>
        <c:crossAx val="-2068027336"/>
        <c:crosses val="autoZero"/>
        <c:majorUnit val="5.0"/>
      </c:valAx>
    </c:plotArea>
    <c:legend>
      <c:legendPos val="b"/>
      <c:overlay val="0"/>
      <c:txPr>
        <a:bodyPr/>
        <a:lstStyle/>
        <a:p>
          <a:pPr>
            <a:defRPr sz="850">
              <a:solidFill>
                <a:srgbClr val="50657B"/>
              </a:solidFill>
              <a:latin typeface="Aptos"/>
            </a:defRPr>
          </a:pPr>
        </a:p>
      </c:txPr>
    </c:legend>
    <c:dispBlanksAs val="gap"/>
  </c:chart>
  <c:txPr>
    <a:bodyPr/>
    <a:lstStyle/>
    <a:p>
      <a:pPr>
        <a:defRPr sz="900">
          <a:solidFill>
            <a:srgbClr val="50657B"/>
          </a:solidFill>
          <a:latin typeface="Aptos"/>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roundedCorners val="0"/>
  <c:chart>
    <c:autoTitleDeleted val="1"/>
    <c:plotArea>
      <c:layout/>
      <c:doughnutChart>
        <c:varyColors val="1"/>
        <c:ser>
          <c:idx val="0"/>
          <c:order val="0"/>
          <c:tx>
            <c:strRef>
              <c:f>Sheet1!$B$1</c:f>
              <c:strCache>
                <c:ptCount val="1"/>
                <c:pt idx="0">
                  <c:v>Allocation</c:v>
                </c:pt>
              </c:strCache>
            </c:strRef>
          </c:tx>
          <c:dPt>
            <c:idx val="0"/>
            <c:spPr>
              <a:solidFill>
                <a:srgbClr val="00A991"/>
              </a:solidFill>
              <a:ln w="12700">
                <a:solidFill>
                  <a:srgbClr val="FFFFFF"/>
                </a:solidFill>
              </a:ln>
            </c:spPr>
          </c:dPt>
          <c:dPt>
            <c:idx val="1"/>
            <c:spPr>
              <a:solidFill>
                <a:srgbClr val="2B6B93"/>
              </a:solidFill>
              <a:ln w="12700">
                <a:solidFill>
                  <a:srgbClr val="FFFFFF"/>
                </a:solidFill>
              </a:ln>
            </c:spPr>
          </c:dPt>
          <c:dPt>
            <c:idx val="2"/>
            <c:spPr>
              <a:solidFill>
                <a:srgbClr val="0B1F3A"/>
              </a:solidFill>
              <a:ln w="12700">
                <a:solidFill>
                  <a:srgbClr val="FFFFFF"/>
                </a:solidFill>
              </a:ln>
            </c:spPr>
          </c:dPt>
          <c:dPt>
            <c:idx val="3"/>
            <c:spPr>
              <a:solidFill>
                <a:srgbClr val="7E91A6"/>
              </a:solidFill>
              <a:ln w="12700">
                <a:solidFill>
                  <a:srgbClr val="FFFFFF"/>
                </a:solidFill>
              </a:ln>
            </c:spPr>
          </c:dPt>
          <c:dPt>
            <c:idx val="4"/>
            <c:spPr>
              <a:solidFill>
                <a:srgbClr val="C4CFD9"/>
              </a:solidFill>
              <a:ln w="12700">
                <a:solidFill>
                  <a:srgbClr val="FFFFFF"/>
                </a:solidFill>
              </a:ln>
            </c:spPr>
          </c:dPt>
          <c:cat>
            <c:strRef>
              <c:f>Sheet1!$A$2:$A$6</c:f>
              <c:strCache>
                <c:ptCount val="5"/>
                <c:pt idx="0">
                  <c:v>R&amp;D / Payload</c:v>
                </c:pt>
                <c:pt idx="1">
                  <c:v>Flight &amp; Integration</c:v>
                </c:pt>
                <c:pt idx="2">
                  <c:v>Regulatory &amp; Clinical</c:v>
                </c:pt>
                <c:pt idx="3">
                  <c:v>Team Build-Out</c:v>
                </c:pt>
                <c:pt idx="4">
                  <c:v>G&amp;A</c:v>
                </c:pt>
              </c:strCache>
            </c:strRef>
          </c:cat>
          <c:val>
            <c:numRef>
              <c:f>Sheet1!$B$2:$B$6</c:f>
              <c:numCache>
                <c:formatCode>General</c:formatCode>
                <c:ptCount val="5"/>
                <c:pt idx="0">
                  <c:v>40.0</c:v>
                </c:pt>
                <c:pt idx="1">
                  <c:v>25.0</c:v>
                </c:pt>
                <c:pt idx="2">
                  <c:v>15.0</c:v>
                </c:pt>
                <c:pt idx="3">
                  <c:v>15.0</c:v>
                </c:pt>
                <c:pt idx="4">
                  <c:v>5.0</c:v>
                </c:pt>
              </c:numCache>
            </c:numRef>
          </c:val>
        </c:ser>
        <c:dLbls>
          <c:txPr>
            <a:bodyPr/>
            <a:lstStyle/>
            <a:p>
              <a:pPr>
                <a:defRPr sz="800" b="1">
                  <a:solidFill>
                    <a:srgbClr val="0B1F3A"/>
                  </a:solidFill>
                  <a:latin typeface="Aptos"/>
                </a:defRPr>
              </a:pPr>
            </a:p>
          </c:txPr>
          <c:dLblPos val="bestFit"/>
          <c:showLegendKey val="0"/>
          <c:showVal val="0"/>
          <c:showCatName val="0"/>
          <c:showSerName val="0"/>
          <c:showPercent val="1"/>
          <c:showBubbleSize val="0"/>
          <c:showLeaderLines val="1"/>
        </c:dLbls>
        <c:firstSliceAng val="0"/>
        <c:holeSize val="50"/>
      </c:doughnutChart>
    </c:plotArea>
    <c:plotVisOnly val="1"/>
    <c:dispBlanksAs val="gap"/>
    <c:showDLblsOverMax val="0"/>
  </c:chart>
  <c:txPr>
    <a:bodyPr/>
    <a:lstStyle/>
    <a:p>
      <a:pPr>
        <a:defRPr sz="900">
          <a:solidFill>
            <a:srgbClr val="50657B"/>
          </a:solidFill>
          <a:latin typeface="Aptos"/>
        </a:defRPr>
      </a:pPr>
      <a:endParaRPr/>
    </a:p>
  </c:txPr>
  <c:externalData r:id="rId1">
    <c:autoUpdate val="0"/>
  </c:externalData>
</c:chartSpace>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3.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chart" Target="../charts/chart4.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Rectangle 1"/>
          <p:cNvSpPr/>
          <p:nvPr/>
        </p:nvSpPr>
        <p:spPr>
          <a:xfrm>
            <a:off x="7662672" y="0"/>
            <a:ext cx="4526280" cy="6858000"/>
          </a:xfrm>
          <a:prstGeom prst="rect">
            <a:avLst/>
          </a:prstGeom>
          <a:solidFill>
            <a:srgbClr val="EDF9F6"/>
          </a:solidFill>
          <a:ln w="10160">
            <a:solidFill>
              <a:srgbClr val="EDF9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rot="21000000">
            <a:off x="7982712" y="685800"/>
            <a:ext cx="3886200" cy="1874519"/>
          </a:xfrm>
          <a:prstGeom prst="ellipse">
            <a:avLst/>
          </a:prstGeom>
          <a:noFill/>
          <a:ln w="16510">
            <a:solidFill>
              <a:srgbClr val="98D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rot="1680000">
            <a:off x="8302752" y="484632"/>
            <a:ext cx="3246120" cy="2267712"/>
          </a:xfrm>
          <a:prstGeom prst="ellipse">
            <a:avLst/>
          </a:prstGeom>
          <a:noFill/>
          <a:ln w="12700">
            <a:solidFill>
              <a:srgbClr val="B5E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131552" y="731520"/>
            <a:ext cx="137160" cy="137160"/>
          </a:xfrm>
          <a:prstGeom prst="ellipse">
            <a:avLst/>
          </a:prstGeom>
          <a:solidFill>
            <a:srgbClr val="00A991"/>
          </a:solidFill>
          <a:ln w="10160">
            <a:solidFill>
              <a:srgbClr val="00A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531352" y="2148840"/>
            <a:ext cx="91440" cy="91440"/>
          </a:xfrm>
          <a:prstGeom prst="ellipse">
            <a:avLst/>
          </a:prstGeom>
          <a:solidFill>
            <a:srgbClr val="2B6B93"/>
          </a:solidFill>
          <a:ln w="10160">
            <a:solidFill>
              <a:srgbClr val="2B6B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502920"/>
            <a:ext cx="1371600" cy="182880"/>
          </a:xfrm>
          <a:prstGeom prst="rect">
            <a:avLst/>
          </a:prstGeom>
          <a:noFill/>
        </p:spPr>
        <p:txBody>
          <a:bodyPr wrap="square" lIns="0" rIns="0" tIns="0" bIns="0" anchor="t">
            <a:spAutoFit/>
          </a:bodyPr>
          <a:lstStyle/>
          <a:p>
            <a:pPr algn="l">
              <a:lnSpc>
                <a:spcPct val="100000"/>
              </a:lnSpc>
              <a:spcAft>
                <a:spcPts val="0"/>
              </a:spcAft>
            </a:pPr>
            <a:r>
              <a:rPr sz="720" b="1">
                <a:solidFill>
                  <a:srgbClr val="087F72"/>
                </a:solidFill>
                <a:latin typeface="Aptos"/>
              </a:rPr>
              <a:t>MICROGRAVITY</a:t>
            </a:r>
          </a:p>
        </p:txBody>
      </p:sp>
      <p:sp>
        <p:nvSpPr>
          <p:cNvPr id="8" name="TextBox 7"/>
          <p:cNvSpPr txBox="1"/>
          <p:nvPr/>
        </p:nvSpPr>
        <p:spPr>
          <a:xfrm>
            <a:off x="10149840" y="2240280"/>
            <a:ext cx="1463040" cy="182880"/>
          </a:xfrm>
          <a:prstGeom prst="rect">
            <a:avLst/>
          </a:prstGeom>
          <a:noFill/>
        </p:spPr>
        <p:txBody>
          <a:bodyPr wrap="square" lIns="0" rIns="0" tIns="0" bIns="0" anchor="t">
            <a:spAutoFit/>
          </a:bodyPr>
          <a:lstStyle/>
          <a:p>
            <a:pPr algn="l">
              <a:lnSpc>
                <a:spcPct val="100000"/>
              </a:lnSpc>
              <a:spcAft>
                <a:spcPts val="0"/>
              </a:spcAft>
            </a:pPr>
            <a:r>
              <a:rPr sz="720" b="1">
                <a:solidFill>
                  <a:srgbClr val="2B6B93"/>
                </a:solidFill>
                <a:latin typeface="Aptos"/>
              </a:rPr>
              <a:t>BIOFABRICATION</a:t>
            </a:r>
          </a:p>
        </p:txBody>
      </p:sp>
      <p:sp>
        <p:nvSpPr>
          <p:cNvPr id="9" name="Oval 8"/>
          <p:cNvSpPr/>
          <p:nvPr/>
        </p:nvSpPr>
        <p:spPr>
          <a:xfrm>
            <a:off x="8257032" y="3154680"/>
            <a:ext cx="3337560" cy="3337560"/>
          </a:xfrm>
          <a:prstGeom prst="ellipse">
            <a:avLst/>
          </a:prstGeom>
          <a:solidFill>
            <a:srgbClr val="CDEFE9"/>
          </a:solidFill>
          <a:ln w="12700">
            <a:solidFill>
              <a:srgbClr val="B7E6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622792" y="3520440"/>
            <a:ext cx="2606040" cy="2606040"/>
          </a:xfrm>
          <a:prstGeom prst="ellipse">
            <a:avLst/>
          </a:prstGeom>
          <a:solidFill>
            <a:srgbClr val="E9F8F5"/>
          </a:solidFill>
          <a:ln w="10160">
            <a:solidFill>
              <a:srgbClr val="D4F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9099194" y="4476902"/>
            <a:ext cx="365760" cy="365760"/>
          </a:xfrm>
          <a:prstGeom prst="ellipse">
            <a:avLst/>
          </a:prstGeom>
          <a:solidFill>
            <a:srgbClr val="00A991"/>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55226" y="4030675"/>
            <a:ext cx="438912" cy="438912"/>
          </a:xfrm>
          <a:prstGeom prst="ellipse">
            <a:avLst/>
          </a:prstGeom>
          <a:solidFill>
            <a:srgbClr val="39C6B5"/>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9808768" y="4001414"/>
            <a:ext cx="380390" cy="380390"/>
          </a:xfrm>
          <a:prstGeom prst="ellipse">
            <a:avLst/>
          </a:prstGeom>
          <a:solidFill>
            <a:srgbClr val="2B6B93"/>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174528" y="4191609"/>
            <a:ext cx="409651" cy="409651"/>
          </a:xfrm>
          <a:prstGeom prst="ellipse">
            <a:avLst/>
          </a:prstGeom>
          <a:solidFill>
            <a:srgbClr val="A6DED5"/>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350093" y="4645152"/>
            <a:ext cx="351129" cy="351129"/>
          </a:xfrm>
          <a:prstGeom prst="ellipse">
            <a:avLst/>
          </a:prstGeom>
          <a:solidFill>
            <a:srgbClr val="00A991"/>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031882" y="4956048"/>
            <a:ext cx="402336" cy="402336"/>
          </a:xfrm>
          <a:prstGeom prst="ellipse">
            <a:avLst/>
          </a:prstGeom>
          <a:solidFill>
            <a:srgbClr val="39C6B5"/>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567367" y="4959705"/>
            <a:ext cx="453542" cy="453542"/>
          </a:xfrm>
          <a:prstGeom prst="ellipse">
            <a:avLst/>
          </a:prstGeom>
          <a:solidFill>
            <a:srgbClr val="2B6B93"/>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260128" y="4849977"/>
            <a:ext cx="351129" cy="351129"/>
          </a:xfrm>
          <a:prstGeom prst="ellipse">
            <a:avLst/>
          </a:prstGeom>
          <a:solidFill>
            <a:srgbClr val="A6DED5"/>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530791" y="4396435"/>
            <a:ext cx="526694" cy="526694"/>
          </a:xfrm>
          <a:prstGeom prst="ellipse">
            <a:avLst/>
          </a:prstGeom>
          <a:solidFill>
            <a:srgbClr val="00A991"/>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991648" y="4491532"/>
            <a:ext cx="482803" cy="482803"/>
          </a:xfrm>
          <a:prstGeom prst="ellipse">
            <a:avLst/>
          </a:prstGeom>
          <a:solidFill>
            <a:srgbClr val="39C6B5"/>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792" y="566928"/>
            <a:ext cx="54864" cy="256032"/>
          </a:xfrm>
          <a:prstGeom prst="rect">
            <a:avLst/>
          </a:prstGeom>
          <a:solidFill>
            <a:srgbClr val="00A991"/>
          </a:solidFill>
          <a:ln w="10160">
            <a:solidFill>
              <a:srgbClr val="00A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8096" y="585216"/>
            <a:ext cx="4023360" cy="182880"/>
          </a:xfrm>
          <a:prstGeom prst="rect">
            <a:avLst/>
          </a:prstGeom>
          <a:noFill/>
        </p:spPr>
        <p:txBody>
          <a:bodyPr wrap="square" lIns="0" rIns="0" tIns="0" bIns="0" anchor="t">
            <a:spAutoFit/>
          </a:bodyPr>
          <a:lstStyle/>
          <a:p>
            <a:pPr algn="l">
              <a:lnSpc>
                <a:spcPct val="100000"/>
              </a:lnSpc>
              <a:spcAft>
                <a:spcPts val="0"/>
              </a:spcAft>
            </a:pPr>
            <a:r>
              <a:rPr sz="780" b="1">
                <a:solidFill>
                  <a:srgbClr val="087F72"/>
                </a:solidFill>
                <a:latin typeface="Aptos"/>
              </a:rPr>
              <a:t>CONFIDENTIAL INVESTOR PRESENTATION</a:t>
            </a:r>
          </a:p>
        </p:txBody>
      </p:sp>
      <p:sp>
        <p:nvSpPr>
          <p:cNvPr id="23" name="TextBox 22"/>
          <p:cNvSpPr txBox="1"/>
          <p:nvPr/>
        </p:nvSpPr>
        <p:spPr>
          <a:xfrm>
            <a:off x="621792" y="1572768"/>
            <a:ext cx="6537960" cy="548640"/>
          </a:xfrm>
          <a:prstGeom prst="rect">
            <a:avLst/>
          </a:prstGeom>
          <a:noFill/>
        </p:spPr>
        <p:txBody>
          <a:bodyPr wrap="square" lIns="0" rIns="0" tIns="0" bIns="0" anchor="t">
            <a:spAutoFit/>
          </a:bodyPr>
          <a:lstStyle/>
          <a:p>
            <a:pPr algn="l">
              <a:lnSpc>
                <a:spcPct val="100000"/>
              </a:lnSpc>
              <a:spcAft>
                <a:spcPts val="0"/>
              </a:spcAft>
            </a:pPr>
            <a:r>
              <a:rPr sz="3300" b="1">
                <a:solidFill>
                  <a:srgbClr val="0B1F3A"/>
                </a:solidFill>
                <a:latin typeface="Aptos Display"/>
              </a:rPr>
              <a:t>Samuel Space</a:t>
            </a:r>
          </a:p>
        </p:txBody>
      </p:sp>
      <p:sp>
        <p:nvSpPr>
          <p:cNvPr id="24" name="TextBox 23"/>
          <p:cNvSpPr txBox="1"/>
          <p:nvPr/>
        </p:nvSpPr>
        <p:spPr>
          <a:xfrm>
            <a:off x="621792" y="2103120"/>
            <a:ext cx="6537960" cy="1216152"/>
          </a:xfrm>
          <a:prstGeom prst="rect">
            <a:avLst/>
          </a:prstGeom>
          <a:noFill/>
        </p:spPr>
        <p:txBody>
          <a:bodyPr wrap="square" lIns="0" rIns="0" tIns="0" bIns="0" anchor="t">
            <a:spAutoFit/>
          </a:bodyPr>
          <a:lstStyle/>
          <a:p>
            <a:pPr algn="l">
              <a:lnSpc>
                <a:spcPct val="90000"/>
              </a:lnSpc>
              <a:spcAft>
                <a:spcPts val="0"/>
              </a:spcAft>
            </a:pPr>
            <a:r>
              <a:rPr sz="4000" b="1">
                <a:solidFill>
                  <a:srgbClr val="0B1F3A"/>
                </a:solidFill>
                <a:latin typeface="Aptos Display"/>
              </a:rPr>
              <a:t>Organ and Tissue</a:t>
            </a:r>
            <a:br/>
            <a:r>
              <a:rPr sz="4000" b="1">
                <a:solidFill>
                  <a:srgbClr val="0B1F3A"/>
                </a:solidFill>
                <a:latin typeface="Aptos Display"/>
              </a:rPr>
              <a:t>Engineering</a:t>
            </a:r>
          </a:p>
        </p:txBody>
      </p:sp>
      <p:sp>
        <p:nvSpPr>
          <p:cNvPr id="25" name="TextBox 24"/>
          <p:cNvSpPr txBox="1"/>
          <p:nvPr/>
        </p:nvSpPr>
        <p:spPr>
          <a:xfrm>
            <a:off x="640080" y="3794760"/>
            <a:ext cx="5989320" cy="566928"/>
          </a:xfrm>
          <a:prstGeom prst="rect">
            <a:avLst/>
          </a:prstGeom>
          <a:noFill/>
        </p:spPr>
        <p:txBody>
          <a:bodyPr wrap="square" lIns="0" rIns="0" tIns="0" bIns="0" anchor="t">
            <a:spAutoFit/>
          </a:bodyPr>
          <a:lstStyle/>
          <a:p>
            <a:pPr algn="l">
              <a:lnSpc>
                <a:spcPct val="100000"/>
              </a:lnSpc>
              <a:spcAft>
                <a:spcPts val="0"/>
              </a:spcAft>
            </a:pPr>
            <a:r>
              <a:rPr sz="1600" b="0">
                <a:solidFill>
                  <a:srgbClr val="50657B"/>
                </a:solidFill>
                <a:latin typeface="Aptos"/>
              </a:rPr>
              <a:t>Manufacturing the next generation of human tissue — in orbit.</a:t>
            </a:r>
          </a:p>
        </p:txBody>
      </p:sp>
      <p:cxnSp>
        <p:nvCxnSpPr>
          <p:cNvPr id="26" name="Connector 25"/>
          <p:cNvCxnSpPr/>
          <p:nvPr/>
        </p:nvCxnSpPr>
        <p:spPr>
          <a:xfrm>
            <a:off x="640080" y="4681728"/>
            <a:ext cx="3246120" cy="0"/>
          </a:xfrm>
          <a:prstGeom prst="line">
            <a:avLst/>
          </a:prstGeom>
          <a:ln w="27940">
            <a:solidFill>
              <a:srgbClr val="00A991"/>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40080" y="5001768"/>
            <a:ext cx="2148840" cy="182880"/>
          </a:xfrm>
          <a:prstGeom prst="rect">
            <a:avLst/>
          </a:prstGeom>
          <a:noFill/>
        </p:spPr>
        <p:txBody>
          <a:bodyPr wrap="square" lIns="0" rIns="0" tIns="0" bIns="0" anchor="t">
            <a:spAutoFit/>
          </a:bodyPr>
          <a:lstStyle/>
          <a:p>
            <a:pPr algn="l">
              <a:lnSpc>
                <a:spcPct val="100000"/>
              </a:lnSpc>
              <a:spcAft>
                <a:spcPts val="0"/>
              </a:spcAft>
            </a:pPr>
            <a:r>
              <a:rPr sz="800" b="1">
                <a:solidFill>
                  <a:srgbClr val="087F72"/>
                </a:solidFill>
                <a:latin typeface="Aptos"/>
              </a:rPr>
              <a:t>SERIES A FINANCING</a:t>
            </a:r>
          </a:p>
        </p:txBody>
      </p:sp>
      <p:sp>
        <p:nvSpPr>
          <p:cNvPr id="28" name="TextBox 27"/>
          <p:cNvSpPr txBox="1"/>
          <p:nvPr/>
        </p:nvSpPr>
        <p:spPr>
          <a:xfrm>
            <a:off x="640080" y="5276088"/>
            <a:ext cx="2560320" cy="310896"/>
          </a:xfrm>
          <a:prstGeom prst="rect">
            <a:avLst/>
          </a:prstGeom>
          <a:noFill/>
        </p:spPr>
        <p:txBody>
          <a:bodyPr wrap="square" lIns="0" rIns="0" tIns="0" bIns="0" anchor="t">
            <a:spAutoFit/>
          </a:bodyPr>
          <a:lstStyle/>
          <a:p>
            <a:pPr algn="l">
              <a:lnSpc>
                <a:spcPct val="100000"/>
              </a:lnSpc>
              <a:spcAft>
                <a:spcPts val="0"/>
              </a:spcAft>
            </a:pPr>
            <a:r>
              <a:rPr sz="1300" b="1">
                <a:solidFill>
                  <a:srgbClr val="0B1F3A"/>
                </a:solidFill>
                <a:latin typeface="Aptos"/>
              </a:rPr>
              <a:t>June 2026</a:t>
            </a:r>
          </a:p>
        </p:txBody>
      </p:sp>
      <p:sp>
        <p:nvSpPr>
          <p:cNvPr id="29" name="TextBox 28"/>
          <p:cNvSpPr txBox="1"/>
          <p:nvPr/>
        </p:nvSpPr>
        <p:spPr>
          <a:xfrm>
            <a:off x="640080" y="6501384"/>
            <a:ext cx="1828800" cy="128016"/>
          </a:xfrm>
          <a:prstGeom prst="rect">
            <a:avLst/>
          </a:prstGeom>
          <a:noFill/>
        </p:spPr>
        <p:txBody>
          <a:bodyPr wrap="square" lIns="0" rIns="0" tIns="0" bIns="0" anchor="t">
            <a:spAutoFit/>
          </a:bodyPr>
          <a:lstStyle/>
          <a:p>
            <a:pPr algn="l">
              <a:lnSpc>
                <a:spcPct val="100000"/>
              </a:lnSpc>
              <a:spcAft>
                <a:spcPts val="0"/>
              </a:spcAft>
            </a:pPr>
            <a:r>
              <a:rPr sz="680" b="1">
                <a:solidFill>
                  <a:srgbClr val="708399"/>
                </a:solidFill>
                <a:latin typeface="Aptos"/>
              </a:rPr>
              <a:t>SAMUEL SPACE</a:t>
            </a:r>
          </a:p>
        </p:txBody>
      </p:sp>
      <p:sp>
        <p:nvSpPr>
          <p:cNvPr id="30" name="TextBox 29"/>
          <p:cNvSpPr txBox="1"/>
          <p:nvPr/>
        </p:nvSpPr>
        <p:spPr>
          <a:xfrm>
            <a:off x="6492240" y="6501384"/>
            <a:ext cx="658368" cy="128016"/>
          </a:xfrm>
          <a:prstGeom prst="rect">
            <a:avLst/>
          </a:prstGeom>
          <a:noFill/>
        </p:spPr>
        <p:txBody>
          <a:bodyPr wrap="square" lIns="0" rIns="0" tIns="0" bIns="0" anchor="t">
            <a:spAutoFit/>
          </a:bodyPr>
          <a:lstStyle/>
          <a:p>
            <a:pPr algn="r">
              <a:lnSpc>
                <a:spcPct val="100000"/>
              </a:lnSpc>
              <a:spcAft>
                <a:spcPts val="0"/>
              </a:spcAft>
            </a:pPr>
            <a:r>
              <a:rPr sz="680" b="1">
                <a:solidFill>
                  <a:srgbClr val="708399"/>
                </a:solidFill>
                <a:latin typeface="Aptos"/>
              </a:rPr>
              <a:t>01 / 21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Rectangle 1"/>
          <p:cNvSpPr/>
          <p:nvPr/>
        </p:nvSpPr>
        <p:spPr>
          <a:xfrm>
            <a:off x="457200" y="256032"/>
            <a:ext cx="54864" cy="219456"/>
          </a:xfrm>
          <a:prstGeom prst="rect">
            <a:avLst/>
          </a:prstGeom>
          <a:solidFill>
            <a:srgbClr val="00A991"/>
          </a:solidFill>
          <a:ln>
            <a:solidFill>
              <a:srgbClr val="00A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3504" y="256032"/>
            <a:ext cx="4114800" cy="164592"/>
          </a:xfrm>
          <a:prstGeom prst="rect">
            <a:avLst/>
          </a:prstGeom>
          <a:noFill/>
        </p:spPr>
        <p:txBody>
          <a:bodyPr wrap="square" lIns="0" rIns="0" tIns="0" bIns="0" anchor="t">
            <a:spAutoFit/>
          </a:bodyPr>
          <a:lstStyle/>
          <a:p>
            <a:pPr algn="l">
              <a:lnSpc>
                <a:spcPct val="100000"/>
              </a:lnSpc>
              <a:spcAft>
                <a:spcPts val="0"/>
              </a:spcAft>
            </a:pPr>
            <a:r>
              <a:rPr sz="770" b="1">
                <a:solidFill>
                  <a:srgbClr val="087F72"/>
                </a:solidFill>
                <a:latin typeface="Aptos"/>
              </a:rPr>
              <a:t>NOTICE</a:t>
            </a:r>
          </a:p>
        </p:txBody>
      </p:sp>
      <p:sp>
        <p:nvSpPr>
          <p:cNvPr id="4" name="TextBox 3"/>
          <p:cNvSpPr txBox="1"/>
          <p:nvPr/>
        </p:nvSpPr>
        <p:spPr>
          <a:xfrm>
            <a:off x="457200" y="530352"/>
            <a:ext cx="11064240" cy="475488"/>
          </a:xfrm>
          <a:prstGeom prst="rect">
            <a:avLst/>
          </a:prstGeom>
          <a:noFill/>
        </p:spPr>
        <p:txBody>
          <a:bodyPr wrap="square" lIns="0" rIns="0" tIns="0" bIns="0" anchor="t">
            <a:spAutoFit/>
          </a:bodyPr>
          <a:lstStyle/>
          <a:p>
            <a:pPr algn="l">
              <a:lnSpc>
                <a:spcPct val="100000"/>
              </a:lnSpc>
              <a:spcAft>
                <a:spcPts val="0"/>
              </a:spcAft>
            </a:pPr>
            <a:r>
              <a:rPr sz="2550" b="1">
                <a:solidFill>
                  <a:srgbClr val="0B1F3A"/>
                </a:solidFill>
                <a:latin typeface="Aptos Display"/>
              </a:rPr>
              <a:t>Confidential — Forward-Looking Statement</a:t>
            </a:r>
          </a:p>
        </p:txBody>
      </p:sp>
      <p:cxnSp>
        <p:nvCxnSpPr>
          <p:cNvPr id="5" name="Connector 4"/>
          <p:cNvCxnSpPr/>
          <p:nvPr/>
        </p:nvCxnSpPr>
        <p:spPr>
          <a:xfrm>
            <a:off x="457200" y="6510528"/>
            <a:ext cx="11274552" cy="0"/>
          </a:xfrm>
          <a:prstGeom prst="line">
            <a:avLst/>
          </a:prstGeom>
          <a:ln w="7620">
            <a:solidFill>
              <a:srgbClr val="D7E1E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65392"/>
            <a:ext cx="1645920" cy="109728"/>
          </a:xfrm>
          <a:prstGeom prst="rect">
            <a:avLst/>
          </a:prstGeom>
          <a:noFill/>
        </p:spPr>
        <p:txBody>
          <a:bodyPr wrap="square" lIns="0" rIns="0" tIns="0" bIns="0" anchor="t">
            <a:spAutoFit/>
          </a:bodyPr>
          <a:lstStyle/>
          <a:p>
            <a:pPr algn="l">
              <a:lnSpc>
                <a:spcPct val="100000"/>
              </a:lnSpc>
              <a:spcAft>
                <a:spcPts val="0"/>
              </a:spcAft>
            </a:pPr>
            <a:r>
              <a:rPr sz="670" b="1">
                <a:solidFill>
                  <a:srgbClr val="708399"/>
                </a:solidFill>
                <a:latin typeface="Aptos"/>
              </a:rPr>
              <a:t>SAMUEL SPACE</a:t>
            </a:r>
          </a:p>
        </p:txBody>
      </p:sp>
      <p:sp>
        <p:nvSpPr>
          <p:cNvPr id="7" name="TextBox 6"/>
          <p:cNvSpPr txBox="1"/>
          <p:nvPr/>
        </p:nvSpPr>
        <p:spPr>
          <a:xfrm>
            <a:off x="10927080" y="6565392"/>
            <a:ext cx="804672" cy="109728"/>
          </a:xfrm>
          <a:prstGeom prst="rect">
            <a:avLst/>
          </a:prstGeom>
          <a:noFill/>
        </p:spPr>
        <p:txBody>
          <a:bodyPr wrap="square" lIns="0" rIns="0" tIns="0" bIns="0" anchor="t">
            <a:spAutoFit/>
          </a:bodyPr>
          <a:lstStyle/>
          <a:p>
            <a:pPr algn="r">
              <a:lnSpc>
                <a:spcPct val="100000"/>
              </a:lnSpc>
              <a:spcAft>
                <a:spcPts val="0"/>
              </a:spcAft>
            </a:pPr>
            <a:r>
              <a:rPr sz="670" b="1">
                <a:solidFill>
                  <a:srgbClr val="708399"/>
                </a:solidFill>
                <a:latin typeface="Aptos"/>
              </a:rPr>
              <a:t>02 / 21</a:t>
            </a:r>
          </a:p>
        </p:txBody>
      </p:sp>
      <p:sp>
        <p:nvSpPr>
          <p:cNvPr id="8" name="Rounded Rectangle 7"/>
          <p:cNvSpPr/>
          <p:nvPr/>
        </p:nvSpPr>
        <p:spPr>
          <a:xfrm>
            <a:off x="9939528" y="265176"/>
            <a:ext cx="1783080" cy="256032"/>
          </a:xfrm>
          <a:prstGeom prst="roundRect">
            <a:avLst/>
          </a:prstGeom>
          <a:solidFill>
            <a:srgbClr val="F8EAED"/>
          </a:solidFill>
          <a:ln w="6350">
            <a:solidFill>
              <a:srgbClr val="F8E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939528" y="265176"/>
            <a:ext cx="1783080" cy="256032"/>
          </a:xfrm>
          <a:prstGeom prst="rect">
            <a:avLst/>
          </a:prstGeom>
          <a:noFill/>
        </p:spPr>
        <p:txBody>
          <a:bodyPr wrap="square" lIns="0" rIns="0" tIns="0" bIns="0" anchor="ctr">
            <a:spAutoFit/>
          </a:bodyPr>
          <a:lstStyle/>
          <a:p>
            <a:pPr algn="ctr">
              <a:lnSpc>
                <a:spcPct val="100000"/>
              </a:lnSpc>
              <a:spcAft>
                <a:spcPts val="0"/>
              </a:spcAft>
            </a:pPr>
            <a:r>
              <a:rPr sz="770" b="1">
                <a:solidFill>
                  <a:srgbClr val="B35C6A"/>
                </a:solidFill>
                <a:latin typeface="Aptos"/>
              </a:rPr>
              <a:t>CONFIDENTIAL</a:t>
            </a:r>
          </a:p>
        </p:txBody>
      </p:sp>
      <p:sp>
        <p:nvSpPr>
          <p:cNvPr id="10" name="Rounded Rectangle 9"/>
          <p:cNvSpPr/>
          <p:nvPr/>
        </p:nvSpPr>
        <p:spPr>
          <a:xfrm>
            <a:off x="457200" y="1325880"/>
            <a:ext cx="11274552" cy="1261872"/>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704088" y="1572768"/>
            <a:ext cx="475488" cy="475488"/>
          </a:xfrm>
          <a:prstGeom prst="ellipse">
            <a:avLst/>
          </a:prstGeom>
          <a:solidFill>
            <a:srgbClr val="0B1F3A"/>
          </a:solidFill>
          <a:ln w="6350">
            <a:solidFill>
              <a:srgbClr val="0B1F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04088" y="1572768"/>
            <a:ext cx="475488" cy="475488"/>
          </a:xfrm>
          <a:prstGeom prst="rect">
            <a:avLst/>
          </a:prstGeom>
          <a:noFill/>
        </p:spPr>
        <p:txBody>
          <a:bodyPr wrap="square" lIns="0" rIns="0" tIns="0" bIns="0" anchor="ctr">
            <a:spAutoFit/>
          </a:bodyPr>
          <a:lstStyle/>
          <a:p>
            <a:pPr algn="ctr">
              <a:lnSpc>
                <a:spcPct val="100000"/>
              </a:lnSpc>
              <a:spcAft>
                <a:spcPts val="0"/>
              </a:spcAft>
            </a:pPr>
            <a:r>
              <a:rPr sz="850" b="1">
                <a:solidFill>
                  <a:srgbClr val="FFFFFF"/>
                </a:solidFill>
                <a:latin typeface="Aptos"/>
              </a:rPr>
              <a:t>01</a:t>
            </a:r>
          </a:p>
        </p:txBody>
      </p:sp>
      <p:sp>
        <p:nvSpPr>
          <p:cNvPr id="13" name="TextBox 12"/>
          <p:cNvSpPr txBox="1"/>
          <p:nvPr/>
        </p:nvSpPr>
        <p:spPr>
          <a:xfrm>
            <a:off x="1408176" y="1536192"/>
            <a:ext cx="2788920" cy="256032"/>
          </a:xfrm>
          <a:prstGeom prst="rect">
            <a:avLst/>
          </a:prstGeom>
          <a:noFill/>
        </p:spPr>
        <p:txBody>
          <a:bodyPr wrap="square" lIns="0" rIns="0" tIns="0" bIns="0" anchor="t">
            <a:spAutoFit/>
          </a:bodyPr>
          <a:lstStyle/>
          <a:p>
            <a:pPr algn="l">
              <a:lnSpc>
                <a:spcPct val="100000"/>
              </a:lnSpc>
              <a:spcAft>
                <a:spcPts val="0"/>
              </a:spcAft>
            </a:pPr>
            <a:r>
              <a:rPr sz="1230" b="1">
                <a:solidFill>
                  <a:srgbClr val="0B1F3A"/>
                </a:solidFill>
                <a:latin typeface="Aptos"/>
              </a:rPr>
              <a:t>Purpose and confidentiality</a:t>
            </a:r>
          </a:p>
        </p:txBody>
      </p:sp>
      <p:sp>
        <p:nvSpPr>
          <p:cNvPr id="14" name="TextBox 13"/>
          <p:cNvSpPr txBox="1"/>
          <p:nvPr/>
        </p:nvSpPr>
        <p:spPr>
          <a:xfrm>
            <a:off x="4069080" y="1508760"/>
            <a:ext cx="7296912" cy="914399"/>
          </a:xfrm>
          <a:prstGeom prst="rect">
            <a:avLst/>
          </a:prstGeom>
          <a:noFill/>
        </p:spPr>
        <p:txBody>
          <a:bodyPr wrap="square" lIns="0" rIns="0" tIns="0" bIns="0" anchor="t">
            <a:spAutoFit/>
          </a:bodyPr>
          <a:lstStyle/>
          <a:p>
            <a:pPr algn="l">
              <a:lnSpc>
                <a:spcPct val="105000"/>
              </a:lnSpc>
              <a:spcAft>
                <a:spcPts val="0"/>
              </a:spcAft>
            </a:pPr>
            <a:r>
              <a:rPr sz="1070" b="0">
                <a:solidFill>
                  <a:srgbClr val="50657B"/>
                </a:solidFill>
                <a:latin typeface="Aptos"/>
              </a:rPr>
              <a:t>This presentation has been prepared by Samuel Space Organ and Tissue Engineering ("the Company") solely to assist prospective investors in evaluating a potential investment. It is confidential and may not be reproduced or distributed, in whole or in part, without the Company's prior written consent.</a:t>
            </a:r>
          </a:p>
        </p:txBody>
      </p:sp>
      <p:sp>
        <p:nvSpPr>
          <p:cNvPr id="15" name="Rounded Rectangle 14"/>
          <p:cNvSpPr/>
          <p:nvPr/>
        </p:nvSpPr>
        <p:spPr>
          <a:xfrm>
            <a:off x="457200" y="2788920"/>
            <a:ext cx="11274552" cy="1627632"/>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704088" y="3035808"/>
            <a:ext cx="475488" cy="475488"/>
          </a:xfrm>
          <a:prstGeom prst="ellipse">
            <a:avLst/>
          </a:prstGeom>
          <a:solidFill>
            <a:srgbClr val="0B1F3A"/>
          </a:solidFill>
          <a:ln w="6350">
            <a:solidFill>
              <a:srgbClr val="0B1F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04088" y="3035808"/>
            <a:ext cx="475488" cy="475488"/>
          </a:xfrm>
          <a:prstGeom prst="rect">
            <a:avLst/>
          </a:prstGeom>
          <a:noFill/>
        </p:spPr>
        <p:txBody>
          <a:bodyPr wrap="square" lIns="0" rIns="0" tIns="0" bIns="0" anchor="ctr">
            <a:spAutoFit/>
          </a:bodyPr>
          <a:lstStyle/>
          <a:p>
            <a:pPr algn="ctr">
              <a:lnSpc>
                <a:spcPct val="100000"/>
              </a:lnSpc>
              <a:spcAft>
                <a:spcPts val="0"/>
              </a:spcAft>
            </a:pPr>
            <a:r>
              <a:rPr sz="850" b="1">
                <a:solidFill>
                  <a:srgbClr val="FFFFFF"/>
                </a:solidFill>
                <a:latin typeface="Aptos"/>
              </a:rPr>
              <a:t>02</a:t>
            </a:r>
          </a:p>
        </p:txBody>
      </p:sp>
      <p:sp>
        <p:nvSpPr>
          <p:cNvPr id="18" name="TextBox 17"/>
          <p:cNvSpPr txBox="1"/>
          <p:nvPr/>
        </p:nvSpPr>
        <p:spPr>
          <a:xfrm>
            <a:off x="1408176" y="2999232"/>
            <a:ext cx="2788920" cy="256032"/>
          </a:xfrm>
          <a:prstGeom prst="rect">
            <a:avLst/>
          </a:prstGeom>
          <a:noFill/>
        </p:spPr>
        <p:txBody>
          <a:bodyPr wrap="square" lIns="0" rIns="0" tIns="0" bIns="0" anchor="t">
            <a:spAutoFit/>
          </a:bodyPr>
          <a:lstStyle/>
          <a:p>
            <a:pPr algn="l">
              <a:lnSpc>
                <a:spcPct val="100000"/>
              </a:lnSpc>
              <a:spcAft>
                <a:spcPts val="0"/>
              </a:spcAft>
            </a:pPr>
            <a:r>
              <a:rPr sz="1230" b="1">
                <a:solidFill>
                  <a:srgbClr val="0B1F3A"/>
                </a:solidFill>
                <a:latin typeface="Aptos"/>
              </a:rPr>
              <a:t>Forward-looking statements</a:t>
            </a:r>
          </a:p>
        </p:txBody>
      </p:sp>
      <p:sp>
        <p:nvSpPr>
          <p:cNvPr id="19" name="TextBox 18"/>
          <p:cNvSpPr txBox="1"/>
          <p:nvPr/>
        </p:nvSpPr>
        <p:spPr>
          <a:xfrm>
            <a:off x="4069080" y="2971800"/>
            <a:ext cx="7296912" cy="1280160"/>
          </a:xfrm>
          <a:prstGeom prst="rect">
            <a:avLst/>
          </a:prstGeom>
          <a:noFill/>
        </p:spPr>
        <p:txBody>
          <a:bodyPr wrap="square" lIns="0" rIns="0" tIns="0" bIns="0" anchor="t">
            <a:spAutoFit/>
          </a:bodyPr>
          <a:lstStyle/>
          <a:p>
            <a:pPr algn="l">
              <a:lnSpc>
                <a:spcPct val="105000"/>
              </a:lnSpc>
              <a:spcAft>
                <a:spcPts val="0"/>
              </a:spcAft>
            </a:pPr>
            <a:r>
              <a:rPr sz="1070" b="0">
                <a:solidFill>
                  <a:srgbClr val="50657B"/>
                </a:solidFill>
                <a:latin typeface="Aptos"/>
              </a:rPr>
              <a:t>This presentation contains forward-looking statements, including projections of financial and operating performance, market size, regulatory timelines, and technology milestones. These statements reflect current expectations and assumptions and are subject to significant risks and uncertainties; actual results may differ materially. Nothing herein constitutes an offer to sell, or a solicitation of an offer to buy, any securities, and any such offer will be made only pursuant to definitive offering documents.</a:t>
            </a:r>
          </a:p>
        </p:txBody>
      </p:sp>
      <p:sp>
        <p:nvSpPr>
          <p:cNvPr id="20" name="Rounded Rectangle 19"/>
          <p:cNvSpPr/>
          <p:nvPr/>
        </p:nvSpPr>
        <p:spPr>
          <a:xfrm>
            <a:off x="457200" y="4617720"/>
            <a:ext cx="11274552" cy="1463040"/>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Oval 20"/>
          <p:cNvSpPr/>
          <p:nvPr/>
        </p:nvSpPr>
        <p:spPr>
          <a:xfrm>
            <a:off x="704088" y="4864608"/>
            <a:ext cx="475488" cy="475488"/>
          </a:xfrm>
          <a:prstGeom prst="ellipse">
            <a:avLst/>
          </a:prstGeom>
          <a:solidFill>
            <a:srgbClr val="0B1F3A"/>
          </a:solidFill>
          <a:ln w="6350">
            <a:solidFill>
              <a:srgbClr val="0B1F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4088" y="4864608"/>
            <a:ext cx="475488" cy="475488"/>
          </a:xfrm>
          <a:prstGeom prst="rect">
            <a:avLst/>
          </a:prstGeom>
          <a:noFill/>
        </p:spPr>
        <p:txBody>
          <a:bodyPr wrap="square" lIns="0" rIns="0" tIns="0" bIns="0" anchor="ctr">
            <a:spAutoFit/>
          </a:bodyPr>
          <a:lstStyle/>
          <a:p>
            <a:pPr algn="ctr">
              <a:lnSpc>
                <a:spcPct val="100000"/>
              </a:lnSpc>
              <a:spcAft>
                <a:spcPts val="0"/>
              </a:spcAft>
            </a:pPr>
            <a:r>
              <a:rPr sz="850" b="1">
                <a:solidFill>
                  <a:srgbClr val="FFFFFF"/>
                </a:solidFill>
                <a:latin typeface="Aptos"/>
              </a:rPr>
              <a:t>03</a:t>
            </a:r>
          </a:p>
        </p:txBody>
      </p:sp>
      <p:sp>
        <p:nvSpPr>
          <p:cNvPr id="23" name="TextBox 22"/>
          <p:cNvSpPr txBox="1"/>
          <p:nvPr/>
        </p:nvSpPr>
        <p:spPr>
          <a:xfrm>
            <a:off x="1408176" y="4828032"/>
            <a:ext cx="2788920" cy="256032"/>
          </a:xfrm>
          <a:prstGeom prst="rect">
            <a:avLst/>
          </a:prstGeom>
          <a:noFill/>
        </p:spPr>
        <p:txBody>
          <a:bodyPr wrap="square" lIns="0" rIns="0" tIns="0" bIns="0" anchor="t">
            <a:spAutoFit/>
          </a:bodyPr>
          <a:lstStyle/>
          <a:p>
            <a:pPr algn="l">
              <a:lnSpc>
                <a:spcPct val="100000"/>
              </a:lnSpc>
              <a:spcAft>
                <a:spcPts val="0"/>
              </a:spcAft>
            </a:pPr>
            <a:r>
              <a:rPr sz="1230" b="1">
                <a:solidFill>
                  <a:srgbClr val="0B1F3A"/>
                </a:solidFill>
                <a:latin typeface="Aptos"/>
              </a:rPr>
              <a:t>Third-party information</a:t>
            </a:r>
          </a:p>
        </p:txBody>
      </p:sp>
      <p:sp>
        <p:nvSpPr>
          <p:cNvPr id="24" name="TextBox 23"/>
          <p:cNvSpPr txBox="1"/>
          <p:nvPr/>
        </p:nvSpPr>
        <p:spPr>
          <a:xfrm>
            <a:off x="4069080" y="4800600"/>
            <a:ext cx="7296912" cy="1115568"/>
          </a:xfrm>
          <a:prstGeom prst="rect">
            <a:avLst/>
          </a:prstGeom>
          <a:noFill/>
        </p:spPr>
        <p:txBody>
          <a:bodyPr wrap="square" lIns="0" rIns="0" tIns="0" bIns="0" anchor="t">
            <a:spAutoFit/>
          </a:bodyPr>
          <a:lstStyle/>
          <a:p>
            <a:pPr algn="l">
              <a:lnSpc>
                <a:spcPct val="105000"/>
              </a:lnSpc>
              <a:spcAft>
                <a:spcPts val="0"/>
              </a:spcAft>
            </a:pPr>
            <a:r>
              <a:rPr sz="1070" b="0">
                <a:solidFill>
                  <a:srgbClr val="50657B"/>
                </a:solidFill>
                <a:latin typeface="Aptos"/>
              </a:rPr>
              <a:t>Certain industry, market, and scientific data in this presentation has been compiled from third-party sources — including government agencies, peer-reviewed publications, and public company disclosures — as cited in the Appendix. The Company has not independently verified all such data and makes no representation as to its completeness or accuracy.</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Rectangle 1"/>
          <p:cNvSpPr/>
          <p:nvPr/>
        </p:nvSpPr>
        <p:spPr>
          <a:xfrm>
            <a:off x="457200" y="256032"/>
            <a:ext cx="54864" cy="219456"/>
          </a:xfrm>
          <a:prstGeom prst="rect">
            <a:avLst/>
          </a:prstGeom>
          <a:solidFill>
            <a:srgbClr val="00A991"/>
          </a:solidFill>
          <a:ln>
            <a:solidFill>
              <a:srgbClr val="00A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3504" y="256032"/>
            <a:ext cx="4114800" cy="164592"/>
          </a:xfrm>
          <a:prstGeom prst="rect">
            <a:avLst/>
          </a:prstGeom>
          <a:noFill/>
        </p:spPr>
        <p:txBody>
          <a:bodyPr wrap="square" lIns="0" rIns="0" tIns="0" bIns="0" anchor="t">
            <a:spAutoFit/>
          </a:bodyPr>
          <a:lstStyle/>
          <a:p>
            <a:pPr algn="l">
              <a:lnSpc>
                <a:spcPct val="100000"/>
              </a:lnSpc>
              <a:spcAft>
                <a:spcPts val="0"/>
              </a:spcAft>
            </a:pPr>
            <a:r>
              <a:rPr sz="770" b="1">
                <a:solidFill>
                  <a:srgbClr val="087F72"/>
                </a:solidFill>
                <a:latin typeface="Aptos"/>
              </a:rPr>
              <a:t>EXECUTIVE SUMMARY</a:t>
            </a:r>
          </a:p>
        </p:txBody>
      </p:sp>
      <p:sp>
        <p:nvSpPr>
          <p:cNvPr id="4" name="TextBox 3"/>
          <p:cNvSpPr txBox="1"/>
          <p:nvPr/>
        </p:nvSpPr>
        <p:spPr>
          <a:xfrm>
            <a:off x="457200" y="530352"/>
            <a:ext cx="11064240" cy="475488"/>
          </a:xfrm>
          <a:prstGeom prst="rect">
            <a:avLst/>
          </a:prstGeom>
          <a:noFill/>
        </p:spPr>
        <p:txBody>
          <a:bodyPr wrap="square" lIns="0" rIns="0" tIns="0" bIns="0" anchor="t">
            <a:spAutoFit/>
          </a:bodyPr>
          <a:lstStyle/>
          <a:p>
            <a:pPr algn="l">
              <a:lnSpc>
                <a:spcPct val="100000"/>
              </a:lnSpc>
              <a:spcAft>
                <a:spcPts val="0"/>
              </a:spcAft>
            </a:pPr>
            <a:r>
              <a:rPr sz="2550" b="1">
                <a:solidFill>
                  <a:srgbClr val="0B1F3A"/>
                </a:solidFill>
                <a:latin typeface="Aptos Display"/>
              </a:rPr>
              <a:t>Translating Proven Orbital Science Into a Commercial Tissue Platform</a:t>
            </a:r>
          </a:p>
        </p:txBody>
      </p:sp>
      <p:cxnSp>
        <p:nvCxnSpPr>
          <p:cNvPr id="5" name="Connector 4"/>
          <p:cNvCxnSpPr/>
          <p:nvPr/>
        </p:nvCxnSpPr>
        <p:spPr>
          <a:xfrm>
            <a:off x="457200" y="6510528"/>
            <a:ext cx="11274552" cy="0"/>
          </a:xfrm>
          <a:prstGeom prst="line">
            <a:avLst/>
          </a:prstGeom>
          <a:ln w="7620">
            <a:solidFill>
              <a:srgbClr val="D7E1E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65392"/>
            <a:ext cx="1645920" cy="109728"/>
          </a:xfrm>
          <a:prstGeom prst="rect">
            <a:avLst/>
          </a:prstGeom>
          <a:noFill/>
        </p:spPr>
        <p:txBody>
          <a:bodyPr wrap="square" lIns="0" rIns="0" tIns="0" bIns="0" anchor="t">
            <a:spAutoFit/>
          </a:bodyPr>
          <a:lstStyle/>
          <a:p>
            <a:pPr algn="l">
              <a:lnSpc>
                <a:spcPct val="100000"/>
              </a:lnSpc>
              <a:spcAft>
                <a:spcPts val="0"/>
              </a:spcAft>
            </a:pPr>
            <a:r>
              <a:rPr sz="670" b="1">
                <a:solidFill>
                  <a:srgbClr val="708399"/>
                </a:solidFill>
                <a:latin typeface="Aptos"/>
              </a:rPr>
              <a:t>SAMUEL SPACE</a:t>
            </a:r>
          </a:p>
        </p:txBody>
      </p:sp>
      <p:sp>
        <p:nvSpPr>
          <p:cNvPr id="7" name="TextBox 6"/>
          <p:cNvSpPr txBox="1"/>
          <p:nvPr/>
        </p:nvSpPr>
        <p:spPr>
          <a:xfrm>
            <a:off x="10927080" y="6565392"/>
            <a:ext cx="804672" cy="109728"/>
          </a:xfrm>
          <a:prstGeom prst="rect">
            <a:avLst/>
          </a:prstGeom>
          <a:noFill/>
        </p:spPr>
        <p:txBody>
          <a:bodyPr wrap="square" lIns="0" rIns="0" tIns="0" bIns="0" anchor="t">
            <a:spAutoFit/>
          </a:bodyPr>
          <a:lstStyle/>
          <a:p>
            <a:pPr algn="r">
              <a:lnSpc>
                <a:spcPct val="100000"/>
              </a:lnSpc>
              <a:spcAft>
                <a:spcPts val="0"/>
              </a:spcAft>
            </a:pPr>
            <a:r>
              <a:rPr sz="670" b="1">
                <a:solidFill>
                  <a:srgbClr val="708399"/>
                </a:solidFill>
                <a:latin typeface="Aptos"/>
              </a:rPr>
              <a:t>03 / 21</a:t>
            </a:r>
          </a:p>
        </p:txBody>
      </p:sp>
      <p:sp>
        <p:nvSpPr>
          <p:cNvPr id="8" name="Rounded Rectangle 7"/>
          <p:cNvSpPr/>
          <p:nvPr/>
        </p:nvSpPr>
        <p:spPr>
          <a:xfrm>
            <a:off x="457200" y="1298448"/>
            <a:ext cx="2679192" cy="1188720"/>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457200" y="1298448"/>
            <a:ext cx="54864" cy="1188720"/>
          </a:xfrm>
          <a:prstGeom prst="rect">
            <a:avLst/>
          </a:prstGeom>
          <a:solidFill>
            <a:srgbClr val="00A991"/>
          </a:solidFill>
          <a:ln>
            <a:solidFill>
              <a:srgbClr val="00A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444751"/>
            <a:ext cx="2359152" cy="384048"/>
          </a:xfrm>
          <a:prstGeom prst="rect">
            <a:avLst/>
          </a:prstGeom>
          <a:noFill/>
        </p:spPr>
        <p:txBody>
          <a:bodyPr wrap="square" lIns="0" rIns="0" tIns="0" bIns="0" anchor="t">
            <a:spAutoFit/>
          </a:bodyPr>
          <a:lstStyle/>
          <a:p>
            <a:pPr algn="l">
              <a:lnSpc>
                <a:spcPct val="100000"/>
              </a:lnSpc>
              <a:spcAft>
                <a:spcPts val="0"/>
              </a:spcAft>
            </a:pPr>
            <a:r>
              <a:rPr sz="2000" b="1">
                <a:solidFill>
                  <a:srgbClr val="0B1F3A"/>
                </a:solidFill>
                <a:latin typeface="Aptos"/>
              </a:rPr>
              <a:t>103,223</a:t>
            </a:r>
          </a:p>
        </p:txBody>
      </p:sp>
      <p:sp>
        <p:nvSpPr>
          <p:cNvPr id="11" name="TextBox 10"/>
          <p:cNvSpPr txBox="1"/>
          <p:nvPr/>
        </p:nvSpPr>
        <p:spPr>
          <a:xfrm>
            <a:off x="640080" y="1901952"/>
            <a:ext cx="2359152" cy="475488"/>
          </a:xfrm>
          <a:prstGeom prst="rect">
            <a:avLst/>
          </a:prstGeom>
          <a:noFill/>
        </p:spPr>
        <p:txBody>
          <a:bodyPr wrap="square" lIns="0" rIns="0" tIns="0" bIns="0" anchor="t">
            <a:spAutoFit/>
          </a:bodyPr>
          <a:lstStyle/>
          <a:p>
            <a:pPr algn="l">
              <a:lnSpc>
                <a:spcPct val="103000"/>
              </a:lnSpc>
              <a:spcAft>
                <a:spcPts val="0"/>
              </a:spcAft>
            </a:pPr>
            <a:r>
              <a:rPr sz="980" b="0">
                <a:solidFill>
                  <a:srgbClr val="50657B"/>
                </a:solidFill>
                <a:latin typeface="Aptos"/>
              </a:rPr>
              <a:t>People on the U.S. transplant waitlist today (OPTN, 2025)</a:t>
            </a:r>
          </a:p>
        </p:txBody>
      </p:sp>
      <p:sp>
        <p:nvSpPr>
          <p:cNvPr id="12" name="Rounded Rectangle 11"/>
          <p:cNvSpPr/>
          <p:nvPr/>
        </p:nvSpPr>
        <p:spPr>
          <a:xfrm>
            <a:off x="3291840" y="1298448"/>
            <a:ext cx="2679192" cy="1188720"/>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291840" y="1298448"/>
            <a:ext cx="54864" cy="1188720"/>
          </a:xfrm>
          <a:prstGeom prst="rect">
            <a:avLst/>
          </a:prstGeom>
          <a:solidFill>
            <a:srgbClr val="00A991"/>
          </a:solidFill>
          <a:ln>
            <a:solidFill>
              <a:srgbClr val="00A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474720" y="1444751"/>
            <a:ext cx="2359152" cy="384048"/>
          </a:xfrm>
          <a:prstGeom prst="rect">
            <a:avLst/>
          </a:prstGeom>
          <a:noFill/>
        </p:spPr>
        <p:txBody>
          <a:bodyPr wrap="square" lIns="0" rIns="0" tIns="0" bIns="0" anchor="t">
            <a:spAutoFit/>
          </a:bodyPr>
          <a:lstStyle/>
          <a:p>
            <a:pPr algn="l">
              <a:lnSpc>
                <a:spcPct val="100000"/>
              </a:lnSpc>
              <a:spcAft>
                <a:spcPts val="0"/>
              </a:spcAft>
            </a:pPr>
            <a:r>
              <a:rPr sz="2000" b="1">
                <a:solidFill>
                  <a:srgbClr val="0B1F3A"/>
                </a:solidFill>
                <a:latin typeface="Aptos"/>
              </a:rPr>
              <a:t>13 / day</a:t>
            </a:r>
          </a:p>
        </p:txBody>
      </p:sp>
      <p:sp>
        <p:nvSpPr>
          <p:cNvPr id="15" name="TextBox 14"/>
          <p:cNvSpPr txBox="1"/>
          <p:nvPr/>
        </p:nvSpPr>
        <p:spPr>
          <a:xfrm>
            <a:off x="3474720" y="1901952"/>
            <a:ext cx="2359152" cy="475488"/>
          </a:xfrm>
          <a:prstGeom prst="rect">
            <a:avLst/>
          </a:prstGeom>
          <a:noFill/>
        </p:spPr>
        <p:txBody>
          <a:bodyPr wrap="square" lIns="0" rIns="0" tIns="0" bIns="0" anchor="t">
            <a:spAutoFit/>
          </a:bodyPr>
          <a:lstStyle/>
          <a:p>
            <a:pPr algn="l">
              <a:lnSpc>
                <a:spcPct val="103000"/>
              </a:lnSpc>
              <a:spcAft>
                <a:spcPts val="0"/>
              </a:spcAft>
            </a:pPr>
            <a:r>
              <a:rPr sz="980" b="0">
                <a:solidFill>
                  <a:srgbClr val="50657B"/>
                </a:solidFill>
                <a:latin typeface="Aptos"/>
              </a:rPr>
              <a:t>Americans die while waiting for a donor organ</a:t>
            </a:r>
          </a:p>
        </p:txBody>
      </p:sp>
      <p:sp>
        <p:nvSpPr>
          <p:cNvPr id="16" name="Rounded Rectangle 15"/>
          <p:cNvSpPr/>
          <p:nvPr/>
        </p:nvSpPr>
        <p:spPr>
          <a:xfrm>
            <a:off x="6126480" y="1298448"/>
            <a:ext cx="2679192" cy="1188720"/>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6126480" y="1298448"/>
            <a:ext cx="54864" cy="1188720"/>
          </a:xfrm>
          <a:prstGeom prst="rect">
            <a:avLst/>
          </a:prstGeom>
          <a:solidFill>
            <a:srgbClr val="00A991"/>
          </a:solidFill>
          <a:ln>
            <a:solidFill>
              <a:srgbClr val="00A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309360" y="1444751"/>
            <a:ext cx="2359152" cy="384048"/>
          </a:xfrm>
          <a:prstGeom prst="rect">
            <a:avLst/>
          </a:prstGeom>
          <a:noFill/>
        </p:spPr>
        <p:txBody>
          <a:bodyPr wrap="square" lIns="0" rIns="0" tIns="0" bIns="0" anchor="t">
            <a:spAutoFit/>
          </a:bodyPr>
          <a:lstStyle/>
          <a:p>
            <a:pPr algn="l">
              <a:lnSpc>
                <a:spcPct val="100000"/>
              </a:lnSpc>
              <a:spcAft>
                <a:spcPts val="0"/>
              </a:spcAft>
            </a:pPr>
            <a:r>
              <a:rPr sz="1750" b="1">
                <a:solidFill>
                  <a:srgbClr val="0B1F3A"/>
                </a:solidFill>
                <a:latin typeface="Aptos"/>
              </a:rPr>
              <a:t>$1.7B to $3.5B+</a:t>
            </a:r>
          </a:p>
        </p:txBody>
      </p:sp>
      <p:sp>
        <p:nvSpPr>
          <p:cNvPr id="19" name="TextBox 18"/>
          <p:cNvSpPr txBox="1"/>
          <p:nvPr/>
        </p:nvSpPr>
        <p:spPr>
          <a:xfrm>
            <a:off x="6309360" y="1901952"/>
            <a:ext cx="2359152" cy="475488"/>
          </a:xfrm>
          <a:prstGeom prst="rect">
            <a:avLst/>
          </a:prstGeom>
          <a:noFill/>
        </p:spPr>
        <p:txBody>
          <a:bodyPr wrap="square" lIns="0" rIns="0" tIns="0" bIns="0" anchor="t">
            <a:spAutoFit/>
          </a:bodyPr>
          <a:lstStyle/>
          <a:p>
            <a:pPr algn="l">
              <a:lnSpc>
                <a:spcPct val="103000"/>
              </a:lnSpc>
              <a:spcAft>
                <a:spcPts val="0"/>
              </a:spcAft>
            </a:pPr>
            <a:r>
              <a:rPr sz="980" b="0">
                <a:solidFill>
                  <a:srgbClr val="50657B"/>
                </a:solidFill>
                <a:latin typeface="Aptos"/>
              </a:rPr>
              <a:t>Global bioprinting market, 2025 to 2030 (~16% CAGR)</a:t>
            </a:r>
          </a:p>
        </p:txBody>
      </p:sp>
      <p:sp>
        <p:nvSpPr>
          <p:cNvPr id="20" name="Rounded Rectangle 19"/>
          <p:cNvSpPr/>
          <p:nvPr/>
        </p:nvSpPr>
        <p:spPr>
          <a:xfrm>
            <a:off x="8961120" y="1298448"/>
            <a:ext cx="2679192" cy="1188720"/>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8961120" y="1298448"/>
            <a:ext cx="54864" cy="1188720"/>
          </a:xfrm>
          <a:prstGeom prst="rect">
            <a:avLst/>
          </a:prstGeom>
          <a:solidFill>
            <a:srgbClr val="00A991"/>
          </a:solidFill>
          <a:ln>
            <a:solidFill>
              <a:srgbClr val="00A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144000" y="1444751"/>
            <a:ext cx="2359152" cy="384048"/>
          </a:xfrm>
          <a:prstGeom prst="rect">
            <a:avLst/>
          </a:prstGeom>
          <a:noFill/>
        </p:spPr>
        <p:txBody>
          <a:bodyPr wrap="square" lIns="0" rIns="0" tIns="0" bIns="0" anchor="t">
            <a:spAutoFit/>
          </a:bodyPr>
          <a:lstStyle/>
          <a:p>
            <a:pPr algn="l">
              <a:lnSpc>
                <a:spcPct val="100000"/>
              </a:lnSpc>
              <a:spcAft>
                <a:spcPts val="0"/>
              </a:spcAft>
            </a:pPr>
            <a:r>
              <a:rPr sz="2000" b="1">
                <a:solidFill>
                  <a:srgbClr val="0B1F3A"/>
                </a:solidFill>
                <a:latin typeface="Aptos"/>
              </a:rPr>
              <a:t>8 years</a:t>
            </a:r>
          </a:p>
        </p:txBody>
      </p:sp>
      <p:sp>
        <p:nvSpPr>
          <p:cNvPr id="23" name="TextBox 22"/>
          <p:cNvSpPr txBox="1"/>
          <p:nvPr/>
        </p:nvSpPr>
        <p:spPr>
          <a:xfrm>
            <a:off x="9144000" y="1901952"/>
            <a:ext cx="2359152" cy="475488"/>
          </a:xfrm>
          <a:prstGeom prst="rect">
            <a:avLst/>
          </a:prstGeom>
          <a:noFill/>
        </p:spPr>
        <p:txBody>
          <a:bodyPr wrap="square" lIns="0" rIns="0" tIns="0" bIns="0" anchor="t">
            <a:spAutoFit/>
          </a:bodyPr>
          <a:lstStyle/>
          <a:p>
            <a:pPr algn="l">
              <a:lnSpc>
                <a:spcPct val="103000"/>
              </a:lnSpc>
              <a:spcAft>
                <a:spcPts val="0"/>
              </a:spcAft>
            </a:pPr>
            <a:r>
              <a:rPr sz="980" b="0">
                <a:solidFill>
                  <a:srgbClr val="50657B"/>
                </a:solidFill>
                <a:latin typeface="Aptos"/>
              </a:rPr>
              <a:t>Continuous validation of in-orbit bioprinting</a:t>
            </a:r>
          </a:p>
        </p:txBody>
      </p:sp>
      <p:sp>
        <p:nvSpPr>
          <p:cNvPr id="24" name="Rounded Rectangle 23"/>
          <p:cNvSpPr/>
          <p:nvPr/>
        </p:nvSpPr>
        <p:spPr>
          <a:xfrm>
            <a:off x="457200" y="2743200"/>
            <a:ext cx="2679192" cy="3538728"/>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40080" y="2944368"/>
            <a:ext cx="502920" cy="292608"/>
          </a:xfrm>
          <a:prstGeom prst="rect">
            <a:avLst/>
          </a:prstGeom>
          <a:noFill/>
        </p:spPr>
        <p:txBody>
          <a:bodyPr wrap="square" lIns="0" rIns="0" tIns="0" bIns="0" anchor="t">
            <a:spAutoFit/>
          </a:bodyPr>
          <a:lstStyle/>
          <a:p>
            <a:pPr algn="l">
              <a:lnSpc>
                <a:spcPct val="100000"/>
              </a:lnSpc>
              <a:spcAft>
                <a:spcPts val="0"/>
              </a:spcAft>
            </a:pPr>
            <a:r>
              <a:rPr sz="1900" b="1">
                <a:solidFill>
                  <a:srgbClr val="00A991"/>
                </a:solidFill>
                <a:latin typeface="Aptos"/>
              </a:rPr>
              <a:t>01</a:t>
            </a:r>
          </a:p>
        </p:txBody>
      </p:sp>
      <p:sp>
        <p:nvSpPr>
          <p:cNvPr id="26" name="TextBox 25"/>
          <p:cNvSpPr txBox="1"/>
          <p:nvPr/>
        </p:nvSpPr>
        <p:spPr>
          <a:xfrm>
            <a:off x="640080" y="3429000"/>
            <a:ext cx="2286000" cy="210312"/>
          </a:xfrm>
          <a:prstGeom prst="rect">
            <a:avLst/>
          </a:prstGeom>
          <a:noFill/>
        </p:spPr>
        <p:txBody>
          <a:bodyPr wrap="square" lIns="0" rIns="0" tIns="0" bIns="0" anchor="t">
            <a:spAutoFit/>
          </a:bodyPr>
          <a:lstStyle/>
          <a:p>
            <a:pPr algn="l">
              <a:lnSpc>
                <a:spcPct val="100000"/>
              </a:lnSpc>
              <a:spcAft>
                <a:spcPts val="0"/>
              </a:spcAft>
            </a:pPr>
            <a:r>
              <a:rPr sz="800" b="1">
                <a:solidFill>
                  <a:srgbClr val="708399"/>
                </a:solidFill>
                <a:latin typeface="Aptos"/>
              </a:rPr>
              <a:t>THE PROBLEM</a:t>
            </a:r>
          </a:p>
        </p:txBody>
      </p:sp>
      <p:sp>
        <p:nvSpPr>
          <p:cNvPr id="27" name="TextBox 26"/>
          <p:cNvSpPr txBox="1"/>
          <p:nvPr/>
        </p:nvSpPr>
        <p:spPr>
          <a:xfrm>
            <a:off x="640080" y="3822191"/>
            <a:ext cx="2286000" cy="2103120"/>
          </a:xfrm>
          <a:prstGeom prst="rect">
            <a:avLst/>
          </a:prstGeom>
          <a:noFill/>
        </p:spPr>
        <p:txBody>
          <a:bodyPr wrap="square" lIns="0" rIns="0" tIns="0" bIns="0" anchor="t">
            <a:spAutoFit/>
          </a:bodyPr>
          <a:lstStyle/>
          <a:p>
            <a:pPr algn="l">
              <a:lnSpc>
                <a:spcPct val="106000"/>
              </a:lnSpc>
              <a:spcAft>
                <a:spcPts val="0"/>
              </a:spcAft>
            </a:pPr>
            <a:r>
              <a:rPr sz="1110" b="0">
                <a:solidFill>
                  <a:srgbClr val="16324F"/>
                </a:solidFill>
                <a:latin typeface="Aptos"/>
              </a:rPr>
              <a:t>Organ and tissue shortages persist globally. Earth-based bioprinting hits a physical ceiling: gravity causes tissues to collapse without a temporary scaffold, limiting achievable geometry.</a:t>
            </a:r>
          </a:p>
        </p:txBody>
      </p:sp>
      <p:cxnSp>
        <p:nvCxnSpPr>
          <p:cNvPr id="28" name="Connector 27"/>
          <p:cNvCxnSpPr/>
          <p:nvPr/>
        </p:nvCxnSpPr>
        <p:spPr>
          <a:xfrm>
            <a:off x="640080" y="5989320"/>
            <a:ext cx="2286000" cy="0"/>
          </a:xfrm>
          <a:prstGeom prst="line">
            <a:avLst/>
          </a:prstGeom>
          <a:ln w="10160">
            <a:solidFill>
              <a:srgbClr val="D7E1EA"/>
            </a:solidFill>
          </a:ln>
        </p:spPr>
        <p:style>
          <a:lnRef idx="2">
            <a:schemeClr val="accent1"/>
          </a:lnRef>
          <a:fillRef idx="0">
            <a:schemeClr val="accent1"/>
          </a:fillRef>
          <a:effectRef idx="1">
            <a:schemeClr val="accent1"/>
          </a:effectRef>
          <a:fontRef idx="minor">
            <a:schemeClr val="tx1"/>
          </a:fontRef>
        </p:style>
      </p:cxnSp>
      <p:sp>
        <p:nvSpPr>
          <p:cNvPr id="29" name="Rounded Rectangle 28"/>
          <p:cNvSpPr/>
          <p:nvPr/>
        </p:nvSpPr>
        <p:spPr>
          <a:xfrm>
            <a:off x="3291840" y="2743200"/>
            <a:ext cx="2679192" cy="3538728"/>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3474720" y="2944368"/>
            <a:ext cx="502920" cy="292608"/>
          </a:xfrm>
          <a:prstGeom prst="rect">
            <a:avLst/>
          </a:prstGeom>
          <a:noFill/>
        </p:spPr>
        <p:txBody>
          <a:bodyPr wrap="square" lIns="0" rIns="0" tIns="0" bIns="0" anchor="t">
            <a:spAutoFit/>
          </a:bodyPr>
          <a:lstStyle/>
          <a:p>
            <a:pPr algn="l">
              <a:lnSpc>
                <a:spcPct val="100000"/>
              </a:lnSpc>
              <a:spcAft>
                <a:spcPts val="0"/>
              </a:spcAft>
            </a:pPr>
            <a:r>
              <a:rPr sz="1900" b="1">
                <a:solidFill>
                  <a:srgbClr val="00A991"/>
                </a:solidFill>
                <a:latin typeface="Aptos"/>
              </a:rPr>
              <a:t>02</a:t>
            </a:r>
          </a:p>
        </p:txBody>
      </p:sp>
      <p:sp>
        <p:nvSpPr>
          <p:cNvPr id="31" name="TextBox 30"/>
          <p:cNvSpPr txBox="1"/>
          <p:nvPr/>
        </p:nvSpPr>
        <p:spPr>
          <a:xfrm>
            <a:off x="3474720" y="3429000"/>
            <a:ext cx="2286000" cy="210312"/>
          </a:xfrm>
          <a:prstGeom prst="rect">
            <a:avLst/>
          </a:prstGeom>
          <a:noFill/>
        </p:spPr>
        <p:txBody>
          <a:bodyPr wrap="square" lIns="0" rIns="0" tIns="0" bIns="0" anchor="t">
            <a:spAutoFit/>
          </a:bodyPr>
          <a:lstStyle/>
          <a:p>
            <a:pPr algn="l">
              <a:lnSpc>
                <a:spcPct val="100000"/>
              </a:lnSpc>
              <a:spcAft>
                <a:spcPts val="0"/>
              </a:spcAft>
            </a:pPr>
            <a:r>
              <a:rPr sz="800" b="1">
                <a:solidFill>
                  <a:srgbClr val="708399"/>
                </a:solidFill>
                <a:latin typeface="Aptos"/>
              </a:rPr>
              <a:t>THE UNLOCK</a:t>
            </a:r>
          </a:p>
        </p:txBody>
      </p:sp>
      <p:sp>
        <p:nvSpPr>
          <p:cNvPr id="32" name="TextBox 31"/>
          <p:cNvSpPr txBox="1"/>
          <p:nvPr/>
        </p:nvSpPr>
        <p:spPr>
          <a:xfrm>
            <a:off x="3474720" y="3822191"/>
            <a:ext cx="2286000" cy="2103120"/>
          </a:xfrm>
          <a:prstGeom prst="rect">
            <a:avLst/>
          </a:prstGeom>
          <a:noFill/>
        </p:spPr>
        <p:txBody>
          <a:bodyPr wrap="square" lIns="0" rIns="0" tIns="0" bIns="0" anchor="t">
            <a:spAutoFit/>
          </a:bodyPr>
          <a:lstStyle/>
          <a:p>
            <a:pPr algn="l">
              <a:lnSpc>
                <a:spcPct val="106000"/>
              </a:lnSpc>
              <a:spcAft>
                <a:spcPts val="0"/>
              </a:spcAft>
            </a:pPr>
            <a:r>
              <a:rPr sz="1110" b="0">
                <a:solidFill>
                  <a:srgbClr val="16324F"/>
                </a:solidFill>
                <a:latin typeface="Aptos"/>
              </a:rPr>
              <a:t>Microgravity eliminates scaffold dependency. NASA, Redwire, ESA, LambdaVision and ROSCOSMOS have validated the science aboard the ISS continuously since 2018.</a:t>
            </a:r>
          </a:p>
        </p:txBody>
      </p:sp>
      <p:cxnSp>
        <p:nvCxnSpPr>
          <p:cNvPr id="33" name="Connector 32"/>
          <p:cNvCxnSpPr/>
          <p:nvPr/>
        </p:nvCxnSpPr>
        <p:spPr>
          <a:xfrm>
            <a:off x="3474720" y="5989320"/>
            <a:ext cx="2286000" cy="0"/>
          </a:xfrm>
          <a:prstGeom prst="line">
            <a:avLst/>
          </a:prstGeom>
          <a:ln w="10160">
            <a:solidFill>
              <a:srgbClr val="D7E1EA"/>
            </a:solidFill>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6126480" y="2743200"/>
            <a:ext cx="2679192" cy="3538728"/>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309360" y="2944368"/>
            <a:ext cx="502920" cy="292608"/>
          </a:xfrm>
          <a:prstGeom prst="rect">
            <a:avLst/>
          </a:prstGeom>
          <a:noFill/>
        </p:spPr>
        <p:txBody>
          <a:bodyPr wrap="square" lIns="0" rIns="0" tIns="0" bIns="0" anchor="t">
            <a:spAutoFit/>
          </a:bodyPr>
          <a:lstStyle/>
          <a:p>
            <a:pPr algn="l">
              <a:lnSpc>
                <a:spcPct val="100000"/>
              </a:lnSpc>
              <a:spcAft>
                <a:spcPts val="0"/>
              </a:spcAft>
            </a:pPr>
            <a:r>
              <a:rPr sz="1900" b="1">
                <a:solidFill>
                  <a:srgbClr val="00A991"/>
                </a:solidFill>
                <a:latin typeface="Aptos"/>
              </a:rPr>
              <a:t>03</a:t>
            </a:r>
          </a:p>
        </p:txBody>
      </p:sp>
      <p:sp>
        <p:nvSpPr>
          <p:cNvPr id="36" name="TextBox 35"/>
          <p:cNvSpPr txBox="1"/>
          <p:nvPr/>
        </p:nvSpPr>
        <p:spPr>
          <a:xfrm>
            <a:off x="6309360" y="3429000"/>
            <a:ext cx="2286000" cy="210312"/>
          </a:xfrm>
          <a:prstGeom prst="rect">
            <a:avLst/>
          </a:prstGeom>
          <a:noFill/>
        </p:spPr>
        <p:txBody>
          <a:bodyPr wrap="square" lIns="0" rIns="0" tIns="0" bIns="0" anchor="t">
            <a:spAutoFit/>
          </a:bodyPr>
          <a:lstStyle/>
          <a:p>
            <a:pPr algn="l">
              <a:lnSpc>
                <a:spcPct val="100000"/>
              </a:lnSpc>
              <a:spcAft>
                <a:spcPts val="0"/>
              </a:spcAft>
            </a:pPr>
            <a:r>
              <a:rPr sz="800" b="1">
                <a:solidFill>
                  <a:srgbClr val="708399"/>
                </a:solidFill>
                <a:latin typeface="Aptos"/>
              </a:rPr>
              <a:t>THE MARKET</a:t>
            </a:r>
          </a:p>
        </p:txBody>
      </p:sp>
      <p:sp>
        <p:nvSpPr>
          <p:cNvPr id="37" name="TextBox 36"/>
          <p:cNvSpPr txBox="1"/>
          <p:nvPr/>
        </p:nvSpPr>
        <p:spPr>
          <a:xfrm>
            <a:off x="6309360" y="3822191"/>
            <a:ext cx="2286000" cy="2103120"/>
          </a:xfrm>
          <a:prstGeom prst="rect">
            <a:avLst/>
          </a:prstGeom>
          <a:noFill/>
        </p:spPr>
        <p:txBody>
          <a:bodyPr wrap="square" lIns="0" rIns="0" tIns="0" bIns="0" anchor="t">
            <a:spAutoFit/>
          </a:bodyPr>
          <a:lstStyle/>
          <a:p>
            <a:pPr algn="l">
              <a:lnSpc>
                <a:spcPct val="106000"/>
              </a:lnSpc>
              <a:spcAft>
                <a:spcPts val="0"/>
              </a:spcAft>
            </a:pPr>
            <a:r>
              <a:rPr sz="1110" b="0">
                <a:solidFill>
                  <a:srgbClr val="16324F"/>
                </a:solidFill>
                <a:latin typeface="Aptos"/>
              </a:rPr>
              <a:t>A $1.7B market growing at ~16% CAGR, the first FDA-cleared tissue-engineered vascular graft, and four commercial stations entering service from 2026.</a:t>
            </a:r>
          </a:p>
        </p:txBody>
      </p:sp>
      <p:cxnSp>
        <p:nvCxnSpPr>
          <p:cNvPr id="38" name="Connector 37"/>
          <p:cNvCxnSpPr/>
          <p:nvPr/>
        </p:nvCxnSpPr>
        <p:spPr>
          <a:xfrm>
            <a:off x="6309360" y="5989320"/>
            <a:ext cx="2286000" cy="0"/>
          </a:xfrm>
          <a:prstGeom prst="line">
            <a:avLst/>
          </a:prstGeom>
          <a:ln w="10160">
            <a:solidFill>
              <a:srgbClr val="D7E1EA"/>
            </a:solidFill>
          </a:ln>
        </p:spPr>
        <p:style>
          <a:lnRef idx="2">
            <a:schemeClr val="accent1"/>
          </a:lnRef>
          <a:fillRef idx="0">
            <a:schemeClr val="accent1"/>
          </a:fillRef>
          <a:effectRef idx="1">
            <a:schemeClr val="accent1"/>
          </a:effectRef>
          <a:fontRef idx="minor">
            <a:schemeClr val="tx1"/>
          </a:fontRef>
        </p:style>
      </p:cxnSp>
      <p:sp>
        <p:nvSpPr>
          <p:cNvPr id="39" name="Rounded Rectangle 38"/>
          <p:cNvSpPr/>
          <p:nvPr/>
        </p:nvSpPr>
        <p:spPr>
          <a:xfrm>
            <a:off x="8961120" y="2743200"/>
            <a:ext cx="2679192" cy="3538728"/>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144000" y="2944368"/>
            <a:ext cx="502920" cy="292608"/>
          </a:xfrm>
          <a:prstGeom prst="rect">
            <a:avLst/>
          </a:prstGeom>
          <a:noFill/>
        </p:spPr>
        <p:txBody>
          <a:bodyPr wrap="square" lIns="0" rIns="0" tIns="0" bIns="0" anchor="t">
            <a:spAutoFit/>
          </a:bodyPr>
          <a:lstStyle/>
          <a:p>
            <a:pPr algn="l">
              <a:lnSpc>
                <a:spcPct val="100000"/>
              </a:lnSpc>
              <a:spcAft>
                <a:spcPts val="0"/>
              </a:spcAft>
            </a:pPr>
            <a:r>
              <a:rPr sz="1900" b="1">
                <a:solidFill>
                  <a:srgbClr val="00A991"/>
                </a:solidFill>
                <a:latin typeface="Aptos"/>
              </a:rPr>
              <a:t>04</a:t>
            </a:r>
          </a:p>
        </p:txBody>
      </p:sp>
      <p:sp>
        <p:nvSpPr>
          <p:cNvPr id="41" name="TextBox 40"/>
          <p:cNvSpPr txBox="1"/>
          <p:nvPr/>
        </p:nvSpPr>
        <p:spPr>
          <a:xfrm>
            <a:off x="9144000" y="3429000"/>
            <a:ext cx="2286000" cy="210312"/>
          </a:xfrm>
          <a:prstGeom prst="rect">
            <a:avLst/>
          </a:prstGeom>
          <a:noFill/>
        </p:spPr>
        <p:txBody>
          <a:bodyPr wrap="square" lIns="0" rIns="0" tIns="0" bIns="0" anchor="t">
            <a:spAutoFit/>
          </a:bodyPr>
          <a:lstStyle/>
          <a:p>
            <a:pPr algn="l">
              <a:lnSpc>
                <a:spcPct val="100000"/>
              </a:lnSpc>
              <a:spcAft>
                <a:spcPts val="0"/>
              </a:spcAft>
            </a:pPr>
            <a:r>
              <a:rPr sz="800" b="1">
                <a:solidFill>
                  <a:srgbClr val="708399"/>
                </a:solidFill>
                <a:latin typeface="Aptos"/>
              </a:rPr>
              <a:t>THE ASK</a:t>
            </a:r>
          </a:p>
        </p:txBody>
      </p:sp>
      <p:sp>
        <p:nvSpPr>
          <p:cNvPr id="42" name="TextBox 41"/>
          <p:cNvSpPr txBox="1"/>
          <p:nvPr/>
        </p:nvSpPr>
        <p:spPr>
          <a:xfrm>
            <a:off x="9144000" y="3822191"/>
            <a:ext cx="2286000" cy="2103120"/>
          </a:xfrm>
          <a:prstGeom prst="rect">
            <a:avLst/>
          </a:prstGeom>
          <a:noFill/>
        </p:spPr>
        <p:txBody>
          <a:bodyPr wrap="square" lIns="0" rIns="0" tIns="0" bIns="0" anchor="t">
            <a:spAutoFit/>
          </a:bodyPr>
          <a:lstStyle/>
          <a:p>
            <a:pPr algn="l">
              <a:lnSpc>
                <a:spcPct val="106000"/>
              </a:lnSpc>
              <a:spcAft>
                <a:spcPts val="0"/>
              </a:spcAft>
            </a:pPr>
            <a:r>
              <a:rPr sz="1110" b="0">
                <a:solidFill>
                  <a:srgbClr val="16324F"/>
                </a:solidFill>
                <a:latin typeface="Aptos"/>
              </a:rPr>
              <a:t>An $18M Series A to build Samuel's first flight-qualified payload platform, commercialise wound-care and orthopedic verticals, and file NASA InSPA Phase 1 grants.</a:t>
            </a:r>
          </a:p>
        </p:txBody>
      </p:sp>
      <p:cxnSp>
        <p:nvCxnSpPr>
          <p:cNvPr id="43" name="Connector 42"/>
          <p:cNvCxnSpPr/>
          <p:nvPr/>
        </p:nvCxnSpPr>
        <p:spPr>
          <a:xfrm>
            <a:off x="9144000" y="5989320"/>
            <a:ext cx="2286000" cy="0"/>
          </a:xfrm>
          <a:prstGeom prst="line">
            <a:avLst/>
          </a:prstGeom>
          <a:ln w="21590">
            <a:solidFill>
              <a:srgbClr val="00A991"/>
            </a:solidFill>
          </a:ln>
        </p:spPr>
        <p:style>
          <a:lnRef idx="2">
            <a:schemeClr val="accent1"/>
          </a:lnRef>
          <a:fillRef idx="0">
            <a:schemeClr val="accent1"/>
          </a:fillRef>
          <a:effectRef idx="1">
            <a:schemeClr val="accent1"/>
          </a:effectRef>
          <a:fontRef idx="minor">
            <a:schemeClr val="tx1"/>
          </a:fontRef>
        </p:style>
      </p:cxn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Rectangle 1"/>
          <p:cNvSpPr/>
          <p:nvPr/>
        </p:nvSpPr>
        <p:spPr>
          <a:xfrm>
            <a:off x="457200" y="256032"/>
            <a:ext cx="54864" cy="219456"/>
          </a:xfrm>
          <a:prstGeom prst="rect">
            <a:avLst/>
          </a:prstGeom>
          <a:solidFill>
            <a:srgbClr val="00A991"/>
          </a:solidFill>
          <a:ln>
            <a:solidFill>
              <a:srgbClr val="00A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3504" y="256032"/>
            <a:ext cx="4114800" cy="164592"/>
          </a:xfrm>
          <a:prstGeom prst="rect">
            <a:avLst/>
          </a:prstGeom>
          <a:noFill/>
        </p:spPr>
        <p:txBody>
          <a:bodyPr wrap="square" lIns="0" rIns="0" tIns="0" bIns="0" anchor="t">
            <a:spAutoFit/>
          </a:bodyPr>
          <a:lstStyle/>
          <a:p>
            <a:pPr algn="l">
              <a:lnSpc>
                <a:spcPct val="100000"/>
              </a:lnSpc>
              <a:spcAft>
                <a:spcPts val="0"/>
              </a:spcAft>
            </a:pPr>
            <a:r>
              <a:rPr sz="770" b="1">
                <a:solidFill>
                  <a:srgbClr val="087F72"/>
                </a:solidFill>
                <a:latin typeface="Aptos"/>
              </a:rPr>
              <a:t>THE PROBLEM</a:t>
            </a:r>
          </a:p>
        </p:txBody>
      </p:sp>
      <p:sp>
        <p:nvSpPr>
          <p:cNvPr id="4" name="TextBox 3"/>
          <p:cNvSpPr txBox="1"/>
          <p:nvPr/>
        </p:nvSpPr>
        <p:spPr>
          <a:xfrm>
            <a:off x="457200" y="530352"/>
            <a:ext cx="11064240" cy="475488"/>
          </a:xfrm>
          <a:prstGeom prst="rect">
            <a:avLst/>
          </a:prstGeom>
          <a:noFill/>
        </p:spPr>
        <p:txBody>
          <a:bodyPr wrap="square" lIns="0" rIns="0" tIns="0" bIns="0" anchor="t">
            <a:spAutoFit/>
          </a:bodyPr>
          <a:lstStyle/>
          <a:p>
            <a:pPr algn="l">
              <a:lnSpc>
                <a:spcPct val="100000"/>
              </a:lnSpc>
              <a:spcAft>
                <a:spcPts val="0"/>
              </a:spcAft>
            </a:pPr>
            <a:r>
              <a:rPr sz="2550" b="1">
                <a:solidFill>
                  <a:srgbClr val="0B1F3A"/>
                </a:solidFill>
                <a:latin typeface="Aptos Display"/>
              </a:rPr>
              <a:t>A Global Organ &amp; Tissue Crisis</a:t>
            </a:r>
          </a:p>
        </p:txBody>
      </p:sp>
      <p:cxnSp>
        <p:nvCxnSpPr>
          <p:cNvPr id="5" name="Connector 4"/>
          <p:cNvCxnSpPr/>
          <p:nvPr/>
        </p:nvCxnSpPr>
        <p:spPr>
          <a:xfrm>
            <a:off x="457200" y="6510528"/>
            <a:ext cx="11274552" cy="0"/>
          </a:xfrm>
          <a:prstGeom prst="line">
            <a:avLst/>
          </a:prstGeom>
          <a:ln w="7620">
            <a:solidFill>
              <a:srgbClr val="D7E1E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65392"/>
            <a:ext cx="1645920" cy="109728"/>
          </a:xfrm>
          <a:prstGeom prst="rect">
            <a:avLst/>
          </a:prstGeom>
          <a:noFill/>
        </p:spPr>
        <p:txBody>
          <a:bodyPr wrap="square" lIns="0" rIns="0" tIns="0" bIns="0" anchor="t">
            <a:spAutoFit/>
          </a:bodyPr>
          <a:lstStyle/>
          <a:p>
            <a:pPr algn="l">
              <a:lnSpc>
                <a:spcPct val="100000"/>
              </a:lnSpc>
              <a:spcAft>
                <a:spcPts val="0"/>
              </a:spcAft>
            </a:pPr>
            <a:r>
              <a:rPr sz="670" b="1">
                <a:solidFill>
                  <a:srgbClr val="708399"/>
                </a:solidFill>
                <a:latin typeface="Aptos"/>
              </a:rPr>
              <a:t>SAMUEL SPACE</a:t>
            </a:r>
          </a:p>
        </p:txBody>
      </p:sp>
      <p:sp>
        <p:nvSpPr>
          <p:cNvPr id="7" name="TextBox 6"/>
          <p:cNvSpPr txBox="1"/>
          <p:nvPr/>
        </p:nvSpPr>
        <p:spPr>
          <a:xfrm>
            <a:off x="10927080" y="6565392"/>
            <a:ext cx="804672" cy="109728"/>
          </a:xfrm>
          <a:prstGeom prst="rect">
            <a:avLst/>
          </a:prstGeom>
          <a:noFill/>
        </p:spPr>
        <p:txBody>
          <a:bodyPr wrap="square" lIns="0" rIns="0" tIns="0" bIns="0" anchor="t">
            <a:spAutoFit/>
          </a:bodyPr>
          <a:lstStyle/>
          <a:p>
            <a:pPr algn="r">
              <a:lnSpc>
                <a:spcPct val="100000"/>
              </a:lnSpc>
              <a:spcAft>
                <a:spcPts val="0"/>
              </a:spcAft>
            </a:pPr>
            <a:r>
              <a:rPr sz="670" b="1">
                <a:solidFill>
                  <a:srgbClr val="708399"/>
                </a:solidFill>
                <a:latin typeface="Aptos"/>
              </a:rPr>
              <a:t>04 / 21</a:t>
            </a:r>
          </a:p>
        </p:txBody>
      </p:sp>
      <p:sp>
        <p:nvSpPr>
          <p:cNvPr id="8" name="TextBox 7"/>
          <p:cNvSpPr txBox="1"/>
          <p:nvPr/>
        </p:nvSpPr>
        <p:spPr>
          <a:xfrm>
            <a:off x="475488" y="1289304"/>
            <a:ext cx="6309360" cy="182880"/>
          </a:xfrm>
          <a:prstGeom prst="rect">
            <a:avLst/>
          </a:prstGeom>
          <a:noFill/>
        </p:spPr>
        <p:txBody>
          <a:bodyPr wrap="square" lIns="0" rIns="0" tIns="0" bIns="0" anchor="t">
            <a:spAutoFit/>
          </a:bodyPr>
          <a:lstStyle/>
          <a:p>
            <a:pPr algn="l">
              <a:lnSpc>
                <a:spcPct val="100000"/>
              </a:lnSpc>
              <a:spcAft>
                <a:spcPts val="0"/>
              </a:spcAft>
            </a:pPr>
            <a:r>
              <a:rPr sz="819" b="1">
                <a:solidFill>
                  <a:srgbClr val="708399"/>
                </a:solidFill>
                <a:latin typeface="Aptos"/>
              </a:rPr>
              <a:t>U.S. TRANSPLANT WAITING LIST BY ORGAN (2025)</a:t>
            </a:r>
          </a:p>
        </p:txBody>
      </p:sp>
      <p:graphicFrame>
        <p:nvGraphicFramePr>
          <p:cNvPr id="9" name="Chart 8"/>
          <p:cNvGraphicFramePr>
            <a:graphicFrameLocks noGrp="1"/>
          </p:cNvGraphicFramePr>
          <p:nvPr/>
        </p:nvGraphicFramePr>
        <p:xfrm>
          <a:off x="457200" y="1536192"/>
          <a:ext cx="6537960" cy="4361688"/>
        </p:xfrm>
        <a:graphic>
          <a:graphicData uri="http://schemas.openxmlformats.org/drawingml/2006/chart">
            <c:chart xmlns:c="http://schemas.openxmlformats.org/drawingml/2006/chart" r:id="rId2"/>
          </a:graphicData>
        </a:graphic>
      </p:graphicFrame>
      <p:sp>
        <p:nvSpPr>
          <p:cNvPr id="10" name="TextBox 9"/>
          <p:cNvSpPr txBox="1"/>
          <p:nvPr/>
        </p:nvSpPr>
        <p:spPr>
          <a:xfrm>
            <a:off x="475488" y="5925312"/>
            <a:ext cx="6400800" cy="164592"/>
          </a:xfrm>
          <a:prstGeom prst="rect">
            <a:avLst/>
          </a:prstGeom>
          <a:noFill/>
        </p:spPr>
        <p:txBody>
          <a:bodyPr wrap="square" lIns="0" rIns="0" tIns="0" bIns="0" anchor="t">
            <a:spAutoFit/>
          </a:bodyPr>
          <a:lstStyle/>
          <a:p>
            <a:pPr algn="l">
              <a:lnSpc>
                <a:spcPct val="100000"/>
              </a:lnSpc>
              <a:spcAft>
                <a:spcPts val="0"/>
              </a:spcAft>
            </a:pPr>
            <a:r>
              <a:rPr sz="760" b="0">
                <a:solidFill>
                  <a:srgbClr val="708399"/>
                </a:solidFill>
                <a:latin typeface="Aptos"/>
              </a:rPr>
              <a:t>Source: OPTN / organdonor.gov, 2025</a:t>
            </a:r>
          </a:p>
        </p:txBody>
      </p:sp>
      <p:sp>
        <p:nvSpPr>
          <p:cNvPr id="11" name="Rounded Rectangle 10"/>
          <p:cNvSpPr/>
          <p:nvPr/>
        </p:nvSpPr>
        <p:spPr>
          <a:xfrm>
            <a:off x="7205472" y="1335024"/>
            <a:ext cx="4526280" cy="1024128"/>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05472" y="1335024"/>
            <a:ext cx="54864" cy="1024128"/>
          </a:xfrm>
          <a:prstGeom prst="rect">
            <a:avLst/>
          </a:prstGeom>
          <a:solidFill>
            <a:srgbClr val="00A991"/>
          </a:solidFill>
          <a:ln>
            <a:solidFill>
              <a:srgbClr val="00A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388352" y="1481328"/>
            <a:ext cx="4206240" cy="384048"/>
          </a:xfrm>
          <a:prstGeom prst="rect">
            <a:avLst/>
          </a:prstGeom>
          <a:noFill/>
        </p:spPr>
        <p:txBody>
          <a:bodyPr wrap="square" lIns="0" rIns="0" tIns="0" bIns="0" anchor="t">
            <a:spAutoFit/>
          </a:bodyPr>
          <a:lstStyle/>
          <a:p>
            <a:pPr algn="l">
              <a:lnSpc>
                <a:spcPct val="100000"/>
              </a:lnSpc>
              <a:spcAft>
                <a:spcPts val="0"/>
              </a:spcAft>
            </a:pPr>
            <a:r>
              <a:rPr sz="1900" b="1">
                <a:solidFill>
                  <a:srgbClr val="0B1F3A"/>
                </a:solidFill>
                <a:latin typeface="Aptos"/>
              </a:rPr>
              <a:t>941,652</a:t>
            </a:r>
          </a:p>
        </p:txBody>
      </p:sp>
      <p:sp>
        <p:nvSpPr>
          <p:cNvPr id="14" name="TextBox 13"/>
          <p:cNvSpPr txBox="1"/>
          <p:nvPr/>
        </p:nvSpPr>
        <p:spPr>
          <a:xfrm>
            <a:off x="7388352" y="1938528"/>
            <a:ext cx="4206240" cy="310896"/>
          </a:xfrm>
          <a:prstGeom prst="rect">
            <a:avLst/>
          </a:prstGeom>
          <a:noFill/>
        </p:spPr>
        <p:txBody>
          <a:bodyPr wrap="square" lIns="0" rIns="0" tIns="0" bIns="0" anchor="t">
            <a:spAutoFit/>
          </a:bodyPr>
          <a:lstStyle/>
          <a:p>
            <a:pPr algn="l">
              <a:lnSpc>
                <a:spcPct val="103000"/>
              </a:lnSpc>
              <a:spcAft>
                <a:spcPts val="0"/>
              </a:spcAft>
            </a:pPr>
            <a:r>
              <a:rPr sz="980" b="0">
                <a:solidFill>
                  <a:srgbClr val="50657B"/>
                </a:solidFill>
                <a:latin typeface="Aptos"/>
              </a:rPr>
              <a:t>CVD deaths in the U.S. in 2022 — still the #1 cause of death, killing more people than all cancers combined.</a:t>
            </a:r>
          </a:p>
        </p:txBody>
      </p:sp>
      <p:sp>
        <p:nvSpPr>
          <p:cNvPr id="15" name="Rounded Rectangle 14"/>
          <p:cNvSpPr/>
          <p:nvPr/>
        </p:nvSpPr>
        <p:spPr>
          <a:xfrm>
            <a:off x="7205472" y="2505456"/>
            <a:ext cx="4526280" cy="1024128"/>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05472" y="2505456"/>
            <a:ext cx="54864" cy="1024128"/>
          </a:xfrm>
          <a:prstGeom prst="rect">
            <a:avLst/>
          </a:prstGeom>
          <a:solidFill>
            <a:srgbClr val="00A991"/>
          </a:solidFill>
          <a:ln>
            <a:solidFill>
              <a:srgbClr val="00A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388352" y="2651760"/>
            <a:ext cx="4206240" cy="384048"/>
          </a:xfrm>
          <a:prstGeom prst="rect">
            <a:avLst/>
          </a:prstGeom>
          <a:noFill/>
        </p:spPr>
        <p:txBody>
          <a:bodyPr wrap="square" lIns="0" rIns="0" tIns="0" bIns="0" anchor="t">
            <a:spAutoFit/>
          </a:bodyPr>
          <a:lstStyle/>
          <a:p>
            <a:pPr algn="l">
              <a:lnSpc>
                <a:spcPct val="100000"/>
              </a:lnSpc>
              <a:spcAft>
                <a:spcPts val="0"/>
              </a:spcAft>
            </a:pPr>
            <a:r>
              <a:rPr sz="1650" b="1">
                <a:solidFill>
                  <a:srgbClr val="0B1F3A"/>
                </a:solidFill>
                <a:latin typeface="Aptos"/>
              </a:rPr>
              <a:t>~1 per 34 sec</a:t>
            </a:r>
          </a:p>
        </p:txBody>
      </p:sp>
      <p:sp>
        <p:nvSpPr>
          <p:cNvPr id="18" name="TextBox 17"/>
          <p:cNvSpPr txBox="1"/>
          <p:nvPr/>
        </p:nvSpPr>
        <p:spPr>
          <a:xfrm>
            <a:off x="7388352" y="3108960"/>
            <a:ext cx="4206240" cy="310896"/>
          </a:xfrm>
          <a:prstGeom prst="rect">
            <a:avLst/>
          </a:prstGeom>
          <a:noFill/>
        </p:spPr>
        <p:txBody>
          <a:bodyPr wrap="square" lIns="0" rIns="0" tIns="0" bIns="0" anchor="t">
            <a:spAutoFit/>
          </a:bodyPr>
          <a:lstStyle/>
          <a:p>
            <a:pPr algn="l">
              <a:lnSpc>
                <a:spcPct val="103000"/>
              </a:lnSpc>
              <a:spcAft>
                <a:spcPts val="0"/>
              </a:spcAft>
            </a:pPr>
            <a:r>
              <a:rPr sz="980" b="0">
                <a:solidFill>
                  <a:srgbClr val="50657B"/>
                </a:solidFill>
                <a:latin typeface="Aptos"/>
              </a:rPr>
              <a:t>A cardiovascular death occurs in the U.S. every 34 seconds on average — roughly 2,500 per day.</a:t>
            </a:r>
          </a:p>
        </p:txBody>
      </p:sp>
      <p:sp>
        <p:nvSpPr>
          <p:cNvPr id="19" name="Rounded Rectangle 18"/>
          <p:cNvSpPr/>
          <p:nvPr/>
        </p:nvSpPr>
        <p:spPr>
          <a:xfrm>
            <a:off x="7205472" y="3675887"/>
            <a:ext cx="4526280" cy="1024128"/>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205472" y="3675887"/>
            <a:ext cx="54864" cy="1024128"/>
          </a:xfrm>
          <a:prstGeom prst="rect">
            <a:avLst/>
          </a:prstGeom>
          <a:solidFill>
            <a:srgbClr val="00A991"/>
          </a:solidFill>
          <a:ln>
            <a:solidFill>
              <a:srgbClr val="00A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88352" y="3822191"/>
            <a:ext cx="4206240" cy="384048"/>
          </a:xfrm>
          <a:prstGeom prst="rect">
            <a:avLst/>
          </a:prstGeom>
          <a:noFill/>
        </p:spPr>
        <p:txBody>
          <a:bodyPr wrap="square" lIns="0" rIns="0" tIns="0" bIns="0" anchor="t">
            <a:spAutoFit/>
          </a:bodyPr>
          <a:lstStyle/>
          <a:p>
            <a:pPr algn="l">
              <a:lnSpc>
                <a:spcPct val="100000"/>
              </a:lnSpc>
              <a:spcAft>
                <a:spcPts val="0"/>
              </a:spcAft>
            </a:pPr>
            <a:r>
              <a:rPr sz="1900" b="1">
                <a:solidFill>
                  <a:srgbClr val="0B1F3A"/>
                </a:solidFill>
                <a:latin typeface="Aptos"/>
              </a:rPr>
              <a:t>10% met</a:t>
            </a:r>
          </a:p>
        </p:txBody>
      </p:sp>
      <p:sp>
        <p:nvSpPr>
          <p:cNvPr id="22" name="TextBox 21"/>
          <p:cNvSpPr txBox="1"/>
          <p:nvPr/>
        </p:nvSpPr>
        <p:spPr>
          <a:xfrm>
            <a:off x="7388352" y="4279392"/>
            <a:ext cx="4206240" cy="310896"/>
          </a:xfrm>
          <a:prstGeom prst="rect">
            <a:avLst/>
          </a:prstGeom>
          <a:noFill/>
        </p:spPr>
        <p:txBody>
          <a:bodyPr wrap="square" lIns="0" rIns="0" tIns="0" bIns="0" anchor="t">
            <a:spAutoFit/>
          </a:bodyPr>
          <a:lstStyle/>
          <a:p>
            <a:pPr algn="l">
              <a:lnSpc>
                <a:spcPct val="103000"/>
              </a:lnSpc>
              <a:spcAft>
                <a:spcPts val="0"/>
              </a:spcAft>
            </a:pPr>
            <a:r>
              <a:rPr sz="980" b="0">
                <a:solidFill>
                  <a:srgbClr val="50657B"/>
                </a:solidFill>
                <a:latin typeface="Aptos"/>
              </a:rPr>
              <a:t>Share of estimated global transplant need met: ~130,000 transplants per year versus demand exceeding 1.3M.</a:t>
            </a:r>
          </a:p>
        </p:txBody>
      </p:sp>
      <p:sp>
        <p:nvSpPr>
          <p:cNvPr id="23" name="Rounded Rectangle 22"/>
          <p:cNvSpPr/>
          <p:nvPr/>
        </p:nvSpPr>
        <p:spPr>
          <a:xfrm>
            <a:off x="7205472" y="4937760"/>
            <a:ext cx="4526280" cy="1307592"/>
          </a:xfrm>
          <a:prstGeom prst="roundRect">
            <a:avLst/>
          </a:prstGeom>
          <a:solidFill>
            <a:srgbClr val="0B1F3A"/>
          </a:solidFill>
          <a:ln w="10160">
            <a:solidFill>
              <a:srgbClr val="0B1F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424927" y="5138928"/>
            <a:ext cx="4078224" cy="164592"/>
          </a:xfrm>
          <a:prstGeom prst="rect">
            <a:avLst/>
          </a:prstGeom>
          <a:noFill/>
        </p:spPr>
        <p:txBody>
          <a:bodyPr wrap="square" lIns="0" rIns="0" tIns="0" bIns="0" anchor="t">
            <a:spAutoFit/>
          </a:bodyPr>
          <a:lstStyle/>
          <a:p>
            <a:pPr algn="l">
              <a:lnSpc>
                <a:spcPct val="100000"/>
              </a:lnSpc>
              <a:spcAft>
                <a:spcPts val="0"/>
              </a:spcAft>
            </a:pPr>
            <a:r>
              <a:rPr sz="780" b="1">
                <a:solidFill>
                  <a:srgbClr val="80D8CA"/>
                </a:solidFill>
                <a:latin typeface="Aptos"/>
              </a:rPr>
              <a:t>PATIENT-SPECIFIC TISSUE</a:t>
            </a:r>
          </a:p>
        </p:txBody>
      </p:sp>
      <p:sp>
        <p:nvSpPr>
          <p:cNvPr id="25" name="TextBox 24"/>
          <p:cNvSpPr txBox="1"/>
          <p:nvPr/>
        </p:nvSpPr>
        <p:spPr>
          <a:xfrm>
            <a:off x="7424927" y="5413248"/>
            <a:ext cx="4078224" cy="621792"/>
          </a:xfrm>
          <a:prstGeom prst="rect">
            <a:avLst/>
          </a:prstGeom>
          <a:noFill/>
        </p:spPr>
        <p:txBody>
          <a:bodyPr wrap="square" lIns="0" rIns="0" tIns="0" bIns="0" anchor="t">
            <a:spAutoFit/>
          </a:bodyPr>
          <a:lstStyle/>
          <a:p>
            <a:pPr algn="l">
              <a:lnSpc>
                <a:spcPct val="103000"/>
              </a:lnSpc>
              <a:spcAft>
                <a:spcPts val="0"/>
              </a:spcAft>
            </a:pPr>
            <a:r>
              <a:rPr sz="1040" b="0">
                <a:solidFill>
                  <a:srgbClr val="FFFFFF"/>
                </a:solidFill>
                <a:latin typeface="Aptos"/>
              </a:rPr>
              <a:t>Tissue printed from a patient's own cells can eliminate cross-reactive rejection — reducing lifelong immunosuppression, clinical burden and ongoing drug cost.</a:t>
            </a:r>
          </a:p>
        </p:txBody>
      </p:sp>
      <p:sp>
        <p:nvSpPr>
          <p:cNvPr id="26" name="TextBox 25"/>
          <p:cNvSpPr txBox="1"/>
          <p:nvPr/>
        </p:nvSpPr>
        <p:spPr>
          <a:xfrm>
            <a:off x="7424927" y="6053328"/>
            <a:ext cx="4078224" cy="128016"/>
          </a:xfrm>
          <a:prstGeom prst="rect">
            <a:avLst/>
          </a:prstGeom>
          <a:noFill/>
        </p:spPr>
        <p:txBody>
          <a:bodyPr wrap="square" lIns="0" rIns="0" tIns="0" bIns="0" anchor="t">
            <a:spAutoFit/>
          </a:bodyPr>
          <a:lstStyle/>
          <a:p>
            <a:pPr algn="l">
              <a:lnSpc>
                <a:spcPct val="100000"/>
              </a:lnSpc>
              <a:spcAft>
                <a:spcPts val="0"/>
              </a:spcAft>
            </a:pPr>
            <a:r>
              <a:rPr sz="680" b="0">
                <a:solidFill>
                  <a:srgbClr val="B9C6D3"/>
                </a:solidFill>
                <a:latin typeface="Aptos"/>
              </a:rPr>
              <a:t>Sources: AHA 2025 Heart Disease &amp; Stroke Statistics; WHO Global Observatory.</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Rectangle 1"/>
          <p:cNvSpPr/>
          <p:nvPr/>
        </p:nvSpPr>
        <p:spPr>
          <a:xfrm>
            <a:off x="457200" y="256032"/>
            <a:ext cx="54864" cy="219456"/>
          </a:xfrm>
          <a:prstGeom prst="rect">
            <a:avLst/>
          </a:prstGeom>
          <a:solidFill>
            <a:srgbClr val="00A991"/>
          </a:solidFill>
          <a:ln>
            <a:solidFill>
              <a:srgbClr val="00A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3504" y="256032"/>
            <a:ext cx="4114800" cy="164592"/>
          </a:xfrm>
          <a:prstGeom prst="rect">
            <a:avLst/>
          </a:prstGeom>
          <a:noFill/>
        </p:spPr>
        <p:txBody>
          <a:bodyPr wrap="square" lIns="0" rIns="0" tIns="0" bIns="0" anchor="t">
            <a:spAutoFit/>
          </a:bodyPr>
          <a:lstStyle/>
          <a:p>
            <a:pPr algn="l">
              <a:lnSpc>
                <a:spcPct val="100000"/>
              </a:lnSpc>
              <a:spcAft>
                <a:spcPts val="0"/>
              </a:spcAft>
            </a:pPr>
            <a:r>
              <a:rPr sz="770" b="1">
                <a:solidFill>
                  <a:srgbClr val="087F72"/>
                </a:solidFill>
                <a:latin typeface="Aptos"/>
              </a:rPr>
              <a:t>THE CORE CONSTRAINT</a:t>
            </a:r>
          </a:p>
        </p:txBody>
      </p:sp>
      <p:sp>
        <p:nvSpPr>
          <p:cNvPr id="4" name="TextBox 3"/>
          <p:cNvSpPr txBox="1"/>
          <p:nvPr/>
        </p:nvSpPr>
        <p:spPr>
          <a:xfrm>
            <a:off x="457200" y="530352"/>
            <a:ext cx="11064240" cy="475488"/>
          </a:xfrm>
          <a:prstGeom prst="rect">
            <a:avLst/>
          </a:prstGeom>
          <a:noFill/>
        </p:spPr>
        <p:txBody>
          <a:bodyPr wrap="square" lIns="0" rIns="0" tIns="0" bIns="0" anchor="t">
            <a:spAutoFit/>
          </a:bodyPr>
          <a:lstStyle/>
          <a:p>
            <a:pPr algn="l">
              <a:lnSpc>
                <a:spcPct val="100000"/>
              </a:lnSpc>
              <a:spcAft>
                <a:spcPts val="0"/>
              </a:spcAft>
            </a:pPr>
            <a:r>
              <a:rPr sz="2550" b="1">
                <a:solidFill>
                  <a:srgbClr val="0B1F3A"/>
                </a:solidFill>
                <a:latin typeface="Aptos Display"/>
              </a:rPr>
              <a:t>Why Earth-Based Bioprinting Has a Hard Ceiling</a:t>
            </a:r>
          </a:p>
        </p:txBody>
      </p:sp>
      <p:sp>
        <p:nvSpPr>
          <p:cNvPr id="5" name="TextBox 4"/>
          <p:cNvSpPr txBox="1"/>
          <p:nvPr/>
        </p:nvSpPr>
        <p:spPr>
          <a:xfrm>
            <a:off x="457200" y="1051560"/>
            <a:ext cx="11064240" cy="246888"/>
          </a:xfrm>
          <a:prstGeom prst="rect">
            <a:avLst/>
          </a:prstGeom>
          <a:noFill/>
        </p:spPr>
        <p:txBody>
          <a:bodyPr wrap="square" lIns="0" rIns="0" tIns="0" bIns="0" anchor="t">
            <a:spAutoFit/>
          </a:bodyPr>
          <a:lstStyle/>
          <a:p>
            <a:pPr algn="l">
              <a:lnSpc>
                <a:spcPct val="100000"/>
              </a:lnSpc>
              <a:spcAft>
                <a:spcPts val="0"/>
              </a:spcAft>
            </a:pPr>
            <a:r>
              <a:rPr sz="1019" b="0">
                <a:solidFill>
                  <a:srgbClr val="50657B"/>
                </a:solidFill>
                <a:latin typeface="Aptos"/>
              </a:rPr>
              <a:t>Gravity forces tissue to collapse during printing; microgravity removes the scaffold constraint entirely.</a:t>
            </a:r>
          </a:p>
        </p:txBody>
      </p:sp>
      <p:cxnSp>
        <p:nvCxnSpPr>
          <p:cNvPr id="6" name="Connector 5"/>
          <p:cNvCxnSpPr/>
          <p:nvPr/>
        </p:nvCxnSpPr>
        <p:spPr>
          <a:xfrm>
            <a:off x="457200" y="6510528"/>
            <a:ext cx="11274552" cy="0"/>
          </a:xfrm>
          <a:prstGeom prst="line">
            <a:avLst/>
          </a:prstGeom>
          <a:ln w="7620">
            <a:solidFill>
              <a:srgbClr val="D7E1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57200" y="6565392"/>
            <a:ext cx="1645920" cy="109728"/>
          </a:xfrm>
          <a:prstGeom prst="rect">
            <a:avLst/>
          </a:prstGeom>
          <a:noFill/>
        </p:spPr>
        <p:txBody>
          <a:bodyPr wrap="square" lIns="0" rIns="0" tIns="0" bIns="0" anchor="t">
            <a:spAutoFit/>
          </a:bodyPr>
          <a:lstStyle/>
          <a:p>
            <a:pPr algn="l">
              <a:lnSpc>
                <a:spcPct val="100000"/>
              </a:lnSpc>
              <a:spcAft>
                <a:spcPts val="0"/>
              </a:spcAft>
            </a:pPr>
            <a:r>
              <a:rPr sz="670" b="1">
                <a:solidFill>
                  <a:srgbClr val="708399"/>
                </a:solidFill>
                <a:latin typeface="Aptos"/>
              </a:rPr>
              <a:t>SAMUEL SPACE</a:t>
            </a:r>
          </a:p>
        </p:txBody>
      </p:sp>
      <p:sp>
        <p:nvSpPr>
          <p:cNvPr id="8" name="TextBox 7"/>
          <p:cNvSpPr txBox="1"/>
          <p:nvPr/>
        </p:nvSpPr>
        <p:spPr>
          <a:xfrm>
            <a:off x="10927080" y="6565392"/>
            <a:ext cx="804672" cy="109728"/>
          </a:xfrm>
          <a:prstGeom prst="rect">
            <a:avLst/>
          </a:prstGeom>
          <a:noFill/>
        </p:spPr>
        <p:txBody>
          <a:bodyPr wrap="square" lIns="0" rIns="0" tIns="0" bIns="0" anchor="t">
            <a:spAutoFit/>
          </a:bodyPr>
          <a:lstStyle/>
          <a:p>
            <a:pPr algn="r">
              <a:lnSpc>
                <a:spcPct val="100000"/>
              </a:lnSpc>
              <a:spcAft>
                <a:spcPts val="0"/>
              </a:spcAft>
            </a:pPr>
            <a:r>
              <a:rPr sz="670" b="1">
                <a:solidFill>
                  <a:srgbClr val="708399"/>
                </a:solidFill>
                <a:latin typeface="Aptos"/>
              </a:rPr>
              <a:t>05 / 21</a:t>
            </a:r>
          </a:p>
        </p:txBody>
      </p:sp>
      <p:sp>
        <p:nvSpPr>
          <p:cNvPr id="9" name="Rounded Rectangle 8"/>
          <p:cNvSpPr/>
          <p:nvPr/>
        </p:nvSpPr>
        <p:spPr>
          <a:xfrm>
            <a:off x="457200" y="1490472"/>
            <a:ext cx="5504688" cy="4791456"/>
          </a:xfrm>
          <a:prstGeom prst="roundRect">
            <a:avLst/>
          </a:prstGeom>
          <a:solidFill>
            <a:srgbClr val="E7F0F7"/>
          </a:solidFill>
          <a:ln w="10160">
            <a:solidFill>
              <a:srgbClr val="C9DCE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27064" y="1490472"/>
            <a:ext cx="5504688" cy="4791456"/>
          </a:xfrm>
          <a:prstGeom prst="roundRect">
            <a:avLst/>
          </a:prstGeom>
          <a:solidFill>
            <a:srgbClr val="EDF9F6"/>
          </a:solidFill>
          <a:ln w="10160">
            <a:solidFill>
              <a:srgbClr val="BDE9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ounded Rectangle 10"/>
          <p:cNvSpPr/>
          <p:nvPr/>
        </p:nvSpPr>
        <p:spPr>
          <a:xfrm>
            <a:off x="694944" y="1709928"/>
            <a:ext cx="1600200" cy="256032"/>
          </a:xfrm>
          <a:prstGeom prst="roundRect">
            <a:avLst/>
          </a:prstGeom>
          <a:solidFill>
            <a:srgbClr val="FFFFFF"/>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94944" y="1709928"/>
            <a:ext cx="1600200" cy="256032"/>
          </a:xfrm>
          <a:prstGeom prst="rect">
            <a:avLst/>
          </a:prstGeom>
          <a:noFill/>
        </p:spPr>
        <p:txBody>
          <a:bodyPr wrap="square" lIns="0" rIns="0" tIns="0" bIns="0" anchor="ctr">
            <a:spAutoFit/>
          </a:bodyPr>
          <a:lstStyle/>
          <a:p>
            <a:pPr algn="ctr">
              <a:lnSpc>
                <a:spcPct val="100000"/>
              </a:lnSpc>
              <a:spcAft>
                <a:spcPts val="0"/>
              </a:spcAft>
            </a:pPr>
            <a:r>
              <a:rPr sz="800" b="1">
                <a:solidFill>
                  <a:srgbClr val="2B6B93"/>
                </a:solidFill>
                <a:latin typeface="Aptos"/>
              </a:rPr>
              <a:t>EARTH GRAVITY</a:t>
            </a:r>
          </a:p>
        </p:txBody>
      </p:sp>
      <p:sp>
        <p:nvSpPr>
          <p:cNvPr id="13" name="Rounded Rectangle 12"/>
          <p:cNvSpPr/>
          <p:nvPr/>
        </p:nvSpPr>
        <p:spPr>
          <a:xfrm>
            <a:off x="6464808" y="1709928"/>
            <a:ext cx="2231136" cy="256032"/>
          </a:xfrm>
          <a:prstGeom prst="roundRect">
            <a:avLst/>
          </a:prstGeom>
          <a:solidFill>
            <a:srgbClr val="FFFFFF"/>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464808" y="1709928"/>
            <a:ext cx="2231136" cy="256032"/>
          </a:xfrm>
          <a:prstGeom prst="rect">
            <a:avLst/>
          </a:prstGeom>
          <a:noFill/>
        </p:spPr>
        <p:txBody>
          <a:bodyPr wrap="square" lIns="0" rIns="0" tIns="0" bIns="0" anchor="ctr">
            <a:spAutoFit/>
          </a:bodyPr>
          <a:lstStyle/>
          <a:p>
            <a:pPr algn="ctr">
              <a:lnSpc>
                <a:spcPct val="100000"/>
              </a:lnSpc>
              <a:spcAft>
                <a:spcPts val="0"/>
              </a:spcAft>
            </a:pPr>
            <a:r>
              <a:rPr sz="800" b="1">
                <a:solidFill>
                  <a:srgbClr val="087F72"/>
                </a:solidFill>
                <a:latin typeface="Aptos"/>
              </a:rPr>
              <a:t>MICROGRAVITY / ISS ORBIT</a:t>
            </a:r>
          </a:p>
        </p:txBody>
      </p:sp>
      <p:cxnSp>
        <p:nvCxnSpPr>
          <p:cNvPr id="15" name="Connector 14"/>
          <p:cNvCxnSpPr/>
          <p:nvPr/>
        </p:nvCxnSpPr>
        <p:spPr>
          <a:xfrm>
            <a:off x="1234440" y="3858768"/>
            <a:ext cx="3950208" cy="0"/>
          </a:xfrm>
          <a:prstGeom prst="line">
            <a:avLst/>
          </a:prstGeom>
          <a:ln w="20320">
            <a:solidFill>
              <a:srgbClr val="2B6B93"/>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920240" y="2286000"/>
            <a:ext cx="0" cy="548640"/>
          </a:xfrm>
          <a:prstGeom prst="line">
            <a:avLst/>
          </a:prstGeom>
          <a:ln w="15240">
            <a:solidFill>
              <a:srgbClr val="2B6B93"/>
            </a:solidFill>
          </a:ln>
        </p:spPr>
        <p:style>
          <a:lnRef idx="2">
            <a:schemeClr val="accent1"/>
          </a:lnRef>
          <a:fillRef idx="0">
            <a:schemeClr val="accent1"/>
          </a:fillRef>
          <a:effectRef idx="1">
            <a:schemeClr val="accent1"/>
          </a:effectRef>
          <a:fontRef idx="minor">
            <a:schemeClr val="tx1"/>
          </a:fontRef>
        </p:style>
      </p:cxnSp>
      <p:sp>
        <p:nvSpPr>
          <p:cNvPr id="17" name="Isosceles Triangle 16"/>
          <p:cNvSpPr/>
          <p:nvPr/>
        </p:nvSpPr>
        <p:spPr>
          <a:xfrm rot="10800000">
            <a:off x="1847088" y="2752344"/>
            <a:ext cx="146304" cy="128016"/>
          </a:xfrm>
          <a:prstGeom prst="triangle">
            <a:avLst/>
          </a:prstGeom>
          <a:solidFill>
            <a:srgbClr val="2B6B93"/>
          </a:solidFill>
          <a:ln w="10160">
            <a:solidFill>
              <a:srgbClr val="2B6B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8" name="Connector 17"/>
          <p:cNvCxnSpPr/>
          <p:nvPr/>
        </p:nvCxnSpPr>
        <p:spPr>
          <a:xfrm>
            <a:off x="2788920" y="2286000"/>
            <a:ext cx="0" cy="548640"/>
          </a:xfrm>
          <a:prstGeom prst="line">
            <a:avLst/>
          </a:prstGeom>
          <a:ln w="15240">
            <a:solidFill>
              <a:srgbClr val="2B6B93"/>
            </a:solidFill>
          </a:ln>
        </p:spPr>
        <p:style>
          <a:lnRef idx="2">
            <a:schemeClr val="accent1"/>
          </a:lnRef>
          <a:fillRef idx="0">
            <a:schemeClr val="accent1"/>
          </a:fillRef>
          <a:effectRef idx="1">
            <a:schemeClr val="accent1"/>
          </a:effectRef>
          <a:fontRef idx="minor">
            <a:schemeClr val="tx1"/>
          </a:fontRef>
        </p:style>
      </p:cxnSp>
      <p:sp>
        <p:nvSpPr>
          <p:cNvPr id="19" name="Isosceles Triangle 18"/>
          <p:cNvSpPr/>
          <p:nvPr/>
        </p:nvSpPr>
        <p:spPr>
          <a:xfrm rot="10800000">
            <a:off x="2715768" y="2752344"/>
            <a:ext cx="146304" cy="128016"/>
          </a:xfrm>
          <a:prstGeom prst="triangle">
            <a:avLst/>
          </a:prstGeom>
          <a:solidFill>
            <a:srgbClr val="2B6B93"/>
          </a:solidFill>
          <a:ln w="10160">
            <a:solidFill>
              <a:srgbClr val="2B6B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0" name="Connector 19"/>
          <p:cNvCxnSpPr/>
          <p:nvPr/>
        </p:nvCxnSpPr>
        <p:spPr>
          <a:xfrm>
            <a:off x="3657600" y="2286000"/>
            <a:ext cx="0" cy="548640"/>
          </a:xfrm>
          <a:prstGeom prst="line">
            <a:avLst/>
          </a:prstGeom>
          <a:ln w="15240">
            <a:solidFill>
              <a:srgbClr val="2B6B93"/>
            </a:solidFill>
          </a:ln>
        </p:spPr>
        <p:style>
          <a:lnRef idx="2">
            <a:schemeClr val="accent1"/>
          </a:lnRef>
          <a:fillRef idx="0">
            <a:schemeClr val="accent1"/>
          </a:fillRef>
          <a:effectRef idx="1">
            <a:schemeClr val="accent1"/>
          </a:effectRef>
          <a:fontRef idx="minor">
            <a:schemeClr val="tx1"/>
          </a:fontRef>
        </p:style>
      </p:cxnSp>
      <p:sp>
        <p:nvSpPr>
          <p:cNvPr id="21" name="Isosceles Triangle 20"/>
          <p:cNvSpPr/>
          <p:nvPr/>
        </p:nvSpPr>
        <p:spPr>
          <a:xfrm rot="10800000">
            <a:off x="3584448" y="2752344"/>
            <a:ext cx="146304" cy="128016"/>
          </a:xfrm>
          <a:prstGeom prst="triangle">
            <a:avLst/>
          </a:prstGeom>
          <a:solidFill>
            <a:srgbClr val="2B6B93"/>
          </a:solidFill>
          <a:ln w="10160">
            <a:solidFill>
              <a:srgbClr val="2B6B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22" name="Connector 21"/>
          <p:cNvCxnSpPr/>
          <p:nvPr/>
        </p:nvCxnSpPr>
        <p:spPr>
          <a:xfrm>
            <a:off x="4526280" y="2286000"/>
            <a:ext cx="0" cy="548640"/>
          </a:xfrm>
          <a:prstGeom prst="line">
            <a:avLst/>
          </a:prstGeom>
          <a:ln w="15240">
            <a:solidFill>
              <a:srgbClr val="2B6B93"/>
            </a:solidFill>
          </a:ln>
        </p:spPr>
        <p:style>
          <a:lnRef idx="2">
            <a:schemeClr val="accent1"/>
          </a:lnRef>
          <a:fillRef idx="0">
            <a:schemeClr val="accent1"/>
          </a:fillRef>
          <a:effectRef idx="1">
            <a:schemeClr val="accent1"/>
          </a:effectRef>
          <a:fontRef idx="minor">
            <a:schemeClr val="tx1"/>
          </a:fontRef>
        </p:style>
      </p:cxnSp>
      <p:sp>
        <p:nvSpPr>
          <p:cNvPr id="23" name="Isosceles Triangle 22"/>
          <p:cNvSpPr/>
          <p:nvPr/>
        </p:nvSpPr>
        <p:spPr>
          <a:xfrm rot="10800000">
            <a:off x="4453128" y="2752344"/>
            <a:ext cx="146304" cy="128016"/>
          </a:xfrm>
          <a:prstGeom prst="triangle">
            <a:avLst/>
          </a:prstGeom>
          <a:solidFill>
            <a:srgbClr val="2B6B93"/>
          </a:solidFill>
          <a:ln w="10160">
            <a:solidFill>
              <a:srgbClr val="2B6B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Oval 23"/>
          <p:cNvSpPr/>
          <p:nvPr/>
        </p:nvSpPr>
        <p:spPr>
          <a:xfrm>
            <a:off x="1874519" y="3255264"/>
            <a:ext cx="411480" cy="296265"/>
          </a:xfrm>
          <a:prstGeom prst="ellipse">
            <a:avLst/>
          </a:prstGeom>
          <a:solidFill>
            <a:srgbClr val="82B8D0"/>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Oval 24"/>
          <p:cNvSpPr/>
          <p:nvPr/>
        </p:nvSpPr>
        <p:spPr>
          <a:xfrm>
            <a:off x="2212848" y="3364992"/>
            <a:ext cx="347472" cy="250179"/>
          </a:xfrm>
          <a:prstGeom prst="ellipse">
            <a:avLst/>
          </a:prstGeom>
          <a:solidFill>
            <a:srgbClr val="82B8D0"/>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2834640" y="3310128"/>
            <a:ext cx="475488" cy="342351"/>
          </a:xfrm>
          <a:prstGeom prst="ellipse">
            <a:avLst/>
          </a:prstGeom>
          <a:solidFill>
            <a:srgbClr val="82B8D0"/>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3273552" y="3419856"/>
            <a:ext cx="347472" cy="250179"/>
          </a:xfrm>
          <a:prstGeom prst="ellipse">
            <a:avLst/>
          </a:prstGeom>
          <a:solidFill>
            <a:srgbClr val="82B8D0"/>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Oval 27"/>
          <p:cNvSpPr/>
          <p:nvPr/>
        </p:nvSpPr>
        <p:spPr>
          <a:xfrm>
            <a:off x="3886200" y="3291840"/>
            <a:ext cx="438912" cy="316016"/>
          </a:xfrm>
          <a:prstGeom prst="ellipse">
            <a:avLst/>
          </a:prstGeom>
          <a:solidFill>
            <a:srgbClr val="82B8D0"/>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4279392" y="3401568"/>
            <a:ext cx="329184" cy="237012"/>
          </a:xfrm>
          <a:prstGeom prst="ellipse">
            <a:avLst/>
          </a:prstGeom>
          <a:solidFill>
            <a:srgbClr val="82B8D0"/>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0" name="Connector 29"/>
          <p:cNvCxnSpPr/>
          <p:nvPr/>
        </p:nvCxnSpPr>
        <p:spPr>
          <a:xfrm>
            <a:off x="1581912" y="3858768"/>
            <a:ext cx="0" cy="292608"/>
          </a:xfrm>
          <a:prstGeom prst="line">
            <a:avLst/>
          </a:prstGeom>
          <a:ln w="10160">
            <a:solidFill>
              <a:srgbClr val="7AA8C1"/>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2057400" y="3858768"/>
            <a:ext cx="0" cy="292608"/>
          </a:xfrm>
          <a:prstGeom prst="line">
            <a:avLst/>
          </a:prstGeom>
          <a:ln w="10160">
            <a:solidFill>
              <a:srgbClr val="7AA8C1"/>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2532888" y="3858768"/>
            <a:ext cx="0" cy="292608"/>
          </a:xfrm>
          <a:prstGeom prst="line">
            <a:avLst/>
          </a:prstGeom>
          <a:ln w="10160">
            <a:solidFill>
              <a:srgbClr val="7AA8C1"/>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3008376" y="3858768"/>
            <a:ext cx="0" cy="292608"/>
          </a:xfrm>
          <a:prstGeom prst="line">
            <a:avLst/>
          </a:prstGeom>
          <a:ln w="10160">
            <a:solidFill>
              <a:srgbClr val="7AA8C1"/>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3483864" y="3858768"/>
            <a:ext cx="0" cy="292608"/>
          </a:xfrm>
          <a:prstGeom prst="line">
            <a:avLst/>
          </a:prstGeom>
          <a:ln w="10160">
            <a:solidFill>
              <a:srgbClr val="7AA8C1"/>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3959352" y="3858768"/>
            <a:ext cx="0" cy="292608"/>
          </a:xfrm>
          <a:prstGeom prst="line">
            <a:avLst/>
          </a:prstGeom>
          <a:ln w="10160">
            <a:solidFill>
              <a:srgbClr val="7AA8C1"/>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4434840" y="3858768"/>
            <a:ext cx="0" cy="292608"/>
          </a:xfrm>
          <a:prstGeom prst="line">
            <a:avLst/>
          </a:prstGeom>
          <a:ln w="10160">
            <a:solidFill>
              <a:srgbClr val="7AA8C1"/>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4910328" y="3858768"/>
            <a:ext cx="0" cy="292608"/>
          </a:xfrm>
          <a:prstGeom prst="line">
            <a:avLst/>
          </a:prstGeom>
          <a:ln w="10160">
            <a:solidFill>
              <a:srgbClr val="7AA8C1"/>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1280160" y="4178808"/>
            <a:ext cx="3840480" cy="201168"/>
          </a:xfrm>
          <a:prstGeom prst="rect">
            <a:avLst/>
          </a:prstGeom>
          <a:noFill/>
        </p:spPr>
        <p:txBody>
          <a:bodyPr wrap="square" lIns="0" rIns="0" tIns="0" bIns="0" anchor="t">
            <a:spAutoFit/>
          </a:bodyPr>
          <a:lstStyle/>
          <a:p>
            <a:pPr algn="ctr">
              <a:lnSpc>
                <a:spcPct val="100000"/>
              </a:lnSpc>
              <a:spcAft>
                <a:spcPts val="0"/>
              </a:spcAft>
            </a:pPr>
            <a:r>
              <a:rPr sz="850" b="1">
                <a:solidFill>
                  <a:srgbClr val="2B6B93"/>
                </a:solidFill>
                <a:latin typeface="Aptos"/>
              </a:rPr>
              <a:t>Scaffold + gravitational load</a:t>
            </a:r>
          </a:p>
        </p:txBody>
      </p:sp>
      <p:sp>
        <p:nvSpPr>
          <p:cNvPr id="39" name="TextBox 38"/>
          <p:cNvSpPr txBox="1"/>
          <p:nvPr/>
        </p:nvSpPr>
        <p:spPr>
          <a:xfrm>
            <a:off x="731520" y="4599432"/>
            <a:ext cx="4956048" cy="1353312"/>
          </a:xfrm>
          <a:prstGeom prst="rect">
            <a:avLst/>
          </a:prstGeom>
          <a:noFill/>
        </p:spPr>
        <p:txBody>
          <a:bodyPr wrap="square" lIns="0" rIns="0" tIns="0" bIns="0">
            <a:spAutoFit/>
          </a:bodyPr>
          <a:lstStyle/>
          <a:p>
            <a:pPr algn="l">
              <a:lnSpc>
                <a:spcPct val="100000"/>
              </a:lnSpc>
              <a:spcAft>
                <a:spcPts val="500"/>
              </a:spcAft>
            </a:pPr>
            <a:r>
              <a:rPr sz="1050" b="1">
                <a:solidFill>
                  <a:srgbClr val="2B6B93"/>
                </a:solidFill>
                <a:latin typeface="Aptos"/>
              </a:rPr>
              <a:t>• </a:t>
            </a:r>
            <a:r>
              <a:rPr sz="1050">
                <a:solidFill>
                  <a:srgbClr val="16324F"/>
                </a:solidFill>
                <a:latin typeface="Aptos"/>
              </a:rPr>
              <a:t>Cells slump and fuse unevenly under gravitational load</a:t>
            </a:r>
          </a:p>
          <a:p>
            <a:pPr algn="l">
              <a:lnSpc>
                <a:spcPct val="100000"/>
              </a:lnSpc>
              <a:spcAft>
                <a:spcPts val="500"/>
              </a:spcAft>
            </a:pPr>
            <a:r>
              <a:rPr sz="1050" b="1">
                <a:solidFill>
                  <a:srgbClr val="2B6B93"/>
                </a:solidFill>
                <a:latin typeface="Aptos"/>
              </a:rPr>
              <a:t>• </a:t>
            </a:r>
            <a:r>
              <a:rPr sz="1050">
                <a:solidFill>
                  <a:srgbClr val="16324F"/>
                </a:solidFill>
                <a:latin typeface="Aptos"/>
              </a:rPr>
              <a:t>Scaffold material is printed first, then must be dissolved</a:t>
            </a:r>
          </a:p>
          <a:p>
            <a:pPr algn="l">
              <a:lnSpc>
                <a:spcPct val="100000"/>
              </a:lnSpc>
              <a:spcAft>
                <a:spcPts val="500"/>
              </a:spcAft>
            </a:pPr>
            <a:r>
              <a:rPr sz="1050" b="1">
                <a:solidFill>
                  <a:srgbClr val="2B6B93"/>
                </a:solidFill>
                <a:latin typeface="Aptos"/>
              </a:rPr>
              <a:t>• </a:t>
            </a:r>
            <a:r>
              <a:rPr sz="1050">
                <a:solidFill>
                  <a:srgbClr val="16324F"/>
                </a:solidFill>
                <a:latin typeface="Aptos"/>
              </a:rPr>
              <a:t>Complex hollow structures, including heart chambers, remain extremely difficult</a:t>
            </a:r>
          </a:p>
        </p:txBody>
      </p:sp>
      <p:sp>
        <p:nvSpPr>
          <p:cNvPr id="40" name="Oval 39"/>
          <p:cNvSpPr/>
          <p:nvPr/>
        </p:nvSpPr>
        <p:spPr>
          <a:xfrm rot="720000">
            <a:off x="7616952" y="2331720"/>
            <a:ext cx="2880360" cy="1572768"/>
          </a:xfrm>
          <a:prstGeom prst="ellipse">
            <a:avLst/>
          </a:prstGeom>
          <a:noFill/>
          <a:ln w="12700">
            <a:solidFill>
              <a:srgbClr val="9BD9C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Oval 40"/>
          <p:cNvSpPr/>
          <p:nvPr/>
        </p:nvSpPr>
        <p:spPr>
          <a:xfrm rot="20400000">
            <a:off x="7973568" y="2130552"/>
            <a:ext cx="2176272" cy="1965960"/>
          </a:xfrm>
          <a:prstGeom prst="ellipse">
            <a:avLst/>
          </a:prstGeom>
          <a:noFill/>
          <a:ln w="12700">
            <a:solidFill>
              <a:srgbClr val="B2E4D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Oval 41"/>
          <p:cNvSpPr/>
          <p:nvPr/>
        </p:nvSpPr>
        <p:spPr>
          <a:xfrm>
            <a:off x="8378555" y="2949762"/>
            <a:ext cx="306324" cy="306324"/>
          </a:xfrm>
          <a:prstGeom prst="ellipse">
            <a:avLst/>
          </a:prstGeom>
          <a:solidFill>
            <a:srgbClr val="00A991"/>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Oval 42"/>
          <p:cNvSpPr/>
          <p:nvPr/>
        </p:nvSpPr>
        <p:spPr>
          <a:xfrm>
            <a:off x="8592982" y="2576047"/>
            <a:ext cx="367588" cy="367588"/>
          </a:xfrm>
          <a:prstGeom prst="ellipse">
            <a:avLst/>
          </a:prstGeom>
          <a:solidFill>
            <a:srgbClr val="39C6B5"/>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Oval 43"/>
          <p:cNvSpPr/>
          <p:nvPr/>
        </p:nvSpPr>
        <p:spPr>
          <a:xfrm>
            <a:off x="8972824" y="2551541"/>
            <a:ext cx="318576" cy="318576"/>
          </a:xfrm>
          <a:prstGeom prst="ellipse">
            <a:avLst/>
          </a:prstGeom>
          <a:solidFill>
            <a:srgbClr val="2B6B93"/>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Oval 44"/>
          <p:cNvSpPr/>
          <p:nvPr/>
        </p:nvSpPr>
        <p:spPr>
          <a:xfrm>
            <a:off x="9279148" y="2710830"/>
            <a:ext cx="343082" cy="343082"/>
          </a:xfrm>
          <a:prstGeom prst="ellipse">
            <a:avLst/>
          </a:prstGeom>
          <a:solidFill>
            <a:srgbClr val="A6DED5"/>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Oval 45"/>
          <p:cNvSpPr/>
          <p:nvPr/>
        </p:nvSpPr>
        <p:spPr>
          <a:xfrm>
            <a:off x="9426183" y="3090672"/>
            <a:ext cx="294071" cy="294071"/>
          </a:xfrm>
          <a:prstGeom prst="ellipse">
            <a:avLst/>
          </a:prstGeom>
          <a:solidFill>
            <a:srgbClr val="00A991"/>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Oval 46"/>
          <p:cNvSpPr/>
          <p:nvPr/>
        </p:nvSpPr>
        <p:spPr>
          <a:xfrm>
            <a:off x="9159681" y="3351047"/>
            <a:ext cx="336956" cy="336956"/>
          </a:xfrm>
          <a:prstGeom prst="ellipse">
            <a:avLst/>
          </a:prstGeom>
          <a:solidFill>
            <a:srgbClr val="39C6B5"/>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8770650" y="3354110"/>
            <a:ext cx="379841" cy="379841"/>
          </a:xfrm>
          <a:prstGeom prst="ellipse">
            <a:avLst/>
          </a:prstGeom>
          <a:solidFill>
            <a:srgbClr val="2B6B93"/>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8513338" y="3262213"/>
            <a:ext cx="294071" cy="294071"/>
          </a:xfrm>
          <a:prstGeom prst="ellipse">
            <a:avLst/>
          </a:prstGeom>
          <a:solidFill>
            <a:srgbClr val="A6DED5"/>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8740018" y="2882371"/>
            <a:ext cx="441106" cy="441106"/>
          </a:xfrm>
          <a:prstGeom prst="ellipse">
            <a:avLst/>
          </a:prstGeom>
          <a:solidFill>
            <a:srgbClr val="00A991"/>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9125986" y="2962015"/>
            <a:ext cx="404347" cy="404347"/>
          </a:xfrm>
          <a:prstGeom prst="ellipse">
            <a:avLst/>
          </a:prstGeom>
          <a:solidFill>
            <a:srgbClr val="39C6B5"/>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7717536" y="2578608"/>
            <a:ext cx="100584" cy="100584"/>
          </a:xfrm>
          <a:prstGeom prst="ellipse">
            <a:avLst/>
          </a:prstGeom>
          <a:solidFill>
            <a:srgbClr val="00A991"/>
          </a:solidFill>
          <a:ln w="10160">
            <a:solidFill>
              <a:srgbClr val="00A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Oval 52"/>
          <p:cNvSpPr/>
          <p:nvPr/>
        </p:nvSpPr>
        <p:spPr>
          <a:xfrm>
            <a:off x="10268712" y="3639312"/>
            <a:ext cx="82296" cy="82296"/>
          </a:xfrm>
          <a:prstGeom prst="ellipse">
            <a:avLst/>
          </a:prstGeom>
          <a:solidFill>
            <a:srgbClr val="2B6B93"/>
          </a:solidFill>
          <a:ln w="10160">
            <a:solidFill>
              <a:srgbClr val="2B6B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4" name="TextBox 53"/>
          <p:cNvSpPr txBox="1"/>
          <p:nvPr/>
        </p:nvSpPr>
        <p:spPr>
          <a:xfrm>
            <a:off x="7059168" y="4178808"/>
            <a:ext cx="3840480" cy="201168"/>
          </a:xfrm>
          <a:prstGeom prst="rect">
            <a:avLst/>
          </a:prstGeom>
          <a:noFill/>
        </p:spPr>
        <p:txBody>
          <a:bodyPr wrap="square" lIns="0" rIns="0" tIns="0" bIns="0" anchor="t">
            <a:spAutoFit/>
          </a:bodyPr>
          <a:lstStyle/>
          <a:p>
            <a:pPr algn="ctr">
              <a:lnSpc>
                <a:spcPct val="100000"/>
              </a:lnSpc>
              <a:spcAft>
                <a:spcPts val="0"/>
              </a:spcAft>
            </a:pPr>
            <a:r>
              <a:rPr sz="850" b="1">
                <a:solidFill>
                  <a:srgbClr val="087F72"/>
                </a:solidFill>
                <a:latin typeface="Aptos"/>
              </a:rPr>
              <a:t>Self-supporting tissue in true 3D</a:t>
            </a:r>
          </a:p>
        </p:txBody>
      </p:sp>
      <p:sp>
        <p:nvSpPr>
          <p:cNvPr id="55" name="TextBox 54"/>
          <p:cNvSpPr txBox="1"/>
          <p:nvPr/>
        </p:nvSpPr>
        <p:spPr>
          <a:xfrm>
            <a:off x="6501384" y="4599432"/>
            <a:ext cx="4956048" cy="1353312"/>
          </a:xfrm>
          <a:prstGeom prst="rect">
            <a:avLst/>
          </a:prstGeom>
          <a:noFill/>
        </p:spPr>
        <p:txBody>
          <a:bodyPr wrap="square" lIns="0" rIns="0" tIns="0" bIns="0">
            <a:spAutoFit/>
          </a:bodyPr>
          <a:lstStyle/>
          <a:p>
            <a:pPr algn="l">
              <a:lnSpc>
                <a:spcPct val="100000"/>
              </a:lnSpc>
              <a:spcAft>
                <a:spcPts val="500"/>
              </a:spcAft>
            </a:pPr>
            <a:r>
              <a:rPr sz="1050" b="1">
                <a:solidFill>
                  <a:srgbClr val="00A991"/>
                </a:solidFill>
                <a:latin typeface="Aptos"/>
              </a:rPr>
              <a:t>• </a:t>
            </a:r>
            <a:r>
              <a:rPr sz="1050">
                <a:solidFill>
                  <a:srgbClr val="16324F"/>
                </a:solidFill>
                <a:latin typeface="Aptos"/>
              </a:rPr>
              <a:t>Tissue self-supports in true 3D — no temporary scaffold required</a:t>
            </a:r>
          </a:p>
          <a:p>
            <a:pPr algn="l">
              <a:lnSpc>
                <a:spcPct val="100000"/>
              </a:lnSpc>
              <a:spcAft>
                <a:spcPts val="500"/>
              </a:spcAft>
            </a:pPr>
            <a:r>
              <a:rPr sz="1050" b="1">
                <a:solidFill>
                  <a:srgbClr val="00A991"/>
                </a:solidFill>
                <a:latin typeface="Aptos"/>
              </a:rPr>
              <a:t>• </a:t>
            </a:r>
            <a:r>
              <a:rPr sz="1050">
                <a:solidFill>
                  <a:srgbClr val="16324F"/>
                </a:solidFill>
                <a:latin typeface="Aptos"/>
              </a:rPr>
              <a:t>Cell distribution and structural integrity are more uniform</a:t>
            </a:r>
          </a:p>
          <a:p>
            <a:pPr algn="l">
              <a:lnSpc>
                <a:spcPct val="100000"/>
              </a:lnSpc>
              <a:spcAft>
                <a:spcPts val="500"/>
              </a:spcAft>
            </a:pPr>
            <a:r>
              <a:rPr sz="1050" b="1">
                <a:solidFill>
                  <a:srgbClr val="00A991"/>
                </a:solidFill>
                <a:latin typeface="Aptos"/>
              </a:rPr>
              <a:t>• </a:t>
            </a:r>
            <a:r>
              <a:rPr sz="1050">
                <a:solidFill>
                  <a:srgbClr val="16324F"/>
                </a:solidFill>
                <a:latin typeface="Aptos"/>
              </a:rPr>
              <a:t>Complex vascular and hollow geometries become achievable</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Rectangle 1"/>
          <p:cNvSpPr/>
          <p:nvPr/>
        </p:nvSpPr>
        <p:spPr>
          <a:xfrm>
            <a:off x="457200" y="256032"/>
            <a:ext cx="54864" cy="219456"/>
          </a:xfrm>
          <a:prstGeom prst="rect">
            <a:avLst/>
          </a:prstGeom>
          <a:solidFill>
            <a:srgbClr val="00A991"/>
          </a:solidFill>
          <a:ln>
            <a:solidFill>
              <a:srgbClr val="00A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3504" y="256032"/>
            <a:ext cx="4114800" cy="164592"/>
          </a:xfrm>
          <a:prstGeom prst="rect">
            <a:avLst/>
          </a:prstGeom>
          <a:noFill/>
        </p:spPr>
        <p:txBody>
          <a:bodyPr wrap="square" lIns="0" rIns="0" tIns="0" bIns="0" anchor="t">
            <a:spAutoFit/>
          </a:bodyPr>
          <a:lstStyle/>
          <a:p>
            <a:pPr algn="l">
              <a:lnSpc>
                <a:spcPct val="100000"/>
              </a:lnSpc>
              <a:spcAft>
                <a:spcPts val="0"/>
              </a:spcAft>
            </a:pPr>
            <a:r>
              <a:rPr sz="770" b="1">
                <a:solidFill>
                  <a:srgbClr val="087F72"/>
                </a:solidFill>
                <a:latin typeface="Aptos"/>
              </a:rPr>
              <a:t>THE TECHNOLOGY</a:t>
            </a:r>
          </a:p>
        </p:txBody>
      </p:sp>
      <p:sp>
        <p:nvSpPr>
          <p:cNvPr id="4" name="TextBox 3"/>
          <p:cNvSpPr txBox="1"/>
          <p:nvPr/>
        </p:nvSpPr>
        <p:spPr>
          <a:xfrm>
            <a:off x="457200" y="530352"/>
            <a:ext cx="11064240" cy="475488"/>
          </a:xfrm>
          <a:prstGeom prst="rect">
            <a:avLst/>
          </a:prstGeom>
          <a:noFill/>
        </p:spPr>
        <p:txBody>
          <a:bodyPr wrap="square" lIns="0" rIns="0" tIns="0" bIns="0" anchor="t">
            <a:spAutoFit/>
          </a:bodyPr>
          <a:lstStyle/>
          <a:p>
            <a:pPr algn="l">
              <a:lnSpc>
                <a:spcPct val="100000"/>
              </a:lnSpc>
              <a:spcAft>
                <a:spcPts val="0"/>
              </a:spcAft>
            </a:pPr>
            <a:r>
              <a:rPr sz="2550" b="1">
                <a:solidFill>
                  <a:srgbClr val="0B1F3A"/>
                </a:solidFill>
                <a:latin typeface="Aptos Display"/>
              </a:rPr>
              <a:t>How Space-Based Bioprinting Works</a:t>
            </a:r>
          </a:p>
        </p:txBody>
      </p:sp>
      <p:sp>
        <p:nvSpPr>
          <p:cNvPr id="5" name="TextBox 4"/>
          <p:cNvSpPr txBox="1"/>
          <p:nvPr/>
        </p:nvSpPr>
        <p:spPr>
          <a:xfrm>
            <a:off x="457200" y="1051560"/>
            <a:ext cx="11064240" cy="246888"/>
          </a:xfrm>
          <a:prstGeom prst="rect">
            <a:avLst/>
          </a:prstGeom>
          <a:noFill/>
        </p:spPr>
        <p:txBody>
          <a:bodyPr wrap="square" lIns="0" rIns="0" tIns="0" bIns="0" anchor="t">
            <a:spAutoFit/>
          </a:bodyPr>
          <a:lstStyle/>
          <a:p>
            <a:pPr algn="l">
              <a:lnSpc>
                <a:spcPct val="100000"/>
              </a:lnSpc>
              <a:spcAft>
                <a:spcPts val="0"/>
              </a:spcAft>
            </a:pPr>
            <a:r>
              <a:rPr sz="1019" b="0">
                <a:solidFill>
                  <a:srgbClr val="50657B"/>
                </a:solidFill>
                <a:latin typeface="Aptos"/>
              </a:rPr>
              <a:t>A five-step, patient-specific manufacturing workflow.</a:t>
            </a:r>
          </a:p>
        </p:txBody>
      </p:sp>
      <p:cxnSp>
        <p:nvCxnSpPr>
          <p:cNvPr id="6" name="Connector 5"/>
          <p:cNvCxnSpPr/>
          <p:nvPr/>
        </p:nvCxnSpPr>
        <p:spPr>
          <a:xfrm>
            <a:off x="457200" y="6510528"/>
            <a:ext cx="11274552" cy="0"/>
          </a:xfrm>
          <a:prstGeom prst="line">
            <a:avLst/>
          </a:prstGeom>
          <a:ln w="7620">
            <a:solidFill>
              <a:srgbClr val="D7E1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57200" y="6565392"/>
            <a:ext cx="1645920" cy="109728"/>
          </a:xfrm>
          <a:prstGeom prst="rect">
            <a:avLst/>
          </a:prstGeom>
          <a:noFill/>
        </p:spPr>
        <p:txBody>
          <a:bodyPr wrap="square" lIns="0" rIns="0" tIns="0" bIns="0" anchor="t">
            <a:spAutoFit/>
          </a:bodyPr>
          <a:lstStyle/>
          <a:p>
            <a:pPr algn="l">
              <a:lnSpc>
                <a:spcPct val="100000"/>
              </a:lnSpc>
              <a:spcAft>
                <a:spcPts val="0"/>
              </a:spcAft>
            </a:pPr>
            <a:r>
              <a:rPr sz="670" b="1">
                <a:solidFill>
                  <a:srgbClr val="708399"/>
                </a:solidFill>
                <a:latin typeface="Aptos"/>
              </a:rPr>
              <a:t>SAMUEL SPACE</a:t>
            </a:r>
          </a:p>
        </p:txBody>
      </p:sp>
      <p:sp>
        <p:nvSpPr>
          <p:cNvPr id="8" name="TextBox 7"/>
          <p:cNvSpPr txBox="1"/>
          <p:nvPr/>
        </p:nvSpPr>
        <p:spPr>
          <a:xfrm>
            <a:off x="10927080" y="6565392"/>
            <a:ext cx="804672" cy="109728"/>
          </a:xfrm>
          <a:prstGeom prst="rect">
            <a:avLst/>
          </a:prstGeom>
          <a:noFill/>
        </p:spPr>
        <p:txBody>
          <a:bodyPr wrap="square" lIns="0" rIns="0" tIns="0" bIns="0" anchor="t">
            <a:spAutoFit/>
          </a:bodyPr>
          <a:lstStyle/>
          <a:p>
            <a:pPr algn="r">
              <a:lnSpc>
                <a:spcPct val="100000"/>
              </a:lnSpc>
              <a:spcAft>
                <a:spcPts val="0"/>
              </a:spcAft>
            </a:pPr>
            <a:r>
              <a:rPr sz="670" b="1">
                <a:solidFill>
                  <a:srgbClr val="708399"/>
                </a:solidFill>
                <a:latin typeface="Aptos"/>
              </a:rPr>
              <a:t>06 / 21</a:t>
            </a:r>
          </a:p>
        </p:txBody>
      </p:sp>
      <p:cxnSp>
        <p:nvCxnSpPr>
          <p:cNvPr id="9" name="Connector 8"/>
          <p:cNvCxnSpPr/>
          <p:nvPr/>
        </p:nvCxnSpPr>
        <p:spPr>
          <a:xfrm>
            <a:off x="2487168" y="1901952"/>
            <a:ext cx="292608" cy="0"/>
          </a:xfrm>
          <a:prstGeom prst="line">
            <a:avLst/>
          </a:prstGeom>
          <a:ln w="17780">
            <a:solidFill>
              <a:srgbClr val="9BD9CE"/>
            </a:solidFill>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457200" y="1444752"/>
            <a:ext cx="2103120" cy="1874519"/>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621792" y="1609344"/>
            <a:ext cx="384048" cy="384048"/>
          </a:xfrm>
          <a:prstGeom prst="ellipse">
            <a:avLst/>
          </a:prstGeom>
          <a:solidFill>
            <a:srgbClr val="0B1F3A"/>
          </a:solidFill>
          <a:ln w="6350">
            <a:solidFill>
              <a:srgbClr val="0B1F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21792" y="1609344"/>
            <a:ext cx="384048" cy="384048"/>
          </a:xfrm>
          <a:prstGeom prst="rect">
            <a:avLst/>
          </a:prstGeom>
          <a:noFill/>
        </p:spPr>
        <p:txBody>
          <a:bodyPr wrap="square" lIns="0" rIns="0" tIns="0" bIns="0" anchor="ctr">
            <a:spAutoFit/>
          </a:bodyPr>
          <a:lstStyle/>
          <a:p>
            <a:pPr algn="ctr">
              <a:lnSpc>
                <a:spcPct val="100000"/>
              </a:lnSpc>
              <a:spcAft>
                <a:spcPts val="0"/>
              </a:spcAft>
            </a:pPr>
            <a:r>
              <a:rPr sz="819" b="1">
                <a:solidFill>
                  <a:srgbClr val="FFFFFF"/>
                </a:solidFill>
                <a:latin typeface="Aptos"/>
              </a:rPr>
              <a:t>01</a:t>
            </a:r>
          </a:p>
        </p:txBody>
      </p:sp>
      <p:sp>
        <p:nvSpPr>
          <p:cNvPr id="13" name="TextBox 12"/>
          <p:cNvSpPr txBox="1"/>
          <p:nvPr/>
        </p:nvSpPr>
        <p:spPr>
          <a:xfrm>
            <a:off x="621792" y="2130552"/>
            <a:ext cx="1773936" cy="420624"/>
          </a:xfrm>
          <a:prstGeom prst="rect">
            <a:avLst/>
          </a:prstGeom>
          <a:noFill/>
        </p:spPr>
        <p:txBody>
          <a:bodyPr wrap="square" lIns="0" rIns="0" tIns="0" bIns="0" anchor="t">
            <a:spAutoFit/>
          </a:bodyPr>
          <a:lstStyle/>
          <a:p>
            <a:pPr algn="l">
              <a:lnSpc>
                <a:spcPct val="100000"/>
              </a:lnSpc>
              <a:spcAft>
                <a:spcPts val="0"/>
              </a:spcAft>
            </a:pPr>
            <a:r>
              <a:rPr sz="1250" b="1">
                <a:solidFill>
                  <a:srgbClr val="0B1F3A"/>
                </a:solidFill>
                <a:latin typeface="Aptos Display"/>
              </a:rPr>
              <a:t>Cell Harvest</a:t>
            </a:r>
          </a:p>
        </p:txBody>
      </p:sp>
      <p:sp>
        <p:nvSpPr>
          <p:cNvPr id="14" name="TextBox 13"/>
          <p:cNvSpPr txBox="1"/>
          <p:nvPr/>
        </p:nvSpPr>
        <p:spPr>
          <a:xfrm>
            <a:off x="621792" y="2596896"/>
            <a:ext cx="1773936" cy="557784"/>
          </a:xfrm>
          <a:prstGeom prst="rect">
            <a:avLst/>
          </a:prstGeom>
          <a:noFill/>
        </p:spPr>
        <p:txBody>
          <a:bodyPr wrap="square" lIns="0" rIns="0" tIns="0" bIns="0" anchor="t">
            <a:spAutoFit/>
          </a:bodyPr>
          <a:lstStyle/>
          <a:p>
            <a:pPr algn="l">
              <a:lnSpc>
                <a:spcPct val="102000"/>
              </a:lnSpc>
              <a:spcAft>
                <a:spcPts val="0"/>
              </a:spcAft>
            </a:pPr>
            <a:r>
              <a:rPr sz="890" b="0">
                <a:solidFill>
                  <a:srgbClr val="50657B"/>
                </a:solidFill>
                <a:latin typeface="Aptos"/>
              </a:rPr>
              <a:t>A biopsy yields patient-specific cells, reducing immunological rejection risk.</a:t>
            </a:r>
          </a:p>
        </p:txBody>
      </p:sp>
      <p:cxnSp>
        <p:nvCxnSpPr>
          <p:cNvPr id="15" name="Connector 14"/>
          <p:cNvCxnSpPr/>
          <p:nvPr/>
        </p:nvCxnSpPr>
        <p:spPr>
          <a:xfrm>
            <a:off x="4754880" y="1901952"/>
            <a:ext cx="292608" cy="0"/>
          </a:xfrm>
          <a:prstGeom prst="line">
            <a:avLst/>
          </a:prstGeom>
          <a:ln w="17780">
            <a:solidFill>
              <a:srgbClr val="9BD9CE"/>
            </a:solidFill>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2724912" y="1444752"/>
            <a:ext cx="2103120" cy="1874519"/>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2889504" y="1609344"/>
            <a:ext cx="384048" cy="384048"/>
          </a:xfrm>
          <a:prstGeom prst="ellipse">
            <a:avLst/>
          </a:prstGeom>
          <a:solidFill>
            <a:srgbClr val="0B1F3A"/>
          </a:solidFill>
          <a:ln w="6350">
            <a:solidFill>
              <a:srgbClr val="0B1F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2889504" y="1609344"/>
            <a:ext cx="384048" cy="384048"/>
          </a:xfrm>
          <a:prstGeom prst="rect">
            <a:avLst/>
          </a:prstGeom>
          <a:noFill/>
        </p:spPr>
        <p:txBody>
          <a:bodyPr wrap="square" lIns="0" rIns="0" tIns="0" bIns="0" anchor="ctr">
            <a:spAutoFit/>
          </a:bodyPr>
          <a:lstStyle/>
          <a:p>
            <a:pPr algn="ctr">
              <a:lnSpc>
                <a:spcPct val="100000"/>
              </a:lnSpc>
              <a:spcAft>
                <a:spcPts val="0"/>
              </a:spcAft>
            </a:pPr>
            <a:r>
              <a:rPr sz="819" b="1">
                <a:solidFill>
                  <a:srgbClr val="FFFFFF"/>
                </a:solidFill>
                <a:latin typeface="Aptos"/>
              </a:rPr>
              <a:t>02</a:t>
            </a:r>
          </a:p>
        </p:txBody>
      </p:sp>
      <p:sp>
        <p:nvSpPr>
          <p:cNvPr id="19" name="TextBox 18"/>
          <p:cNvSpPr txBox="1"/>
          <p:nvPr/>
        </p:nvSpPr>
        <p:spPr>
          <a:xfrm>
            <a:off x="2889504" y="2130552"/>
            <a:ext cx="1773936" cy="420624"/>
          </a:xfrm>
          <a:prstGeom prst="rect">
            <a:avLst/>
          </a:prstGeom>
          <a:noFill/>
        </p:spPr>
        <p:txBody>
          <a:bodyPr wrap="square" lIns="0" rIns="0" tIns="0" bIns="0" anchor="t">
            <a:spAutoFit/>
          </a:bodyPr>
          <a:lstStyle/>
          <a:p>
            <a:pPr algn="l">
              <a:lnSpc>
                <a:spcPct val="100000"/>
              </a:lnSpc>
              <a:spcAft>
                <a:spcPts val="0"/>
              </a:spcAft>
            </a:pPr>
            <a:r>
              <a:rPr sz="1250" b="1">
                <a:solidFill>
                  <a:srgbClr val="0B1F3A"/>
                </a:solidFill>
                <a:latin typeface="Aptos Display"/>
              </a:rPr>
              <a:t>Stem Cell Reprogramming</a:t>
            </a:r>
          </a:p>
        </p:txBody>
      </p:sp>
      <p:sp>
        <p:nvSpPr>
          <p:cNvPr id="20" name="TextBox 19"/>
          <p:cNvSpPr txBox="1"/>
          <p:nvPr/>
        </p:nvSpPr>
        <p:spPr>
          <a:xfrm>
            <a:off x="2889504" y="2596896"/>
            <a:ext cx="1773936" cy="557784"/>
          </a:xfrm>
          <a:prstGeom prst="rect">
            <a:avLst/>
          </a:prstGeom>
          <a:noFill/>
        </p:spPr>
        <p:txBody>
          <a:bodyPr wrap="square" lIns="0" rIns="0" tIns="0" bIns="0" anchor="t">
            <a:spAutoFit/>
          </a:bodyPr>
          <a:lstStyle/>
          <a:p>
            <a:pPr algn="l">
              <a:lnSpc>
                <a:spcPct val="102000"/>
              </a:lnSpc>
              <a:spcAft>
                <a:spcPts val="0"/>
              </a:spcAft>
            </a:pPr>
            <a:r>
              <a:rPr sz="890" b="0">
                <a:solidFill>
                  <a:srgbClr val="50657B"/>
                </a:solidFill>
                <a:latin typeface="Aptos"/>
              </a:rPr>
              <a:t>The iPSC method converts adult cells into pluripotent stem cells.</a:t>
            </a:r>
          </a:p>
        </p:txBody>
      </p:sp>
      <p:cxnSp>
        <p:nvCxnSpPr>
          <p:cNvPr id="21" name="Connector 20"/>
          <p:cNvCxnSpPr/>
          <p:nvPr/>
        </p:nvCxnSpPr>
        <p:spPr>
          <a:xfrm>
            <a:off x="7022592" y="1901952"/>
            <a:ext cx="292608" cy="0"/>
          </a:xfrm>
          <a:prstGeom prst="line">
            <a:avLst/>
          </a:prstGeom>
          <a:ln w="17780">
            <a:solidFill>
              <a:srgbClr val="9BD9CE"/>
            </a:solidFill>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4992624" y="1444752"/>
            <a:ext cx="2103120" cy="1874519"/>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5157216" y="1609344"/>
            <a:ext cx="384048" cy="384048"/>
          </a:xfrm>
          <a:prstGeom prst="ellipse">
            <a:avLst/>
          </a:prstGeom>
          <a:solidFill>
            <a:srgbClr val="0B1F3A"/>
          </a:solidFill>
          <a:ln w="6350">
            <a:solidFill>
              <a:srgbClr val="0B1F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157216" y="1609344"/>
            <a:ext cx="384048" cy="384048"/>
          </a:xfrm>
          <a:prstGeom prst="rect">
            <a:avLst/>
          </a:prstGeom>
          <a:noFill/>
        </p:spPr>
        <p:txBody>
          <a:bodyPr wrap="square" lIns="0" rIns="0" tIns="0" bIns="0" anchor="ctr">
            <a:spAutoFit/>
          </a:bodyPr>
          <a:lstStyle/>
          <a:p>
            <a:pPr algn="ctr">
              <a:lnSpc>
                <a:spcPct val="100000"/>
              </a:lnSpc>
              <a:spcAft>
                <a:spcPts val="0"/>
              </a:spcAft>
            </a:pPr>
            <a:r>
              <a:rPr sz="819" b="1">
                <a:solidFill>
                  <a:srgbClr val="FFFFFF"/>
                </a:solidFill>
                <a:latin typeface="Aptos"/>
              </a:rPr>
              <a:t>03</a:t>
            </a:r>
          </a:p>
        </p:txBody>
      </p:sp>
      <p:sp>
        <p:nvSpPr>
          <p:cNvPr id="25" name="TextBox 24"/>
          <p:cNvSpPr txBox="1"/>
          <p:nvPr/>
        </p:nvSpPr>
        <p:spPr>
          <a:xfrm>
            <a:off x="5157216" y="2130552"/>
            <a:ext cx="1773936" cy="420624"/>
          </a:xfrm>
          <a:prstGeom prst="rect">
            <a:avLst/>
          </a:prstGeom>
          <a:noFill/>
        </p:spPr>
        <p:txBody>
          <a:bodyPr wrap="square" lIns="0" rIns="0" tIns="0" bIns="0" anchor="t">
            <a:spAutoFit/>
          </a:bodyPr>
          <a:lstStyle/>
          <a:p>
            <a:pPr algn="l">
              <a:lnSpc>
                <a:spcPct val="100000"/>
              </a:lnSpc>
              <a:spcAft>
                <a:spcPts val="0"/>
              </a:spcAft>
            </a:pPr>
            <a:r>
              <a:rPr sz="1250" b="1">
                <a:solidFill>
                  <a:srgbClr val="0B1F3A"/>
                </a:solidFill>
                <a:latin typeface="Aptos Display"/>
              </a:rPr>
              <a:t>Bioink Formulation</a:t>
            </a:r>
          </a:p>
        </p:txBody>
      </p:sp>
      <p:sp>
        <p:nvSpPr>
          <p:cNvPr id="26" name="TextBox 25"/>
          <p:cNvSpPr txBox="1"/>
          <p:nvPr/>
        </p:nvSpPr>
        <p:spPr>
          <a:xfrm>
            <a:off x="5157216" y="2596896"/>
            <a:ext cx="1773936" cy="557784"/>
          </a:xfrm>
          <a:prstGeom prst="rect">
            <a:avLst/>
          </a:prstGeom>
          <a:noFill/>
        </p:spPr>
        <p:txBody>
          <a:bodyPr wrap="square" lIns="0" rIns="0" tIns="0" bIns="0" anchor="t">
            <a:spAutoFit/>
          </a:bodyPr>
          <a:lstStyle/>
          <a:p>
            <a:pPr algn="l">
              <a:lnSpc>
                <a:spcPct val="102000"/>
              </a:lnSpc>
              <a:spcAft>
                <a:spcPts val="0"/>
              </a:spcAft>
            </a:pPr>
            <a:r>
              <a:rPr sz="890" b="0">
                <a:solidFill>
                  <a:srgbClr val="50657B"/>
                </a:solidFill>
                <a:latin typeface="Aptos"/>
              </a:rPr>
              <a:t>Cells are suspended in hydrogel optimised for viscosity and viability.</a:t>
            </a:r>
          </a:p>
        </p:txBody>
      </p:sp>
      <p:cxnSp>
        <p:nvCxnSpPr>
          <p:cNvPr id="27" name="Connector 26"/>
          <p:cNvCxnSpPr/>
          <p:nvPr/>
        </p:nvCxnSpPr>
        <p:spPr>
          <a:xfrm>
            <a:off x="9290304" y="1901952"/>
            <a:ext cx="292608" cy="0"/>
          </a:xfrm>
          <a:prstGeom prst="line">
            <a:avLst/>
          </a:prstGeom>
          <a:ln w="17780">
            <a:solidFill>
              <a:srgbClr val="9BD9CE"/>
            </a:solidFill>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260336" y="1444752"/>
            <a:ext cx="2103120" cy="1874519"/>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Oval 28"/>
          <p:cNvSpPr/>
          <p:nvPr/>
        </p:nvSpPr>
        <p:spPr>
          <a:xfrm>
            <a:off x="7424927" y="1609344"/>
            <a:ext cx="384048" cy="384048"/>
          </a:xfrm>
          <a:prstGeom prst="ellipse">
            <a:avLst/>
          </a:prstGeom>
          <a:solidFill>
            <a:srgbClr val="00A991"/>
          </a:solidFill>
          <a:ln w="6350">
            <a:solidFill>
              <a:srgbClr val="00A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424927" y="1609344"/>
            <a:ext cx="384048" cy="384048"/>
          </a:xfrm>
          <a:prstGeom prst="rect">
            <a:avLst/>
          </a:prstGeom>
          <a:noFill/>
        </p:spPr>
        <p:txBody>
          <a:bodyPr wrap="square" lIns="0" rIns="0" tIns="0" bIns="0" anchor="ctr">
            <a:spAutoFit/>
          </a:bodyPr>
          <a:lstStyle/>
          <a:p>
            <a:pPr algn="ctr">
              <a:lnSpc>
                <a:spcPct val="100000"/>
              </a:lnSpc>
              <a:spcAft>
                <a:spcPts val="0"/>
              </a:spcAft>
            </a:pPr>
            <a:r>
              <a:rPr sz="819" b="1">
                <a:solidFill>
                  <a:srgbClr val="FFFFFF"/>
                </a:solidFill>
                <a:latin typeface="Aptos"/>
              </a:rPr>
              <a:t>04</a:t>
            </a:r>
          </a:p>
        </p:txBody>
      </p:sp>
      <p:sp>
        <p:nvSpPr>
          <p:cNvPr id="31" name="TextBox 30"/>
          <p:cNvSpPr txBox="1"/>
          <p:nvPr/>
        </p:nvSpPr>
        <p:spPr>
          <a:xfrm>
            <a:off x="7424927" y="2130552"/>
            <a:ext cx="1773936" cy="420624"/>
          </a:xfrm>
          <a:prstGeom prst="rect">
            <a:avLst/>
          </a:prstGeom>
          <a:noFill/>
        </p:spPr>
        <p:txBody>
          <a:bodyPr wrap="square" lIns="0" rIns="0" tIns="0" bIns="0" anchor="t">
            <a:spAutoFit/>
          </a:bodyPr>
          <a:lstStyle/>
          <a:p>
            <a:pPr algn="l">
              <a:lnSpc>
                <a:spcPct val="100000"/>
              </a:lnSpc>
              <a:spcAft>
                <a:spcPts val="0"/>
              </a:spcAft>
            </a:pPr>
            <a:r>
              <a:rPr sz="1250" b="1">
                <a:solidFill>
                  <a:srgbClr val="0B1F3A"/>
                </a:solidFill>
                <a:latin typeface="Aptos Display"/>
              </a:rPr>
              <a:t>In-Orbit Printing</a:t>
            </a:r>
          </a:p>
        </p:txBody>
      </p:sp>
      <p:sp>
        <p:nvSpPr>
          <p:cNvPr id="32" name="TextBox 31"/>
          <p:cNvSpPr txBox="1"/>
          <p:nvPr/>
        </p:nvSpPr>
        <p:spPr>
          <a:xfrm>
            <a:off x="7424927" y="2596896"/>
            <a:ext cx="1773936" cy="557784"/>
          </a:xfrm>
          <a:prstGeom prst="rect">
            <a:avLst/>
          </a:prstGeom>
          <a:noFill/>
        </p:spPr>
        <p:txBody>
          <a:bodyPr wrap="square" lIns="0" rIns="0" tIns="0" bIns="0" anchor="t">
            <a:spAutoFit/>
          </a:bodyPr>
          <a:lstStyle/>
          <a:p>
            <a:pPr algn="l">
              <a:lnSpc>
                <a:spcPct val="102000"/>
              </a:lnSpc>
              <a:spcAft>
                <a:spcPts val="0"/>
              </a:spcAft>
            </a:pPr>
            <a:r>
              <a:rPr sz="890" b="0">
                <a:solidFill>
                  <a:srgbClr val="50657B"/>
                </a:solidFill>
                <a:latin typeface="Aptos"/>
              </a:rPr>
              <a:t>Layer-by-layer deposition in microgravity removes scaffold dependency.</a:t>
            </a:r>
          </a:p>
        </p:txBody>
      </p:sp>
      <p:sp>
        <p:nvSpPr>
          <p:cNvPr id="33" name="Rounded Rectangle 32"/>
          <p:cNvSpPr/>
          <p:nvPr/>
        </p:nvSpPr>
        <p:spPr>
          <a:xfrm>
            <a:off x="9528048" y="1444752"/>
            <a:ext cx="2103120" cy="1874519"/>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Oval 33"/>
          <p:cNvSpPr/>
          <p:nvPr/>
        </p:nvSpPr>
        <p:spPr>
          <a:xfrm>
            <a:off x="9692640" y="1609344"/>
            <a:ext cx="384048" cy="384048"/>
          </a:xfrm>
          <a:prstGeom prst="ellipse">
            <a:avLst/>
          </a:prstGeom>
          <a:solidFill>
            <a:srgbClr val="0B1F3A"/>
          </a:solidFill>
          <a:ln w="6350">
            <a:solidFill>
              <a:srgbClr val="0B1F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692640" y="1609344"/>
            <a:ext cx="384048" cy="384048"/>
          </a:xfrm>
          <a:prstGeom prst="rect">
            <a:avLst/>
          </a:prstGeom>
          <a:noFill/>
        </p:spPr>
        <p:txBody>
          <a:bodyPr wrap="square" lIns="0" rIns="0" tIns="0" bIns="0" anchor="ctr">
            <a:spAutoFit/>
          </a:bodyPr>
          <a:lstStyle/>
          <a:p>
            <a:pPr algn="ctr">
              <a:lnSpc>
                <a:spcPct val="100000"/>
              </a:lnSpc>
              <a:spcAft>
                <a:spcPts val="0"/>
              </a:spcAft>
            </a:pPr>
            <a:r>
              <a:rPr sz="819" b="1">
                <a:solidFill>
                  <a:srgbClr val="FFFFFF"/>
                </a:solidFill>
                <a:latin typeface="Aptos"/>
              </a:rPr>
              <a:t>05</a:t>
            </a:r>
          </a:p>
        </p:txBody>
      </p:sp>
      <p:sp>
        <p:nvSpPr>
          <p:cNvPr id="36" name="TextBox 35"/>
          <p:cNvSpPr txBox="1"/>
          <p:nvPr/>
        </p:nvSpPr>
        <p:spPr>
          <a:xfrm>
            <a:off x="9692640" y="2130552"/>
            <a:ext cx="1773936" cy="420624"/>
          </a:xfrm>
          <a:prstGeom prst="rect">
            <a:avLst/>
          </a:prstGeom>
          <a:noFill/>
        </p:spPr>
        <p:txBody>
          <a:bodyPr wrap="square" lIns="0" rIns="0" tIns="0" bIns="0" anchor="t">
            <a:spAutoFit/>
          </a:bodyPr>
          <a:lstStyle/>
          <a:p>
            <a:pPr algn="l">
              <a:lnSpc>
                <a:spcPct val="100000"/>
              </a:lnSpc>
              <a:spcAft>
                <a:spcPts val="0"/>
              </a:spcAft>
            </a:pPr>
            <a:r>
              <a:rPr sz="1250" b="1">
                <a:solidFill>
                  <a:srgbClr val="0B1F3A"/>
                </a:solidFill>
                <a:latin typeface="Aptos Display"/>
              </a:rPr>
              <a:t>Tissue Maturation</a:t>
            </a:r>
          </a:p>
        </p:txBody>
      </p:sp>
      <p:sp>
        <p:nvSpPr>
          <p:cNvPr id="37" name="TextBox 36"/>
          <p:cNvSpPr txBox="1"/>
          <p:nvPr/>
        </p:nvSpPr>
        <p:spPr>
          <a:xfrm>
            <a:off x="9692640" y="2596896"/>
            <a:ext cx="1773936" cy="557784"/>
          </a:xfrm>
          <a:prstGeom prst="rect">
            <a:avLst/>
          </a:prstGeom>
          <a:noFill/>
        </p:spPr>
        <p:txBody>
          <a:bodyPr wrap="square" lIns="0" rIns="0" tIns="0" bIns="0" anchor="t">
            <a:spAutoFit/>
          </a:bodyPr>
          <a:lstStyle/>
          <a:p>
            <a:pPr algn="l">
              <a:lnSpc>
                <a:spcPct val="102000"/>
              </a:lnSpc>
              <a:spcAft>
                <a:spcPts val="0"/>
              </a:spcAft>
            </a:pPr>
            <a:r>
              <a:rPr sz="890" b="0">
                <a:solidFill>
                  <a:srgbClr val="50657B"/>
                </a:solidFill>
                <a:latin typeface="Aptos"/>
              </a:rPr>
              <a:t>Bioreactor conditioning differentiates cells into the target tissue.</a:t>
            </a:r>
          </a:p>
        </p:txBody>
      </p:sp>
      <p:sp>
        <p:nvSpPr>
          <p:cNvPr id="38" name="Rounded Rectangle 37"/>
          <p:cNvSpPr/>
          <p:nvPr/>
        </p:nvSpPr>
        <p:spPr>
          <a:xfrm>
            <a:off x="457200" y="3547872"/>
            <a:ext cx="4251960" cy="2734056"/>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685800" y="3776472"/>
            <a:ext cx="2011680" cy="164592"/>
          </a:xfrm>
          <a:prstGeom prst="rect">
            <a:avLst/>
          </a:prstGeom>
          <a:noFill/>
        </p:spPr>
        <p:txBody>
          <a:bodyPr wrap="square" lIns="0" rIns="0" tIns="0" bIns="0" anchor="t">
            <a:spAutoFit/>
          </a:bodyPr>
          <a:lstStyle/>
          <a:p>
            <a:pPr algn="l">
              <a:lnSpc>
                <a:spcPct val="100000"/>
              </a:lnSpc>
              <a:spcAft>
                <a:spcPts val="0"/>
              </a:spcAft>
            </a:pPr>
            <a:r>
              <a:rPr sz="770" b="1">
                <a:solidFill>
                  <a:srgbClr val="708399"/>
                </a:solidFill>
                <a:latin typeface="Aptos"/>
              </a:rPr>
              <a:t>PAYLOAD SCHEMATIC</a:t>
            </a:r>
          </a:p>
        </p:txBody>
      </p:sp>
      <p:cxnSp>
        <p:nvCxnSpPr>
          <p:cNvPr id="40" name="Connector 39"/>
          <p:cNvCxnSpPr/>
          <p:nvPr/>
        </p:nvCxnSpPr>
        <p:spPr>
          <a:xfrm>
            <a:off x="932688" y="4315968"/>
            <a:ext cx="3246120" cy="0"/>
          </a:xfrm>
          <a:prstGeom prst="line">
            <a:avLst/>
          </a:prstGeom>
          <a:ln w="15240">
            <a:solidFill>
              <a:srgbClr val="0B1F3A"/>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a:off x="1170432" y="4315968"/>
            <a:ext cx="0" cy="1280160"/>
          </a:xfrm>
          <a:prstGeom prst="line">
            <a:avLst/>
          </a:prstGeom>
          <a:ln w="12700">
            <a:solidFill>
              <a:srgbClr val="0B1F3A"/>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3941063" y="4315968"/>
            <a:ext cx="0" cy="1280160"/>
          </a:xfrm>
          <a:prstGeom prst="line">
            <a:avLst/>
          </a:prstGeom>
          <a:ln w="12700">
            <a:solidFill>
              <a:srgbClr val="0B1F3A"/>
            </a:solidFill>
          </a:ln>
        </p:spPr>
        <p:style>
          <a:lnRef idx="2">
            <a:schemeClr val="accent1"/>
          </a:lnRef>
          <a:fillRef idx="0">
            <a:schemeClr val="accent1"/>
          </a:fillRef>
          <a:effectRef idx="1">
            <a:schemeClr val="accent1"/>
          </a:effectRef>
          <a:fontRef idx="minor">
            <a:schemeClr val="tx1"/>
          </a:fontRef>
        </p:style>
      </p:cxnSp>
      <p:sp>
        <p:nvSpPr>
          <p:cNvPr id="43" name="Rectangle 42"/>
          <p:cNvSpPr/>
          <p:nvPr/>
        </p:nvSpPr>
        <p:spPr>
          <a:xfrm>
            <a:off x="2057400" y="4498848"/>
            <a:ext cx="1005840" cy="347472"/>
          </a:xfrm>
          <a:prstGeom prst="rect">
            <a:avLst/>
          </a:prstGeom>
          <a:solidFill>
            <a:srgbClr val="E9EEF4"/>
          </a:solidFill>
          <a:ln w="10160">
            <a:solidFill>
              <a:srgbClr val="0B1F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2057400" y="4498848"/>
            <a:ext cx="1005840" cy="347472"/>
          </a:xfrm>
          <a:prstGeom prst="rect">
            <a:avLst/>
          </a:prstGeom>
          <a:noFill/>
        </p:spPr>
        <p:txBody>
          <a:bodyPr wrap="square" lIns="0" rIns="0" tIns="0" bIns="0" anchor="ctr">
            <a:spAutoFit/>
          </a:bodyPr>
          <a:lstStyle/>
          <a:p>
            <a:pPr algn="ctr">
              <a:lnSpc>
                <a:spcPct val="100000"/>
              </a:lnSpc>
              <a:spcAft>
                <a:spcPts val="0"/>
              </a:spcAft>
            </a:pPr>
            <a:r>
              <a:rPr sz="720" b="1">
                <a:solidFill>
                  <a:srgbClr val="0B1F3A"/>
                </a:solidFill>
                <a:latin typeface="Aptos"/>
              </a:rPr>
              <a:t>BIOINK</a:t>
            </a:r>
          </a:p>
        </p:txBody>
      </p:sp>
      <p:cxnSp>
        <p:nvCxnSpPr>
          <p:cNvPr id="45" name="Connector 44"/>
          <p:cNvCxnSpPr/>
          <p:nvPr/>
        </p:nvCxnSpPr>
        <p:spPr>
          <a:xfrm>
            <a:off x="2560320" y="4846320"/>
            <a:ext cx="0" cy="384048"/>
          </a:xfrm>
          <a:prstGeom prst="line">
            <a:avLst/>
          </a:prstGeom>
          <a:ln w="19050">
            <a:solidFill>
              <a:srgbClr val="087F72"/>
            </a:solidFill>
          </a:ln>
        </p:spPr>
        <p:style>
          <a:lnRef idx="2">
            <a:schemeClr val="accent1"/>
          </a:lnRef>
          <a:fillRef idx="0">
            <a:schemeClr val="accent1"/>
          </a:fillRef>
          <a:effectRef idx="1">
            <a:schemeClr val="accent1"/>
          </a:effectRef>
          <a:fontRef idx="minor">
            <a:schemeClr val="tx1"/>
          </a:fontRef>
        </p:style>
      </p:cxnSp>
      <p:sp>
        <p:nvSpPr>
          <p:cNvPr id="46" name="Isosceles Triangle 45"/>
          <p:cNvSpPr/>
          <p:nvPr/>
        </p:nvSpPr>
        <p:spPr>
          <a:xfrm rot="10800000">
            <a:off x="2468880" y="5148072"/>
            <a:ext cx="182880" cy="164592"/>
          </a:xfrm>
          <a:prstGeom prst="triangle">
            <a:avLst/>
          </a:prstGeom>
          <a:solidFill>
            <a:srgbClr val="00A991"/>
          </a:solidFill>
          <a:ln w="10160">
            <a:solidFill>
              <a:srgbClr val="00A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Arc 46"/>
          <p:cNvSpPr/>
          <p:nvPr/>
        </p:nvSpPr>
        <p:spPr>
          <a:xfrm rot="10800000">
            <a:off x="1746504" y="5193792"/>
            <a:ext cx="1627632" cy="566928"/>
          </a:xfrm>
          <a:prstGeom prst="arc">
            <a:avLst/>
          </a:prstGeom>
          <a:noFill/>
          <a:ln w="13970">
            <a:solidFill>
              <a:srgbClr val="2B6B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Oval 47"/>
          <p:cNvSpPr/>
          <p:nvPr/>
        </p:nvSpPr>
        <p:spPr>
          <a:xfrm>
            <a:off x="1993392" y="5404104"/>
            <a:ext cx="146304" cy="118872"/>
          </a:xfrm>
          <a:prstGeom prst="ellipse">
            <a:avLst/>
          </a:prstGeom>
          <a:solidFill>
            <a:srgbClr val="69CDBC"/>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Oval 48"/>
          <p:cNvSpPr/>
          <p:nvPr/>
        </p:nvSpPr>
        <p:spPr>
          <a:xfrm>
            <a:off x="2258568" y="5404104"/>
            <a:ext cx="146304" cy="118872"/>
          </a:xfrm>
          <a:prstGeom prst="ellipse">
            <a:avLst/>
          </a:prstGeom>
          <a:solidFill>
            <a:srgbClr val="69CDBC"/>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Oval 49"/>
          <p:cNvSpPr/>
          <p:nvPr/>
        </p:nvSpPr>
        <p:spPr>
          <a:xfrm>
            <a:off x="2523744" y="5404104"/>
            <a:ext cx="146304" cy="118872"/>
          </a:xfrm>
          <a:prstGeom prst="ellipse">
            <a:avLst/>
          </a:prstGeom>
          <a:solidFill>
            <a:srgbClr val="69CDBC"/>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Oval 50"/>
          <p:cNvSpPr/>
          <p:nvPr/>
        </p:nvSpPr>
        <p:spPr>
          <a:xfrm>
            <a:off x="2788920" y="5404104"/>
            <a:ext cx="146304" cy="118872"/>
          </a:xfrm>
          <a:prstGeom prst="ellipse">
            <a:avLst/>
          </a:prstGeom>
          <a:solidFill>
            <a:srgbClr val="69CDBC"/>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Oval 51"/>
          <p:cNvSpPr/>
          <p:nvPr/>
        </p:nvSpPr>
        <p:spPr>
          <a:xfrm>
            <a:off x="3054096" y="5404104"/>
            <a:ext cx="146304" cy="118872"/>
          </a:xfrm>
          <a:prstGeom prst="ellipse">
            <a:avLst/>
          </a:prstGeom>
          <a:solidFill>
            <a:srgbClr val="69CDBC"/>
          </a:solidFill>
          <a:ln w="635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005840" y="5870448"/>
            <a:ext cx="3154680" cy="182880"/>
          </a:xfrm>
          <a:prstGeom prst="rect">
            <a:avLst/>
          </a:prstGeom>
          <a:noFill/>
        </p:spPr>
        <p:txBody>
          <a:bodyPr wrap="square" lIns="0" rIns="0" tIns="0" bIns="0" anchor="t">
            <a:spAutoFit/>
          </a:bodyPr>
          <a:lstStyle/>
          <a:p>
            <a:pPr algn="ctr">
              <a:lnSpc>
                <a:spcPct val="100000"/>
              </a:lnSpc>
              <a:spcAft>
                <a:spcPts val="0"/>
              </a:spcAft>
            </a:pPr>
            <a:r>
              <a:rPr sz="850" b="1">
                <a:solidFill>
                  <a:srgbClr val="50657B"/>
                </a:solidFill>
                <a:latin typeface="Aptos"/>
              </a:rPr>
              <a:t>Layer-by-layer orbital tissue printing</a:t>
            </a:r>
          </a:p>
        </p:txBody>
      </p:sp>
      <p:sp>
        <p:nvSpPr>
          <p:cNvPr id="54" name="Rounded Rectangle 53"/>
          <p:cNvSpPr/>
          <p:nvPr/>
        </p:nvSpPr>
        <p:spPr>
          <a:xfrm>
            <a:off x="4928616" y="3547872"/>
            <a:ext cx="6803136" cy="2734056"/>
          </a:xfrm>
          <a:prstGeom prst="roundRect">
            <a:avLst/>
          </a:prstGeom>
          <a:solidFill>
            <a:srgbClr val="0B1F3A"/>
          </a:solidFill>
          <a:ln w="10160">
            <a:solidFill>
              <a:srgbClr val="0B1F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5193792" y="3785615"/>
            <a:ext cx="1417320" cy="164592"/>
          </a:xfrm>
          <a:prstGeom prst="rect">
            <a:avLst/>
          </a:prstGeom>
          <a:noFill/>
        </p:spPr>
        <p:txBody>
          <a:bodyPr wrap="square" lIns="0" rIns="0" tIns="0" bIns="0" anchor="t">
            <a:spAutoFit/>
          </a:bodyPr>
          <a:lstStyle/>
          <a:p>
            <a:pPr algn="l">
              <a:lnSpc>
                <a:spcPct val="100000"/>
              </a:lnSpc>
              <a:spcAft>
                <a:spcPts val="0"/>
              </a:spcAft>
            </a:pPr>
            <a:r>
              <a:rPr sz="770" b="1">
                <a:solidFill>
                  <a:srgbClr val="7AD4C5"/>
                </a:solidFill>
                <a:latin typeface="Aptos"/>
              </a:rPr>
              <a:t>WHY ORBIT?</a:t>
            </a:r>
          </a:p>
        </p:txBody>
      </p:sp>
      <p:sp>
        <p:nvSpPr>
          <p:cNvPr id="56" name="TextBox 55"/>
          <p:cNvSpPr txBox="1"/>
          <p:nvPr/>
        </p:nvSpPr>
        <p:spPr>
          <a:xfrm>
            <a:off x="5193792" y="4133087"/>
            <a:ext cx="6236208" cy="576072"/>
          </a:xfrm>
          <a:prstGeom prst="rect">
            <a:avLst/>
          </a:prstGeom>
          <a:noFill/>
        </p:spPr>
        <p:txBody>
          <a:bodyPr wrap="square" lIns="0" rIns="0" tIns="0" bIns="0" anchor="t">
            <a:spAutoFit/>
          </a:bodyPr>
          <a:lstStyle/>
          <a:p>
            <a:pPr algn="l">
              <a:lnSpc>
                <a:spcPct val="100000"/>
              </a:lnSpc>
              <a:spcAft>
                <a:spcPts val="0"/>
              </a:spcAft>
            </a:pPr>
            <a:r>
              <a:rPr sz="1600" b="1">
                <a:solidFill>
                  <a:srgbClr val="FFFFFF"/>
                </a:solidFill>
                <a:latin typeface="Aptos Display"/>
              </a:rPr>
              <a:t>Near-weightlessness enables tissue to grow in true three dimensions without gravitational compression.</a:t>
            </a:r>
          </a:p>
        </p:txBody>
      </p:sp>
      <p:sp>
        <p:nvSpPr>
          <p:cNvPr id="57" name="TextBox 56"/>
          <p:cNvSpPr txBox="1"/>
          <p:nvPr/>
        </p:nvSpPr>
        <p:spPr>
          <a:xfrm>
            <a:off x="5193792" y="4846320"/>
            <a:ext cx="6236208" cy="640080"/>
          </a:xfrm>
          <a:prstGeom prst="rect">
            <a:avLst/>
          </a:prstGeom>
          <a:noFill/>
        </p:spPr>
        <p:txBody>
          <a:bodyPr wrap="square" lIns="0" rIns="0" tIns="0" bIns="0" anchor="t">
            <a:spAutoFit/>
          </a:bodyPr>
          <a:lstStyle/>
          <a:p>
            <a:pPr algn="l">
              <a:lnSpc>
                <a:spcPct val="105000"/>
              </a:lnSpc>
              <a:spcAft>
                <a:spcPts val="0"/>
              </a:spcAft>
            </a:pPr>
            <a:r>
              <a:rPr sz="1050" b="0">
                <a:solidFill>
                  <a:srgbClr val="D7E2EC"/>
                </a:solidFill>
                <a:latin typeface="Aptos"/>
              </a:rPr>
              <a:t>The principle has been validated continuously since 2018 across NASA, Redwire, ROSCOSMOS, LambdaVision and ESA/DLR — eight years of independent confirmation.</a:t>
            </a:r>
          </a:p>
        </p:txBody>
      </p:sp>
      <p:sp>
        <p:nvSpPr>
          <p:cNvPr id="58" name="Rounded Rectangle 57"/>
          <p:cNvSpPr/>
          <p:nvPr/>
        </p:nvSpPr>
        <p:spPr>
          <a:xfrm>
            <a:off x="5193792" y="5623560"/>
            <a:ext cx="6236208" cy="393192"/>
          </a:xfrm>
          <a:prstGeom prst="roundRect">
            <a:avLst/>
          </a:prstGeom>
          <a:solidFill>
            <a:srgbClr val="173653"/>
          </a:solidFill>
          <a:ln w="10160">
            <a:solidFill>
              <a:srgbClr val="294A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5367528" y="5696712"/>
            <a:ext cx="5870448" cy="182880"/>
          </a:xfrm>
          <a:prstGeom prst="rect">
            <a:avLst/>
          </a:prstGeom>
          <a:noFill/>
        </p:spPr>
        <p:txBody>
          <a:bodyPr wrap="square" lIns="0" rIns="0" tIns="0" bIns="0" anchor="t">
            <a:spAutoFit/>
          </a:bodyPr>
          <a:lstStyle/>
          <a:p>
            <a:pPr algn="l">
              <a:lnSpc>
                <a:spcPct val="100000"/>
              </a:lnSpc>
              <a:spcAft>
                <a:spcPts val="0"/>
              </a:spcAft>
            </a:pPr>
            <a:r>
              <a:rPr sz="819" b="1">
                <a:solidFill>
                  <a:srgbClr val="A9E2D8"/>
                </a:solidFill>
                <a:latin typeface="Aptos"/>
              </a:rPr>
              <a:t>Cardiac relevance: adult heart muscle does not self-regenerate; scar tissue blocks electrical signals.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Rectangle 1"/>
          <p:cNvSpPr/>
          <p:nvPr/>
        </p:nvSpPr>
        <p:spPr>
          <a:xfrm>
            <a:off x="457200" y="256032"/>
            <a:ext cx="54864" cy="219456"/>
          </a:xfrm>
          <a:prstGeom prst="rect">
            <a:avLst/>
          </a:prstGeom>
          <a:solidFill>
            <a:srgbClr val="00A991"/>
          </a:solidFill>
          <a:ln>
            <a:solidFill>
              <a:srgbClr val="00A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3504" y="256032"/>
            <a:ext cx="4114800" cy="164592"/>
          </a:xfrm>
          <a:prstGeom prst="rect">
            <a:avLst/>
          </a:prstGeom>
          <a:noFill/>
        </p:spPr>
        <p:txBody>
          <a:bodyPr wrap="square" lIns="0" rIns="0" tIns="0" bIns="0" anchor="t">
            <a:spAutoFit/>
          </a:bodyPr>
          <a:lstStyle/>
          <a:p>
            <a:pPr algn="l">
              <a:lnSpc>
                <a:spcPct val="100000"/>
              </a:lnSpc>
              <a:spcAft>
                <a:spcPts val="0"/>
              </a:spcAft>
            </a:pPr>
            <a:r>
              <a:rPr sz="770" b="1">
                <a:solidFill>
                  <a:srgbClr val="087F72"/>
                </a:solidFill>
                <a:latin typeface="Aptos"/>
              </a:rPr>
              <a:t>PRODUCT STRATEGY</a:t>
            </a:r>
          </a:p>
        </p:txBody>
      </p:sp>
      <p:sp>
        <p:nvSpPr>
          <p:cNvPr id="4" name="TextBox 3"/>
          <p:cNvSpPr txBox="1"/>
          <p:nvPr/>
        </p:nvSpPr>
        <p:spPr>
          <a:xfrm>
            <a:off x="457200" y="530352"/>
            <a:ext cx="11064240" cy="475488"/>
          </a:xfrm>
          <a:prstGeom prst="rect">
            <a:avLst/>
          </a:prstGeom>
          <a:noFill/>
        </p:spPr>
        <p:txBody>
          <a:bodyPr wrap="square" lIns="0" rIns="0" tIns="0" bIns="0" anchor="t">
            <a:spAutoFit/>
          </a:bodyPr>
          <a:lstStyle/>
          <a:p>
            <a:pPr algn="l">
              <a:lnSpc>
                <a:spcPct val="100000"/>
              </a:lnSpc>
              <a:spcAft>
                <a:spcPts val="0"/>
              </a:spcAft>
            </a:pPr>
            <a:r>
              <a:rPr sz="2550" b="1">
                <a:solidFill>
                  <a:srgbClr val="0B1F3A"/>
                </a:solidFill>
                <a:latin typeface="Aptos Display"/>
              </a:rPr>
              <a:t>Four High-Value Clinical Verticals</a:t>
            </a:r>
          </a:p>
        </p:txBody>
      </p:sp>
      <p:cxnSp>
        <p:nvCxnSpPr>
          <p:cNvPr id="5" name="Connector 4"/>
          <p:cNvCxnSpPr/>
          <p:nvPr/>
        </p:nvCxnSpPr>
        <p:spPr>
          <a:xfrm>
            <a:off x="457200" y="6510528"/>
            <a:ext cx="11274552" cy="0"/>
          </a:xfrm>
          <a:prstGeom prst="line">
            <a:avLst/>
          </a:prstGeom>
          <a:ln w="7620">
            <a:solidFill>
              <a:srgbClr val="D7E1E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65392"/>
            <a:ext cx="1645920" cy="109728"/>
          </a:xfrm>
          <a:prstGeom prst="rect">
            <a:avLst/>
          </a:prstGeom>
          <a:noFill/>
        </p:spPr>
        <p:txBody>
          <a:bodyPr wrap="square" lIns="0" rIns="0" tIns="0" bIns="0" anchor="t">
            <a:spAutoFit/>
          </a:bodyPr>
          <a:lstStyle/>
          <a:p>
            <a:pPr algn="l">
              <a:lnSpc>
                <a:spcPct val="100000"/>
              </a:lnSpc>
              <a:spcAft>
                <a:spcPts val="0"/>
              </a:spcAft>
            </a:pPr>
            <a:r>
              <a:rPr sz="670" b="1">
                <a:solidFill>
                  <a:srgbClr val="708399"/>
                </a:solidFill>
                <a:latin typeface="Aptos"/>
              </a:rPr>
              <a:t>SAMUEL SPACE</a:t>
            </a:r>
          </a:p>
        </p:txBody>
      </p:sp>
      <p:sp>
        <p:nvSpPr>
          <p:cNvPr id="7" name="TextBox 6"/>
          <p:cNvSpPr txBox="1"/>
          <p:nvPr/>
        </p:nvSpPr>
        <p:spPr>
          <a:xfrm>
            <a:off x="10927080" y="6565392"/>
            <a:ext cx="804672" cy="109728"/>
          </a:xfrm>
          <a:prstGeom prst="rect">
            <a:avLst/>
          </a:prstGeom>
          <a:noFill/>
        </p:spPr>
        <p:txBody>
          <a:bodyPr wrap="square" lIns="0" rIns="0" tIns="0" bIns="0" anchor="t">
            <a:spAutoFit/>
          </a:bodyPr>
          <a:lstStyle/>
          <a:p>
            <a:pPr algn="r">
              <a:lnSpc>
                <a:spcPct val="100000"/>
              </a:lnSpc>
              <a:spcAft>
                <a:spcPts val="0"/>
              </a:spcAft>
            </a:pPr>
            <a:r>
              <a:rPr sz="670" b="1">
                <a:solidFill>
                  <a:srgbClr val="708399"/>
                </a:solidFill>
                <a:latin typeface="Aptos"/>
              </a:rPr>
              <a:t>07 / 21</a:t>
            </a:r>
          </a:p>
        </p:txBody>
      </p:sp>
      <p:sp>
        <p:nvSpPr>
          <p:cNvPr id="8" name="Rounded Rectangle 7"/>
          <p:cNvSpPr/>
          <p:nvPr/>
        </p:nvSpPr>
        <p:spPr>
          <a:xfrm>
            <a:off x="457200" y="1325880"/>
            <a:ext cx="5632704" cy="2249424"/>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21792" y="1490472"/>
            <a:ext cx="731520" cy="731520"/>
          </a:xfrm>
          <a:prstGeom prst="roundRect">
            <a:avLst/>
          </a:prstGeom>
          <a:solidFill>
            <a:srgbClr val="F8EAED"/>
          </a:solidFill>
          <a:ln w="10160">
            <a:solidFill>
              <a:srgbClr val="F8E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21792" y="1490472"/>
            <a:ext cx="731520" cy="731520"/>
          </a:xfrm>
          <a:prstGeom prst="rect">
            <a:avLst/>
          </a:prstGeom>
          <a:noFill/>
        </p:spPr>
        <p:txBody>
          <a:bodyPr wrap="square" lIns="0" rIns="0" tIns="0" bIns="0" anchor="ctr">
            <a:spAutoFit/>
          </a:bodyPr>
          <a:lstStyle/>
          <a:p>
            <a:pPr algn="ctr">
              <a:lnSpc>
                <a:spcPct val="100000"/>
              </a:lnSpc>
              <a:spcAft>
                <a:spcPts val="0"/>
              </a:spcAft>
            </a:pPr>
            <a:r>
              <a:rPr sz="1800" b="1">
                <a:solidFill>
                  <a:srgbClr val="B35C6A"/>
                </a:solidFill>
                <a:latin typeface="Aptos"/>
              </a:rPr>
              <a:t>01</a:t>
            </a:r>
          </a:p>
        </p:txBody>
      </p:sp>
      <p:sp>
        <p:nvSpPr>
          <p:cNvPr id="11" name="TextBox 10"/>
          <p:cNvSpPr txBox="1"/>
          <p:nvPr/>
        </p:nvSpPr>
        <p:spPr>
          <a:xfrm>
            <a:off x="1554480" y="1545336"/>
            <a:ext cx="4251960" cy="347472"/>
          </a:xfrm>
          <a:prstGeom prst="rect">
            <a:avLst/>
          </a:prstGeom>
          <a:noFill/>
        </p:spPr>
        <p:txBody>
          <a:bodyPr wrap="square" lIns="0" rIns="0" tIns="0" bIns="0" anchor="t">
            <a:spAutoFit/>
          </a:bodyPr>
          <a:lstStyle/>
          <a:p>
            <a:pPr algn="l">
              <a:lnSpc>
                <a:spcPct val="100000"/>
              </a:lnSpc>
              <a:spcAft>
                <a:spcPts val="0"/>
              </a:spcAft>
            </a:pPr>
            <a:r>
              <a:rPr sz="1700" b="1">
                <a:solidFill>
                  <a:srgbClr val="0B1F3A"/>
                </a:solidFill>
                <a:latin typeface="Aptos Display"/>
              </a:rPr>
              <a:t>Cardiac Tissue</a:t>
            </a:r>
          </a:p>
        </p:txBody>
      </p:sp>
      <p:sp>
        <p:nvSpPr>
          <p:cNvPr id="12" name="TextBox 11"/>
          <p:cNvSpPr txBox="1"/>
          <p:nvPr/>
        </p:nvSpPr>
        <p:spPr>
          <a:xfrm>
            <a:off x="676656" y="2295144"/>
            <a:ext cx="5193792" cy="713232"/>
          </a:xfrm>
          <a:prstGeom prst="rect">
            <a:avLst/>
          </a:prstGeom>
          <a:noFill/>
        </p:spPr>
        <p:txBody>
          <a:bodyPr wrap="square" lIns="0" rIns="0" tIns="0" bIns="0" anchor="t">
            <a:spAutoFit/>
          </a:bodyPr>
          <a:lstStyle/>
          <a:p>
            <a:pPr algn="l">
              <a:lnSpc>
                <a:spcPct val="103000"/>
              </a:lnSpc>
              <a:spcAft>
                <a:spcPts val="0"/>
              </a:spcAft>
            </a:pPr>
            <a:r>
              <a:rPr sz="1040" b="0">
                <a:solidFill>
                  <a:srgbClr val="50657B"/>
                </a:solidFill>
                <a:latin typeface="Aptos"/>
              </a:rPr>
              <a:t>CVD kills ~2,500 Americans daily. Adult heart tissue cannot regenerate. Redwire returned the first live human cardiac tissue from orbit in May 2024 under BFF-Cardiac.</a:t>
            </a:r>
          </a:p>
        </p:txBody>
      </p:sp>
      <p:sp>
        <p:nvSpPr>
          <p:cNvPr id="13" name="Rounded Rectangle 12"/>
          <p:cNvSpPr/>
          <p:nvPr/>
        </p:nvSpPr>
        <p:spPr>
          <a:xfrm>
            <a:off x="676656" y="3118104"/>
            <a:ext cx="5193792" cy="256032"/>
          </a:xfrm>
          <a:prstGeom prst="roundRect">
            <a:avLst/>
          </a:prstGeom>
          <a:solidFill>
            <a:srgbClr val="F8EAED"/>
          </a:solidFill>
          <a:ln w="10160">
            <a:solidFill>
              <a:srgbClr val="F8EAE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77240" y="3145536"/>
            <a:ext cx="4992624" cy="146304"/>
          </a:xfrm>
          <a:prstGeom prst="rect">
            <a:avLst/>
          </a:prstGeom>
          <a:noFill/>
        </p:spPr>
        <p:txBody>
          <a:bodyPr wrap="square" lIns="0" rIns="0" tIns="0" bIns="0" anchor="t">
            <a:spAutoFit/>
          </a:bodyPr>
          <a:lstStyle/>
          <a:p>
            <a:pPr algn="l">
              <a:lnSpc>
                <a:spcPct val="100000"/>
              </a:lnSpc>
              <a:spcAft>
                <a:spcPts val="0"/>
              </a:spcAft>
            </a:pPr>
            <a:r>
              <a:rPr sz="720" b="1">
                <a:solidFill>
                  <a:srgbClr val="B35C6A"/>
                </a:solidFill>
                <a:latin typeface="Aptos"/>
              </a:rPr>
              <a:t>REDWIRE BFF-CARDIAC · ISS · MAY 2024</a:t>
            </a:r>
          </a:p>
        </p:txBody>
      </p:sp>
      <p:sp>
        <p:nvSpPr>
          <p:cNvPr id="15" name="Rounded Rectangle 14"/>
          <p:cNvSpPr/>
          <p:nvPr/>
        </p:nvSpPr>
        <p:spPr>
          <a:xfrm>
            <a:off x="6099048" y="1325880"/>
            <a:ext cx="5632704" cy="2249424"/>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6263640" y="1490472"/>
            <a:ext cx="731520" cy="731520"/>
          </a:xfrm>
          <a:prstGeom prst="roundRect">
            <a:avLst/>
          </a:prstGeom>
          <a:solidFill>
            <a:srgbClr val="E7F0F7"/>
          </a:solidFill>
          <a:ln w="10160">
            <a:solidFill>
              <a:srgbClr val="E7F0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63640" y="1490472"/>
            <a:ext cx="731520" cy="731520"/>
          </a:xfrm>
          <a:prstGeom prst="rect">
            <a:avLst/>
          </a:prstGeom>
          <a:noFill/>
        </p:spPr>
        <p:txBody>
          <a:bodyPr wrap="square" lIns="0" rIns="0" tIns="0" bIns="0" anchor="ctr">
            <a:spAutoFit/>
          </a:bodyPr>
          <a:lstStyle/>
          <a:p>
            <a:pPr algn="ctr">
              <a:lnSpc>
                <a:spcPct val="100000"/>
              </a:lnSpc>
              <a:spcAft>
                <a:spcPts val="0"/>
              </a:spcAft>
            </a:pPr>
            <a:r>
              <a:rPr sz="1800" b="1">
                <a:solidFill>
                  <a:srgbClr val="2B6B93"/>
                </a:solidFill>
                <a:latin typeface="Aptos"/>
              </a:rPr>
              <a:t>02</a:t>
            </a:r>
          </a:p>
        </p:txBody>
      </p:sp>
      <p:sp>
        <p:nvSpPr>
          <p:cNvPr id="18" name="TextBox 17"/>
          <p:cNvSpPr txBox="1"/>
          <p:nvPr/>
        </p:nvSpPr>
        <p:spPr>
          <a:xfrm>
            <a:off x="7196328" y="1545336"/>
            <a:ext cx="4251960" cy="347472"/>
          </a:xfrm>
          <a:prstGeom prst="rect">
            <a:avLst/>
          </a:prstGeom>
          <a:noFill/>
        </p:spPr>
        <p:txBody>
          <a:bodyPr wrap="square" lIns="0" rIns="0" tIns="0" bIns="0" anchor="t">
            <a:spAutoFit/>
          </a:bodyPr>
          <a:lstStyle/>
          <a:p>
            <a:pPr algn="l">
              <a:lnSpc>
                <a:spcPct val="100000"/>
              </a:lnSpc>
              <a:spcAft>
                <a:spcPts val="0"/>
              </a:spcAft>
            </a:pPr>
            <a:r>
              <a:rPr sz="1700" b="1">
                <a:solidFill>
                  <a:srgbClr val="0B1F3A"/>
                </a:solidFill>
                <a:latin typeface="Aptos Display"/>
              </a:rPr>
              <a:t>Orthopedic Grafts</a:t>
            </a:r>
          </a:p>
        </p:txBody>
      </p:sp>
      <p:sp>
        <p:nvSpPr>
          <p:cNvPr id="19" name="TextBox 18"/>
          <p:cNvSpPr txBox="1"/>
          <p:nvPr/>
        </p:nvSpPr>
        <p:spPr>
          <a:xfrm>
            <a:off x="6318504" y="2295144"/>
            <a:ext cx="5193792" cy="713232"/>
          </a:xfrm>
          <a:prstGeom prst="rect">
            <a:avLst/>
          </a:prstGeom>
          <a:noFill/>
        </p:spPr>
        <p:txBody>
          <a:bodyPr wrap="square" lIns="0" rIns="0" tIns="0" bIns="0" anchor="t">
            <a:spAutoFit/>
          </a:bodyPr>
          <a:lstStyle/>
          <a:p>
            <a:pPr algn="l">
              <a:lnSpc>
                <a:spcPct val="103000"/>
              </a:lnSpc>
              <a:spcAft>
                <a:spcPts val="0"/>
              </a:spcAft>
            </a:pPr>
            <a:r>
              <a:rPr sz="1040" b="0">
                <a:solidFill>
                  <a:srgbClr val="50657B"/>
                </a:solidFill>
                <a:latin typeface="Aptos"/>
              </a:rPr>
              <a:t>Meniscal tears are among the most common U.S. military injuries. Redwire printed the first human knee meniscus in orbit in September 2023, establishing the foundational protocol.</a:t>
            </a:r>
          </a:p>
        </p:txBody>
      </p:sp>
      <p:sp>
        <p:nvSpPr>
          <p:cNvPr id="20" name="Rounded Rectangle 19"/>
          <p:cNvSpPr/>
          <p:nvPr/>
        </p:nvSpPr>
        <p:spPr>
          <a:xfrm>
            <a:off x="6318504" y="3118104"/>
            <a:ext cx="5193792" cy="256032"/>
          </a:xfrm>
          <a:prstGeom prst="roundRect">
            <a:avLst/>
          </a:prstGeom>
          <a:solidFill>
            <a:srgbClr val="E7F0F7"/>
          </a:solidFill>
          <a:ln w="10160">
            <a:solidFill>
              <a:srgbClr val="E7F0F7"/>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19088" y="3145536"/>
            <a:ext cx="4992624" cy="146304"/>
          </a:xfrm>
          <a:prstGeom prst="rect">
            <a:avLst/>
          </a:prstGeom>
          <a:noFill/>
        </p:spPr>
        <p:txBody>
          <a:bodyPr wrap="square" lIns="0" rIns="0" tIns="0" bIns="0" anchor="t">
            <a:spAutoFit/>
          </a:bodyPr>
          <a:lstStyle/>
          <a:p>
            <a:pPr algn="l">
              <a:lnSpc>
                <a:spcPct val="100000"/>
              </a:lnSpc>
              <a:spcAft>
                <a:spcPts val="0"/>
              </a:spcAft>
            </a:pPr>
            <a:r>
              <a:rPr sz="720" b="1">
                <a:solidFill>
                  <a:srgbClr val="2B6B93"/>
                </a:solidFill>
                <a:latin typeface="Aptos"/>
              </a:rPr>
              <a:t>REDWIRE BFF-MENISCUS-2 · ISS · SEP 2023</a:t>
            </a:r>
          </a:p>
        </p:txBody>
      </p:sp>
      <p:sp>
        <p:nvSpPr>
          <p:cNvPr id="22" name="Rounded Rectangle 21"/>
          <p:cNvSpPr/>
          <p:nvPr/>
        </p:nvSpPr>
        <p:spPr>
          <a:xfrm>
            <a:off x="457200" y="3794760"/>
            <a:ext cx="5632704" cy="2249424"/>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ounded Rectangle 22"/>
          <p:cNvSpPr/>
          <p:nvPr/>
        </p:nvSpPr>
        <p:spPr>
          <a:xfrm>
            <a:off x="621792" y="3959352"/>
            <a:ext cx="731520" cy="731520"/>
          </a:xfrm>
          <a:prstGeom prst="roundRect">
            <a:avLst/>
          </a:prstGeom>
          <a:solidFill>
            <a:srgbClr val="FBF1DF"/>
          </a:solidFill>
          <a:ln w="10160">
            <a:solidFill>
              <a:srgbClr val="FBF1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621792" y="3959352"/>
            <a:ext cx="731520" cy="731520"/>
          </a:xfrm>
          <a:prstGeom prst="rect">
            <a:avLst/>
          </a:prstGeom>
          <a:noFill/>
        </p:spPr>
        <p:txBody>
          <a:bodyPr wrap="square" lIns="0" rIns="0" tIns="0" bIns="0" anchor="ctr">
            <a:spAutoFit/>
          </a:bodyPr>
          <a:lstStyle/>
          <a:p>
            <a:pPr algn="ctr">
              <a:lnSpc>
                <a:spcPct val="100000"/>
              </a:lnSpc>
              <a:spcAft>
                <a:spcPts val="0"/>
              </a:spcAft>
            </a:pPr>
            <a:r>
              <a:rPr sz="1800" b="1">
                <a:solidFill>
                  <a:srgbClr val="C9872B"/>
                </a:solidFill>
                <a:latin typeface="Aptos"/>
              </a:rPr>
              <a:t>03</a:t>
            </a:r>
          </a:p>
        </p:txBody>
      </p:sp>
      <p:sp>
        <p:nvSpPr>
          <p:cNvPr id="25" name="TextBox 24"/>
          <p:cNvSpPr txBox="1"/>
          <p:nvPr/>
        </p:nvSpPr>
        <p:spPr>
          <a:xfrm>
            <a:off x="1554480" y="4014216"/>
            <a:ext cx="4251960" cy="347472"/>
          </a:xfrm>
          <a:prstGeom prst="rect">
            <a:avLst/>
          </a:prstGeom>
          <a:noFill/>
        </p:spPr>
        <p:txBody>
          <a:bodyPr wrap="square" lIns="0" rIns="0" tIns="0" bIns="0" anchor="t">
            <a:spAutoFit/>
          </a:bodyPr>
          <a:lstStyle/>
          <a:p>
            <a:pPr algn="l">
              <a:lnSpc>
                <a:spcPct val="100000"/>
              </a:lnSpc>
              <a:spcAft>
                <a:spcPts val="0"/>
              </a:spcAft>
            </a:pPr>
            <a:r>
              <a:rPr sz="1700" b="1">
                <a:solidFill>
                  <a:srgbClr val="0B1F3A"/>
                </a:solidFill>
                <a:latin typeface="Aptos Display"/>
              </a:rPr>
              <a:t>Artificial Retinas</a:t>
            </a:r>
          </a:p>
        </p:txBody>
      </p:sp>
      <p:sp>
        <p:nvSpPr>
          <p:cNvPr id="26" name="TextBox 25"/>
          <p:cNvSpPr txBox="1"/>
          <p:nvPr/>
        </p:nvSpPr>
        <p:spPr>
          <a:xfrm>
            <a:off x="676656" y="4764024"/>
            <a:ext cx="5193792" cy="713232"/>
          </a:xfrm>
          <a:prstGeom prst="rect">
            <a:avLst/>
          </a:prstGeom>
          <a:noFill/>
        </p:spPr>
        <p:txBody>
          <a:bodyPr wrap="square" lIns="0" rIns="0" tIns="0" bIns="0" anchor="t">
            <a:spAutoFit/>
          </a:bodyPr>
          <a:lstStyle/>
          <a:p>
            <a:pPr algn="l">
              <a:lnSpc>
                <a:spcPct val="103000"/>
              </a:lnSpc>
              <a:spcAft>
                <a:spcPts val="0"/>
              </a:spcAft>
            </a:pPr>
            <a:r>
              <a:rPr sz="1040" b="0">
                <a:solidFill>
                  <a:srgbClr val="50657B"/>
                </a:solidFill>
                <a:latin typeface="Aptos"/>
              </a:rPr>
              <a:t>30 million people worldwide suffer from degenerative retinal disease. LambdaVision has produced consistent 200-layer protein retina films in microgravity across 9 ISS missions.</a:t>
            </a:r>
          </a:p>
        </p:txBody>
      </p:sp>
      <p:sp>
        <p:nvSpPr>
          <p:cNvPr id="27" name="Rounded Rectangle 26"/>
          <p:cNvSpPr/>
          <p:nvPr/>
        </p:nvSpPr>
        <p:spPr>
          <a:xfrm>
            <a:off x="676656" y="5586984"/>
            <a:ext cx="5193792" cy="256032"/>
          </a:xfrm>
          <a:prstGeom prst="roundRect">
            <a:avLst/>
          </a:prstGeom>
          <a:solidFill>
            <a:srgbClr val="FBF1DF"/>
          </a:solidFill>
          <a:ln w="10160">
            <a:solidFill>
              <a:srgbClr val="FBF1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7240" y="5614416"/>
            <a:ext cx="4992624" cy="146304"/>
          </a:xfrm>
          <a:prstGeom prst="rect">
            <a:avLst/>
          </a:prstGeom>
          <a:noFill/>
        </p:spPr>
        <p:txBody>
          <a:bodyPr wrap="square" lIns="0" rIns="0" tIns="0" bIns="0" anchor="t">
            <a:spAutoFit/>
          </a:bodyPr>
          <a:lstStyle/>
          <a:p>
            <a:pPr algn="l">
              <a:lnSpc>
                <a:spcPct val="100000"/>
              </a:lnSpc>
              <a:spcAft>
                <a:spcPts val="0"/>
              </a:spcAft>
            </a:pPr>
            <a:r>
              <a:rPr sz="720" b="1">
                <a:solidFill>
                  <a:srgbClr val="C9872B"/>
                </a:solidFill>
                <a:latin typeface="Aptos"/>
              </a:rPr>
              <a:t>LAMBDAVISION / SPACE TANGO · 9 ISS MISSIONS</a:t>
            </a:r>
          </a:p>
        </p:txBody>
      </p:sp>
      <p:sp>
        <p:nvSpPr>
          <p:cNvPr id="29" name="Rounded Rectangle 28"/>
          <p:cNvSpPr/>
          <p:nvPr/>
        </p:nvSpPr>
        <p:spPr>
          <a:xfrm>
            <a:off x="6099048" y="3794760"/>
            <a:ext cx="5632704" cy="2249424"/>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6263640" y="3959352"/>
            <a:ext cx="731520" cy="731520"/>
          </a:xfrm>
          <a:prstGeom prst="roundRect">
            <a:avLst/>
          </a:prstGeom>
          <a:solidFill>
            <a:srgbClr val="EDF9F6"/>
          </a:solidFill>
          <a:ln w="10160">
            <a:solidFill>
              <a:srgbClr val="EDF9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263640" y="3959352"/>
            <a:ext cx="731520" cy="731520"/>
          </a:xfrm>
          <a:prstGeom prst="rect">
            <a:avLst/>
          </a:prstGeom>
          <a:noFill/>
        </p:spPr>
        <p:txBody>
          <a:bodyPr wrap="square" lIns="0" rIns="0" tIns="0" bIns="0" anchor="ctr">
            <a:spAutoFit/>
          </a:bodyPr>
          <a:lstStyle/>
          <a:p>
            <a:pPr algn="ctr">
              <a:lnSpc>
                <a:spcPct val="100000"/>
              </a:lnSpc>
              <a:spcAft>
                <a:spcPts val="0"/>
              </a:spcAft>
            </a:pPr>
            <a:r>
              <a:rPr sz="1800" b="1">
                <a:solidFill>
                  <a:srgbClr val="087F72"/>
                </a:solidFill>
                <a:latin typeface="Aptos"/>
              </a:rPr>
              <a:t>04</a:t>
            </a:r>
          </a:p>
        </p:txBody>
      </p:sp>
      <p:sp>
        <p:nvSpPr>
          <p:cNvPr id="32" name="TextBox 31"/>
          <p:cNvSpPr txBox="1"/>
          <p:nvPr/>
        </p:nvSpPr>
        <p:spPr>
          <a:xfrm>
            <a:off x="7196328" y="4014216"/>
            <a:ext cx="4251960" cy="347472"/>
          </a:xfrm>
          <a:prstGeom prst="rect">
            <a:avLst/>
          </a:prstGeom>
          <a:noFill/>
        </p:spPr>
        <p:txBody>
          <a:bodyPr wrap="square" lIns="0" rIns="0" tIns="0" bIns="0" anchor="t">
            <a:spAutoFit/>
          </a:bodyPr>
          <a:lstStyle/>
          <a:p>
            <a:pPr algn="l">
              <a:lnSpc>
                <a:spcPct val="100000"/>
              </a:lnSpc>
              <a:spcAft>
                <a:spcPts val="0"/>
              </a:spcAft>
            </a:pPr>
            <a:r>
              <a:rPr sz="1700" b="1">
                <a:solidFill>
                  <a:srgbClr val="0B1F3A"/>
                </a:solidFill>
                <a:latin typeface="Aptos Display"/>
              </a:rPr>
              <a:t>Wound Care Patches</a:t>
            </a:r>
          </a:p>
        </p:txBody>
      </p:sp>
      <p:sp>
        <p:nvSpPr>
          <p:cNvPr id="33" name="TextBox 32"/>
          <p:cNvSpPr txBox="1"/>
          <p:nvPr/>
        </p:nvSpPr>
        <p:spPr>
          <a:xfrm>
            <a:off x="6318504" y="4764024"/>
            <a:ext cx="5193792" cy="713232"/>
          </a:xfrm>
          <a:prstGeom prst="rect">
            <a:avLst/>
          </a:prstGeom>
          <a:noFill/>
        </p:spPr>
        <p:txBody>
          <a:bodyPr wrap="square" lIns="0" rIns="0" tIns="0" bIns="0" anchor="t">
            <a:spAutoFit/>
          </a:bodyPr>
          <a:lstStyle/>
          <a:p>
            <a:pPr algn="l">
              <a:lnSpc>
                <a:spcPct val="103000"/>
              </a:lnSpc>
              <a:spcAft>
                <a:spcPts val="0"/>
              </a:spcAft>
            </a:pPr>
            <a:r>
              <a:rPr sz="1040" b="0">
                <a:solidFill>
                  <a:srgbClr val="50657B"/>
                </a:solidFill>
                <a:latin typeface="Aptos"/>
              </a:rPr>
              <a:t>ESA and DLR demonstrated a handheld bioprinter creating customised skin patches aboard the ISS during the Cosmic Kiss mission. Lowest regulatory burden — Samuel's Phase 1 entry point.</a:t>
            </a:r>
          </a:p>
        </p:txBody>
      </p:sp>
      <p:sp>
        <p:nvSpPr>
          <p:cNvPr id="34" name="Rounded Rectangle 33"/>
          <p:cNvSpPr/>
          <p:nvPr/>
        </p:nvSpPr>
        <p:spPr>
          <a:xfrm>
            <a:off x="6318504" y="5586984"/>
            <a:ext cx="5193792" cy="256032"/>
          </a:xfrm>
          <a:prstGeom prst="roundRect">
            <a:avLst/>
          </a:prstGeom>
          <a:solidFill>
            <a:srgbClr val="EDF9F6"/>
          </a:solidFill>
          <a:ln w="10160">
            <a:solidFill>
              <a:srgbClr val="EDF9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419088" y="5614416"/>
            <a:ext cx="4992624" cy="146304"/>
          </a:xfrm>
          <a:prstGeom prst="rect">
            <a:avLst/>
          </a:prstGeom>
          <a:noFill/>
        </p:spPr>
        <p:txBody>
          <a:bodyPr wrap="square" lIns="0" rIns="0" tIns="0" bIns="0" anchor="t">
            <a:spAutoFit/>
          </a:bodyPr>
          <a:lstStyle/>
          <a:p>
            <a:pPr algn="l">
              <a:lnSpc>
                <a:spcPct val="100000"/>
              </a:lnSpc>
              <a:spcAft>
                <a:spcPts val="0"/>
              </a:spcAft>
            </a:pPr>
            <a:r>
              <a:rPr sz="720" b="1">
                <a:solidFill>
                  <a:srgbClr val="087F72"/>
                </a:solidFill>
                <a:latin typeface="Aptos"/>
              </a:rPr>
              <a:t>ESA/DLR BIOPRINT FIRSTAID · ISS · DEC 2021</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Rectangle 1"/>
          <p:cNvSpPr/>
          <p:nvPr/>
        </p:nvSpPr>
        <p:spPr>
          <a:xfrm>
            <a:off x="457200" y="256032"/>
            <a:ext cx="54864" cy="219456"/>
          </a:xfrm>
          <a:prstGeom prst="rect">
            <a:avLst/>
          </a:prstGeom>
          <a:solidFill>
            <a:srgbClr val="00A991"/>
          </a:solidFill>
          <a:ln>
            <a:solidFill>
              <a:srgbClr val="00A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3504" y="256032"/>
            <a:ext cx="4114800" cy="164592"/>
          </a:xfrm>
          <a:prstGeom prst="rect">
            <a:avLst/>
          </a:prstGeom>
          <a:noFill/>
        </p:spPr>
        <p:txBody>
          <a:bodyPr wrap="square" lIns="0" rIns="0" tIns="0" bIns="0" anchor="t">
            <a:spAutoFit/>
          </a:bodyPr>
          <a:lstStyle/>
          <a:p>
            <a:pPr algn="l">
              <a:lnSpc>
                <a:spcPct val="100000"/>
              </a:lnSpc>
              <a:spcAft>
                <a:spcPts val="0"/>
              </a:spcAft>
            </a:pPr>
            <a:r>
              <a:rPr sz="770" b="1">
                <a:solidFill>
                  <a:srgbClr val="087F72"/>
                </a:solidFill>
                <a:latin typeface="Aptos"/>
              </a:rPr>
              <a:t>THIRD-PARTY VALIDATION</a:t>
            </a:r>
          </a:p>
        </p:txBody>
      </p:sp>
      <p:sp>
        <p:nvSpPr>
          <p:cNvPr id="4" name="TextBox 3"/>
          <p:cNvSpPr txBox="1"/>
          <p:nvPr/>
        </p:nvSpPr>
        <p:spPr>
          <a:xfrm>
            <a:off x="457200" y="530352"/>
            <a:ext cx="11064240" cy="475488"/>
          </a:xfrm>
          <a:prstGeom prst="rect">
            <a:avLst/>
          </a:prstGeom>
          <a:noFill/>
        </p:spPr>
        <p:txBody>
          <a:bodyPr wrap="square" lIns="0" rIns="0" tIns="0" bIns="0" anchor="t">
            <a:spAutoFit/>
          </a:bodyPr>
          <a:lstStyle/>
          <a:p>
            <a:pPr algn="l">
              <a:lnSpc>
                <a:spcPct val="100000"/>
              </a:lnSpc>
              <a:spcAft>
                <a:spcPts val="0"/>
              </a:spcAft>
            </a:pPr>
            <a:r>
              <a:rPr sz="2550" b="1">
                <a:solidFill>
                  <a:srgbClr val="0B1F3A"/>
                </a:solidFill>
                <a:latin typeface="Aptos Display"/>
              </a:rPr>
              <a:t>Eight Years of Proven In-Orbit Bioprinting</a:t>
            </a:r>
          </a:p>
        </p:txBody>
      </p:sp>
      <p:sp>
        <p:nvSpPr>
          <p:cNvPr id="5" name="TextBox 4"/>
          <p:cNvSpPr txBox="1"/>
          <p:nvPr/>
        </p:nvSpPr>
        <p:spPr>
          <a:xfrm>
            <a:off x="457200" y="1051560"/>
            <a:ext cx="11064240" cy="246888"/>
          </a:xfrm>
          <a:prstGeom prst="rect">
            <a:avLst/>
          </a:prstGeom>
          <a:noFill/>
        </p:spPr>
        <p:txBody>
          <a:bodyPr wrap="square" lIns="0" rIns="0" tIns="0" bIns="0" anchor="t">
            <a:spAutoFit/>
          </a:bodyPr>
          <a:lstStyle/>
          <a:p>
            <a:pPr algn="l">
              <a:lnSpc>
                <a:spcPct val="100000"/>
              </a:lnSpc>
              <a:spcAft>
                <a:spcPts val="0"/>
              </a:spcAft>
            </a:pPr>
            <a:r>
              <a:rPr sz="1019" b="0">
                <a:solidFill>
                  <a:srgbClr val="50657B"/>
                </a:solidFill>
                <a:latin typeface="Aptos"/>
              </a:rPr>
              <a:t>Seven public milestones from independent organisations validate the science and its commercial feasibility.</a:t>
            </a:r>
          </a:p>
        </p:txBody>
      </p:sp>
      <p:cxnSp>
        <p:nvCxnSpPr>
          <p:cNvPr id="6" name="Connector 5"/>
          <p:cNvCxnSpPr/>
          <p:nvPr/>
        </p:nvCxnSpPr>
        <p:spPr>
          <a:xfrm>
            <a:off x="457200" y="6510528"/>
            <a:ext cx="11274552" cy="0"/>
          </a:xfrm>
          <a:prstGeom prst="line">
            <a:avLst/>
          </a:prstGeom>
          <a:ln w="7620">
            <a:solidFill>
              <a:srgbClr val="D7E1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57200" y="6565392"/>
            <a:ext cx="1645920" cy="109728"/>
          </a:xfrm>
          <a:prstGeom prst="rect">
            <a:avLst/>
          </a:prstGeom>
          <a:noFill/>
        </p:spPr>
        <p:txBody>
          <a:bodyPr wrap="square" lIns="0" rIns="0" tIns="0" bIns="0" anchor="t">
            <a:spAutoFit/>
          </a:bodyPr>
          <a:lstStyle/>
          <a:p>
            <a:pPr algn="l">
              <a:lnSpc>
                <a:spcPct val="100000"/>
              </a:lnSpc>
              <a:spcAft>
                <a:spcPts val="0"/>
              </a:spcAft>
            </a:pPr>
            <a:r>
              <a:rPr sz="670" b="1">
                <a:solidFill>
                  <a:srgbClr val="708399"/>
                </a:solidFill>
                <a:latin typeface="Aptos"/>
              </a:rPr>
              <a:t>SAMUEL SPACE</a:t>
            </a:r>
          </a:p>
        </p:txBody>
      </p:sp>
      <p:sp>
        <p:nvSpPr>
          <p:cNvPr id="8" name="TextBox 7"/>
          <p:cNvSpPr txBox="1"/>
          <p:nvPr/>
        </p:nvSpPr>
        <p:spPr>
          <a:xfrm>
            <a:off x="10927080" y="6565392"/>
            <a:ext cx="804672" cy="109728"/>
          </a:xfrm>
          <a:prstGeom prst="rect">
            <a:avLst/>
          </a:prstGeom>
          <a:noFill/>
        </p:spPr>
        <p:txBody>
          <a:bodyPr wrap="square" lIns="0" rIns="0" tIns="0" bIns="0" anchor="t">
            <a:spAutoFit/>
          </a:bodyPr>
          <a:lstStyle/>
          <a:p>
            <a:pPr algn="r">
              <a:lnSpc>
                <a:spcPct val="100000"/>
              </a:lnSpc>
              <a:spcAft>
                <a:spcPts val="0"/>
              </a:spcAft>
            </a:pPr>
            <a:r>
              <a:rPr sz="670" b="1">
                <a:solidFill>
                  <a:srgbClr val="708399"/>
                </a:solidFill>
                <a:latin typeface="Aptos"/>
              </a:rPr>
              <a:t>08 / 21</a:t>
            </a:r>
          </a:p>
        </p:txBody>
      </p:sp>
      <p:sp>
        <p:nvSpPr>
          <p:cNvPr id="9" name="Rounded Rectangle 8"/>
          <p:cNvSpPr/>
          <p:nvPr/>
        </p:nvSpPr>
        <p:spPr>
          <a:xfrm>
            <a:off x="457200" y="1536192"/>
            <a:ext cx="2679192" cy="2011680"/>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40080" y="1737360"/>
            <a:ext cx="365760" cy="256032"/>
          </a:xfrm>
          <a:prstGeom prst="rect">
            <a:avLst/>
          </a:prstGeom>
          <a:noFill/>
        </p:spPr>
        <p:txBody>
          <a:bodyPr wrap="square" lIns="0" rIns="0" tIns="0" bIns="0" anchor="t">
            <a:spAutoFit/>
          </a:bodyPr>
          <a:lstStyle/>
          <a:p>
            <a:pPr algn="l">
              <a:lnSpc>
                <a:spcPct val="100000"/>
              </a:lnSpc>
              <a:spcAft>
                <a:spcPts val="0"/>
              </a:spcAft>
            </a:pPr>
            <a:r>
              <a:rPr sz="1700" b="1">
                <a:solidFill>
                  <a:srgbClr val="BED0DF"/>
                </a:solidFill>
                <a:latin typeface="Aptos"/>
              </a:rPr>
              <a:t>01</a:t>
            </a:r>
          </a:p>
        </p:txBody>
      </p:sp>
      <p:sp>
        <p:nvSpPr>
          <p:cNvPr id="11" name="TextBox 10"/>
          <p:cNvSpPr txBox="1"/>
          <p:nvPr/>
        </p:nvSpPr>
        <p:spPr>
          <a:xfrm>
            <a:off x="1115568" y="1773936"/>
            <a:ext cx="1691640" cy="182880"/>
          </a:xfrm>
          <a:prstGeom prst="rect">
            <a:avLst/>
          </a:prstGeom>
          <a:noFill/>
        </p:spPr>
        <p:txBody>
          <a:bodyPr wrap="square" lIns="0" rIns="0" tIns="0" bIns="0" anchor="t">
            <a:spAutoFit/>
          </a:bodyPr>
          <a:lstStyle/>
          <a:p>
            <a:pPr algn="l">
              <a:lnSpc>
                <a:spcPct val="100000"/>
              </a:lnSpc>
              <a:spcAft>
                <a:spcPts val="0"/>
              </a:spcAft>
            </a:pPr>
            <a:r>
              <a:rPr sz="850" b="1">
                <a:solidFill>
                  <a:srgbClr val="087F72"/>
                </a:solidFill>
                <a:latin typeface="Aptos"/>
              </a:rPr>
              <a:t>2018</a:t>
            </a:r>
          </a:p>
        </p:txBody>
      </p:sp>
      <p:sp>
        <p:nvSpPr>
          <p:cNvPr id="12" name="TextBox 11"/>
          <p:cNvSpPr txBox="1"/>
          <p:nvPr/>
        </p:nvSpPr>
        <p:spPr>
          <a:xfrm>
            <a:off x="640080" y="2194560"/>
            <a:ext cx="2286000" cy="365760"/>
          </a:xfrm>
          <a:prstGeom prst="rect">
            <a:avLst/>
          </a:prstGeom>
          <a:noFill/>
        </p:spPr>
        <p:txBody>
          <a:bodyPr wrap="square" lIns="0" rIns="0" tIns="0" bIns="0" anchor="t">
            <a:spAutoFit/>
          </a:bodyPr>
          <a:lstStyle/>
          <a:p>
            <a:pPr algn="l">
              <a:lnSpc>
                <a:spcPct val="100000"/>
              </a:lnSpc>
              <a:spcAft>
                <a:spcPts val="0"/>
              </a:spcAft>
            </a:pPr>
            <a:r>
              <a:rPr sz="1240" b="1">
                <a:solidFill>
                  <a:srgbClr val="0B1F3A"/>
                </a:solidFill>
                <a:latin typeface="Aptos"/>
              </a:rPr>
              <a:t>ROSCOSMOS Organ.Aut</a:t>
            </a:r>
          </a:p>
        </p:txBody>
      </p:sp>
      <p:sp>
        <p:nvSpPr>
          <p:cNvPr id="13" name="TextBox 12"/>
          <p:cNvSpPr txBox="1"/>
          <p:nvPr/>
        </p:nvSpPr>
        <p:spPr>
          <a:xfrm>
            <a:off x="640080" y="2660904"/>
            <a:ext cx="2286000" cy="649224"/>
          </a:xfrm>
          <a:prstGeom prst="rect">
            <a:avLst/>
          </a:prstGeom>
          <a:noFill/>
        </p:spPr>
        <p:txBody>
          <a:bodyPr wrap="square" lIns="0" rIns="0" tIns="0" bIns="0" anchor="t">
            <a:spAutoFit/>
          </a:bodyPr>
          <a:lstStyle/>
          <a:p>
            <a:pPr algn="l">
              <a:lnSpc>
                <a:spcPct val="102000"/>
              </a:lnSpc>
              <a:spcAft>
                <a:spcPts val="0"/>
              </a:spcAft>
            </a:pPr>
            <a:r>
              <a:rPr sz="919" b="0">
                <a:solidFill>
                  <a:srgbClr val="50657B"/>
                </a:solidFill>
                <a:latin typeface="Aptos"/>
              </a:rPr>
              <a:t>First magnetic 3D bioprinter on the ISS; tissue constructs created through 2020 prove the in-orbit approach.</a:t>
            </a:r>
          </a:p>
        </p:txBody>
      </p:sp>
      <p:sp>
        <p:nvSpPr>
          <p:cNvPr id="14" name="Rounded Rectangle 13"/>
          <p:cNvSpPr/>
          <p:nvPr/>
        </p:nvSpPr>
        <p:spPr>
          <a:xfrm>
            <a:off x="3291840" y="1536192"/>
            <a:ext cx="2679192" cy="2011680"/>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74720" y="1737360"/>
            <a:ext cx="365760" cy="256032"/>
          </a:xfrm>
          <a:prstGeom prst="rect">
            <a:avLst/>
          </a:prstGeom>
          <a:noFill/>
        </p:spPr>
        <p:txBody>
          <a:bodyPr wrap="square" lIns="0" rIns="0" tIns="0" bIns="0" anchor="t">
            <a:spAutoFit/>
          </a:bodyPr>
          <a:lstStyle/>
          <a:p>
            <a:pPr algn="l">
              <a:lnSpc>
                <a:spcPct val="100000"/>
              </a:lnSpc>
              <a:spcAft>
                <a:spcPts val="0"/>
              </a:spcAft>
            </a:pPr>
            <a:r>
              <a:rPr sz="1700" b="1">
                <a:solidFill>
                  <a:srgbClr val="BED0DF"/>
                </a:solidFill>
                <a:latin typeface="Aptos"/>
              </a:rPr>
              <a:t>02</a:t>
            </a:r>
          </a:p>
        </p:txBody>
      </p:sp>
      <p:sp>
        <p:nvSpPr>
          <p:cNvPr id="16" name="TextBox 15"/>
          <p:cNvSpPr txBox="1"/>
          <p:nvPr/>
        </p:nvSpPr>
        <p:spPr>
          <a:xfrm>
            <a:off x="3950208" y="1773936"/>
            <a:ext cx="1691640" cy="182880"/>
          </a:xfrm>
          <a:prstGeom prst="rect">
            <a:avLst/>
          </a:prstGeom>
          <a:noFill/>
        </p:spPr>
        <p:txBody>
          <a:bodyPr wrap="square" lIns="0" rIns="0" tIns="0" bIns="0" anchor="t">
            <a:spAutoFit/>
          </a:bodyPr>
          <a:lstStyle/>
          <a:p>
            <a:pPr algn="l">
              <a:lnSpc>
                <a:spcPct val="100000"/>
              </a:lnSpc>
              <a:spcAft>
                <a:spcPts val="0"/>
              </a:spcAft>
            </a:pPr>
            <a:r>
              <a:rPr sz="850" b="1">
                <a:solidFill>
                  <a:srgbClr val="087F72"/>
                </a:solidFill>
                <a:latin typeface="Aptos"/>
              </a:rPr>
              <a:t>2019</a:t>
            </a:r>
          </a:p>
        </p:txBody>
      </p:sp>
      <p:sp>
        <p:nvSpPr>
          <p:cNvPr id="17" name="TextBox 16"/>
          <p:cNvSpPr txBox="1"/>
          <p:nvPr/>
        </p:nvSpPr>
        <p:spPr>
          <a:xfrm>
            <a:off x="3474720" y="2194560"/>
            <a:ext cx="2286000" cy="365760"/>
          </a:xfrm>
          <a:prstGeom prst="rect">
            <a:avLst/>
          </a:prstGeom>
          <a:noFill/>
        </p:spPr>
        <p:txBody>
          <a:bodyPr wrap="square" lIns="0" rIns="0" tIns="0" bIns="0" anchor="t">
            <a:spAutoFit/>
          </a:bodyPr>
          <a:lstStyle/>
          <a:p>
            <a:pPr algn="l">
              <a:lnSpc>
                <a:spcPct val="100000"/>
              </a:lnSpc>
              <a:spcAft>
                <a:spcPts val="0"/>
              </a:spcAft>
            </a:pPr>
            <a:r>
              <a:rPr sz="1240" b="1">
                <a:solidFill>
                  <a:srgbClr val="0B1F3A"/>
                </a:solidFill>
                <a:latin typeface="Aptos"/>
              </a:rPr>
              <a:t>Redwire BFF Launched</a:t>
            </a:r>
          </a:p>
        </p:txBody>
      </p:sp>
      <p:sp>
        <p:nvSpPr>
          <p:cNvPr id="18" name="TextBox 17"/>
          <p:cNvSpPr txBox="1"/>
          <p:nvPr/>
        </p:nvSpPr>
        <p:spPr>
          <a:xfrm>
            <a:off x="3474720" y="2660904"/>
            <a:ext cx="2286000" cy="649224"/>
          </a:xfrm>
          <a:prstGeom prst="rect">
            <a:avLst/>
          </a:prstGeom>
          <a:noFill/>
        </p:spPr>
        <p:txBody>
          <a:bodyPr wrap="square" lIns="0" rIns="0" tIns="0" bIns="0" anchor="t">
            <a:spAutoFit/>
          </a:bodyPr>
          <a:lstStyle/>
          <a:p>
            <a:pPr algn="l">
              <a:lnSpc>
                <a:spcPct val="102000"/>
              </a:lnSpc>
              <a:spcAft>
                <a:spcPts val="0"/>
              </a:spcAft>
            </a:pPr>
            <a:r>
              <a:rPr sz="919" b="0">
                <a:solidFill>
                  <a:srgbClr val="50657B"/>
                </a:solidFill>
                <a:latin typeface="Aptos"/>
              </a:rPr>
              <a:t>BioFabrication Facility arrives on the ISS; later named a Popular Science Best of What's New 2023.</a:t>
            </a:r>
          </a:p>
        </p:txBody>
      </p:sp>
      <p:sp>
        <p:nvSpPr>
          <p:cNvPr id="19" name="Rounded Rectangle 18"/>
          <p:cNvSpPr/>
          <p:nvPr/>
        </p:nvSpPr>
        <p:spPr>
          <a:xfrm>
            <a:off x="6126480" y="1536192"/>
            <a:ext cx="2679192" cy="2011680"/>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309360" y="1737360"/>
            <a:ext cx="365760" cy="256032"/>
          </a:xfrm>
          <a:prstGeom prst="rect">
            <a:avLst/>
          </a:prstGeom>
          <a:noFill/>
        </p:spPr>
        <p:txBody>
          <a:bodyPr wrap="square" lIns="0" rIns="0" tIns="0" bIns="0" anchor="t">
            <a:spAutoFit/>
          </a:bodyPr>
          <a:lstStyle/>
          <a:p>
            <a:pPr algn="l">
              <a:lnSpc>
                <a:spcPct val="100000"/>
              </a:lnSpc>
              <a:spcAft>
                <a:spcPts val="0"/>
              </a:spcAft>
            </a:pPr>
            <a:r>
              <a:rPr sz="1700" b="1">
                <a:solidFill>
                  <a:srgbClr val="BED0DF"/>
                </a:solidFill>
                <a:latin typeface="Aptos"/>
              </a:rPr>
              <a:t>03</a:t>
            </a:r>
          </a:p>
        </p:txBody>
      </p:sp>
      <p:sp>
        <p:nvSpPr>
          <p:cNvPr id="21" name="TextBox 20"/>
          <p:cNvSpPr txBox="1"/>
          <p:nvPr/>
        </p:nvSpPr>
        <p:spPr>
          <a:xfrm>
            <a:off x="6784848" y="1773936"/>
            <a:ext cx="1691640" cy="182880"/>
          </a:xfrm>
          <a:prstGeom prst="rect">
            <a:avLst/>
          </a:prstGeom>
          <a:noFill/>
        </p:spPr>
        <p:txBody>
          <a:bodyPr wrap="square" lIns="0" rIns="0" tIns="0" bIns="0" anchor="t">
            <a:spAutoFit/>
          </a:bodyPr>
          <a:lstStyle/>
          <a:p>
            <a:pPr algn="l">
              <a:lnSpc>
                <a:spcPct val="100000"/>
              </a:lnSpc>
              <a:spcAft>
                <a:spcPts val="0"/>
              </a:spcAft>
            </a:pPr>
            <a:r>
              <a:rPr sz="850" b="1">
                <a:solidFill>
                  <a:srgbClr val="087F72"/>
                </a:solidFill>
                <a:latin typeface="Aptos"/>
              </a:rPr>
              <a:t>DEC '21</a:t>
            </a:r>
          </a:p>
        </p:txBody>
      </p:sp>
      <p:sp>
        <p:nvSpPr>
          <p:cNvPr id="22" name="TextBox 21"/>
          <p:cNvSpPr txBox="1"/>
          <p:nvPr/>
        </p:nvSpPr>
        <p:spPr>
          <a:xfrm>
            <a:off x="6309360" y="2194560"/>
            <a:ext cx="2286000" cy="365760"/>
          </a:xfrm>
          <a:prstGeom prst="rect">
            <a:avLst/>
          </a:prstGeom>
          <a:noFill/>
        </p:spPr>
        <p:txBody>
          <a:bodyPr wrap="square" lIns="0" rIns="0" tIns="0" bIns="0" anchor="t">
            <a:spAutoFit/>
          </a:bodyPr>
          <a:lstStyle/>
          <a:p>
            <a:pPr algn="l">
              <a:lnSpc>
                <a:spcPct val="100000"/>
              </a:lnSpc>
              <a:spcAft>
                <a:spcPts val="0"/>
              </a:spcAft>
            </a:pPr>
            <a:r>
              <a:rPr sz="1240" b="1">
                <a:solidFill>
                  <a:srgbClr val="0B1F3A"/>
                </a:solidFill>
                <a:latin typeface="Aptos"/>
              </a:rPr>
              <a:t>ESA Bioprint FirstAid</a:t>
            </a:r>
          </a:p>
        </p:txBody>
      </p:sp>
      <p:sp>
        <p:nvSpPr>
          <p:cNvPr id="23" name="TextBox 22"/>
          <p:cNvSpPr txBox="1"/>
          <p:nvPr/>
        </p:nvSpPr>
        <p:spPr>
          <a:xfrm>
            <a:off x="6309360" y="2660904"/>
            <a:ext cx="2286000" cy="649224"/>
          </a:xfrm>
          <a:prstGeom prst="rect">
            <a:avLst/>
          </a:prstGeom>
          <a:noFill/>
        </p:spPr>
        <p:txBody>
          <a:bodyPr wrap="square" lIns="0" rIns="0" tIns="0" bIns="0" anchor="t">
            <a:spAutoFit/>
          </a:bodyPr>
          <a:lstStyle/>
          <a:p>
            <a:pPr algn="l">
              <a:lnSpc>
                <a:spcPct val="102000"/>
              </a:lnSpc>
              <a:spcAft>
                <a:spcPts val="0"/>
              </a:spcAft>
            </a:pPr>
            <a:r>
              <a:rPr sz="919" b="0">
                <a:solidFill>
                  <a:srgbClr val="50657B"/>
                </a:solidFill>
                <a:latin typeface="Aptos"/>
              </a:rPr>
              <a:t>Portable handheld bioprinter demonstrated by astronaut Matthias Maurer during the Cosmic Kiss mission.</a:t>
            </a:r>
          </a:p>
        </p:txBody>
      </p:sp>
      <p:sp>
        <p:nvSpPr>
          <p:cNvPr id="24" name="Rounded Rectangle 23"/>
          <p:cNvSpPr/>
          <p:nvPr/>
        </p:nvSpPr>
        <p:spPr>
          <a:xfrm>
            <a:off x="8961120" y="1536192"/>
            <a:ext cx="2679192" cy="2011680"/>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0" y="1737360"/>
            <a:ext cx="365760" cy="256032"/>
          </a:xfrm>
          <a:prstGeom prst="rect">
            <a:avLst/>
          </a:prstGeom>
          <a:noFill/>
        </p:spPr>
        <p:txBody>
          <a:bodyPr wrap="square" lIns="0" rIns="0" tIns="0" bIns="0" anchor="t">
            <a:spAutoFit/>
          </a:bodyPr>
          <a:lstStyle/>
          <a:p>
            <a:pPr algn="l">
              <a:lnSpc>
                <a:spcPct val="100000"/>
              </a:lnSpc>
              <a:spcAft>
                <a:spcPts val="0"/>
              </a:spcAft>
            </a:pPr>
            <a:r>
              <a:rPr sz="1700" b="1">
                <a:solidFill>
                  <a:srgbClr val="BED0DF"/>
                </a:solidFill>
                <a:latin typeface="Aptos"/>
              </a:rPr>
              <a:t>04</a:t>
            </a:r>
          </a:p>
        </p:txBody>
      </p:sp>
      <p:sp>
        <p:nvSpPr>
          <p:cNvPr id="26" name="TextBox 25"/>
          <p:cNvSpPr txBox="1"/>
          <p:nvPr/>
        </p:nvSpPr>
        <p:spPr>
          <a:xfrm>
            <a:off x="9619488" y="1773936"/>
            <a:ext cx="1691640" cy="182880"/>
          </a:xfrm>
          <a:prstGeom prst="rect">
            <a:avLst/>
          </a:prstGeom>
          <a:noFill/>
        </p:spPr>
        <p:txBody>
          <a:bodyPr wrap="square" lIns="0" rIns="0" tIns="0" bIns="0" anchor="t">
            <a:spAutoFit/>
          </a:bodyPr>
          <a:lstStyle/>
          <a:p>
            <a:pPr algn="l">
              <a:lnSpc>
                <a:spcPct val="100000"/>
              </a:lnSpc>
              <a:spcAft>
                <a:spcPts val="0"/>
              </a:spcAft>
            </a:pPr>
            <a:r>
              <a:rPr sz="850" b="1">
                <a:solidFill>
                  <a:srgbClr val="087F72"/>
                </a:solidFill>
                <a:latin typeface="Aptos"/>
              </a:rPr>
              <a:t>SEP '23</a:t>
            </a:r>
          </a:p>
        </p:txBody>
      </p:sp>
      <p:sp>
        <p:nvSpPr>
          <p:cNvPr id="27" name="TextBox 26"/>
          <p:cNvSpPr txBox="1"/>
          <p:nvPr/>
        </p:nvSpPr>
        <p:spPr>
          <a:xfrm>
            <a:off x="9144000" y="2194560"/>
            <a:ext cx="2286000" cy="365760"/>
          </a:xfrm>
          <a:prstGeom prst="rect">
            <a:avLst/>
          </a:prstGeom>
          <a:noFill/>
        </p:spPr>
        <p:txBody>
          <a:bodyPr wrap="square" lIns="0" rIns="0" tIns="0" bIns="0" anchor="t">
            <a:spAutoFit/>
          </a:bodyPr>
          <a:lstStyle/>
          <a:p>
            <a:pPr algn="l">
              <a:lnSpc>
                <a:spcPct val="100000"/>
              </a:lnSpc>
              <a:spcAft>
                <a:spcPts val="0"/>
              </a:spcAft>
            </a:pPr>
            <a:r>
              <a:rPr sz="1240" b="1">
                <a:solidFill>
                  <a:srgbClr val="0B1F3A"/>
                </a:solidFill>
                <a:latin typeface="Aptos"/>
              </a:rPr>
              <a:t>First Knee Meniscus</a:t>
            </a:r>
          </a:p>
        </p:txBody>
      </p:sp>
      <p:sp>
        <p:nvSpPr>
          <p:cNvPr id="28" name="TextBox 27"/>
          <p:cNvSpPr txBox="1"/>
          <p:nvPr/>
        </p:nvSpPr>
        <p:spPr>
          <a:xfrm>
            <a:off x="9144000" y="2660904"/>
            <a:ext cx="2286000" cy="649224"/>
          </a:xfrm>
          <a:prstGeom prst="rect">
            <a:avLst/>
          </a:prstGeom>
          <a:noFill/>
        </p:spPr>
        <p:txBody>
          <a:bodyPr wrap="square" lIns="0" rIns="0" tIns="0" bIns="0" anchor="t">
            <a:spAutoFit/>
          </a:bodyPr>
          <a:lstStyle/>
          <a:p>
            <a:pPr algn="l">
              <a:lnSpc>
                <a:spcPct val="102000"/>
              </a:lnSpc>
              <a:spcAft>
                <a:spcPts val="0"/>
              </a:spcAft>
            </a:pPr>
            <a:r>
              <a:rPr sz="919" b="0">
                <a:solidFill>
                  <a:srgbClr val="50657B"/>
                </a:solidFill>
                <a:latin typeface="Aptos"/>
              </a:rPr>
              <a:t>Redwire BFF prints the first human knee meniscus in orbit — a musculoskeletal milestone.</a:t>
            </a:r>
          </a:p>
        </p:txBody>
      </p:sp>
      <p:sp>
        <p:nvSpPr>
          <p:cNvPr id="29" name="Rounded Rectangle 28"/>
          <p:cNvSpPr/>
          <p:nvPr/>
        </p:nvSpPr>
        <p:spPr>
          <a:xfrm>
            <a:off x="457200" y="3803904"/>
            <a:ext cx="3621024" cy="2249424"/>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58368" y="4023360"/>
            <a:ext cx="411480" cy="274320"/>
          </a:xfrm>
          <a:prstGeom prst="rect">
            <a:avLst/>
          </a:prstGeom>
          <a:noFill/>
        </p:spPr>
        <p:txBody>
          <a:bodyPr wrap="square" lIns="0" rIns="0" tIns="0" bIns="0" anchor="t">
            <a:spAutoFit/>
          </a:bodyPr>
          <a:lstStyle/>
          <a:p>
            <a:pPr algn="l">
              <a:lnSpc>
                <a:spcPct val="100000"/>
              </a:lnSpc>
              <a:spcAft>
                <a:spcPts val="0"/>
              </a:spcAft>
            </a:pPr>
            <a:r>
              <a:rPr sz="1800" b="1">
                <a:solidFill>
                  <a:srgbClr val="BED0DF"/>
                </a:solidFill>
                <a:latin typeface="Aptos"/>
              </a:rPr>
              <a:t>05</a:t>
            </a:r>
          </a:p>
        </p:txBody>
      </p:sp>
      <p:sp>
        <p:nvSpPr>
          <p:cNvPr id="31" name="TextBox 30"/>
          <p:cNvSpPr txBox="1"/>
          <p:nvPr/>
        </p:nvSpPr>
        <p:spPr>
          <a:xfrm>
            <a:off x="1188720" y="4059936"/>
            <a:ext cx="2331720" cy="182880"/>
          </a:xfrm>
          <a:prstGeom prst="rect">
            <a:avLst/>
          </a:prstGeom>
          <a:noFill/>
        </p:spPr>
        <p:txBody>
          <a:bodyPr wrap="square" lIns="0" rIns="0" tIns="0" bIns="0" anchor="t">
            <a:spAutoFit/>
          </a:bodyPr>
          <a:lstStyle/>
          <a:p>
            <a:pPr algn="l">
              <a:lnSpc>
                <a:spcPct val="100000"/>
              </a:lnSpc>
              <a:spcAft>
                <a:spcPts val="0"/>
              </a:spcAft>
            </a:pPr>
            <a:r>
              <a:rPr sz="850" b="1">
                <a:solidFill>
                  <a:srgbClr val="087F72"/>
                </a:solidFill>
                <a:latin typeface="Aptos"/>
              </a:rPr>
              <a:t>MAY '24</a:t>
            </a:r>
          </a:p>
        </p:txBody>
      </p:sp>
      <p:sp>
        <p:nvSpPr>
          <p:cNvPr id="32" name="TextBox 31"/>
          <p:cNvSpPr txBox="1"/>
          <p:nvPr/>
        </p:nvSpPr>
        <p:spPr>
          <a:xfrm>
            <a:off x="658368" y="4517136"/>
            <a:ext cx="3154680" cy="347472"/>
          </a:xfrm>
          <a:prstGeom prst="rect">
            <a:avLst/>
          </a:prstGeom>
          <a:noFill/>
        </p:spPr>
        <p:txBody>
          <a:bodyPr wrap="square" lIns="0" rIns="0" tIns="0" bIns="0" anchor="t">
            <a:spAutoFit/>
          </a:bodyPr>
          <a:lstStyle/>
          <a:p>
            <a:pPr algn="l">
              <a:lnSpc>
                <a:spcPct val="100000"/>
              </a:lnSpc>
              <a:spcAft>
                <a:spcPts val="0"/>
              </a:spcAft>
            </a:pPr>
            <a:r>
              <a:rPr sz="1330" b="1">
                <a:solidFill>
                  <a:srgbClr val="0B1F3A"/>
                </a:solidFill>
                <a:latin typeface="Aptos"/>
              </a:rPr>
              <a:t>First Cardiac Tissue</a:t>
            </a:r>
          </a:p>
        </p:txBody>
      </p:sp>
      <p:sp>
        <p:nvSpPr>
          <p:cNvPr id="33" name="TextBox 32"/>
          <p:cNvSpPr txBox="1"/>
          <p:nvPr/>
        </p:nvSpPr>
        <p:spPr>
          <a:xfrm>
            <a:off x="658368" y="4974336"/>
            <a:ext cx="3154680" cy="768096"/>
          </a:xfrm>
          <a:prstGeom prst="rect">
            <a:avLst/>
          </a:prstGeom>
          <a:noFill/>
        </p:spPr>
        <p:txBody>
          <a:bodyPr wrap="square" lIns="0" rIns="0" tIns="0" bIns="0" anchor="t">
            <a:spAutoFit/>
          </a:bodyPr>
          <a:lstStyle/>
          <a:p>
            <a:pPr algn="l">
              <a:lnSpc>
                <a:spcPct val="103000"/>
              </a:lnSpc>
              <a:spcAft>
                <a:spcPts val="0"/>
              </a:spcAft>
            </a:pPr>
            <a:r>
              <a:rPr sz="960" b="0">
                <a:solidFill>
                  <a:srgbClr val="50657B"/>
                </a:solidFill>
                <a:latin typeface="Aptos"/>
              </a:rPr>
              <a:t>Redwire returns the first live 3D-bioprinted human cardiac tissue from the ISS under BFF-Cardiac.</a:t>
            </a:r>
          </a:p>
        </p:txBody>
      </p:sp>
      <p:sp>
        <p:nvSpPr>
          <p:cNvPr id="34" name="Rounded Rectangle 33"/>
          <p:cNvSpPr/>
          <p:nvPr/>
        </p:nvSpPr>
        <p:spPr>
          <a:xfrm>
            <a:off x="4233672" y="3803904"/>
            <a:ext cx="3621024" cy="2249424"/>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4434840" y="4023360"/>
            <a:ext cx="411480" cy="274320"/>
          </a:xfrm>
          <a:prstGeom prst="rect">
            <a:avLst/>
          </a:prstGeom>
          <a:noFill/>
        </p:spPr>
        <p:txBody>
          <a:bodyPr wrap="square" lIns="0" rIns="0" tIns="0" bIns="0" anchor="t">
            <a:spAutoFit/>
          </a:bodyPr>
          <a:lstStyle/>
          <a:p>
            <a:pPr algn="l">
              <a:lnSpc>
                <a:spcPct val="100000"/>
              </a:lnSpc>
              <a:spcAft>
                <a:spcPts val="0"/>
              </a:spcAft>
            </a:pPr>
            <a:r>
              <a:rPr sz="1800" b="1">
                <a:solidFill>
                  <a:srgbClr val="BED0DF"/>
                </a:solidFill>
                <a:latin typeface="Aptos"/>
              </a:rPr>
              <a:t>06</a:t>
            </a:r>
          </a:p>
        </p:txBody>
      </p:sp>
      <p:sp>
        <p:nvSpPr>
          <p:cNvPr id="36" name="TextBox 35"/>
          <p:cNvSpPr txBox="1"/>
          <p:nvPr/>
        </p:nvSpPr>
        <p:spPr>
          <a:xfrm>
            <a:off x="4965192" y="4059936"/>
            <a:ext cx="2331720" cy="182880"/>
          </a:xfrm>
          <a:prstGeom prst="rect">
            <a:avLst/>
          </a:prstGeom>
          <a:noFill/>
        </p:spPr>
        <p:txBody>
          <a:bodyPr wrap="square" lIns="0" rIns="0" tIns="0" bIns="0" anchor="t">
            <a:spAutoFit/>
          </a:bodyPr>
          <a:lstStyle/>
          <a:p>
            <a:pPr algn="l">
              <a:lnSpc>
                <a:spcPct val="100000"/>
              </a:lnSpc>
              <a:spcAft>
                <a:spcPts val="0"/>
              </a:spcAft>
            </a:pPr>
            <a:r>
              <a:rPr sz="850" b="1">
                <a:solidFill>
                  <a:srgbClr val="087F72"/>
                </a:solidFill>
                <a:latin typeface="Aptos"/>
              </a:rPr>
              <a:t>SEP '25</a:t>
            </a:r>
          </a:p>
        </p:txBody>
      </p:sp>
      <p:sp>
        <p:nvSpPr>
          <p:cNvPr id="37" name="TextBox 36"/>
          <p:cNvSpPr txBox="1"/>
          <p:nvPr/>
        </p:nvSpPr>
        <p:spPr>
          <a:xfrm>
            <a:off x="4434840" y="4517136"/>
            <a:ext cx="3154680" cy="347472"/>
          </a:xfrm>
          <a:prstGeom prst="rect">
            <a:avLst/>
          </a:prstGeom>
          <a:noFill/>
        </p:spPr>
        <p:txBody>
          <a:bodyPr wrap="square" lIns="0" rIns="0" tIns="0" bIns="0" anchor="t">
            <a:spAutoFit/>
          </a:bodyPr>
          <a:lstStyle/>
          <a:p>
            <a:pPr algn="l">
              <a:lnSpc>
                <a:spcPct val="100000"/>
              </a:lnSpc>
              <a:spcAft>
                <a:spcPts val="0"/>
              </a:spcAft>
            </a:pPr>
            <a:r>
              <a:rPr sz="1330" b="1">
                <a:solidFill>
                  <a:srgbClr val="0B1F3A"/>
                </a:solidFill>
                <a:latin typeface="Aptos"/>
              </a:rPr>
              <a:t>Grants &amp; Contracts</a:t>
            </a:r>
          </a:p>
        </p:txBody>
      </p:sp>
      <p:sp>
        <p:nvSpPr>
          <p:cNvPr id="38" name="TextBox 37"/>
          <p:cNvSpPr txBox="1"/>
          <p:nvPr/>
        </p:nvSpPr>
        <p:spPr>
          <a:xfrm>
            <a:off x="4434840" y="4974336"/>
            <a:ext cx="3154680" cy="768096"/>
          </a:xfrm>
          <a:prstGeom prst="rect">
            <a:avLst/>
          </a:prstGeom>
          <a:noFill/>
        </p:spPr>
        <p:txBody>
          <a:bodyPr wrap="square" lIns="0" rIns="0" tIns="0" bIns="0" anchor="t">
            <a:spAutoFit/>
          </a:bodyPr>
          <a:lstStyle/>
          <a:p>
            <a:pPr algn="l">
              <a:lnSpc>
                <a:spcPct val="103000"/>
              </a:lnSpc>
              <a:spcAft>
                <a:spcPts val="0"/>
              </a:spcAft>
            </a:pPr>
            <a:r>
              <a:rPr sz="960" b="0">
                <a:solidFill>
                  <a:srgbClr val="50657B"/>
                </a:solidFill>
                <a:latin typeface="Aptos"/>
              </a:rPr>
              <a:t>LambdaVision wins NASA InSPA Phase 2; Redwire receives a $25M NASA IDIQ for continued ISS work.</a:t>
            </a:r>
          </a:p>
        </p:txBody>
      </p:sp>
      <p:sp>
        <p:nvSpPr>
          <p:cNvPr id="39" name="Rounded Rectangle 38"/>
          <p:cNvSpPr/>
          <p:nvPr/>
        </p:nvSpPr>
        <p:spPr>
          <a:xfrm>
            <a:off x="8010144" y="3803904"/>
            <a:ext cx="3621024" cy="2249424"/>
          </a:xfrm>
          <a:prstGeom prst="roundRect">
            <a:avLst/>
          </a:prstGeom>
          <a:solidFill>
            <a:srgbClr val="EDF9F6"/>
          </a:solidFill>
          <a:ln w="10160">
            <a:solidFill>
              <a:srgbClr val="BDE9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211312" y="4023360"/>
            <a:ext cx="411480" cy="274320"/>
          </a:xfrm>
          <a:prstGeom prst="rect">
            <a:avLst/>
          </a:prstGeom>
          <a:noFill/>
        </p:spPr>
        <p:txBody>
          <a:bodyPr wrap="square" lIns="0" rIns="0" tIns="0" bIns="0" anchor="t">
            <a:spAutoFit/>
          </a:bodyPr>
          <a:lstStyle/>
          <a:p>
            <a:pPr algn="l">
              <a:lnSpc>
                <a:spcPct val="100000"/>
              </a:lnSpc>
              <a:spcAft>
                <a:spcPts val="0"/>
              </a:spcAft>
            </a:pPr>
            <a:r>
              <a:rPr sz="1800" b="1">
                <a:solidFill>
                  <a:srgbClr val="BED0DF"/>
                </a:solidFill>
                <a:latin typeface="Aptos"/>
              </a:rPr>
              <a:t>07</a:t>
            </a:r>
          </a:p>
        </p:txBody>
      </p:sp>
      <p:sp>
        <p:nvSpPr>
          <p:cNvPr id="41" name="TextBox 40"/>
          <p:cNvSpPr txBox="1"/>
          <p:nvPr/>
        </p:nvSpPr>
        <p:spPr>
          <a:xfrm>
            <a:off x="8741664" y="4059936"/>
            <a:ext cx="2331720" cy="182880"/>
          </a:xfrm>
          <a:prstGeom prst="rect">
            <a:avLst/>
          </a:prstGeom>
          <a:noFill/>
        </p:spPr>
        <p:txBody>
          <a:bodyPr wrap="square" lIns="0" rIns="0" tIns="0" bIns="0" anchor="t">
            <a:spAutoFit/>
          </a:bodyPr>
          <a:lstStyle/>
          <a:p>
            <a:pPr algn="l">
              <a:lnSpc>
                <a:spcPct val="100000"/>
              </a:lnSpc>
              <a:spcAft>
                <a:spcPts val="0"/>
              </a:spcAft>
            </a:pPr>
            <a:r>
              <a:rPr sz="850" b="1">
                <a:solidFill>
                  <a:srgbClr val="087F72"/>
                </a:solidFill>
                <a:latin typeface="Aptos"/>
              </a:rPr>
              <a:t>2026</a:t>
            </a:r>
          </a:p>
        </p:txBody>
      </p:sp>
      <p:sp>
        <p:nvSpPr>
          <p:cNvPr id="42" name="TextBox 41"/>
          <p:cNvSpPr txBox="1"/>
          <p:nvPr/>
        </p:nvSpPr>
        <p:spPr>
          <a:xfrm>
            <a:off x="8211312" y="4517136"/>
            <a:ext cx="3154680" cy="347472"/>
          </a:xfrm>
          <a:prstGeom prst="rect">
            <a:avLst/>
          </a:prstGeom>
          <a:noFill/>
        </p:spPr>
        <p:txBody>
          <a:bodyPr wrap="square" lIns="0" rIns="0" tIns="0" bIns="0" anchor="t">
            <a:spAutoFit/>
          </a:bodyPr>
          <a:lstStyle/>
          <a:p>
            <a:pPr algn="l">
              <a:lnSpc>
                <a:spcPct val="100000"/>
              </a:lnSpc>
              <a:spcAft>
                <a:spcPts val="0"/>
              </a:spcAft>
            </a:pPr>
            <a:r>
              <a:rPr sz="1330" b="1">
                <a:solidFill>
                  <a:srgbClr val="0B1F3A"/>
                </a:solidFill>
                <a:latin typeface="Aptos"/>
              </a:rPr>
              <a:t>Commercial Pivot</a:t>
            </a:r>
          </a:p>
        </p:txBody>
      </p:sp>
      <p:sp>
        <p:nvSpPr>
          <p:cNvPr id="43" name="TextBox 42"/>
          <p:cNvSpPr txBox="1"/>
          <p:nvPr/>
        </p:nvSpPr>
        <p:spPr>
          <a:xfrm>
            <a:off x="8211312" y="4974336"/>
            <a:ext cx="3154680" cy="768096"/>
          </a:xfrm>
          <a:prstGeom prst="rect">
            <a:avLst/>
          </a:prstGeom>
          <a:noFill/>
        </p:spPr>
        <p:txBody>
          <a:bodyPr wrap="square" lIns="0" rIns="0" tIns="0" bIns="0" anchor="t">
            <a:spAutoFit/>
          </a:bodyPr>
          <a:lstStyle/>
          <a:p>
            <a:pPr algn="l">
              <a:lnSpc>
                <a:spcPct val="103000"/>
              </a:lnSpc>
              <a:spcAft>
                <a:spcPts val="0"/>
              </a:spcAft>
            </a:pPr>
            <a:r>
              <a:rPr sz="960" b="0">
                <a:solidFill>
                  <a:srgbClr val="50657B"/>
                </a:solidFill>
                <a:latin typeface="Aptos"/>
              </a:rPr>
              <a:t>LambdaVision closes a $7M seed; commercial-station payload slots are reserved ahead of ISS retirement.</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Rectangle 1"/>
          <p:cNvSpPr/>
          <p:nvPr/>
        </p:nvSpPr>
        <p:spPr>
          <a:xfrm>
            <a:off x="457200" y="256032"/>
            <a:ext cx="54864" cy="219456"/>
          </a:xfrm>
          <a:prstGeom prst="rect">
            <a:avLst/>
          </a:prstGeom>
          <a:solidFill>
            <a:srgbClr val="00A991"/>
          </a:solidFill>
          <a:ln>
            <a:solidFill>
              <a:srgbClr val="00A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3504" y="256032"/>
            <a:ext cx="4114800" cy="164592"/>
          </a:xfrm>
          <a:prstGeom prst="rect">
            <a:avLst/>
          </a:prstGeom>
          <a:noFill/>
        </p:spPr>
        <p:txBody>
          <a:bodyPr wrap="square" lIns="0" rIns="0" tIns="0" bIns="0" anchor="t">
            <a:spAutoFit/>
          </a:bodyPr>
          <a:lstStyle/>
          <a:p>
            <a:pPr algn="l">
              <a:lnSpc>
                <a:spcPct val="100000"/>
              </a:lnSpc>
              <a:spcAft>
                <a:spcPts val="0"/>
              </a:spcAft>
            </a:pPr>
            <a:r>
              <a:rPr sz="770" b="1">
                <a:solidFill>
                  <a:srgbClr val="087F72"/>
                </a:solidFill>
                <a:latin typeface="Aptos"/>
              </a:rPr>
              <a:t>MARKET OPPORTUNITY</a:t>
            </a:r>
          </a:p>
        </p:txBody>
      </p:sp>
      <p:sp>
        <p:nvSpPr>
          <p:cNvPr id="4" name="TextBox 3"/>
          <p:cNvSpPr txBox="1"/>
          <p:nvPr/>
        </p:nvSpPr>
        <p:spPr>
          <a:xfrm>
            <a:off x="457200" y="530352"/>
            <a:ext cx="11064240" cy="475488"/>
          </a:xfrm>
          <a:prstGeom prst="rect">
            <a:avLst/>
          </a:prstGeom>
          <a:noFill/>
        </p:spPr>
        <p:txBody>
          <a:bodyPr wrap="square" lIns="0" rIns="0" tIns="0" bIns="0" anchor="t">
            <a:spAutoFit/>
          </a:bodyPr>
          <a:lstStyle/>
          <a:p>
            <a:pPr algn="l">
              <a:lnSpc>
                <a:spcPct val="100000"/>
              </a:lnSpc>
              <a:spcAft>
                <a:spcPts val="0"/>
              </a:spcAft>
            </a:pPr>
            <a:r>
              <a:rPr sz="2550" b="1">
                <a:solidFill>
                  <a:srgbClr val="0B1F3A"/>
                </a:solidFill>
                <a:latin typeface="Aptos Display"/>
              </a:rPr>
              <a:t>A Rapidly Expanding Global Addressable Market</a:t>
            </a:r>
          </a:p>
        </p:txBody>
      </p:sp>
      <p:cxnSp>
        <p:nvCxnSpPr>
          <p:cNvPr id="5" name="Connector 4"/>
          <p:cNvCxnSpPr/>
          <p:nvPr/>
        </p:nvCxnSpPr>
        <p:spPr>
          <a:xfrm>
            <a:off x="457200" y="6510528"/>
            <a:ext cx="11274552" cy="0"/>
          </a:xfrm>
          <a:prstGeom prst="line">
            <a:avLst/>
          </a:prstGeom>
          <a:ln w="7620">
            <a:solidFill>
              <a:srgbClr val="D7E1E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65392"/>
            <a:ext cx="1645920" cy="109728"/>
          </a:xfrm>
          <a:prstGeom prst="rect">
            <a:avLst/>
          </a:prstGeom>
          <a:noFill/>
        </p:spPr>
        <p:txBody>
          <a:bodyPr wrap="square" lIns="0" rIns="0" tIns="0" bIns="0" anchor="t">
            <a:spAutoFit/>
          </a:bodyPr>
          <a:lstStyle/>
          <a:p>
            <a:pPr algn="l">
              <a:lnSpc>
                <a:spcPct val="100000"/>
              </a:lnSpc>
              <a:spcAft>
                <a:spcPts val="0"/>
              </a:spcAft>
            </a:pPr>
            <a:r>
              <a:rPr sz="670" b="1">
                <a:solidFill>
                  <a:srgbClr val="708399"/>
                </a:solidFill>
                <a:latin typeface="Aptos"/>
              </a:rPr>
              <a:t>SAMUEL SPACE</a:t>
            </a:r>
          </a:p>
        </p:txBody>
      </p:sp>
      <p:sp>
        <p:nvSpPr>
          <p:cNvPr id="7" name="TextBox 6"/>
          <p:cNvSpPr txBox="1"/>
          <p:nvPr/>
        </p:nvSpPr>
        <p:spPr>
          <a:xfrm>
            <a:off x="10927080" y="6565392"/>
            <a:ext cx="804672" cy="109728"/>
          </a:xfrm>
          <a:prstGeom prst="rect">
            <a:avLst/>
          </a:prstGeom>
          <a:noFill/>
        </p:spPr>
        <p:txBody>
          <a:bodyPr wrap="square" lIns="0" rIns="0" tIns="0" bIns="0" anchor="t">
            <a:spAutoFit/>
          </a:bodyPr>
          <a:lstStyle/>
          <a:p>
            <a:pPr algn="r">
              <a:lnSpc>
                <a:spcPct val="100000"/>
              </a:lnSpc>
              <a:spcAft>
                <a:spcPts val="0"/>
              </a:spcAft>
            </a:pPr>
            <a:r>
              <a:rPr sz="670" b="1">
                <a:solidFill>
                  <a:srgbClr val="708399"/>
                </a:solidFill>
                <a:latin typeface="Aptos"/>
              </a:rPr>
              <a:t>09 / 21</a:t>
            </a:r>
          </a:p>
        </p:txBody>
      </p:sp>
      <p:sp>
        <p:nvSpPr>
          <p:cNvPr id="8" name="TextBox 7"/>
          <p:cNvSpPr txBox="1"/>
          <p:nvPr/>
        </p:nvSpPr>
        <p:spPr>
          <a:xfrm>
            <a:off x="475488" y="1298448"/>
            <a:ext cx="6309360" cy="182880"/>
          </a:xfrm>
          <a:prstGeom prst="rect">
            <a:avLst/>
          </a:prstGeom>
          <a:noFill/>
        </p:spPr>
        <p:txBody>
          <a:bodyPr wrap="square" lIns="0" rIns="0" tIns="0" bIns="0" anchor="t">
            <a:spAutoFit/>
          </a:bodyPr>
          <a:lstStyle/>
          <a:p>
            <a:pPr algn="l">
              <a:lnSpc>
                <a:spcPct val="100000"/>
              </a:lnSpc>
              <a:spcAft>
                <a:spcPts val="0"/>
              </a:spcAft>
            </a:pPr>
            <a:r>
              <a:rPr sz="819" b="1">
                <a:solidFill>
                  <a:srgbClr val="708399"/>
                </a:solidFill>
                <a:latin typeface="Aptos"/>
              </a:rPr>
              <a:t>GLOBAL 3D BIOPRINTING MARKET · USD $B</a:t>
            </a:r>
          </a:p>
        </p:txBody>
      </p:sp>
      <p:graphicFrame>
        <p:nvGraphicFramePr>
          <p:cNvPr id="9" name="Chart 8"/>
          <p:cNvGraphicFramePr>
            <a:graphicFrameLocks noGrp="1"/>
          </p:cNvGraphicFramePr>
          <p:nvPr/>
        </p:nvGraphicFramePr>
        <p:xfrm>
          <a:off x="457200" y="1536192"/>
          <a:ext cx="6629400" cy="4434840"/>
        </p:xfrm>
        <a:graphic>
          <a:graphicData uri="http://schemas.openxmlformats.org/drawingml/2006/chart">
            <c:chart xmlns:c="http://schemas.openxmlformats.org/drawingml/2006/chart" r:id="rId2"/>
          </a:graphicData>
        </a:graphic>
      </p:graphicFrame>
      <p:sp>
        <p:nvSpPr>
          <p:cNvPr id="10" name="TextBox 9"/>
          <p:cNvSpPr txBox="1"/>
          <p:nvPr/>
        </p:nvSpPr>
        <p:spPr>
          <a:xfrm>
            <a:off x="475488" y="5961888"/>
            <a:ext cx="6400800" cy="146304"/>
          </a:xfrm>
          <a:prstGeom prst="rect">
            <a:avLst/>
          </a:prstGeom>
          <a:noFill/>
        </p:spPr>
        <p:txBody>
          <a:bodyPr wrap="square" lIns="0" rIns="0" tIns="0" bIns="0" anchor="t">
            <a:spAutoFit/>
          </a:bodyPr>
          <a:lstStyle/>
          <a:p>
            <a:pPr algn="l">
              <a:lnSpc>
                <a:spcPct val="100000"/>
              </a:lnSpc>
              <a:spcAft>
                <a:spcPts val="0"/>
              </a:spcAft>
            </a:pPr>
            <a:r>
              <a:rPr sz="740" b="0">
                <a:solidFill>
                  <a:srgbClr val="708399"/>
                </a:solidFill>
                <a:latin typeface="Aptos"/>
              </a:rPr>
              <a:t>Source: Mordor Intelligence, January 2026 · ~15.9% CAGR</a:t>
            </a:r>
          </a:p>
        </p:txBody>
      </p:sp>
      <p:sp>
        <p:nvSpPr>
          <p:cNvPr id="11" name="Rounded Rectangle 10"/>
          <p:cNvSpPr/>
          <p:nvPr/>
        </p:nvSpPr>
        <p:spPr>
          <a:xfrm>
            <a:off x="7296912" y="1335024"/>
            <a:ext cx="4434840" cy="1051560"/>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7296912" y="1335024"/>
            <a:ext cx="54864" cy="1051560"/>
          </a:xfrm>
          <a:prstGeom prst="rect">
            <a:avLst/>
          </a:prstGeom>
          <a:solidFill>
            <a:srgbClr val="00A991"/>
          </a:solidFill>
          <a:ln>
            <a:solidFill>
              <a:srgbClr val="00A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79792" y="1481328"/>
            <a:ext cx="4114800" cy="384048"/>
          </a:xfrm>
          <a:prstGeom prst="rect">
            <a:avLst/>
          </a:prstGeom>
          <a:noFill/>
        </p:spPr>
        <p:txBody>
          <a:bodyPr wrap="square" lIns="0" rIns="0" tIns="0" bIns="0" anchor="t">
            <a:spAutoFit/>
          </a:bodyPr>
          <a:lstStyle/>
          <a:p>
            <a:pPr algn="l">
              <a:lnSpc>
                <a:spcPct val="100000"/>
              </a:lnSpc>
              <a:spcAft>
                <a:spcPts val="0"/>
              </a:spcAft>
            </a:pPr>
            <a:r>
              <a:rPr sz="1800" b="1">
                <a:solidFill>
                  <a:srgbClr val="0B1F3A"/>
                </a:solidFill>
                <a:latin typeface="Aptos"/>
              </a:rPr>
              <a:t>$3.5B+</a:t>
            </a:r>
          </a:p>
        </p:txBody>
      </p:sp>
      <p:sp>
        <p:nvSpPr>
          <p:cNvPr id="14" name="TextBox 13"/>
          <p:cNvSpPr txBox="1"/>
          <p:nvPr/>
        </p:nvSpPr>
        <p:spPr>
          <a:xfrm>
            <a:off x="7479792" y="1938528"/>
            <a:ext cx="4114800" cy="338327"/>
          </a:xfrm>
          <a:prstGeom prst="rect">
            <a:avLst/>
          </a:prstGeom>
          <a:noFill/>
        </p:spPr>
        <p:txBody>
          <a:bodyPr wrap="square" lIns="0" rIns="0" tIns="0" bIns="0" anchor="t">
            <a:spAutoFit/>
          </a:bodyPr>
          <a:lstStyle/>
          <a:p>
            <a:pPr algn="l">
              <a:lnSpc>
                <a:spcPct val="103000"/>
              </a:lnSpc>
              <a:spcAft>
                <a:spcPts val="0"/>
              </a:spcAft>
            </a:pPr>
            <a:r>
              <a:rPr sz="980" b="0">
                <a:solidFill>
                  <a:srgbClr val="50657B"/>
                </a:solidFill>
                <a:latin typeface="Aptos"/>
              </a:rPr>
              <a:t>Projected global 3D bioprinting market by 2030 at ~15.9% CAGR.</a:t>
            </a:r>
          </a:p>
        </p:txBody>
      </p:sp>
      <p:sp>
        <p:nvSpPr>
          <p:cNvPr id="15" name="Rounded Rectangle 14"/>
          <p:cNvSpPr/>
          <p:nvPr/>
        </p:nvSpPr>
        <p:spPr>
          <a:xfrm>
            <a:off x="7296912" y="2532888"/>
            <a:ext cx="4434840" cy="1051560"/>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7296912" y="2532888"/>
            <a:ext cx="54864" cy="1051560"/>
          </a:xfrm>
          <a:prstGeom prst="rect">
            <a:avLst/>
          </a:prstGeom>
          <a:solidFill>
            <a:srgbClr val="00A991"/>
          </a:solidFill>
          <a:ln>
            <a:solidFill>
              <a:srgbClr val="00A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79792" y="2679192"/>
            <a:ext cx="4114800" cy="384048"/>
          </a:xfrm>
          <a:prstGeom prst="rect">
            <a:avLst/>
          </a:prstGeom>
          <a:noFill/>
        </p:spPr>
        <p:txBody>
          <a:bodyPr wrap="square" lIns="0" rIns="0" tIns="0" bIns="0" anchor="t">
            <a:spAutoFit/>
          </a:bodyPr>
          <a:lstStyle/>
          <a:p>
            <a:pPr algn="l">
              <a:lnSpc>
                <a:spcPct val="100000"/>
              </a:lnSpc>
              <a:spcAft>
                <a:spcPts val="0"/>
              </a:spcAft>
            </a:pPr>
            <a:r>
              <a:rPr sz="1800" b="1">
                <a:solidFill>
                  <a:srgbClr val="0B1F3A"/>
                </a:solidFill>
                <a:latin typeface="Aptos"/>
              </a:rPr>
              <a:t>Dec 2024</a:t>
            </a:r>
          </a:p>
        </p:txBody>
      </p:sp>
      <p:sp>
        <p:nvSpPr>
          <p:cNvPr id="18" name="TextBox 17"/>
          <p:cNvSpPr txBox="1"/>
          <p:nvPr/>
        </p:nvSpPr>
        <p:spPr>
          <a:xfrm>
            <a:off x="7479792" y="3136392"/>
            <a:ext cx="4114800" cy="338327"/>
          </a:xfrm>
          <a:prstGeom prst="rect">
            <a:avLst/>
          </a:prstGeom>
          <a:noFill/>
        </p:spPr>
        <p:txBody>
          <a:bodyPr wrap="square" lIns="0" rIns="0" tIns="0" bIns="0" anchor="t">
            <a:spAutoFit/>
          </a:bodyPr>
          <a:lstStyle/>
          <a:p>
            <a:pPr algn="l">
              <a:lnSpc>
                <a:spcPct val="103000"/>
              </a:lnSpc>
              <a:spcAft>
                <a:spcPts val="0"/>
              </a:spcAft>
            </a:pPr>
            <a:r>
              <a:rPr sz="980" b="0">
                <a:solidFill>
                  <a:srgbClr val="50657B"/>
                </a:solidFill>
                <a:latin typeface="Aptos"/>
              </a:rPr>
              <a:t>FDA cleared Symvess — the first tissue-engineered vascular graft — setting a direct precedent.</a:t>
            </a:r>
          </a:p>
        </p:txBody>
      </p:sp>
      <p:sp>
        <p:nvSpPr>
          <p:cNvPr id="19" name="Rounded Rectangle 18"/>
          <p:cNvSpPr/>
          <p:nvPr/>
        </p:nvSpPr>
        <p:spPr>
          <a:xfrm>
            <a:off x="7296912" y="3730752"/>
            <a:ext cx="4434840" cy="1051560"/>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ectangle 19"/>
          <p:cNvSpPr/>
          <p:nvPr/>
        </p:nvSpPr>
        <p:spPr>
          <a:xfrm>
            <a:off x="7296912" y="3730752"/>
            <a:ext cx="54864" cy="1051560"/>
          </a:xfrm>
          <a:prstGeom prst="rect">
            <a:avLst/>
          </a:prstGeom>
          <a:solidFill>
            <a:srgbClr val="00A991"/>
          </a:solidFill>
          <a:ln>
            <a:solidFill>
              <a:srgbClr val="00A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479792" y="3877056"/>
            <a:ext cx="4114800" cy="384048"/>
          </a:xfrm>
          <a:prstGeom prst="rect">
            <a:avLst/>
          </a:prstGeom>
          <a:noFill/>
        </p:spPr>
        <p:txBody>
          <a:bodyPr wrap="square" lIns="0" rIns="0" tIns="0" bIns="0" anchor="t">
            <a:spAutoFit/>
          </a:bodyPr>
          <a:lstStyle/>
          <a:p>
            <a:pPr algn="l">
              <a:lnSpc>
                <a:spcPct val="100000"/>
              </a:lnSpc>
              <a:spcAft>
                <a:spcPts val="0"/>
              </a:spcAft>
            </a:pPr>
            <a:r>
              <a:rPr sz="1800" b="1">
                <a:solidFill>
                  <a:srgbClr val="0B1F3A"/>
                </a:solidFill>
                <a:latin typeface="Aptos"/>
              </a:rPr>
              <a:t>$420M+</a:t>
            </a:r>
          </a:p>
        </p:txBody>
      </p:sp>
      <p:sp>
        <p:nvSpPr>
          <p:cNvPr id="22" name="TextBox 21"/>
          <p:cNvSpPr txBox="1"/>
          <p:nvPr/>
        </p:nvSpPr>
        <p:spPr>
          <a:xfrm>
            <a:off x="7479792" y="4334256"/>
            <a:ext cx="4114800" cy="338327"/>
          </a:xfrm>
          <a:prstGeom prst="rect">
            <a:avLst/>
          </a:prstGeom>
          <a:noFill/>
        </p:spPr>
        <p:txBody>
          <a:bodyPr wrap="square" lIns="0" rIns="0" tIns="0" bIns="0" anchor="t">
            <a:spAutoFit/>
          </a:bodyPr>
          <a:lstStyle/>
          <a:p>
            <a:pPr algn="l">
              <a:lnSpc>
                <a:spcPct val="103000"/>
              </a:lnSpc>
              <a:spcAft>
                <a:spcPts val="0"/>
              </a:spcAft>
            </a:pPr>
            <a:r>
              <a:rPr sz="980" b="0">
                <a:solidFill>
                  <a:srgbClr val="50657B"/>
                </a:solidFill>
                <a:latin typeface="Aptos"/>
              </a:rPr>
              <a:t>Committed by pharma companies to commercial-station research programs through 2030.</a:t>
            </a:r>
          </a:p>
        </p:txBody>
      </p:sp>
      <p:sp>
        <p:nvSpPr>
          <p:cNvPr id="23" name="Rounded Rectangle 22"/>
          <p:cNvSpPr/>
          <p:nvPr/>
        </p:nvSpPr>
        <p:spPr>
          <a:xfrm>
            <a:off x="7296912" y="4928616"/>
            <a:ext cx="4434840" cy="1051560"/>
          </a:xfrm>
          <a:prstGeom prst="roundRect">
            <a:avLst/>
          </a:prstGeom>
          <a:solidFill>
            <a:srgbClr val="EDF9F6"/>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ectangle 23"/>
          <p:cNvSpPr/>
          <p:nvPr/>
        </p:nvSpPr>
        <p:spPr>
          <a:xfrm>
            <a:off x="7296912" y="4928616"/>
            <a:ext cx="54864" cy="1051560"/>
          </a:xfrm>
          <a:prstGeom prst="rect">
            <a:avLst/>
          </a:prstGeom>
          <a:solidFill>
            <a:srgbClr val="00A991"/>
          </a:solidFill>
          <a:ln>
            <a:solidFill>
              <a:srgbClr val="00A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7479792" y="5074920"/>
            <a:ext cx="4114800" cy="384048"/>
          </a:xfrm>
          <a:prstGeom prst="rect">
            <a:avLst/>
          </a:prstGeom>
          <a:noFill/>
        </p:spPr>
        <p:txBody>
          <a:bodyPr wrap="square" lIns="0" rIns="0" tIns="0" bIns="0" anchor="t">
            <a:spAutoFit/>
          </a:bodyPr>
          <a:lstStyle/>
          <a:p>
            <a:pPr algn="l">
              <a:lnSpc>
                <a:spcPct val="100000"/>
              </a:lnSpc>
              <a:spcAft>
                <a:spcPts val="0"/>
              </a:spcAft>
            </a:pPr>
            <a:r>
              <a:rPr sz="1550" b="1">
                <a:solidFill>
                  <a:srgbClr val="0B1F3A"/>
                </a:solidFill>
                <a:latin typeface="Aptos"/>
              </a:rPr>
              <a:t>$200–400M</a:t>
            </a:r>
          </a:p>
        </p:txBody>
      </p:sp>
      <p:sp>
        <p:nvSpPr>
          <p:cNvPr id="26" name="TextBox 25"/>
          <p:cNvSpPr txBox="1"/>
          <p:nvPr/>
        </p:nvSpPr>
        <p:spPr>
          <a:xfrm>
            <a:off x="7479792" y="5532120"/>
            <a:ext cx="4114800" cy="338327"/>
          </a:xfrm>
          <a:prstGeom prst="rect">
            <a:avLst/>
          </a:prstGeom>
          <a:noFill/>
        </p:spPr>
        <p:txBody>
          <a:bodyPr wrap="square" lIns="0" rIns="0" tIns="0" bIns="0" anchor="t">
            <a:spAutoFit/>
          </a:bodyPr>
          <a:lstStyle/>
          <a:p>
            <a:pPr algn="l">
              <a:lnSpc>
                <a:spcPct val="103000"/>
              </a:lnSpc>
              <a:spcAft>
                <a:spcPts val="0"/>
              </a:spcAft>
            </a:pPr>
            <a:r>
              <a:rPr sz="980" b="0">
                <a:solidFill>
                  <a:srgbClr val="50657B"/>
                </a:solidFill>
                <a:latin typeface="Aptos"/>
              </a:rPr>
              <a:t>Samuel's estimated initial SAM by 2030 across cardiac, orthopedic and retinal constructs.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Rectangle 1"/>
          <p:cNvSpPr/>
          <p:nvPr/>
        </p:nvSpPr>
        <p:spPr>
          <a:xfrm>
            <a:off x="457200" y="256032"/>
            <a:ext cx="54864" cy="219456"/>
          </a:xfrm>
          <a:prstGeom prst="rect">
            <a:avLst/>
          </a:prstGeom>
          <a:solidFill>
            <a:srgbClr val="00A991"/>
          </a:solidFill>
          <a:ln>
            <a:solidFill>
              <a:srgbClr val="00A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3504" y="256032"/>
            <a:ext cx="4114800" cy="164592"/>
          </a:xfrm>
          <a:prstGeom prst="rect">
            <a:avLst/>
          </a:prstGeom>
          <a:noFill/>
        </p:spPr>
        <p:txBody>
          <a:bodyPr wrap="square" lIns="0" rIns="0" tIns="0" bIns="0" anchor="t">
            <a:spAutoFit/>
          </a:bodyPr>
          <a:lstStyle/>
          <a:p>
            <a:pPr algn="l">
              <a:lnSpc>
                <a:spcPct val="100000"/>
              </a:lnSpc>
              <a:spcAft>
                <a:spcPts val="0"/>
              </a:spcAft>
            </a:pPr>
            <a:r>
              <a:rPr sz="770" b="1">
                <a:solidFill>
                  <a:srgbClr val="087F72"/>
                </a:solidFill>
                <a:latin typeface="Aptos"/>
              </a:rPr>
              <a:t>MARKET TIMING</a:t>
            </a:r>
          </a:p>
        </p:txBody>
      </p:sp>
      <p:sp>
        <p:nvSpPr>
          <p:cNvPr id="4" name="TextBox 3"/>
          <p:cNvSpPr txBox="1"/>
          <p:nvPr/>
        </p:nvSpPr>
        <p:spPr>
          <a:xfrm>
            <a:off x="457200" y="530352"/>
            <a:ext cx="11064240" cy="475488"/>
          </a:xfrm>
          <a:prstGeom prst="rect">
            <a:avLst/>
          </a:prstGeom>
          <a:noFill/>
        </p:spPr>
        <p:txBody>
          <a:bodyPr wrap="square" lIns="0" rIns="0" tIns="0" bIns="0" anchor="t">
            <a:spAutoFit/>
          </a:bodyPr>
          <a:lstStyle/>
          <a:p>
            <a:pPr algn="l">
              <a:lnSpc>
                <a:spcPct val="100000"/>
              </a:lnSpc>
              <a:spcAft>
                <a:spcPts val="0"/>
              </a:spcAft>
            </a:pPr>
            <a:r>
              <a:rPr sz="2550" b="1">
                <a:solidFill>
                  <a:srgbClr val="0B1F3A"/>
                </a:solidFill>
                <a:latin typeface="Aptos Display"/>
              </a:rPr>
              <a:t>Four Converging Tailwinds Create a Unique Entry Window</a:t>
            </a:r>
          </a:p>
        </p:txBody>
      </p:sp>
      <p:cxnSp>
        <p:nvCxnSpPr>
          <p:cNvPr id="5" name="Connector 4"/>
          <p:cNvCxnSpPr/>
          <p:nvPr/>
        </p:nvCxnSpPr>
        <p:spPr>
          <a:xfrm>
            <a:off x="457200" y="6510528"/>
            <a:ext cx="11274552" cy="0"/>
          </a:xfrm>
          <a:prstGeom prst="line">
            <a:avLst/>
          </a:prstGeom>
          <a:ln w="7620">
            <a:solidFill>
              <a:srgbClr val="D7E1E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65392"/>
            <a:ext cx="1645920" cy="109728"/>
          </a:xfrm>
          <a:prstGeom prst="rect">
            <a:avLst/>
          </a:prstGeom>
          <a:noFill/>
        </p:spPr>
        <p:txBody>
          <a:bodyPr wrap="square" lIns="0" rIns="0" tIns="0" bIns="0" anchor="t">
            <a:spAutoFit/>
          </a:bodyPr>
          <a:lstStyle/>
          <a:p>
            <a:pPr algn="l">
              <a:lnSpc>
                <a:spcPct val="100000"/>
              </a:lnSpc>
              <a:spcAft>
                <a:spcPts val="0"/>
              </a:spcAft>
            </a:pPr>
            <a:r>
              <a:rPr sz="670" b="1">
                <a:solidFill>
                  <a:srgbClr val="708399"/>
                </a:solidFill>
                <a:latin typeface="Aptos"/>
              </a:rPr>
              <a:t>SAMUEL SPACE</a:t>
            </a:r>
          </a:p>
        </p:txBody>
      </p:sp>
      <p:sp>
        <p:nvSpPr>
          <p:cNvPr id="7" name="TextBox 6"/>
          <p:cNvSpPr txBox="1"/>
          <p:nvPr/>
        </p:nvSpPr>
        <p:spPr>
          <a:xfrm>
            <a:off x="10927080" y="6565392"/>
            <a:ext cx="804672" cy="109728"/>
          </a:xfrm>
          <a:prstGeom prst="rect">
            <a:avLst/>
          </a:prstGeom>
          <a:noFill/>
        </p:spPr>
        <p:txBody>
          <a:bodyPr wrap="square" lIns="0" rIns="0" tIns="0" bIns="0" anchor="t">
            <a:spAutoFit/>
          </a:bodyPr>
          <a:lstStyle/>
          <a:p>
            <a:pPr algn="r">
              <a:lnSpc>
                <a:spcPct val="100000"/>
              </a:lnSpc>
              <a:spcAft>
                <a:spcPts val="0"/>
              </a:spcAft>
            </a:pPr>
            <a:r>
              <a:rPr sz="670" b="1">
                <a:solidFill>
                  <a:srgbClr val="708399"/>
                </a:solidFill>
                <a:latin typeface="Aptos"/>
              </a:rPr>
              <a:t>10 / 21</a:t>
            </a:r>
          </a:p>
        </p:txBody>
      </p:sp>
      <p:sp>
        <p:nvSpPr>
          <p:cNvPr id="8" name="Rounded Rectangle 7"/>
          <p:cNvSpPr/>
          <p:nvPr/>
        </p:nvSpPr>
        <p:spPr>
          <a:xfrm>
            <a:off x="457200" y="1335024"/>
            <a:ext cx="5541264" cy="2240280"/>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1536192"/>
            <a:ext cx="1600200" cy="384048"/>
          </a:xfrm>
          <a:prstGeom prst="rect">
            <a:avLst/>
          </a:prstGeom>
          <a:noFill/>
        </p:spPr>
        <p:txBody>
          <a:bodyPr wrap="square" lIns="0" rIns="0" tIns="0" bIns="0" anchor="t">
            <a:spAutoFit/>
          </a:bodyPr>
          <a:lstStyle/>
          <a:p>
            <a:pPr algn="l">
              <a:lnSpc>
                <a:spcPct val="100000"/>
              </a:lnSpc>
              <a:spcAft>
                <a:spcPts val="0"/>
              </a:spcAft>
            </a:pPr>
            <a:r>
              <a:rPr sz="2200" b="1">
                <a:solidFill>
                  <a:srgbClr val="087F72"/>
                </a:solidFill>
                <a:latin typeface="Aptos"/>
              </a:rPr>
              <a:t>~89%</a:t>
            </a:r>
          </a:p>
        </p:txBody>
      </p:sp>
      <p:sp>
        <p:nvSpPr>
          <p:cNvPr id="10" name="TextBox 9"/>
          <p:cNvSpPr txBox="1"/>
          <p:nvPr/>
        </p:nvSpPr>
        <p:spPr>
          <a:xfrm>
            <a:off x="2322576" y="1563624"/>
            <a:ext cx="3310128" cy="292608"/>
          </a:xfrm>
          <a:prstGeom prst="rect">
            <a:avLst/>
          </a:prstGeom>
          <a:noFill/>
        </p:spPr>
        <p:txBody>
          <a:bodyPr wrap="square" lIns="0" rIns="0" tIns="0" bIns="0" anchor="t">
            <a:spAutoFit/>
          </a:bodyPr>
          <a:lstStyle/>
          <a:p>
            <a:pPr algn="l">
              <a:lnSpc>
                <a:spcPct val="100000"/>
              </a:lnSpc>
              <a:spcAft>
                <a:spcPts val="0"/>
              </a:spcAft>
            </a:pPr>
            <a:r>
              <a:rPr sz="890" b="1">
                <a:solidFill>
                  <a:srgbClr val="708399"/>
                </a:solidFill>
                <a:latin typeface="Aptos"/>
              </a:rPr>
              <a:t>reduction in launch cost/kg since 2010</a:t>
            </a:r>
          </a:p>
        </p:txBody>
      </p:sp>
      <p:cxnSp>
        <p:nvCxnSpPr>
          <p:cNvPr id="11" name="Connector 10"/>
          <p:cNvCxnSpPr/>
          <p:nvPr/>
        </p:nvCxnSpPr>
        <p:spPr>
          <a:xfrm>
            <a:off x="685800" y="2093976"/>
            <a:ext cx="5074920" cy="0"/>
          </a:xfrm>
          <a:prstGeom prst="line">
            <a:avLst/>
          </a:prstGeom>
          <a:ln w="10160">
            <a:solidFill>
              <a:srgbClr val="D7E1EA"/>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85800" y="2286000"/>
            <a:ext cx="5074920" cy="283464"/>
          </a:xfrm>
          <a:prstGeom prst="rect">
            <a:avLst/>
          </a:prstGeom>
          <a:noFill/>
        </p:spPr>
        <p:txBody>
          <a:bodyPr wrap="square" lIns="0" rIns="0" tIns="0" bIns="0" anchor="t">
            <a:spAutoFit/>
          </a:bodyPr>
          <a:lstStyle/>
          <a:p>
            <a:pPr algn="l">
              <a:lnSpc>
                <a:spcPct val="100000"/>
              </a:lnSpc>
              <a:spcAft>
                <a:spcPts val="0"/>
              </a:spcAft>
            </a:pPr>
            <a:r>
              <a:rPr sz="1440" b="1">
                <a:solidFill>
                  <a:srgbClr val="0B1F3A"/>
                </a:solidFill>
                <a:latin typeface="Aptos"/>
              </a:rPr>
              <a:t>Launch Costs Have Collapsed</a:t>
            </a:r>
          </a:p>
        </p:txBody>
      </p:sp>
      <p:sp>
        <p:nvSpPr>
          <p:cNvPr id="13" name="TextBox 12"/>
          <p:cNvSpPr txBox="1"/>
          <p:nvPr/>
        </p:nvSpPr>
        <p:spPr>
          <a:xfrm>
            <a:off x="685800" y="2697480"/>
            <a:ext cx="5074920" cy="658368"/>
          </a:xfrm>
          <a:prstGeom prst="rect">
            <a:avLst/>
          </a:prstGeom>
          <a:noFill/>
        </p:spPr>
        <p:txBody>
          <a:bodyPr wrap="square" lIns="0" rIns="0" tIns="0" bIns="0" anchor="t">
            <a:spAutoFit/>
          </a:bodyPr>
          <a:lstStyle/>
          <a:p>
            <a:pPr algn="l">
              <a:lnSpc>
                <a:spcPct val="103000"/>
              </a:lnSpc>
              <a:spcAft>
                <a:spcPts val="0"/>
              </a:spcAft>
            </a:pPr>
            <a:r>
              <a:rPr sz="980" b="0">
                <a:solidFill>
                  <a:srgbClr val="50657B"/>
                </a:solidFill>
                <a:latin typeface="Aptos"/>
              </a:rPr>
              <a:t>Cost-to-orbit has fallen from ~$54,000/kg in the Space Shuttle era to ~$6,000/kg on Falcon 9. Research payloads that were cost-prohibitive a decade ago are now commercially viable.</a:t>
            </a:r>
          </a:p>
        </p:txBody>
      </p:sp>
      <p:sp>
        <p:nvSpPr>
          <p:cNvPr id="14" name="Rounded Rectangle 13"/>
          <p:cNvSpPr/>
          <p:nvPr/>
        </p:nvSpPr>
        <p:spPr>
          <a:xfrm>
            <a:off x="6190488" y="1335024"/>
            <a:ext cx="5541264" cy="2240280"/>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19088" y="1536192"/>
            <a:ext cx="1600200" cy="384048"/>
          </a:xfrm>
          <a:prstGeom prst="rect">
            <a:avLst/>
          </a:prstGeom>
          <a:noFill/>
        </p:spPr>
        <p:txBody>
          <a:bodyPr wrap="square" lIns="0" rIns="0" tIns="0" bIns="0" anchor="t">
            <a:spAutoFit/>
          </a:bodyPr>
          <a:lstStyle/>
          <a:p>
            <a:pPr algn="l">
              <a:lnSpc>
                <a:spcPct val="100000"/>
              </a:lnSpc>
              <a:spcAft>
                <a:spcPts val="0"/>
              </a:spcAft>
            </a:pPr>
            <a:r>
              <a:rPr sz="2200" b="1">
                <a:solidFill>
                  <a:srgbClr val="087F72"/>
                </a:solidFill>
                <a:latin typeface="Aptos"/>
              </a:rPr>
              <a:t>4</a:t>
            </a:r>
          </a:p>
        </p:txBody>
      </p:sp>
      <p:sp>
        <p:nvSpPr>
          <p:cNvPr id="16" name="TextBox 15"/>
          <p:cNvSpPr txBox="1"/>
          <p:nvPr/>
        </p:nvSpPr>
        <p:spPr>
          <a:xfrm>
            <a:off x="8055863" y="1563624"/>
            <a:ext cx="3310128" cy="292608"/>
          </a:xfrm>
          <a:prstGeom prst="rect">
            <a:avLst/>
          </a:prstGeom>
          <a:noFill/>
        </p:spPr>
        <p:txBody>
          <a:bodyPr wrap="square" lIns="0" rIns="0" tIns="0" bIns="0" anchor="t">
            <a:spAutoFit/>
          </a:bodyPr>
          <a:lstStyle/>
          <a:p>
            <a:pPr algn="l">
              <a:lnSpc>
                <a:spcPct val="100000"/>
              </a:lnSpc>
              <a:spcAft>
                <a:spcPts val="0"/>
              </a:spcAft>
            </a:pPr>
            <a:r>
              <a:rPr sz="890" b="1">
                <a:solidFill>
                  <a:srgbClr val="708399"/>
                </a:solidFill>
                <a:latin typeface="Aptos"/>
              </a:rPr>
              <a:t>NASA-funded commercial station programs</a:t>
            </a:r>
          </a:p>
        </p:txBody>
      </p:sp>
      <p:cxnSp>
        <p:nvCxnSpPr>
          <p:cNvPr id="17" name="Connector 16"/>
          <p:cNvCxnSpPr/>
          <p:nvPr/>
        </p:nvCxnSpPr>
        <p:spPr>
          <a:xfrm>
            <a:off x="6419088" y="2093976"/>
            <a:ext cx="5074920" cy="0"/>
          </a:xfrm>
          <a:prstGeom prst="line">
            <a:avLst/>
          </a:prstGeom>
          <a:ln w="10160">
            <a:solidFill>
              <a:srgbClr val="D7E1EA"/>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6419088" y="2286000"/>
            <a:ext cx="5074920" cy="283464"/>
          </a:xfrm>
          <a:prstGeom prst="rect">
            <a:avLst/>
          </a:prstGeom>
          <a:noFill/>
        </p:spPr>
        <p:txBody>
          <a:bodyPr wrap="square" lIns="0" rIns="0" tIns="0" bIns="0" anchor="t">
            <a:spAutoFit/>
          </a:bodyPr>
          <a:lstStyle/>
          <a:p>
            <a:pPr algn="l">
              <a:lnSpc>
                <a:spcPct val="100000"/>
              </a:lnSpc>
              <a:spcAft>
                <a:spcPts val="0"/>
              </a:spcAft>
            </a:pPr>
            <a:r>
              <a:rPr sz="1440" b="1">
                <a:solidFill>
                  <a:srgbClr val="0B1F3A"/>
                </a:solidFill>
                <a:latin typeface="Aptos"/>
              </a:rPr>
              <a:t>Commercial Stations Are Coming</a:t>
            </a:r>
          </a:p>
        </p:txBody>
      </p:sp>
      <p:sp>
        <p:nvSpPr>
          <p:cNvPr id="19" name="TextBox 18"/>
          <p:cNvSpPr txBox="1"/>
          <p:nvPr/>
        </p:nvSpPr>
        <p:spPr>
          <a:xfrm>
            <a:off x="6419088" y="2697480"/>
            <a:ext cx="5074920" cy="658368"/>
          </a:xfrm>
          <a:prstGeom prst="rect">
            <a:avLst/>
          </a:prstGeom>
          <a:noFill/>
        </p:spPr>
        <p:txBody>
          <a:bodyPr wrap="square" lIns="0" rIns="0" tIns="0" bIns="0" anchor="t">
            <a:spAutoFit/>
          </a:bodyPr>
          <a:lstStyle/>
          <a:p>
            <a:pPr algn="l">
              <a:lnSpc>
                <a:spcPct val="103000"/>
              </a:lnSpc>
              <a:spcAft>
                <a:spcPts val="0"/>
              </a:spcAft>
            </a:pPr>
            <a:r>
              <a:rPr sz="980" b="0">
                <a:solidFill>
                  <a:srgbClr val="50657B"/>
                </a:solidFill>
                <a:latin typeface="Aptos"/>
              </a:rPr>
              <a:t>ISS retires ~2030. NASA's CLD program has funded Starlab, Axiom Station, Orbital Reef and Vast Haven-1. Samuel is designed to be station-agnostic from day one.</a:t>
            </a:r>
          </a:p>
        </p:txBody>
      </p:sp>
      <p:sp>
        <p:nvSpPr>
          <p:cNvPr id="20" name="Rounded Rectangle 19"/>
          <p:cNvSpPr/>
          <p:nvPr/>
        </p:nvSpPr>
        <p:spPr>
          <a:xfrm>
            <a:off x="457200" y="3767328"/>
            <a:ext cx="5541264" cy="2240280"/>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3968496"/>
            <a:ext cx="1600200" cy="384048"/>
          </a:xfrm>
          <a:prstGeom prst="rect">
            <a:avLst/>
          </a:prstGeom>
          <a:noFill/>
        </p:spPr>
        <p:txBody>
          <a:bodyPr wrap="square" lIns="0" rIns="0" tIns="0" bIns="0" anchor="t">
            <a:spAutoFit/>
          </a:bodyPr>
          <a:lstStyle/>
          <a:p>
            <a:pPr algn="l">
              <a:lnSpc>
                <a:spcPct val="100000"/>
              </a:lnSpc>
              <a:spcAft>
                <a:spcPts val="0"/>
              </a:spcAft>
            </a:pPr>
            <a:r>
              <a:rPr sz="1550" b="1">
                <a:solidFill>
                  <a:srgbClr val="087F72"/>
                </a:solidFill>
                <a:latin typeface="Aptos"/>
              </a:rPr>
              <a:t>Dec 2024</a:t>
            </a:r>
          </a:p>
        </p:txBody>
      </p:sp>
      <p:sp>
        <p:nvSpPr>
          <p:cNvPr id="22" name="TextBox 21"/>
          <p:cNvSpPr txBox="1"/>
          <p:nvPr/>
        </p:nvSpPr>
        <p:spPr>
          <a:xfrm>
            <a:off x="2322576" y="3995928"/>
            <a:ext cx="3310128" cy="292608"/>
          </a:xfrm>
          <a:prstGeom prst="rect">
            <a:avLst/>
          </a:prstGeom>
          <a:noFill/>
        </p:spPr>
        <p:txBody>
          <a:bodyPr wrap="square" lIns="0" rIns="0" tIns="0" bIns="0" anchor="t">
            <a:spAutoFit/>
          </a:bodyPr>
          <a:lstStyle/>
          <a:p>
            <a:pPr algn="l">
              <a:lnSpc>
                <a:spcPct val="100000"/>
              </a:lnSpc>
              <a:spcAft>
                <a:spcPts val="0"/>
              </a:spcAft>
            </a:pPr>
            <a:r>
              <a:rPr sz="890" b="1">
                <a:solidFill>
                  <a:srgbClr val="708399"/>
                </a:solidFill>
                <a:latin typeface="Aptos"/>
              </a:rPr>
              <a:t>first FDA-cleared tissue-engineered vascular graft</a:t>
            </a:r>
          </a:p>
        </p:txBody>
      </p:sp>
      <p:cxnSp>
        <p:nvCxnSpPr>
          <p:cNvPr id="23" name="Connector 22"/>
          <p:cNvCxnSpPr/>
          <p:nvPr/>
        </p:nvCxnSpPr>
        <p:spPr>
          <a:xfrm>
            <a:off x="685800" y="4526280"/>
            <a:ext cx="5074920" cy="0"/>
          </a:xfrm>
          <a:prstGeom prst="line">
            <a:avLst/>
          </a:prstGeom>
          <a:ln w="10160">
            <a:solidFill>
              <a:srgbClr val="D7E1EA"/>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685800" y="4718304"/>
            <a:ext cx="5074920" cy="283464"/>
          </a:xfrm>
          <a:prstGeom prst="rect">
            <a:avLst/>
          </a:prstGeom>
          <a:noFill/>
        </p:spPr>
        <p:txBody>
          <a:bodyPr wrap="square" lIns="0" rIns="0" tIns="0" bIns="0" anchor="t">
            <a:spAutoFit/>
          </a:bodyPr>
          <a:lstStyle/>
          <a:p>
            <a:pPr algn="l">
              <a:lnSpc>
                <a:spcPct val="100000"/>
              </a:lnSpc>
              <a:spcAft>
                <a:spcPts val="0"/>
              </a:spcAft>
            </a:pPr>
            <a:r>
              <a:rPr sz="1440" b="1">
                <a:solidFill>
                  <a:srgbClr val="0B1F3A"/>
                </a:solidFill>
                <a:latin typeface="Aptos"/>
              </a:rPr>
              <a:t>Regulatory Precedent Is Set</a:t>
            </a:r>
          </a:p>
        </p:txBody>
      </p:sp>
      <p:sp>
        <p:nvSpPr>
          <p:cNvPr id="25" name="TextBox 24"/>
          <p:cNvSpPr txBox="1"/>
          <p:nvPr/>
        </p:nvSpPr>
        <p:spPr>
          <a:xfrm>
            <a:off x="685800" y="5129784"/>
            <a:ext cx="5074920" cy="658368"/>
          </a:xfrm>
          <a:prstGeom prst="rect">
            <a:avLst/>
          </a:prstGeom>
          <a:noFill/>
        </p:spPr>
        <p:txBody>
          <a:bodyPr wrap="square" lIns="0" rIns="0" tIns="0" bIns="0" anchor="t">
            <a:spAutoFit/>
          </a:bodyPr>
          <a:lstStyle/>
          <a:p>
            <a:pPr algn="l">
              <a:lnSpc>
                <a:spcPct val="103000"/>
              </a:lnSpc>
              <a:spcAft>
                <a:spcPts val="0"/>
              </a:spcAft>
            </a:pPr>
            <a:r>
              <a:rPr sz="980" b="0">
                <a:solidFill>
                  <a:srgbClr val="50657B"/>
                </a:solidFill>
                <a:latin typeface="Aptos"/>
              </a:rPr>
              <a:t>The FDA cleared Symvess in December 2024. It is the most important direct regulatory precedent for clinical bioprinted tissue and validates a review pathway.</a:t>
            </a:r>
          </a:p>
        </p:txBody>
      </p:sp>
      <p:sp>
        <p:nvSpPr>
          <p:cNvPr id="26" name="Rounded Rectangle 25"/>
          <p:cNvSpPr/>
          <p:nvPr/>
        </p:nvSpPr>
        <p:spPr>
          <a:xfrm>
            <a:off x="6190488" y="3767328"/>
            <a:ext cx="5541264" cy="2240280"/>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419088" y="3968496"/>
            <a:ext cx="1600200" cy="384048"/>
          </a:xfrm>
          <a:prstGeom prst="rect">
            <a:avLst/>
          </a:prstGeom>
          <a:noFill/>
        </p:spPr>
        <p:txBody>
          <a:bodyPr wrap="square" lIns="0" rIns="0" tIns="0" bIns="0" anchor="t">
            <a:spAutoFit/>
          </a:bodyPr>
          <a:lstStyle/>
          <a:p>
            <a:pPr algn="l">
              <a:lnSpc>
                <a:spcPct val="100000"/>
              </a:lnSpc>
              <a:spcAft>
                <a:spcPts val="0"/>
              </a:spcAft>
            </a:pPr>
            <a:r>
              <a:rPr sz="2200" b="1">
                <a:solidFill>
                  <a:srgbClr val="087F72"/>
                </a:solidFill>
                <a:latin typeface="Aptos"/>
              </a:rPr>
              <a:t>$329M</a:t>
            </a:r>
          </a:p>
        </p:txBody>
      </p:sp>
      <p:sp>
        <p:nvSpPr>
          <p:cNvPr id="28" name="TextBox 27"/>
          <p:cNvSpPr txBox="1"/>
          <p:nvPr/>
        </p:nvSpPr>
        <p:spPr>
          <a:xfrm>
            <a:off x="8055863" y="3995928"/>
            <a:ext cx="3310128" cy="292608"/>
          </a:xfrm>
          <a:prstGeom prst="rect">
            <a:avLst/>
          </a:prstGeom>
          <a:noFill/>
        </p:spPr>
        <p:txBody>
          <a:bodyPr wrap="square" lIns="0" rIns="0" tIns="0" bIns="0" anchor="t">
            <a:spAutoFit/>
          </a:bodyPr>
          <a:lstStyle/>
          <a:p>
            <a:pPr algn="l">
              <a:lnSpc>
                <a:spcPct val="100000"/>
              </a:lnSpc>
              <a:spcAft>
                <a:spcPts val="0"/>
              </a:spcAft>
            </a:pPr>
            <a:r>
              <a:rPr sz="890" b="1">
                <a:solidFill>
                  <a:srgbClr val="708399"/>
                </a:solidFill>
                <a:latin typeface="Aptos"/>
              </a:rPr>
              <a:t>raised by Varda Space</a:t>
            </a:r>
          </a:p>
        </p:txBody>
      </p:sp>
      <p:cxnSp>
        <p:nvCxnSpPr>
          <p:cNvPr id="29" name="Connector 28"/>
          <p:cNvCxnSpPr/>
          <p:nvPr/>
        </p:nvCxnSpPr>
        <p:spPr>
          <a:xfrm>
            <a:off x="6419088" y="4526280"/>
            <a:ext cx="5074920" cy="0"/>
          </a:xfrm>
          <a:prstGeom prst="line">
            <a:avLst/>
          </a:prstGeom>
          <a:ln w="10160">
            <a:solidFill>
              <a:srgbClr val="D7E1EA"/>
            </a:solidFill>
          </a:ln>
        </p:spPr>
        <p:style>
          <a:lnRef idx="2">
            <a:schemeClr val="accent1"/>
          </a:lnRef>
          <a:fillRef idx="0">
            <a:schemeClr val="accent1"/>
          </a:fillRef>
          <a:effectRef idx="1">
            <a:schemeClr val="accent1"/>
          </a:effectRef>
          <a:fontRef idx="minor">
            <a:schemeClr val="tx1"/>
          </a:fontRef>
        </p:style>
      </p:cxnSp>
      <p:sp>
        <p:nvSpPr>
          <p:cNvPr id="30" name="TextBox 29"/>
          <p:cNvSpPr txBox="1"/>
          <p:nvPr/>
        </p:nvSpPr>
        <p:spPr>
          <a:xfrm>
            <a:off x="6419088" y="4718304"/>
            <a:ext cx="5074920" cy="283464"/>
          </a:xfrm>
          <a:prstGeom prst="rect">
            <a:avLst/>
          </a:prstGeom>
          <a:noFill/>
        </p:spPr>
        <p:txBody>
          <a:bodyPr wrap="square" lIns="0" rIns="0" tIns="0" bIns="0" anchor="t">
            <a:spAutoFit/>
          </a:bodyPr>
          <a:lstStyle/>
          <a:p>
            <a:pPr algn="l">
              <a:lnSpc>
                <a:spcPct val="100000"/>
              </a:lnSpc>
              <a:spcAft>
                <a:spcPts val="0"/>
              </a:spcAft>
            </a:pPr>
            <a:r>
              <a:rPr sz="1440" b="1">
                <a:solidFill>
                  <a:srgbClr val="0B1F3A"/>
                </a:solidFill>
                <a:latin typeface="Aptos"/>
              </a:rPr>
              <a:t>Capital Is Already Flowing</a:t>
            </a:r>
          </a:p>
        </p:txBody>
      </p:sp>
      <p:sp>
        <p:nvSpPr>
          <p:cNvPr id="31" name="TextBox 30"/>
          <p:cNvSpPr txBox="1"/>
          <p:nvPr/>
        </p:nvSpPr>
        <p:spPr>
          <a:xfrm>
            <a:off x="6419088" y="5129784"/>
            <a:ext cx="5074920" cy="658368"/>
          </a:xfrm>
          <a:prstGeom prst="rect">
            <a:avLst/>
          </a:prstGeom>
          <a:noFill/>
        </p:spPr>
        <p:txBody>
          <a:bodyPr wrap="square" lIns="0" rIns="0" tIns="0" bIns="0" anchor="t">
            <a:spAutoFit/>
          </a:bodyPr>
          <a:lstStyle/>
          <a:p>
            <a:pPr algn="l">
              <a:lnSpc>
                <a:spcPct val="103000"/>
              </a:lnSpc>
              <a:spcAft>
                <a:spcPts val="0"/>
              </a:spcAft>
            </a:pPr>
            <a:r>
              <a:rPr sz="980" b="0">
                <a:solidFill>
                  <a:srgbClr val="50657B"/>
                </a:solidFill>
                <a:latin typeface="Aptos"/>
              </a:rPr>
              <a:t>Varda has raised $329M, including a $187M Series C in July 2025. LambdaVision closed a $7M seed atop $15M+ in non-dilutive grants.</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Rectangle 1"/>
          <p:cNvSpPr/>
          <p:nvPr/>
        </p:nvSpPr>
        <p:spPr>
          <a:xfrm>
            <a:off x="457200" y="256032"/>
            <a:ext cx="54864" cy="219456"/>
          </a:xfrm>
          <a:prstGeom prst="rect">
            <a:avLst/>
          </a:prstGeom>
          <a:solidFill>
            <a:srgbClr val="00A991"/>
          </a:solidFill>
          <a:ln>
            <a:solidFill>
              <a:srgbClr val="00A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3504" y="256032"/>
            <a:ext cx="4114800" cy="164592"/>
          </a:xfrm>
          <a:prstGeom prst="rect">
            <a:avLst/>
          </a:prstGeom>
          <a:noFill/>
        </p:spPr>
        <p:txBody>
          <a:bodyPr wrap="square" lIns="0" rIns="0" tIns="0" bIns="0" anchor="t">
            <a:spAutoFit/>
          </a:bodyPr>
          <a:lstStyle/>
          <a:p>
            <a:pPr algn="l">
              <a:lnSpc>
                <a:spcPct val="100000"/>
              </a:lnSpc>
              <a:spcAft>
                <a:spcPts val="0"/>
              </a:spcAft>
            </a:pPr>
            <a:r>
              <a:rPr sz="770" b="1">
                <a:solidFill>
                  <a:srgbClr val="087F72"/>
                </a:solidFill>
                <a:latin typeface="Aptos"/>
              </a:rPr>
              <a:t>OUR PLATFORM</a:t>
            </a:r>
          </a:p>
        </p:txBody>
      </p:sp>
      <p:sp>
        <p:nvSpPr>
          <p:cNvPr id="4" name="TextBox 3"/>
          <p:cNvSpPr txBox="1"/>
          <p:nvPr/>
        </p:nvSpPr>
        <p:spPr>
          <a:xfrm>
            <a:off x="457200" y="530352"/>
            <a:ext cx="11064240" cy="475488"/>
          </a:xfrm>
          <a:prstGeom prst="rect">
            <a:avLst/>
          </a:prstGeom>
          <a:noFill/>
        </p:spPr>
        <p:txBody>
          <a:bodyPr wrap="square" lIns="0" rIns="0" tIns="0" bIns="0" anchor="t">
            <a:spAutoFit/>
          </a:bodyPr>
          <a:lstStyle/>
          <a:p>
            <a:pPr algn="l">
              <a:lnSpc>
                <a:spcPct val="100000"/>
              </a:lnSpc>
              <a:spcAft>
                <a:spcPts val="0"/>
              </a:spcAft>
            </a:pPr>
            <a:r>
              <a:rPr sz="2550" b="1">
                <a:solidFill>
                  <a:srgbClr val="0B1F3A"/>
                </a:solidFill>
                <a:latin typeface="Aptos Display"/>
              </a:rPr>
              <a:t>Station-Agnostic Payload Platform</a:t>
            </a:r>
          </a:p>
        </p:txBody>
      </p:sp>
      <p:cxnSp>
        <p:nvCxnSpPr>
          <p:cNvPr id="5" name="Connector 4"/>
          <p:cNvCxnSpPr/>
          <p:nvPr/>
        </p:nvCxnSpPr>
        <p:spPr>
          <a:xfrm>
            <a:off x="457200" y="6510528"/>
            <a:ext cx="11274552" cy="0"/>
          </a:xfrm>
          <a:prstGeom prst="line">
            <a:avLst/>
          </a:prstGeom>
          <a:ln w="7620">
            <a:solidFill>
              <a:srgbClr val="D7E1E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65392"/>
            <a:ext cx="1645920" cy="109728"/>
          </a:xfrm>
          <a:prstGeom prst="rect">
            <a:avLst/>
          </a:prstGeom>
          <a:noFill/>
        </p:spPr>
        <p:txBody>
          <a:bodyPr wrap="square" lIns="0" rIns="0" tIns="0" bIns="0" anchor="t">
            <a:spAutoFit/>
          </a:bodyPr>
          <a:lstStyle/>
          <a:p>
            <a:pPr algn="l">
              <a:lnSpc>
                <a:spcPct val="100000"/>
              </a:lnSpc>
              <a:spcAft>
                <a:spcPts val="0"/>
              </a:spcAft>
            </a:pPr>
            <a:r>
              <a:rPr sz="670" b="1">
                <a:solidFill>
                  <a:srgbClr val="708399"/>
                </a:solidFill>
                <a:latin typeface="Aptos"/>
              </a:rPr>
              <a:t>SAMUEL SPACE</a:t>
            </a:r>
          </a:p>
        </p:txBody>
      </p:sp>
      <p:sp>
        <p:nvSpPr>
          <p:cNvPr id="7" name="TextBox 6"/>
          <p:cNvSpPr txBox="1"/>
          <p:nvPr/>
        </p:nvSpPr>
        <p:spPr>
          <a:xfrm>
            <a:off x="10927080" y="6565392"/>
            <a:ext cx="804672" cy="109728"/>
          </a:xfrm>
          <a:prstGeom prst="rect">
            <a:avLst/>
          </a:prstGeom>
          <a:noFill/>
        </p:spPr>
        <p:txBody>
          <a:bodyPr wrap="square" lIns="0" rIns="0" tIns="0" bIns="0" anchor="t">
            <a:spAutoFit/>
          </a:bodyPr>
          <a:lstStyle/>
          <a:p>
            <a:pPr algn="r">
              <a:lnSpc>
                <a:spcPct val="100000"/>
              </a:lnSpc>
              <a:spcAft>
                <a:spcPts val="0"/>
              </a:spcAft>
            </a:pPr>
            <a:r>
              <a:rPr sz="670" b="1">
                <a:solidFill>
                  <a:srgbClr val="708399"/>
                </a:solidFill>
                <a:latin typeface="Aptos"/>
              </a:rPr>
              <a:t>11 / 21</a:t>
            </a:r>
          </a:p>
        </p:txBody>
      </p:sp>
      <p:sp>
        <p:nvSpPr>
          <p:cNvPr id="8" name="TextBox 7"/>
          <p:cNvSpPr txBox="1"/>
          <p:nvPr/>
        </p:nvSpPr>
        <p:spPr>
          <a:xfrm>
            <a:off x="457200" y="1280160"/>
            <a:ext cx="6492240" cy="603504"/>
          </a:xfrm>
          <a:prstGeom prst="rect">
            <a:avLst/>
          </a:prstGeom>
          <a:noFill/>
        </p:spPr>
        <p:txBody>
          <a:bodyPr wrap="square" lIns="0" rIns="0" tIns="0" bIns="0" anchor="t">
            <a:spAutoFit/>
          </a:bodyPr>
          <a:lstStyle/>
          <a:p>
            <a:pPr algn="l">
              <a:lnSpc>
                <a:spcPct val="104000"/>
              </a:lnSpc>
              <a:spcAft>
                <a:spcPts val="0"/>
              </a:spcAft>
            </a:pPr>
            <a:r>
              <a:rPr sz="1110" b="0">
                <a:solidFill>
                  <a:srgbClr val="50657B"/>
                </a:solidFill>
                <a:latin typeface="Aptos"/>
              </a:rPr>
              <a:t>Samuel Space is built as a payload integrator and tissue manufacturing platform. The same flight-qualified hardware, bioink libraries and protocols deploy across emerging commercial LEO stations.</a:t>
            </a:r>
          </a:p>
        </p:txBody>
      </p:sp>
      <p:sp>
        <p:nvSpPr>
          <p:cNvPr id="9" name="Oval 8"/>
          <p:cNvSpPr/>
          <p:nvPr/>
        </p:nvSpPr>
        <p:spPr>
          <a:xfrm>
            <a:off x="475488" y="2139696"/>
            <a:ext cx="411480" cy="411480"/>
          </a:xfrm>
          <a:prstGeom prst="ellipse">
            <a:avLst/>
          </a:prstGeom>
          <a:solidFill>
            <a:srgbClr val="0B1F3A"/>
          </a:solidFill>
          <a:ln w="6350">
            <a:solidFill>
              <a:srgbClr val="0B1F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75488" y="2139696"/>
            <a:ext cx="411480" cy="411480"/>
          </a:xfrm>
          <a:prstGeom prst="rect">
            <a:avLst/>
          </a:prstGeom>
          <a:noFill/>
        </p:spPr>
        <p:txBody>
          <a:bodyPr wrap="square" lIns="0" rIns="0" tIns="0" bIns="0" anchor="ctr">
            <a:spAutoFit/>
          </a:bodyPr>
          <a:lstStyle/>
          <a:p>
            <a:pPr algn="ctr">
              <a:lnSpc>
                <a:spcPct val="100000"/>
              </a:lnSpc>
              <a:spcAft>
                <a:spcPts val="0"/>
              </a:spcAft>
            </a:pPr>
            <a:r>
              <a:rPr sz="800" b="1">
                <a:solidFill>
                  <a:srgbClr val="FFFFFF"/>
                </a:solidFill>
                <a:latin typeface="Aptos"/>
              </a:rPr>
              <a:t>01</a:t>
            </a:r>
          </a:p>
        </p:txBody>
      </p:sp>
      <p:sp>
        <p:nvSpPr>
          <p:cNvPr id="11" name="TextBox 10"/>
          <p:cNvSpPr txBox="1"/>
          <p:nvPr/>
        </p:nvSpPr>
        <p:spPr>
          <a:xfrm>
            <a:off x="1078992" y="2084831"/>
            <a:ext cx="5440680" cy="274320"/>
          </a:xfrm>
          <a:prstGeom prst="rect">
            <a:avLst/>
          </a:prstGeom>
          <a:noFill/>
        </p:spPr>
        <p:txBody>
          <a:bodyPr wrap="square" lIns="0" rIns="0" tIns="0" bIns="0" anchor="t">
            <a:spAutoFit/>
          </a:bodyPr>
          <a:lstStyle/>
          <a:p>
            <a:pPr algn="l">
              <a:lnSpc>
                <a:spcPct val="100000"/>
              </a:lnSpc>
              <a:spcAft>
                <a:spcPts val="0"/>
              </a:spcAft>
            </a:pPr>
            <a:r>
              <a:rPr sz="1300" b="1">
                <a:solidFill>
                  <a:srgbClr val="0B1F3A"/>
                </a:solidFill>
                <a:latin typeface="Aptos"/>
              </a:rPr>
              <a:t>Modular Payload Design</a:t>
            </a:r>
          </a:p>
        </p:txBody>
      </p:sp>
      <p:sp>
        <p:nvSpPr>
          <p:cNvPr id="12" name="TextBox 11"/>
          <p:cNvSpPr txBox="1"/>
          <p:nvPr/>
        </p:nvSpPr>
        <p:spPr>
          <a:xfrm>
            <a:off x="1078992" y="2432303"/>
            <a:ext cx="5596128" cy="502920"/>
          </a:xfrm>
          <a:prstGeom prst="rect">
            <a:avLst/>
          </a:prstGeom>
          <a:noFill/>
        </p:spPr>
        <p:txBody>
          <a:bodyPr wrap="square" lIns="0" rIns="0" tIns="0" bIns="0" anchor="t">
            <a:spAutoFit/>
          </a:bodyPr>
          <a:lstStyle/>
          <a:p>
            <a:pPr algn="l">
              <a:lnSpc>
                <a:spcPct val="102000"/>
              </a:lnSpc>
              <a:spcAft>
                <a:spcPts val="0"/>
              </a:spcAft>
            </a:pPr>
            <a:r>
              <a:rPr sz="969" b="0">
                <a:solidFill>
                  <a:srgbClr val="50657B"/>
                </a:solidFill>
                <a:latin typeface="Aptos"/>
              </a:rPr>
              <a:t>Standard double-locker form factor designed for ISS, Starlab and Axiom interfaces — one build, many stations.</a:t>
            </a:r>
          </a:p>
        </p:txBody>
      </p:sp>
      <p:sp>
        <p:nvSpPr>
          <p:cNvPr id="13" name="Oval 12"/>
          <p:cNvSpPr/>
          <p:nvPr/>
        </p:nvSpPr>
        <p:spPr>
          <a:xfrm>
            <a:off x="475488" y="3218688"/>
            <a:ext cx="411480" cy="411480"/>
          </a:xfrm>
          <a:prstGeom prst="ellipse">
            <a:avLst/>
          </a:prstGeom>
          <a:solidFill>
            <a:srgbClr val="0B1F3A"/>
          </a:solidFill>
          <a:ln w="6350">
            <a:solidFill>
              <a:srgbClr val="0B1F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75488" y="3218688"/>
            <a:ext cx="411480" cy="411480"/>
          </a:xfrm>
          <a:prstGeom prst="rect">
            <a:avLst/>
          </a:prstGeom>
          <a:noFill/>
        </p:spPr>
        <p:txBody>
          <a:bodyPr wrap="square" lIns="0" rIns="0" tIns="0" bIns="0" anchor="ctr">
            <a:spAutoFit/>
          </a:bodyPr>
          <a:lstStyle/>
          <a:p>
            <a:pPr algn="ctr">
              <a:lnSpc>
                <a:spcPct val="100000"/>
              </a:lnSpc>
              <a:spcAft>
                <a:spcPts val="0"/>
              </a:spcAft>
            </a:pPr>
            <a:r>
              <a:rPr sz="800" b="1">
                <a:solidFill>
                  <a:srgbClr val="FFFFFF"/>
                </a:solidFill>
                <a:latin typeface="Aptos"/>
              </a:rPr>
              <a:t>02</a:t>
            </a:r>
          </a:p>
        </p:txBody>
      </p:sp>
      <p:sp>
        <p:nvSpPr>
          <p:cNvPr id="15" name="TextBox 14"/>
          <p:cNvSpPr txBox="1"/>
          <p:nvPr/>
        </p:nvSpPr>
        <p:spPr>
          <a:xfrm>
            <a:off x="1078992" y="3163824"/>
            <a:ext cx="5440680" cy="274320"/>
          </a:xfrm>
          <a:prstGeom prst="rect">
            <a:avLst/>
          </a:prstGeom>
          <a:noFill/>
        </p:spPr>
        <p:txBody>
          <a:bodyPr wrap="square" lIns="0" rIns="0" tIns="0" bIns="0" anchor="t">
            <a:spAutoFit/>
          </a:bodyPr>
          <a:lstStyle/>
          <a:p>
            <a:pPr algn="l">
              <a:lnSpc>
                <a:spcPct val="100000"/>
              </a:lnSpc>
              <a:spcAft>
                <a:spcPts val="0"/>
              </a:spcAft>
            </a:pPr>
            <a:r>
              <a:rPr sz="1300" b="1">
                <a:solidFill>
                  <a:srgbClr val="0B1F3A"/>
                </a:solidFill>
                <a:latin typeface="Aptos"/>
              </a:rPr>
              <a:t>Proprietary Cell-Line IP</a:t>
            </a:r>
          </a:p>
        </p:txBody>
      </p:sp>
      <p:sp>
        <p:nvSpPr>
          <p:cNvPr id="16" name="TextBox 15"/>
          <p:cNvSpPr txBox="1"/>
          <p:nvPr/>
        </p:nvSpPr>
        <p:spPr>
          <a:xfrm>
            <a:off x="1078992" y="3511296"/>
            <a:ext cx="5596128" cy="502920"/>
          </a:xfrm>
          <a:prstGeom prst="rect">
            <a:avLst/>
          </a:prstGeom>
          <a:noFill/>
        </p:spPr>
        <p:txBody>
          <a:bodyPr wrap="square" lIns="0" rIns="0" tIns="0" bIns="0" anchor="t">
            <a:spAutoFit/>
          </a:bodyPr>
          <a:lstStyle/>
          <a:p>
            <a:pPr algn="l">
              <a:lnSpc>
                <a:spcPct val="102000"/>
              </a:lnSpc>
              <a:spcAft>
                <a:spcPts val="0"/>
              </a:spcAft>
            </a:pPr>
            <a:r>
              <a:rPr sz="969" b="0">
                <a:solidFill>
                  <a:srgbClr val="50657B"/>
                </a:solidFill>
                <a:latin typeface="Aptos"/>
              </a:rPr>
              <a:t>Microgravity-optimised bioink formulations and printing protocols compound into a defensible IP library with every mission.</a:t>
            </a:r>
          </a:p>
        </p:txBody>
      </p:sp>
      <p:sp>
        <p:nvSpPr>
          <p:cNvPr id="17" name="Oval 16"/>
          <p:cNvSpPr/>
          <p:nvPr/>
        </p:nvSpPr>
        <p:spPr>
          <a:xfrm>
            <a:off x="475488" y="4297679"/>
            <a:ext cx="411480" cy="411480"/>
          </a:xfrm>
          <a:prstGeom prst="ellipse">
            <a:avLst/>
          </a:prstGeom>
          <a:solidFill>
            <a:srgbClr val="00A991"/>
          </a:solidFill>
          <a:ln w="6350">
            <a:solidFill>
              <a:srgbClr val="00A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475488" y="4297679"/>
            <a:ext cx="411480" cy="411480"/>
          </a:xfrm>
          <a:prstGeom prst="rect">
            <a:avLst/>
          </a:prstGeom>
          <a:noFill/>
        </p:spPr>
        <p:txBody>
          <a:bodyPr wrap="square" lIns="0" rIns="0" tIns="0" bIns="0" anchor="ctr">
            <a:spAutoFit/>
          </a:bodyPr>
          <a:lstStyle/>
          <a:p>
            <a:pPr algn="ctr">
              <a:lnSpc>
                <a:spcPct val="100000"/>
              </a:lnSpc>
              <a:spcAft>
                <a:spcPts val="0"/>
              </a:spcAft>
            </a:pPr>
            <a:r>
              <a:rPr sz="800" b="1">
                <a:solidFill>
                  <a:srgbClr val="FFFFFF"/>
                </a:solidFill>
                <a:latin typeface="Aptos"/>
              </a:rPr>
              <a:t>03</a:t>
            </a:r>
          </a:p>
        </p:txBody>
      </p:sp>
      <p:sp>
        <p:nvSpPr>
          <p:cNvPr id="19" name="TextBox 18"/>
          <p:cNvSpPr txBox="1"/>
          <p:nvPr/>
        </p:nvSpPr>
        <p:spPr>
          <a:xfrm>
            <a:off x="1078992" y="4242816"/>
            <a:ext cx="5440680" cy="274320"/>
          </a:xfrm>
          <a:prstGeom prst="rect">
            <a:avLst/>
          </a:prstGeom>
          <a:noFill/>
        </p:spPr>
        <p:txBody>
          <a:bodyPr wrap="square" lIns="0" rIns="0" tIns="0" bIns="0" anchor="t">
            <a:spAutoFit/>
          </a:bodyPr>
          <a:lstStyle/>
          <a:p>
            <a:pPr algn="l">
              <a:lnSpc>
                <a:spcPct val="100000"/>
              </a:lnSpc>
              <a:spcAft>
                <a:spcPts val="0"/>
              </a:spcAft>
            </a:pPr>
            <a:r>
              <a:rPr sz="1300" b="1">
                <a:solidFill>
                  <a:srgbClr val="0B1F3A"/>
                </a:solidFill>
                <a:latin typeface="Aptos"/>
              </a:rPr>
              <a:t>Service-First Revenue</a:t>
            </a:r>
          </a:p>
        </p:txBody>
      </p:sp>
      <p:sp>
        <p:nvSpPr>
          <p:cNvPr id="20" name="TextBox 19"/>
          <p:cNvSpPr txBox="1"/>
          <p:nvPr/>
        </p:nvSpPr>
        <p:spPr>
          <a:xfrm>
            <a:off x="1078992" y="4590288"/>
            <a:ext cx="5596128" cy="502920"/>
          </a:xfrm>
          <a:prstGeom prst="rect">
            <a:avLst/>
          </a:prstGeom>
          <a:noFill/>
        </p:spPr>
        <p:txBody>
          <a:bodyPr wrap="square" lIns="0" rIns="0" tIns="0" bIns="0" anchor="t">
            <a:spAutoFit/>
          </a:bodyPr>
          <a:lstStyle/>
          <a:p>
            <a:pPr algn="l">
              <a:lnSpc>
                <a:spcPct val="102000"/>
              </a:lnSpc>
              <a:spcAft>
                <a:spcPts val="0"/>
              </a:spcAft>
            </a:pPr>
            <a:r>
              <a:rPr sz="969" b="0">
                <a:solidFill>
                  <a:srgbClr val="50657B"/>
                </a:solidFill>
                <a:latin typeface="Aptos"/>
              </a:rPr>
              <a:t>Fee-for-service printing creates near-term revenue while building the proprietary tissue data and protocols that drive long-term value.</a:t>
            </a:r>
          </a:p>
        </p:txBody>
      </p:sp>
      <p:sp>
        <p:nvSpPr>
          <p:cNvPr id="21" name="Rounded Rectangle 20"/>
          <p:cNvSpPr/>
          <p:nvPr/>
        </p:nvSpPr>
        <p:spPr>
          <a:xfrm>
            <a:off x="457200" y="5413248"/>
            <a:ext cx="6537960" cy="795528"/>
          </a:xfrm>
          <a:prstGeom prst="roundRect">
            <a:avLst/>
          </a:prstGeom>
          <a:solidFill>
            <a:srgbClr val="0B1F3A"/>
          </a:solidFill>
          <a:ln w="10160">
            <a:solidFill>
              <a:srgbClr val="0B1F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94944" y="5577840"/>
            <a:ext cx="2834640" cy="164592"/>
          </a:xfrm>
          <a:prstGeom prst="rect">
            <a:avLst/>
          </a:prstGeom>
          <a:noFill/>
        </p:spPr>
        <p:txBody>
          <a:bodyPr wrap="square" lIns="0" rIns="0" tIns="0" bIns="0" anchor="t">
            <a:spAutoFit/>
          </a:bodyPr>
          <a:lstStyle/>
          <a:p>
            <a:pPr algn="l">
              <a:lnSpc>
                <a:spcPct val="100000"/>
              </a:lnSpc>
              <a:spcAft>
                <a:spcPts val="0"/>
              </a:spcAft>
            </a:pPr>
            <a:r>
              <a:rPr sz="760" b="1">
                <a:solidFill>
                  <a:srgbClr val="77D5C5"/>
                </a:solidFill>
                <a:latin typeface="Aptos"/>
              </a:rPr>
              <a:t>ONE PLATFORM · MANY DESTINATIONS</a:t>
            </a:r>
          </a:p>
        </p:txBody>
      </p:sp>
      <p:sp>
        <p:nvSpPr>
          <p:cNvPr id="23" name="TextBox 22"/>
          <p:cNvSpPr txBox="1"/>
          <p:nvPr/>
        </p:nvSpPr>
        <p:spPr>
          <a:xfrm>
            <a:off x="694944" y="5833872"/>
            <a:ext cx="5916168" cy="201168"/>
          </a:xfrm>
          <a:prstGeom prst="rect">
            <a:avLst/>
          </a:prstGeom>
          <a:noFill/>
        </p:spPr>
        <p:txBody>
          <a:bodyPr wrap="square" lIns="0" rIns="0" tIns="0" bIns="0" anchor="t">
            <a:spAutoFit/>
          </a:bodyPr>
          <a:lstStyle/>
          <a:p>
            <a:pPr algn="l">
              <a:lnSpc>
                <a:spcPct val="100000"/>
              </a:lnSpc>
              <a:spcAft>
                <a:spcPts val="0"/>
              </a:spcAft>
            </a:pPr>
            <a:r>
              <a:rPr sz="1130" b="1">
                <a:solidFill>
                  <a:srgbClr val="FFFFFF"/>
                </a:solidFill>
                <a:latin typeface="Aptos"/>
              </a:rPr>
              <a:t>Engineered for compatibility from the ISS today to Starlab, Axiom and beyond.</a:t>
            </a:r>
          </a:p>
        </p:txBody>
      </p:sp>
      <p:sp>
        <p:nvSpPr>
          <p:cNvPr id="24" name="TextBox 23"/>
          <p:cNvSpPr txBox="1"/>
          <p:nvPr/>
        </p:nvSpPr>
        <p:spPr>
          <a:xfrm>
            <a:off x="7269480" y="1298448"/>
            <a:ext cx="4297680" cy="182880"/>
          </a:xfrm>
          <a:prstGeom prst="rect">
            <a:avLst/>
          </a:prstGeom>
          <a:noFill/>
        </p:spPr>
        <p:txBody>
          <a:bodyPr wrap="square" lIns="0" rIns="0" tIns="0" bIns="0" anchor="t">
            <a:spAutoFit/>
          </a:bodyPr>
          <a:lstStyle/>
          <a:p>
            <a:pPr algn="l">
              <a:lnSpc>
                <a:spcPct val="100000"/>
              </a:lnSpc>
              <a:spcAft>
                <a:spcPts val="0"/>
              </a:spcAft>
            </a:pPr>
            <a:r>
              <a:rPr sz="810" b="1">
                <a:solidFill>
                  <a:srgbClr val="708399"/>
                </a:solidFill>
                <a:latin typeface="Aptos"/>
              </a:rPr>
              <a:t>STATION ECOSYSTEM COMPATIBILITY</a:t>
            </a:r>
          </a:p>
        </p:txBody>
      </p:sp>
      <p:sp>
        <p:nvSpPr>
          <p:cNvPr id="25" name="Rounded Rectangle 24"/>
          <p:cNvSpPr/>
          <p:nvPr/>
        </p:nvSpPr>
        <p:spPr>
          <a:xfrm>
            <a:off x="7269480" y="1591056"/>
            <a:ext cx="4462272" cy="621792"/>
          </a:xfrm>
          <a:prstGeom prst="roundRect">
            <a:avLst/>
          </a:prstGeom>
          <a:solidFill>
            <a:srgbClr val="0B1F3A"/>
          </a:solidFill>
          <a:ln w="10160">
            <a:solidFill>
              <a:srgbClr val="0B1F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479792" y="1591056"/>
            <a:ext cx="4041648" cy="621792"/>
          </a:xfrm>
          <a:prstGeom prst="rect">
            <a:avLst/>
          </a:prstGeom>
          <a:noFill/>
        </p:spPr>
        <p:txBody>
          <a:bodyPr wrap="square" lIns="0" rIns="0" tIns="0" bIns="0" anchor="ctr">
            <a:spAutoFit/>
          </a:bodyPr>
          <a:lstStyle/>
          <a:p>
            <a:pPr algn="ctr">
              <a:lnSpc>
                <a:spcPct val="100000"/>
              </a:lnSpc>
              <a:spcAft>
                <a:spcPts val="0"/>
              </a:spcAft>
            </a:pPr>
            <a:r>
              <a:rPr sz="1250" b="1">
                <a:solidFill>
                  <a:srgbClr val="FFFFFF"/>
                </a:solidFill>
                <a:latin typeface="Aptos"/>
              </a:rPr>
              <a:t>SAMUEL SPACE PLATFORM</a:t>
            </a:r>
          </a:p>
        </p:txBody>
      </p:sp>
      <p:cxnSp>
        <p:nvCxnSpPr>
          <p:cNvPr id="27" name="Connector 26"/>
          <p:cNvCxnSpPr/>
          <p:nvPr/>
        </p:nvCxnSpPr>
        <p:spPr>
          <a:xfrm>
            <a:off x="7653527" y="2212848"/>
            <a:ext cx="0" cy="3767328"/>
          </a:xfrm>
          <a:prstGeom prst="line">
            <a:avLst/>
          </a:prstGeom>
          <a:ln w="19050">
            <a:solidFill>
              <a:srgbClr val="9ED9CF"/>
            </a:solidFill>
          </a:ln>
        </p:spPr>
        <p:style>
          <a:lnRef idx="2">
            <a:schemeClr val="accent1"/>
          </a:lnRef>
          <a:fillRef idx="0">
            <a:schemeClr val="accent1"/>
          </a:fillRef>
          <a:effectRef idx="1">
            <a:schemeClr val="accent1"/>
          </a:effectRef>
          <a:fontRef idx="minor">
            <a:schemeClr val="tx1"/>
          </a:fontRef>
        </p:style>
      </p:cxnSp>
      <p:sp>
        <p:nvSpPr>
          <p:cNvPr id="28" name="Oval 27"/>
          <p:cNvSpPr/>
          <p:nvPr/>
        </p:nvSpPr>
        <p:spPr>
          <a:xfrm>
            <a:off x="7543800" y="2551176"/>
            <a:ext cx="219456" cy="219456"/>
          </a:xfrm>
          <a:prstGeom prst="ellipse">
            <a:avLst/>
          </a:prstGeom>
          <a:solidFill>
            <a:srgbClr val="00A991"/>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Rounded Rectangle 28"/>
          <p:cNvSpPr/>
          <p:nvPr/>
        </p:nvSpPr>
        <p:spPr>
          <a:xfrm>
            <a:off x="7927848" y="2368296"/>
            <a:ext cx="3803904" cy="576072"/>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8110727" y="2459736"/>
            <a:ext cx="1371600" cy="182880"/>
          </a:xfrm>
          <a:prstGeom prst="rect">
            <a:avLst/>
          </a:prstGeom>
          <a:noFill/>
        </p:spPr>
        <p:txBody>
          <a:bodyPr wrap="square" lIns="0" rIns="0" tIns="0" bIns="0" anchor="t">
            <a:spAutoFit/>
          </a:bodyPr>
          <a:lstStyle/>
          <a:p>
            <a:pPr algn="l">
              <a:lnSpc>
                <a:spcPct val="100000"/>
              </a:lnSpc>
              <a:spcAft>
                <a:spcPts val="0"/>
              </a:spcAft>
            </a:pPr>
            <a:r>
              <a:rPr sz="1019" b="1">
                <a:solidFill>
                  <a:srgbClr val="0B1F3A"/>
                </a:solidFill>
                <a:latin typeface="Aptos"/>
              </a:rPr>
              <a:t>ISS</a:t>
            </a:r>
          </a:p>
        </p:txBody>
      </p:sp>
      <p:sp>
        <p:nvSpPr>
          <p:cNvPr id="31" name="TextBox 30"/>
          <p:cNvSpPr txBox="1"/>
          <p:nvPr/>
        </p:nvSpPr>
        <p:spPr>
          <a:xfrm>
            <a:off x="9409176" y="2459736"/>
            <a:ext cx="2103120" cy="292608"/>
          </a:xfrm>
          <a:prstGeom prst="rect">
            <a:avLst/>
          </a:prstGeom>
          <a:noFill/>
        </p:spPr>
        <p:txBody>
          <a:bodyPr wrap="square" lIns="0" rIns="0" tIns="0" bIns="0" anchor="t">
            <a:spAutoFit/>
          </a:bodyPr>
          <a:lstStyle/>
          <a:p>
            <a:pPr algn="l">
              <a:lnSpc>
                <a:spcPct val="100000"/>
              </a:lnSpc>
              <a:spcAft>
                <a:spcPts val="0"/>
              </a:spcAft>
            </a:pPr>
            <a:r>
              <a:rPr sz="780" b="0">
                <a:solidFill>
                  <a:srgbClr val="50657B"/>
                </a:solidFill>
                <a:latin typeface="Aptos"/>
              </a:rPr>
              <a:t>Redwire BFF · active through ~2030</a:t>
            </a:r>
          </a:p>
        </p:txBody>
      </p:sp>
      <p:sp>
        <p:nvSpPr>
          <p:cNvPr id="32" name="Oval 31"/>
          <p:cNvSpPr/>
          <p:nvPr/>
        </p:nvSpPr>
        <p:spPr>
          <a:xfrm>
            <a:off x="7543800" y="3282696"/>
            <a:ext cx="219456" cy="219456"/>
          </a:xfrm>
          <a:prstGeom prst="ellipse">
            <a:avLst/>
          </a:prstGeom>
          <a:solidFill>
            <a:srgbClr val="00A991"/>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Rounded Rectangle 32"/>
          <p:cNvSpPr/>
          <p:nvPr/>
        </p:nvSpPr>
        <p:spPr>
          <a:xfrm>
            <a:off x="7927848" y="3099815"/>
            <a:ext cx="3803904" cy="576072"/>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110727" y="3191256"/>
            <a:ext cx="1371600" cy="182880"/>
          </a:xfrm>
          <a:prstGeom prst="rect">
            <a:avLst/>
          </a:prstGeom>
          <a:noFill/>
        </p:spPr>
        <p:txBody>
          <a:bodyPr wrap="square" lIns="0" rIns="0" tIns="0" bIns="0" anchor="t">
            <a:spAutoFit/>
          </a:bodyPr>
          <a:lstStyle/>
          <a:p>
            <a:pPr algn="l">
              <a:lnSpc>
                <a:spcPct val="100000"/>
              </a:lnSpc>
              <a:spcAft>
                <a:spcPts val="0"/>
              </a:spcAft>
            </a:pPr>
            <a:r>
              <a:rPr sz="1019" b="1">
                <a:solidFill>
                  <a:srgbClr val="0B1F3A"/>
                </a:solidFill>
                <a:latin typeface="Aptos"/>
              </a:rPr>
              <a:t>Starlab</a:t>
            </a:r>
          </a:p>
        </p:txBody>
      </p:sp>
      <p:sp>
        <p:nvSpPr>
          <p:cNvPr id="35" name="TextBox 34"/>
          <p:cNvSpPr txBox="1"/>
          <p:nvPr/>
        </p:nvSpPr>
        <p:spPr>
          <a:xfrm>
            <a:off x="9409176" y="3191256"/>
            <a:ext cx="2103120" cy="292608"/>
          </a:xfrm>
          <a:prstGeom prst="rect">
            <a:avLst/>
          </a:prstGeom>
          <a:noFill/>
        </p:spPr>
        <p:txBody>
          <a:bodyPr wrap="square" lIns="0" rIns="0" tIns="0" bIns="0" anchor="t">
            <a:spAutoFit/>
          </a:bodyPr>
          <a:lstStyle/>
          <a:p>
            <a:pPr algn="l">
              <a:lnSpc>
                <a:spcPct val="100000"/>
              </a:lnSpc>
              <a:spcAft>
                <a:spcPts val="0"/>
              </a:spcAft>
            </a:pPr>
            <a:r>
              <a:rPr sz="780" b="0">
                <a:solidFill>
                  <a:srgbClr val="50657B"/>
                </a:solidFill>
                <a:latin typeface="Aptos"/>
              </a:rPr>
              <a:t>Voyager / Airbus JV · targeting 2029</a:t>
            </a:r>
          </a:p>
        </p:txBody>
      </p:sp>
      <p:sp>
        <p:nvSpPr>
          <p:cNvPr id="36" name="Oval 35"/>
          <p:cNvSpPr/>
          <p:nvPr/>
        </p:nvSpPr>
        <p:spPr>
          <a:xfrm>
            <a:off x="7543800" y="4014215"/>
            <a:ext cx="219456" cy="219456"/>
          </a:xfrm>
          <a:prstGeom prst="ellipse">
            <a:avLst/>
          </a:prstGeom>
          <a:solidFill>
            <a:srgbClr val="00A991"/>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7927848" y="3831335"/>
            <a:ext cx="3803904" cy="576072"/>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110727" y="3922775"/>
            <a:ext cx="1371600" cy="182880"/>
          </a:xfrm>
          <a:prstGeom prst="rect">
            <a:avLst/>
          </a:prstGeom>
          <a:noFill/>
        </p:spPr>
        <p:txBody>
          <a:bodyPr wrap="square" lIns="0" rIns="0" tIns="0" bIns="0" anchor="t">
            <a:spAutoFit/>
          </a:bodyPr>
          <a:lstStyle/>
          <a:p>
            <a:pPr algn="l">
              <a:lnSpc>
                <a:spcPct val="100000"/>
              </a:lnSpc>
              <a:spcAft>
                <a:spcPts val="0"/>
              </a:spcAft>
            </a:pPr>
            <a:r>
              <a:rPr sz="1019" b="1">
                <a:solidFill>
                  <a:srgbClr val="0B1F3A"/>
                </a:solidFill>
                <a:latin typeface="Aptos"/>
              </a:rPr>
              <a:t>Axiom Station</a:t>
            </a:r>
          </a:p>
        </p:txBody>
      </p:sp>
      <p:sp>
        <p:nvSpPr>
          <p:cNvPr id="39" name="TextBox 38"/>
          <p:cNvSpPr txBox="1"/>
          <p:nvPr/>
        </p:nvSpPr>
        <p:spPr>
          <a:xfrm>
            <a:off x="9409176" y="3922775"/>
            <a:ext cx="2103120" cy="292608"/>
          </a:xfrm>
          <a:prstGeom prst="rect">
            <a:avLst/>
          </a:prstGeom>
          <a:noFill/>
        </p:spPr>
        <p:txBody>
          <a:bodyPr wrap="square" lIns="0" rIns="0" tIns="0" bIns="0" anchor="t">
            <a:spAutoFit/>
          </a:bodyPr>
          <a:lstStyle/>
          <a:p>
            <a:pPr algn="l">
              <a:lnSpc>
                <a:spcPct val="100000"/>
              </a:lnSpc>
              <a:spcAft>
                <a:spcPts val="0"/>
              </a:spcAft>
            </a:pPr>
            <a:r>
              <a:rPr sz="780" b="0">
                <a:solidFill>
                  <a:srgbClr val="50657B"/>
                </a:solidFill>
                <a:latin typeface="Aptos"/>
              </a:rPr>
              <a:t>First commercial modules ~2026–2028</a:t>
            </a:r>
          </a:p>
        </p:txBody>
      </p:sp>
      <p:sp>
        <p:nvSpPr>
          <p:cNvPr id="40" name="Oval 39"/>
          <p:cNvSpPr/>
          <p:nvPr/>
        </p:nvSpPr>
        <p:spPr>
          <a:xfrm>
            <a:off x="7543800" y="4745736"/>
            <a:ext cx="219456" cy="219456"/>
          </a:xfrm>
          <a:prstGeom prst="ellipse">
            <a:avLst/>
          </a:prstGeom>
          <a:solidFill>
            <a:srgbClr val="00A991"/>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7927848" y="4562856"/>
            <a:ext cx="3803904" cy="576072"/>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110727" y="4654296"/>
            <a:ext cx="1371600" cy="182880"/>
          </a:xfrm>
          <a:prstGeom prst="rect">
            <a:avLst/>
          </a:prstGeom>
          <a:noFill/>
        </p:spPr>
        <p:txBody>
          <a:bodyPr wrap="square" lIns="0" rIns="0" tIns="0" bIns="0" anchor="t">
            <a:spAutoFit/>
          </a:bodyPr>
          <a:lstStyle/>
          <a:p>
            <a:pPr algn="l">
              <a:lnSpc>
                <a:spcPct val="100000"/>
              </a:lnSpc>
              <a:spcAft>
                <a:spcPts val="0"/>
              </a:spcAft>
            </a:pPr>
            <a:r>
              <a:rPr sz="1019" b="1">
                <a:solidFill>
                  <a:srgbClr val="0B1F3A"/>
                </a:solidFill>
                <a:latin typeface="Aptos"/>
              </a:rPr>
              <a:t>Orbital Reef</a:t>
            </a:r>
          </a:p>
        </p:txBody>
      </p:sp>
      <p:sp>
        <p:nvSpPr>
          <p:cNvPr id="43" name="TextBox 42"/>
          <p:cNvSpPr txBox="1"/>
          <p:nvPr/>
        </p:nvSpPr>
        <p:spPr>
          <a:xfrm>
            <a:off x="9409176" y="4654296"/>
            <a:ext cx="2103120" cy="292608"/>
          </a:xfrm>
          <a:prstGeom prst="rect">
            <a:avLst/>
          </a:prstGeom>
          <a:noFill/>
        </p:spPr>
        <p:txBody>
          <a:bodyPr wrap="square" lIns="0" rIns="0" tIns="0" bIns="0" anchor="t">
            <a:spAutoFit/>
          </a:bodyPr>
          <a:lstStyle/>
          <a:p>
            <a:pPr algn="l">
              <a:lnSpc>
                <a:spcPct val="100000"/>
              </a:lnSpc>
              <a:spcAft>
                <a:spcPts val="0"/>
              </a:spcAft>
            </a:pPr>
            <a:r>
              <a:rPr sz="780" b="0">
                <a:solidFill>
                  <a:srgbClr val="50657B"/>
                </a:solidFill>
                <a:latin typeface="Aptos"/>
              </a:rPr>
              <a:t>Blue Origin / Sierra Space · CLD-funded</a:t>
            </a:r>
          </a:p>
        </p:txBody>
      </p:sp>
      <p:sp>
        <p:nvSpPr>
          <p:cNvPr id="44" name="Oval 43"/>
          <p:cNvSpPr/>
          <p:nvPr/>
        </p:nvSpPr>
        <p:spPr>
          <a:xfrm>
            <a:off x="7543800" y="5477256"/>
            <a:ext cx="219456" cy="219456"/>
          </a:xfrm>
          <a:prstGeom prst="ellipse">
            <a:avLst/>
          </a:prstGeom>
          <a:solidFill>
            <a:srgbClr val="00A991"/>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ounded Rectangle 44"/>
          <p:cNvSpPr/>
          <p:nvPr/>
        </p:nvSpPr>
        <p:spPr>
          <a:xfrm>
            <a:off x="7927848" y="5294376"/>
            <a:ext cx="3803904" cy="576072"/>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10727" y="5385816"/>
            <a:ext cx="1371600" cy="182880"/>
          </a:xfrm>
          <a:prstGeom prst="rect">
            <a:avLst/>
          </a:prstGeom>
          <a:noFill/>
        </p:spPr>
        <p:txBody>
          <a:bodyPr wrap="square" lIns="0" rIns="0" tIns="0" bIns="0" anchor="t">
            <a:spAutoFit/>
          </a:bodyPr>
          <a:lstStyle/>
          <a:p>
            <a:pPr algn="l">
              <a:lnSpc>
                <a:spcPct val="100000"/>
              </a:lnSpc>
              <a:spcAft>
                <a:spcPts val="0"/>
              </a:spcAft>
            </a:pPr>
            <a:r>
              <a:rPr sz="1019" b="1">
                <a:solidFill>
                  <a:srgbClr val="0B1F3A"/>
                </a:solidFill>
                <a:latin typeface="Aptos"/>
              </a:rPr>
              <a:t>Vast Haven-1</a:t>
            </a:r>
          </a:p>
        </p:txBody>
      </p:sp>
      <p:sp>
        <p:nvSpPr>
          <p:cNvPr id="47" name="TextBox 46"/>
          <p:cNvSpPr txBox="1"/>
          <p:nvPr/>
        </p:nvSpPr>
        <p:spPr>
          <a:xfrm>
            <a:off x="9409176" y="5385816"/>
            <a:ext cx="2103120" cy="292608"/>
          </a:xfrm>
          <a:prstGeom prst="rect">
            <a:avLst/>
          </a:prstGeom>
          <a:noFill/>
        </p:spPr>
        <p:txBody>
          <a:bodyPr wrap="square" lIns="0" rIns="0" tIns="0" bIns="0" anchor="t">
            <a:spAutoFit/>
          </a:bodyPr>
          <a:lstStyle/>
          <a:p>
            <a:pPr algn="l">
              <a:lnSpc>
                <a:spcPct val="100000"/>
              </a:lnSpc>
              <a:spcAft>
                <a:spcPts val="0"/>
              </a:spcAft>
            </a:pPr>
            <a:r>
              <a:rPr sz="780" b="0">
                <a:solidFill>
                  <a:srgbClr val="50657B"/>
                </a:solidFill>
                <a:latin typeface="Aptos"/>
              </a:rPr>
              <a:t>Dedicated commercial station · 2026</a:t>
            </a:r>
          </a:p>
        </p:txBody>
      </p:sp>
      <p:sp>
        <p:nvSpPr>
          <p:cNvPr id="48" name="TextBox 47"/>
          <p:cNvSpPr txBox="1"/>
          <p:nvPr/>
        </p:nvSpPr>
        <p:spPr>
          <a:xfrm>
            <a:off x="7269480" y="6126480"/>
            <a:ext cx="4462272" cy="164592"/>
          </a:xfrm>
          <a:prstGeom prst="rect">
            <a:avLst/>
          </a:prstGeom>
          <a:noFill/>
        </p:spPr>
        <p:txBody>
          <a:bodyPr wrap="square" lIns="0" rIns="0" tIns="0" bIns="0" anchor="t">
            <a:spAutoFit/>
          </a:bodyPr>
          <a:lstStyle/>
          <a:p>
            <a:pPr algn="l">
              <a:lnSpc>
                <a:spcPct val="100000"/>
              </a:lnSpc>
              <a:spcAft>
                <a:spcPts val="0"/>
              </a:spcAft>
            </a:pPr>
            <a:r>
              <a:rPr sz="690" b="0">
                <a:solidFill>
                  <a:srgbClr val="708399"/>
                </a:solidFill>
                <a:latin typeface="Aptos"/>
              </a:rPr>
              <a:t>Station names shown as market context only — not as confirmed Samuel partnerships.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Rectangle 1"/>
          <p:cNvSpPr/>
          <p:nvPr/>
        </p:nvSpPr>
        <p:spPr>
          <a:xfrm>
            <a:off x="457200" y="256032"/>
            <a:ext cx="54864" cy="219456"/>
          </a:xfrm>
          <a:prstGeom prst="rect">
            <a:avLst/>
          </a:prstGeom>
          <a:solidFill>
            <a:srgbClr val="00A991"/>
          </a:solidFill>
          <a:ln>
            <a:solidFill>
              <a:srgbClr val="00A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3504" y="256032"/>
            <a:ext cx="4114800" cy="164592"/>
          </a:xfrm>
          <a:prstGeom prst="rect">
            <a:avLst/>
          </a:prstGeom>
          <a:noFill/>
        </p:spPr>
        <p:txBody>
          <a:bodyPr wrap="square" lIns="0" rIns="0" tIns="0" bIns="0" anchor="t">
            <a:spAutoFit/>
          </a:bodyPr>
          <a:lstStyle/>
          <a:p>
            <a:pPr algn="l">
              <a:lnSpc>
                <a:spcPct val="100000"/>
              </a:lnSpc>
              <a:spcAft>
                <a:spcPts val="0"/>
              </a:spcAft>
            </a:pPr>
            <a:r>
              <a:rPr sz="770" b="1">
                <a:solidFill>
                  <a:srgbClr val="087F72"/>
                </a:solidFill>
                <a:latin typeface="Aptos"/>
              </a:rPr>
              <a:t>EXECUTION PLAN</a:t>
            </a:r>
          </a:p>
        </p:txBody>
      </p:sp>
      <p:sp>
        <p:nvSpPr>
          <p:cNvPr id="4" name="TextBox 3"/>
          <p:cNvSpPr txBox="1"/>
          <p:nvPr/>
        </p:nvSpPr>
        <p:spPr>
          <a:xfrm>
            <a:off x="457200" y="530352"/>
            <a:ext cx="11064240" cy="475488"/>
          </a:xfrm>
          <a:prstGeom prst="rect">
            <a:avLst/>
          </a:prstGeom>
          <a:noFill/>
        </p:spPr>
        <p:txBody>
          <a:bodyPr wrap="square" lIns="0" rIns="0" tIns="0" bIns="0" anchor="t">
            <a:spAutoFit/>
          </a:bodyPr>
          <a:lstStyle/>
          <a:p>
            <a:pPr algn="l">
              <a:lnSpc>
                <a:spcPct val="100000"/>
              </a:lnSpc>
              <a:spcAft>
                <a:spcPts val="0"/>
              </a:spcAft>
            </a:pPr>
            <a:r>
              <a:rPr sz="2550" b="1">
                <a:solidFill>
                  <a:srgbClr val="0B1F3A"/>
                </a:solidFill>
                <a:latin typeface="Aptos Display"/>
              </a:rPr>
              <a:t>Four-Phase Technology &amp; Commercialisation Roadmap</a:t>
            </a:r>
          </a:p>
        </p:txBody>
      </p:sp>
      <p:cxnSp>
        <p:nvCxnSpPr>
          <p:cNvPr id="5" name="Connector 4"/>
          <p:cNvCxnSpPr/>
          <p:nvPr/>
        </p:nvCxnSpPr>
        <p:spPr>
          <a:xfrm>
            <a:off x="457200" y="6510528"/>
            <a:ext cx="11274552" cy="0"/>
          </a:xfrm>
          <a:prstGeom prst="line">
            <a:avLst/>
          </a:prstGeom>
          <a:ln w="7620">
            <a:solidFill>
              <a:srgbClr val="D7E1E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65392"/>
            <a:ext cx="1645920" cy="109728"/>
          </a:xfrm>
          <a:prstGeom prst="rect">
            <a:avLst/>
          </a:prstGeom>
          <a:noFill/>
        </p:spPr>
        <p:txBody>
          <a:bodyPr wrap="square" lIns="0" rIns="0" tIns="0" bIns="0" anchor="t">
            <a:spAutoFit/>
          </a:bodyPr>
          <a:lstStyle/>
          <a:p>
            <a:pPr algn="l">
              <a:lnSpc>
                <a:spcPct val="100000"/>
              </a:lnSpc>
              <a:spcAft>
                <a:spcPts val="0"/>
              </a:spcAft>
            </a:pPr>
            <a:r>
              <a:rPr sz="670" b="1">
                <a:solidFill>
                  <a:srgbClr val="708399"/>
                </a:solidFill>
                <a:latin typeface="Aptos"/>
              </a:rPr>
              <a:t>SAMUEL SPACE</a:t>
            </a:r>
          </a:p>
        </p:txBody>
      </p:sp>
      <p:sp>
        <p:nvSpPr>
          <p:cNvPr id="7" name="TextBox 6"/>
          <p:cNvSpPr txBox="1"/>
          <p:nvPr/>
        </p:nvSpPr>
        <p:spPr>
          <a:xfrm>
            <a:off x="10927080" y="6565392"/>
            <a:ext cx="804672" cy="109728"/>
          </a:xfrm>
          <a:prstGeom prst="rect">
            <a:avLst/>
          </a:prstGeom>
          <a:noFill/>
        </p:spPr>
        <p:txBody>
          <a:bodyPr wrap="square" lIns="0" rIns="0" tIns="0" bIns="0" anchor="t">
            <a:spAutoFit/>
          </a:bodyPr>
          <a:lstStyle/>
          <a:p>
            <a:pPr algn="r">
              <a:lnSpc>
                <a:spcPct val="100000"/>
              </a:lnSpc>
              <a:spcAft>
                <a:spcPts val="0"/>
              </a:spcAft>
            </a:pPr>
            <a:r>
              <a:rPr sz="670" b="1">
                <a:solidFill>
                  <a:srgbClr val="708399"/>
                </a:solidFill>
                <a:latin typeface="Aptos"/>
              </a:rPr>
              <a:t>12 / 21</a:t>
            </a:r>
          </a:p>
        </p:txBody>
      </p:sp>
      <p:sp>
        <p:nvSpPr>
          <p:cNvPr id="8" name="Rounded Rectangle 7"/>
          <p:cNvSpPr/>
          <p:nvPr/>
        </p:nvSpPr>
        <p:spPr>
          <a:xfrm>
            <a:off x="457200" y="1353312"/>
            <a:ext cx="2679192" cy="4956048"/>
          </a:xfrm>
          <a:prstGeom prst="roundRect">
            <a:avLst/>
          </a:prstGeom>
          <a:solidFill>
            <a:srgbClr val="EDF9F6"/>
          </a:solidFill>
          <a:ln w="16510">
            <a:solidFill>
              <a:srgbClr val="00A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1536192"/>
            <a:ext cx="2313432" cy="182880"/>
          </a:xfrm>
          <a:prstGeom prst="rect">
            <a:avLst/>
          </a:prstGeom>
          <a:noFill/>
        </p:spPr>
        <p:txBody>
          <a:bodyPr wrap="square" lIns="0" rIns="0" tIns="0" bIns="0" anchor="t">
            <a:spAutoFit/>
          </a:bodyPr>
          <a:lstStyle/>
          <a:p>
            <a:pPr algn="l">
              <a:lnSpc>
                <a:spcPct val="100000"/>
              </a:lnSpc>
              <a:spcAft>
                <a:spcPts val="0"/>
              </a:spcAft>
            </a:pPr>
            <a:r>
              <a:rPr sz="800" b="1">
                <a:solidFill>
                  <a:srgbClr val="087F72"/>
                </a:solidFill>
                <a:latin typeface="Aptos"/>
              </a:rPr>
              <a:t>PHASE 1</a:t>
            </a:r>
          </a:p>
        </p:txBody>
      </p:sp>
      <p:sp>
        <p:nvSpPr>
          <p:cNvPr id="10" name="TextBox 9"/>
          <p:cNvSpPr txBox="1"/>
          <p:nvPr/>
        </p:nvSpPr>
        <p:spPr>
          <a:xfrm>
            <a:off x="640080" y="1792224"/>
            <a:ext cx="2313432" cy="219456"/>
          </a:xfrm>
          <a:prstGeom prst="rect">
            <a:avLst/>
          </a:prstGeom>
          <a:noFill/>
        </p:spPr>
        <p:txBody>
          <a:bodyPr wrap="square" lIns="0" rIns="0" tIns="0" bIns="0" anchor="t">
            <a:spAutoFit/>
          </a:bodyPr>
          <a:lstStyle/>
          <a:p>
            <a:pPr algn="l">
              <a:lnSpc>
                <a:spcPct val="100000"/>
              </a:lnSpc>
              <a:spcAft>
                <a:spcPts val="0"/>
              </a:spcAft>
            </a:pPr>
            <a:r>
              <a:rPr sz="1000" b="1">
                <a:solidFill>
                  <a:srgbClr val="708399"/>
                </a:solidFill>
                <a:latin typeface="Aptos"/>
              </a:rPr>
              <a:t>Years 1–2</a:t>
            </a:r>
          </a:p>
        </p:txBody>
      </p:sp>
      <p:sp>
        <p:nvSpPr>
          <p:cNvPr id="11" name="TextBox 10"/>
          <p:cNvSpPr txBox="1"/>
          <p:nvPr/>
        </p:nvSpPr>
        <p:spPr>
          <a:xfrm>
            <a:off x="640080" y="2185416"/>
            <a:ext cx="2313432" cy="566928"/>
          </a:xfrm>
          <a:prstGeom prst="rect">
            <a:avLst/>
          </a:prstGeom>
          <a:noFill/>
        </p:spPr>
        <p:txBody>
          <a:bodyPr wrap="square" lIns="0" rIns="0" tIns="0" bIns="0" anchor="t">
            <a:spAutoFit/>
          </a:bodyPr>
          <a:lstStyle/>
          <a:p>
            <a:pPr algn="l">
              <a:lnSpc>
                <a:spcPct val="100000"/>
              </a:lnSpc>
              <a:spcAft>
                <a:spcPts val="0"/>
              </a:spcAft>
            </a:pPr>
            <a:r>
              <a:rPr sz="1650" b="1">
                <a:solidFill>
                  <a:srgbClr val="0B1F3A"/>
                </a:solidFill>
                <a:latin typeface="Aptos Display"/>
              </a:rPr>
              <a:t>Platform &amp; Wound Care</a:t>
            </a:r>
          </a:p>
        </p:txBody>
      </p:sp>
      <p:cxnSp>
        <p:nvCxnSpPr>
          <p:cNvPr id="12" name="Connector 11"/>
          <p:cNvCxnSpPr/>
          <p:nvPr/>
        </p:nvCxnSpPr>
        <p:spPr>
          <a:xfrm>
            <a:off x="640080" y="2907791"/>
            <a:ext cx="2313432" cy="0"/>
          </a:xfrm>
          <a:prstGeom prst="line">
            <a:avLst/>
          </a:prstGeom>
          <a:ln w="10160">
            <a:solidFill>
              <a:srgbClr val="D7E1EA"/>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640080" y="3108960"/>
            <a:ext cx="2313432" cy="2624328"/>
          </a:xfrm>
          <a:prstGeom prst="rect">
            <a:avLst/>
          </a:prstGeom>
          <a:noFill/>
        </p:spPr>
        <p:txBody>
          <a:bodyPr wrap="square" lIns="0" rIns="0" tIns="0" bIns="0">
            <a:spAutoFit/>
          </a:bodyPr>
          <a:lstStyle/>
          <a:p>
            <a:pPr algn="l">
              <a:lnSpc>
                <a:spcPct val="103000"/>
              </a:lnSpc>
              <a:spcAft>
                <a:spcPts val="800"/>
              </a:spcAft>
            </a:pPr>
            <a:r>
              <a:rPr sz="1070" b="1">
                <a:solidFill>
                  <a:srgbClr val="00A991"/>
                </a:solidFill>
                <a:latin typeface="Aptos"/>
              </a:rPr>
              <a:t>• </a:t>
            </a:r>
            <a:r>
              <a:rPr sz="1070">
                <a:solidFill>
                  <a:srgbClr val="16324F"/>
                </a:solidFill>
                <a:latin typeface="Aptos"/>
              </a:rPr>
              <a:t>ISS payload hardware certification</a:t>
            </a:r>
          </a:p>
          <a:p>
            <a:pPr algn="l">
              <a:lnSpc>
                <a:spcPct val="103000"/>
              </a:lnSpc>
              <a:spcAft>
                <a:spcPts val="800"/>
              </a:spcAft>
            </a:pPr>
            <a:r>
              <a:rPr sz="1070" b="1">
                <a:solidFill>
                  <a:srgbClr val="00A991"/>
                </a:solidFill>
                <a:latin typeface="Aptos"/>
              </a:rPr>
              <a:t>• </a:t>
            </a:r>
            <a:r>
              <a:rPr sz="1070">
                <a:solidFill>
                  <a:srgbClr val="16324F"/>
                </a:solidFill>
                <a:latin typeface="Aptos"/>
              </a:rPr>
              <a:t>Commercial wound-care patch trials</a:t>
            </a:r>
          </a:p>
          <a:p>
            <a:pPr algn="l">
              <a:lnSpc>
                <a:spcPct val="103000"/>
              </a:lnSpc>
              <a:spcAft>
                <a:spcPts val="800"/>
              </a:spcAft>
            </a:pPr>
            <a:r>
              <a:rPr sz="1070" b="1">
                <a:solidFill>
                  <a:srgbClr val="00A991"/>
                </a:solidFill>
                <a:latin typeface="Aptos"/>
              </a:rPr>
              <a:t>• </a:t>
            </a:r>
            <a:r>
              <a:rPr sz="1070">
                <a:solidFill>
                  <a:srgbClr val="16324F"/>
                </a:solidFill>
                <a:latin typeface="Aptos"/>
              </a:rPr>
              <a:t>NASA InSPA Phase 1 grant applications</a:t>
            </a:r>
          </a:p>
          <a:p>
            <a:pPr algn="l">
              <a:lnSpc>
                <a:spcPct val="103000"/>
              </a:lnSpc>
              <a:spcAft>
                <a:spcPts val="800"/>
              </a:spcAft>
            </a:pPr>
            <a:r>
              <a:rPr sz="1070" b="1">
                <a:solidFill>
                  <a:srgbClr val="00A991"/>
                </a:solidFill>
                <a:latin typeface="Aptos"/>
              </a:rPr>
              <a:t>• </a:t>
            </a:r>
            <a:r>
              <a:rPr sz="1070">
                <a:solidFill>
                  <a:srgbClr val="16324F"/>
                </a:solidFill>
                <a:latin typeface="Aptos"/>
              </a:rPr>
              <a:t>Research tissue models for pharma CROs</a:t>
            </a:r>
          </a:p>
        </p:txBody>
      </p:sp>
      <p:sp>
        <p:nvSpPr>
          <p:cNvPr id="14" name="Rounded Rectangle 13"/>
          <p:cNvSpPr/>
          <p:nvPr/>
        </p:nvSpPr>
        <p:spPr>
          <a:xfrm>
            <a:off x="640080" y="5870448"/>
            <a:ext cx="2313432" cy="256032"/>
          </a:xfrm>
          <a:prstGeom prst="roundRect">
            <a:avLst/>
          </a:prstGeom>
          <a:solidFill>
            <a:srgbClr val="00A991"/>
          </a:solidFill>
          <a:ln w="6350">
            <a:solidFill>
              <a:srgbClr val="00A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0080" y="5870448"/>
            <a:ext cx="2313432" cy="256032"/>
          </a:xfrm>
          <a:prstGeom prst="rect">
            <a:avLst/>
          </a:prstGeom>
          <a:noFill/>
        </p:spPr>
        <p:txBody>
          <a:bodyPr wrap="square" lIns="0" rIns="0" tIns="0" bIns="0" anchor="ctr">
            <a:spAutoFit/>
          </a:bodyPr>
          <a:lstStyle/>
          <a:p>
            <a:pPr algn="ctr">
              <a:lnSpc>
                <a:spcPct val="100000"/>
              </a:lnSpc>
              <a:spcAft>
                <a:spcPts val="0"/>
              </a:spcAft>
            </a:pPr>
            <a:r>
              <a:rPr sz="830" b="1">
                <a:solidFill>
                  <a:srgbClr val="FFFFFF"/>
                </a:solidFill>
                <a:latin typeface="Aptos"/>
              </a:rPr>
              <a:t>TRL 4–6</a:t>
            </a:r>
          </a:p>
        </p:txBody>
      </p:sp>
      <p:sp>
        <p:nvSpPr>
          <p:cNvPr id="16" name="Chevron 15"/>
          <p:cNvSpPr/>
          <p:nvPr/>
        </p:nvSpPr>
        <p:spPr>
          <a:xfrm>
            <a:off x="3090672" y="3456432"/>
            <a:ext cx="210312" cy="384048"/>
          </a:xfrm>
          <a:prstGeom prst="chevron">
            <a:avLst/>
          </a:prstGeom>
          <a:solidFill>
            <a:srgbClr val="9DDACE"/>
          </a:solidFill>
          <a:ln w="10160">
            <a:solidFill>
              <a:srgbClr val="9DDAC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3291840" y="1353312"/>
            <a:ext cx="2679192" cy="4956048"/>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474720" y="1536192"/>
            <a:ext cx="2313432" cy="182880"/>
          </a:xfrm>
          <a:prstGeom prst="rect">
            <a:avLst/>
          </a:prstGeom>
          <a:noFill/>
        </p:spPr>
        <p:txBody>
          <a:bodyPr wrap="square" lIns="0" rIns="0" tIns="0" bIns="0" anchor="t">
            <a:spAutoFit/>
          </a:bodyPr>
          <a:lstStyle/>
          <a:p>
            <a:pPr algn="l">
              <a:lnSpc>
                <a:spcPct val="100000"/>
              </a:lnSpc>
              <a:spcAft>
                <a:spcPts val="0"/>
              </a:spcAft>
            </a:pPr>
            <a:r>
              <a:rPr sz="800" b="1">
                <a:solidFill>
                  <a:srgbClr val="087F72"/>
                </a:solidFill>
                <a:latin typeface="Aptos"/>
              </a:rPr>
              <a:t>PHASE 2</a:t>
            </a:r>
          </a:p>
        </p:txBody>
      </p:sp>
      <p:sp>
        <p:nvSpPr>
          <p:cNvPr id="19" name="TextBox 18"/>
          <p:cNvSpPr txBox="1"/>
          <p:nvPr/>
        </p:nvSpPr>
        <p:spPr>
          <a:xfrm>
            <a:off x="3474720" y="1792224"/>
            <a:ext cx="2313432" cy="219456"/>
          </a:xfrm>
          <a:prstGeom prst="rect">
            <a:avLst/>
          </a:prstGeom>
          <a:noFill/>
        </p:spPr>
        <p:txBody>
          <a:bodyPr wrap="square" lIns="0" rIns="0" tIns="0" bIns="0" anchor="t">
            <a:spAutoFit/>
          </a:bodyPr>
          <a:lstStyle/>
          <a:p>
            <a:pPr algn="l">
              <a:lnSpc>
                <a:spcPct val="100000"/>
              </a:lnSpc>
              <a:spcAft>
                <a:spcPts val="0"/>
              </a:spcAft>
            </a:pPr>
            <a:r>
              <a:rPr sz="1000" b="1">
                <a:solidFill>
                  <a:srgbClr val="708399"/>
                </a:solidFill>
                <a:latin typeface="Aptos"/>
              </a:rPr>
              <a:t>Years 3–5</a:t>
            </a:r>
          </a:p>
        </p:txBody>
      </p:sp>
      <p:sp>
        <p:nvSpPr>
          <p:cNvPr id="20" name="TextBox 19"/>
          <p:cNvSpPr txBox="1"/>
          <p:nvPr/>
        </p:nvSpPr>
        <p:spPr>
          <a:xfrm>
            <a:off x="3474720" y="2185416"/>
            <a:ext cx="2313432" cy="566928"/>
          </a:xfrm>
          <a:prstGeom prst="rect">
            <a:avLst/>
          </a:prstGeom>
          <a:noFill/>
        </p:spPr>
        <p:txBody>
          <a:bodyPr wrap="square" lIns="0" rIns="0" tIns="0" bIns="0" anchor="t">
            <a:spAutoFit/>
          </a:bodyPr>
          <a:lstStyle/>
          <a:p>
            <a:pPr algn="l">
              <a:lnSpc>
                <a:spcPct val="100000"/>
              </a:lnSpc>
              <a:spcAft>
                <a:spcPts val="0"/>
              </a:spcAft>
            </a:pPr>
            <a:r>
              <a:rPr sz="1650" b="1">
                <a:solidFill>
                  <a:srgbClr val="0B1F3A"/>
                </a:solidFill>
                <a:latin typeface="Aptos Display"/>
              </a:rPr>
              <a:t>Orthopedic &amp; Cardiac</a:t>
            </a:r>
          </a:p>
        </p:txBody>
      </p:sp>
      <p:cxnSp>
        <p:nvCxnSpPr>
          <p:cNvPr id="21" name="Connector 20"/>
          <p:cNvCxnSpPr/>
          <p:nvPr/>
        </p:nvCxnSpPr>
        <p:spPr>
          <a:xfrm>
            <a:off x="3474720" y="2907791"/>
            <a:ext cx="2313432" cy="0"/>
          </a:xfrm>
          <a:prstGeom prst="line">
            <a:avLst/>
          </a:prstGeom>
          <a:ln w="10160">
            <a:solidFill>
              <a:srgbClr val="D7E1EA"/>
            </a:solidFill>
          </a:ln>
        </p:spPr>
        <p:style>
          <a:lnRef idx="2">
            <a:schemeClr val="accent1"/>
          </a:lnRef>
          <a:fillRef idx="0">
            <a:schemeClr val="accent1"/>
          </a:fillRef>
          <a:effectRef idx="1">
            <a:schemeClr val="accent1"/>
          </a:effectRef>
          <a:fontRef idx="minor">
            <a:schemeClr val="tx1"/>
          </a:fontRef>
        </p:style>
      </p:cxnSp>
      <p:sp>
        <p:nvSpPr>
          <p:cNvPr id="22" name="TextBox 21"/>
          <p:cNvSpPr txBox="1"/>
          <p:nvPr/>
        </p:nvSpPr>
        <p:spPr>
          <a:xfrm>
            <a:off x="3474720" y="3108960"/>
            <a:ext cx="2313432" cy="2624328"/>
          </a:xfrm>
          <a:prstGeom prst="rect">
            <a:avLst/>
          </a:prstGeom>
          <a:noFill/>
        </p:spPr>
        <p:txBody>
          <a:bodyPr wrap="square" lIns="0" rIns="0" tIns="0" bIns="0">
            <a:spAutoFit/>
          </a:bodyPr>
          <a:lstStyle/>
          <a:p>
            <a:pPr algn="l">
              <a:lnSpc>
                <a:spcPct val="103000"/>
              </a:lnSpc>
              <a:spcAft>
                <a:spcPts val="800"/>
              </a:spcAft>
            </a:pPr>
            <a:r>
              <a:rPr sz="1070" b="1">
                <a:solidFill>
                  <a:srgbClr val="00A991"/>
                </a:solidFill>
                <a:latin typeface="Aptos"/>
              </a:rPr>
              <a:t>• </a:t>
            </a:r>
            <a:r>
              <a:rPr sz="1070">
                <a:solidFill>
                  <a:srgbClr val="16324F"/>
                </a:solidFill>
                <a:latin typeface="Aptos"/>
              </a:rPr>
              <a:t>510(k) filing for wound-care products</a:t>
            </a:r>
          </a:p>
          <a:p>
            <a:pPr algn="l">
              <a:lnSpc>
                <a:spcPct val="103000"/>
              </a:lnSpc>
              <a:spcAft>
                <a:spcPts val="800"/>
              </a:spcAft>
            </a:pPr>
            <a:r>
              <a:rPr sz="1070" b="1">
                <a:solidFill>
                  <a:srgbClr val="00A991"/>
                </a:solidFill>
                <a:latin typeface="Aptos"/>
              </a:rPr>
              <a:t>• </a:t>
            </a:r>
            <a:r>
              <a:rPr sz="1070">
                <a:solidFill>
                  <a:srgbClr val="16324F"/>
                </a:solidFill>
                <a:latin typeface="Aptos"/>
              </a:rPr>
              <a:t>Orthopedic graft BFF-compatible program</a:t>
            </a:r>
          </a:p>
          <a:p>
            <a:pPr algn="l">
              <a:lnSpc>
                <a:spcPct val="103000"/>
              </a:lnSpc>
              <a:spcAft>
                <a:spcPts val="800"/>
              </a:spcAft>
            </a:pPr>
            <a:r>
              <a:rPr sz="1070" b="1">
                <a:solidFill>
                  <a:srgbClr val="00A991"/>
                </a:solidFill>
                <a:latin typeface="Aptos"/>
              </a:rPr>
              <a:t>• </a:t>
            </a:r>
            <a:r>
              <a:rPr sz="1070">
                <a:solidFill>
                  <a:srgbClr val="16324F"/>
                </a:solidFill>
                <a:latin typeface="Aptos"/>
              </a:rPr>
              <a:t>Cardiac patch preclinical studies</a:t>
            </a:r>
          </a:p>
          <a:p>
            <a:pPr algn="l">
              <a:lnSpc>
                <a:spcPct val="103000"/>
              </a:lnSpc>
              <a:spcAft>
                <a:spcPts val="800"/>
              </a:spcAft>
            </a:pPr>
            <a:r>
              <a:rPr sz="1070" b="1">
                <a:solidFill>
                  <a:srgbClr val="00A991"/>
                </a:solidFill>
                <a:latin typeface="Aptos"/>
              </a:rPr>
              <a:t>• </a:t>
            </a:r>
            <a:r>
              <a:rPr sz="1070">
                <a:solidFill>
                  <a:srgbClr val="16324F"/>
                </a:solidFill>
                <a:latin typeface="Aptos"/>
              </a:rPr>
              <a:t>Series B fundraise</a:t>
            </a:r>
          </a:p>
        </p:txBody>
      </p:sp>
      <p:sp>
        <p:nvSpPr>
          <p:cNvPr id="23" name="Rounded Rectangle 22"/>
          <p:cNvSpPr/>
          <p:nvPr/>
        </p:nvSpPr>
        <p:spPr>
          <a:xfrm>
            <a:off x="3474720" y="5870448"/>
            <a:ext cx="2313432" cy="256032"/>
          </a:xfrm>
          <a:prstGeom prst="roundRect">
            <a:avLst/>
          </a:prstGeom>
          <a:solidFill>
            <a:srgbClr val="0B1F3A"/>
          </a:solidFill>
          <a:ln w="6350">
            <a:solidFill>
              <a:srgbClr val="0B1F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3474720" y="5870448"/>
            <a:ext cx="2313432" cy="256032"/>
          </a:xfrm>
          <a:prstGeom prst="rect">
            <a:avLst/>
          </a:prstGeom>
          <a:noFill/>
        </p:spPr>
        <p:txBody>
          <a:bodyPr wrap="square" lIns="0" rIns="0" tIns="0" bIns="0" anchor="ctr">
            <a:spAutoFit/>
          </a:bodyPr>
          <a:lstStyle/>
          <a:p>
            <a:pPr algn="ctr">
              <a:lnSpc>
                <a:spcPct val="100000"/>
              </a:lnSpc>
              <a:spcAft>
                <a:spcPts val="0"/>
              </a:spcAft>
            </a:pPr>
            <a:r>
              <a:rPr sz="830" b="1">
                <a:solidFill>
                  <a:srgbClr val="FFFFFF"/>
                </a:solidFill>
                <a:latin typeface="Aptos"/>
              </a:rPr>
              <a:t>TRL 6–8</a:t>
            </a:r>
          </a:p>
        </p:txBody>
      </p:sp>
      <p:sp>
        <p:nvSpPr>
          <p:cNvPr id="25" name="Chevron 24"/>
          <p:cNvSpPr/>
          <p:nvPr/>
        </p:nvSpPr>
        <p:spPr>
          <a:xfrm>
            <a:off x="5925312" y="3456432"/>
            <a:ext cx="210312" cy="384048"/>
          </a:xfrm>
          <a:prstGeom prst="chevron">
            <a:avLst/>
          </a:prstGeom>
          <a:solidFill>
            <a:srgbClr val="9DDACE"/>
          </a:solidFill>
          <a:ln w="10160">
            <a:solidFill>
              <a:srgbClr val="9DDAC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Rounded Rectangle 25"/>
          <p:cNvSpPr/>
          <p:nvPr/>
        </p:nvSpPr>
        <p:spPr>
          <a:xfrm>
            <a:off x="6126480" y="1353312"/>
            <a:ext cx="2679192" cy="4956048"/>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09360" y="1536192"/>
            <a:ext cx="2313432" cy="182880"/>
          </a:xfrm>
          <a:prstGeom prst="rect">
            <a:avLst/>
          </a:prstGeom>
          <a:noFill/>
        </p:spPr>
        <p:txBody>
          <a:bodyPr wrap="square" lIns="0" rIns="0" tIns="0" bIns="0" anchor="t">
            <a:spAutoFit/>
          </a:bodyPr>
          <a:lstStyle/>
          <a:p>
            <a:pPr algn="l">
              <a:lnSpc>
                <a:spcPct val="100000"/>
              </a:lnSpc>
              <a:spcAft>
                <a:spcPts val="0"/>
              </a:spcAft>
            </a:pPr>
            <a:r>
              <a:rPr sz="800" b="1">
                <a:solidFill>
                  <a:srgbClr val="087F72"/>
                </a:solidFill>
                <a:latin typeface="Aptos"/>
              </a:rPr>
              <a:t>PHASE 3</a:t>
            </a:r>
          </a:p>
        </p:txBody>
      </p:sp>
      <p:sp>
        <p:nvSpPr>
          <p:cNvPr id="28" name="TextBox 27"/>
          <p:cNvSpPr txBox="1"/>
          <p:nvPr/>
        </p:nvSpPr>
        <p:spPr>
          <a:xfrm>
            <a:off x="6309360" y="1792224"/>
            <a:ext cx="2313432" cy="219456"/>
          </a:xfrm>
          <a:prstGeom prst="rect">
            <a:avLst/>
          </a:prstGeom>
          <a:noFill/>
        </p:spPr>
        <p:txBody>
          <a:bodyPr wrap="square" lIns="0" rIns="0" tIns="0" bIns="0" anchor="t">
            <a:spAutoFit/>
          </a:bodyPr>
          <a:lstStyle/>
          <a:p>
            <a:pPr algn="l">
              <a:lnSpc>
                <a:spcPct val="100000"/>
              </a:lnSpc>
              <a:spcAft>
                <a:spcPts val="0"/>
              </a:spcAft>
            </a:pPr>
            <a:r>
              <a:rPr sz="1000" b="1">
                <a:solidFill>
                  <a:srgbClr val="708399"/>
                </a:solidFill>
                <a:latin typeface="Aptos"/>
              </a:rPr>
              <a:t>Years 6–9</a:t>
            </a:r>
          </a:p>
        </p:txBody>
      </p:sp>
      <p:sp>
        <p:nvSpPr>
          <p:cNvPr id="29" name="TextBox 28"/>
          <p:cNvSpPr txBox="1"/>
          <p:nvPr/>
        </p:nvSpPr>
        <p:spPr>
          <a:xfrm>
            <a:off x="6309360" y="2185416"/>
            <a:ext cx="2313432" cy="566928"/>
          </a:xfrm>
          <a:prstGeom prst="rect">
            <a:avLst/>
          </a:prstGeom>
          <a:noFill/>
        </p:spPr>
        <p:txBody>
          <a:bodyPr wrap="square" lIns="0" rIns="0" tIns="0" bIns="0" anchor="t">
            <a:spAutoFit/>
          </a:bodyPr>
          <a:lstStyle/>
          <a:p>
            <a:pPr algn="l">
              <a:lnSpc>
                <a:spcPct val="100000"/>
              </a:lnSpc>
              <a:spcAft>
                <a:spcPts val="0"/>
              </a:spcAft>
            </a:pPr>
            <a:r>
              <a:rPr sz="1650" b="1">
                <a:solidFill>
                  <a:srgbClr val="0B1F3A"/>
                </a:solidFill>
                <a:latin typeface="Aptos Display"/>
              </a:rPr>
              <a:t>Retinal &amp; Vascular</a:t>
            </a:r>
          </a:p>
        </p:txBody>
      </p:sp>
      <p:cxnSp>
        <p:nvCxnSpPr>
          <p:cNvPr id="30" name="Connector 29"/>
          <p:cNvCxnSpPr/>
          <p:nvPr/>
        </p:nvCxnSpPr>
        <p:spPr>
          <a:xfrm>
            <a:off x="6309360" y="2907791"/>
            <a:ext cx="2313432" cy="0"/>
          </a:xfrm>
          <a:prstGeom prst="line">
            <a:avLst/>
          </a:prstGeom>
          <a:ln w="10160">
            <a:solidFill>
              <a:srgbClr val="D7E1EA"/>
            </a:solidFill>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309360" y="3108960"/>
            <a:ext cx="2313432" cy="2624328"/>
          </a:xfrm>
          <a:prstGeom prst="rect">
            <a:avLst/>
          </a:prstGeom>
          <a:noFill/>
        </p:spPr>
        <p:txBody>
          <a:bodyPr wrap="square" lIns="0" rIns="0" tIns="0" bIns="0">
            <a:spAutoFit/>
          </a:bodyPr>
          <a:lstStyle/>
          <a:p>
            <a:pPr algn="l">
              <a:lnSpc>
                <a:spcPct val="103000"/>
              </a:lnSpc>
              <a:spcAft>
                <a:spcPts val="800"/>
              </a:spcAft>
            </a:pPr>
            <a:r>
              <a:rPr sz="1070" b="1">
                <a:solidFill>
                  <a:srgbClr val="00A991"/>
                </a:solidFill>
                <a:latin typeface="Aptos"/>
              </a:rPr>
              <a:t>• </a:t>
            </a:r>
            <a:r>
              <a:rPr sz="1070">
                <a:solidFill>
                  <a:srgbClr val="16324F"/>
                </a:solidFill>
                <a:latin typeface="Aptos"/>
              </a:rPr>
              <a:t>Clinical trials for retinal constructs</a:t>
            </a:r>
          </a:p>
          <a:p>
            <a:pPr algn="l">
              <a:lnSpc>
                <a:spcPct val="103000"/>
              </a:lnSpc>
              <a:spcAft>
                <a:spcPts val="800"/>
              </a:spcAft>
            </a:pPr>
            <a:r>
              <a:rPr sz="1070" b="1">
                <a:solidFill>
                  <a:srgbClr val="00A991"/>
                </a:solidFill>
                <a:latin typeface="Aptos"/>
              </a:rPr>
              <a:t>• </a:t>
            </a:r>
            <a:r>
              <a:rPr sz="1070">
                <a:solidFill>
                  <a:srgbClr val="16324F"/>
                </a:solidFill>
                <a:latin typeface="Aptos"/>
              </a:rPr>
              <a:t>FDA PMA pathway engagement</a:t>
            </a:r>
          </a:p>
          <a:p>
            <a:pPr algn="l">
              <a:lnSpc>
                <a:spcPct val="103000"/>
              </a:lnSpc>
              <a:spcAft>
                <a:spcPts val="800"/>
              </a:spcAft>
            </a:pPr>
            <a:r>
              <a:rPr sz="1070" b="1">
                <a:solidFill>
                  <a:srgbClr val="00A991"/>
                </a:solidFill>
                <a:latin typeface="Aptos"/>
              </a:rPr>
              <a:t>• </a:t>
            </a:r>
            <a:r>
              <a:rPr sz="1070">
                <a:solidFill>
                  <a:srgbClr val="16324F"/>
                </a:solidFill>
                <a:latin typeface="Aptos"/>
              </a:rPr>
              <a:t>Expand to Orbital Reef / Axiom</a:t>
            </a:r>
          </a:p>
          <a:p>
            <a:pPr algn="l">
              <a:lnSpc>
                <a:spcPct val="103000"/>
              </a:lnSpc>
              <a:spcAft>
                <a:spcPts val="800"/>
              </a:spcAft>
            </a:pPr>
            <a:r>
              <a:rPr sz="1070" b="1">
                <a:solidFill>
                  <a:srgbClr val="00A991"/>
                </a:solidFill>
                <a:latin typeface="Aptos"/>
              </a:rPr>
              <a:t>• </a:t>
            </a:r>
            <a:r>
              <a:rPr sz="1070">
                <a:solidFill>
                  <a:srgbClr val="16324F"/>
                </a:solidFill>
                <a:latin typeface="Aptos"/>
              </a:rPr>
              <a:t>Series C / pre-IPO raise</a:t>
            </a:r>
          </a:p>
        </p:txBody>
      </p:sp>
      <p:sp>
        <p:nvSpPr>
          <p:cNvPr id="32" name="Rounded Rectangle 31"/>
          <p:cNvSpPr/>
          <p:nvPr/>
        </p:nvSpPr>
        <p:spPr>
          <a:xfrm>
            <a:off x="6309360" y="5870448"/>
            <a:ext cx="2313432" cy="256032"/>
          </a:xfrm>
          <a:prstGeom prst="roundRect">
            <a:avLst/>
          </a:prstGeom>
          <a:solidFill>
            <a:srgbClr val="0B1F3A"/>
          </a:solidFill>
          <a:ln w="6350">
            <a:solidFill>
              <a:srgbClr val="0B1F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309360" y="5870448"/>
            <a:ext cx="2313432" cy="256032"/>
          </a:xfrm>
          <a:prstGeom prst="rect">
            <a:avLst/>
          </a:prstGeom>
          <a:noFill/>
        </p:spPr>
        <p:txBody>
          <a:bodyPr wrap="square" lIns="0" rIns="0" tIns="0" bIns="0" anchor="ctr">
            <a:spAutoFit/>
          </a:bodyPr>
          <a:lstStyle/>
          <a:p>
            <a:pPr algn="ctr">
              <a:lnSpc>
                <a:spcPct val="100000"/>
              </a:lnSpc>
              <a:spcAft>
                <a:spcPts val="0"/>
              </a:spcAft>
            </a:pPr>
            <a:r>
              <a:rPr sz="830" b="1">
                <a:solidFill>
                  <a:srgbClr val="FFFFFF"/>
                </a:solidFill>
                <a:latin typeface="Aptos"/>
              </a:rPr>
              <a:t>TRL 7–9</a:t>
            </a:r>
          </a:p>
        </p:txBody>
      </p:sp>
      <p:sp>
        <p:nvSpPr>
          <p:cNvPr id="34" name="Chevron 33"/>
          <p:cNvSpPr/>
          <p:nvPr/>
        </p:nvSpPr>
        <p:spPr>
          <a:xfrm>
            <a:off x="8759952" y="3456432"/>
            <a:ext cx="210312" cy="384048"/>
          </a:xfrm>
          <a:prstGeom prst="chevron">
            <a:avLst/>
          </a:prstGeom>
          <a:solidFill>
            <a:srgbClr val="9DDACE"/>
          </a:solidFill>
          <a:ln w="10160">
            <a:solidFill>
              <a:srgbClr val="9DDAC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8961120" y="1353312"/>
            <a:ext cx="2679192" cy="4956048"/>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9144000" y="1536192"/>
            <a:ext cx="2313432" cy="182880"/>
          </a:xfrm>
          <a:prstGeom prst="rect">
            <a:avLst/>
          </a:prstGeom>
          <a:noFill/>
        </p:spPr>
        <p:txBody>
          <a:bodyPr wrap="square" lIns="0" rIns="0" tIns="0" bIns="0" anchor="t">
            <a:spAutoFit/>
          </a:bodyPr>
          <a:lstStyle/>
          <a:p>
            <a:pPr algn="l">
              <a:lnSpc>
                <a:spcPct val="100000"/>
              </a:lnSpc>
              <a:spcAft>
                <a:spcPts val="0"/>
              </a:spcAft>
            </a:pPr>
            <a:r>
              <a:rPr sz="800" b="1">
                <a:solidFill>
                  <a:srgbClr val="087F72"/>
                </a:solidFill>
                <a:latin typeface="Aptos"/>
              </a:rPr>
              <a:t>PHASE 4</a:t>
            </a:r>
          </a:p>
        </p:txBody>
      </p:sp>
      <p:sp>
        <p:nvSpPr>
          <p:cNvPr id="37" name="TextBox 36"/>
          <p:cNvSpPr txBox="1"/>
          <p:nvPr/>
        </p:nvSpPr>
        <p:spPr>
          <a:xfrm>
            <a:off x="9144000" y="1792224"/>
            <a:ext cx="2313432" cy="219456"/>
          </a:xfrm>
          <a:prstGeom prst="rect">
            <a:avLst/>
          </a:prstGeom>
          <a:noFill/>
        </p:spPr>
        <p:txBody>
          <a:bodyPr wrap="square" lIns="0" rIns="0" tIns="0" bIns="0" anchor="t">
            <a:spAutoFit/>
          </a:bodyPr>
          <a:lstStyle/>
          <a:p>
            <a:pPr algn="l">
              <a:lnSpc>
                <a:spcPct val="100000"/>
              </a:lnSpc>
              <a:spcAft>
                <a:spcPts val="0"/>
              </a:spcAft>
            </a:pPr>
            <a:r>
              <a:rPr sz="1000" b="1">
                <a:solidFill>
                  <a:srgbClr val="708399"/>
                </a:solidFill>
                <a:latin typeface="Aptos"/>
              </a:rPr>
              <a:t>Year 10+</a:t>
            </a:r>
          </a:p>
        </p:txBody>
      </p:sp>
      <p:sp>
        <p:nvSpPr>
          <p:cNvPr id="38" name="TextBox 37"/>
          <p:cNvSpPr txBox="1"/>
          <p:nvPr/>
        </p:nvSpPr>
        <p:spPr>
          <a:xfrm>
            <a:off x="9144000" y="2185416"/>
            <a:ext cx="2313432" cy="566928"/>
          </a:xfrm>
          <a:prstGeom prst="rect">
            <a:avLst/>
          </a:prstGeom>
          <a:noFill/>
        </p:spPr>
        <p:txBody>
          <a:bodyPr wrap="square" lIns="0" rIns="0" tIns="0" bIns="0" anchor="t">
            <a:spAutoFit/>
          </a:bodyPr>
          <a:lstStyle/>
          <a:p>
            <a:pPr algn="l">
              <a:lnSpc>
                <a:spcPct val="100000"/>
              </a:lnSpc>
              <a:spcAft>
                <a:spcPts val="0"/>
              </a:spcAft>
            </a:pPr>
            <a:r>
              <a:rPr sz="1650" b="1">
                <a:solidFill>
                  <a:srgbClr val="0B1F3A"/>
                </a:solidFill>
                <a:latin typeface="Aptos Display"/>
              </a:rPr>
              <a:t>Whole-Organ Platform</a:t>
            </a:r>
          </a:p>
        </p:txBody>
      </p:sp>
      <p:cxnSp>
        <p:nvCxnSpPr>
          <p:cNvPr id="39" name="Connector 38"/>
          <p:cNvCxnSpPr/>
          <p:nvPr/>
        </p:nvCxnSpPr>
        <p:spPr>
          <a:xfrm>
            <a:off x="9144000" y="2907791"/>
            <a:ext cx="2313432" cy="0"/>
          </a:xfrm>
          <a:prstGeom prst="line">
            <a:avLst/>
          </a:prstGeom>
          <a:ln w="10160">
            <a:solidFill>
              <a:srgbClr val="D7E1EA"/>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9144000" y="3108960"/>
            <a:ext cx="2313432" cy="2624328"/>
          </a:xfrm>
          <a:prstGeom prst="rect">
            <a:avLst/>
          </a:prstGeom>
          <a:noFill/>
        </p:spPr>
        <p:txBody>
          <a:bodyPr wrap="square" lIns="0" rIns="0" tIns="0" bIns="0">
            <a:spAutoFit/>
          </a:bodyPr>
          <a:lstStyle/>
          <a:p>
            <a:pPr algn="l">
              <a:lnSpc>
                <a:spcPct val="103000"/>
              </a:lnSpc>
              <a:spcAft>
                <a:spcPts val="800"/>
              </a:spcAft>
            </a:pPr>
            <a:r>
              <a:rPr sz="1070" b="1">
                <a:solidFill>
                  <a:srgbClr val="00A991"/>
                </a:solidFill>
                <a:latin typeface="Aptos"/>
              </a:rPr>
              <a:t>• </a:t>
            </a:r>
            <a:r>
              <a:rPr sz="1070">
                <a:solidFill>
                  <a:srgbClr val="16324F"/>
                </a:solidFill>
                <a:latin typeface="Aptos"/>
              </a:rPr>
              <a:t>Vascularised full-organ constructs</a:t>
            </a:r>
          </a:p>
          <a:p>
            <a:pPr algn="l">
              <a:lnSpc>
                <a:spcPct val="103000"/>
              </a:lnSpc>
              <a:spcAft>
                <a:spcPts val="800"/>
              </a:spcAft>
            </a:pPr>
            <a:r>
              <a:rPr sz="1070" b="1">
                <a:solidFill>
                  <a:srgbClr val="00A991"/>
                </a:solidFill>
                <a:latin typeface="Aptos"/>
              </a:rPr>
              <a:t>• </a:t>
            </a:r>
            <a:r>
              <a:rPr sz="1070">
                <a:solidFill>
                  <a:srgbClr val="16324F"/>
                </a:solidFill>
                <a:latin typeface="Aptos"/>
              </a:rPr>
              <a:t>Commercial station scale-up</a:t>
            </a:r>
          </a:p>
          <a:p>
            <a:pPr algn="l">
              <a:lnSpc>
                <a:spcPct val="103000"/>
              </a:lnSpc>
              <a:spcAft>
                <a:spcPts val="800"/>
              </a:spcAft>
            </a:pPr>
            <a:r>
              <a:rPr sz="1070" b="1">
                <a:solidFill>
                  <a:srgbClr val="00A991"/>
                </a:solidFill>
                <a:latin typeface="Aptos"/>
              </a:rPr>
              <a:t>• </a:t>
            </a:r>
            <a:r>
              <a:rPr sz="1070">
                <a:solidFill>
                  <a:srgbClr val="16324F"/>
                </a:solidFill>
                <a:latin typeface="Aptos"/>
              </a:rPr>
              <a:t>Platform licensing to pharma majors</a:t>
            </a:r>
          </a:p>
          <a:p>
            <a:pPr algn="l">
              <a:lnSpc>
                <a:spcPct val="103000"/>
              </a:lnSpc>
              <a:spcAft>
                <a:spcPts val="800"/>
              </a:spcAft>
            </a:pPr>
            <a:r>
              <a:rPr sz="1070" b="1">
                <a:solidFill>
                  <a:srgbClr val="00A991"/>
                </a:solidFill>
                <a:latin typeface="Aptos"/>
              </a:rPr>
              <a:t>• </a:t>
            </a:r>
            <a:r>
              <a:rPr sz="1070">
                <a:solidFill>
                  <a:srgbClr val="16324F"/>
                </a:solidFill>
                <a:latin typeface="Aptos"/>
              </a:rPr>
              <a:t>IPO or strategic exit</a:t>
            </a:r>
          </a:p>
        </p:txBody>
      </p:sp>
      <p:sp>
        <p:nvSpPr>
          <p:cNvPr id="41" name="Rounded Rectangle 40"/>
          <p:cNvSpPr/>
          <p:nvPr/>
        </p:nvSpPr>
        <p:spPr>
          <a:xfrm>
            <a:off x="9144000" y="5870448"/>
            <a:ext cx="2313432" cy="256032"/>
          </a:xfrm>
          <a:prstGeom prst="roundRect">
            <a:avLst/>
          </a:prstGeom>
          <a:solidFill>
            <a:srgbClr val="0B1F3A"/>
          </a:solidFill>
          <a:ln w="6350">
            <a:solidFill>
              <a:srgbClr val="0B1F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144000" y="5870448"/>
            <a:ext cx="2313432" cy="256032"/>
          </a:xfrm>
          <a:prstGeom prst="rect">
            <a:avLst/>
          </a:prstGeom>
          <a:noFill/>
        </p:spPr>
        <p:txBody>
          <a:bodyPr wrap="square" lIns="0" rIns="0" tIns="0" bIns="0" anchor="ctr">
            <a:spAutoFit/>
          </a:bodyPr>
          <a:lstStyle/>
          <a:p>
            <a:pPr algn="ctr">
              <a:lnSpc>
                <a:spcPct val="100000"/>
              </a:lnSpc>
              <a:spcAft>
                <a:spcPts val="0"/>
              </a:spcAft>
            </a:pPr>
            <a:r>
              <a:rPr sz="830" b="1">
                <a:solidFill>
                  <a:srgbClr val="FFFFFF"/>
                </a:solidFill>
                <a:latin typeface="Aptos"/>
              </a:rPr>
              <a:t>TRL 9+</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Rectangle 1"/>
          <p:cNvSpPr/>
          <p:nvPr/>
        </p:nvSpPr>
        <p:spPr>
          <a:xfrm>
            <a:off x="457200" y="256032"/>
            <a:ext cx="54864" cy="219456"/>
          </a:xfrm>
          <a:prstGeom prst="rect">
            <a:avLst/>
          </a:prstGeom>
          <a:solidFill>
            <a:srgbClr val="00A991"/>
          </a:solidFill>
          <a:ln>
            <a:solidFill>
              <a:srgbClr val="00A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3504" y="256032"/>
            <a:ext cx="4114800" cy="164592"/>
          </a:xfrm>
          <a:prstGeom prst="rect">
            <a:avLst/>
          </a:prstGeom>
          <a:noFill/>
        </p:spPr>
        <p:txBody>
          <a:bodyPr wrap="square" lIns="0" rIns="0" tIns="0" bIns="0" anchor="t">
            <a:spAutoFit/>
          </a:bodyPr>
          <a:lstStyle/>
          <a:p>
            <a:pPr algn="l">
              <a:lnSpc>
                <a:spcPct val="100000"/>
              </a:lnSpc>
              <a:spcAft>
                <a:spcPts val="0"/>
              </a:spcAft>
            </a:pPr>
            <a:r>
              <a:rPr sz="770" b="1">
                <a:solidFill>
                  <a:srgbClr val="087F72"/>
                </a:solidFill>
                <a:latin typeface="Aptos"/>
              </a:rPr>
              <a:t>COMPETITIVE LANDSCAPE</a:t>
            </a:r>
          </a:p>
        </p:txBody>
      </p:sp>
      <p:sp>
        <p:nvSpPr>
          <p:cNvPr id="4" name="TextBox 3"/>
          <p:cNvSpPr txBox="1"/>
          <p:nvPr/>
        </p:nvSpPr>
        <p:spPr>
          <a:xfrm>
            <a:off x="457200" y="530352"/>
            <a:ext cx="11064240" cy="475488"/>
          </a:xfrm>
          <a:prstGeom prst="rect">
            <a:avLst/>
          </a:prstGeom>
          <a:noFill/>
        </p:spPr>
        <p:txBody>
          <a:bodyPr wrap="square" lIns="0" rIns="0" tIns="0" bIns="0" anchor="t">
            <a:spAutoFit/>
          </a:bodyPr>
          <a:lstStyle/>
          <a:p>
            <a:pPr algn="l">
              <a:lnSpc>
                <a:spcPct val="100000"/>
              </a:lnSpc>
              <a:spcAft>
                <a:spcPts val="0"/>
              </a:spcAft>
            </a:pPr>
            <a:r>
              <a:rPr sz="2550" b="1">
                <a:solidFill>
                  <a:srgbClr val="0B1F3A"/>
                </a:solidFill>
                <a:latin typeface="Aptos Display"/>
              </a:rPr>
              <a:t>Samuel Space Targets the Space-Based Clinical Quadrant</a:t>
            </a:r>
          </a:p>
        </p:txBody>
      </p:sp>
      <p:cxnSp>
        <p:nvCxnSpPr>
          <p:cNvPr id="5" name="Connector 4"/>
          <p:cNvCxnSpPr/>
          <p:nvPr/>
        </p:nvCxnSpPr>
        <p:spPr>
          <a:xfrm>
            <a:off x="457200" y="6510528"/>
            <a:ext cx="11274552" cy="0"/>
          </a:xfrm>
          <a:prstGeom prst="line">
            <a:avLst/>
          </a:prstGeom>
          <a:ln w="7620">
            <a:solidFill>
              <a:srgbClr val="D7E1E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65392"/>
            <a:ext cx="1645920" cy="109728"/>
          </a:xfrm>
          <a:prstGeom prst="rect">
            <a:avLst/>
          </a:prstGeom>
          <a:noFill/>
        </p:spPr>
        <p:txBody>
          <a:bodyPr wrap="square" lIns="0" rIns="0" tIns="0" bIns="0" anchor="t">
            <a:spAutoFit/>
          </a:bodyPr>
          <a:lstStyle/>
          <a:p>
            <a:pPr algn="l">
              <a:lnSpc>
                <a:spcPct val="100000"/>
              </a:lnSpc>
              <a:spcAft>
                <a:spcPts val="0"/>
              </a:spcAft>
            </a:pPr>
            <a:r>
              <a:rPr sz="670" b="1">
                <a:solidFill>
                  <a:srgbClr val="708399"/>
                </a:solidFill>
                <a:latin typeface="Aptos"/>
              </a:rPr>
              <a:t>SAMUEL SPACE</a:t>
            </a:r>
          </a:p>
        </p:txBody>
      </p:sp>
      <p:sp>
        <p:nvSpPr>
          <p:cNvPr id="7" name="TextBox 6"/>
          <p:cNvSpPr txBox="1"/>
          <p:nvPr/>
        </p:nvSpPr>
        <p:spPr>
          <a:xfrm>
            <a:off x="10927080" y="6565392"/>
            <a:ext cx="804672" cy="109728"/>
          </a:xfrm>
          <a:prstGeom prst="rect">
            <a:avLst/>
          </a:prstGeom>
          <a:noFill/>
        </p:spPr>
        <p:txBody>
          <a:bodyPr wrap="square" lIns="0" rIns="0" tIns="0" bIns="0" anchor="t">
            <a:spAutoFit/>
          </a:bodyPr>
          <a:lstStyle/>
          <a:p>
            <a:pPr algn="r">
              <a:lnSpc>
                <a:spcPct val="100000"/>
              </a:lnSpc>
              <a:spcAft>
                <a:spcPts val="0"/>
              </a:spcAft>
            </a:pPr>
            <a:r>
              <a:rPr sz="670" b="1">
                <a:solidFill>
                  <a:srgbClr val="708399"/>
                </a:solidFill>
                <a:latin typeface="Aptos"/>
              </a:rPr>
              <a:t>13 / 21</a:t>
            </a:r>
          </a:p>
        </p:txBody>
      </p:sp>
      <p:sp>
        <p:nvSpPr>
          <p:cNvPr id="8" name="Rectangle 7"/>
          <p:cNvSpPr/>
          <p:nvPr/>
        </p:nvSpPr>
        <p:spPr>
          <a:xfrm>
            <a:off x="960120" y="1444752"/>
            <a:ext cx="5271516" cy="2354580"/>
          </a:xfrm>
          <a:prstGeom prst="rect">
            <a:avLst/>
          </a:prstGeom>
          <a:solidFill>
            <a:srgbClr val="F5F8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ectangle 8"/>
          <p:cNvSpPr/>
          <p:nvPr/>
        </p:nvSpPr>
        <p:spPr>
          <a:xfrm>
            <a:off x="6231636" y="1444752"/>
            <a:ext cx="5271516" cy="2354580"/>
          </a:xfrm>
          <a:prstGeom prst="rect">
            <a:avLst/>
          </a:prstGeom>
          <a:solidFill>
            <a:srgbClr val="EDF9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960120" y="3799332"/>
            <a:ext cx="5271516" cy="2354580"/>
          </a:xfrm>
          <a:prstGeom prst="rect">
            <a:avLst/>
          </a:prstGeom>
          <a:solidFill>
            <a:srgbClr val="E9EEF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6231636" y="3799332"/>
            <a:ext cx="5271516" cy="2354580"/>
          </a:xfrm>
          <a:prstGeom prst="rect">
            <a:avLst/>
          </a:prstGeom>
          <a:solidFill>
            <a:srgbClr val="E5F4F1"/>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2" name="Connector 11"/>
          <p:cNvCxnSpPr/>
          <p:nvPr/>
        </p:nvCxnSpPr>
        <p:spPr>
          <a:xfrm>
            <a:off x="960120" y="3799332"/>
            <a:ext cx="10543032" cy="0"/>
          </a:xfrm>
          <a:prstGeom prst="line">
            <a:avLst/>
          </a:prstGeom>
          <a:ln w="13970">
            <a:solidFill>
              <a:srgbClr val="AAB9C7"/>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6231636" y="1444752"/>
            <a:ext cx="0" cy="4709160"/>
          </a:xfrm>
          <a:prstGeom prst="line">
            <a:avLst/>
          </a:prstGeom>
          <a:ln w="13970">
            <a:solidFill>
              <a:srgbClr val="AAB9C7"/>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1124712" y="1581912"/>
            <a:ext cx="1828800" cy="164592"/>
          </a:xfrm>
          <a:prstGeom prst="rect">
            <a:avLst/>
          </a:prstGeom>
          <a:noFill/>
        </p:spPr>
        <p:txBody>
          <a:bodyPr wrap="square" lIns="0" rIns="0" tIns="0" bIns="0" anchor="t">
            <a:spAutoFit/>
          </a:bodyPr>
          <a:lstStyle/>
          <a:p>
            <a:pPr algn="l">
              <a:lnSpc>
                <a:spcPct val="100000"/>
              </a:lnSpc>
              <a:spcAft>
                <a:spcPts val="0"/>
              </a:spcAft>
            </a:pPr>
            <a:r>
              <a:rPr sz="750" b="1">
                <a:solidFill>
                  <a:srgbClr val="708399"/>
                </a:solidFill>
                <a:latin typeface="Aptos"/>
              </a:rPr>
              <a:t>EARTH-BASED</a:t>
            </a:r>
          </a:p>
        </p:txBody>
      </p:sp>
      <p:sp>
        <p:nvSpPr>
          <p:cNvPr id="15" name="TextBox 14"/>
          <p:cNvSpPr txBox="1"/>
          <p:nvPr/>
        </p:nvSpPr>
        <p:spPr>
          <a:xfrm>
            <a:off x="6396227" y="1581912"/>
            <a:ext cx="1828800" cy="164592"/>
          </a:xfrm>
          <a:prstGeom prst="rect">
            <a:avLst/>
          </a:prstGeom>
          <a:noFill/>
        </p:spPr>
        <p:txBody>
          <a:bodyPr wrap="square" lIns="0" rIns="0" tIns="0" bIns="0" anchor="t">
            <a:spAutoFit/>
          </a:bodyPr>
          <a:lstStyle/>
          <a:p>
            <a:pPr algn="l">
              <a:lnSpc>
                <a:spcPct val="100000"/>
              </a:lnSpc>
              <a:spcAft>
                <a:spcPts val="0"/>
              </a:spcAft>
            </a:pPr>
            <a:r>
              <a:rPr sz="750" b="1">
                <a:solidFill>
                  <a:srgbClr val="087F72"/>
                </a:solidFill>
                <a:latin typeface="Aptos"/>
              </a:rPr>
              <a:t>SPACE-BASED</a:t>
            </a:r>
          </a:p>
        </p:txBody>
      </p:sp>
      <p:sp>
        <p:nvSpPr>
          <p:cNvPr id="16" name="TextBox 15"/>
          <p:cNvSpPr txBox="1"/>
          <p:nvPr/>
        </p:nvSpPr>
        <p:spPr>
          <a:xfrm>
            <a:off x="1124712" y="1883664"/>
            <a:ext cx="2011680" cy="164592"/>
          </a:xfrm>
          <a:prstGeom prst="rect">
            <a:avLst/>
          </a:prstGeom>
          <a:noFill/>
        </p:spPr>
        <p:txBody>
          <a:bodyPr wrap="square" lIns="0" rIns="0" tIns="0" bIns="0" anchor="t">
            <a:spAutoFit/>
          </a:bodyPr>
          <a:lstStyle/>
          <a:p>
            <a:pPr algn="l">
              <a:lnSpc>
                <a:spcPct val="100000"/>
              </a:lnSpc>
              <a:spcAft>
                <a:spcPts val="0"/>
              </a:spcAft>
            </a:pPr>
            <a:r>
              <a:rPr sz="720" b="1">
                <a:solidFill>
                  <a:srgbClr val="0B1F3A"/>
                </a:solidFill>
                <a:latin typeface="Aptos"/>
              </a:rPr>
              <a:t>CLINICAL / COMMERCIAL</a:t>
            </a:r>
          </a:p>
        </p:txBody>
      </p:sp>
      <p:sp>
        <p:nvSpPr>
          <p:cNvPr id="17" name="TextBox 16"/>
          <p:cNvSpPr txBox="1"/>
          <p:nvPr/>
        </p:nvSpPr>
        <p:spPr>
          <a:xfrm>
            <a:off x="1124712" y="5833872"/>
            <a:ext cx="1645920" cy="164592"/>
          </a:xfrm>
          <a:prstGeom prst="rect">
            <a:avLst/>
          </a:prstGeom>
          <a:noFill/>
        </p:spPr>
        <p:txBody>
          <a:bodyPr wrap="square" lIns="0" rIns="0" tIns="0" bIns="0" anchor="t">
            <a:spAutoFit/>
          </a:bodyPr>
          <a:lstStyle/>
          <a:p>
            <a:pPr algn="l">
              <a:lnSpc>
                <a:spcPct val="100000"/>
              </a:lnSpc>
              <a:spcAft>
                <a:spcPts val="0"/>
              </a:spcAft>
            </a:pPr>
            <a:r>
              <a:rPr sz="720" b="1">
                <a:solidFill>
                  <a:srgbClr val="708399"/>
                </a:solidFill>
                <a:latin typeface="Aptos"/>
              </a:rPr>
              <a:t>EARLY RESEARCH</a:t>
            </a:r>
          </a:p>
        </p:txBody>
      </p:sp>
      <p:sp>
        <p:nvSpPr>
          <p:cNvPr id="18" name="Oval 17"/>
          <p:cNvSpPr/>
          <p:nvPr/>
        </p:nvSpPr>
        <p:spPr>
          <a:xfrm>
            <a:off x="1874519" y="2880360"/>
            <a:ext cx="182880" cy="182880"/>
          </a:xfrm>
          <a:prstGeom prst="ellipse">
            <a:avLst/>
          </a:prstGeom>
          <a:solidFill>
            <a:srgbClr val="2B6B93"/>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1257300" y="3118104"/>
            <a:ext cx="1417320" cy="320040"/>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1312164" y="3154680"/>
            <a:ext cx="1307592" cy="201168"/>
          </a:xfrm>
          <a:prstGeom prst="rect">
            <a:avLst/>
          </a:prstGeom>
          <a:noFill/>
        </p:spPr>
        <p:txBody>
          <a:bodyPr wrap="square" lIns="0" rIns="0" tIns="0" bIns="0" anchor="t">
            <a:spAutoFit/>
          </a:bodyPr>
          <a:lstStyle/>
          <a:p>
            <a:pPr algn="ctr">
              <a:lnSpc>
                <a:spcPct val="100000"/>
              </a:lnSpc>
              <a:spcAft>
                <a:spcPts val="0"/>
              </a:spcAft>
            </a:pPr>
            <a:r>
              <a:rPr sz="750" b="1">
                <a:solidFill>
                  <a:srgbClr val="16324F"/>
                </a:solidFill>
                <a:latin typeface="Aptos"/>
              </a:rPr>
              <a:t>Cellink / BICO</a:t>
            </a:r>
          </a:p>
        </p:txBody>
      </p:sp>
      <p:sp>
        <p:nvSpPr>
          <p:cNvPr id="21" name="Oval 20"/>
          <p:cNvSpPr/>
          <p:nvPr/>
        </p:nvSpPr>
        <p:spPr>
          <a:xfrm>
            <a:off x="2148840" y="4069080"/>
            <a:ext cx="182880" cy="182880"/>
          </a:xfrm>
          <a:prstGeom prst="ellipse">
            <a:avLst/>
          </a:prstGeom>
          <a:solidFill>
            <a:srgbClr val="2B6B93"/>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1531620" y="4306824"/>
            <a:ext cx="1417320" cy="320040"/>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586484" y="4343400"/>
            <a:ext cx="1307592" cy="201168"/>
          </a:xfrm>
          <a:prstGeom prst="rect">
            <a:avLst/>
          </a:prstGeom>
          <a:noFill/>
        </p:spPr>
        <p:txBody>
          <a:bodyPr wrap="square" lIns="0" rIns="0" tIns="0" bIns="0" anchor="t">
            <a:spAutoFit/>
          </a:bodyPr>
          <a:lstStyle/>
          <a:p>
            <a:pPr algn="ctr">
              <a:lnSpc>
                <a:spcPct val="100000"/>
              </a:lnSpc>
              <a:spcAft>
                <a:spcPts val="0"/>
              </a:spcAft>
            </a:pPr>
            <a:r>
              <a:rPr sz="750" b="1">
                <a:solidFill>
                  <a:srgbClr val="16324F"/>
                </a:solidFill>
                <a:latin typeface="Aptos"/>
              </a:rPr>
              <a:t>Organovo</a:t>
            </a:r>
          </a:p>
        </p:txBody>
      </p:sp>
      <p:sp>
        <p:nvSpPr>
          <p:cNvPr id="24" name="Oval 23"/>
          <p:cNvSpPr/>
          <p:nvPr/>
        </p:nvSpPr>
        <p:spPr>
          <a:xfrm>
            <a:off x="2926079" y="2286000"/>
            <a:ext cx="182880" cy="182880"/>
          </a:xfrm>
          <a:prstGeom prst="ellipse">
            <a:avLst/>
          </a:prstGeom>
          <a:solidFill>
            <a:srgbClr val="2B6B93"/>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2080260" y="2523744"/>
            <a:ext cx="1874519" cy="320040"/>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2135124" y="2560320"/>
            <a:ext cx="1764791" cy="201168"/>
          </a:xfrm>
          <a:prstGeom prst="rect">
            <a:avLst/>
          </a:prstGeom>
          <a:noFill/>
        </p:spPr>
        <p:txBody>
          <a:bodyPr wrap="square" lIns="0" rIns="0" tIns="0" bIns="0" anchor="t">
            <a:spAutoFit/>
          </a:bodyPr>
          <a:lstStyle/>
          <a:p>
            <a:pPr algn="ctr">
              <a:lnSpc>
                <a:spcPct val="100000"/>
              </a:lnSpc>
              <a:spcAft>
                <a:spcPts val="0"/>
              </a:spcAft>
            </a:pPr>
            <a:r>
              <a:rPr sz="750" b="1">
                <a:solidFill>
                  <a:srgbClr val="16324F"/>
                </a:solidFill>
                <a:latin typeface="Aptos"/>
              </a:rPr>
              <a:t>3D Systems (Med)</a:t>
            </a:r>
          </a:p>
        </p:txBody>
      </p:sp>
      <p:sp>
        <p:nvSpPr>
          <p:cNvPr id="27" name="Oval 26"/>
          <p:cNvSpPr/>
          <p:nvPr/>
        </p:nvSpPr>
        <p:spPr>
          <a:xfrm>
            <a:off x="7909560" y="3273552"/>
            <a:ext cx="182880" cy="182880"/>
          </a:xfrm>
          <a:prstGeom prst="ellipse">
            <a:avLst/>
          </a:prstGeom>
          <a:solidFill>
            <a:srgbClr val="0B1F3A"/>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292340" y="3511296"/>
            <a:ext cx="1417320" cy="320040"/>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347204" y="3547872"/>
            <a:ext cx="1307592" cy="201168"/>
          </a:xfrm>
          <a:prstGeom prst="rect">
            <a:avLst/>
          </a:prstGeom>
          <a:noFill/>
        </p:spPr>
        <p:txBody>
          <a:bodyPr wrap="square" lIns="0" rIns="0" tIns="0" bIns="0" anchor="t">
            <a:spAutoFit/>
          </a:bodyPr>
          <a:lstStyle/>
          <a:p>
            <a:pPr algn="ctr">
              <a:lnSpc>
                <a:spcPct val="100000"/>
              </a:lnSpc>
              <a:spcAft>
                <a:spcPts val="0"/>
              </a:spcAft>
            </a:pPr>
            <a:r>
              <a:rPr sz="750" b="1">
                <a:solidFill>
                  <a:srgbClr val="16324F"/>
                </a:solidFill>
                <a:latin typeface="Aptos"/>
              </a:rPr>
              <a:t>Redwire BFF</a:t>
            </a:r>
          </a:p>
        </p:txBody>
      </p:sp>
      <p:sp>
        <p:nvSpPr>
          <p:cNvPr id="30" name="Oval 29"/>
          <p:cNvSpPr/>
          <p:nvPr/>
        </p:nvSpPr>
        <p:spPr>
          <a:xfrm>
            <a:off x="9070848" y="2542032"/>
            <a:ext cx="182880" cy="182880"/>
          </a:xfrm>
          <a:prstGeom prst="ellipse">
            <a:avLst/>
          </a:prstGeom>
          <a:solidFill>
            <a:srgbClr val="087F72"/>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8453628" y="2779776"/>
            <a:ext cx="1417320" cy="320040"/>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08492" y="2816352"/>
            <a:ext cx="1307592" cy="201168"/>
          </a:xfrm>
          <a:prstGeom prst="rect">
            <a:avLst/>
          </a:prstGeom>
          <a:noFill/>
        </p:spPr>
        <p:txBody>
          <a:bodyPr wrap="square" lIns="0" rIns="0" tIns="0" bIns="0" anchor="t">
            <a:spAutoFit/>
          </a:bodyPr>
          <a:lstStyle/>
          <a:p>
            <a:pPr algn="ctr">
              <a:lnSpc>
                <a:spcPct val="100000"/>
              </a:lnSpc>
              <a:spcAft>
                <a:spcPts val="0"/>
              </a:spcAft>
            </a:pPr>
            <a:r>
              <a:rPr sz="750" b="1">
                <a:solidFill>
                  <a:srgbClr val="16324F"/>
                </a:solidFill>
                <a:latin typeface="Aptos"/>
              </a:rPr>
              <a:t>LambdaVision</a:t>
            </a:r>
          </a:p>
        </p:txBody>
      </p:sp>
      <p:sp>
        <p:nvSpPr>
          <p:cNvPr id="33" name="Oval 32"/>
          <p:cNvSpPr/>
          <p:nvPr/>
        </p:nvSpPr>
        <p:spPr>
          <a:xfrm>
            <a:off x="6812280" y="4828032"/>
            <a:ext cx="182880" cy="182880"/>
          </a:xfrm>
          <a:prstGeom prst="ellipse">
            <a:avLst/>
          </a:prstGeom>
          <a:solidFill>
            <a:srgbClr val="50657B"/>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Rounded Rectangle 33"/>
          <p:cNvSpPr/>
          <p:nvPr/>
        </p:nvSpPr>
        <p:spPr>
          <a:xfrm>
            <a:off x="5966460" y="5065776"/>
            <a:ext cx="1874519" cy="320040"/>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021324" y="5102352"/>
            <a:ext cx="1764791" cy="201168"/>
          </a:xfrm>
          <a:prstGeom prst="rect">
            <a:avLst/>
          </a:prstGeom>
          <a:noFill/>
        </p:spPr>
        <p:txBody>
          <a:bodyPr wrap="square" lIns="0" rIns="0" tIns="0" bIns="0" anchor="t">
            <a:spAutoFit/>
          </a:bodyPr>
          <a:lstStyle/>
          <a:p>
            <a:pPr algn="ctr">
              <a:lnSpc>
                <a:spcPct val="100000"/>
              </a:lnSpc>
              <a:spcAft>
                <a:spcPts val="0"/>
              </a:spcAft>
            </a:pPr>
            <a:r>
              <a:rPr sz="750" b="1">
                <a:solidFill>
                  <a:srgbClr val="16324F"/>
                </a:solidFill>
                <a:latin typeface="Aptos"/>
              </a:rPr>
              <a:t>ROSCOSMOS / 3D BPS</a:t>
            </a:r>
          </a:p>
        </p:txBody>
      </p:sp>
      <p:cxnSp>
        <p:nvCxnSpPr>
          <p:cNvPr id="36" name="Connector 35"/>
          <p:cNvCxnSpPr/>
          <p:nvPr/>
        </p:nvCxnSpPr>
        <p:spPr>
          <a:xfrm flipV="1">
            <a:off x="7059168" y="2240280"/>
            <a:ext cx="1490472" cy="2496312"/>
          </a:xfrm>
          <a:prstGeom prst="line">
            <a:avLst/>
          </a:prstGeom>
          <a:ln w="22860">
            <a:solidFill>
              <a:srgbClr val="00A991"/>
            </a:solidFill>
          </a:ln>
        </p:spPr>
        <p:style>
          <a:lnRef idx="2">
            <a:schemeClr val="accent1"/>
          </a:lnRef>
          <a:fillRef idx="0">
            <a:schemeClr val="accent1"/>
          </a:fillRef>
          <a:effectRef idx="1">
            <a:schemeClr val="accent1"/>
          </a:effectRef>
          <a:fontRef idx="minor">
            <a:schemeClr val="tx1"/>
          </a:fontRef>
        </p:style>
      </p:cxnSp>
      <p:sp>
        <p:nvSpPr>
          <p:cNvPr id="37" name="Isosceles Triangle 36"/>
          <p:cNvSpPr/>
          <p:nvPr/>
        </p:nvSpPr>
        <p:spPr>
          <a:xfrm rot="2100000">
            <a:off x="8458200" y="2112264"/>
            <a:ext cx="182880" cy="182880"/>
          </a:xfrm>
          <a:prstGeom prst="triangle">
            <a:avLst/>
          </a:prstGeom>
          <a:solidFill>
            <a:srgbClr val="00A991"/>
          </a:solidFill>
          <a:ln w="10160">
            <a:solidFill>
              <a:srgbClr val="00A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37960" y="4690872"/>
            <a:ext cx="621792" cy="164592"/>
          </a:xfrm>
          <a:prstGeom prst="rect">
            <a:avLst/>
          </a:prstGeom>
          <a:noFill/>
        </p:spPr>
        <p:txBody>
          <a:bodyPr wrap="square" lIns="0" rIns="0" tIns="0" bIns="0" anchor="t">
            <a:spAutoFit/>
          </a:bodyPr>
          <a:lstStyle/>
          <a:p>
            <a:pPr algn="l">
              <a:lnSpc>
                <a:spcPct val="100000"/>
              </a:lnSpc>
              <a:spcAft>
                <a:spcPts val="0"/>
              </a:spcAft>
            </a:pPr>
            <a:r>
              <a:rPr sz="700" b="1">
                <a:solidFill>
                  <a:srgbClr val="087F72"/>
                </a:solidFill>
                <a:latin typeface="Aptos"/>
              </a:rPr>
              <a:t>ENTRY</a:t>
            </a:r>
          </a:p>
        </p:txBody>
      </p:sp>
      <p:sp>
        <p:nvSpPr>
          <p:cNvPr id="39" name="Oval 38"/>
          <p:cNvSpPr/>
          <p:nvPr/>
        </p:nvSpPr>
        <p:spPr>
          <a:xfrm>
            <a:off x="8869680" y="1883664"/>
            <a:ext cx="530352" cy="530352"/>
          </a:xfrm>
          <a:prstGeom prst="ellipse">
            <a:avLst/>
          </a:prstGeom>
          <a:solidFill>
            <a:srgbClr val="00A991"/>
          </a:solidFill>
          <a:ln w="1778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Oval 39"/>
          <p:cNvSpPr/>
          <p:nvPr/>
        </p:nvSpPr>
        <p:spPr>
          <a:xfrm>
            <a:off x="8997696" y="2011680"/>
            <a:ext cx="274320" cy="274320"/>
          </a:xfrm>
          <a:prstGeom prst="ellipse">
            <a:avLst/>
          </a:prstGeom>
          <a:solidFill>
            <a:srgbClr val="FFFFFF"/>
          </a:solidFill>
          <a:ln w="1016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Rounded Rectangle 40"/>
          <p:cNvSpPr/>
          <p:nvPr/>
        </p:nvSpPr>
        <p:spPr>
          <a:xfrm>
            <a:off x="9473184" y="1865376"/>
            <a:ext cx="1627632" cy="566928"/>
          </a:xfrm>
          <a:prstGeom prst="roundRect">
            <a:avLst/>
          </a:prstGeom>
          <a:solidFill>
            <a:srgbClr val="0B1F3A"/>
          </a:solidFill>
          <a:ln w="10160">
            <a:solidFill>
              <a:srgbClr val="0B1F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9555480" y="1929384"/>
            <a:ext cx="1463040" cy="384048"/>
          </a:xfrm>
          <a:prstGeom prst="rect">
            <a:avLst/>
          </a:prstGeom>
          <a:noFill/>
        </p:spPr>
        <p:txBody>
          <a:bodyPr wrap="square" lIns="0" rIns="0" tIns="0" bIns="0" anchor="t">
            <a:spAutoFit/>
          </a:bodyPr>
          <a:lstStyle/>
          <a:p>
            <a:pPr algn="ctr">
              <a:lnSpc>
                <a:spcPct val="100000"/>
              </a:lnSpc>
              <a:spcAft>
                <a:spcPts val="0"/>
              </a:spcAft>
            </a:pPr>
            <a:r>
              <a:rPr sz="850" b="1">
                <a:solidFill>
                  <a:srgbClr val="FFFFFF"/>
                </a:solidFill>
                <a:latin typeface="Aptos"/>
              </a:rPr>
              <a:t>SAMUEL SPACE</a:t>
            </a:r>
            <a:br/>
            <a:r>
              <a:rPr sz="850" b="1">
                <a:solidFill>
                  <a:srgbClr val="FFFFFF"/>
                </a:solidFill>
                <a:latin typeface="Aptos"/>
              </a:rPr>
              <a:t>TARGET</a:t>
            </a:r>
          </a:p>
        </p:txBody>
      </p:sp>
      <p:sp>
        <p:nvSpPr>
          <p:cNvPr id="43" name="TextBox 42"/>
          <p:cNvSpPr txBox="1"/>
          <p:nvPr/>
        </p:nvSpPr>
        <p:spPr>
          <a:xfrm>
            <a:off x="960120" y="6254496"/>
            <a:ext cx="7863840" cy="146304"/>
          </a:xfrm>
          <a:prstGeom prst="rect">
            <a:avLst/>
          </a:prstGeom>
          <a:noFill/>
        </p:spPr>
        <p:txBody>
          <a:bodyPr wrap="square" lIns="0" rIns="0" tIns="0" bIns="0" anchor="t">
            <a:spAutoFit/>
          </a:bodyPr>
          <a:lstStyle/>
          <a:p>
            <a:pPr algn="l">
              <a:lnSpc>
                <a:spcPct val="100000"/>
              </a:lnSpc>
              <a:spcAft>
                <a:spcPts val="0"/>
              </a:spcAft>
            </a:pPr>
            <a:r>
              <a:rPr sz="690" b="0">
                <a:solidFill>
                  <a:srgbClr val="708399"/>
                </a:solidFill>
                <a:latin typeface="Aptos"/>
              </a:rPr>
              <a:t>Positions are illustrative, based on public technology and commercialisation-stage disclosures.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Rectangle 1"/>
          <p:cNvSpPr/>
          <p:nvPr/>
        </p:nvSpPr>
        <p:spPr>
          <a:xfrm>
            <a:off x="457200" y="256032"/>
            <a:ext cx="54864" cy="219456"/>
          </a:xfrm>
          <a:prstGeom prst="rect">
            <a:avLst/>
          </a:prstGeom>
          <a:solidFill>
            <a:srgbClr val="00A991"/>
          </a:solidFill>
          <a:ln>
            <a:solidFill>
              <a:srgbClr val="00A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3504" y="256032"/>
            <a:ext cx="4114800" cy="164592"/>
          </a:xfrm>
          <a:prstGeom prst="rect">
            <a:avLst/>
          </a:prstGeom>
          <a:noFill/>
        </p:spPr>
        <p:txBody>
          <a:bodyPr wrap="square" lIns="0" rIns="0" tIns="0" bIns="0" anchor="t">
            <a:spAutoFit/>
          </a:bodyPr>
          <a:lstStyle/>
          <a:p>
            <a:pPr algn="l">
              <a:lnSpc>
                <a:spcPct val="100000"/>
              </a:lnSpc>
              <a:spcAft>
                <a:spcPts val="0"/>
              </a:spcAft>
            </a:pPr>
            <a:r>
              <a:rPr sz="770" b="1">
                <a:solidFill>
                  <a:srgbClr val="087F72"/>
                </a:solidFill>
                <a:latin typeface="Aptos"/>
              </a:rPr>
              <a:t>REVENUE MODEL</a:t>
            </a:r>
          </a:p>
        </p:txBody>
      </p:sp>
      <p:sp>
        <p:nvSpPr>
          <p:cNvPr id="4" name="TextBox 3"/>
          <p:cNvSpPr txBox="1"/>
          <p:nvPr/>
        </p:nvSpPr>
        <p:spPr>
          <a:xfrm>
            <a:off x="457200" y="530352"/>
            <a:ext cx="11064240" cy="475488"/>
          </a:xfrm>
          <a:prstGeom prst="rect">
            <a:avLst/>
          </a:prstGeom>
          <a:noFill/>
        </p:spPr>
        <p:txBody>
          <a:bodyPr wrap="square" lIns="0" rIns="0" tIns="0" bIns="0" anchor="t">
            <a:spAutoFit/>
          </a:bodyPr>
          <a:lstStyle/>
          <a:p>
            <a:pPr algn="l">
              <a:lnSpc>
                <a:spcPct val="100000"/>
              </a:lnSpc>
              <a:spcAft>
                <a:spcPts val="0"/>
              </a:spcAft>
            </a:pPr>
            <a:r>
              <a:rPr sz="2550" b="1">
                <a:solidFill>
                  <a:srgbClr val="0B1F3A"/>
                </a:solidFill>
                <a:latin typeface="Aptos Display"/>
              </a:rPr>
              <a:t>Three Complementary Revenue Streams</a:t>
            </a:r>
          </a:p>
        </p:txBody>
      </p:sp>
      <p:cxnSp>
        <p:nvCxnSpPr>
          <p:cNvPr id="5" name="Connector 4"/>
          <p:cNvCxnSpPr/>
          <p:nvPr/>
        </p:nvCxnSpPr>
        <p:spPr>
          <a:xfrm>
            <a:off x="457200" y="6510528"/>
            <a:ext cx="11274552" cy="0"/>
          </a:xfrm>
          <a:prstGeom prst="line">
            <a:avLst/>
          </a:prstGeom>
          <a:ln w="7620">
            <a:solidFill>
              <a:srgbClr val="D7E1E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65392"/>
            <a:ext cx="1645920" cy="109728"/>
          </a:xfrm>
          <a:prstGeom prst="rect">
            <a:avLst/>
          </a:prstGeom>
          <a:noFill/>
        </p:spPr>
        <p:txBody>
          <a:bodyPr wrap="square" lIns="0" rIns="0" tIns="0" bIns="0" anchor="t">
            <a:spAutoFit/>
          </a:bodyPr>
          <a:lstStyle/>
          <a:p>
            <a:pPr algn="l">
              <a:lnSpc>
                <a:spcPct val="100000"/>
              </a:lnSpc>
              <a:spcAft>
                <a:spcPts val="0"/>
              </a:spcAft>
            </a:pPr>
            <a:r>
              <a:rPr sz="670" b="1">
                <a:solidFill>
                  <a:srgbClr val="708399"/>
                </a:solidFill>
                <a:latin typeface="Aptos"/>
              </a:rPr>
              <a:t>SAMUEL SPACE</a:t>
            </a:r>
          </a:p>
        </p:txBody>
      </p:sp>
      <p:sp>
        <p:nvSpPr>
          <p:cNvPr id="7" name="TextBox 6"/>
          <p:cNvSpPr txBox="1"/>
          <p:nvPr/>
        </p:nvSpPr>
        <p:spPr>
          <a:xfrm>
            <a:off x="10927080" y="6565392"/>
            <a:ext cx="804672" cy="109728"/>
          </a:xfrm>
          <a:prstGeom prst="rect">
            <a:avLst/>
          </a:prstGeom>
          <a:noFill/>
        </p:spPr>
        <p:txBody>
          <a:bodyPr wrap="square" lIns="0" rIns="0" tIns="0" bIns="0" anchor="t">
            <a:spAutoFit/>
          </a:bodyPr>
          <a:lstStyle/>
          <a:p>
            <a:pPr algn="r">
              <a:lnSpc>
                <a:spcPct val="100000"/>
              </a:lnSpc>
              <a:spcAft>
                <a:spcPts val="0"/>
              </a:spcAft>
            </a:pPr>
            <a:r>
              <a:rPr sz="670" b="1">
                <a:solidFill>
                  <a:srgbClr val="708399"/>
                </a:solidFill>
                <a:latin typeface="Aptos"/>
              </a:rPr>
              <a:t>14 / 21</a:t>
            </a:r>
          </a:p>
        </p:txBody>
      </p:sp>
      <p:sp>
        <p:nvSpPr>
          <p:cNvPr id="8" name="Rounded Rectangle 7"/>
          <p:cNvSpPr/>
          <p:nvPr/>
        </p:nvSpPr>
        <p:spPr>
          <a:xfrm>
            <a:off x="457200" y="1371600"/>
            <a:ext cx="11274552" cy="1408176"/>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1673352"/>
            <a:ext cx="685800" cy="438912"/>
          </a:xfrm>
          <a:prstGeom prst="rect">
            <a:avLst/>
          </a:prstGeom>
          <a:noFill/>
        </p:spPr>
        <p:txBody>
          <a:bodyPr wrap="square" lIns="0" rIns="0" tIns="0" bIns="0" anchor="t">
            <a:spAutoFit/>
          </a:bodyPr>
          <a:lstStyle/>
          <a:p>
            <a:pPr algn="l">
              <a:lnSpc>
                <a:spcPct val="100000"/>
              </a:lnSpc>
              <a:spcAft>
                <a:spcPts val="0"/>
              </a:spcAft>
            </a:pPr>
            <a:r>
              <a:rPr sz="2500" b="1">
                <a:solidFill>
                  <a:srgbClr val="00A991"/>
                </a:solidFill>
                <a:latin typeface="Aptos"/>
              </a:rPr>
              <a:t>01</a:t>
            </a:r>
          </a:p>
        </p:txBody>
      </p:sp>
      <p:sp>
        <p:nvSpPr>
          <p:cNvPr id="10" name="TextBox 9"/>
          <p:cNvSpPr txBox="1"/>
          <p:nvPr/>
        </p:nvSpPr>
        <p:spPr>
          <a:xfrm>
            <a:off x="1609344" y="1572768"/>
            <a:ext cx="1828800" cy="164592"/>
          </a:xfrm>
          <a:prstGeom prst="rect">
            <a:avLst/>
          </a:prstGeom>
          <a:noFill/>
        </p:spPr>
        <p:txBody>
          <a:bodyPr wrap="square" lIns="0" rIns="0" tIns="0" bIns="0" anchor="t">
            <a:spAutoFit/>
          </a:bodyPr>
          <a:lstStyle/>
          <a:p>
            <a:pPr algn="l">
              <a:lnSpc>
                <a:spcPct val="100000"/>
              </a:lnSpc>
              <a:spcAft>
                <a:spcPts val="0"/>
              </a:spcAft>
            </a:pPr>
            <a:r>
              <a:rPr sz="740" b="1">
                <a:solidFill>
                  <a:srgbClr val="708399"/>
                </a:solidFill>
                <a:latin typeface="Aptos"/>
              </a:rPr>
              <a:t>REVENUE STREAM 1</a:t>
            </a:r>
          </a:p>
        </p:txBody>
      </p:sp>
      <p:sp>
        <p:nvSpPr>
          <p:cNvPr id="11" name="TextBox 10"/>
          <p:cNvSpPr txBox="1"/>
          <p:nvPr/>
        </p:nvSpPr>
        <p:spPr>
          <a:xfrm>
            <a:off x="1609344" y="1874519"/>
            <a:ext cx="3977639" cy="310896"/>
          </a:xfrm>
          <a:prstGeom prst="rect">
            <a:avLst/>
          </a:prstGeom>
          <a:noFill/>
        </p:spPr>
        <p:txBody>
          <a:bodyPr wrap="square" lIns="0" rIns="0" tIns="0" bIns="0" anchor="t">
            <a:spAutoFit/>
          </a:bodyPr>
          <a:lstStyle/>
          <a:p>
            <a:pPr algn="l">
              <a:lnSpc>
                <a:spcPct val="100000"/>
              </a:lnSpc>
              <a:spcAft>
                <a:spcPts val="0"/>
              </a:spcAft>
            </a:pPr>
            <a:r>
              <a:rPr sz="1540" b="1">
                <a:solidFill>
                  <a:srgbClr val="0B1F3A"/>
                </a:solidFill>
                <a:latin typeface="Aptos"/>
              </a:rPr>
              <a:t>CONTRACT BIOPRINTING SERVICES</a:t>
            </a:r>
          </a:p>
        </p:txBody>
      </p:sp>
      <p:sp>
        <p:nvSpPr>
          <p:cNvPr id="12" name="TextBox 11"/>
          <p:cNvSpPr txBox="1"/>
          <p:nvPr/>
        </p:nvSpPr>
        <p:spPr>
          <a:xfrm>
            <a:off x="5504688" y="1627632"/>
            <a:ext cx="3840480" cy="786384"/>
          </a:xfrm>
          <a:prstGeom prst="rect">
            <a:avLst/>
          </a:prstGeom>
          <a:noFill/>
        </p:spPr>
        <p:txBody>
          <a:bodyPr wrap="square" lIns="0" rIns="0" tIns="0" bIns="0" anchor="t">
            <a:spAutoFit/>
          </a:bodyPr>
          <a:lstStyle/>
          <a:p>
            <a:pPr algn="l">
              <a:lnSpc>
                <a:spcPct val="103000"/>
              </a:lnSpc>
              <a:spcAft>
                <a:spcPts val="0"/>
              </a:spcAft>
            </a:pPr>
            <a:r>
              <a:rPr sz="960" b="0">
                <a:solidFill>
                  <a:srgbClr val="50657B"/>
                </a:solidFill>
                <a:latin typeface="Aptos"/>
              </a:rPr>
              <a:t>Fee-for-service orbital bioprinting missions for pharmaceutical companies, academic medical centres and government research agencies. Revenue begins in Year 1.</a:t>
            </a:r>
          </a:p>
        </p:txBody>
      </p:sp>
      <p:sp>
        <p:nvSpPr>
          <p:cNvPr id="13" name="Rounded Rectangle 12"/>
          <p:cNvSpPr/>
          <p:nvPr/>
        </p:nvSpPr>
        <p:spPr>
          <a:xfrm>
            <a:off x="9637776" y="1874519"/>
            <a:ext cx="1792224" cy="310896"/>
          </a:xfrm>
          <a:prstGeom prst="roundRect">
            <a:avLst/>
          </a:prstGeom>
          <a:solidFill>
            <a:srgbClr val="0B1F3A"/>
          </a:solidFill>
          <a:ln w="6350">
            <a:solidFill>
              <a:srgbClr val="0B1F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37776" y="1874519"/>
            <a:ext cx="1792224" cy="310896"/>
          </a:xfrm>
          <a:prstGeom prst="rect">
            <a:avLst/>
          </a:prstGeom>
          <a:noFill/>
        </p:spPr>
        <p:txBody>
          <a:bodyPr wrap="square" lIns="0" rIns="0" tIns="0" bIns="0" anchor="ctr">
            <a:spAutoFit/>
          </a:bodyPr>
          <a:lstStyle/>
          <a:p>
            <a:pPr algn="ctr">
              <a:lnSpc>
                <a:spcPct val="100000"/>
              </a:lnSpc>
              <a:spcAft>
                <a:spcPts val="0"/>
              </a:spcAft>
            </a:pPr>
            <a:r>
              <a:rPr sz="710" b="1">
                <a:solidFill>
                  <a:srgbClr val="FFFFFF"/>
                </a:solidFill>
                <a:latin typeface="Aptos"/>
              </a:rPr>
              <a:t>NEAR-TERM REVENUE</a:t>
            </a:r>
          </a:p>
        </p:txBody>
      </p:sp>
      <p:sp>
        <p:nvSpPr>
          <p:cNvPr id="15" name="Rounded Rectangle 14"/>
          <p:cNvSpPr/>
          <p:nvPr/>
        </p:nvSpPr>
        <p:spPr>
          <a:xfrm>
            <a:off x="457200" y="2980944"/>
            <a:ext cx="11274552" cy="1408176"/>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94944" y="3282696"/>
            <a:ext cx="685800" cy="438912"/>
          </a:xfrm>
          <a:prstGeom prst="rect">
            <a:avLst/>
          </a:prstGeom>
          <a:noFill/>
        </p:spPr>
        <p:txBody>
          <a:bodyPr wrap="square" lIns="0" rIns="0" tIns="0" bIns="0" anchor="t">
            <a:spAutoFit/>
          </a:bodyPr>
          <a:lstStyle/>
          <a:p>
            <a:pPr algn="l">
              <a:lnSpc>
                <a:spcPct val="100000"/>
              </a:lnSpc>
              <a:spcAft>
                <a:spcPts val="0"/>
              </a:spcAft>
            </a:pPr>
            <a:r>
              <a:rPr sz="2500" b="1">
                <a:solidFill>
                  <a:srgbClr val="00A991"/>
                </a:solidFill>
                <a:latin typeface="Aptos"/>
              </a:rPr>
              <a:t>02</a:t>
            </a:r>
          </a:p>
        </p:txBody>
      </p:sp>
      <p:sp>
        <p:nvSpPr>
          <p:cNvPr id="17" name="TextBox 16"/>
          <p:cNvSpPr txBox="1"/>
          <p:nvPr/>
        </p:nvSpPr>
        <p:spPr>
          <a:xfrm>
            <a:off x="1609344" y="3182112"/>
            <a:ext cx="1828800" cy="164592"/>
          </a:xfrm>
          <a:prstGeom prst="rect">
            <a:avLst/>
          </a:prstGeom>
          <a:noFill/>
        </p:spPr>
        <p:txBody>
          <a:bodyPr wrap="square" lIns="0" rIns="0" tIns="0" bIns="0" anchor="t">
            <a:spAutoFit/>
          </a:bodyPr>
          <a:lstStyle/>
          <a:p>
            <a:pPr algn="l">
              <a:lnSpc>
                <a:spcPct val="100000"/>
              </a:lnSpc>
              <a:spcAft>
                <a:spcPts val="0"/>
              </a:spcAft>
            </a:pPr>
            <a:r>
              <a:rPr sz="740" b="1">
                <a:solidFill>
                  <a:srgbClr val="708399"/>
                </a:solidFill>
                <a:latin typeface="Aptos"/>
              </a:rPr>
              <a:t>REVENUE STREAM 2</a:t>
            </a:r>
          </a:p>
        </p:txBody>
      </p:sp>
      <p:sp>
        <p:nvSpPr>
          <p:cNvPr id="18" name="TextBox 17"/>
          <p:cNvSpPr txBox="1"/>
          <p:nvPr/>
        </p:nvSpPr>
        <p:spPr>
          <a:xfrm>
            <a:off x="1609344" y="3483863"/>
            <a:ext cx="3977639" cy="310896"/>
          </a:xfrm>
          <a:prstGeom prst="rect">
            <a:avLst/>
          </a:prstGeom>
          <a:noFill/>
        </p:spPr>
        <p:txBody>
          <a:bodyPr wrap="square" lIns="0" rIns="0" tIns="0" bIns="0" anchor="t">
            <a:spAutoFit/>
          </a:bodyPr>
          <a:lstStyle/>
          <a:p>
            <a:pPr algn="l">
              <a:lnSpc>
                <a:spcPct val="100000"/>
              </a:lnSpc>
              <a:spcAft>
                <a:spcPts val="0"/>
              </a:spcAft>
            </a:pPr>
            <a:r>
              <a:rPr sz="1540" b="1">
                <a:solidFill>
                  <a:srgbClr val="0B1F3A"/>
                </a:solidFill>
                <a:latin typeface="Aptos"/>
              </a:rPr>
              <a:t>NON-DILUTIVE GRANT FUNDING</a:t>
            </a:r>
          </a:p>
        </p:txBody>
      </p:sp>
      <p:sp>
        <p:nvSpPr>
          <p:cNvPr id="19" name="TextBox 18"/>
          <p:cNvSpPr txBox="1"/>
          <p:nvPr/>
        </p:nvSpPr>
        <p:spPr>
          <a:xfrm>
            <a:off x="5504688" y="3236976"/>
            <a:ext cx="3840480" cy="786384"/>
          </a:xfrm>
          <a:prstGeom prst="rect">
            <a:avLst/>
          </a:prstGeom>
          <a:noFill/>
        </p:spPr>
        <p:txBody>
          <a:bodyPr wrap="square" lIns="0" rIns="0" tIns="0" bIns="0" anchor="t">
            <a:spAutoFit/>
          </a:bodyPr>
          <a:lstStyle/>
          <a:p>
            <a:pPr algn="l">
              <a:lnSpc>
                <a:spcPct val="103000"/>
              </a:lnSpc>
              <a:spcAft>
                <a:spcPts val="0"/>
              </a:spcAft>
            </a:pPr>
            <a:r>
              <a:rPr sz="960" b="0">
                <a:solidFill>
                  <a:srgbClr val="50657B"/>
                </a:solidFill>
                <a:latin typeface="Aptos"/>
              </a:rPr>
              <a:t>NASA InSPA, ESA BIC, DoD SBIR/STTR and National Eye Institute mechanisms provide non-dilutive capital. Samuel targets $4–8M in grants across Years 1–4.</a:t>
            </a:r>
          </a:p>
        </p:txBody>
      </p:sp>
      <p:sp>
        <p:nvSpPr>
          <p:cNvPr id="20" name="Rounded Rectangle 19"/>
          <p:cNvSpPr/>
          <p:nvPr/>
        </p:nvSpPr>
        <p:spPr>
          <a:xfrm>
            <a:off x="9637776" y="3483863"/>
            <a:ext cx="1792224" cy="310896"/>
          </a:xfrm>
          <a:prstGeom prst="roundRect">
            <a:avLst/>
          </a:prstGeom>
          <a:solidFill>
            <a:srgbClr val="0B1F3A"/>
          </a:solidFill>
          <a:ln w="6350">
            <a:solidFill>
              <a:srgbClr val="0B1F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637776" y="3483863"/>
            <a:ext cx="1792224" cy="310896"/>
          </a:xfrm>
          <a:prstGeom prst="rect">
            <a:avLst/>
          </a:prstGeom>
          <a:noFill/>
        </p:spPr>
        <p:txBody>
          <a:bodyPr wrap="square" lIns="0" rIns="0" tIns="0" bIns="0" anchor="ctr">
            <a:spAutoFit/>
          </a:bodyPr>
          <a:lstStyle/>
          <a:p>
            <a:pPr algn="ctr">
              <a:lnSpc>
                <a:spcPct val="100000"/>
              </a:lnSpc>
              <a:spcAft>
                <a:spcPts val="0"/>
              </a:spcAft>
            </a:pPr>
            <a:r>
              <a:rPr sz="710" b="1">
                <a:solidFill>
                  <a:srgbClr val="FFFFFF"/>
                </a:solidFill>
                <a:latin typeface="Aptos"/>
              </a:rPr>
              <a:t>REDUCES EQUITY BURN</a:t>
            </a:r>
          </a:p>
        </p:txBody>
      </p:sp>
      <p:sp>
        <p:nvSpPr>
          <p:cNvPr id="22" name="Rounded Rectangle 21"/>
          <p:cNvSpPr/>
          <p:nvPr/>
        </p:nvSpPr>
        <p:spPr>
          <a:xfrm>
            <a:off x="457200" y="4590288"/>
            <a:ext cx="11274552" cy="1408176"/>
          </a:xfrm>
          <a:prstGeom prst="roundRect">
            <a:avLst/>
          </a:prstGeom>
          <a:solidFill>
            <a:srgbClr val="EDF9F6"/>
          </a:solidFill>
          <a:ln w="10160">
            <a:solidFill>
              <a:srgbClr val="BDE9D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94944" y="4892040"/>
            <a:ext cx="685800" cy="438912"/>
          </a:xfrm>
          <a:prstGeom prst="rect">
            <a:avLst/>
          </a:prstGeom>
          <a:noFill/>
        </p:spPr>
        <p:txBody>
          <a:bodyPr wrap="square" lIns="0" rIns="0" tIns="0" bIns="0" anchor="t">
            <a:spAutoFit/>
          </a:bodyPr>
          <a:lstStyle/>
          <a:p>
            <a:pPr algn="l">
              <a:lnSpc>
                <a:spcPct val="100000"/>
              </a:lnSpc>
              <a:spcAft>
                <a:spcPts val="0"/>
              </a:spcAft>
            </a:pPr>
            <a:r>
              <a:rPr sz="2500" b="1">
                <a:solidFill>
                  <a:srgbClr val="00A991"/>
                </a:solidFill>
                <a:latin typeface="Aptos"/>
              </a:rPr>
              <a:t>03</a:t>
            </a:r>
          </a:p>
        </p:txBody>
      </p:sp>
      <p:sp>
        <p:nvSpPr>
          <p:cNvPr id="24" name="TextBox 23"/>
          <p:cNvSpPr txBox="1"/>
          <p:nvPr/>
        </p:nvSpPr>
        <p:spPr>
          <a:xfrm>
            <a:off x="1609344" y="4791455"/>
            <a:ext cx="1828800" cy="164592"/>
          </a:xfrm>
          <a:prstGeom prst="rect">
            <a:avLst/>
          </a:prstGeom>
          <a:noFill/>
        </p:spPr>
        <p:txBody>
          <a:bodyPr wrap="square" lIns="0" rIns="0" tIns="0" bIns="0" anchor="t">
            <a:spAutoFit/>
          </a:bodyPr>
          <a:lstStyle/>
          <a:p>
            <a:pPr algn="l">
              <a:lnSpc>
                <a:spcPct val="100000"/>
              </a:lnSpc>
              <a:spcAft>
                <a:spcPts val="0"/>
              </a:spcAft>
            </a:pPr>
            <a:r>
              <a:rPr sz="740" b="1">
                <a:solidFill>
                  <a:srgbClr val="708399"/>
                </a:solidFill>
                <a:latin typeface="Aptos"/>
              </a:rPr>
              <a:t>REVENUE STREAM 3</a:t>
            </a:r>
          </a:p>
        </p:txBody>
      </p:sp>
      <p:sp>
        <p:nvSpPr>
          <p:cNvPr id="25" name="TextBox 24"/>
          <p:cNvSpPr txBox="1"/>
          <p:nvPr/>
        </p:nvSpPr>
        <p:spPr>
          <a:xfrm>
            <a:off x="1609344" y="5093207"/>
            <a:ext cx="3977639" cy="310896"/>
          </a:xfrm>
          <a:prstGeom prst="rect">
            <a:avLst/>
          </a:prstGeom>
          <a:noFill/>
        </p:spPr>
        <p:txBody>
          <a:bodyPr wrap="square" lIns="0" rIns="0" tIns="0" bIns="0" anchor="t">
            <a:spAutoFit/>
          </a:bodyPr>
          <a:lstStyle/>
          <a:p>
            <a:pPr algn="l">
              <a:lnSpc>
                <a:spcPct val="100000"/>
              </a:lnSpc>
              <a:spcAft>
                <a:spcPts val="0"/>
              </a:spcAft>
            </a:pPr>
            <a:r>
              <a:rPr sz="1540" b="1">
                <a:solidFill>
                  <a:srgbClr val="0B1F3A"/>
                </a:solidFill>
                <a:latin typeface="Aptos"/>
              </a:rPr>
              <a:t>TISSUE IP LICENSING &amp; ROYALTIES</a:t>
            </a:r>
          </a:p>
        </p:txBody>
      </p:sp>
      <p:sp>
        <p:nvSpPr>
          <p:cNvPr id="26" name="TextBox 25"/>
          <p:cNvSpPr txBox="1"/>
          <p:nvPr/>
        </p:nvSpPr>
        <p:spPr>
          <a:xfrm>
            <a:off x="5504688" y="4846320"/>
            <a:ext cx="3840480" cy="786384"/>
          </a:xfrm>
          <a:prstGeom prst="rect">
            <a:avLst/>
          </a:prstGeom>
          <a:noFill/>
        </p:spPr>
        <p:txBody>
          <a:bodyPr wrap="square" lIns="0" rIns="0" tIns="0" bIns="0" anchor="t">
            <a:spAutoFit/>
          </a:bodyPr>
          <a:lstStyle/>
          <a:p>
            <a:pPr algn="l">
              <a:lnSpc>
                <a:spcPct val="103000"/>
              </a:lnSpc>
              <a:spcAft>
                <a:spcPts val="0"/>
              </a:spcAft>
            </a:pPr>
            <a:r>
              <a:rPr sz="960" b="0">
                <a:solidFill>
                  <a:srgbClr val="50657B"/>
                </a:solidFill>
                <a:latin typeface="Aptos"/>
              </a:rPr>
              <a:t>As proprietary bioink formulations and protocols demonstrate clinical-grade output, Samuel licenses IP to pharmaceutical and device manufacturers from Year 3 onward.</a:t>
            </a:r>
          </a:p>
        </p:txBody>
      </p:sp>
      <p:sp>
        <p:nvSpPr>
          <p:cNvPr id="27" name="Rounded Rectangle 26"/>
          <p:cNvSpPr/>
          <p:nvPr/>
        </p:nvSpPr>
        <p:spPr>
          <a:xfrm>
            <a:off x="9637776" y="5093207"/>
            <a:ext cx="1792224" cy="310896"/>
          </a:xfrm>
          <a:prstGeom prst="roundRect">
            <a:avLst/>
          </a:prstGeom>
          <a:solidFill>
            <a:srgbClr val="00A991"/>
          </a:solidFill>
          <a:ln w="6350">
            <a:solidFill>
              <a:srgbClr val="00A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637776" y="5093207"/>
            <a:ext cx="1792224" cy="310896"/>
          </a:xfrm>
          <a:prstGeom prst="rect">
            <a:avLst/>
          </a:prstGeom>
          <a:noFill/>
        </p:spPr>
        <p:txBody>
          <a:bodyPr wrap="square" lIns="0" rIns="0" tIns="0" bIns="0" anchor="ctr">
            <a:spAutoFit/>
          </a:bodyPr>
          <a:lstStyle/>
          <a:p>
            <a:pPr algn="ctr">
              <a:lnSpc>
                <a:spcPct val="100000"/>
              </a:lnSpc>
              <a:spcAft>
                <a:spcPts val="0"/>
              </a:spcAft>
            </a:pPr>
            <a:r>
              <a:rPr sz="710" b="1">
                <a:solidFill>
                  <a:srgbClr val="FFFFFF"/>
                </a:solidFill>
                <a:latin typeface="Aptos"/>
              </a:rPr>
              <a:t>LONG-TERM VALUE</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Rectangle 1"/>
          <p:cNvSpPr/>
          <p:nvPr/>
        </p:nvSpPr>
        <p:spPr>
          <a:xfrm>
            <a:off x="457200" y="256032"/>
            <a:ext cx="54864" cy="219456"/>
          </a:xfrm>
          <a:prstGeom prst="rect">
            <a:avLst/>
          </a:prstGeom>
          <a:solidFill>
            <a:srgbClr val="00A991"/>
          </a:solidFill>
          <a:ln>
            <a:solidFill>
              <a:srgbClr val="00A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3504" y="256032"/>
            <a:ext cx="4114800" cy="164592"/>
          </a:xfrm>
          <a:prstGeom prst="rect">
            <a:avLst/>
          </a:prstGeom>
          <a:noFill/>
        </p:spPr>
        <p:txBody>
          <a:bodyPr wrap="square" lIns="0" rIns="0" tIns="0" bIns="0" anchor="t">
            <a:spAutoFit/>
          </a:bodyPr>
          <a:lstStyle/>
          <a:p>
            <a:pPr algn="l">
              <a:lnSpc>
                <a:spcPct val="100000"/>
              </a:lnSpc>
              <a:spcAft>
                <a:spcPts val="0"/>
              </a:spcAft>
            </a:pPr>
            <a:r>
              <a:rPr sz="770" b="1">
                <a:solidFill>
                  <a:srgbClr val="087F72"/>
                </a:solidFill>
                <a:latin typeface="Aptos"/>
              </a:rPr>
              <a:t>GO-TO-MARKET</a:t>
            </a:r>
          </a:p>
        </p:txBody>
      </p:sp>
      <p:sp>
        <p:nvSpPr>
          <p:cNvPr id="4" name="TextBox 3"/>
          <p:cNvSpPr txBox="1"/>
          <p:nvPr/>
        </p:nvSpPr>
        <p:spPr>
          <a:xfrm>
            <a:off x="457200" y="530352"/>
            <a:ext cx="11064240" cy="475488"/>
          </a:xfrm>
          <a:prstGeom prst="rect">
            <a:avLst/>
          </a:prstGeom>
          <a:noFill/>
        </p:spPr>
        <p:txBody>
          <a:bodyPr wrap="square" lIns="0" rIns="0" tIns="0" bIns="0" anchor="t">
            <a:spAutoFit/>
          </a:bodyPr>
          <a:lstStyle/>
          <a:p>
            <a:pPr algn="l">
              <a:lnSpc>
                <a:spcPct val="100000"/>
              </a:lnSpc>
              <a:spcAft>
                <a:spcPts val="0"/>
              </a:spcAft>
            </a:pPr>
            <a:r>
              <a:rPr sz="2550" b="1">
                <a:solidFill>
                  <a:srgbClr val="0B1F3A"/>
                </a:solidFill>
                <a:latin typeface="Aptos Display"/>
              </a:rPr>
              <a:t>Sequenced Market Entry Across Four Partner Categories</a:t>
            </a:r>
          </a:p>
        </p:txBody>
      </p:sp>
      <p:cxnSp>
        <p:nvCxnSpPr>
          <p:cNvPr id="5" name="Connector 4"/>
          <p:cNvCxnSpPr/>
          <p:nvPr/>
        </p:nvCxnSpPr>
        <p:spPr>
          <a:xfrm>
            <a:off x="457200" y="6510528"/>
            <a:ext cx="11274552" cy="0"/>
          </a:xfrm>
          <a:prstGeom prst="line">
            <a:avLst/>
          </a:prstGeom>
          <a:ln w="7620">
            <a:solidFill>
              <a:srgbClr val="D7E1E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65392"/>
            <a:ext cx="1645920" cy="109728"/>
          </a:xfrm>
          <a:prstGeom prst="rect">
            <a:avLst/>
          </a:prstGeom>
          <a:noFill/>
        </p:spPr>
        <p:txBody>
          <a:bodyPr wrap="square" lIns="0" rIns="0" tIns="0" bIns="0" anchor="t">
            <a:spAutoFit/>
          </a:bodyPr>
          <a:lstStyle/>
          <a:p>
            <a:pPr algn="l">
              <a:lnSpc>
                <a:spcPct val="100000"/>
              </a:lnSpc>
              <a:spcAft>
                <a:spcPts val="0"/>
              </a:spcAft>
            </a:pPr>
            <a:r>
              <a:rPr sz="670" b="1">
                <a:solidFill>
                  <a:srgbClr val="708399"/>
                </a:solidFill>
                <a:latin typeface="Aptos"/>
              </a:rPr>
              <a:t>SAMUEL SPACE</a:t>
            </a:r>
          </a:p>
        </p:txBody>
      </p:sp>
      <p:sp>
        <p:nvSpPr>
          <p:cNvPr id="7" name="TextBox 6"/>
          <p:cNvSpPr txBox="1"/>
          <p:nvPr/>
        </p:nvSpPr>
        <p:spPr>
          <a:xfrm>
            <a:off x="10927080" y="6565392"/>
            <a:ext cx="804672" cy="109728"/>
          </a:xfrm>
          <a:prstGeom prst="rect">
            <a:avLst/>
          </a:prstGeom>
          <a:noFill/>
        </p:spPr>
        <p:txBody>
          <a:bodyPr wrap="square" lIns="0" rIns="0" tIns="0" bIns="0" anchor="t">
            <a:spAutoFit/>
          </a:bodyPr>
          <a:lstStyle/>
          <a:p>
            <a:pPr algn="r">
              <a:lnSpc>
                <a:spcPct val="100000"/>
              </a:lnSpc>
              <a:spcAft>
                <a:spcPts val="0"/>
              </a:spcAft>
            </a:pPr>
            <a:r>
              <a:rPr sz="670" b="1">
                <a:solidFill>
                  <a:srgbClr val="708399"/>
                </a:solidFill>
                <a:latin typeface="Aptos"/>
              </a:rPr>
              <a:t>15 / 21</a:t>
            </a:r>
          </a:p>
        </p:txBody>
      </p:sp>
      <p:sp>
        <p:nvSpPr>
          <p:cNvPr id="8" name="Rounded Rectangle 7"/>
          <p:cNvSpPr/>
          <p:nvPr/>
        </p:nvSpPr>
        <p:spPr>
          <a:xfrm>
            <a:off x="457200" y="1353312"/>
            <a:ext cx="2679192" cy="4956048"/>
          </a:xfrm>
          <a:prstGeom prst="roundRect">
            <a:avLst/>
          </a:prstGeom>
          <a:solidFill>
            <a:srgbClr val="EDF9F6"/>
          </a:solidFill>
          <a:ln w="15240">
            <a:solidFill>
              <a:srgbClr val="00A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1609344"/>
            <a:ext cx="603504" cy="384048"/>
          </a:xfrm>
          <a:prstGeom prst="rect">
            <a:avLst/>
          </a:prstGeom>
          <a:noFill/>
        </p:spPr>
        <p:txBody>
          <a:bodyPr wrap="square" lIns="0" rIns="0" tIns="0" bIns="0" anchor="t">
            <a:spAutoFit/>
          </a:bodyPr>
          <a:lstStyle/>
          <a:p>
            <a:pPr algn="l">
              <a:lnSpc>
                <a:spcPct val="100000"/>
              </a:lnSpc>
              <a:spcAft>
                <a:spcPts val="0"/>
              </a:spcAft>
            </a:pPr>
            <a:r>
              <a:rPr sz="2400" b="1">
                <a:solidFill>
                  <a:srgbClr val="00A991"/>
                </a:solidFill>
                <a:latin typeface="Aptos"/>
              </a:rPr>
              <a:t>01</a:t>
            </a:r>
          </a:p>
        </p:txBody>
      </p:sp>
      <p:sp>
        <p:nvSpPr>
          <p:cNvPr id="10" name="TextBox 9"/>
          <p:cNvSpPr txBox="1"/>
          <p:nvPr/>
        </p:nvSpPr>
        <p:spPr>
          <a:xfrm>
            <a:off x="1481328" y="1673352"/>
            <a:ext cx="1325880" cy="164592"/>
          </a:xfrm>
          <a:prstGeom prst="rect">
            <a:avLst/>
          </a:prstGeom>
          <a:noFill/>
        </p:spPr>
        <p:txBody>
          <a:bodyPr wrap="square" lIns="0" rIns="0" tIns="0" bIns="0" anchor="t">
            <a:spAutoFit/>
          </a:bodyPr>
          <a:lstStyle/>
          <a:p>
            <a:pPr algn="r">
              <a:lnSpc>
                <a:spcPct val="100000"/>
              </a:lnSpc>
              <a:spcAft>
                <a:spcPts val="0"/>
              </a:spcAft>
            </a:pPr>
            <a:r>
              <a:rPr sz="740" b="1">
                <a:solidFill>
                  <a:srgbClr val="708399"/>
                </a:solidFill>
                <a:latin typeface="Aptos"/>
              </a:rPr>
              <a:t>STAGE 1</a:t>
            </a:r>
          </a:p>
        </p:txBody>
      </p:sp>
      <p:cxnSp>
        <p:nvCxnSpPr>
          <p:cNvPr id="11" name="Connector 10"/>
          <p:cNvCxnSpPr/>
          <p:nvPr/>
        </p:nvCxnSpPr>
        <p:spPr>
          <a:xfrm>
            <a:off x="658368" y="2203704"/>
            <a:ext cx="2267712" cy="0"/>
          </a:xfrm>
          <a:prstGeom prst="line">
            <a:avLst/>
          </a:prstGeom>
          <a:ln w="10160">
            <a:solidFill>
              <a:srgbClr val="D7E1EA"/>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658368" y="2487168"/>
            <a:ext cx="2267712" cy="758952"/>
          </a:xfrm>
          <a:prstGeom prst="rect">
            <a:avLst/>
          </a:prstGeom>
          <a:noFill/>
        </p:spPr>
        <p:txBody>
          <a:bodyPr wrap="square" lIns="0" rIns="0" tIns="0" bIns="0" anchor="t">
            <a:spAutoFit/>
          </a:bodyPr>
          <a:lstStyle/>
          <a:p>
            <a:pPr algn="l">
              <a:lnSpc>
                <a:spcPct val="100000"/>
              </a:lnSpc>
              <a:spcAft>
                <a:spcPts val="0"/>
              </a:spcAft>
            </a:pPr>
            <a:r>
              <a:rPr sz="1500" b="1">
                <a:solidFill>
                  <a:srgbClr val="0B1F3A"/>
                </a:solidFill>
                <a:latin typeface="Aptos Display"/>
              </a:rPr>
              <a:t>Commercial Station Operators</a:t>
            </a:r>
          </a:p>
        </p:txBody>
      </p:sp>
      <p:sp>
        <p:nvSpPr>
          <p:cNvPr id="13" name="TextBox 12"/>
          <p:cNvSpPr txBox="1"/>
          <p:nvPr/>
        </p:nvSpPr>
        <p:spPr>
          <a:xfrm>
            <a:off x="658368" y="3456432"/>
            <a:ext cx="2267712" cy="1600200"/>
          </a:xfrm>
          <a:prstGeom prst="rect">
            <a:avLst/>
          </a:prstGeom>
          <a:noFill/>
        </p:spPr>
        <p:txBody>
          <a:bodyPr wrap="square" lIns="0" rIns="0" tIns="0" bIns="0" anchor="t">
            <a:spAutoFit/>
          </a:bodyPr>
          <a:lstStyle/>
          <a:p>
            <a:pPr algn="l">
              <a:lnSpc>
                <a:spcPct val="104000"/>
              </a:lnSpc>
              <a:spcAft>
                <a:spcPts val="0"/>
              </a:spcAft>
            </a:pPr>
            <a:r>
              <a:rPr sz="1000" b="0">
                <a:solidFill>
                  <a:srgbClr val="50657B"/>
                </a:solidFill>
                <a:latin typeface="Aptos"/>
              </a:rPr>
              <a:t>Redwire, Starlab, Axiom Space, Orbital Reef and Vast. Samuel negotiates research-service agreements and payload manifesting rights with each.</a:t>
            </a:r>
          </a:p>
        </p:txBody>
      </p:sp>
      <p:sp>
        <p:nvSpPr>
          <p:cNvPr id="14" name="Rounded Rectangle 13"/>
          <p:cNvSpPr/>
          <p:nvPr/>
        </p:nvSpPr>
        <p:spPr>
          <a:xfrm>
            <a:off x="658368" y="5678424"/>
            <a:ext cx="2267712" cy="347472"/>
          </a:xfrm>
          <a:prstGeom prst="roundRect">
            <a:avLst/>
          </a:prstGeom>
          <a:solidFill>
            <a:srgbClr val="00A991"/>
          </a:solidFill>
          <a:ln w="10160">
            <a:solidFill>
              <a:srgbClr val="00A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40664" y="5733288"/>
            <a:ext cx="2103120" cy="173736"/>
          </a:xfrm>
          <a:prstGeom prst="rect">
            <a:avLst/>
          </a:prstGeom>
          <a:noFill/>
        </p:spPr>
        <p:txBody>
          <a:bodyPr wrap="square" lIns="0" rIns="0" tIns="0" bIns="0" anchor="t">
            <a:spAutoFit/>
          </a:bodyPr>
          <a:lstStyle/>
          <a:p>
            <a:pPr algn="ctr">
              <a:lnSpc>
                <a:spcPct val="100000"/>
              </a:lnSpc>
              <a:spcAft>
                <a:spcPts val="0"/>
              </a:spcAft>
            </a:pPr>
            <a:r>
              <a:rPr sz="680" b="1">
                <a:solidFill>
                  <a:srgbClr val="FFFFFF"/>
                </a:solidFill>
                <a:latin typeface="Aptos"/>
              </a:rPr>
              <a:t>REDWIRE · STARLAB · AXIOM · VAST</a:t>
            </a:r>
          </a:p>
        </p:txBody>
      </p:sp>
      <p:sp>
        <p:nvSpPr>
          <p:cNvPr id="16" name="Rounded Rectangle 15"/>
          <p:cNvSpPr/>
          <p:nvPr/>
        </p:nvSpPr>
        <p:spPr>
          <a:xfrm>
            <a:off x="3291840" y="1353312"/>
            <a:ext cx="2679192" cy="4956048"/>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493008" y="1609344"/>
            <a:ext cx="603504" cy="384048"/>
          </a:xfrm>
          <a:prstGeom prst="rect">
            <a:avLst/>
          </a:prstGeom>
          <a:noFill/>
        </p:spPr>
        <p:txBody>
          <a:bodyPr wrap="square" lIns="0" rIns="0" tIns="0" bIns="0" anchor="t">
            <a:spAutoFit/>
          </a:bodyPr>
          <a:lstStyle/>
          <a:p>
            <a:pPr algn="l">
              <a:lnSpc>
                <a:spcPct val="100000"/>
              </a:lnSpc>
              <a:spcAft>
                <a:spcPts val="0"/>
              </a:spcAft>
            </a:pPr>
            <a:r>
              <a:rPr sz="2400" b="1">
                <a:solidFill>
                  <a:srgbClr val="A9BAC8"/>
                </a:solidFill>
                <a:latin typeface="Aptos"/>
              </a:rPr>
              <a:t>02</a:t>
            </a:r>
          </a:p>
        </p:txBody>
      </p:sp>
      <p:sp>
        <p:nvSpPr>
          <p:cNvPr id="18" name="TextBox 17"/>
          <p:cNvSpPr txBox="1"/>
          <p:nvPr/>
        </p:nvSpPr>
        <p:spPr>
          <a:xfrm>
            <a:off x="4315968" y="1673352"/>
            <a:ext cx="1325880" cy="164592"/>
          </a:xfrm>
          <a:prstGeom prst="rect">
            <a:avLst/>
          </a:prstGeom>
          <a:noFill/>
        </p:spPr>
        <p:txBody>
          <a:bodyPr wrap="square" lIns="0" rIns="0" tIns="0" bIns="0" anchor="t">
            <a:spAutoFit/>
          </a:bodyPr>
          <a:lstStyle/>
          <a:p>
            <a:pPr algn="r">
              <a:lnSpc>
                <a:spcPct val="100000"/>
              </a:lnSpc>
              <a:spcAft>
                <a:spcPts val="0"/>
              </a:spcAft>
            </a:pPr>
            <a:r>
              <a:rPr sz="740" b="1">
                <a:solidFill>
                  <a:srgbClr val="708399"/>
                </a:solidFill>
                <a:latin typeface="Aptos"/>
              </a:rPr>
              <a:t>STAGE 2</a:t>
            </a:r>
          </a:p>
        </p:txBody>
      </p:sp>
      <p:cxnSp>
        <p:nvCxnSpPr>
          <p:cNvPr id="19" name="Connector 18"/>
          <p:cNvCxnSpPr/>
          <p:nvPr/>
        </p:nvCxnSpPr>
        <p:spPr>
          <a:xfrm>
            <a:off x="3493008" y="2203704"/>
            <a:ext cx="2267712" cy="0"/>
          </a:xfrm>
          <a:prstGeom prst="line">
            <a:avLst/>
          </a:prstGeom>
          <a:ln w="10160">
            <a:solidFill>
              <a:srgbClr val="D7E1EA"/>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3493008" y="2487168"/>
            <a:ext cx="2267712" cy="758952"/>
          </a:xfrm>
          <a:prstGeom prst="rect">
            <a:avLst/>
          </a:prstGeom>
          <a:noFill/>
        </p:spPr>
        <p:txBody>
          <a:bodyPr wrap="square" lIns="0" rIns="0" tIns="0" bIns="0" anchor="t">
            <a:spAutoFit/>
          </a:bodyPr>
          <a:lstStyle/>
          <a:p>
            <a:pPr algn="l">
              <a:lnSpc>
                <a:spcPct val="100000"/>
              </a:lnSpc>
              <a:spcAft>
                <a:spcPts val="0"/>
              </a:spcAft>
            </a:pPr>
            <a:r>
              <a:rPr sz="1500" b="1">
                <a:solidFill>
                  <a:srgbClr val="0B1F3A"/>
                </a:solidFill>
                <a:latin typeface="Aptos Display"/>
              </a:rPr>
              <a:t>Payload Integrators &amp; CROs</a:t>
            </a:r>
          </a:p>
        </p:txBody>
      </p:sp>
      <p:sp>
        <p:nvSpPr>
          <p:cNvPr id="21" name="TextBox 20"/>
          <p:cNvSpPr txBox="1"/>
          <p:nvPr/>
        </p:nvSpPr>
        <p:spPr>
          <a:xfrm>
            <a:off x="3493008" y="3456432"/>
            <a:ext cx="2267712" cy="1600200"/>
          </a:xfrm>
          <a:prstGeom prst="rect">
            <a:avLst/>
          </a:prstGeom>
          <a:noFill/>
        </p:spPr>
        <p:txBody>
          <a:bodyPr wrap="square" lIns="0" rIns="0" tIns="0" bIns="0" anchor="t">
            <a:spAutoFit/>
          </a:bodyPr>
          <a:lstStyle/>
          <a:p>
            <a:pPr algn="l">
              <a:lnSpc>
                <a:spcPct val="104000"/>
              </a:lnSpc>
              <a:spcAft>
                <a:spcPts val="0"/>
              </a:spcAft>
            </a:pPr>
            <a:r>
              <a:rPr sz="1000" b="0">
                <a:solidFill>
                  <a:srgbClr val="50657B"/>
                </a:solidFill>
                <a:latin typeface="Aptos"/>
              </a:rPr>
              <a:t>Partners such as Space Tango provide environmental control, crew interface and downlink services. Samuel outsources non-core integration to move faster and preserve capital.</a:t>
            </a:r>
          </a:p>
        </p:txBody>
      </p:sp>
      <p:sp>
        <p:nvSpPr>
          <p:cNvPr id="22" name="Rounded Rectangle 21"/>
          <p:cNvSpPr/>
          <p:nvPr/>
        </p:nvSpPr>
        <p:spPr>
          <a:xfrm>
            <a:off x="3493008" y="5678424"/>
            <a:ext cx="2267712" cy="347472"/>
          </a:xfrm>
          <a:prstGeom prst="roundRect">
            <a:avLst/>
          </a:prstGeom>
          <a:solidFill>
            <a:srgbClr val="E9EEF4"/>
          </a:solidFill>
          <a:ln w="10160">
            <a:solidFill>
              <a:srgbClr val="E9EE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575304" y="5733288"/>
            <a:ext cx="2103120" cy="173736"/>
          </a:xfrm>
          <a:prstGeom prst="rect">
            <a:avLst/>
          </a:prstGeom>
          <a:noFill/>
        </p:spPr>
        <p:txBody>
          <a:bodyPr wrap="square" lIns="0" rIns="0" tIns="0" bIns="0" anchor="t">
            <a:spAutoFit/>
          </a:bodyPr>
          <a:lstStyle/>
          <a:p>
            <a:pPr algn="ctr">
              <a:lnSpc>
                <a:spcPct val="100000"/>
              </a:lnSpc>
              <a:spcAft>
                <a:spcPts val="0"/>
              </a:spcAft>
            </a:pPr>
            <a:r>
              <a:rPr sz="680" b="1">
                <a:solidFill>
                  <a:srgbClr val="50657B"/>
                </a:solidFill>
                <a:latin typeface="Aptos"/>
              </a:rPr>
              <a:t>SPACE TANGO · NANORACKS / VOYAGER</a:t>
            </a:r>
          </a:p>
        </p:txBody>
      </p:sp>
      <p:sp>
        <p:nvSpPr>
          <p:cNvPr id="24" name="Rounded Rectangle 23"/>
          <p:cNvSpPr/>
          <p:nvPr/>
        </p:nvSpPr>
        <p:spPr>
          <a:xfrm>
            <a:off x="6126480" y="1353312"/>
            <a:ext cx="2679192" cy="4956048"/>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327648" y="1609344"/>
            <a:ext cx="603504" cy="384048"/>
          </a:xfrm>
          <a:prstGeom prst="rect">
            <a:avLst/>
          </a:prstGeom>
          <a:noFill/>
        </p:spPr>
        <p:txBody>
          <a:bodyPr wrap="square" lIns="0" rIns="0" tIns="0" bIns="0" anchor="t">
            <a:spAutoFit/>
          </a:bodyPr>
          <a:lstStyle/>
          <a:p>
            <a:pPr algn="l">
              <a:lnSpc>
                <a:spcPct val="100000"/>
              </a:lnSpc>
              <a:spcAft>
                <a:spcPts val="0"/>
              </a:spcAft>
            </a:pPr>
            <a:r>
              <a:rPr sz="2400" b="1">
                <a:solidFill>
                  <a:srgbClr val="A9BAC8"/>
                </a:solidFill>
                <a:latin typeface="Aptos"/>
              </a:rPr>
              <a:t>03</a:t>
            </a:r>
          </a:p>
        </p:txBody>
      </p:sp>
      <p:sp>
        <p:nvSpPr>
          <p:cNvPr id="26" name="TextBox 25"/>
          <p:cNvSpPr txBox="1"/>
          <p:nvPr/>
        </p:nvSpPr>
        <p:spPr>
          <a:xfrm>
            <a:off x="7150608" y="1673352"/>
            <a:ext cx="1325880" cy="164592"/>
          </a:xfrm>
          <a:prstGeom prst="rect">
            <a:avLst/>
          </a:prstGeom>
          <a:noFill/>
        </p:spPr>
        <p:txBody>
          <a:bodyPr wrap="square" lIns="0" rIns="0" tIns="0" bIns="0" anchor="t">
            <a:spAutoFit/>
          </a:bodyPr>
          <a:lstStyle/>
          <a:p>
            <a:pPr algn="r">
              <a:lnSpc>
                <a:spcPct val="100000"/>
              </a:lnSpc>
              <a:spcAft>
                <a:spcPts val="0"/>
              </a:spcAft>
            </a:pPr>
            <a:r>
              <a:rPr sz="740" b="1">
                <a:solidFill>
                  <a:srgbClr val="708399"/>
                </a:solidFill>
                <a:latin typeface="Aptos"/>
              </a:rPr>
              <a:t>STAGE 3</a:t>
            </a:r>
          </a:p>
        </p:txBody>
      </p:sp>
      <p:cxnSp>
        <p:nvCxnSpPr>
          <p:cNvPr id="27" name="Connector 26"/>
          <p:cNvCxnSpPr/>
          <p:nvPr/>
        </p:nvCxnSpPr>
        <p:spPr>
          <a:xfrm>
            <a:off x="6327648" y="2203704"/>
            <a:ext cx="2267712" cy="0"/>
          </a:xfrm>
          <a:prstGeom prst="line">
            <a:avLst/>
          </a:prstGeom>
          <a:ln w="10160">
            <a:solidFill>
              <a:srgbClr val="D7E1EA"/>
            </a:solidFill>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6327648" y="2487168"/>
            <a:ext cx="2267712" cy="758952"/>
          </a:xfrm>
          <a:prstGeom prst="rect">
            <a:avLst/>
          </a:prstGeom>
          <a:noFill/>
        </p:spPr>
        <p:txBody>
          <a:bodyPr wrap="square" lIns="0" rIns="0" tIns="0" bIns="0" anchor="t">
            <a:spAutoFit/>
          </a:bodyPr>
          <a:lstStyle/>
          <a:p>
            <a:pPr algn="l">
              <a:lnSpc>
                <a:spcPct val="100000"/>
              </a:lnSpc>
              <a:spcAft>
                <a:spcPts val="0"/>
              </a:spcAft>
            </a:pPr>
            <a:r>
              <a:rPr sz="1500" b="1">
                <a:solidFill>
                  <a:srgbClr val="0B1F3A"/>
                </a:solidFill>
                <a:latin typeface="Aptos Display"/>
              </a:rPr>
              <a:t>Pharma &amp; Academic Medical Centres</a:t>
            </a:r>
          </a:p>
        </p:txBody>
      </p:sp>
      <p:sp>
        <p:nvSpPr>
          <p:cNvPr id="29" name="TextBox 28"/>
          <p:cNvSpPr txBox="1"/>
          <p:nvPr/>
        </p:nvSpPr>
        <p:spPr>
          <a:xfrm>
            <a:off x="6327648" y="3456432"/>
            <a:ext cx="2267712" cy="1600200"/>
          </a:xfrm>
          <a:prstGeom prst="rect">
            <a:avLst/>
          </a:prstGeom>
          <a:noFill/>
        </p:spPr>
        <p:txBody>
          <a:bodyPr wrap="square" lIns="0" rIns="0" tIns="0" bIns="0" anchor="t">
            <a:spAutoFit/>
          </a:bodyPr>
          <a:lstStyle/>
          <a:p>
            <a:pPr algn="l">
              <a:lnSpc>
                <a:spcPct val="104000"/>
              </a:lnSpc>
              <a:spcAft>
                <a:spcPts val="0"/>
              </a:spcAft>
            </a:pPr>
            <a:r>
              <a:rPr sz="1000" b="0">
                <a:solidFill>
                  <a:srgbClr val="50657B"/>
                </a:solidFill>
                <a:latin typeface="Aptos"/>
              </a:rPr>
              <a:t>Initial service revenue comes from pharmaceutical R&amp;D groups seeking orbital tissue models for drug screening and NIH-funded academic biotech teams.</a:t>
            </a:r>
          </a:p>
        </p:txBody>
      </p:sp>
      <p:sp>
        <p:nvSpPr>
          <p:cNvPr id="30" name="Rounded Rectangle 29"/>
          <p:cNvSpPr/>
          <p:nvPr/>
        </p:nvSpPr>
        <p:spPr>
          <a:xfrm>
            <a:off x="6327648" y="5678424"/>
            <a:ext cx="2267712" cy="347472"/>
          </a:xfrm>
          <a:prstGeom prst="roundRect">
            <a:avLst/>
          </a:prstGeom>
          <a:solidFill>
            <a:srgbClr val="E9EEF4"/>
          </a:solidFill>
          <a:ln w="10160">
            <a:solidFill>
              <a:srgbClr val="E9EE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409944" y="5733288"/>
            <a:ext cx="2103120" cy="173736"/>
          </a:xfrm>
          <a:prstGeom prst="rect">
            <a:avLst/>
          </a:prstGeom>
          <a:noFill/>
        </p:spPr>
        <p:txBody>
          <a:bodyPr wrap="square" lIns="0" rIns="0" tIns="0" bIns="0" anchor="t">
            <a:spAutoFit/>
          </a:bodyPr>
          <a:lstStyle/>
          <a:p>
            <a:pPr algn="ctr">
              <a:lnSpc>
                <a:spcPct val="100000"/>
              </a:lnSpc>
              <a:spcAft>
                <a:spcPts val="0"/>
              </a:spcAft>
            </a:pPr>
            <a:r>
              <a:rPr sz="680" b="1">
                <a:solidFill>
                  <a:srgbClr val="50657B"/>
                </a:solidFill>
                <a:latin typeface="Aptos"/>
              </a:rPr>
              <a:t>PHARMA R&amp;D · NIH-FUNDED LABS</a:t>
            </a:r>
          </a:p>
        </p:txBody>
      </p:sp>
      <p:sp>
        <p:nvSpPr>
          <p:cNvPr id="32" name="Rounded Rectangle 31"/>
          <p:cNvSpPr/>
          <p:nvPr/>
        </p:nvSpPr>
        <p:spPr>
          <a:xfrm>
            <a:off x="8961120" y="1353312"/>
            <a:ext cx="2679192" cy="4956048"/>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162288" y="1609344"/>
            <a:ext cx="603504" cy="384048"/>
          </a:xfrm>
          <a:prstGeom prst="rect">
            <a:avLst/>
          </a:prstGeom>
          <a:noFill/>
        </p:spPr>
        <p:txBody>
          <a:bodyPr wrap="square" lIns="0" rIns="0" tIns="0" bIns="0" anchor="t">
            <a:spAutoFit/>
          </a:bodyPr>
          <a:lstStyle/>
          <a:p>
            <a:pPr algn="l">
              <a:lnSpc>
                <a:spcPct val="100000"/>
              </a:lnSpc>
              <a:spcAft>
                <a:spcPts val="0"/>
              </a:spcAft>
            </a:pPr>
            <a:r>
              <a:rPr sz="2400" b="1">
                <a:solidFill>
                  <a:srgbClr val="A9BAC8"/>
                </a:solidFill>
                <a:latin typeface="Aptos"/>
              </a:rPr>
              <a:t>04</a:t>
            </a:r>
          </a:p>
        </p:txBody>
      </p:sp>
      <p:sp>
        <p:nvSpPr>
          <p:cNvPr id="34" name="TextBox 33"/>
          <p:cNvSpPr txBox="1"/>
          <p:nvPr/>
        </p:nvSpPr>
        <p:spPr>
          <a:xfrm>
            <a:off x="9985248" y="1673352"/>
            <a:ext cx="1325880" cy="164592"/>
          </a:xfrm>
          <a:prstGeom prst="rect">
            <a:avLst/>
          </a:prstGeom>
          <a:noFill/>
        </p:spPr>
        <p:txBody>
          <a:bodyPr wrap="square" lIns="0" rIns="0" tIns="0" bIns="0" anchor="t">
            <a:spAutoFit/>
          </a:bodyPr>
          <a:lstStyle/>
          <a:p>
            <a:pPr algn="r">
              <a:lnSpc>
                <a:spcPct val="100000"/>
              </a:lnSpc>
              <a:spcAft>
                <a:spcPts val="0"/>
              </a:spcAft>
            </a:pPr>
            <a:r>
              <a:rPr sz="740" b="1">
                <a:solidFill>
                  <a:srgbClr val="708399"/>
                </a:solidFill>
                <a:latin typeface="Aptos"/>
              </a:rPr>
              <a:t>STAGE 4</a:t>
            </a:r>
          </a:p>
        </p:txBody>
      </p:sp>
      <p:cxnSp>
        <p:nvCxnSpPr>
          <p:cNvPr id="35" name="Connector 34"/>
          <p:cNvCxnSpPr/>
          <p:nvPr/>
        </p:nvCxnSpPr>
        <p:spPr>
          <a:xfrm>
            <a:off x="9162288" y="2203704"/>
            <a:ext cx="2267712" cy="0"/>
          </a:xfrm>
          <a:prstGeom prst="line">
            <a:avLst/>
          </a:prstGeom>
          <a:ln w="10160">
            <a:solidFill>
              <a:srgbClr val="D7E1EA"/>
            </a:solidFill>
          </a:ln>
        </p:spPr>
        <p:style>
          <a:lnRef idx="2">
            <a:schemeClr val="accent1"/>
          </a:lnRef>
          <a:fillRef idx="0">
            <a:schemeClr val="accent1"/>
          </a:fillRef>
          <a:effectRef idx="1">
            <a:schemeClr val="accent1"/>
          </a:effectRef>
          <a:fontRef idx="minor">
            <a:schemeClr val="tx1"/>
          </a:fontRef>
        </p:style>
      </p:cxnSp>
      <p:sp>
        <p:nvSpPr>
          <p:cNvPr id="36" name="TextBox 35"/>
          <p:cNvSpPr txBox="1"/>
          <p:nvPr/>
        </p:nvSpPr>
        <p:spPr>
          <a:xfrm>
            <a:off x="9162288" y="2487168"/>
            <a:ext cx="2267712" cy="758952"/>
          </a:xfrm>
          <a:prstGeom prst="rect">
            <a:avLst/>
          </a:prstGeom>
          <a:noFill/>
        </p:spPr>
        <p:txBody>
          <a:bodyPr wrap="square" lIns="0" rIns="0" tIns="0" bIns="0" anchor="t">
            <a:spAutoFit/>
          </a:bodyPr>
          <a:lstStyle/>
          <a:p>
            <a:pPr algn="l">
              <a:lnSpc>
                <a:spcPct val="100000"/>
              </a:lnSpc>
              <a:spcAft>
                <a:spcPts val="0"/>
              </a:spcAft>
            </a:pPr>
            <a:r>
              <a:rPr sz="1500" b="1">
                <a:solidFill>
                  <a:srgbClr val="0B1F3A"/>
                </a:solidFill>
                <a:latin typeface="Aptos Display"/>
              </a:rPr>
              <a:t>Government &amp; Grant Agencies</a:t>
            </a:r>
          </a:p>
        </p:txBody>
      </p:sp>
      <p:sp>
        <p:nvSpPr>
          <p:cNvPr id="37" name="TextBox 36"/>
          <p:cNvSpPr txBox="1"/>
          <p:nvPr/>
        </p:nvSpPr>
        <p:spPr>
          <a:xfrm>
            <a:off x="9162288" y="3456432"/>
            <a:ext cx="2267712" cy="1600200"/>
          </a:xfrm>
          <a:prstGeom prst="rect">
            <a:avLst/>
          </a:prstGeom>
          <a:noFill/>
        </p:spPr>
        <p:txBody>
          <a:bodyPr wrap="square" lIns="0" rIns="0" tIns="0" bIns="0" anchor="t">
            <a:spAutoFit/>
          </a:bodyPr>
          <a:lstStyle/>
          <a:p>
            <a:pPr algn="l">
              <a:lnSpc>
                <a:spcPct val="104000"/>
              </a:lnSpc>
              <a:spcAft>
                <a:spcPts val="0"/>
              </a:spcAft>
            </a:pPr>
            <a:r>
              <a:rPr sz="1000" b="0">
                <a:solidFill>
                  <a:srgbClr val="50657B"/>
                </a:solidFill>
                <a:latin typeface="Aptos"/>
              </a:rPr>
              <a:t>NASA, ESA, NIH and DoD programs provide non-dilutive capital that de-risks early development and validates the technology for commercial buyers.</a:t>
            </a:r>
          </a:p>
        </p:txBody>
      </p:sp>
      <p:sp>
        <p:nvSpPr>
          <p:cNvPr id="38" name="Rounded Rectangle 37"/>
          <p:cNvSpPr/>
          <p:nvPr/>
        </p:nvSpPr>
        <p:spPr>
          <a:xfrm>
            <a:off x="9162288" y="5678424"/>
            <a:ext cx="2267712" cy="347472"/>
          </a:xfrm>
          <a:prstGeom prst="roundRect">
            <a:avLst/>
          </a:prstGeom>
          <a:solidFill>
            <a:srgbClr val="E9EEF4"/>
          </a:solidFill>
          <a:ln w="10160">
            <a:solidFill>
              <a:srgbClr val="E9EEF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9244584" y="5733288"/>
            <a:ext cx="2103120" cy="173736"/>
          </a:xfrm>
          <a:prstGeom prst="rect">
            <a:avLst/>
          </a:prstGeom>
          <a:noFill/>
        </p:spPr>
        <p:txBody>
          <a:bodyPr wrap="square" lIns="0" rIns="0" tIns="0" bIns="0" anchor="t">
            <a:spAutoFit/>
          </a:bodyPr>
          <a:lstStyle/>
          <a:p>
            <a:pPr algn="ctr">
              <a:lnSpc>
                <a:spcPct val="100000"/>
              </a:lnSpc>
              <a:spcAft>
                <a:spcPts val="0"/>
              </a:spcAft>
            </a:pPr>
            <a:r>
              <a:rPr sz="680" b="1">
                <a:solidFill>
                  <a:srgbClr val="50657B"/>
                </a:solidFill>
                <a:latin typeface="Aptos"/>
              </a:rPr>
              <a:t>NASA · ESA · NIH NEI · DOD MTEC</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Rectangle 1"/>
          <p:cNvSpPr/>
          <p:nvPr/>
        </p:nvSpPr>
        <p:spPr>
          <a:xfrm>
            <a:off x="457200" y="256032"/>
            <a:ext cx="54864" cy="219456"/>
          </a:xfrm>
          <a:prstGeom prst="rect">
            <a:avLst/>
          </a:prstGeom>
          <a:solidFill>
            <a:srgbClr val="00A991"/>
          </a:solidFill>
          <a:ln>
            <a:solidFill>
              <a:srgbClr val="00A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3504" y="256032"/>
            <a:ext cx="4114800" cy="164592"/>
          </a:xfrm>
          <a:prstGeom prst="rect">
            <a:avLst/>
          </a:prstGeom>
          <a:noFill/>
        </p:spPr>
        <p:txBody>
          <a:bodyPr wrap="square" lIns="0" rIns="0" tIns="0" bIns="0" anchor="t">
            <a:spAutoFit/>
          </a:bodyPr>
          <a:lstStyle/>
          <a:p>
            <a:pPr algn="l">
              <a:lnSpc>
                <a:spcPct val="100000"/>
              </a:lnSpc>
              <a:spcAft>
                <a:spcPts val="0"/>
              </a:spcAft>
            </a:pPr>
            <a:r>
              <a:rPr sz="770" b="1">
                <a:solidFill>
                  <a:srgbClr val="087F72"/>
                </a:solidFill>
                <a:latin typeface="Aptos"/>
              </a:rPr>
              <a:t>FINANCIALS — ILLUSTRATIVE</a:t>
            </a:r>
          </a:p>
        </p:txBody>
      </p:sp>
      <p:sp>
        <p:nvSpPr>
          <p:cNvPr id="4" name="TextBox 3"/>
          <p:cNvSpPr txBox="1"/>
          <p:nvPr/>
        </p:nvSpPr>
        <p:spPr>
          <a:xfrm>
            <a:off x="457200" y="530352"/>
            <a:ext cx="11064240" cy="475488"/>
          </a:xfrm>
          <a:prstGeom prst="rect">
            <a:avLst/>
          </a:prstGeom>
          <a:noFill/>
        </p:spPr>
        <p:txBody>
          <a:bodyPr wrap="square" lIns="0" rIns="0" tIns="0" bIns="0" anchor="t">
            <a:spAutoFit/>
          </a:bodyPr>
          <a:lstStyle/>
          <a:p>
            <a:pPr algn="l">
              <a:lnSpc>
                <a:spcPct val="100000"/>
              </a:lnSpc>
              <a:spcAft>
                <a:spcPts val="0"/>
              </a:spcAft>
            </a:pPr>
            <a:r>
              <a:rPr sz="2550" b="1">
                <a:solidFill>
                  <a:srgbClr val="0B1F3A"/>
                </a:solidFill>
                <a:latin typeface="Aptos Display"/>
              </a:rPr>
              <a:t>Five-Year Revenue Model</a:t>
            </a:r>
          </a:p>
        </p:txBody>
      </p:sp>
      <p:sp>
        <p:nvSpPr>
          <p:cNvPr id="5" name="TextBox 4"/>
          <p:cNvSpPr txBox="1"/>
          <p:nvPr/>
        </p:nvSpPr>
        <p:spPr>
          <a:xfrm>
            <a:off x="457200" y="1051560"/>
            <a:ext cx="11064240" cy="246888"/>
          </a:xfrm>
          <a:prstGeom prst="rect">
            <a:avLst/>
          </a:prstGeom>
          <a:noFill/>
        </p:spPr>
        <p:txBody>
          <a:bodyPr wrap="square" lIns="0" rIns="0" tIns="0" bIns="0" anchor="t">
            <a:spAutoFit/>
          </a:bodyPr>
          <a:lstStyle/>
          <a:p>
            <a:pPr algn="l">
              <a:lnSpc>
                <a:spcPct val="100000"/>
              </a:lnSpc>
              <a:spcAft>
                <a:spcPts val="0"/>
              </a:spcAft>
            </a:pPr>
            <a:r>
              <a:rPr sz="1019" b="0">
                <a:solidFill>
                  <a:srgbClr val="50657B"/>
                </a:solidFill>
                <a:latin typeface="Aptos"/>
              </a:rPr>
              <a:t>Illustrative projections for investor discussion only; actual results may vary materially.</a:t>
            </a:r>
          </a:p>
        </p:txBody>
      </p:sp>
      <p:cxnSp>
        <p:nvCxnSpPr>
          <p:cNvPr id="6" name="Connector 5"/>
          <p:cNvCxnSpPr/>
          <p:nvPr/>
        </p:nvCxnSpPr>
        <p:spPr>
          <a:xfrm>
            <a:off x="457200" y="6510528"/>
            <a:ext cx="11274552" cy="0"/>
          </a:xfrm>
          <a:prstGeom prst="line">
            <a:avLst/>
          </a:prstGeom>
          <a:ln w="7620">
            <a:solidFill>
              <a:srgbClr val="D7E1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57200" y="6565392"/>
            <a:ext cx="1645920" cy="109728"/>
          </a:xfrm>
          <a:prstGeom prst="rect">
            <a:avLst/>
          </a:prstGeom>
          <a:noFill/>
        </p:spPr>
        <p:txBody>
          <a:bodyPr wrap="square" lIns="0" rIns="0" tIns="0" bIns="0" anchor="t">
            <a:spAutoFit/>
          </a:bodyPr>
          <a:lstStyle/>
          <a:p>
            <a:pPr algn="l">
              <a:lnSpc>
                <a:spcPct val="100000"/>
              </a:lnSpc>
              <a:spcAft>
                <a:spcPts val="0"/>
              </a:spcAft>
            </a:pPr>
            <a:r>
              <a:rPr sz="670" b="1">
                <a:solidFill>
                  <a:srgbClr val="708399"/>
                </a:solidFill>
                <a:latin typeface="Aptos"/>
              </a:rPr>
              <a:t>SAMUEL SPACE</a:t>
            </a:r>
          </a:p>
        </p:txBody>
      </p:sp>
      <p:sp>
        <p:nvSpPr>
          <p:cNvPr id="8" name="TextBox 7"/>
          <p:cNvSpPr txBox="1"/>
          <p:nvPr/>
        </p:nvSpPr>
        <p:spPr>
          <a:xfrm>
            <a:off x="10927080" y="6565392"/>
            <a:ext cx="804672" cy="109728"/>
          </a:xfrm>
          <a:prstGeom prst="rect">
            <a:avLst/>
          </a:prstGeom>
          <a:noFill/>
        </p:spPr>
        <p:txBody>
          <a:bodyPr wrap="square" lIns="0" rIns="0" tIns="0" bIns="0" anchor="t">
            <a:spAutoFit/>
          </a:bodyPr>
          <a:lstStyle/>
          <a:p>
            <a:pPr algn="r">
              <a:lnSpc>
                <a:spcPct val="100000"/>
              </a:lnSpc>
              <a:spcAft>
                <a:spcPts val="0"/>
              </a:spcAft>
            </a:pPr>
            <a:r>
              <a:rPr sz="670" b="1">
                <a:solidFill>
                  <a:srgbClr val="708399"/>
                </a:solidFill>
                <a:latin typeface="Aptos"/>
              </a:rPr>
              <a:t>16 / 21</a:t>
            </a:r>
          </a:p>
        </p:txBody>
      </p:sp>
      <p:graphicFrame>
        <p:nvGraphicFramePr>
          <p:cNvPr id="9" name="Chart 8"/>
          <p:cNvGraphicFramePr>
            <a:graphicFrameLocks noGrp="1"/>
          </p:cNvGraphicFramePr>
          <p:nvPr/>
        </p:nvGraphicFramePr>
        <p:xfrm>
          <a:off x="457200" y="1481328"/>
          <a:ext cx="6629400" cy="4645152"/>
        </p:xfrm>
        <a:graphic>
          <a:graphicData uri="http://schemas.openxmlformats.org/drawingml/2006/chart">
            <c:chart xmlns:c="http://schemas.openxmlformats.org/drawingml/2006/chart" r:id="rId2"/>
          </a:graphicData>
        </a:graphic>
      </p:graphicFrame>
      <p:sp>
        <p:nvSpPr>
          <p:cNvPr id="10" name="TextBox 9"/>
          <p:cNvSpPr txBox="1"/>
          <p:nvPr/>
        </p:nvSpPr>
        <p:spPr>
          <a:xfrm>
            <a:off x="658368" y="1600200"/>
            <a:ext cx="2103120" cy="164592"/>
          </a:xfrm>
          <a:prstGeom prst="rect">
            <a:avLst/>
          </a:prstGeom>
          <a:noFill/>
        </p:spPr>
        <p:txBody>
          <a:bodyPr wrap="square" lIns="0" rIns="0" tIns="0" bIns="0" anchor="t">
            <a:spAutoFit/>
          </a:bodyPr>
          <a:lstStyle/>
          <a:p>
            <a:pPr algn="l">
              <a:lnSpc>
                <a:spcPct val="100000"/>
              </a:lnSpc>
              <a:spcAft>
                <a:spcPts val="0"/>
              </a:spcAft>
            </a:pPr>
            <a:r>
              <a:rPr sz="770" b="1">
                <a:solidFill>
                  <a:srgbClr val="708399"/>
                </a:solidFill>
                <a:latin typeface="Aptos"/>
              </a:rPr>
              <a:t>REVENUE BY YEAR · USD $M</a:t>
            </a:r>
          </a:p>
        </p:txBody>
      </p:sp>
      <p:graphicFrame>
        <p:nvGraphicFramePr>
          <p:cNvPr id="11" name="Table 10"/>
          <p:cNvGraphicFramePr>
            <a:graphicFrameLocks noGrp="1"/>
          </p:cNvGraphicFramePr>
          <p:nvPr/>
        </p:nvGraphicFramePr>
        <p:xfrm>
          <a:off x="7278624" y="1481328"/>
          <a:ext cx="4453128" cy="4636008"/>
        </p:xfrm>
        <a:graphic>
          <a:graphicData uri="http://schemas.openxmlformats.org/drawingml/2006/table">
            <a:tbl>
              <a:tblPr firstRow="1" bandRow="1">
                <a:tableStyleId>{5C22544A-7EE6-4342-B048-85BDC9FD1C3A}</a:tableStyleId>
              </a:tblPr>
              <a:tblGrid>
                <a:gridCol w="777240"/>
                <a:gridCol w="822960"/>
                <a:gridCol w="2852928"/>
              </a:tblGrid>
              <a:tr h="475488">
                <a:tc>
                  <a:txBody>
                    <a:bodyPr/>
                    <a:lstStyle/>
                    <a:p>
                      <a:pPr algn="l"/>
                      <a:r>
                        <a:rPr sz="780" b="1">
                          <a:solidFill>
                            <a:srgbClr val="FFFFFF"/>
                          </a:solidFill>
                          <a:latin typeface="Aptos"/>
                        </a:rPr>
                        <a:t>YEAR</a:t>
                      </a:r>
                    </a:p>
                  </a:txBody>
                  <a:tcPr marL="109728" marR="91440" marT="73152" marB="54864" anchor="ctr">
                    <a:solidFill>
                      <a:srgbClr val="0B1F3A"/>
                    </a:solidFill>
                  </a:tcPr>
                </a:tc>
                <a:tc>
                  <a:txBody>
                    <a:bodyPr/>
                    <a:lstStyle/>
                    <a:p>
                      <a:pPr algn="l"/>
                      <a:r>
                        <a:rPr sz="780" b="1">
                          <a:solidFill>
                            <a:srgbClr val="FFFFFF"/>
                          </a:solidFill>
                          <a:latin typeface="Aptos"/>
                        </a:rPr>
                        <a:t>TOTAL</a:t>
                      </a:r>
                    </a:p>
                  </a:txBody>
                  <a:tcPr marL="109728" marR="91440" marT="73152" marB="54864" anchor="ctr">
                    <a:solidFill>
                      <a:srgbClr val="0B1F3A"/>
                    </a:solidFill>
                  </a:tcPr>
                </a:tc>
                <a:tc>
                  <a:txBody>
                    <a:bodyPr/>
                    <a:lstStyle/>
                    <a:p>
                      <a:pPr algn="l"/>
                      <a:r>
                        <a:rPr sz="780" b="1">
                          <a:solidFill>
                            <a:srgbClr val="FFFFFF"/>
                          </a:solidFill>
                          <a:latin typeface="Aptos"/>
                        </a:rPr>
                        <a:t>KEY DRIVER</a:t>
                      </a:r>
                    </a:p>
                  </a:txBody>
                  <a:tcPr marL="109728" marR="91440" marT="73152" marB="54864" anchor="ctr">
                    <a:solidFill>
                      <a:srgbClr val="0B1F3A"/>
                    </a:solidFill>
                  </a:tcPr>
                </a:tc>
              </a:tr>
              <a:tr h="832104">
                <a:tc>
                  <a:txBody>
                    <a:bodyPr/>
                    <a:lstStyle/>
                    <a:p>
                      <a:pPr algn="l"/>
                      <a:r>
                        <a:rPr sz="1019" b="1">
                          <a:solidFill>
                            <a:srgbClr val="0B1F3A"/>
                          </a:solidFill>
                          <a:latin typeface="Aptos"/>
                        </a:rPr>
                        <a:t>Y1</a:t>
                      </a:r>
                    </a:p>
                  </a:txBody>
                  <a:tcPr marL="109728" marR="91440" marT="73152" marB="54864" anchor="ctr">
                    <a:solidFill>
                      <a:srgbClr val="FFFFFF"/>
                    </a:solidFill>
                  </a:tcPr>
                </a:tc>
                <a:tc>
                  <a:txBody>
                    <a:bodyPr/>
                    <a:lstStyle/>
                    <a:p>
                      <a:pPr algn="l"/>
                      <a:r>
                        <a:rPr sz="1019" b="1">
                          <a:solidFill>
                            <a:srgbClr val="0B1F3A"/>
                          </a:solidFill>
                          <a:latin typeface="Aptos"/>
                        </a:rPr>
                        <a:t>$0.8M</a:t>
                      </a:r>
                    </a:p>
                  </a:txBody>
                  <a:tcPr marL="109728" marR="91440" marT="73152" marB="54864" anchor="ctr">
                    <a:solidFill>
                      <a:srgbClr val="FFFFFF"/>
                    </a:solidFill>
                  </a:tcPr>
                </a:tc>
                <a:tc>
                  <a:txBody>
                    <a:bodyPr/>
                    <a:lstStyle/>
                    <a:p>
                      <a:pPr algn="l"/>
                      <a:r>
                        <a:rPr sz="910" b="0">
                          <a:solidFill>
                            <a:srgbClr val="50657B"/>
                          </a:solidFill>
                          <a:latin typeface="Aptos"/>
                        </a:rPr>
                        <a:t>First service contracts + NASA grant</a:t>
                      </a:r>
                    </a:p>
                  </a:txBody>
                  <a:tcPr marL="109728" marR="91440" marT="73152" marB="54864" anchor="ctr">
                    <a:solidFill>
                      <a:srgbClr val="FFFFFF"/>
                    </a:solidFill>
                  </a:tcPr>
                </a:tc>
              </a:tr>
              <a:tr h="832104">
                <a:tc>
                  <a:txBody>
                    <a:bodyPr/>
                    <a:lstStyle/>
                    <a:p>
                      <a:pPr algn="l"/>
                      <a:r>
                        <a:rPr sz="1019" b="1">
                          <a:solidFill>
                            <a:srgbClr val="0B1F3A"/>
                          </a:solidFill>
                          <a:latin typeface="Aptos"/>
                        </a:rPr>
                        <a:t>Y2</a:t>
                      </a:r>
                    </a:p>
                  </a:txBody>
                  <a:tcPr marL="109728" marR="91440" marT="73152" marB="54864" anchor="ctr">
                    <a:solidFill>
                      <a:srgbClr val="F1F5F8"/>
                    </a:solidFill>
                  </a:tcPr>
                </a:tc>
                <a:tc>
                  <a:txBody>
                    <a:bodyPr/>
                    <a:lstStyle/>
                    <a:p>
                      <a:pPr algn="l"/>
                      <a:r>
                        <a:rPr sz="1019" b="1">
                          <a:solidFill>
                            <a:srgbClr val="0B1F3A"/>
                          </a:solidFill>
                          <a:latin typeface="Aptos"/>
                        </a:rPr>
                        <a:t>$2.4M</a:t>
                      </a:r>
                    </a:p>
                  </a:txBody>
                  <a:tcPr marL="109728" marR="91440" marT="73152" marB="54864" anchor="ctr">
                    <a:solidFill>
                      <a:srgbClr val="F1F5F8"/>
                    </a:solidFill>
                  </a:tcPr>
                </a:tc>
                <a:tc>
                  <a:txBody>
                    <a:bodyPr/>
                    <a:lstStyle/>
                    <a:p>
                      <a:pPr algn="l"/>
                      <a:r>
                        <a:rPr sz="910" b="0">
                          <a:solidFill>
                            <a:srgbClr val="50657B"/>
                          </a:solidFill>
                          <a:latin typeface="Aptos"/>
                        </a:rPr>
                        <a:t>Expanded services + IP licensing launch</a:t>
                      </a:r>
                    </a:p>
                  </a:txBody>
                  <a:tcPr marL="109728" marR="91440" marT="73152" marB="54864" anchor="ctr">
                    <a:solidFill>
                      <a:srgbClr val="F1F5F8"/>
                    </a:solidFill>
                  </a:tcPr>
                </a:tc>
              </a:tr>
              <a:tr h="832104">
                <a:tc>
                  <a:txBody>
                    <a:bodyPr/>
                    <a:lstStyle/>
                    <a:p>
                      <a:pPr algn="l"/>
                      <a:r>
                        <a:rPr sz="1019" b="1">
                          <a:solidFill>
                            <a:srgbClr val="0B1F3A"/>
                          </a:solidFill>
                          <a:latin typeface="Aptos"/>
                        </a:rPr>
                        <a:t>Y3</a:t>
                      </a:r>
                    </a:p>
                  </a:txBody>
                  <a:tcPr marL="109728" marR="91440" marT="73152" marB="54864" anchor="ctr">
                    <a:solidFill>
                      <a:srgbClr val="FFFFFF"/>
                    </a:solidFill>
                  </a:tcPr>
                </a:tc>
                <a:tc>
                  <a:txBody>
                    <a:bodyPr/>
                    <a:lstStyle/>
                    <a:p>
                      <a:pPr algn="l"/>
                      <a:r>
                        <a:rPr sz="1019" b="1">
                          <a:solidFill>
                            <a:srgbClr val="0B1F3A"/>
                          </a:solidFill>
                          <a:latin typeface="Aptos"/>
                        </a:rPr>
                        <a:t>$6.1M</a:t>
                      </a:r>
                    </a:p>
                  </a:txBody>
                  <a:tcPr marL="109728" marR="91440" marT="73152" marB="54864" anchor="ctr">
                    <a:solidFill>
                      <a:srgbClr val="FFFFFF"/>
                    </a:solidFill>
                  </a:tcPr>
                </a:tc>
                <a:tc>
                  <a:txBody>
                    <a:bodyPr/>
                    <a:lstStyle/>
                    <a:p>
                      <a:pPr algn="l"/>
                      <a:r>
                        <a:rPr sz="910" b="0">
                          <a:solidFill>
                            <a:srgbClr val="50657B"/>
                          </a:solidFill>
                          <a:latin typeface="Aptos"/>
                        </a:rPr>
                        <a:t>Cardiac / ortho milestones + Starlab start</a:t>
                      </a:r>
                    </a:p>
                  </a:txBody>
                  <a:tcPr marL="109728" marR="91440" marT="73152" marB="54864" anchor="ctr">
                    <a:solidFill>
                      <a:srgbClr val="FFFFFF"/>
                    </a:solidFill>
                  </a:tcPr>
                </a:tc>
              </a:tr>
              <a:tr h="832104">
                <a:tc>
                  <a:txBody>
                    <a:bodyPr/>
                    <a:lstStyle/>
                    <a:p>
                      <a:pPr algn="l"/>
                      <a:r>
                        <a:rPr sz="1019" b="1">
                          <a:solidFill>
                            <a:srgbClr val="0B1F3A"/>
                          </a:solidFill>
                          <a:latin typeface="Aptos"/>
                        </a:rPr>
                        <a:t>Y4</a:t>
                      </a:r>
                    </a:p>
                  </a:txBody>
                  <a:tcPr marL="109728" marR="91440" marT="73152" marB="54864" anchor="ctr">
                    <a:solidFill>
                      <a:srgbClr val="F1F5F8"/>
                    </a:solidFill>
                  </a:tcPr>
                </a:tc>
                <a:tc>
                  <a:txBody>
                    <a:bodyPr/>
                    <a:lstStyle/>
                    <a:p>
                      <a:pPr algn="l"/>
                      <a:r>
                        <a:rPr sz="1019" b="1">
                          <a:solidFill>
                            <a:srgbClr val="0B1F3A"/>
                          </a:solidFill>
                          <a:latin typeface="Aptos"/>
                        </a:rPr>
                        <a:t>$13.5M</a:t>
                      </a:r>
                    </a:p>
                  </a:txBody>
                  <a:tcPr marL="109728" marR="91440" marT="73152" marB="54864" anchor="ctr">
                    <a:solidFill>
                      <a:srgbClr val="F1F5F8"/>
                    </a:solidFill>
                  </a:tcPr>
                </a:tc>
                <a:tc>
                  <a:txBody>
                    <a:bodyPr/>
                    <a:lstStyle/>
                    <a:p>
                      <a:pPr algn="l"/>
                      <a:r>
                        <a:rPr sz="910" b="0">
                          <a:solidFill>
                            <a:srgbClr val="50657B"/>
                          </a:solidFill>
                          <a:latin typeface="Aptos"/>
                        </a:rPr>
                        <a:t>IP licensing deals + multi-station ops</a:t>
                      </a:r>
                    </a:p>
                  </a:txBody>
                  <a:tcPr marL="109728" marR="91440" marT="73152" marB="54864" anchor="ctr">
                    <a:solidFill>
                      <a:srgbClr val="F1F5F8"/>
                    </a:solidFill>
                  </a:tcPr>
                </a:tc>
              </a:tr>
              <a:tr h="832104">
                <a:tc>
                  <a:txBody>
                    <a:bodyPr/>
                    <a:lstStyle/>
                    <a:p>
                      <a:pPr algn="l"/>
                      <a:r>
                        <a:rPr sz="1019" b="1">
                          <a:solidFill>
                            <a:srgbClr val="0B1F3A"/>
                          </a:solidFill>
                          <a:latin typeface="Aptos"/>
                        </a:rPr>
                        <a:t>Y5</a:t>
                      </a:r>
                    </a:p>
                  </a:txBody>
                  <a:tcPr marL="109728" marR="91440" marT="73152" marB="54864" anchor="ctr">
                    <a:solidFill>
                      <a:srgbClr val="EDF9F6"/>
                    </a:solidFill>
                  </a:tcPr>
                </a:tc>
                <a:tc>
                  <a:txBody>
                    <a:bodyPr/>
                    <a:lstStyle/>
                    <a:p>
                      <a:pPr algn="l"/>
                      <a:r>
                        <a:rPr sz="1019" b="1">
                          <a:solidFill>
                            <a:srgbClr val="0B1F3A"/>
                          </a:solidFill>
                          <a:latin typeface="Aptos"/>
                        </a:rPr>
                        <a:t>$24.2M</a:t>
                      </a:r>
                    </a:p>
                  </a:txBody>
                  <a:tcPr marL="109728" marR="91440" marT="73152" marB="54864" anchor="ctr">
                    <a:solidFill>
                      <a:srgbClr val="EDF9F6"/>
                    </a:solidFill>
                  </a:tcPr>
                </a:tc>
                <a:tc>
                  <a:txBody>
                    <a:bodyPr/>
                    <a:lstStyle/>
                    <a:p>
                      <a:pPr algn="l"/>
                      <a:r>
                        <a:rPr sz="910" b="0">
                          <a:solidFill>
                            <a:srgbClr val="50657B"/>
                          </a:solidFill>
                          <a:latin typeface="Aptos"/>
                        </a:rPr>
                        <a:t>Full vertical scale-up across four verticals</a:t>
                      </a:r>
                    </a:p>
                  </a:txBody>
                  <a:tcPr marL="109728" marR="91440" marT="73152" marB="54864" anchor="ctr">
                    <a:solidFill>
                      <a:srgbClr val="EDF9F6"/>
                    </a:solidFill>
                  </a:tcPr>
                </a:tc>
              </a:tr>
            </a:tbl>
          </a:graphicData>
        </a:graphic>
      </p:graphicFrame>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Rectangle 1"/>
          <p:cNvSpPr/>
          <p:nvPr/>
        </p:nvSpPr>
        <p:spPr>
          <a:xfrm>
            <a:off x="457200" y="256032"/>
            <a:ext cx="54864" cy="219456"/>
          </a:xfrm>
          <a:prstGeom prst="rect">
            <a:avLst/>
          </a:prstGeom>
          <a:solidFill>
            <a:srgbClr val="00A991"/>
          </a:solidFill>
          <a:ln>
            <a:solidFill>
              <a:srgbClr val="00A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3504" y="256032"/>
            <a:ext cx="4114800" cy="164592"/>
          </a:xfrm>
          <a:prstGeom prst="rect">
            <a:avLst/>
          </a:prstGeom>
          <a:noFill/>
        </p:spPr>
        <p:txBody>
          <a:bodyPr wrap="square" lIns="0" rIns="0" tIns="0" bIns="0" anchor="t">
            <a:spAutoFit/>
          </a:bodyPr>
          <a:lstStyle/>
          <a:p>
            <a:pPr algn="l">
              <a:lnSpc>
                <a:spcPct val="100000"/>
              </a:lnSpc>
              <a:spcAft>
                <a:spcPts val="0"/>
              </a:spcAft>
            </a:pPr>
            <a:r>
              <a:rPr sz="770" b="1">
                <a:solidFill>
                  <a:srgbClr val="087F72"/>
                </a:solidFill>
                <a:latin typeface="Aptos"/>
              </a:rPr>
              <a:t>THE ASK</a:t>
            </a:r>
          </a:p>
        </p:txBody>
      </p:sp>
      <p:sp>
        <p:nvSpPr>
          <p:cNvPr id="4" name="TextBox 3"/>
          <p:cNvSpPr txBox="1"/>
          <p:nvPr/>
        </p:nvSpPr>
        <p:spPr>
          <a:xfrm>
            <a:off x="457200" y="530352"/>
            <a:ext cx="11064240" cy="475488"/>
          </a:xfrm>
          <a:prstGeom prst="rect">
            <a:avLst/>
          </a:prstGeom>
          <a:noFill/>
        </p:spPr>
        <p:txBody>
          <a:bodyPr wrap="square" lIns="0" rIns="0" tIns="0" bIns="0" anchor="t">
            <a:spAutoFit/>
          </a:bodyPr>
          <a:lstStyle/>
          <a:p>
            <a:pPr algn="l">
              <a:lnSpc>
                <a:spcPct val="100000"/>
              </a:lnSpc>
              <a:spcAft>
                <a:spcPts val="0"/>
              </a:spcAft>
            </a:pPr>
            <a:r>
              <a:rPr sz="2550" b="1">
                <a:solidFill>
                  <a:srgbClr val="0B1F3A"/>
                </a:solidFill>
                <a:latin typeface="Aptos Display"/>
              </a:rPr>
              <a:t>An $18M Series A to Reach First Commercial Flight</a:t>
            </a:r>
          </a:p>
        </p:txBody>
      </p:sp>
      <p:cxnSp>
        <p:nvCxnSpPr>
          <p:cNvPr id="5" name="Connector 4"/>
          <p:cNvCxnSpPr/>
          <p:nvPr/>
        </p:nvCxnSpPr>
        <p:spPr>
          <a:xfrm>
            <a:off x="457200" y="6510528"/>
            <a:ext cx="11274552" cy="0"/>
          </a:xfrm>
          <a:prstGeom prst="line">
            <a:avLst/>
          </a:prstGeom>
          <a:ln w="7620">
            <a:solidFill>
              <a:srgbClr val="D7E1E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65392"/>
            <a:ext cx="1645920" cy="109728"/>
          </a:xfrm>
          <a:prstGeom prst="rect">
            <a:avLst/>
          </a:prstGeom>
          <a:noFill/>
        </p:spPr>
        <p:txBody>
          <a:bodyPr wrap="square" lIns="0" rIns="0" tIns="0" bIns="0" anchor="t">
            <a:spAutoFit/>
          </a:bodyPr>
          <a:lstStyle/>
          <a:p>
            <a:pPr algn="l">
              <a:lnSpc>
                <a:spcPct val="100000"/>
              </a:lnSpc>
              <a:spcAft>
                <a:spcPts val="0"/>
              </a:spcAft>
            </a:pPr>
            <a:r>
              <a:rPr sz="670" b="1">
                <a:solidFill>
                  <a:srgbClr val="708399"/>
                </a:solidFill>
                <a:latin typeface="Aptos"/>
              </a:rPr>
              <a:t>SAMUEL SPACE</a:t>
            </a:r>
          </a:p>
        </p:txBody>
      </p:sp>
      <p:sp>
        <p:nvSpPr>
          <p:cNvPr id="7" name="TextBox 6"/>
          <p:cNvSpPr txBox="1"/>
          <p:nvPr/>
        </p:nvSpPr>
        <p:spPr>
          <a:xfrm>
            <a:off x="10927080" y="6565392"/>
            <a:ext cx="804672" cy="109728"/>
          </a:xfrm>
          <a:prstGeom prst="rect">
            <a:avLst/>
          </a:prstGeom>
          <a:noFill/>
        </p:spPr>
        <p:txBody>
          <a:bodyPr wrap="square" lIns="0" rIns="0" tIns="0" bIns="0" anchor="t">
            <a:spAutoFit/>
          </a:bodyPr>
          <a:lstStyle/>
          <a:p>
            <a:pPr algn="r">
              <a:lnSpc>
                <a:spcPct val="100000"/>
              </a:lnSpc>
              <a:spcAft>
                <a:spcPts val="0"/>
              </a:spcAft>
            </a:pPr>
            <a:r>
              <a:rPr sz="670" b="1">
                <a:solidFill>
                  <a:srgbClr val="708399"/>
                </a:solidFill>
                <a:latin typeface="Aptos"/>
              </a:rPr>
              <a:t>17 / 21</a:t>
            </a:r>
          </a:p>
        </p:txBody>
      </p:sp>
      <p:sp>
        <p:nvSpPr>
          <p:cNvPr id="8" name="Rounded Rectangle 7"/>
          <p:cNvSpPr/>
          <p:nvPr/>
        </p:nvSpPr>
        <p:spPr>
          <a:xfrm>
            <a:off x="457200" y="1371600"/>
            <a:ext cx="2788920" cy="4892040"/>
          </a:xfrm>
          <a:prstGeom prst="roundRect">
            <a:avLst/>
          </a:prstGeom>
          <a:solidFill>
            <a:srgbClr val="0B1F3A"/>
          </a:solidFill>
          <a:ln w="10160">
            <a:solidFill>
              <a:srgbClr val="0B1F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49808" y="1682496"/>
            <a:ext cx="1280160" cy="164592"/>
          </a:xfrm>
          <a:prstGeom prst="rect">
            <a:avLst/>
          </a:prstGeom>
          <a:noFill/>
        </p:spPr>
        <p:txBody>
          <a:bodyPr wrap="square" lIns="0" rIns="0" tIns="0" bIns="0" anchor="t">
            <a:spAutoFit/>
          </a:bodyPr>
          <a:lstStyle/>
          <a:p>
            <a:pPr algn="l">
              <a:lnSpc>
                <a:spcPct val="100000"/>
              </a:lnSpc>
              <a:spcAft>
                <a:spcPts val="0"/>
              </a:spcAft>
            </a:pPr>
            <a:r>
              <a:rPr sz="800" b="1">
                <a:solidFill>
                  <a:srgbClr val="7CD5C6"/>
                </a:solidFill>
                <a:latin typeface="Aptos"/>
              </a:rPr>
              <a:t>ROUND SIZE</a:t>
            </a:r>
          </a:p>
        </p:txBody>
      </p:sp>
      <p:sp>
        <p:nvSpPr>
          <p:cNvPr id="10" name="TextBox 9"/>
          <p:cNvSpPr txBox="1"/>
          <p:nvPr/>
        </p:nvSpPr>
        <p:spPr>
          <a:xfrm>
            <a:off x="749808" y="2029968"/>
            <a:ext cx="2148840" cy="658368"/>
          </a:xfrm>
          <a:prstGeom prst="rect">
            <a:avLst/>
          </a:prstGeom>
          <a:noFill/>
        </p:spPr>
        <p:txBody>
          <a:bodyPr wrap="square" lIns="0" rIns="0" tIns="0" bIns="0" anchor="t">
            <a:spAutoFit/>
          </a:bodyPr>
          <a:lstStyle/>
          <a:p>
            <a:pPr algn="l">
              <a:lnSpc>
                <a:spcPct val="100000"/>
              </a:lnSpc>
              <a:spcAft>
                <a:spcPts val="0"/>
              </a:spcAft>
            </a:pPr>
            <a:r>
              <a:rPr sz="3700" b="1">
                <a:solidFill>
                  <a:srgbClr val="FFFFFF"/>
                </a:solidFill>
                <a:latin typeface="Aptos Display"/>
              </a:rPr>
              <a:t>$18M</a:t>
            </a:r>
          </a:p>
        </p:txBody>
      </p:sp>
      <p:sp>
        <p:nvSpPr>
          <p:cNvPr id="11" name="TextBox 10"/>
          <p:cNvSpPr txBox="1"/>
          <p:nvPr/>
        </p:nvSpPr>
        <p:spPr>
          <a:xfrm>
            <a:off x="749808" y="2743200"/>
            <a:ext cx="2103120" cy="256032"/>
          </a:xfrm>
          <a:prstGeom prst="rect">
            <a:avLst/>
          </a:prstGeom>
          <a:noFill/>
        </p:spPr>
        <p:txBody>
          <a:bodyPr wrap="square" lIns="0" rIns="0" tIns="0" bIns="0" anchor="t">
            <a:spAutoFit/>
          </a:bodyPr>
          <a:lstStyle/>
          <a:p>
            <a:pPr algn="l">
              <a:lnSpc>
                <a:spcPct val="100000"/>
              </a:lnSpc>
              <a:spcAft>
                <a:spcPts val="0"/>
              </a:spcAft>
            </a:pPr>
            <a:r>
              <a:rPr sz="1150" b="1">
                <a:solidFill>
                  <a:srgbClr val="D5E0EA"/>
                </a:solidFill>
                <a:latin typeface="Aptos"/>
              </a:rPr>
              <a:t>Series A Preferred Equity</a:t>
            </a:r>
          </a:p>
        </p:txBody>
      </p:sp>
      <p:cxnSp>
        <p:nvCxnSpPr>
          <p:cNvPr id="12" name="Connector 11"/>
          <p:cNvCxnSpPr/>
          <p:nvPr/>
        </p:nvCxnSpPr>
        <p:spPr>
          <a:xfrm>
            <a:off x="749808" y="3291840"/>
            <a:ext cx="2176272" cy="0"/>
          </a:xfrm>
          <a:prstGeom prst="line">
            <a:avLst/>
          </a:prstGeom>
          <a:ln w="10160">
            <a:solidFill>
              <a:srgbClr val="38516A"/>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749808" y="3547872"/>
            <a:ext cx="877824" cy="256032"/>
          </a:xfrm>
          <a:prstGeom prst="rect">
            <a:avLst/>
          </a:prstGeom>
          <a:noFill/>
        </p:spPr>
        <p:txBody>
          <a:bodyPr wrap="square" lIns="0" rIns="0" tIns="0" bIns="0" anchor="t">
            <a:spAutoFit/>
          </a:bodyPr>
          <a:lstStyle/>
          <a:p>
            <a:pPr algn="l">
              <a:lnSpc>
                <a:spcPct val="100000"/>
              </a:lnSpc>
              <a:spcAft>
                <a:spcPts val="0"/>
              </a:spcAft>
            </a:pPr>
            <a:r>
              <a:rPr sz="1340" b="1">
                <a:solidFill>
                  <a:srgbClr val="7CD5C6"/>
                </a:solidFill>
                <a:latin typeface="Aptos"/>
              </a:rPr>
              <a:t>~30 months</a:t>
            </a:r>
          </a:p>
        </p:txBody>
      </p:sp>
      <p:sp>
        <p:nvSpPr>
          <p:cNvPr id="14" name="TextBox 13"/>
          <p:cNvSpPr txBox="1"/>
          <p:nvPr/>
        </p:nvSpPr>
        <p:spPr>
          <a:xfrm>
            <a:off x="1572768" y="3538728"/>
            <a:ext cx="1280160" cy="420624"/>
          </a:xfrm>
          <a:prstGeom prst="rect">
            <a:avLst/>
          </a:prstGeom>
          <a:noFill/>
        </p:spPr>
        <p:txBody>
          <a:bodyPr wrap="square" lIns="0" rIns="0" tIns="0" bIns="0" anchor="t">
            <a:spAutoFit/>
          </a:bodyPr>
          <a:lstStyle/>
          <a:p>
            <a:pPr algn="l">
              <a:lnSpc>
                <a:spcPct val="100000"/>
              </a:lnSpc>
              <a:spcAft>
                <a:spcPts val="0"/>
              </a:spcAft>
            </a:pPr>
            <a:r>
              <a:rPr sz="880" b="0">
                <a:solidFill>
                  <a:srgbClr val="D5E0EA"/>
                </a:solidFill>
                <a:latin typeface="Aptos"/>
              </a:rPr>
              <a:t>Runway to next value-inflection milestone</a:t>
            </a:r>
          </a:p>
        </p:txBody>
      </p:sp>
      <p:sp>
        <p:nvSpPr>
          <p:cNvPr id="15" name="TextBox 14"/>
          <p:cNvSpPr txBox="1"/>
          <p:nvPr/>
        </p:nvSpPr>
        <p:spPr>
          <a:xfrm>
            <a:off x="749808" y="4315968"/>
            <a:ext cx="877824" cy="256032"/>
          </a:xfrm>
          <a:prstGeom prst="rect">
            <a:avLst/>
          </a:prstGeom>
          <a:noFill/>
        </p:spPr>
        <p:txBody>
          <a:bodyPr wrap="square" lIns="0" rIns="0" tIns="0" bIns="0" anchor="t">
            <a:spAutoFit/>
          </a:bodyPr>
          <a:lstStyle/>
          <a:p>
            <a:pPr algn="l">
              <a:lnSpc>
                <a:spcPct val="100000"/>
              </a:lnSpc>
              <a:spcAft>
                <a:spcPts val="0"/>
              </a:spcAft>
            </a:pPr>
            <a:r>
              <a:rPr sz="1340" b="1">
                <a:solidFill>
                  <a:srgbClr val="7CD5C6"/>
                </a:solidFill>
                <a:latin typeface="Aptos"/>
              </a:rPr>
              <a:t>2</a:t>
            </a:r>
          </a:p>
        </p:txBody>
      </p:sp>
      <p:sp>
        <p:nvSpPr>
          <p:cNvPr id="16" name="TextBox 15"/>
          <p:cNvSpPr txBox="1"/>
          <p:nvPr/>
        </p:nvSpPr>
        <p:spPr>
          <a:xfrm>
            <a:off x="1572768" y="4306824"/>
            <a:ext cx="1280160" cy="420624"/>
          </a:xfrm>
          <a:prstGeom prst="rect">
            <a:avLst/>
          </a:prstGeom>
          <a:noFill/>
        </p:spPr>
        <p:txBody>
          <a:bodyPr wrap="square" lIns="0" rIns="0" tIns="0" bIns="0" anchor="t">
            <a:spAutoFit/>
          </a:bodyPr>
          <a:lstStyle/>
          <a:p>
            <a:pPr algn="l">
              <a:lnSpc>
                <a:spcPct val="100000"/>
              </a:lnSpc>
              <a:spcAft>
                <a:spcPts val="0"/>
              </a:spcAft>
            </a:pPr>
            <a:r>
              <a:rPr sz="880" b="0">
                <a:solidFill>
                  <a:srgbClr val="D5E0EA"/>
                </a:solidFill>
                <a:latin typeface="Aptos"/>
              </a:rPr>
              <a:t>Product verticals reaching clinical pilot stage</a:t>
            </a:r>
          </a:p>
        </p:txBody>
      </p:sp>
      <p:sp>
        <p:nvSpPr>
          <p:cNvPr id="17" name="TextBox 16"/>
          <p:cNvSpPr txBox="1"/>
          <p:nvPr/>
        </p:nvSpPr>
        <p:spPr>
          <a:xfrm>
            <a:off x="749808" y="5084064"/>
            <a:ext cx="877824" cy="256032"/>
          </a:xfrm>
          <a:prstGeom prst="rect">
            <a:avLst/>
          </a:prstGeom>
          <a:noFill/>
        </p:spPr>
        <p:txBody>
          <a:bodyPr wrap="square" lIns="0" rIns="0" tIns="0" bIns="0" anchor="t">
            <a:spAutoFit/>
          </a:bodyPr>
          <a:lstStyle/>
          <a:p>
            <a:pPr algn="l">
              <a:lnSpc>
                <a:spcPct val="100000"/>
              </a:lnSpc>
              <a:spcAft>
                <a:spcPts val="0"/>
              </a:spcAft>
            </a:pPr>
            <a:r>
              <a:rPr sz="1340" b="1">
                <a:solidFill>
                  <a:srgbClr val="7CD5C6"/>
                </a:solidFill>
                <a:latin typeface="Aptos"/>
              </a:rPr>
              <a:t>3–5</a:t>
            </a:r>
          </a:p>
        </p:txBody>
      </p:sp>
      <p:sp>
        <p:nvSpPr>
          <p:cNvPr id="18" name="TextBox 17"/>
          <p:cNvSpPr txBox="1"/>
          <p:nvPr/>
        </p:nvSpPr>
        <p:spPr>
          <a:xfrm>
            <a:off x="1572768" y="5074920"/>
            <a:ext cx="1280160" cy="420624"/>
          </a:xfrm>
          <a:prstGeom prst="rect">
            <a:avLst/>
          </a:prstGeom>
          <a:noFill/>
        </p:spPr>
        <p:txBody>
          <a:bodyPr wrap="square" lIns="0" rIns="0" tIns="0" bIns="0" anchor="t">
            <a:spAutoFit/>
          </a:bodyPr>
          <a:lstStyle/>
          <a:p>
            <a:pPr algn="l">
              <a:lnSpc>
                <a:spcPct val="100000"/>
              </a:lnSpc>
              <a:spcAft>
                <a:spcPts val="0"/>
              </a:spcAft>
            </a:pPr>
            <a:r>
              <a:rPr sz="880" b="0">
                <a:solidFill>
                  <a:srgbClr val="D5E0EA"/>
                </a:solidFill>
                <a:latin typeface="Aptos"/>
              </a:rPr>
              <a:t>Targeted commercial flight missions secured</a:t>
            </a:r>
          </a:p>
        </p:txBody>
      </p:sp>
      <p:sp>
        <p:nvSpPr>
          <p:cNvPr id="19" name="TextBox 18"/>
          <p:cNvSpPr txBox="1"/>
          <p:nvPr/>
        </p:nvSpPr>
        <p:spPr>
          <a:xfrm>
            <a:off x="3502152" y="1435608"/>
            <a:ext cx="2011680" cy="182880"/>
          </a:xfrm>
          <a:prstGeom prst="rect">
            <a:avLst/>
          </a:prstGeom>
          <a:noFill/>
        </p:spPr>
        <p:txBody>
          <a:bodyPr wrap="square" lIns="0" rIns="0" tIns="0" bIns="0" anchor="t">
            <a:spAutoFit/>
          </a:bodyPr>
          <a:lstStyle/>
          <a:p>
            <a:pPr algn="l">
              <a:lnSpc>
                <a:spcPct val="100000"/>
              </a:lnSpc>
              <a:spcAft>
                <a:spcPts val="0"/>
              </a:spcAft>
            </a:pPr>
            <a:r>
              <a:rPr sz="800" b="1">
                <a:solidFill>
                  <a:srgbClr val="708399"/>
                </a:solidFill>
                <a:latin typeface="Aptos"/>
              </a:rPr>
              <a:t>USE OF FUNDS</a:t>
            </a:r>
          </a:p>
        </p:txBody>
      </p:sp>
      <p:graphicFrame>
        <p:nvGraphicFramePr>
          <p:cNvPr id="20" name="Chart 19"/>
          <p:cNvGraphicFramePr>
            <a:graphicFrameLocks noGrp="1"/>
          </p:cNvGraphicFramePr>
          <p:nvPr/>
        </p:nvGraphicFramePr>
        <p:xfrm>
          <a:off x="3456432" y="1746504"/>
          <a:ext cx="4160520" cy="3200400"/>
        </p:xfrm>
        <a:graphic>
          <a:graphicData uri="http://schemas.openxmlformats.org/drawingml/2006/chart">
            <c:chart xmlns:c="http://schemas.openxmlformats.org/drawingml/2006/chart" r:id="rId2"/>
          </a:graphicData>
        </a:graphic>
      </p:graphicFrame>
      <p:sp>
        <p:nvSpPr>
          <p:cNvPr id="21" name="TextBox 20"/>
          <p:cNvSpPr txBox="1"/>
          <p:nvPr/>
        </p:nvSpPr>
        <p:spPr>
          <a:xfrm>
            <a:off x="4773168" y="2770632"/>
            <a:ext cx="1481328" cy="347472"/>
          </a:xfrm>
          <a:prstGeom prst="rect">
            <a:avLst/>
          </a:prstGeom>
          <a:noFill/>
        </p:spPr>
        <p:txBody>
          <a:bodyPr wrap="square" lIns="0" rIns="0" tIns="0" bIns="0" anchor="t">
            <a:spAutoFit/>
          </a:bodyPr>
          <a:lstStyle/>
          <a:p>
            <a:pPr algn="ctr">
              <a:lnSpc>
                <a:spcPct val="100000"/>
              </a:lnSpc>
              <a:spcAft>
                <a:spcPts val="0"/>
              </a:spcAft>
            </a:pPr>
            <a:r>
              <a:rPr sz="1700" b="1">
                <a:solidFill>
                  <a:srgbClr val="0B1F3A"/>
                </a:solidFill>
                <a:latin typeface="Aptos"/>
              </a:rPr>
              <a:t>$18M</a:t>
            </a:r>
          </a:p>
        </p:txBody>
      </p:sp>
      <p:sp>
        <p:nvSpPr>
          <p:cNvPr id="22" name="Rectangle 21"/>
          <p:cNvSpPr/>
          <p:nvPr/>
        </p:nvSpPr>
        <p:spPr>
          <a:xfrm>
            <a:off x="3529584" y="5111496"/>
            <a:ext cx="100584" cy="100584"/>
          </a:xfrm>
          <a:prstGeom prst="rect">
            <a:avLst/>
          </a:prstGeom>
          <a:solidFill>
            <a:srgbClr val="00A991"/>
          </a:solidFill>
          <a:ln w="10160">
            <a:solidFill>
              <a:srgbClr val="00A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94176" y="5065776"/>
            <a:ext cx="1828800" cy="201168"/>
          </a:xfrm>
          <a:prstGeom prst="rect">
            <a:avLst/>
          </a:prstGeom>
          <a:noFill/>
        </p:spPr>
        <p:txBody>
          <a:bodyPr wrap="square" lIns="0" rIns="0" tIns="0" bIns="0" anchor="t">
            <a:spAutoFit/>
          </a:bodyPr>
          <a:lstStyle/>
          <a:p>
            <a:pPr algn="l">
              <a:lnSpc>
                <a:spcPct val="100000"/>
              </a:lnSpc>
              <a:spcAft>
                <a:spcPts val="0"/>
              </a:spcAft>
            </a:pPr>
            <a:r>
              <a:rPr sz="750" b="1">
                <a:solidFill>
                  <a:srgbClr val="50657B"/>
                </a:solidFill>
                <a:latin typeface="Aptos"/>
              </a:rPr>
              <a:t>R&amp;D / Payload · 40%</a:t>
            </a:r>
          </a:p>
        </p:txBody>
      </p:sp>
      <p:sp>
        <p:nvSpPr>
          <p:cNvPr id="24" name="Rectangle 23"/>
          <p:cNvSpPr/>
          <p:nvPr/>
        </p:nvSpPr>
        <p:spPr>
          <a:xfrm>
            <a:off x="5632704" y="5111496"/>
            <a:ext cx="100584" cy="100584"/>
          </a:xfrm>
          <a:prstGeom prst="rect">
            <a:avLst/>
          </a:prstGeom>
          <a:solidFill>
            <a:srgbClr val="2B6B93"/>
          </a:solidFill>
          <a:ln w="10160">
            <a:solidFill>
              <a:srgbClr val="2B6B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5797296" y="5065776"/>
            <a:ext cx="1828800" cy="201168"/>
          </a:xfrm>
          <a:prstGeom prst="rect">
            <a:avLst/>
          </a:prstGeom>
          <a:noFill/>
        </p:spPr>
        <p:txBody>
          <a:bodyPr wrap="square" lIns="0" rIns="0" tIns="0" bIns="0" anchor="t">
            <a:spAutoFit/>
          </a:bodyPr>
          <a:lstStyle/>
          <a:p>
            <a:pPr algn="l">
              <a:lnSpc>
                <a:spcPct val="100000"/>
              </a:lnSpc>
              <a:spcAft>
                <a:spcPts val="0"/>
              </a:spcAft>
            </a:pPr>
            <a:r>
              <a:rPr sz="750" b="1">
                <a:solidFill>
                  <a:srgbClr val="50657B"/>
                </a:solidFill>
                <a:latin typeface="Aptos"/>
              </a:rPr>
              <a:t>Flight &amp; Integration · 25%</a:t>
            </a:r>
          </a:p>
        </p:txBody>
      </p:sp>
      <p:sp>
        <p:nvSpPr>
          <p:cNvPr id="26" name="Rectangle 25"/>
          <p:cNvSpPr/>
          <p:nvPr/>
        </p:nvSpPr>
        <p:spPr>
          <a:xfrm>
            <a:off x="3529584" y="5449824"/>
            <a:ext cx="100584" cy="100584"/>
          </a:xfrm>
          <a:prstGeom prst="rect">
            <a:avLst/>
          </a:prstGeom>
          <a:solidFill>
            <a:srgbClr val="0B1F3A"/>
          </a:solidFill>
          <a:ln w="10160">
            <a:solidFill>
              <a:srgbClr val="0B1F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694176" y="5404104"/>
            <a:ext cx="1828800" cy="201168"/>
          </a:xfrm>
          <a:prstGeom prst="rect">
            <a:avLst/>
          </a:prstGeom>
          <a:noFill/>
        </p:spPr>
        <p:txBody>
          <a:bodyPr wrap="square" lIns="0" rIns="0" tIns="0" bIns="0" anchor="t">
            <a:spAutoFit/>
          </a:bodyPr>
          <a:lstStyle/>
          <a:p>
            <a:pPr algn="l">
              <a:lnSpc>
                <a:spcPct val="100000"/>
              </a:lnSpc>
              <a:spcAft>
                <a:spcPts val="0"/>
              </a:spcAft>
            </a:pPr>
            <a:r>
              <a:rPr sz="750" b="1">
                <a:solidFill>
                  <a:srgbClr val="50657B"/>
                </a:solidFill>
                <a:latin typeface="Aptos"/>
              </a:rPr>
              <a:t>Regulatory &amp; Clinical · 15%</a:t>
            </a:r>
          </a:p>
        </p:txBody>
      </p:sp>
      <p:sp>
        <p:nvSpPr>
          <p:cNvPr id="28" name="Rectangle 27"/>
          <p:cNvSpPr/>
          <p:nvPr/>
        </p:nvSpPr>
        <p:spPr>
          <a:xfrm>
            <a:off x="5632704" y="5449824"/>
            <a:ext cx="100584" cy="100584"/>
          </a:xfrm>
          <a:prstGeom prst="rect">
            <a:avLst/>
          </a:prstGeom>
          <a:solidFill>
            <a:srgbClr val="7E91A6"/>
          </a:solidFill>
          <a:ln w="10160">
            <a:solidFill>
              <a:srgbClr val="7E91A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5797296" y="5404104"/>
            <a:ext cx="1828800" cy="201168"/>
          </a:xfrm>
          <a:prstGeom prst="rect">
            <a:avLst/>
          </a:prstGeom>
          <a:noFill/>
        </p:spPr>
        <p:txBody>
          <a:bodyPr wrap="square" lIns="0" rIns="0" tIns="0" bIns="0" anchor="t">
            <a:spAutoFit/>
          </a:bodyPr>
          <a:lstStyle/>
          <a:p>
            <a:pPr algn="l">
              <a:lnSpc>
                <a:spcPct val="100000"/>
              </a:lnSpc>
              <a:spcAft>
                <a:spcPts val="0"/>
              </a:spcAft>
            </a:pPr>
            <a:r>
              <a:rPr sz="750" b="1">
                <a:solidFill>
                  <a:srgbClr val="50657B"/>
                </a:solidFill>
                <a:latin typeface="Aptos"/>
              </a:rPr>
              <a:t>Team Build-Out · 15%</a:t>
            </a:r>
          </a:p>
        </p:txBody>
      </p:sp>
      <p:sp>
        <p:nvSpPr>
          <p:cNvPr id="30" name="Rectangle 29"/>
          <p:cNvSpPr/>
          <p:nvPr/>
        </p:nvSpPr>
        <p:spPr>
          <a:xfrm>
            <a:off x="3529584" y="5788152"/>
            <a:ext cx="100584" cy="100584"/>
          </a:xfrm>
          <a:prstGeom prst="rect">
            <a:avLst/>
          </a:prstGeom>
          <a:solidFill>
            <a:srgbClr val="C4CFD9"/>
          </a:solidFill>
          <a:ln w="10160">
            <a:solidFill>
              <a:srgbClr val="C4CFD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3694176" y="5742432"/>
            <a:ext cx="1828800" cy="201168"/>
          </a:xfrm>
          <a:prstGeom prst="rect">
            <a:avLst/>
          </a:prstGeom>
          <a:noFill/>
        </p:spPr>
        <p:txBody>
          <a:bodyPr wrap="square" lIns="0" rIns="0" tIns="0" bIns="0" anchor="t">
            <a:spAutoFit/>
          </a:bodyPr>
          <a:lstStyle/>
          <a:p>
            <a:pPr algn="l">
              <a:lnSpc>
                <a:spcPct val="100000"/>
              </a:lnSpc>
              <a:spcAft>
                <a:spcPts val="0"/>
              </a:spcAft>
            </a:pPr>
            <a:r>
              <a:rPr sz="750" b="1">
                <a:solidFill>
                  <a:srgbClr val="50657B"/>
                </a:solidFill>
                <a:latin typeface="Aptos"/>
              </a:rPr>
              <a:t>G&amp;A · 5%</a:t>
            </a:r>
          </a:p>
        </p:txBody>
      </p:sp>
      <p:sp>
        <p:nvSpPr>
          <p:cNvPr id="32" name="Rounded Rectangle 31"/>
          <p:cNvSpPr/>
          <p:nvPr/>
        </p:nvSpPr>
        <p:spPr>
          <a:xfrm>
            <a:off x="7863840" y="1371600"/>
            <a:ext cx="3867912" cy="4892040"/>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8110727" y="1645920"/>
            <a:ext cx="3364992" cy="182880"/>
          </a:xfrm>
          <a:prstGeom prst="rect">
            <a:avLst/>
          </a:prstGeom>
          <a:noFill/>
        </p:spPr>
        <p:txBody>
          <a:bodyPr wrap="square" lIns="0" rIns="0" tIns="0" bIns="0" anchor="t">
            <a:spAutoFit/>
          </a:bodyPr>
          <a:lstStyle/>
          <a:p>
            <a:pPr algn="l">
              <a:lnSpc>
                <a:spcPct val="100000"/>
              </a:lnSpc>
              <a:spcAft>
                <a:spcPts val="0"/>
              </a:spcAft>
            </a:pPr>
            <a:r>
              <a:rPr sz="800" b="1">
                <a:solidFill>
                  <a:srgbClr val="708399"/>
                </a:solidFill>
                <a:latin typeface="Aptos"/>
              </a:rPr>
              <a:t>KEY USE-OF-FUNDS MILESTONES</a:t>
            </a:r>
          </a:p>
        </p:txBody>
      </p:sp>
      <p:sp>
        <p:nvSpPr>
          <p:cNvPr id="34" name="Oval 33"/>
          <p:cNvSpPr/>
          <p:nvPr/>
        </p:nvSpPr>
        <p:spPr>
          <a:xfrm>
            <a:off x="8119872" y="2103120"/>
            <a:ext cx="347472" cy="347472"/>
          </a:xfrm>
          <a:prstGeom prst="ellipse">
            <a:avLst/>
          </a:prstGeom>
          <a:solidFill>
            <a:srgbClr val="00A991"/>
          </a:solidFill>
          <a:ln w="6350">
            <a:solidFill>
              <a:srgbClr val="00A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119872" y="2103120"/>
            <a:ext cx="347472" cy="347472"/>
          </a:xfrm>
          <a:prstGeom prst="rect">
            <a:avLst/>
          </a:prstGeom>
          <a:noFill/>
        </p:spPr>
        <p:txBody>
          <a:bodyPr wrap="square" lIns="0" rIns="0" tIns="0" bIns="0" anchor="ctr">
            <a:spAutoFit/>
          </a:bodyPr>
          <a:lstStyle/>
          <a:p>
            <a:pPr algn="ctr">
              <a:lnSpc>
                <a:spcPct val="100000"/>
              </a:lnSpc>
              <a:spcAft>
                <a:spcPts val="0"/>
              </a:spcAft>
            </a:pPr>
            <a:r>
              <a:rPr sz="740" b="1">
                <a:solidFill>
                  <a:srgbClr val="FFFFFF"/>
                </a:solidFill>
                <a:latin typeface="Aptos"/>
              </a:rPr>
              <a:t>01</a:t>
            </a:r>
          </a:p>
        </p:txBody>
      </p:sp>
      <p:sp>
        <p:nvSpPr>
          <p:cNvPr id="36" name="TextBox 35"/>
          <p:cNvSpPr txBox="1"/>
          <p:nvPr/>
        </p:nvSpPr>
        <p:spPr>
          <a:xfrm>
            <a:off x="8668512" y="2093976"/>
            <a:ext cx="2651760" cy="429768"/>
          </a:xfrm>
          <a:prstGeom prst="rect">
            <a:avLst/>
          </a:prstGeom>
          <a:noFill/>
        </p:spPr>
        <p:txBody>
          <a:bodyPr wrap="square" lIns="0" rIns="0" tIns="0" bIns="0" anchor="t">
            <a:spAutoFit/>
          </a:bodyPr>
          <a:lstStyle/>
          <a:p>
            <a:pPr algn="l">
              <a:lnSpc>
                <a:spcPct val="100000"/>
              </a:lnSpc>
              <a:spcAft>
                <a:spcPts val="0"/>
              </a:spcAft>
            </a:pPr>
            <a:r>
              <a:rPr sz="1000" b="1">
                <a:solidFill>
                  <a:srgbClr val="16324F"/>
                </a:solidFill>
                <a:latin typeface="Aptos"/>
              </a:rPr>
              <a:t>Flight-qualify modular payload hardware</a:t>
            </a:r>
          </a:p>
        </p:txBody>
      </p:sp>
      <p:sp>
        <p:nvSpPr>
          <p:cNvPr id="37" name="Oval 36"/>
          <p:cNvSpPr/>
          <p:nvPr/>
        </p:nvSpPr>
        <p:spPr>
          <a:xfrm>
            <a:off x="8119872" y="2816352"/>
            <a:ext cx="347472" cy="347472"/>
          </a:xfrm>
          <a:prstGeom prst="ellipse">
            <a:avLst/>
          </a:prstGeom>
          <a:solidFill>
            <a:srgbClr val="00A991"/>
          </a:solidFill>
          <a:ln w="6350">
            <a:solidFill>
              <a:srgbClr val="00A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8119872" y="2816352"/>
            <a:ext cx="347472" cy="347472"/>
          </a:xfrm>
          <a:prstGeom prst="rect">
            <a:avLst/>
          </a:prstGeom>
          <a:noFill/>
        </p:spPr>
        <p:txBody>
          <a:bodyPr wrap="square" lIns="0" rIns="0" tIns="0" bIns="0" anchor="ctr">
            <a:spAutoFit/>
          </a:bodyPr>
          <a:lstStyle/>
          <a:p>
            <a:pPr algn="ctr">
              <a:lnSpc>
                <a:spcPct val="100000"/>
              </a:lnSpc>
              <a:spcAft>
                <a:spcPts val="0"/>
              </a:spcAft>
            </a:pPr>
            <a:r>
              <a:rPr sz="740" b="1">
                <a:solidFill>
                  <a:srgbClr val="FFFFFF"/>
                </a:solidFill>
                <a:latin typeface="Aptos"/>
              </a:rPr>
              <a:t>02</a:t>
            </a:r>
          </a:p>
        </p:txBody>
      </p:sp>
      <p:sp>
        <p:nvSpPr>
          <p:cNvPr id="39" name="TextBox 38"/>
          <p:cNvSpPr txBox="1"/>
          <p:nvPr/>
        </p:nvSpPr>
        <p:spPr>
          <a:xfrm>
            <a:off x="8668512" y="2807208"/>
            <a:ext cx="2651760" cy="429768"/>
          </a:xfrm>
          <a:prstGeom prst="rect">
            <a:avLst/>
          </a:prstGeom>
          <a:noFill/>
        </p:spPr>
        <p:txBody>
          <a:bodyPr wrap="square" lIns="0" rIns="0" tIns="0" bIns="0" anchor="t">
            <a:spAutoFit/>
          </a:bodyPr>
          <a:lstStyle/>
          <a:p>
            <a:pPr algn="l">
              <a:lnSpc>
                <a:spcPct val="100000"/>
              </a:lnSpc>
              <a:spcAft>
                <a:spcPts val="0"/>
              </a:spcAft>
            </a:pPr>
            <a:r>
              <a:rPr sz="1000" b="0">
                <a:solidFill>
                  <a:srgbClr val="16324F"/>
                </a:solidFill>
                <a:latin typeface="Aptos"/>
              </a:rPr>
              <a:t>Complete 3–5 commissioned ISS missions</a:t>
            </a:r>
          </a:p>
        </p:txBody>
      </p:sp>
      <p:sp>
        <p:nvSpPr>
          <p:cNvPr id="40" name="Oval 39"/>
          <p:cNvSpPr/>
          <p:nvPr/>
        </p:nvSpPr>
        <p:spPr>
          <a:xfrm>
            <a:off x="8119872" y="3529584"/>
            <a:ext cx="347472" cy="347472"/>
          </a:xfrm>
          <a:prstGeom prst="ellipse">
            <a:avLst/>
          </a:prstGeom>
          <a:solidFill>
            <a:srgbClr val="00A991"/>
          </a:solidFill>
          <a:ln w="6350">
            <a:solidFill>
              <a:srgbClr val="00A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8119872" y="3529584"/>
            <a:ext cx="347472" cy="347472"/>
          </a:xfrm>
          <a:prstGeom prst="rect">
            <a:avLst/>
          </a:prstGeom>
          <a:noFill/>
        </p:spPr>
        <p:txBody>
          <a:bodyPr wrap="square" lIns="0" rIns="0" tIns="0" bIns="0" anchor="ctr">
            <a:spAutoFit/>
          </a:bodyPr>
          <a:lstStyle/>
          <a:p>
            <a:pPr algn="ctr">
              <a:lnSpc>
                <a:spcPct val="100000"/>
              </a:lnSpc>
              <a:spcAft>
                <a:spcPts val="0"/>
              </a:spcAft>
            </a:pPr>
            <a:r>
              <a:rPr sz="740" b="1">
                <a:solidFill>
                  <a:srgbClr val="FFFFFF"/>
                </a:solidFill>
                <a:latin typeface="Aptos"/>
              </a:rPr>
              <a:t>03</a:t>
            </a:r>
          </a:p>
        </p:txBody>
      </p:sp>
      <p:sp>
        <p:nvSpPr>
          <p:cNvPr id="42" name="TextBox 41"/>
          <p:cNvSpPr txBox="1"/>
          <p:nvPr/>
        </p:nvSpPr>
        <p:spPr>
          <a:xfrm>
            <a:off x="8668512" y="3520440"/>
            <a:ext cx="2651760" cy="429768"/>
          </a:xfrm>
          <a:prstGeom prst="rect">
            <a:avLst/>
          </a:prstGeom>
          <a:noFill/>
        </p:spPr>
        <p:txBody>
          <a:bodyPr wrap="square" lIns="0" rIns="0" tIns="0" bIns="0" anchor="t">
            <a:spAutoFit/>
          </a:bodyPr>
          <a:lstStyle/>
          <a:p>
            <a:pPr algn="l">
              <a:lnSpc>
                <a:spcPct val="100000"/>
              </a:lnSpc>
              <a:spcAft>
                <a:spcPts val="0"/>
              </a:spcAft>
            </a:pPr>
            <a:r>
              <a:rPr sz="1000" b="0">
                <a:solidFill>
                  <a:srgbClr val="16324F"/>
                </a:solidFill>
                <a:latin typeface="Aptos"/>
              </a:rPr>
              <a:t>File first NASA InSPA Phase 1 grant</a:t>
            </a:r>
          </a:p>
        </p:txBody>
      </p:sp>
      <p:sp>
        <p:nvSpPr>
          <p:cNvPr id="43" name="Oval 42"/>
          <p:cNvSpPr/>
          <p:nvPr/>
        </p:nvSpPr>
        <p:spPr>
          <a:xfrm>
            <a:off x="8119872" y="4242816"/>
            <a:ext cx="347472" cy="347472"/>
          </a:xfrm>
          <a:prstGeom prst="ellipse">
            <a:avLst/>
          </a:prstGeom>
          <a:solidFill>
            <a:srgbClr val="0B1F3A"/>
          </a:solidFill>
          <a:ln w="6350">
            <a:solidFill>
              <a:srgbClr val="0B1F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8119872" y="4242816"/>
            <a:ext cx="347472" cy="347472"/>
          </a:xfrm>
          <a:prstGeom prst="rect">
            <a:avLst/>
          </a:prstGeom>
          <a:noFill/>
        </p:spPr>
        <p:txBody>
          <a:bodyPr wrap="square" lIns="0" rIns="0" tIns="0" bIns="0" anchor="ctr">
            <a:spAutoFit/>
          </a:bodyPr>
          <a:lstStyle/>
          <a:p>
            <a:pPr algn="ctr">
              <a:lnSpc>
                <a:spcPct val="100000"/>
              </a:lnSpc>
              <a:spcAft>
                <a:spcPts val="0"/>
              </a:spcAft>
            </a:pPr>
            <a:r>
              <a:rPr sz="740" b="1">
                <a:solidFill>
                  <a:srgbClr val="FFFFFF"/>
                </a:solidFill>
                <a:latin typeface="Aptos"/>
              </a:rPr>
              <a:t>04</a:t>
            </a:r>
          </a:p>
        </p:txBody>
      </p:sp>
      <p:sp>
        <p:nvSpPr>
          <p:cNvPr id="45" name="TextBox 44"/>
          <p:cNvSpPr txBox="1"/>
          <p:nvPr/>
        </p:nvSpPr>
        <p:spPr>
          <a:xfrm>
            <a:off x="8668512" y="4233672"/>
            <a:ext cx="2651760" cy="429768"/>
          </a:xfrm>
          <a:prstGeom prst="rect">
            <a:avLst/>
          </a:prstGeom>
          <a:noFill/>
        </p:spPr>
        <p:txBody>
          <a:bodyPr wrap="square" lIns="0" rIns="0" tIns="0" bIns="0" anchor="t">
            <a:spAutoFit/>
          </a:bodyPr>
          <a:lstStyle/>
          <a:p>
            <a:pPr algn="l">
              <a:lnSpc>
                <a:spcPct val="100000"/>
              </a:lnSpc>
              <a:spcAft>
                <a:spcPts val="0"/>
              </a:spcAft>
            </a:pPr>
            <a:r>
              <a:rPr sz="1000" b="0">
                <a:solidFill>
                  <a:srgbClr val="16324F"/>
                </a:solidFill>
                <a:latin typeface="Aptos"/>
              </a:rPr>
              <a:t>Secure Starlab payload reservation</a:t>
            </a:r>
          </a:p>
        </p:txBody>
      </p:sp>
      <p:sp>
        <p:nvSpPr>
          <p:cNvPr id="46" name="Oval 45"/>
          <p:cNvSpPr/>
          <p:nvPr/>
        </p:nvSpPr>
        <p:spPr>
          <a:xfrm>
            <a:off x="8119872" y="4956048"/>
            <a:ext cx="347472" cy="347472"/>
          </a:xfrm>
          <a:prstGeom prst="ellipse">
            <a:avLst/>
          </a:prstGeom>
          <a:solidFill>
            <a:srgbClr val="0B1F3A"/>
          </a:solidFill>
          <a:ln w="6350">
            <a:solidFill>
              <a:srgbClr val="0B1F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8119872" y="4956048"/>
            <a:ext cx="347472" cy="347472"/>
          </a:xfrm>
          <a:prstGeom prst="rect">
            <a:avLst/>
          </a:prstGeom>
          <a:noFill/>
        </p:spPr>
        <p:txBody>
          <a:bodyPr wrap="square" lIns="0" rIns="0" tIns="0" bIns="0" anchor="ctr">
            <a:spAutoFit/>
          </a:bodyPr>
          <a:lstStyle/>
          <a:p>
            <a:pPr algn="ctr">
              <a:lnSpc>
                <a:spcPct val="100000"/>
              </a:lnSpc>
              <a:spcAft>
                <a:spcPts val="0"/>
              </a:spcAft>
            </a:pPr>
            <a:r>
              <a:rPr sz="740" b="1">
                <a:solidFill>
                  <a:srgbClr val="FFFFFF"/>
                </a:solidFill>
                <a:latin typeface="Aptos"/>
              </a:rPr>
              <a:t>05</a:t>
            </a:r>
          </a:p>
        </p:txBody>
      </p:sp>
      <p:sp>
        <p:nvSpPr>
          <p:cNvPr id="48" name="TextBox 47"/>
          <p:cNvSpPr txBox="1"/>
          <p:nvPr/>
        </p:nvSpPr>
        <p:spPr>
          <a:xfrm>
            <a:off x="8668512" y="4946904"/>
            <a:ext cx="2651760" cy="429768"/>
          </a:xfrm>
          <a:prstGeom prst="rect">
            <a:avLst/>
          </a:prstGeom>
          <a:noFill/>
        </p:spPr>
        <p:txBody>
          <a:bodyPr wrap="square" lIns="0" rIns="0" tIns="0" bIns="0" anchor="t">
            <a:spAutoFit/>
          </a:bodyPr>
          <a:lstStyle/>
          <a:p>
            <a:pPr algn="l">
              <a:lnSpc>
                <a:spcPct val="100000"/>
              </a:lnSpc>
              <a:spcAft>
                <a:spcPts val="0"/>
              </a:spcAft>
            </a:pPr>
            <a:r>
              <a:rPr sz="1000" b="0">
                <a:solidFill>
                  <a:srgbClr val="16324F"/>
                </a:solidFill>
                <a:latin typeface="Aptos"/>
              </a:rPr>
              <a:t>Build the core scientific and engineering team</a:t>
            </a:r>
          </a:p>
        </p:txBody>
      </p:sp>
      <p:sp>
        <p:nvSpPr>
          <p:cNvPr id="49" name="TextBox 48"/>
          <p:cNvSpPr txBox="1"/>
          <p:nvPr/>
        </p:nvSpPr>
        <p:spPr>
          <a:xfrm>
            <a:off x="8119872" y="5980176"/>
            <a:ext cx="3246120" cy="164592"/>
          </a:xfrm>
          <a:prstGeom prst="rect">
            <a:avLst/>
          </a:prstGeom>
          <a:noFill/>
        </p:spPr>
        <p:txBody>
          <a:bodyPr wrap="square" lIns="0" rIns="0" tIns="0" bIns="0" anchor="t">
            <a:spAutoFit/>
          </a:bodyPr>
          <a:lstStyle/>
          <a:p>
            <a:pPr algn="l">
              <a:lnSpc>
                <a:spcPct val="100000"/>
              </a:lnSpc>
              <a:spcAft>
                <a:spcPts val="0"/>
              </a:spcAft>
            </a:pPr>
            <a:r>
              <a:rPr sz="690" b="0">
                <a:solidFill>
                  <a:srgbClr val="708399"/>
                </a:solidFill>
                <a:latin typeface="Aptos"/>
              </a:rPr>
              <a:t>Allocation figures are illustrative and subject to change based on diligence and negotiated terms.</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Rectangle 1"/>
          <p:cNvSpPr/>
          <p:nvPr/>
        </p:nvSpPr>
        <p:spPr>
          <a:xfrm>
            <a:off x="457200" y="256032"/>
            <a:ext cx="54864" cy="219456"/>
          </a:xfrm>
          <a:prstGeom prst="rect">
            <a:avLst/>
          </a:prstGeom>
          <a:solidFill>
            <a:srgbClr val="00A991"/>
          </a:solidFill>
          <a:ln>
            <a:solidFill>
              <a:srgbClr val="00A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3504" y="256032"/>
            <a:ext cx="4114800" cy="164592"/>
          </a:xfrm>
          <a:prstGeom prst="rect">
            <a:avLst/>
          </a:prstGeom>
          <a:noFill/>
        </p:spPr>
        <p:txBody>
          <a:bodyPr wrap="square" lIns="0" rIns="0" tIns="0" bIns="0" anchor="t">
            <a:spAutoFit/>
          </a:bodyPr>
          <a:lstStyle/>
          <a:p>
            <a:pPr algn="l">
              <a:lnSpc>
                <a:spcPct val="100000"/>
              </a:lnSpc>
              <a:spcAft>
                <a:spcPts val="0"/>
              </a:spcAft>
            </a:pPr>
            <a:r>
              <a:rPr sz="770" b="1">
                <a:solidFill>
                  <a:srgbClr val="087F72"/>
                </a:solidFill>
                <a:latin typeface="Aptos"/>
              </a:rPr>
              <a:t>RISK FACTORS</a:t>
            </a:r>
          </a:p>
        </p:txBody>
      </p:sp>
      <p:sp>
        <p:nvSpPr>
          <p:cNvPr id="4" name="TextBox 3"/>
          <p:cNvSpPr txBox="1"/>
          <p:nvPr/>
        </p:nvSpPr>
        <p:spPr>
          <a:xfrm>
            <a:off x="457200" y="530352"/>
            <a:ext cx="11064240" cy="475488"/>
          </a:xfrm>
          <a:prstGeom prst="rect">
            <a:avLst/>
          </a:prstGeom>
          <a:noFill/>
        </p:spPr>
        <p:txBody>
          <a:bodyPr wrap="square" lIns="0" rIns="0" tIns="0" bIns="0" anchor="t">
            <a:spAutoFit/>
          </a:bodyPr>
          <a:lstStyle/>
          <a:p>
            <a:pPr algn="l">
              <a:lnSpc>
                <a:spcPct val="100000"/>
              </a:lnSpc>
              <a:spcAft>
                <a:spcPts val="0"/>
              </a:spcAft>
            </a:pPr>
            <a:r>
              <a:rPr sz="2550" b="1">
                <a:solidFill>
                  <a:srgbClr val="0B1F3A"/>
                </a:solidFill>
                <a:latin typeface="Aptos Display"/>
              </a:rPr>
              <a:t>Key Risks and Mitigating Strategies</a:t>
            </a:r>
          </a:p>
        </p:txBody>
      </p:sp>
      <p:cxnSp>
        <p:nvCxnSpPr>
          <p:cNvPr id="5" name="Connector 4"/>
          <p:cNvCxnSpPr/>
          <p:nvPr/>
        </p:nvCxnSpPr>
        <p:spPr>
          <a:xfrm>
            <a:off x="457200" y="6510528"/>
            <a:ext cx="11274552" cy="0"/>
          </a:xfrm>
          <a:prstGeom prst="line">
            <a:avLst/>
          </a:prstGeom>
          <a:ln w="7620">
            <a:solidFill>
              <a:srgbClr val="D7E1E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65392"/>
            <a:ext cx="1645920" cy="109728"/>
          </a:xfrm>
          <a:prstGeom prst="rect">
            <a:avLst/>
          </a:prstGeom>
          <a:noFill/>
        </p:spPr>
        <p:txBody>
          <a:bodyPr wrap="square" lIns="0" rIns="0" tIns="0" bIns="0" anchor="t">
            <a:spAutoFit/>
          </a:bodyPr>
          <a:lstStyle/>
          <a:p>
            <a:pPr algn="l">
              <a:lnSpc>
                <a:spcPct val="100000"/>
              </a:lnSpc>
              <a:spcAft>
                <a:spcPts val="0"/>
              </a:spcAft>
            </a:pPr>
            <a:r>
              <a:rPr sz="670" b="1">
                <a:solidFill>
                  <a:srgbClr val="708399"/>
                </a:solidFill>
                <a:latin typeface="Aptos"/>
              </a:rPr>
              <a:t>SAMUEL SPACE</a:t>
            </a:r>
          </a:p>
        </p:txBody>
      </p:sp>
      <p:sp>
        <p:nvSpPr>
          <p:cNvPr id="7" name="TextBox 6"/>
          <p:cNvSpPr txBox="1"/>
          <p:nvPr/>
        </p:nvSpPr>
        <p:spPr>
          <a:xfrm>
            <a:off x="10927080" y="6565392"/>
            <a:ext cx="804672" cy="109728"/>
          </a:xfrm>
          <a:prstGeom prst="rect">
            <a:avLst/>
          </a:prstGeom>
          <a:noFill/>
        </p:spPr>
        <p:txBody>
          <a:bodyPr wrap="square" lIns="0" rIns="0" tIns="0" bIns="0" anchor="t">
            <a:spAutoFit/>
          </a:bodyPr>
          <a:lstStyle/>
          <a:p>
            <a:pPr algn="r">
              <a:lnSpc>
                <a:spcPct val="100000"/>
              </a:lnSpc>
              <a:spcAft>
                <a:spcPts val="0"/>
              </a:spcAft>
            </a:pPr>
            <a:r>
              <a:rPr sz="670" b="1">
                <a:solidFill>
                  <a:srgbClr val="708399"/>
                </a:solidFill>
                <a:latin typeface="Aptos"/>
              </a:rPr>
              <a:t>18 / 21</a:t>
            </a:r>
          </a:p>
        </p:txBody>
      </p:sp>
      <p:graphicFrame>
        <p:nvGraphicFramePr>
          <p:cNvPr id="8" name="Table 7"/>
          <p:cNvGraphicFramePr>
            <a:graphicFrameLocks noGrp="1"/>
          </p:cNvGraphicFramePr>
          <p:nvPr/>
        </p:nvGraphicFramePr>
        <p:xfrm>
          <a:off x="457200" y="1353312"/>
          <a:ext cx="11274552" cy="4956047"/>
        </p:xfrm>
        <a:graphic>
          <a:graphicData uri="http://schemas.openxmlformats.org/drawingml/2006/table">
            <a:tbl>
              <a:tblPr firstRow="1" bandRow="1">
                <a:tableStyleId>{5C22544A-7EE6-4342-B048-85BDC9FD1C3A}</a:tableStyleId>
              </a:tblPr>
              <a:tblGrid>
                <a:gridCol w="1572768"/>
                <a:gridCol w="4343400"/>
                <a:gridCol w="5358384"/>
              </a:tblGrid>
              <a:tr h="438912">
                <a:tc>
                  <a:txBody>
                    <a:bodyPr/>
                    <a:lstStyle/>
                    <a:p>
                      <a:r>
                        <a:rPr sz="800" b="1">
                          <a:solidFill>
                            <a:srgbClr val="FFFFFF"/>
                          </a:solidFill>
                          <a:latin typeface="Aptos"/>
                        </a:rPr>
                        <a:t>RISK CATEGORY</a:t>
                      </a:r>
                    </a:p>
                  </a:txBody>
                  <a:tcPr marL="146304" marR="109728" anchor="ctr">
                    <a:solidFill>
                      <a:srgbClr val="0B1F3A"/>
                    </a:solidFill>
                  </a:tcPr>
                </a:tc>
                <a:tc>
                  <a:txBody>
                    <a:bodyPr/>
                    <a:lstStyle/>
                    <a:p>
                      <a:r>
                        <a:rPr sz="800" b="1">
                          <a:solidFill>
                            <a:srgbClr val="FFFFFF"/>
                          </a:solidFill>
                          <a:latin typeface="Aptos"/>
                        </a:rPr>
                        <a:t>RISK</a:t>
                      </a:r>
                    </a:p>
                  </a:txBody>
                  <a:tcPr marL="146304" marR="109728" anchor="ctr">
                    <a:solidFill>
                      <a:srgbClr val="0B1F3A"/>
                    </a:solidFill>
                  </a:tcPr>
                </a:tc>
                <a:tc>
                  <a:txBody>
                    <a:bodyPr/>
                    <a:lstStyle/>
                    <a:p>
                      <a:r>
                        <a:rPr sz="800" b="1">
                          <a:solidFill>
                            <a:srgbClr val="FFFFFF"/>
                          </a:solidFill>
                          <a:latin typeface="Aptos"/>
                        </a:rPr>
                        <a:t>MITIGATING STRATEGY</a:t>
                      </a:r>
                    </a:p>
                  </a:txBody>
                  <a:tcPr marL="146304" marR="109728" anchor="ctr">
                    <a:solidFill>
                      <a:srgbClr val="0B1F3A"/>
                    </a:solidFill>
                  </a:tcPr>
                </a:tc>
              </a:tr>
              <a:tr h="903427">
                <a:tc>
                  <a:txBody>
                    <a:bodyPr/>
                    <a:lstStyle/>
                    <a:p>
                      <a:r>
                        <a:rPr sz="800" b="1">
                          <a:solidFill>
                            <a:srgbClr val="087F72"/>
                          </a:solidFill>
                          <a:latin typeface="Aptos"/>
                        </a:rPr>
                        <a:t>TECHNICAL</a:t>
                      </a:r>
                    </a:p>
                  </a:txBody>
                  <a:tcPr marL="146304" marR="118872" marT="82296" marB="64008" anchor="ctr">
                    <a:solidFill>
                      <a:srgbClr val="FFFFFF"/>
                    </a:solidFill>
                  </a:tcPr>
                </a:tc>
                <a:tc>
                  <a:txBody>
                    <a:bodyPr/>
                    <a:lstStyle/>
                    <a:p>
                      <a:r>
                        <a:rPr sz="900" b="0">
                          <a:solidFill>
                            <a:srgbClr val="16324F"/>
                          </a:solidFill>
                          <a:latin typeface="Aptos"/>
                        </a:rPr>
                        <a:t>Scaling from validated tissue patches to full vascularised organs remains scientifically unsolved industry-wide.</a:t>
                      </a:r>
                    </a:p>
                  </a:txBody>
                  <a:tcPr marL="146304" marR="118872" marT="82296" marB="64008" anchor="ctr">
                    <a:solidFill>
                      <a:srgbClr val="FFFFFF"/>
                    </a:solidFill>
                  </a:tcPr>
                </a:tc>
                <a:tc>
                  <a:txBody>
                    <a:bodyPr/>
                    <a:lstStyle/>
                    <a:p>
                      <a:r>
                        <a:rPr sz="900" b="0">
                          <a:solidFill>
                            <a:srgbClr val="50657B"/>
                          </a:solidFill>
                          <a:latin typeface="Aptos"/>
                        </a:rPr>
                        <a:t>Monetise lower-complexity wound-care and orthopedic verticals before attempting whole-organ printing.</a:t>
                      </a:r>
                    </a:p>
                  </a:txBody>
                  <a:tcPr marL="146304" marR="118872" marT="82296" marB="64008" anchor="ctr">
                    <a:solidFill>
                      <a:srgbClr val="EDF9F6"/>
                    </a:solidFill>
                  </a:tcPr>
                </a:tc>
              </a:tr>
              <a:tr h="903427">
                <a:tc>
                  <a:txBody>
                    <a:bodyPr/>
                    <a:lstStyle/>
                    <a:p>
                      <a:r>
                        <a:rPr sz="800" b="1">
                          <a:solidFill>
                            <a:srgbClr val="087F72"/>
                          </a:solidFill>
                          <a:latin typeface="Aptos"/>
                        </a:rPr>
                        <a:t>REGULATORY</a:t>
                      </a:r>
                    </a:p>
                  </a:txBody>
                  <a:tcPr marL="146304" marR="118872" marT="82296" marB="64008" anchor="ctr">
                    <a:solidFill>
                      <a:srgbClr val="F1F5F8"/>
                    </a:solidFill>
                  </a:tcPr>
                </a:tc>
                <a:tc>
                  <a:txBody>
                    <a:bodyPr/>
                    <a:lstStyle/>
                    <a:p>
                      <a:r>
                        <a:rPr sz="900" b="0">
                          <a:solidFill>
                            <a:srgbClr val="16324F"/>
                          </a:solidFill>
                          <a:latin typeface="Aptos"/>
                        </a:rPr>
                        <a:t>FDA pathways for novel tissue-engineered products are long, costly and precedent-limited.</a:t>
                      </a:r>
                    </a:p>
                  </a:txBody>
                  <a:tcPr marL="146304" marR="118872" marT="82296" marB="64008" anchor="ctr">
                    <a:solidFill>
                      <a:srgbClr val="F1F5F8"/>
                    </a:solidFill>
                  </a:tcPr>
                </a:tc>
                <a:tc>
                  <a:txBody>
                    <a:bodyPr/>
                    <a:lstStyle/>
                    <a:p>
                      <a:r>
                        <a:rPr sz="900" b="0">
                          <a:solidFill>
                            <a:srgbClr val="50657B"/>
                          </a:solidFill>
                          <a:latin typeface="Aptos"/>
                        </a:rPr>
                        <a:t>Use the Symvess precedent; engage regulatory counsel in Year 1 and target lower-risk 510(k) products first.</a:t>
                      </a:r>
                    </a:p>
                  </a:txBody>
                  <a:tcPr marL="146304" marR="118872" marT="82296" marB="64008" anchor="ctr">
                    <a:solidFill>
                      <a:srgbClr val="EDF9F6"/>
                    </a:solidFill>
                  </a:tcPr>
                </a:tc>
              </a:tr>
              <a:tr h="903427">
                <a:tc>
                  <a:txBody>
                    <a:bodyPr/>
                    <a:lstStyle/>
                    <a:p>
                      <a:r>
                        <a:rPr sz="800" b="1">
                          <a:solidFill>
                            <a:srgbClr val="087F72"/>
                          </a:solidFill>
                          <a:latin typeface="Aptos"/>
                        </a:rPr>
                        <a:t>PLATFORM / ACCESS</a:t>
                      </a:r>
                    </a:p>
                  </a:txBody>
                  <a:tcPr marL="146304" marR="118872" marT="82296" marB="64008" anchor="ctr">
                    <a:solidFill>
                      <a:srgbClr val="FFFFFF"/>
                    </a:solidFill>
                  </a:tcPr>
                </a:tc>
                <a:tc>
                  <a:txBody>
                    <a:bodyPr/>
                    <a:lstStyle/>
                    <a:p>
                      <a:r>
                        <a:rPr sz="900" b="0">
                          <a:solidFill>
                            <a:srgbClr val="16324F"/>
                          </a:solidFill>
                          <a:latin typeface="Aptos"/>
                        </a:rPr>
                        <a:t>ISS retirement creates dependency risk if commercial successor stations are delayed.</a:t>
                      </a:r>
                    </a:p>
                  </a:txBody>
                  <a:tcPr marL="146304" marR="118872" marT="82296" marB="64008" anchor="ctr">
                    <a:solidFill>
                      <a:srgbClr val="FFFFFF"/>
                    </a:solidFill>
                  </a:tcPr>
                </a:tc>
                <a:tc>
                  <a:txBody>
                    <a:bodyPr/>
                    <a:lstStyle/>
                    <a:p>
                      <a:r>
                        <a:rPr sz="900" b="0">
                          <a:solidFill>
                            <a:srgbClr val="50657B"/>
                          </a:solidFill>
                          <a:latin typeface="Aptos"/>
                        </a:rPr>
                        <a:t>Station-agnostic hardware supports ISS, Starlab, Axiom, Orbital Reef and Vast, diversifying exposure.</a:t>
                      </a:r>
                    </a:p>
                  </a:txBody>
                  <a:tcPr marL="146304" marR="118872" marT="82296" marB="64008" anchor="ctr">
                    <a:solidFill>
                      <a:srgbClr val="EDF9F6"/>
                    </a:solidFill>
                  </a:tcPr>
                </a:tc>
              </a:tr>
              <a:tr h="903427">
                <a:tc>
                  <a:txBody>
                    <a:bodyPr/>
                    <a:lstStyle/>
                    <a:p>
                      <a:r>
                        <a:rPr sz="800" b="1">
                          <a:solidFill>
                            <a:srgbClr val="087F72"/>
                          </a:solidFill>
                          <a:latin typeface="Aptos"/>
                        </a:rPr>
                        <a:t>CAPITAL INTENSITY</a:t>
                      </a:r>
                    </a:p>
                  </a:txBody>
                  <a:tcPr marL="146304" marR="118872" marT="82296" marB="64008" anchor="ctr">
                    <a:solidFill>
                      <a:srgbClr val="F1F5F8"/>
                    </a:solidFill>
                  </a:tcPr>
                </a:tc>
                <a:tc>
                  <a:txBody>
                    <a:bodyPr/>
                    <a:lstStyle/>
                    <a:p>
                      <a:r>
                        <a:rPr sz="900" b="0">
                          <a:solidFill>
                            <a:srgbClr val="16324F"/>
                          </a:solidFill>
                          <a:latin typeface="Aptos"/>
                        </a:rPr>
                        <a:t>Flight missions, payload hardware and clinical trials require sustained, significant capital.</a:t>
                      </a:r>
                    </a:p>
                  </a:txBody>
                  <a:tcPr marL="146304" marR="118872" marT="82296" marB="64008" anchor="ctr">
                    <a:solidFill>
                      <a:srgbClr val="F1F5F8"/>
                    </a:solidFill>
                  </a:tcPr>
                </a:tc>
                <a:tc>
                  <a:txBody>
                    <a:bodyPr/>
                    <a:lstStyle/>
                    <a:p>
                      <a:r>
                        <a:rPr sz="900" b="0">
                          <a:solidFill>
                            <a:srgbClr val="50657B"/>
                          </a:solidFill>
                          <a:latin typeface="Aptos"/>
                        </a:rPr>
                        <a:t>Blend equity with non-dilutive NASA, ESA and DoD grants, following LambdaVision and Redwire precedent.</a:t>
                      </a:r>
                    </a:p>
                  </a:txBody>
                  <a:tcPr marL="146304" marR="118872" marT="82296" marB="64008" anchor="ctr">
                    <a:solidFill>
                      <a:srgbClr val="EDF9F6"/>
                    </a:solidFill>
                  </a:tcPr>
                </a:tc>
              </a:tr>
              <a:tr h="903427">
                <a:tc>
                  <a:txBody>
                    <a:bodyPr/>
                    <a:lstStyle/>
                    <a:p>
                      <a:r>
                        <a:rPr sz="800" b="1">
                          <a:solidFill>
                            <a:srgbClr val="087F72"/>
                          </a:solidFill>
                          <a:latin typeface="Aptos"/>
                        </a:rPr>
                        <a:t>COMPETITIVE</a:t>
                      </a:r>
                    </a:p>
                  </a:txBody>
                  <a:tcPr marL="146304" marR="118872" marT="82296" marB="64008" anchor="ctr">
                    <a:solidFill>
                      <a:srgbClr val="FFFFFF"/>
                    </a:solidFill>
                  </a:tcPr>
                </a:tc>
                <a:tc>
                  <a:txBody>
                    <a:bodyPr/>
                    <a:lstStyle/>
                    <a:p>
                      <a:r>
                        <a:rPr sz="900" b="0">
                          <a:solidFill>
                            <a:srgbClr val="16324F"/>
                          </a:solidFill>
                          <a:latin typeface="Aptos"/>
                        </a:rPr>
                        <a:t>Incumbents hold first-mover relationships with NASA and station operators.</a:t>
                      </a:r>
                    </a:p>
                  </a:txBody>
                  <a:tcPr marL="146304" marR="118872" marT="82296" marB="64008" anchor="ctr">
                    <a:solidFill>
                      <a:srgbClr val="FFFFFF"/>
                    </a:solidFill>
                  </a:tcPr>
                </a:tc>
                <a:tc>
                  <a:txBody>
                    <a:bodyPr/>
                    <a:lstStyle/>
                    <a:p>
                      <a:r>
                        <a:rPr sz="900" b="0">
                          <a:solidFill>
                            <a:srgbClr val="50657B"/>
                          </a:solidFill>
                          <a:latin typeface="Aptos"/>
                        </a:rPr>
                        <a:t>Differentiate on multi-vertical breadth and station-agnostic flexibility, not any single contract.</a:t>
                      </a:r>
                    </a:p>
                  </a:txBody>
                  <a:tcPr marL="146304" marR="118872" marT="82296" marB="64008" anchor="ctr">
                    <a:solidFill>
                      <a:srgbClr val="EDF9F6"/>
                    </a:solidFill>
                  </a:tcPr>
                </a:tc>
              </a:tr>
            </a:tbl>
          </a:graphicData>
        </a:graphic>
      </p:graphicFrame>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Rectangle 1"/>
          <p:cNvSpPr/>
          <p:nvPr/>
        </p:nvSpPr>
        <p:spPr>
          <a:xfrm>
            <a:off x="457200" y="256032"/>
            <a:ext cx="54864" cy="219456"/>
          </a:xfrm>
          <a:prstGeom prst="rect">
            <a:avLst/>
          </a:prstGeom>
          <a:solidFill>
            <a:srgbClr val="00A991"/>
          </a:solidFill>
          <a:ln>
            <a:solidFill>
              <a:srgbClr val="00A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3504" y="256032"/>
            <a:ext cx="4114800" cy="164592"/>
          </a:xfrm>
          <a:prstGeom prst="rect">
            <a:avLst/>
          </a:prstGeom>
          <a:noFill/>
        </p:spPr>
        <p:txBody>
          <a:bodyPr wrap="square" lIns="0" rIns="0" tIns="0" bIns="0" anchor="t">
            <a:spAutoFit/>
          </a:bodyPr>
          <a:lstStyle/>
          <a:p>
            <a:pPr algn="l">
              <a:lnSpc>
                <a:spcPct val="100000"/>
              </a:lnSpc>
              <a:spcAft>
                <a:spcPts val="0"/>
              </a:spcAft>
            </a:pPr>
            <a:r>
              <a:rPr sz="770" b="1">
                <a:solidFill>
                  <a:srgbClr val="087F72"/>
                </a:solidFill>
                <a:latin typeface="Aptos"/>
              </a:rPr>
              <a:t>ORGANISATION</a:t>
            </a:r>
          </a:p>
        </p:txBody>
      </p:sp>
      <p:sp>
        <p:nvSpPr>
          <p:cNvPr id="4" name="TextBox 3"/>
          <p:cNvSpPr txBox="1"/>
          <p:nvPr/>
        </p:nvSpPr>
        <p:spPr>
          <a:xfrm>
            <a:off x="457200" y="530352"/>
            <a:ext cx="11064240" cy="475488"/>
          </a:xfrm>
          <a:prstGeom prst="rect">
            <a:avLst/>
          </a:prstGeom>
          <a:noFill/>
        </p:spPr>
        <p:txBody>
          <a:bodyPr wrap="square" lIns="0" rIns="0" tIns="0" bIns="0" anchor="t">
            <a:spAutoFit/>
          </a:bodyPr>
          <a:lstStyle/>
          <a:p>
            <a:pPr algn="l">
              <a:lnSpc>
                <a:spcPct val="100000"/>
              </a:lnSpc>
              <a:spcAft>
                <a:spcPts val="0"/>
              </a:spcAft>
            </a:pPr>
            <a:r>
              <a:rPr sz="2550" b="1">
                <a:solidFill>
                  <a:srgbClr val="0B1F3A"/>
                </a:solidFill>
                <a:latin typeface="Aptos Display"/>
              </a:rPr>
              <a:t>Team &amp; Scientific Advisory Approach</a:t>
            </a:r>
          </a:p>
        </p:txBody>
      </p:sp>
      <p:sp>
        <p:nvSpPr>
          <p:cNvPr id="5" name="TextBox 4"/>
          <p:cNvSpPr txBox="1"/>
          <p:nvPr/>
        </p:nvSpPr>
        <p:spPr>
          <a:xfrm>
            <a:off x="457200" y="1051560"/>
            <a:ext cx="11064240" cy="246888"/>
          </a:xfrm>
          <a:prstGeom prst="rect">
            <a:avLst/>
          </a:prstGeom>
          <a:noFill/>
        </p:spPr>
        <p:txBody>
          <a:bodyPr wrap="square" lIns="0" rIns="0" tIns="0" bIns="0" anchor="t">
            <a:spAutoFit/>
          </a:bodyPr>
          <a:lstStyle/>
          <a:p>
            <a:pPr algn="l">
              <a:lnSpc>
                <a:spcPct val="100000"/>
              </a:lnSpc>
              <a:spcAft>
                <a:spcPts val="0"/>
              </a:spcAft>
            </a:pPr>
            <a:r>
              <a:rPr sz="1019" b="0">
                <a:solidFill>
                  <a:srgbClr val="50657B"/>
                </a:solidFill>
                <a:latin typeface="Aptos"/>
              </a:rPr>
              <a:t>Series A hiring blueprint and target advisory profile; positions shown are planned roles, not current appointments.</a:t>
            </a:r>
          </a:p>
        </p:txBody>
      </p:sp>
      <p:cxnSp>
        <p:nvCxnSpPr>
          <p:cNvPr id="6" name="Connector 5"/>
          <p:cNvCxnSpPr/>
          <p:nvPr/>
        </p:nvCxnSpPr>
        <p:spPr>
          <a:xfrm>
            <a:off x="457200" y="6510528"/>
            <a:ext cx="11274552" cy="0"/>
          </a:xfrm>
          <a:prstGeom prst="line">
            <a:avLst/>
          </a:prstGeom>
          <a:ln w="7620">
            <a:solidFill>
              <a:srgbClr val="D7E1EA"/>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457200" y="6565392"/>
            <a:ext cx="1645920" cy="109728"/>
          </a:xfrm>
          <a:prstGeom prst="rect">
            <a:avLst/>
          </a:prstGeom>
          <a:noFill/>
        </p:spPr>
        <p:txBody>
          <a:bodyPr wrap="square" lIns="0" rIns="0" tIns="0" bIns="0" anchor="t">
            <a:spAutoFit/>
          </a:bodyPr>
          <a:lstStyle/>
          <a:p>
            <a:pPr algn="l">
              <a:lnSpc>
                <a:spcPct val="100000"/>
              </a:lnSpc>
              <a:spcAft>
                <a:spcPts val="0"/>
              </a:spcAft>
            </a:pPr>
            <a:r>
              <a:rPr sz="670" b="1">
                <a:solidFill>
                  <a:srgbClr val="708399"/>
                </a:solidFill>
                <a:latin typeface="Aptos"/>
              </a:rPr>
              <a:t>SAMUEL SPACE</a:t>
            </a:r>
          </a:p>
        </p:txBody>
      </p:sp>
      <p:sp>
        <p:nvSpPr>
          <p:cNvPr id="8" name="TextBox 7"/>
          <p:cNvSpPr txBox="1"/>
          <p:nvPr/>
        </p:nvSpPr>
        <p:spPr>
          <a:xfrm>
            <a:off x="10927080" y="6565392"/>
            <a:ext cx="804672" cy="109728"/>
          </a:xfrm>
          <a:prstGeom prst="rect">
            <a:avLst/>
          </a:prstGeom>
          <a:noFill/>
        </p:spPr>
        <p:txBody>
          <a:bodyPr wrap="square" lIns="0" rIns="0" tIns="0" bIns="0" anchor="t">
            <a:spAutoFit/>
          </a:bodyPr>
          <a:lstStyle/>
          <a:p>
            <a:pPr algn="r">
              <a:lnSpc>
                <a:spcPct val="100000"/>
              </a:lnSpc>
              <a:spcAft>
                <a:spcPts val="0"/>
              </a:spcAft>
            </a:pPr>
            <a:r>
              <a:rPr sz="670" b="1">
                <a:solidFill>
                  <a:srgbClr val="708399"/>
                </a:solidFill>
                <a:latin typeface="Aptos"/>
              </a:rPr>
              <a:t>19 / 21</a:t>
            </a:r>
          </a:p>
        </p:txBody>
      </p:sp>
      <p:sp>
        <p:nvSpPr>
          <p:cNvPr id="9" name="Rounded Rectangle 8"/>
          <p:cNvSpPr/>
          <p:nvPr/>
        </p:nvSpPr>
        <p:spPr>
          <a:xfrm>
            <a:off x="457200" y="1572768"/>
            <a:ext cx="2679192" cy="2148840"/>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58368" y="1783080"/>
            <a:ext cx="621792" cy="310896"/>
          </a:xfrm>
          <a:prstGeom prst="roundRect">
            <a:avLst/>
          </a:prstGeom>
          <a:solidFill>
            <a:srgbClr val="DDF5F0"/>
          </a:solidFill>
          <a:ln w="6350">
            <a:solidFill>
              <a:srgbClr val="DD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58368" y="1783080"/>
            <a:ext cx="621792" cy="310896"/>
          </a:xfrm>
          <a:prstGeom prst="rect">
            <a:avLst/>
          </a:prstGeom>
          <a:noFill/>
        </p:spPr>
        <p:txBody>
          <a:bodyPr wrap="square" lIns="0" rIns="0" tIns="0" bIns="0" anchor="ctr">
            <a:spAutoFit/>
          </a:bodyPr>
          <a:lstStyle/>
          <a:p>
            <a:pPr algn="ctr">
              <a:lnSpc>
                <a:spcPct val="100000"/>
              </a:lnSpc>
              <a:spcAft>
                <a:spcPts val="0"/>
              </a:spcAft>
            </a:pPr>
            <a:r>
              <a:rPr sz="850" b="1">
                <a:solidFill>
                  <a:srgbClr val="087F72"/>
                </a:solidFill>
                <a:latin typeface="Aptos"/>
              </a:rPr>
              <a:t>CEO</a:t>
            </a:r>
          </a:p>
        </p:txBody>
      </p:sp>
      <p:sp>
        <p:nvSpPr>
          <p:cNvPr id="12" name="TextBox 11"/>
          <p:cNvSpPr txBox="1"/>
          <p:nvPr/>
        </p:nvSpPr>
        <p:spPr>
          <a:xfrm>
            <a:off x="658368" y="2322576"/>
            <a:ext cx="2286000" cy="530352"/>
          </a:xfrm>
          <a:prstGeom prst="rect">
            <a:avLst/>
          </a:prstGeom>
          <a:noFill/>
        </p:spPr>
        <p:txBody>
          <a:bodyPr wrap="square" lIns="0" rIns="0" tIns="0" bIns="0" anchor="t">
            <a:spAutoFit/>
          </a:bodyPr>
          <a:lstStyle/>
          <a:p>
            <a:pPr algn="l">
              <a:lnSpc>
                <a:spcPct val="100000"/>
              </a:lnSpc>
              <a:spcAft>
                <a:spcPts val="0"/>
              </a:spcAft>
            </a:pPr>
            <a:r>
              <a:rPr sz="1330" b="1">
                <a:solidFill>
                  <a:srgbClr val="0B1F3A"/>
                </a:solidFill>
                <a:latin typeface="Aptos Display"/>
              </a:rPr>
              <a:t>Founder / Chief Executive Officer</a:t>
            </a:r>
          </a:p>
        </p:txBody>
      </p:sp>
      <p:sp>
        <p:nvSpPr>
          <p:cNvPr id="13" name="TextBox 12"/>
          <p:cNvSpPr txBox="1"/>
          <p:nvPr/>
        </p:nvSpPr>
        <p:spPr>
          <a:xfrm>
            <a:off x="658368" y="2907792"/>
            <a:ext cx="2286000" cy="585216"/>
          </a:xfrm>
          <a:prstGeom prst="rect">
            <a:avLst/>
          </a:prstGeom>
          <a:noFill/>
        </p:spPr>
        <p:txBody>
          <a:bodyPr wrap="square" lIns="0" rIns="0" tIns="0" bIns="0" anchor="t">
            <a:spAutoFit/>
          </a:bodyPr>
          <a:lstStyle/>
          <a:p>
            <a:pPr algn="l">
              <a:lnSpc>
                <a:spcPct val="102000"/>
              </a:lnSpc>
              <a:spcAft>
                <a:spcPts val="0"/>
              </a:spcAft>
            </a:pPr>
            <a:r>
              <a:rPr sz="919" b="0">
                <a:solidFill>
                  <a:srgbClr val="50657B"/>
                </a:solidFill>
                <a:latin typeface="Aptos"/>
              </a:rPr>
              <a:t>Commercial space or biotech venture leadership; record building regulated hardware or therapeutics businesses from seed to scale.</a:t>
            </a:r>
          </a:p>
        </p:txBody>
      </p:sp>
      <p:sp>
        <p:nvSpPr>
          <p:cNvPr id="14" name="Rounded Rectangle 13"/>
          <p:cNvSpPr/>
          <p:nvPr/>
        </p:nvSpPr>
        <p:spPr>
          <a:xfrm>
            <a:off x="3291840" y="1572768"/>
            <a:ext cx="2679192" cy="2148840"/>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3493008" y="1783080"/>
            <a:ext cx="621792" cy="310896"/>
          </a:xfrm>
          <a:prstGeom prst="roundRect">
            <a:avLst/>
          </a:prstGeom>
          <a:solidFill>
            <a:srgbClr val="DDF5F0"/>
          </a:solidFill>
          <a:ln w="6350">
            <a:solidFill>
              <a:srgbClr val="DD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493008" y="1783080"/>
            <a:ext cx="621792" cy="310896"/>
          </a:xfrm>
          <a:prstGeom prst="rect">
            <a:avLst/>
          </a:prstGeom>
          <a:noFill/>
        </p:spPr>
        <p:txBody>
          <a:bodyPr wrap="square" lIns="0" rIns="0" tIns="0" bIns="0" anchor="ctr">
            <a:spAutoFit/>
          </a:bodyPr>
          <a:lstStyle/>
          <a:p>
            <a:pPr algn="ctr">
              <a:lnSpc>
                <a:spcPct val="100000"/>
              </a:lnSpc>
              <a:spcAft>
                <a:spcPts val="0"/>
              </a:spcAft>
            </a:pPr>
            <a:r>
              <a:rPr sz="850" b="1">
                <a:solidFill>
                  <a:srgbClr val="087F72"/>
                </a:solidFill>
                <a:latin typeface="Aptos"/>
              </a:rPr>
              <a:t>CSO</a:t>
            </a:r>
          </a:p>
        </p:txBody>
      </p:sp>
      <p:sp>
        <p:nvSpPr>
          <p:cNvPr id="17" name="TextBox 16"/>
          <p:cNvSpPr txBox="1"/>
          <p:nvPr/>
        </p:nvSpPr>
        <p:spPr>
          <a:xfrm>
            <a:off x="3493008" y="2322576"/>
            <a:ext cx="2286000" cy="530352"/>
          </a:xfrm>
          <a:prstGeom prst="rect">
            <a:avLst/>
          </a:prstGeom>
          <a:noFill/>
        </p:spPr>
        <p:txBody>
          <a:bodyPr wrap="square" lIns="0" rIns="0" tIns="0" bIns="0" anchor="t">
            <a:spAutoFit/>
          </a:bodyPr>
          <a:lstStyle/>
          <a:p>
            <a:pPr algn="l">
              <a:lnSpc>
                <a:spcPct val="100000"/>
              </a:lnSpc>
              <a:spcAft>
                <a:spcPts val="0"/>
              </a:spcAft>
            </a:pPr>
            <a:r>
              <a:rPr sz="1330" b="1">
                <a:solidFill>
                  <a:srgbClr val="0B1F3A"/>
                </a:solidFill>
                <a:latin typeface="Aptos Display"/>
              </a:rPr>
              <a:t>Chief Scientific Officer</a:t>
            </a:r>
          </a:p>
        </p:txBody>
      </p:sp>
      <p:sp>
        <p:nvSpPr>
          <p:cNvPr id="18" name="TextBox 17"/>
          <p:cNvSpPr txBox="1"/>
          <p:nvPr/>
        </p:nvSpPr>
        <p:spPr>
          <a:xfrm>
            <a:off x="3493008" y="2907792"/>
            <a:ext cx="2286000" cy="585216"/>
          </a:xfrm>
          <a:prstGeom prst="rect">
            <a:avLst/>
          </a:prstGeom>
          <a:noFill/>
        </p:spPr>
        <p:txBody>
          <a:bodyPr wrap="square" lIns="0" rIns="0" tIns="0" bIns="0" anchor="t">
            <a:spAutoFit/>
          </a:bodyPr>
          <a:lstStyle/>
          <a:p>
            <a:pPr algn="l">
              <a:lnSpc>
                <a:spcPct val="102000"/>
              </a:lnSpc>
              <a:spcAft>
                <a:spcPts val="0"/>
              </a:spcAft>
            </a:pPr>
            <a:r>
              <a:rPr sz="919" b="0">
                <a:solidFill>
                  <a:srgbClr val="50657B"/>
                </a:solidFill>
                <a:latin typeface="Aptos"/>
              </a:rPr>
              <a:t>PhD-level tissue engineering, stem-cell biology or regenerative medicine expertise; peer-reviewed bioprinting research.</a:t>
            </a:r>
          </a:p>
        </p:txBody>
      </p:sp>
      <p:sp>
        <p:nvSpPr>
          <p:cNvPr id="19" name="Rounded Rectangle 18"/>
          <p:cNvSpPr/>
          <p:nvPr/>
        </p:nvSpPr>
        <p:spPr>
          <a:xfrm>
            <a:off x="6126480" y="1572768"/>
            <a:ext cx="2679192" cy="2148840"/>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6327648" y="1783080"/>
            <a:ext cx="621792" cy="310896"/>
          </a:xfrm>
          <a:prstGeom prst="roundRect">
            <a:avLst/>
          </a:prstGeom>
          <a:solidFill>
            <a:srgbClr val="DDF5F0"/>
          </a:solidFill>
          <a:ln w="6350">
            <a:solidFill>
              <a:srgbClr val="DD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327648" y="1783080"/>
            <a:ext cx="621792" cy="310896"/>
          </a:xfrm>
          <a:prstGeom prst="rect">
            <a:avLst/>
          </a:prstGeom>
          <a:noFill/>
        </p:spPr>
        <p:txBody>
          <a:bodyPr wrap="square" lIns="0" rIns="0" tIns="0" bIns="0" anchor="ctr">
            <a:spAutoFit/>
          </a:bodyPr>
          <a:lstStyle/>
          <a:p>
            <a:pPr algn="ctr">
              <a:lnSpc>
                <a:spcPct val="100000"/>
              </a:lnSpc>
              <a:spcAft>
                <a:spcPts val="0"/>
              </a:spcAft>
            </a:pPr>
            <a:r>
              <a:rPr sz="850" b="1">
                <a:solidFill>
                  <a:srgbClr val="087F72"/>
                </a:solidFill>
                <a:latin typeface="Aptos"/>
              </a:rPr>
              <a:t>VPE</a:t>
            </a:r>
          </a:p>
        </p:txBody>
      </p:sp>
      <p:sp>
        <p:nvSpPr>
          <p:cNvPr id="22" name="TextBox 21"/>
          <p:cNvSpPr txBox="1"/>
          <p:nvPr/>
        </p:nvSpPr>
        <p:spPr>
          <a:xfrm>
            <a:off x="6327648" y="2322576"/>
            <a:ext cx="2286000" cy="530352"/>
          </a:xfrm>
          <a:prstGeom prst="rect">
            <a:avLst/>
          </a:prstGeom>
          <a:noFill/>
        </p:spPr>
        <p:txBody>
          <a:bodyPr wrap="square" lIns="0" rIns="0" tIns="0" bIns="0" anchor="t">
            <a:spAutoFit/>
          </a:bodyPr>
          <a:lstStyle/>
          <a:p>
            <a:pPr algn="l">
              <a:lnSpc>
                <a:spcPct val="100000"/>
              </a:lnSpc>
              <a:spcAft>
                <a:spcPts val="0"/>
              </a:spcAft>
            </a:pPr>
            <a:r>
              <a:rPr sz="1330" b="1">
                <a:solidFill>
                  <a:srgbClr val="0B1F3A"/>
                </a:solidFill>
                <a:latin typeface="Aptos Display"/>
              </a:rPr>
              <a:t>VP, Payload Engineering</a:t>
            </a:r>
          </a:p>
        </p:txBody>
      </p:sp>
      <p:sp>
        <p:nvSpPr>
          <p:cNvPr id="23" name="TextBox 22"/>
          <p:cNvSpPr txBox="1"/>
          <p:nvPr/>
        </p:nvSpPr>
        <p:spPr>
          <a:xfrm>
            <a:off x="6327648" y="2907792"/>
            <a:ext cx="2286000" cy="585216"/>
          </a:xfrm>
          <a:prstGeom prst="rect">
            <a:avLst/>
          </a:prstGeom>
          <a:noFill/>
        </p:spPr>
        <p:txBody>
          <a:bodyPr wrap="square" lIns="0" rIns="0" tIns="0" bIns="0" anchor="t">
            <a:spAutoFit/>
          </a:bodyPr>
          <a:lstStyle/>
          <a:p>
            <a:pPr algn="l">
              <a:lnSpc>
                <a:spcPct val="102000"/>
              </a:lnSpc>
              <a:spcAft>
                <a:spcPts val="0"/>
              </a:spcAft>
            </a:pPr>
            <a:r>
              <a:rPr sz="919" b="0">
                <a:solidFill>
                  <a:srgbClr val="50657B"/>
                </a:solidFill>
                <a:latin typeface="Aptos"/>
              </a:rPr>
              <a:t>Aerospace hardware background with experience flight-qualifying instrumentation for ISS or commercial LEO payloads.</a:t>
            </a:r>
          </a:p>
        </p:txBody>
      </p:sp>
      <p:sp>
        <p:nvSpPr>
          <p:cNvPr id="24" name="Rounded Rectangle 23"/>
          <p:cNvSpPr/>
          <p:nvPr/>
        </p:nvSpPr>
        <p:spPr>
          <a:xfrm>
            <a:off x="8961120" y="1572768"/>
            <a:ext cx="2679192" cy="2148840"/>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162288" y="1783080"/>
            <a:ext cx="621792" cy="310896"/>
          </a:xfrm>
          <a:prstGeom prst="roundRect">
            <a:avLst/>
          </a:prstGeom>
          <a:solidFill>
            <a:srgbClr val="DDF5F0"/>
          </a:solidFill>
          <a:ln w="6350">
            <a:solidFill>
              <a:srgbClr val="DDF5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62288" y="1783080"/>
            <a:ext cx="621792" cy="310896"/>
          </a:xfrm>
          <a:prstGeom prst="rect">
            <a:avLst/>
          </a:prstGeom>
          <a:noFill/>
        </p:spPr>
        <p:txBody>
          <a:bodyPr wrap="square" lIns="0" rIns="0" tIns="0" bIns="0" anchor="ctr">
            <a:spAutoFit/>
          </a:bodyPr>
          <a:lstStyle/>
          <a:p>
            <a:pPr algn="ctr">
              <a:lnSpc>
                <a:spcPct val="100000"/>
              </a:lnSpc>
              <a:spcAft>
                <a:spcPts val="0"/>
              </a:spcAft>
            </a:pPr>
            <a:r>
              <a:rPr sz="850" b="1">
                <a:solidFill>
                  <a:srgbClr val="087F72"/>
                </a:solidFill>
                <a:latin typeface="Aptos"/>
              </a:rPr>
              <a:t>RA</a:t>
            </a:r>
          </a:p>
        </p:txBody>
      </p:sp>
      <p:sp>
        <p:nvSpPr>
          <p:cNvPr id="27" name="TextBox 26"/>
          <p:cNvSpPr txBox="1"/>
          <p:nvPr/>
        </p:nvSpPr>
        <p:spPr>
          <a:xfrm>
            <a:off x="9162288" y="2322576"/>
            <a:ext cx="2286000" cy="530352"/>
          </a:xfrm>
          <a:prstGeom prst="rect">
            <a:avLst/>
          </a:prstGeom>
          <a:noFill/>
        </p:spPr>
        <p:txBody>
          <a:bodyPr wrap="square" lIns="0" rIns="0" tIns="0" bIns="0" anchor="t">
            <a:spAutoFit/>
          </a:bodyPr>
          <a:lstStyle/>
          <a:p>
            <a:pPr algn="l">
              <a:lnSpc>
                <a:spcPct val="100000"/>
              </a:lnSpc>
              <a:spcAft>
                <a:spcPts val="0"/>
              </a:spcAft>
            </a:pPr>
            <a:r>
              <a:rPr sz="1330" b="1">
                <a:solidFill>
                  <a:srgbClr val="0B1F3A"/>
                </a:solidFill>
                <a:latin typeface="Aptos Display"/>
              </a:rPr>
              <a:t>Head of Regulatory Affairs</a:t>
            </a:r>
          </a:p>
        </p:txBody>
      </p:sp>
      <p:sp>
        <p:nvSpPr>
          <p:cNvPr id="28" name="TextBox 27"/>
          <p:cNvSpPr txBox="1"/>
          <p:nvPr/>
        </p:nvSpPr>
        <p:spPr>
          <a:xfrm>
            <a:off x="9162288" y="2907792"/>
            <a:ext cx="2286000" cy="585216"/>
          </a:xfrm>
          <a:prstGeom prst="rect">
            <a:avLst/>
          </a:prstGeom>
          <a:noFill/>
        </p:spPr>
        <p:txBody>
          <a:bodyPr wrap="square" lIns="0" rIns="0" tIns="0" bIns="0" anchor="t">
            <a:spAutoFit/>
          </a:bodyPr>
          <a:lstStyle/>
          <a:p>
            <a:pPr algn="l">
              <a:lnSpc>
                <a:spcPct val="102000"/>
              </a:lnSpc>
              <a:spcAft>
                <a:spcPts val="0"/>
              </a:spcAft>
            </a:pPr>
            <a:r>
              <a:rPr sz="919" b="0">
                <a:solidFill>
                  <a:srgbClr val="50657B"/>
                </a:solidFill>
                <a:latin typeface="Aptos"/>
              </a:rPr>
              <a:t>FDA medical device / biologics pathway expertise, including 510(k) and PMA submissions.</a:t>
            </a:r>
          </a:p>
        </p:txBody>
      </p:sp>
      <p:sp>
        <p:nvSpPr>
          <p:cNvPr id="29" name="Rounded Rectangle 28"/>
          <p:cNvSpPr/>
          <p:nvPr/>
        </p:nvSpPr>
        <p:spPr>
          <a:xfrm>
            <a:off x="457200" y="3986784"/>
            <a:ext cx="11274552" cy="2267712"/>
          </a:xfrm>
          <a:prstGeom prst="roundRect">
            <a:avLst/>
          </a:prstGeom>
          <a:solidFill>
            <a:srgbClr val="0B1F3A"/>
          </a:solidFill>
          <a:ln w="10160">
            <a:solidFill>
              <a:srgbClr val="0B1F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9619488" y="4261104"/>
            <a:ext cx="1755648" cy="274320"/>
          </a:xfrm>
          <a:prstGeom prst="roundRect">
            <a:avLst/>
          </a:prstGeom>
          <a:solidFill>
            <a:srgbClr val="173653"/>
          </a:solidFill>
          <a:ln w="6350">
            <a:solidFill>
              <a:srgbClr val="2A4A6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619488" y="4261104"/>
            <a:ext cx="1755648" cy="274320"/>
          </a:xfrm>
          <a:prstGeom prst="rect">
            <a:avLst/>
          </a:prstGeom>
          <a:noFill/>
        </p:spPr>
        <p:txBody>
          <a:bodyPr wrap="square" lIns="0" rIns="0" tIns="0" bIns="0" anchor="ctr">
            <a:spAutoFit/>
          </a:bodyPr>
          <a:lstStyle/>
          <a:p>
            <a:pPr algn="ctr">
              <a:lnSpc>
                <a:spcPct val="100000"/>
              </a:lnSpc>
              <a:spcAft>
                <a:spcPts val="0"/>
              </a:spcAft>
            </a:pPr>
            <a:r>
              <a:rPr sz="730" b="1">
                <a:solidFill>
                  <a:srgbClr val="80D8CA"/>
                </a:solidFill>
                <a:latin typeface="Aptos"/>
              </a:rPr>
              <a:t>IN FORMATION</a:t>
            </a:r>
          </a:p>
        </p:txBody>
      </p:sp>
      <p:sp>
        <p:nvSpPr>
          <p:cNvPr id="32" name="TextBox 31"/>
          <p:cNvSpPr txBox="1"/>
          <p:nvPr/>
        </p:nvSpPr>
        <p:spPr>
          <a:xfrm>
            <a:off x="749808" y="4279392"/>
            <a:ext cx="3108960" cy="182880"/>
          </a:xfrm>
          <a:prstGeom prst="rect">
            <a:avLst/>
          </a:prstGeom>
          <a:noFill/>
        </p:spPr>
        <p:txBody>
          <a:bodyPr wrap="square" lIns="0" rIns="0" tIns="0" bIns="0" anchor="t">
            <a:spAutoFit/>
          </a:bodyPr>
          <a:lstStyle/>
          <a:p>
            <a:pPr algn="l">
              <a:lnSpc>
                <a:spcPct val="100000"/>
              </a:lnSpc>
              <a:spcAft>
                <a:spcPts val="0"/>
              </a:spcAft>
            </a:pPr>
            <a:r>
              <a:rPr sz="800" b="1">
                <a:solidFill>
                  <a:srgbClr val="7CD5C6"/>
                </a:solidFill>
                <a:latin typeface="Aptos"/>
              </a:rPr>
              <a:t>SCIENTIFIC ADVISORY BOARD</a:t>
            </a:r>
          </a:p>
        </p:txBody>
      </p:sp>
      <p:sp>
        <p:nvSpPr>
          <p:cNvPr id="33" name="TextBox 32"/>
          <p:cNvSpPr txBox="1"/>
          <p:nvPr/>
        </p:nvSpPr>
        <p:spPr>
          <a:xfrm>
            <a:off x="749808" y="4690872"/>
            <a:ext cx="5623560" cy="502920"/>
          </a:xfrm>
          <a:prstGeom prst="rect">
            <a:avLst/>
          </a:prstGeom>
          <a:noFill/>
        </p:spPr>
        <p:txBody>
          <a:bodyPr wrap="square" lIns="0" rIns="0" tIns="0" bIns="0" anchor="t">
            <a:spAutoFit/>
          </a:bodyPr>
          <a:lstStyle/>
          <a:p>
            <a:pPr algn="l">
              <a:lnSpc>
                <a:spcPct val="100000"/>
              </a:lnSpc>
              <a:spcAft>
                <a:spcPts val="0"/>
              </a:spcAft>
            </a:pPr>
            <a:r>
              <a:rPr sz="1700" b="1">
                <a:solidFill>
                  <a:srgbClr val="FFFFFF"/>
                </a:solidFill>
                <a:latin typeface="Aptos Display"/>
              </a:rPr>
              <a:t>Building an advisory network across the disciplines proven essential by the field's existing leaders.</a:t>
            </a:r>
          </a:p>
        </p:txBody>
      </p:sp>
      <p:sp>
        <p:nvSpPr>
          <p:cNvPr id="34" name="Oval 33"/>
          <p:cNvSpPr/>
          <p:nvPr/>
        </p:nvSpPr>
        <p:spPr>
          <a:xfrm>
            <a:off x="6739128" y="4736592"/>
            <a:ext cx="310896" cy="310896"/>
          </a:xfrm>
          <a:prstGeom prst="ellipse">
            <a:avLst/>
          </a:prstGeom>
          <a:solidFill>
            <a:srgbClr val="00A991"/>
          </a:solidFill>
          <a:ln w="6350">
            <a:solidFill>
              <a:srgbClr val="00A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6739128" y="4736592"/>
            <a:ext cx="310896" cy="310896"/>
          </a:xfrm>
          <a:prstGeom prst="rect">
            <a:avLst/>
          </a:prstGeom>
          <a:noFill/>
        </p:spPr>
        <p:txBody>
          <a:bodyPr wrap="square" lIns="0" rIns="0" tIns="0" bIns="0" anchor="ctr">
            <a:spAutoFit/>
          </a:bodyPr>
          <a:lstStyle/>
          <a:p>
            <a:pPr algn="ctr">
              <a:lnSpc>
                <a:spcPct val="100000"/>
              </a:lnSpc>
              <a:spcAft>
                <a:spcPts val="0"/>
              </a:spcAft>
            </a:pPr>
            <a:r>
              <a:rPr sz="700" b="1">
                <a:solidFill>
                  <a:srgbClr val="FFFFFF"/>
                </a:solidFill>
                <a:latin typeface="Aptos"/>
              </a:rPr>
              <a:t>01</a:t>
            </a:r>
          </a:p>
        </p:txBody>
      </p:sp>
      <p:sp>
        <p:nvSpPr>
          <p:cNvPr id="36" name="TextBox 35"/>
          <p:cNvSpPr txBox="1"/>
          <p:nvPr/>
        </p:nvSpPr>
        <p:spPr>
          <a:xfrm>
            <a:off x="7196328" y="4727448"/>
            <a:ext cx="1691640" cy="347472"/>
          </a:xfrm>
          <a:prstGeom prst="rect">
            <a:avLst/>
          </a:prstGeom>
          <a:noFill/>
        </p:spPr>
        <p:txBody>
          <a:bodyPr wrap="square" lIns="0" rIns="0" tIns="0" bIns="0" anchor="t">
            <a:spAutoFit/>
          </a:bodyPr>
          <a:lstStyle/>
          <a:p>
            <a:pPr algn="l">
              <a:lnSpc>
                <a:spcPct val="100000"/>
              </a:lnSpc>
              <a:spcAft>
                <a:spcPts val="0"/>
              </a:spcAft>
            </a:pPr>
            <a:r>
              <a:rPr sz="900" b="1">
                <a:solidFill>
                  <a:srgbClr val="D5E0EA"/>
                </a:solidFill>
                <a:latin typeface="Aptos"/>
              </a:rPr>
              <a:t>Stem-cell &amp; cardiac tissue biology</a:t>
            </a:r>
          </a:p>
        </p:txBody>
      </p:sp>
      <p:sp>
        <p:nvSpPr>
          <p:cNvPr id="37" name="Oval 36"/>
          <p:cNvSpPr/>
          <p:nvPr/>
        </p:nvSpPr>
        <p:spPr>
          <a:xfrm>
            <a:off x="9025128" y="4736592"/>
            <a:ext cx="310896" cy="310896"/>
          </a:xfrm>
          <a:prstGeom prst="ellipse">
            <a:avLst/>
          </a:prstGeom>
          <a:solidFill>
            <a:srgbClr val="00A991"/>
          </a:solidFill>
          <a:ln w="6350">
            <a:solidFill>
              <a:srgbClr val="00A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025128" y="4736592"/>
            <a:ext cx="310896" cy="310896"/>
          </a:xfrm>
          <a:prstGeom prst="rect">
            <a:avLst/>
          </a:prstGeom>
          <a:noFill/>
        </p:spPr>
        <p:txBody>
          <a:bodyPr wrap="square" lIns="0" rIns="0" tIns="0" bIns="0" anchor="ctr">
            <a:spAutoFit/>
          </a:bodyPr>
          <a:lstStyle/>
          <a:p>
            <a:pPr algn="ctr">
              <a:lnSpc>
                <a:spcPct val="100000"/>
              </a:lnSpc>
              <a:spcAft>
                <a:spcPts val="0"/>
              </a:spcAft>
            </a:pPr>
            <a:r>
              <a:rPr sz="700" b="1">
                <a:solidFill>
                  <a:srgbClr val="FFFFFF"/>
                </a:solidFill>
                <a:latin typeface="Aptos"/>
              </a:rPr>
              <a:t>02</a:t>
            </a:r>
          </a:p>
        </p:txBody>
      </p:sp>
      <p:sp>
        <p:nvSpPr>
          <p:cNvPr id="39" name="TextBox 38"/>
          <p:cNvSpPr txBox="1"/>
          <p:nvPr/>
        </p:nvSpPr>
        <p:spPr>
          <a:xfrm>
            <a:off x="9482328" y="4727448"/>
            <a:ext cx="1691640" cy="347472"/>
          </a:xfrm>
          <a:prstGeom prst="rect">
            <a:avLst/>
          </a:prstGeom>
          <a:noFill/>
        </p:spPr>
        <p:txBody>
          <a:bodyPr wrap="square" lIns="0" rIns="0" tIns="0" bIns="0" anchor="t">
            <a:spAutoFit/>
          </a:bodyPr>
          <a:lstStyle/>
          <a:p>
            <a:pPr algn="l">
              <a:lnSpc>
                <a:spcPct val="100000"/>
              </a:lnSpc>
              <a:spcAft>
                <a:spcPts val="0"/>
              </a:spcAft>
            </a:pPr>
            <a:r>
              <a:rPr sz="900" b="1">
                <a:solidFill>
                  <a:srgbClr val="D5E0EA"/>
                </a:solidFill>
                <a:latin typeface="Aptos"/>
              </a:rPr>
              <a:t>Microgravity payload design</a:t>
            </a:r>
          </a:p>
        </p:txBody>
      </p:sp>
      <p:sp>
        <p:nvSpPr>
          <p:cNvPr id="40" name="Oval 39"/>
          <p:cNvSpPr/>
          <p:nvPr/>
        </p:nvSpPr>
        <p:spPr>
          <a:xfrm>
            <a:off x="6739128" y="5330952"/>
            <a:ext cx="310896" cy="310896"/>
          </a:xfrm>
          <a:prstGeom prst="ellipse">
            <a:avLst/>
          </a:prstGeom>
          <a:solidFill>
            <a:srgbClr val="00A991"/>
          </a:solidFill>
          <a:ln w="6350">
            <a:solidFill>
              <a:srgbClr val="00A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739128" y="5330952"/>
            <a:ext cx="310896" cy="310896"/>
          </a:xfrm>
          <a:prstGeom prst="rect">
            <a:avLst/>
          </a:prstGeom>
          <a:noFill/>
        </p:spPr>
        <p:txBody>
          <a:bodyPr wrap="square" lIns="0" rIns="0" tIns="0" bIns="0" anchor="ctr">
            <a:spAutoFit/>
          </a:bodyPr>
          <a:lstStyle/>
          <a:p>
            <a:pPr algn="ctr">
              <a:lnSpc>
                <a:spcPct val="100000"/>
              </a:lnSpc>
              <a:spcAft>
                <a:spcPts val="0"/>
              </a:spcAft>
            </a:pPr>
            <a:r>
              <a:rPr sz="700" b="1">
                <a:solidFill>
                  <a:srgbClr val="FFFFFF"/>
                </a:solidFill>
                <a:latin typeface="Aptos"/>
              </a:rPr>
              <a:t>03</a:t>
            </a:r>
          </a:p>
        </p:txBody>
      </p:sp>
      <p:sp>
        <p:nvSpPr>
          <p:cNvPr id="42" name="TextBox 41"/>
          <p:cNvSpPr txBox="1"/>
          <p:nvPr/>
        </p:nvSpPr>
        <p:spPr>
          <a:xfrm>
            <a:off x="7196328" y="5321808"/>
            <a:ext cx="3566160" cy="347472"/>
          </a:xfrm>
          <a:prstGeom prst="rect">
            <a:avLst/>
          </a:prstGeom>
          <a:noFill/>
        </p:spPr>
        <p:txBody>
          <a:bodyPr wrap="square" lIns="0" rIns="0" tIns="0" bIns="0" anchor="t">
            <a:spAutoFit/>
          </a:bodyPr>
          <a:lstStyle/>
          <a:p>
            <a:pPr algn="l">
              <a:lnSpc>
                <a:spcPct val="100000"/>
              </a:lnSpc>
              <a:spcAft>
                <a:spcPts val="0"/>
              </a:spcAft>
            </a:pPr>
            <a:r>
              <a:rPr sz="900" b="1">
                <a:solidFill>
                  <a:srgbClr val="D5E0EA"/>
                </a:solidFill>
                <a:latin typeface="Aptos"/>
              </a:rPr>
              <a:t>Protein-based biomanufacturing</a:t>
            </a:r>
          </a:p>
        </p:txBody>
      </p:sp>
      <p:sp>
        <p:nvSpPr>
          <p:cNvPr id="43" name="TextBox 42"/>
          <p:cNvSpPr txBox="1"/>
          <p:nvPr/>
        </p:nvSpPr>
        <p:spPr>
          <a:xfrm>
            <a:off x="749808" y="5870448"/>
            <a:ext cx="5669280" cy="182880"/>
          </a:xfrm>
          <a:prstGeom prst="rect">
            <a:avLst/>
          </a:prstGeom>
          <a:noFill/>
        </p:spPr>
        <p:txBody>
          <a:bodyPr wrap="square" lIns="0" rIns="0" tIns="0" bIns="0" anchor="t">
            <a:spAutoFit/>
          </a:bodyPr>
          <a:lstStyle/>
          <a:p>
            <a:pPr algn="l">
              <a:lnSpc>
                <a:spcPct val="100000"/>
              </a:lnSpc>
              <a:spcAft>
                <a:spcPts val="0"/>
              </a:spcAft>
            </a:pPr>
            <a:r>
              <a:rPr sz="819" b="0">
                <a:solidFill>
                  <a:srgbClr val="A9BAC8"/>
                </a:solidFill>
                <a:latin typeface="Aptos"/>
              </a:rPr>
              <a:t>Target SAB appointments will be announced as the round closes.</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Rectangle 1"/>
          <p:cNvSpPr/>
          <p:nvPr/>
        </p:nvSpPr>
        <p:spPr>
          <a:xfrm>
            <a:off x="7662672" y="0"/>
            <a:ext cx="4526280" cy="6858000"/>
          </a:xfrm>
          <a:prstGeom prst="rect">
            <a:avLst/>
          </a:prstGeom>
          <a:solidFill>
            <a:srgbClr val="EDF9F6"/>
          </a:solidFill>
          <a:ln w="10160">
            <a:solidFill>
              <a:srgbClr val="EDF9F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Oval 2"/>
          <p:cNvSpPr/>
          <p:nvPr/>
        </p:nvSpPr>
        <p:spPr>
          <a:xfrm rot="21000000">
            <a:off x="7982712" y="685800"/>
            <a:ext cx="3886200" cy="1874519"/>
          </a:xfrm>
          <a:prstGeom prst="ellipse">
            <a:avLst/>
          </a:prstGeom>
          <a:noFill/>
          <a:ln w="16510">
            <a:solidFill>
              <a:srgbClr val="98D8C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Oval 3"/>
          <p:cNvSpPr/>
          <p:nvPr/>
        </p:nvSpPr>
        <p:spPr>
          <a:xfrm rot="1680000">
            <a:off x="8302752" y="484632"/>
            <a:ext cx="3246120" cy="2267712"/>
          </a:xfrm>
          <a:prstGeom prst="ellipse">
            <a:avLst/>
          </a:prstGeom>
          <a:noFill/>
          <a:ln w="12700">
            <a:solidFill>
              <a:srgbClr val="B5E6D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Oval 4"/>
          <p:cNvSpPr/>
          <p:nvPr/>
        </p:nvSpPr>
        <p:spPr>
          <a:xfrm>
            <a:off x="10131552" y="731520"/>
            <a:ext cx="137160" cy="137160"/>
          </a:xfrm>
          <a:prstGeom prst="ellipse">
            <a:avLst/>
          </a:prstGeom>
          <a:solidFill>
            <a:srgbClr val="00A991"/>
          </a:solidFill>
          <a:ln w="10160">
            <a:solidFill>
              <a:srgbClr val="00A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Oval 5"/>
          <p:cNvSpPr/>
          <p:nvPr/>
        </p:nvSpPr>
        <p:spPr>
          <a:xfrm>
            <a:off x="8531352" y="2148840"/>
            <a:ext cx="91440" cy="91440"/>
          </a:xfrm>
          <a:prstGeom prst="ellipse">
            <a:avLst/>
          </a:prstGeom>
          <a:solidFill>
            <a:srgbClr val="2B6B93"/>
          </a:solidFill>
          <a:ln w="10160">
            <a:solidFill>
              <a:srgbClr val="2B6B9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321040" y="502920"/>
            <a:ext cx="1371600" cy="182880"/>
          </a:xfrm>
          <a:prstGeom prst="rect">
            <a:avLst/>
          </a:prstGeom>
          <a:noFill/>
        </p:spPr>
        <p:txBody>
          <a:bodyPr wrap="square" lIns="0" rIns="0" tIns="0" bIns="0" anchor="t">
            <a:spAutoFit/>
          </a:bodyPr>
          <a:lstStyle/>
          <a:p>
            <a:pPr algn="l">
              <a:lnSpc>
                <a:spcPct val="100000"/>
              </a:lnSpc>
              <a:spcAft>
                <a:spcPts val="0"/>
              </a:spcAft>
            </a:pPr>
            <a:r>
              <a:rPr sz="720" b="1">
                <a:solidFill>
                  <a:srgbClr val="087F72"/>
                </a:solidFill>
                <a:latin typeface="Aptos"/>
              </a:rPr>
              <a:t>MICROGRAVITY</a:t>
            </a:r>
          </a:p>
        </p:txBody>
      </p:sp>
      <p:sp>
        <p:nvSpPr>
          <p:cNvPr id="8" name="TextBox 7"/>
          <p:cNvSpPr txBox="1"/>
          <p:nvPr/>
        </p:nvSpPr>
        <p:spPr>
          <a:xfrm>
            <a:off x="10149840" y="2240280"/>
            <a:ext cx="1463040" cy="182880"/>
          </a:xfrm>
          <a:prstGeom prst="rect">
            <a:avLst/>
          </a:prstGeom>
          <a:noFill/>
        </p:spPr>
        <p:txBody>
          <a:bodyPr wrap="square" lIns="0" rIns="0" tIns="0" bIns="0" anchor="t">
            <a:spAutoFit/>
          </a:bodyPr>
          <a:lstStyle/>
          <a:p>
            <a:pPr algn="l">
              <a:lnSpc>
                <a:spcPct val="100000"/>
              </a:lnSpc>
              <a:spcAft>
                <a:spcPts val="0"/>
              </a:spcAft>
            </a:pPr>
            <a:r>
              <a:rPr sz="720" b="1">
                <a:solidFill>
                  <a:srgbClr val="2B6B93"/>
                </a:solidFill>
                <a:latin typeface="Aptos"/>
              </a:rPr>
              <a:t>BIOFABRICATION</a:t>
            </a:r>
          </a:p>
        </p:txBody>
      </p:sp>
      <p:sp>
        <p:nvSpPr>
          <p:cNvPr id="9" name="Oval 8"/>
          <p:cNvSpPr/>
          <p:nvPr/>
        </p:nvSpPr>
        <p:spPr>
          <a:xfrm>
            <a:off x="8257032" y="3154680"/>
            <a:ext cx="3337560" cy="3337560"/>
          </a:xfrm>
          <a:prstGeom prst="ellipse">
            <a:avLst/>
          </a:prstGeom>
          <a:solidFill>
            <a:srgbClr val="CDEFE9"/>
          </a:solidFill>
          <a:ln w="12700">
            <a:solidFill>
              <a:srgbClr val="B7E6DD"/>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Oval 9"/>
          <p:cNvSpPr/>
          <p:nvPr/>
        </p:nvSpPr>
        <p:spPr>
          <a:xfrm>
            <a:off x="8622792" y="3520440"/>
            <a:ext cx="2606040" cy="2606040"/>
          </a:xfrm>
          <a:prstGeom prst="ellipse">
            <a:avLst/>
          </a:prstGeom>
          <a:solidFill>
            <a:srgbClr val="E9F8F5"/>
          </a:solidFill>
          <a:ln w="10160">
            <a:solidFill>
              <a:srgbClr val="D4F0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Oval 10"/>
          <p:cNvSpPr/>
          <p:nvPr/>
        </p:nvSpPr>
        <p:spPr>
          <a:xfrm>
            <a:off x="9099194" y="4476902"/>
            <a:ext cx="365760" cy="365760"/>
          </a:xfrm>
          <a:prstGeom prst="ellipse">
            <a:avLst/>
          </a:prstGeom>
          <a:solidFill>
            <a:srgbClr val="00A991"/>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Oval 11"/>
          <p:cNvSpPr/>
          <p:nvPr/>
        </p:nvSpPr>
        <p:spPr>
          <a:xfrm>
            <a:off x="9355226" y="4030675"/>
            <a:ext cx="438912" cy="438912"/>
          </a:xfrm>
          <a:prstGeom prst="ellipse">
            <a:avLst/>
          </a:prstGeom>
          <a:solidFill>
            <a:srgbClr val="39C6B5"/>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Oval 12"/>
          <p:cNvSpPr/>
          <p:nvPr/>
        </p:nvSpPr>
        <p:spPr>
          <a:xfrm>
            <a:off x="9808768" y="4001414"/>
            <a:ext cx="380390" cy="380390"/>
          </a:xfrm>
          <a:prstGeom prst="ellipse">
            <a:avLst/>
          </a:prstGeom>
          <a:solidFill>
            <a:srgbClr val="2B6B93"/>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10174528" y="4191609"/>
            <a:ext cx="409651" cy="409651"/>
          </a:xfrm>
          <a:prstGeom prst="ellipse">
            <a:avLst/>
          </a:prstGeom>
          <a:solidFill>
            <a:srgbClr val="A6DED5"/>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Oval 14"/>
          <p:cNvSpPr/>
          <p:nvPr/>
        </p:nvSpPr>
        <p:spPr>
          <a:xfrm>
            <a:off x="10350093" y="4645152"/>
            <a:ext cx="351129" cy="351129"/>
          </a:xfrm>
          <a:prstGeom prst="ellipse">
            <a:avLst/>
          </a:prstGeom>
          <a:solidFill>
            <a:srgbClr val="00A991"/>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Oval 15"/>
          <p:cNvSpPr/>
          <p:nvPr/>
        </p:nvSpPr>
        <p:spPr>
          <a:xfrm>
            <a:off x="10031882" y="4956048"/>
            <a:ext cx="402336" cy="402336"/>
          </a:xfrm>
          <a:prstGeom prst="ellipse">
            <a:avLst/>
          </a:prstGeom>
          <a:solidFill>
            <a:srgbClr val="39C6B5"/>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567367" y="4959705"/>
            <a:ext cx="453542" cy="453542"/>
          </a:xfrm>
          <a:prstGeom prst="ellipse">
            <a:avLst/>
          </a:prstGeom>
          <a:solidFill>
            <a:srgbClr val="2B6B93"/>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Oval 17"/>
          <p:cNvSpPr/>
          <p:nvPr/>
        </p:nvSpPr>
        <p:spPr>
          <a:xfrm>
            <a:off x="9260128" y="4849977"/>
            <a:ext cx="351129" cy="351129"/>
          </a:xfrm>
          <a:prstGeom prst="ellipse">
            <a:avLst/>
          </a:prstGeom>
          <a:solidFill>
            <a:srgbClr val="A6DED5"/>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9530791" y="4396435"/>
            <a:ext cx="526694" cy="526694"/>
          </a:xfrm>
          <a:prstGeom prst="ellipse">
            <a:avLst/>
          </a:prstGeom>
          <a:solidFill>
            <a:srgbClr val="00A991"/>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9991648" y="4491532"/>
            <a:ext cx="482803" cy="482803"/>
          </a:xfrm>
          <a:prstGeom prst="ellipse">
            <a:avLst/>
          </a:prstGeom>
          <a:solidFill>
            <a:srgbClr val="39C6B5"/>
          </a:solidFill>
          <a:ln w="127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621792" y="566928"/>
            <a:ext cx="54864" cy="256032"/>
          </a:xfrm>
          <a:prstGeom prst="rect">
            <a:avLst/>
          </a:prstGeom>
          <a:solidFill>
            <a:srgbClr val="00A991"/>
          </a:solidFill>
          <a:ln w="10160">
            <a:solidFill>
              <a:srgbClr val="00A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68096" y="585216"/>
            <a:ext cx="2926080" cy="182880"/>
          </a:xfrm>
          <a:prstGeom prst="rect">
            <a:avLst/>
          </a:prstGeom>
          <a:noFill/>
        </p:spPr>
        <p:txBody>
          <a:bodyPr wrap="square" lIns="0" rIns="0" tIns="0" bIns="0" anchor="t">
            <a:spAutoFit/>
          </a:bodyPr>
          <a:lstStyle/>
          <a:p>
            <a:pPr algn="l">
              <a:lnSpc>
                <a:spcPct val="100000"/>
              </a:lnSpc>
              <a:spcAft>
                <a:spcPts val="0"/>
              </a:spcAft>
            </a:pPr>
            <a:r>
              <a:rPr sz="780" b="1">
                <a:solidFill>
                  <a:srgbClr val="087F72"/>
                </a:solidFill>
                <a:latin typeface="Aptos"/>
              </a:rPr>
              <a:t>THE OPPORTUNITY</a:t>
            </a:r>
          </a:p>
        </p:txBody>
      </p:sp>
      <p:sp>
        <p:nvSpPr>
          <p:cNvPr id="23" name="TextBox 22"/>
          <p:cNvSpPr txBox="1"/>
          <p:nvPr/>
        </p:nvSpPr>
        <p:spPr>
          <a:xfrm>
            <a:off x="621792" y="1499616"/>
            <a:ext cx="6492240" cy="1572768"/>
          </a:xfrm>
          <a:prstGeom prst="rect">
            <a:avLst/>
          </a:prstGeom>
          <a:noFill/>
        </p:spPr>
        <p:txBody>
          <a:bodyPr wrap="square" lIns="0" rIns="0" tIns="0" bIns="0" anchor="t">
            <a:spAutoFit/>
          </a:bodyPr>
          <a:lstStyle/>
          <a:p>
            <a:pPr algn="l">
              <a:lnSpc>
                <a:spcPct val="94000"/>
              </a:lnSpc>
              <a:spcAft>
                <a:spcPts val="0"/>
              </a:spcAft>
            </a:pPr>
            <a:r>
              <a:rPr sz="3400" b="1">
                <a:solidFill>
                  <a:srgbClr val="0B1F3A"/>
                </a:solidFill>
                <a:latin typeface="Aptos Display"/>
              </a:rPr>
              <a:t>Every organ printed in orbit</a:t>
            </a:r>
            <a:br/>
            <a:r>
              <a:rPr sz="3400" b="1">
                <a:solidFill>
                  <a:srgbClr val="0B1F3A"/>
                </a:solidFill>
                <a:latin typeface="Aptos Display"/>
              </a:rPr>
              <a:t>is a life that didn't have to wait.</a:t>
            </a:r>
          </a:p>
        </p:txBody>
      </p:sp>
      <p:sp>
        <p:nvSpPr>
          <p:cNvPr id="24" name="TextBox 23"/>
          <p:cNvSpPr txBox="1"/>
          <p:nvPr/>
        </p:nvSpPr>
        <p:spPr>
          <a:xfrm>
            <a:off x="640080" y="3511296"/>
            <a:ext cx="6309360" cy="768096"/>
          </a:xfrm>
          <a:prstGeom prst="rect">
            <a:avLst/>
          </a:prstGeom>
          <a:noFill/>
        </p:spPr>
        <p:txBody>
          <a:bodyPr wrap="square" lIns="0" rIns="0" tIns="0" bIns="0" anchor="t">
            <a:spAutoFit/>
          </a:bodyPr>
          <a:lstStyle/>
          <a:p>
            <a:pPr algn="l">
              <a:lnSpc>
                <a:spcPct val="106000"/>
              </a:lnSpc>
              <a:spcAft>
                <a:spcPts val="0"/>
              </a:spcAft>
            </a:pPr>
            <a:r>
              <a:rPr sz="1330" b="0">
                <a:solidFill>
                  <a:srgbClr val="50657B"/>
                </a:solidFill>
                <a:latin typeface="Aptos"/>
              </a:rPr>
              <a:t>Samuel Space stands at the intersection of a mature, validated microgravity bioprinting science base and the arrival of commercial stations built for this work.</a:t>
            </a:r>
          </a:p>
        </p:txBody>
      </p:sp>
      <p:sp>
        <p:nvSpPr>
          <p:cNvPr id="25" name="TextBox 24"/>
          <p:cNvSpPr txBox="1"/>
          <p:nvPr/>
        </p:nvSpPr>
        <p:spPr>
          <a:xfrm>
            <a:off x="640080" y="4462272"/>
            <a:ext cx="5989320" cy="594360"/>
          </a:xfrm>
          <a:prstGeom prst="rect">
            <a:avLst/>
          </a:prstGeom>
          <a:noFill/>
        </p:spPr>
        <p:txBody>
          <a:bodyPr wrap="square" lIns="0" rIns="0" tIns="0" bIns="0" anchor="t">
            <a:spAutoFit/>
          </a:bodyPr>
          <a:lstStyle/>
          <a:p>
            <a:pPr algn="l">
              <a:lnSpc>
                <a:spcPct val="100000"/>
              </a:lnSpc>
              <a:spcAft>
                <a:spcPts val="0"/>
              </a:spcAft>
            </a:pPr>
            <a:r>
              <a:rPr sz="1500" b="1">
                <a:solidFill>
                  <a:srgbClr val="0B1F3A"/>
                </a:solidFill>
                <a:latin typeface="Aptos"/>
              </a:rPr>
              <a:t>The science already works. What's needed now is a company built to commercialise it.</a:t>
            </a:r>
          </a:p>
        </p:txBody>
      </p:sp>
      <p:cxnSp>
        <p:nvCxnSpPr>
          <p:cNvPr id="26" name="Connector 25"/>
          <p:cNvCxnSpPr/>
          <p:nvPr/>
        </p:nvCxnSpPr>
        <p:spPr>
          <a:xfrm>
            <a:off x="640080" y="5349240"/>
            <a:ext cx="3291840" cy="0"/>
          </a:xfrm>
          <a:prstGeom prst="line">
            <a:avLst/>
          </a:prstGeom>
          <a:ln w="27940">
            <a:solidFill>
              <a:srgbClr val="00A991"/>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640080" y="5650992"/>
            <a:ext cx="4114800" cy="164592"/>
          </a:xfrm>
          <a:prstGeom prst="rect">
            <a:avLst/>
          </a:prstGeom>
          <a:noFill/>
        </p:spPr>
        <p:txBody>
          <a:bodyPr wrap="square" lIns="0" rIns="0" tIns="0" bIns="0" anchor="t">
            <a:spAutoFit/>
          </a:bodyPr>
          <a:lstStyle/>
          <a:p>
            <a:pPr algn="l">
              <a:lnSpc>
                <a:spcPct val="100000"/>
              </a:lnSpc>
              <a:spcAft>
                <a:spcPts val="0"/>
              </a:spcAft>
            </a:pPr>
            <a:r>
              <a:rPr sz="740" b="1">
                <a:solidFill>
                  <a:srgbClr val="708399"/>
                </a:solidFill>
                <a:latin typeface="Aptos"/>
              </a:rPr>
              <a:t>SAMUEL SPACE ORGAN AND TISSUE ENGINEERING</a:t>
            </a:r>
          </a:p>
        </p:txBody>
      </p:sp>
      <p:sp>
        <p:nvSpPr>
          <p:cNvPr id="28" name="TextBox 27"/>
          <p:cNvSpPr txBox="1"/>
          <p:nvPr/>
        </p:nvSpPr>
        <p:spPr>
          <a:xfrm>
            <a:off x="640080" y="5934456"/>
            <a:ext cx="4846320" cy="237744"/>
          </a:xfrm>
          <a:prstGeom prst="rect">
            <a:avLst/>
          </a:prstGeom>
          <a:noFill/>
        </p:spPr>
        <p:txBody>
          <a:bodyPr wrap="square" lIns="0" rIns="0" tIns="0" bIns="0" anchor="t">
            <a:spAutoFit/>
          </a:bodyPr>
          <a:lstStyle/>
          <a:p>
            <a:pPr algn="l">
              <a:lnSpc>
                <a:spcPct val="100000"/>
              </a:lnSpc>
              <a:spcAft>
                <a:spcPts val="0"/>
              </a:spcAft>
            </a:pPr>
            <a:r>
              <a:rPr sz="1019" b="1">
                <a:solidFill>
                  <a:srgbClr val="0B1F3A"/>
                </a:solidFill>
                <a:latin typeface="Aptos"/>
              </a:rPr>
              <a:t>Investor contact · investors@samuelspace.com (placeholder)</a:t>
            </a:r>
          </a:p>
        </p:txBody>
      </p:sp>
      <p:sp>
        <p:nvSpPr>
          <p:cNvPr id="29" name="TextBox 28"/>
          <p:cNvSpPr txBox="1"/>
          <p:nvPr/>
        </p:nvSpPr>
        <p:spPr>
          <a:xfrm>
            <a:off x="6492240" y="6501384"/>
            <a:ext cx="658368" cy="128016"/>
          </a:xfrm>
          <a:prstGeom prst="rect">
            <a:avLst/>
          </a:prstGeom>
          <a:noFill/>
        </p:spPr>
        <p:txBody>
          <a:bodyPr wrap="square" lIns="0" rIns="0" tIns="0" bIns="0" anchor="t">
            <a:spAutoFit/>
          </a:bodyPr>
          <a:lstStyle/>
          <a:p>
            <a:pPr algn="r">
              <a:lnSpc>
                <a:spcPct val="100000"/>
              </a:lnSpc>
              <a:spcAft>
                <a:spcPts val="0"/>
              </a:spcAft>
            </a:pPr>
            <a:r>
              <a:rPr sz="680" b="1">
                <a:solidFill>
                  <a:srgbClr val="708399"/>
                </a:solidFill>
                <a:latin typeface="Aptos"/>
              </a:rPr>
              <a:t>20 / 21</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6F8FB"/>
        </a:solidFill>
        <a:effectLst/>
      </p:bgPr>
    </p:bg>
    <p:spTree>
      <p:nvGrpSpPr>
        <p:cNvPr id="1" name=""/>
        <p:cNvGrpSpPr/>
        <p:nvPr/>
      </p:nvGrpSpPr>
      <p:grpSpPr/>
      <p:sp>
        <p:nvSpPr>
          <p:cNvPr id="2" name="Rectangle 1"/>
          <p:cNvSpPr/>
          <p:nvPr/>
        </p:nvSpPr>
        <p:spPr>
          <a:xfrm>
            <a:off x="457200" y="256032"/>
            <a:ext cx="54864" cy="219456"/>
          </a:xfrm>
          <a:prstGeom prst="rect">
            <a:avLst/>
          </a:prstGeom>
          <a:solidFill>
            <a:srgbClr val="00A991"/>
          </a:solidFill>
          <a:ln>
            <a:solidFill>
              <a:srgbClr val="00A99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03504" y="256032"/>
            <a:ext cx="4114800" cy="164592"/>
          </a:xfrm>
          <a:prstGeom prst="rect">
            <a:avLst/>
          </a:prstGeom>
          <a:noFill/>
        </p:spPr>
        <p:txBody>
          <a:bodyPr wrap="square" lIns="0" rIns="0" tIns="0" bIns="0" anchor="t">
            <a:spAutoFit/>
          </a:bodyPr>
          <a:lstStyle/>
          <a:p>
            <a:pPr algn="l">
              <a:lnSpc>
                <a:spcPct val="100000"/>
              </a:lnSpc>
              <a:spcAft>
                <a:spcPts val="0"/>
              </a:spcAft>
            </a:pPr>
            <a:r>
              <a:rPr sz="770" b="1">
                <a:solidFill>
                  <a:srgbClr val="087F72"/>
                </a:solidFill>
                <a:latin typeface="Aptos"/>
              </a:rPr>
              <a:t>APPENDIX</a:t>
            </a:r>
          </a:p>
        </p:txBody>
      </p:sp>
      <p:sp>
        <p:nvSpPr>
          <p:cNvPr id="4" name="TextBox 3"/>
          <p:cNvSpPr txBox="1"/>
          <p:nvPr/>
        </p:nvSpPr>
        <p:spPr>
          <a:xfrm>
            <a:off x="457200" y="530352"/>
            <a:ext cx="11064240" cy="475488"/>
          </a:xfrm>
          <a:prstGeom prst="rect">
            <a:avLst/>
          </a:prstGeom>
          <a:noFill/>
        </p:spPr>
        <p:txBody>
          <a:bodyPr wrap="square" lIns="0" rIns="0" tIns="0" bIns="0" anchor="t">
            <a:spAutoFit/>
          </a:bodyPr>
          <a:lstStyle/>
          <a:p>
            <a:pPr algn="l">
              <a:lnSpc>
                <a:spcPct val="100000"/>
              </a:lnSpc>
              <a:spcAft>
                <a:spcPts val="0"/>
              </a:spcAft>
            </a:pPr>
            <a:r>
              <a:rPr sz="2550" b="1">
                <a:solidFill>
                  <a:srgbClr val="0B1F3A"/>
                </a:solidFill>
                <a:latin typeface="Aptos Display"/>
              </a:rPr>
              <a:t>Sources &amp; References</a:t>
            </a:r>
          </a:p>
        </p:txBody>
      </p:sp>
      <p:cxnSp>
        <p:nvCxnSpPr>
          <p:cNvPr id="5" name="Connector 4"/>
          <p:cNvCxnSpPr/>
          <p:nvPr/>
        </p:nvCxnSpPr>
        <p:spPr>
          <a:xfrm>
            <a:off x="457200" y="6510528"/>
            <a:ext cx="11274552" cy="0"/>
          </a:xfrm>
          <a:prstGeom prst="line">
            <a:avLst/>
          </a:prstGeom>
          <a:ln w="7620">
            <a:solidFill>
              <a:srgbClr val="D7E1EA"/>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457200" y="6565392"/>
            <a:ext cx="1645920" cy="109728"/>
          </a:xfrm>
          <a:prstGeom prst="rect">
            <a:avLst/>
          </a:prstGeom>
          <a:noFill/>
        </p:spPr>
        <p:txBody>
          <a:bodyPr wrap="square" lIns="0" rIns="0" tIns="0" bIns="0" anchor="t">
            <a:spAutoFit/>
          </a:bodyPr>
          <a:lstStyle/>
          <a:p>
            <a:pPr algn="l">
              <a:lnSpc>
                <a:spcPct val="100000"/>
              </a:lnSpc>
              <a:spcAft>
                <a:spcPts val="0"/>
              </a:spcAft>
            </a:pPr>
            <a:r>
              <a:rPr sz="670" b="1">
                <a:solidFill>
                  <a:srgbClr val="708399"/>
                </a:solidFill>
                <a:latin typeface="Aptos"/>
              </a:rPr>
              <a:t>SAMUEL SPACE</a:t>
            </a:r>
          </a:p>
        </p:txBody>
      </p:sp>
      <p:sp>
        <p:nvSpPr>
          <p:cNvPr id="7" name="TextBox 6"/>
          <p:cNvSpPr txBox="1"/>
          <p:nvPr/>
        </p:nvSpPr>
        <p:spPr>
          <a:xfrm>
            <a:off x="10927080" y="6565392"/>
            <a:ext cx="804672" cy="109728"/>
          </a:xfrm>
          <a:prstGeom prst="rect">
            <a:avLst/>
          </a:prstGeom>
          <a:noFill/>
        </p:spPr>
        <p:txBody>
          <a:bodyPr wrap="square" lIns="0" rIns="0" tIns="0" bIns="0" anchor="t">
            <a:spAutoFit/>
          </a:bodyPr>
          <a:lstStyle/>
          <a:p>
            <a:pPr algn="r">
              <a:lnSpc>
                <a:spcPct val="100000"/>
              </a:lnSpc>
              <a:spcAft>
                <a:spcPts val="0"/>
              </a:spcAft>
            </a:pPr>
            <a:r>
              <a:rPr sz="670" b="1">
                <a:solidFill>
                  <a:srgbClr val="708399"/>
                </a:solidFill>
                <a:latin typeface="Aptos"/>
              </a:rPr>
              <a:t>21 / 21</a:t>
            </a:r>
          </a:p>
        </p:txBody>
      </p:sp>
      <p:sp>
        <p:nvSpPr>
          <p:cNvPr id="8" name="Rounded Rectangle 7"/>
          <p:cNvSpPr/>
          <p:nvPr/>
        </p:nvSpPr>
        <p:spPr>
          <a:xfrm>
            <a:off x="457200" y="1353312"/>
            <a:ext cx="5504688" cy="3520440"/>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1609344"/>
            <a:ext cx="4114800" cy="182880"/>
          </a:xfrm>
          <a:prstGeom prst="rect">
            <a:avLst/>
          </a:prstGeom>
          <a:noFill/>
        </p:spPr>
        <p:txBody>
          <a:bodyPr wrap="square" lIns="0" rIns="0" tIns="0" bIns="0" anchor="t">
            <a:spAutoFit/>
          </a:bodyPr>
          <a:lstStyle/>
          <a:p>
            <a:pPr algn="l">
              <a:lnSpc>
                <a:spcPct val="100000"/>
              </a:lnSpc>
              <a:spcAft>
                <a:spcPts val="0"/>
              </a:spcAft>
            </a:pPr>
            <a:r>
              <a:rPr sz="800" b="1">
                <a:solidFill>
                  <a:srgbClr val="087F72"/>
                </a:solidFill>
                <a:latin typeface="Aptos"/>
              </a:rPr>
              <a:t>BIOPRINTING SCIENCE &amp; TECHNOLOGY</a:t>
            </a:r>
          </a:p>
        </p:txBody>
      </p:sp>
      <p:sp>
        <p:nvSpPr>
          <p:cNvPr id="10" name="TextBox 9"/>
          <p:cNvSpPr txBox="1"/>
          <p:nvPr/>
        </p:nvSpPr>
        <p:spPr>
          <a:xfrm>
            <a:off x="694944" y="2029968"/>
            <a:ext cx="5010912" cy="2542032"/>
          </a:xfrm>
          <a:prstGeom prst="rect">
            <a:avLst/>
          </a:prstGeom>
          <a:noFill/>
        </p:spPr>
        <p:txBody>
          <a:bodyPr wrap="square" lIns="0" rIns="0" tIns="0" bIns="0">
            <a:spAutoFit/>
          </a:bodyPr>
          <a:lstStyle/>
          <a:p>
            <a:pPr algn="l">
              <a:lnSpc>
                <a:spcPct val="102000"/>
              </a:lnSpc>
              <a:spcAft>
                <a:spcPts val="600"/>
              </a:spcAft>
            </a:pPr>
            <a:r>
              <a:rPr sz="919" b="1">
                <a:solidFill>
                  <a:srgbClr val="00A991"/>
                </a:solidFill>
                <a:latin typeface="Aptos"/>
              </a:rPr>
              <a:t>• </a:t>
            </a:r>
            <a:r>
              <a:rPr sz="919">
                <a:solidFill>
                  <a:srgbClr val="16324F"/>
                </a:solidFill>
                <a:latin typeface="Aptos"/>
              </a:rPr>
              <a:t>NASA — "3D Bioprinting" research overview, ISS research program</a:t>
            </a:r>
          </a:p>
          <a:p>
            <a:pPr algn="l">
              <a:lnSpc>
                <a:spcPct val="102000"/>
              </a:lnSpc>
              <a:spcAft>
                <a:spcPts val="600"/>
              </a:spcAft>
            </a:pPr>
            <a:r>
              <a:rPr sz="919" b="1">
                <a:solidFill>
                  <a:srgbClr val="00A991"/>
                </a:solidFill>
                <a:latin typeface="Aptos"/>
              </a:rPr>
              <a:t>• </a:t>
            </a:r>
            <a:r>
              <a:rPr sz="919">
                <a:solidFill>
                  <a:srgbClr val="16324F"/>
                </a:solidFill>
                <a:latin typeface="Aptos"/>
              </a:rPr>
              <a:t>NASA / Redwire — BioFabrication Facility mission page</a:t>
            </a:r>
          </a:p>
          <a:p>
            <a:pPr algn="l">
              <a:lnSpc>
                <a:spcPct val="102000"/>
              </a:lnSpc>
              <a:spcAft>
                <a:spcPts val="600"/>
              </a:spcAft>
            </a:pPr>
            <a:r>
              <a:rPr sz="919" b="1">
                <a:solidFill>
                  <a:srgbClr val="00A991"/>
                </a:solidFill>
                <a:latin typeface="Aptos"/>
              </a:rPr>
              <a:t>• </a:t>
            </a:r>
            <a:r>
              <a:rPr sz="919">
                <a:solidFill>
                  <a:srgbClr val="16324F"/>
                </a:solidFill>
                <a:latin typeface="Aptos"/>
              </a:rPr>
              <a:t>Redwire — BFF-Meniscus first human knee meniscus in orbit, Sep 2023</a:t>
            </a:r>
          </a:p>
          <a:p>
            <a:pPr algn="l">
              <a:lnSpc>
                <a:spcPct val="102000"/>
              </a:lnSpc>
              <a:spcAft>
                <a:spcPts val="600"/>
              </a:spcAft>
            </a:pPr>
            <a:r>
              <a:rPr sz="919" b="1">
                <a:solidFill>
                  <a:srgbClr val="00A991"/>
                </a:solidFill>
                <a:latin typeface="Aptos"/>
              </a:rPr>
              <a:t>• </a:t>
            </a:r>
            <a:r>
              <a:rPr sz="919">
                <a:solidFill>
                  <a:srgbClr val="16324F"/>
                </a:solidFill>
                <a:latin typeface="Aptos"/>
              </a:rPr>
              <a:t>Redwire — BFF-Cardiac announcements and ISS return coverage, 2024</a:t>
            </a:r>
          </a:p>
          <a:p>
            <a:pPr algn="l">
              <a:lnSpc>
                <a:spcPct val="102000"/>
              </a:lnSpc>
              <a:spcAft>
                <a:spcPts val="600"/>
              </a:spcAft>
            </a:pPr>
            <a:r>
              <a:rPr sz="919" b="1">
                <a:solidFill>
                  <a:srgbClr val="00A991"/>
                </a:solidFill>
                <a:latin typeface="Aptos"/>
              </a:rPr>
              <a:t>• </a:t>
            </a:r>
            <a:r>
              <a:rPr sz="919">
                <a:solidFill>
                  <a:srgbClr val="16324F"/>
                </a:solidFill>
                <a:latin typeface="Aptos"/>
              </a:rPr>
              <a:t>Redwire — NASA IDIQ contract award coverage, Sep 2025</a:t>
            </a:r>
          </a:p>
          <a:p>
            <a:pPr algn="l">
              <a:lnSpc>
                <a:spcPct val="102000"/>
              </a:lnSpc>
              <a:spcAft>
                <a:spcPts val="600"/>
              </a:spcAft>
            </a:pPr>
            <a:r>
              <a:rPr sz="919" b="1">
                <a:solidFill>
                  <a:srgbClr val="00A991"/>
                </a:solidFill>
                <a:latin typeface="Aptos"/>
              </a:rPr>
              <a:t>• </a:t>
            </a:r>
            <a:r>
              <a:rPr sz="919">
                <a:solidFill>
                  <a:srgbClr val="16324F"/>
                </a:solidFill>
                <a:latin typeface="Aptos"/>
              </a:rPr>
              <a:t>ESA / DLR — Bioprint FirstAid, Cosmic Kiss mission materials</a:t>
            </a:r>
          </a:p>
          <a:p>
            <a:pPr algn="l">
              <a:lnSpc>
                <a:spcPct val="102000"/>
              </a:lnSpc>
              <a:spcAft>
                <a:spcPts val="600"/>
              </a:spcAft>
            </a:pPr>
            <a:r>
              <a:rPr sz="919" b="1">
                <a:solidFill>
                  <a:srgbClr val="00A991"/>
                </a:solidFill>
                <a:latin typeface="Aptos"/>
              </a:rPr>
              <a:t>• </a:t>
            </a:r>
            <a:r>
              <a:rPr sz="919">
                <a:solidFill>
                  <a:srgbClr val="16324F"/>
                </a:solidFill>
                <a:latin typeface="Aptos"/>
              </a:rPr>
              <a:t>LambdaVision — Space Tango partnership, InSPA Phase 2 award and seed financing, 2025–2026</a:t>
            </a:r>
          </a:p>
        </p:txBody>
      </p:sp>
      <p:sp>
        <p:nvSpPr>
          <p:cNvPr id="11" name="Rounded Rectangle 10"/>
          <p:cNvSpPr/>
          <p:nvPr/>
        </p:nvSpPr>
        <p:spPr>
          <a:xfrm>
            <a:off x="6227064" y="1353312"/>
            <a:ext cx="5504688" cy="3520440"/>
          </a:xfrm>
          <a:prstGeom prst="roundRect">
            <a:avLst/>
          </a:prstGeom>
          <a:solidFill>
            <a:srgbClr val="FFFFFF"/>
          </a:solidFill>
          <a:ln w="10160">
            <a:solidFill>
              <a:srgbClr val="D7E1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464808" y="1609344"/>
            <a:ext cx="4389120" cy="182880"/>
          </a:xfrm>
          <a:prstGeom prst="rect">
            <a:avLst/>
          </a:prstGeom>
          <a:noFill/>
        </p:spPr>
        <p:txBody>
          <a:bodyPr wrap="square" lIns="0" rIns="0" tIns="0" bIns="0" anchor="t">
            <a:spAutoFit/>
          </a:bodyPr>
          <a:lstStyle/>
          <a:p>
            <a:pPr algn="l">
              <a:lnSpc>
                <a:spcPct val="100000"/>
              </a:lnSpc>
              <a:spcAft>
                <a:spcPts val="0"/>
              </a:spcAft>
            </a:pPr>
            <a:r>
              <a:rPr sz="800" b="1">
                <a:solidFill>
                  <a:srgbClr val="2B6B93"/>
                </a:solidFill>
                <a:latin typeface="Aptos"/>
              </a:rPr>
              <a:t>MARKET, REGULATORY &amp; INDUSTRY DATA</a:t>
            </a:r>
          </a:p>
        </p:txBody>
      </p:sp>
      <p:sp>
        <p:nvSpPr>
          <p:cNvPr id="13" name="TextBox 12"/>
          <p:cNvSpPr txBox="1"/>
          <p:nvPr/>
        </p:nvSpPr>
        <p:spPr>
          <a:xfrm>
            <a:off x="6464808" y="2029968"/>
            <a:ext cx="5010912" cy="2542032"/>
          </a:xfrm>
          <a:prstGeom prst="rect">
            <a:avLst/>
          </a:prstGeom>
          <a:noFill/>
        </p:spPr>
        <p:txBody>
          <a:bodyPr wrap="square" lIns="0" rIns="0" tIns="0" bIns="0">
            <a:spAutoFit/>
          </a:bodyPr>
          <a:lstStyle/>
          <a:p>
            <a:pPr algn="l">
              <a:lnSpc>
                <a:spcPct val="102000"/>
              </a:lnSpc>
              <a:spcAft>
                <a:spcPts val="600"/>
              </a:spcAft>
            </a:pPr>
            <a:r>
              <a:rPr sz="919" b="1">
                <a:solidFill>
                  <a:srgbClr val="2B6B93"/>
                </a:solidFill>
                <a:latin typeface="Aptos"/>
              </a:rPr>
              <a:t>• </a:t>
            </a:r>
            <a:r>
              <a:rPr sz="919">
                <a:solidFill>
                  <a:srgbClr val="16324F"/>
                </a:solidFill>
                <a:latin typeface="Aptos"/>
              </a:rPr>
              <a:t>ROSCOSMOS — 3D MBP / Organ.Aut mission summaries, 2018–2020</a:t>
            </a:r>
          </a:p>
          <a:p>
            <a:pPr algn="l">
              <a:lnSpc>
                <a:spcPct val="102000"/>
              </a:lnSpc>
              <a:spcAft>
                <a:spcPts val="600"/>
              </a:spcAft>
            </a:pPr>
            <a:r>
              <a:rPr sz="919" b="1">
                <a:solidFill>
                  <a:srgbClr val="2B6B93"/>
                </a:solidFill>
                <a:latin typeface="Aptos"/>
              </a:rPr>
              <a:t>• </a:t>
            </a:r>
            <a:r>
              <a:rPr sz="919">
                <a:solidFill>
                  <a:srgbClr val="16324F"/>
                </a:solidFill>
                <a:latin typeface="Aptos"/>
              </a:rPr>
              <a:t>American Heart Association — 2025 Heart Disease &amp; Stroke Statistics</a:t>
            </a:r>
          </a:p>
          <a:p>
            <a:pPr algn="l">
              <a:lnSpc>
                <a:spcPct val="102000"/>
              </a:lnSpc>
              <a:spcAft>
                <a:spcPts val="600"/>
              </a:spcAft>
            </a:pPr>
            <a:r>
              <a:rPr sz="919" b="1">
                <a:solidFill>
                  <a:srgbClr val="2B6B93"/>
                </a:solidFill>
                <a:latin typeface="Aptos"/>
              </a:rPr>
              <a:t>• </a:t>
            </a:r>
            <a:r>
              <a:rPr sz="919">
                <a:solidFill>
                  <a:srgbClr val="16324F"/>
                </a:solidFill>
                <a:latin typeface="Aptos"/>
              </a:rPr>
              <a:t>OPTN / organdonor.gov (HRSA) — U.S. transplant waitlist data, 2025</a:t>
            </a:r>
          </a:p>
          <a:p>
            <a:pPr algn="l">
              <a:lnSpc>
                <a:spcPct val="102000"/>
              </a:lnSpc>
              <a:spcAft>
                <a:spcPts val="600"/>
              </a:spcAft>
            </a:pPr>
            <a:r>
              <a:rPr sz="919" b="1">
                <a:solidFill>
                  <a:srgbClr val="2B6B93"/>
                </a:solidFill>
                <a:latin typeface="Aptos"/>
              </a:rPr>
              <a:t>• </a:t>
            </a:r>
            <a:r>
              <a:rPr sz="919">
                <a:solidFill>
                  <a:srgbClr val="16324F"/>
                </a:solidFill>
                <a:latin typeface="Aptos"/>
              </a:rPr>
              <a:t>WHO — Global Observatory on Donation and Transplantation</a:t>
            </a:r>
          </a:p>
          <a:p>
            <a:pPr algn="l">
              <a:lnSpc>
                <a:spcPct val="102000"/>
              </a:lnSpc>
              <a:spcAft>
                <a:spcPts val="600"/>
              </a:spcAft>
            </a:pPr>
            <a:r>
              <a:rPr sz="919" b="1">
                <a:solidFill>
                  <a:srgbClr val="2B6B93"/>
                </a:solidFill>
                <a:latin typeface="Aptos"/>
              </a:rPr>
              <a:t>• </a:t>
            </a:r>
            <a:r>
              <a:rPr sz="919">
                <a:solidFill>
                  <a:srgbClr val="16324F"/>
                </a:solidFill>
                <a:latin typeface="Aptos"/>
              </a:rPr>
              <a:t>Mordor Intelligence — 3D Bioprinting Market Report, Jan 2026</a:t>
            </a:r>
          </a:p>
          <a:p>
            <a:pPr algn="l">
              <a:lnSpc>
                <a:spcPct val="102000"/>
              </a:lnSpc>
              <a:spcAft>
                <a:spcPts val="600"/>
              </a:spcAft>
            </a:pPr>
            <a:r>
              <a:rPr sz="919" b="1">
                <a:solidFill>
                  <a:srgbClr val="2B6B93"/>
                </a:solidFill>
                <a:latin typeface="Aptos"/>
              </a:rPr>
              <a:t>• </a:t>
            </a:r>
            <a:r>
              <a:rPr sz="919">
                <a:solidFill>
                  <a:srgbClr val="16324F"/>
                </a:solidFill>
                <a:latin typeface="Aptos"/>
              </a:rPr>
              <a:t>U.S. FDA — Symvess clearance announcement, Dec 2024</a:t>
            </a:r>
          </a:p>
          <a:p>
            <a:pPr algn="l">
              <a:lnSpc>
                <a:spcPct val="102000"/>
              </a:lnSpc>
              <a:spcAft>
                <a:spcPts val="600"/>
              </a:spcAft>
            </a:pPr>
            <a:r>
              <a:rPr sz="919" b="1">
                <a:solidFill>
                  <a:srgbClr val="2B6B93"/>
                </a:solidFill>
                <a:latin typeface="Aptos"/>
              </a:rPr>
              <a:t>• </a:t>
            </a:r>
            <a:r>
              <a:rPr sz="919">
                <a:solidFill>
                  <a:srgbClr val="16324F"/>
                </a:solidFill>
                <a:latin typeface="Aptos"/>
              </a:rPr>
              <a:t>NASA CLD program — Starlab, Axiom, Orbital Reef and Vast program pages</a:t>
            </a:r>
          </a:p>
        </p:txBody>
      </p:sp>
      <p:sp>
        <p:nvSpPr>
          <p:cNvPr id="14" name="Rounded Rectangle 13"/>
          <p:cNvSpPr/>
          <p:nvPr/>
        </p:nvSpPr>
        <p:spPr>
          <a:xfrm>
            <a:off x="457200" y="5084064"/>
            <a:ext cx="11274552" cy="1188720"/>
          </a:xfrm>
          <a:prstGeom prst="roundRect">
            <a:avLst/>
          </a:prstGeom>
          <a:solidFill>
            <a:srgbClr val="0B1F3A"/>
          </a:solidFill>
          <a:ln w="10160">
            <a:solidFill>
              <a:srgbClr val="0B1F3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3232" y="5312664"/>
            <a:ext cx="2103120" cy="164592"/>
          </a:xfrm>
          <a:prstGeom prst="rect">
            <a:avLst/>
          </a:prstGeom>
          <a:noFill/>
        </p:spPr>
        <p:txBody>
          <a:bodyPr wrap="square" lIns="0" rIns="0" tIns="0" bIns="0" anchor="t">
            <a:spAutoFit/>
          </a:bodyPr>
          <a:lstStyle/>
          <a:p>
            <a:pPr algn="l">
              <a:lnSpc>
                <a:spcPct val="100000"/>
              </a:lnSpc>
              <a:spcAft>
                <a:spcPts val="0"/>
              </a:spcAft>
            </a:pPr>
            <a:r>
              <a:rPr sz="780" b="1">
                <a:solidFill>
                  <a:srgbClr val="7CD5C6"/>
                </a:solidFill>
                <a:latin typeface="Aptos"/>
              </a:rPr>
              <a:t>A NOTE ON METHODOLOGY</a:t>
            </a:r>
          </a:p>
        </p:txBody>
      </p:sp>
      <p:sp>
        <p:nvSpPr>
          <p:cNvPr id="16" name="TextBox 15"/>
          <p:cNvSpPr txBox="1"/>
          <p:nvPr/>
        </p:nvSpPr>
        <p:spPr>
          <a:xfrm>
            <a:off x="2880360" y="5266944"/>
            <a:ext cx="8503920" cy="658368"/>
          </a:xfrm>
          <a:prstGeom prst="rect">
            <a:avLst/>
          </a:prstGeom>
          <a:noFill/>
        </p:spPr>
        <p:txBody>
          <a:bodyPr wrap="square" lIns="0" rIns="0" tIns="0" bIns="0" anchor="t">
            <a:spAutoFit/>
          </a:bodyPr>
          <a:lstStyle/>
          <a:p>
            <a:pPr algn="l">
              <a:lnSpc>
                <a:spcPct val="103000"/>
              </a:lnSpc>
              <a:spcAft>
                <a:spcPts val="0"/>
              </a:spcAft>
            </a:pPr>
            <a:r>
              <a:rPr sz="919" b="0">
                <a:solidFill>
                  <a:srgbClr val="D5E0EA"/>
                </a:solidFill>
                <a:latin typeface="Aptos"/>
              </a:rPr>
              <a:t>All third-party milestones, dates and figures are drawn from the public sources above and were current as of the cited date. Samuel Space is independent; references to NASA, Redwire, LambdaVision, ROSCOSMOS and ESA/DLR describe industry validation of the underlying science — not partnerships, endorsements or affiliations.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Samuel Space Organ and Tissue Engineering — Investor Presentation</dc:title>
  <dc:subject>Series A investor presentation</dc:subject>
  <dc:creator>Samuel Space Organ and Tissue Engineering</dc:creator>
  <cp:keywords/>
  <dc:description>Redesigned with a light, professional visual system.</dc:description>
  <cp:lastModifiedBy>Steve Canny</cp:lastModifiedBy>
  <cp:revision>1</cp:revision>
  <dcterms:created xsi:type="dcterms:W3CDTF">2013-01-27T09:14:16Z</dcterms:created>
  <dcterms:modified xsi:type="dcterms:W3CDTF">2013-01-27T09:15:58Z</dcterms:modified>
  <cp:category/>
</cp:coreProperties>
</file>