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46304" y="0"/>
            <a:ext cx="45720" cy="6858000"/>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48640"/>
            <a:ext cx="5303520" cy="237744"/>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CONFIDENTIAL  /  INVESTOR PRESENTATION</a:t>
            </a:r>
          </a:p>
        </p:txBody>
      </p:sp>
      <p:sp>
        <p:nvSpPr>
          <p:cNvPr id="5" name="TextBox 4"/>
          <p:cNvSpPr txBox="1"/>
          <p:nvPr/>
        </p:nvSpPr>
        <p:spPr>
          <a:xfrm>
            <a:off x="658368" y="1115568"/>
            <a:ext cx="6172200" cy="1965960"/>
          </a:xfrm>
          <a:prstGeom prst="rect">
            <a:avLst/>
          </a:prstGeom>
          <a:noFill/>
        </p:spPr>
        <p:txBody>
          <a:bodyPr wrap="square" lIns="0" rIns="0" tIns="0" bIns="0" anchor="t">
            <a:spAutoFit/>
          </a:bodyPr>
          <a:lstStyle/>
          <a:p>
            <a:pPr algn="l">
              <a:lnSpc>
                <a:spcPct val="91000"/>
              </a:lnSpc>
              <a:spcBef>
                <a:spcPts val="0"/>
              </a:spcBef>
              <a:spcAft>
                <a:spcPts val="0"/>
              </a:spcAft>
            </a:pPr>
            <a:r>
              <a:rPr sz="2900" b="1" i="0">
                <a:solidFill>
                  <a:srgbClr val="10243D"/>
                </a:solidFill>
                <a:latin typeface="Lato"/>
              </a:rPr>
              <a:t>Samuel Space
Organ and Tissue
Engineering</a:t>
            </a:r>
          </a:p>
        </p:txBody>
      </p:sp>
      <p:sp>
        <p:nvSpPr>
          <p:cNvPr id="6" name="TextBox 5"/>
          <p:cNvSpPr txBox="1"/>
          <p:nvPr/>
        </p:nvSpPr>
        <p:spPr>
          <a:xfrm>
            <a:off x="676656" y="3310128"/>
            <a:ext cx="5623560" cy="566928"/>
          </a:xfrm>
          <a:prstGeom prst="rect">
            <a:avLst/>
          </a:prstGeom>
          <a:noFill/>
        </p:spPr>
        <p:txBody>
          <a:bodyPr wrap="square" lIns="0" rIns="0" tIns="0" bIns="0" anchor="t">
            <a:spAutoFit/>
          </a:bodyPr>
          <a:lstStyle/>
          <a:p>
            <a:pPr algn="l">
              <a:lnSpc>
                <a:spcPct val="100000"/>
              </a:lnSpc>
              <a:spcBef>
                <a:spcPts val="0"/>
              </a:spcBef>
              <a:spcAft>
                <a:spcPts val="0"/>
              </a:spcAft>
            </a:pPr>
            <a:r>
              <a:rPr sz="1500" b="0" i="0">
                <a:solidFill>
                  <a:srgbClr val="23384D"/>
                </a:solidFill>
                <a:latin typeface="Lato"/>
              </a:rPr>
              <a:t>Manufacturing the next generation of human tissue — in orbit.</a:t>
            </a:r>
          </a:p>
        </p:txBody>
      </p:sp>
      <p:cxnSp>
        <p:nvCxnSpPr>
          <p:cNvPr id="7" name="Connector 6"/>
          <p:cNvCxnSpPr/>
          <p:nvPr/>
        </p:nvCxnSpPr>
        <p:spPr>
          <a:xfrm>
            <a:off x="676656" y="4169663"/>
            <a:ext cx="5522976" cy="0"/>
          </a:xfrm>
          <a:prstGeom prst="line">
            <a:avLst/>
          </a:prstGeom>
          <a:ln w="1270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76656" y="4572000"/>
            <a:ext cx="1847088" cy="347472"/>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572000"/>
            <a:ext cx="1737360" cy="34747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SERIES A FINANCING</a:t>
            </a:r>
          </a:p>
        </p:txBody>
      </p:sp>
      <p:sp>
        <p:nvSpPr>
          <p:cNvPr id="10" name="Rounded Rectangle 9"/>
          <p:cNvSpPr/>
          <p:nvPr/>
        </p:nvSpPr>
        <p:spPr>
          <a:xfrm>
            <a:off x="2670048" y="4572000"/>
            <a:ext cx="1225296" cy="347472"/>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24912" y="4572000"/>
            <a:ext cx="1115568" cy="347472"/>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087C71"/>
                </a:solidFill>
                <a:latin typeface="Lato"/>
              </a:rPr>
              <a:t>JUNE 2026</a:t>
            </a:r>
          </a:p>
        </p:txBody>
      </p:sp>
      <p:sp>
        <p:nvSpPr>
          <p:cNvPr id="12" name="TextBox 11"/>
          <p:cNvSpPr txBox="1"/>
          <p:nvPr/>
        </p:nvSpPr>
        <p:spPr>
          <a:xfrm>
            <a:off x="676656" y="5166360"/>
            <a:ext cx="5394960" cy="292608"/>
          </a:xfrm>
          <a:prstGeom prst="rect">
            <a:avLst/>
          </a:prstGeom>
          <a:noFill/>
        </p:spPr>
        <p:txBody>
          <a:bodyPr wrap="square" lIns="0" rIns="0" tIns="0" bIns="0" anchor="t">
            <a:spAutoFit/>
          </a:bodyPr>
          <a:lstStyle/>
          <a:p>
            <a:pPr algn="l">
              <a:lnSpc>
                <a:spcPct val="100000"/>
              </a:lnSpc>
              <a:spcBef>
                <a:spcPts val="0"/>
              </a:spcBef>
              <a:spcAft>
                <a:spcPts val="0"/>
              </a:spcAft>
            </a:pPr>
            <a:r>
              <a:rPr sz="1000" b="0" i="0">
                <a:solidFill>
                  <a:srgbClr val="5E7082"/>
                </a:solidFill>
                <a:latin typeface="Lato"/>
              </a:rPr>
              <a:t>A station-agnostic platform for microgravity bioprinting.</a:t>
            </a:r>
          </a:p>
        </p:txBody>
      </p:sp>
      <p:sp>
        <p:nvSpPr>
          <p:cNvPr id="13" name="TextBox 12"/>
          <p:cNvSpPr txBox="1"/>
          <p:nvPr/>
        </p:nvSpPr>
        <p:spPr>
          <a:xfrm>
            <a:off x="676656" y="61996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8492A0"/>
                </a:solidFill>
                <a:latin typeface="Lato"/>
              </a:rPr>
              <a:t>SAMUEL SPACE</a:t>
            </a:r>
          </a:p>
        </p:txBody>
      </p:sp>
      <p:sp>
        <p:nvSpPr>
          <p:cNvPr id="14" name="TextBox 13"/>
          <p:cNvSpPr txBox="1"/>
          <p:nvPr/>
        </p:nvSpPr>
        <p:spPr>
          <a:xfrm>
            <a:off x="5285232" y="6199632"/>
            <a:ext cx="658368" cy="182880"/>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01 / 21</a:t>
            </a:r>
          </a:p>
        </p:txBody>
      </p:sp>
      <p:sp>
        <p:nvSpPr>
          <p:cNvPr id="15" name="Rounded Rectangle 14"/>
          <p:cNvSpPr/>
          <p:nvPr/>
        </p:nvSpPr>
        <p:spPr>
          <a:xfrm>
            <a:off x="6931152" y="347472"/>
            <a:ext cx="4754880" cy="6153912"/>
          </a:xfrm>
          <a:prstGeom prst="roundRect">
            <a:avLst/>
          </a:prstGeom>
          <a:solidFill>
            <a:srgbClr val="ECF8F4"/>
          </a:solidFill>
          <a:ln w="11430">
            <a:solidFill>
              <a:srgbClr val="BFDC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78624" y="713232"/>
            <a:ext cx="4041648" cy="201168"/>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087C71"/>
                </a:solidFill>
                <a:latin typeface="Lato"/>
              </a:rPr>
              <a:t>MICROGRAVITY TISSUE PLATFORM</a:t>
            </a:r>
          </a:p>
        </p:txBody>
      </p:sp>
      <p:sp>
        <p:nvSpPr>
          <p:cNvPr id="17" name="Oval 16"/>
          <p:cNvSpPr/>
          <p:nvPr/>
        </p:nvSpPr>
        <p:spPr>
          <a:xfrm>
            <a:off x="7754112" y="1371600"/>
            <a:ext cx="3401568" cy="3401568"/>
          </a:xfrm>
          <a:prstGeom prst="ellipse">
            <a:avLst/>
          </a:prstGeom>
          <a:solidFill>
            <a:srgbClr val="FFFFFF"/>
          </a:solidFill>
          <a:ln w="12700">
            <a:solidFill>
              <a:srgbClr val="A9D8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92440" y="1709928"/>
            <a:ext cx="2724912" cy="2724912"/>
          </a:xfrm>
          <a:prstGeom prst="ellipse">
            <a:avLst/>
          </a:prstGeom>
          <a:solidFill>
            <a:srgbClr val="DDF4EE"/>
          </a:solidFill>
          <a:ln w="12700">
            <a:solidFill>
              <a:srgbClr val="8DCEC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03920" y="2121408"/>
            <a:ext cx="1901952" cy="1901952"/>
          </a:xfrm>
          <a:prstGeom prst="ellipse">
            <a:avLst/>
          </a:prstGeom>
          <a:solidFill>
            <a:srgbClr val="B8E8DD"/>
          </a:solidFill>
          <a:ln w="1651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0" y="2990088"/>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180823" y="3798311"/>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372600" y="4133087"/>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564376" y="3798311"/>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600" y="2990088"/>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564376" y="2181864"/>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372600" y="1847088"/>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180823" y="2181864"/>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57816" y="2962656"/>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51492" y="3493224"/>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038844" y="3493224"/>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732520" y="2962656"/>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38844" y="2432087"/>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651492" y="2432087"/>
            <a:ext cx="219456" cy="219456"/>
          </a:xfrm>
          <a:prstGeom prst="ellipse">
            <a:avLst/>
          </a:prstGeom>
          <a:solidFill>
            <a:srgbClr val="48BDA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180576" y="2798064"/>
            <a:ext cx="548640" cy="548640"/>
          </a:xfrm>
          <a:prstGeom prst="ellipse">
            <a:avLst/>
          </a:prstGeom>
          <a:solidFill>
            <a:srgbClr val="087C7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7360920" y="5102352"/>
            <a:ext cx="3886200" cy="0"/>
          </a:xfrm>
          <a:prstGeom prst="line">
            <a:avLst/>
          </a:prstGeom>
          <a:ln w="10160">
            <a:solidFill>
              <a:srgbClr val="B6DAD2"/>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60920" y="5303520"/>
            <a:ext cx="16459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87C71"/>
                </a:solidFill>
                <a:latin typeface="Lato"/>
              </a:rPr>
              <a:t>ORBITAL ADVANTAGE</a:t>
            </a:r>
          </a:p>
        </p:txBody>
      </p:sp>
      <p:sp>
        <p:nvSpPr>
          <p:cNvPr id="37" name="TextBox 36"/>
          <p:cNvSpPr txBox="1"/>
          <p:nvPr/>
        </p:nvSpPr>
        <p:spPr>
          <a:xfrm>
            <a:off x="7360920" y="5596128"/>
            <a:ext cx="1901952" cy="384048"/>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0243D"/>
                </a:solidFill>
                <a:latin typeface="Lato"/>
              </a:rPr>
              <a:t>Scaffold-free 3D geometry</a:t>
            </a:r>
          </a:p>
        </p:txBody>
      </p:sp>
      <p:sp>
        <p:nvSpPr>
          <p:cNvPr id="38" name="TextBox 37"/>
          <p:cNvSpPr txBox="1"/>
          <p:nvPr/>
        </p:nvSpPr>
        <p:spPr>
          <a:xfrm>
            <a:off x="9491472" y="5303520"/>
            <a:ext cx="14173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87C71"/>
                </a:solidFill>
                <a:latin typeface="Lato"/>
              </a:rPr>
              <a:t>PLATFORM MODEL</a:t>
            </a:r>
          </a:p>
        </p:txBody>
      </p:sp>
      <p:sp>
        <p:nvSpPr>
          <p:cNvPr id="39" name="TextBox 38"/>
          <p:cNvSpPr txBox="1"/>
          <p:nvPr/>
        </p:nvSpPr>
        <p:spPr>
          <a:xfrm>
            <a:off x="9491472" y="5596128"/>
            <a:ext cx="1783080" cy="384048"/>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0243D"/>
                </a:solidFill>
                <a:latin typeface="Lato"/>
              </a:rPr>
              <a:t>One payload. Many stations.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NOTICE</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Confidential — Forward-Looking Statement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02 / 21</a:t>
            </a:r>
          </a:p>
        </p:txBody>
      </p:sp>
      <p:sp>
        <p:nvSpPr>
          <p:cNvPr id="11" name="Rounded Rectangle 10"/>
          <p:cNvSpPr/>
          <p:nvPr/>
        </p:nvSpPr>
        <p:spPr>
          <a:xfrm>
            <a:off x="502920" y="1426464"/>
            <a:ext cx="2788920" cy="489204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1773936"/>
            <a:ext cx="2194560" cy="694944"/>
          </a:xfrm>
          <a:prstGeom prst="rect">
            <a:avLst/>
          </a:prstGeom>
          <a:noFill/>
        </p:spPr>
        <p:txBody>
          <a:bodyPr wrap="square" lIns="0" rIns="0" tIns="0" bIns="0" anchor="t">
            <a:spAutoFit/>
          </a:bodyPr>
          <a:lstStyle/>
          <a:p>
            <a:pPr algn="l">
              <a:lnSpc>
                <a:spcPct val="90000"/>
              </a:lnSpc>
              <a:spcBef>
                <a:spcPts val="0"/>
              </a:spcBef>
              <a:spcAft>
                <a:spcPts val="0"/>
              </a:spcAft>
            </a:pPr>
            <a:r>
              <a:rPr sz="1700" b="1" i="0">
                <a:solidFill>
                  <a:srgbClr val="FFFFFF"/>
                </a:solidFill>
                <a:latin typeface="Lato"/>
              </a:rPr>
              <a:t>FOR DISCUSSION
ONLY</a:t>
            </a:r>
          </a:p>
        </p:txBody>
      </p:sp>
      <p:sp>
        <p:nvSpPr>
          <p:cNvPr id="13" name="TextBox 12"/>
          <p:cNvSpPr txBox="1"/>
          <p:nvPr/>
        </p:nvSpPr>
        <p:spPr>
          <a:xfrm>
            <a:off x="786384" y="2743200"/>
            <a:ext cx="2011680" cy="201168"/>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A9B9C8"/>
                </a:solidFill>
                <a:latin typeface="Lato"/>
              </a:rPr>
              <a:t>This material is:</a:t>
            </a:r>
          </a:p>
        </p:txBody>
      </p:sp>
      <p:sp>
        <p:nvSpPr>
          <p:cNvPr id="14" name="Rectangle 13"/>
          <p:cNvSpPr/>
          <p:nvPr/>
        </p:nvSpPr>
        <p:spPr>
          <a:xfrm>
            <a:off x="786384" y="3172968"/>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5" y="3127248"/>
            <a:ext cx="1783080" cy="219456"/>
          </a:xfrm>
          <a:prstGeom prst="rect">
            <a:avLst/>
          </a:prstGeom>
          <a:noFill/>
        </p:spPr>
        <p:txBody>
          <a:bodyPr wrap="square" lIns="0" rIns="0" tIns="0" bIns="0" anchor="t">
            <a:spAutoFit/>
          </a:bodyPr>
          <a:lstStyle/>
          <a:p>
            <a:pPr algn="l">
              <a:lnSpc>
                <a:spcPct val="100000"/>
              </a:lnSpc>
              <a:spcBef>
                <a:spcPts val="0"/>
              </a:spcBef>
              <a:spcAft>
                <a:spcPts val="0"/>
              </a:spcAft>
            </a:pPr>
            <a:r>
              <a:rPr sz="1050" b="1" i="0">
                <a:solidFill>
                  <a:srgbClr val="FFFFFF"/>
                </a:solidFill>
                <a:latin typeface="Lato"/>
              </a:rPr>
              <a:t>Confidential</a:t>
            </a:r>
          </a:p>
        </p:txBody>
      </p:sp>
      <p:sp>
        <p:nvSpPr>
          <p:cNvPr id="16" name="Rectangle 15"/>
          <p:cNvSpPr/>
          <p:nvPr/>
        </p:nvSpPr>
        <p:spPr>
          <a:xfrm>
            <a:off x="786384" y="3794759"/>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2415" y="3749039"/>
            <a:ext cx="1783080" cy="219456"/>
          </a:xfrm>
          <a:prstGeom prst="rect">
            <a:avLst/>
          </a:prstGeom>
          <a:noFill/>
        </p:spPr>
        <p:txBody>
          <a:bodyPr wrap="square" lIns="0" rIns="0" tIns="0" bIns="0" anchor="t">
            <a:spAutoFit/>
          </a:bodyPr>
          <a:lstStyle/>
          <a:p>
            <a:pPr algn="l">
              <a:lnSpc>
                <a:spcPct val="100000"/>
              </a:lnSpc>
              <a:spcBef>
                <a:spcPts val="0"/>
              </a:spcBef>
              <a:spcAft>
                <a:spcPts val="0"/>
              </a:spcAft>
            </a:pPr>
            <a:r>
              <a:rPr sz="1050" b="1" i="0">
                <a:solidFill>
                  <a:srgbClr val="FFFFFF"/>
                </a:solidFill>
                <a:latin typeface="Lato"/>
              </a:rPr>
              <a:t>Non-binding</a:t>
            </a:r>
          </a:p>
        </p:txBody>
      </p:sp>
      <p:sp>
        <p:nvSpPr>
          <p:cNvPr id="18" name="Rectangle 17"/>
          <p:cNvSpPr/>
          <p:nvPr/>
        </p:nvSpPr>
        <p:spPr>
          <a:xfrm>
            <a:off x="786384" y="4416552"/>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5" y="4370832"/>
            <a:ext cx="1783080" cy="219456"/>
          </a:xfrm>
          <a:prstGeom prst="rect">
            <a:avLst/>
          </a:prstGeom>
          <a:noFill/>
        </p:spPr>
        <p:txBody>
          <a:bodyPr wrap="square" lIns="0" rIns="0" tIns="0" bIns="0" anchor="t">
            <a:spAutoFit/>
          </a:bodyPr>
          <a:lstStyle/>
          <a:p>
            <a:pPr algn="l">
              <a:lnSpc>
                <a:spcPct val="100000"/>
              </a:lnSpc>
              <a:spcBef>
                <a:spcPts val="0"/>
              </a:spcBef>
              <a:spcAft>
                <a:spcPts val="0"/>
              </a:spcAft>
            </a:pPr>
            <a:r>
              <a:rPr sz="1050" b="1" i="0">
                <a:solidFill>
                  <a:srgbClr val="FFFFFF"/>
                </a:solidFill>
                <a:latin typeface="Lato"/>
              </a:rPr>
              <a:t>Subject to diligence</a:t>
            </a:r>
          </a:p>
        </p:txBody>
      </p:sp>
      <p:cxnSp>
        <p:nvCxnSpPr>
          <p:cNvPr id="20" name="Connector 19"/>
          <p:cNvCxnSpPr/>
          <p:nvPr/>
        </p:nvCxnSpPr>
        <p:spPr>
          <a:xfrm>
            <a:off x="786384" y="5138928"/>
            <a:ext cx="2194560" cy="0"/>
          </a:xfrm>
          <a:prstGeom prst="line">
            <a:avLst/>
          </a:prstGeom>
          <a:ln w="10160">
            <a:solidFill>
              <a:srgbClr val="32486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86384" y="5376672"/>
            <a:ext cx="2048256" cy="566928"/>
          </a:xfrm>
          <a:prstGeom prst="rect">
            <a:avLst/>
          </a:prstGeom>
          <a:noFill/>
        </p:spPr>
        <p:txBody>
          <a:bodyPr wrap="square" lIns="0" rIns="0" tIns="0" bIns="0" anchor="t">
            <a:spAutoFit/>
          </a:bodyPr>
          <a:lstStyle/>
          <a:p>
            <a:pPr algn="l">
              <a:lnSpc>
                <a:spcPct val="100000"/>
              </a:lnSpc>
              <a:spcBef>
                <a:spcPts val="0"/>
              </a:spcBef>
              <a:spcAft>
                <a:spcPts val="0"/>
              </a:spcAft>
            </a:pPr>
            <a:r>
              <a:rPr sz="919" b="0" i="0">
                <a:solidFill>
                  <a:srgbClr val="CED8E0"/>
                </a:solidFill>
                <a:latin typeface="Lato"/>
              </a:rPr>
              <a:t>No securities are offered by this presentation.</a:t>
            </a:r>
          </a:p>
        </p:txBody>
      </p:sp>
      <p:sp>
        <p:nvSpPr>
          <p:cNvPr id="22" name="TextBox 21"/>
          <p:cNvSpPr txBox="1"/>
          <p:nvPr/>
        </p:nvSpPr>
        <p:spPr>
          <a:xfrm>
            <a:off x="786384" y="5989320"/>
            <a:ext cx="1828800" cy="164592"/>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00A58E"/>
                </a:solidFill>
                <a:latin typeface="Lato"/>
              </a:rPr>
              <a:t>SAMUEL SPACE</a:t>
            </a:r>
          </a:p>
        </p:txBody>
      </p:sp>
      <p:sp>
        <p:nvSpPr>
          <p:cNvPr id="23" name="Rounded Rectangle 22"/>
          <p:cNvSpPr/>
          <p:nvPr/>
        </p:nvSpPr>
        <p:spPr>
          <a:xfrm>
            <a:off x="3502152" y="1426464"/>
            <a:ext cx="8183879" cy="143560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30752" y="1627632"/>
            <a:ext cx="438912" cy="292608"/>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85615" y="1627632"/>
            <a:ext cx="329184"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087C71"/>
                </a:solidFill>
                <a:latin typeface="Lato"/>
              </a:rPr>
              <a:t>01</a:t>
            </a:r>
          </a:p>
        </p:txBody>
      </p:sp>
      <p:sp>
        <p:nvSpPr>
          <p:cNvPr id="26" name="TextBox 25"/>
          <p:cNvSpPr txBox="1"/>
          <p:nvPr/>
        </p:nvSpPr>
        <p:spPr>
          <a:xfrm>
            <a:off x="4361688" y="1591056"/>
            <a:ext cx="6931152" cy="25603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Purpose and confidentiality</a:t>
            </a:r>
          </a:p>
        </p:txBody>
      </p:sp>
      <p:sp>
        <p:nvSpPr>
          <p:cNvPr id="27" name="TextBox 26"/>
          <p:cNvSpPr txBox="1"/>
          <p:nvPr/>
        </p:nvSpPr>
        <p:spPr>
          <a:xfrm>
            <a:off x="3730752" y="1993392"/>
            <a:ext cx="7571231" cy="685800"/>
          </a:xfrm>
          <a:prstGeom prst="rect">
            <a:avLst/>
          </a:prstGeom>
          <a:noFill/>
        </p:spPr>
        <p:txBody>
          <a:bodyPr wrap="square" lIns="0" rIns="0" tIns="0" bIns="0" anchor="t">
            <a:spAutoFit/>
          </a:bodyPr>
          <a:lstStyle/>
          <a:p>
            <a:pPr algn="l">
              <a:lnSpc>
                <a:spcPct val="96000"/>
              </a:lnSpc>
              <a:spcBef>
                <a:spcPts val="0"/>
              </a:spcBef>
              <a:spcAft>
                <a:spcPts val="0"/>
              </a:spcAft>
            </a:pPr>
            <a:r>
              <a:rPr sz="880" b="0" i="0">
                <a:solidFill>
                  <a:srgbClr val="5E7082"/>
                </a:solidFill>
                <a:latin typeface="Lato"/>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p:txBody>
      </p:sp>
      <p:sp>
        <p:nvSpPr>
          <p:cNvPr id="28" name="Rounded Rectangle 27"/>
          <p:cNvSpPr/>
          <p:nvPr/>
        </p:nvSpPr>
        <p:spPr>
          <a:xfrm>
            <a:off x="3502152" y="3054096"/>
            <a:ext cx="8183879" cy="143560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3730752" y="3255264"/>
            <a:ext cx="438912" cy="292608"/>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85615" y="3255264"/>
            <a:ext cx="329184"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087C71"/>
                </a:solidFill>
                <a:latin typeface="Lato"/>
              </a:rPr>
              <a:t>02</a:t>
            </a:r>
          </a:p>
        </p:txBody>
      </p:sp>
      <p:sp>
        <p:nvSpPr>
          <p:cNvPr id="31" name="TextBox 30"/>
          <p:cNvSpPr txBox="1"/>
          <p:nvPr/>
        </p:nvSpPr>
        <p:spPr>
          <a:xfrm>
            <a:off x="4361688" y="3218688"/>
            <a:ext cx="6931152" cy="25603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Forward-looking statements</a:t>
            </a:r>
          </a:p>
        </p:txBody>
      </p:sp>
      <p:sp>
        <p:nvSpPr>
          <p:cNvPr id="32" name="TextBox 31"/>
          <p:cNvSpPr txBox="1"/>
          <p:nvPr/>
        </p:nvSpPr>
        <p:spPr>
          <a:xfrm>
            <a:off x="3730752" y="3621024"/>
            <a:ext cx="7571231" cy="685800"/>
          </a:xfrm>
          <a:prstGeom prst="rect">
            <a:avLst/>
          </a:prstGeom>
          <a:noFill/>
        </p:spPr>
        <p:txBody>
          <a:bodyPr wrap="square" lIns="0" rIns="0" tIns="0" bIns="0" anchor="t">
            <a:spAutoFit/>
          </a:bodyPr>
          <a:lstStyle/>
          <a:p>
            <a:pPr algn="l">
              <a:lnSpc>
                <a:spcPct val="96000"/>
              </a:lnSpc>
              <a:spcBef>
                <a:spcPts val="0"/>
              </a:spcBef>
              <a:spcAft>
                <a:spcPts val="0"/>
              </a:spcAft>
            </a:pPr>
            <a:r>
              <a:rPr sz="880" b="0" i="0">
                <a:solidFill>
                  <a:srgbClr val="5E7082"/>
                </a:solidFill>
                <a:latin typeface="Lato"/>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p:txBody>
      </p:sp>
      <p:sp>
        <p:nvSpPr>
          <p:cNvPr id="33" name="Rounded Rectangle 32"/>
          <p:cNvSpPr/>
          <p:nvPr/>
        </p:nvSpPr>
        <p:spPr>
          <a:xfrm>
            <a:off x="3502152" y="4681728"/>
            <a:ext cx="8183879" cy="143560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3730752" y="4882896"/>
            <a:ext cx="438912" cy="292608"/>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85615" y="4882896"/>
            <a:ext cx="329184"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087C71"/>
                </a:solidFill>
                <a:latin typeface="Lato"/>
              </a:rPr>
              <a:t>03</a:t>
            </a:r>
          </a:p>
        </p:txBody>
      </p:sp>
      <p:sp>
        <p:nvSpPr>
          <p:cNvPr id="36" name="TextBox 35"/>
          <p:cNvSpPr txBox="1"/>
          <p:nvPr/>
        </p:nvSpPr>
        <p:spPr>
          <a:xfrm>
            <a:off x="4361688" y="4846320"/>
            <a:ext cx="6931152" cy="256032"/>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Third-party information</a:t>
            </a:r>
          </a:p>
        </p:txBody>
      </p:sp>
      <p:sp>
        <p:nvSpPr>
          <p:cNvPr id="37" name="TextBox 36"/>
          <p:cNvSpPr txBox="1"/>
          <p:nvPr/>
        </p:nvSpPr>
        <p:spPr>
          <a:xfrm>
            <a:off x="3730752" y="5248656"/>
            <a:ext cx="7571231" cy="685800"/>
          </a:xfrm>
          <a:prstGeom prst="rect">
            <a:avLst/>
          </a:prstGeom>
          <a:noFill/>
        </p:spPr>
        <p:txBody>
          <a:bodyPr wrap="square" lIns="0" rIns="0" tIns="0" bIns="0" anchor="t">
            <a:spAutoFit/>
          </a:bodyPr>
          <a:lstStyle/>
          <a:p>
            <a:pPr algn="l">
              <a:lnSpc>
                <a:spcPct val="96000"/>
              </a:lnSpc>
              <a:spcBef>
                <a:spcPts val="0"/>
              </a:spcBef>
              <a:spcAft>
                <a:spcPts val="0"/>
              </a:spcAft>
            </a:pPr>
            <a:r>
              <a:rPr sz="880" b="0" i="0">
                <a:solidFill>
                  <a:srgbClr val="5E7082"/>
                </a:solidFill>
                <a:latin typeface="Lato"/>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EXECUTIVE SUMMARY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250" b="1" i="0">
                <a:solidFill>
                  <a:srgbClr val="10243D"/>
                </a:solidFill>
                <a:latin typeface="Lato"/>
              </a:rPr>
              <a:t>Translating Proven Orbital Science Into a Commercial Tissue Platform</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03 / 21</a:t>
            </a:r>
          </a:p>
        </p:txBody>
      </p:sp>
      <p:sp>
        <p:nvSpPr>
          <p:cNvPr id="11" name="Rounded Rectangle 10"/>
          <p:cNvSpPr/>
          <p:nvPr/>
        </p:nvSpPr>
        <p:spPr>
          <a:xfrm>
            <a:off x="502920"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103,223</a:t>
            </a:r>
          </a:p>
        </p:txBody>
      </p:sp>
      <p:sp>
        <p:nvSpPr>
          <p:cNvPr id="14" name="TextBox 13"/>
          <p:cNvSpPr txBox="1"/>
          <p:nvPr/>
        </p:nvSpPr>
        <p:spPr>
          <a:xfrm>
            <a:off x="704088"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People on the U.S. transplant waitlist</a:t>
            </a:r>
          </a:p>
        </p:txBody>
      </p:sp>
      <p:sp>
        <p:nvSpPr>
          <p:cNvPr id="15" name="TextBox 14"/>
          <p:cNvSpPr txBox="1"/>
          <p:nvPr/>
        </p:nvSpPr>
        <p:spPr>
          <a:xfrm>
            <a:off x="704088"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OPTN, 2025</a:t>
            </a:r>
          </a:p>
        </p:txBody>
      </p:sp>
      <p:sp>
        <p:nvSpPr>
          <p:cNvPr id="16" name="Rounded Rectangle 15"/>
          <p:cNvSpPr/>
          <p:nvPr/>
        </p:nvSpPr>
        <p:spPr>
          <a:xfrm>
            <a:off x="3319272"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19272"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20440"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13 / day</a:t>
            </a:r>
          </a:p>
        </p:txBody>
      </p:sp>
      <p:sp>
        <p:nvSpPr>
          <p:cNvPr id="19" name="TextBox 18"/>
          <p:cNvSpPr txBox="1"/>
          <p:nvPr/>
        </p:nvSpPr>
        <p:spPr>
          <a:xfrm>
            <a:off x="3520440"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Americans die waiting for a donor organ</a:t>
            </a:r>
          </a:p>
        </p:txBody>
      </p:sp>
      <p:sp>
        <p:nvSpPr>
          <p:cNvPr id="20" name="TextBox 19"/>
          <p:cNvSpPr txBox="1"/>
          <p:nvPr/>
        </p:nvSpPr>
        <p:spPr>
          <a:xfrm>
            <a:off x="3520440"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U.S. organ donation data</a:t>
            </a:r>
          </a:p>
        </p:txBody>
      </p:sp>
      <p:sp>
        <p:nvSpPr>
          <p:cNvPr id="21" name="Rounded Rectangle 20"/>
          <p:cNvSpPr/>
          <p:nvPr/>
        </p:nvSpPr>
        <p:spPr>
          <a:xfrm>
            <a:off x="6135624"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5624"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36792"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$1.7B to $3.5B+</a:t>
            </a:r>
          </a:p>
        </p:txBody>
      </p:sp>
      <p:sp>
        <p:nvSpPr>
          <p:cNvPr id="24" name="TextBox 23"/>
          <p:cNvSpPr txBox="1"/>
          <p:nvPr/>
        </p:nvSpPr>
        <p:spPr>
          <a:xfrm>
            <a:off x="6336792"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Global bioprinting market, 2025 to 2030</a:t>
            </a:r>
          </a:p>
        </p:txBody>
      </p:sp>
      <p:sp>
        <p:nvSpPr>
          <p:cNvPr id="25" name="TextBox 24"/>
          <p:cNvSpPr txBox="1"/>
          <p:nvPr/>
        </p:nvSpPr>
        <p:spPr>
          <a:xfrm>
            <a:off x="6336792"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~16% CAGR</a:t>
            </a:r>
          </a:p>
        </p:txBody>
      </p:sp>
      <p:sp>
        <p:nvSpPr>
          <p:cNvPr id="26" name="Rounded Rectangle 25"/>
          <p:cNvSpPr/>
          <p:nvPr/>
        </p:nvSpPr>
        <p:spPr>
          <a:xfrm>
            <a:off x="8951976" y="1435608"/>
            <a:ext cx="2624328" cy="12161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51976" y="1435608"/>
            <a:ext cx="73152" cy="1216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3144" y="1581912"/>
            <a:ext cx="2240280" cy="438912"/>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10243D"/>
                </a:solidFill>
                <a:latin typeface="Lato"/>
              </a:rPr>
              <a:t>8 years</a:t>
            </a:r>
          </a:p>
        </p:txBody>
      </p:sp>
      <p:sp>
        <p:nvSpPr>
          <p:cNvPr id="29" name="TextBox 28"/>
          <p:cNvSpPr txBox="1"/>
          <p:nvPr/>
        </p:nvSpPr>
        <p:spPr>
          <a:xfrm>
            <a:off x="9153144" y="2048256"/>
            <a:ext cx="2240280" cy="329184"/>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5E7082"/>
                </a:solidFill>
                <a:latin typeface="Lato"/>
              </a:rPr>
              <a:t>Continuous in-orbit bioprinting validation</a:t>
            </a:r>
          </a:p>
        </p:txBody>
      </p:sp>
      <p:sp>
        <p:nvSpPr>
          <p:cNvPr id="30" name="TextBox 29"/>
          <p:cNvSpPr txBox="1"/>
          <p:nvPr/>
        </p:nvSpPr>
        <p:spPr>
          <a:xfrm>
            <a:off x="9153144" y="2395728"/>
            <a:ext cx="2240280" cy="146304"/>
          </a:xfrm>
          <a:prstGeom prst="rect">
            <a:avLst/>
          </a:prstGeom>
          <a:noFill/>
        </p:spPr>
        <p:txBody>
          <a:bodyPr wrap="square" lIns="0" rIns="0" tIns="0" bIns="0" anchor="t">
            <a:spAutoFit/>
          </a:bodyPr>
          <a:lstStyle/>
          <a:p>
            <a:pPr algn="l">
              <a:lnSpc>
                <a:spcPct val="100000"/>
              </a:lnSpc>
              <a:spcBef>
                <a:spcPts val="0"/>
              </a:spcBef>
              <a:spcAft>
                <a:spcPts val="0"/>
              </a:spcAft>
            </a:pPr>
            <a:r>
              <a:rPr sz="680" b="0" i="0">
                <a:solidFill>
                  <a:srgbClr val="8492A0"/>
                </a:solidFill>
                <a:latin typeface="Lato"/>
              </a:rPr>
              <a:t>2018–2026</a:t>
            </a:r>
          </a:p>
        </p:txBody>
      </p:sp>
      <p:sp>
        <p:nvSpPr>
          <p:cNvPr id="31" name="Rounded Rectangle 30"/>
          <p:cNvSpPr/>
          <p:nvPr/>
        </p:nvSpPr>
        <p:spPr>
          <a:xfrm>
            <a:off x="502920" y="2852928"/>
            <a:ext cx="2624328" cy="3493008"/>
          </a:xfrm>
          <a:prstGeom prst="roundRect">
            <a:avLst/>
          </a:prstGeom>
          <a:solidFill>
            <a:srgbClr val="FAECE9"/>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704088" y="3072384"/>
            <a:ext cx="457200" cy="292608"/>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952"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01</a:t>
            </a:r>
          </a:p>
        </p:txBody>
      </p:sp>
      <p:sp>
        <p:nvSpPr>
          <p:cNvPr id="34" name="TextBox 33"/>
          <p:cNvSpPr txBox="1"/>
          <p:nvPr/>
        </p:nvSpPr>
        <p:spPr>
          <a:xfrm>
            <a:off x="704088"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D87566"/>
                </a:solidFill>
                <a:latin typeface="Lato"/>
              </a:rPr>
              <a:t>THE PROBLEM</a:t>
            </a:r>
          </a:p>
        </p:txBody>
      </p:sp>
      <p:sp>
        <p:nvSpPr>
          <p:cNvPr id="35" name="TextBox 34"/>
          <p:cNvSpPr txBox="1"/>
          <p:nvPr/>
        </p:nvSpPr>
        <p:spPr>
          <a:xfrm>
            <a:off x="704088"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0243D"/>
                </a:solidFill>
                <a:latin typeface="Lato"/>
              </a:rPr>
              <a:t>The Problem</a:t>
            </a:r>
          </a:p>
        </p:txBody>
      </p:sp>
      <p:sp>
        <p:nvSpPr>
          <p:cNvPr id="36" name="TextBox 35"/>
          <p:cNvSpPr txBox="1"/>
          <p:nvPr/>
        </p:nvSpPr>
        <p:spPr>
          <a:xfrm>
            <a:off x="704088"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5E7082"/>
                </a:solidFill>
                <a:latin typeface="Lato"/>
              </a:rPr>
              <a:t>Organ and tissue shortages persist globally. Earth-based bioprinting hits a physical ceiling: gravity causes tissues to collapse without a temporary scaffold, limiting achievable geometry.</a:t>
            </a:r>
          </a:p>
        </p:txBody>
      </p:sp>
      <p:sp>
        <p:nvSpPr>
          <p:cNvPr id="37" name="Rectangle 36"/>
          <p:cNvSpPr/>
          <p:nvPr/>
        </p:nvSpPr>
        <p:spPr>
          <a:xfrm>
            <a:off x="704088" y="6108192"/>
            <a:ext cx="566928" cy="45720"/>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319272" y="2852928"/>
            <a:ext cx="2624328" cy="3493008"/>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3520440" y="3072384"/>
            <a:ext cx="457200"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75304"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02</a:t>
            </a:r>
          </a:p>
        </p:txBody>
      </p:sp>
      <p:sp>
        <p:nvSpPr>
          <p:cNvPr id="41" name="TextBox 40"/>
          <p:cNvSpPr txBox="1"/>
          <p:nvPr/>
        </p:nvSpPr>
        <p:spPr>
          <a:xfrm>
            <a:off x="3520440"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00A58E"/>
                </a:solidFill>
                <a:latin typeface="Lato"/>
              </a:rPr>
              <a:t>THE UNLOCK</a:t>
            </a:r>
          </a:p>
        </p:txBody>
      </p:sp>
      <p:sp>
        <p:nvSpPr>
          <p:cNvPr id="42" name="TextBox 41"/>
          <p:cNvSpPr txBox="1"/>
          <p:nvPr/>
        </p:nvSpPr>
        <p:spPr>
          <a:xfrm>
            <a:off x="3520440"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0243D"/>
                </a:solidFill>
                <a:latin typeface="Lato"/>
              </a:rPr>
              <a:t>The Unlock</a:t>
            </a:r>
          </a:p>
        </p:txBody>
      </p:sp>
      <p:sp>
        <p:nvSpPr>
          <p:cNvPr id="43" name="TextBox 42"/>
          <p:cNvSpPr txBox="1"/>
          <p:nvPr/>
        </p:nvSpPr>
        <p:spPr>
          <a:xfrm>
            <a:off x="3520440"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5E7082"/>
                </a:solidFill>
                <a:latin typeface="Lato"/>
              </a:rPr>
              <a:t>Microgravity eliminates scaffold dependency. NASA, Redwire, ESA, LambdaVision and ROSCOSMOS have validated the science aboard the ISS continuously since 2018.</a:t>
            </a:r>
          </a:p>
        </p:txBody>
      </p:sp>
      <p:sp>
        <p:nvSpPr>
          <p:cNvPr id="44" name="Rectangle 43"/>
          <p:cNvSpPr/>
          <p:nvPr/>
        </p:nvSpPr>
        <p:spPr>
          <a:xfrm>
            <a:off x="3520440" y="6108192"/>
            <a:ext cx="566928" cy="45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35624" y="2852928"/>
            <a:ext cx="2624328" cy="3493008"/>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336792" y="3072384"/>
            <a:ext cx="457200" cy="292608"/>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91655"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03</a:t>
            </a:r>
          </a:p>
        </p:txBody>
      </p:sp>
      <p:sp>
        <p:nvSpPr>
          <p:cNvPr id="48" name="TextBox 47"/>
          <p:cNvSpPr txBox="1"/>
          <p:nvPr/>
        </p:nvSpPr>
        <p:spPr>
          <a:xfrm>
            <a:off x="6336792"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5E91B5"/>
                </a:solidFill>
                <a:latin typeface="Lato"/>
              </a:rPr>
              <a:t>THE MARKET</a:t>
            </a:r>
          </a:p>
        </p:txBody>
      </p:sp>
      <p:sp>
        <p:nvSpPr>
          <p:cNvPr id="49" name="TextBox 48"/>
          <p:cNvSpPr txBox="1"/>
          <p:nvPr/>
        </p:nvSpPr>
        <p:spPr>
          <a:xfrm>
            <a:off x="6336792"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10243D"/>
                </a:solidFill>
                <a:latin typeface="Lato"/>
              </a:rPr>
              <a:t>The Market</a:t>
            </a:r>
          </a:p>
        </p:txBody>
      </p:sp>
      <p:sp>
        <p:nvSpPr>
          <p:cNvPr id="50" name="TextBox 49"/>
          <p:cNvSpPr txBox="1"/>
          <p:nvPr/>
        </p:nvSpPr>
        <p:spPr>
          <a:xfrm>
            <a:off x="6336792"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5E7082"/>
                </a:solidFill>
                <a:latin typeface="Lato"/>
              </a:rPr>
              <a:t>A $1.7B market growing at ~16% CAGR, the first FDA-cleared tissue-engineered vascular graft (Symvess, Dec 2024), and four commercial stations entering service from 2026.</a:t>
            </a:r>
          </a:p>
        </p:txBody>
      </p:sp>
      <p:sp>
        <p:nvSpPr>
          <p:cNvPr id="51" name="Rectangle 50"/>
          <p:cNvSpPr/>
          <p:nvPr/>
        </p:nvSpPr>
        <p:spPr>
          <a:xfrm>
            <a:off x="6336792" y="6108192"/>
            <a:ext cx="566928" cy="45720"/>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951976" y="2852928"/>
            <a:ext cx="2624328" cy="349300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153144" y="3072384"/>
            <a:ext cx="457200"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208008" y="3072384"/>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04</a:t>
            </a:r>
          </a:p>
        </p:txBody>
      </p:sp>
      <p:sp>
        <p:nvSpPr>
          <p:cNvPr id="55" name="TextBox 54"/>
          <p:cNvSpPr txBox="1"/>
          <p:nvPr/>
        </p:nvSpPr>
        <p:spPr>
          <a:xfrm>
            <a:off x="9153144" y="3575304"/>
            <a:ext cx="2194560" cy="274320"/>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00A58E"/>
                </a:solidFill>
                <a:latin typeface="Lato"/>
              </a:rPr>
              <a:t>THE ASK</a:t>
            </a:r>
          </a:p>
        </p:txBody>
      </p:sp>
      <p:sp>
        <p:nvSpPr>
          <p:cNvPr id="56" name="TextBox 55"/>
          <p:cNvSpPr txBox="1"/>
          <p:nvPr/>
        </p:nvSpPr>
        <p:spPr>
          <a:xfrm>
            <a:off x="9153144" y="3968496"/>
            <a:ext cx="2176272" cy="402336"/>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FFFFFF"/>
                </a:solidFill>
                <a:latin typeface="Lato"/>
              </a:rPr>
              <a:t>The Ask</a:t>
            </a:r>
          </a:p>
        </p:txBody>
      </p:sp>
      <p:sp>
        <p:nvSpPr>
          <p:cNvPr id="57" name="TextBox 56"/>
          <p:cNvSpPr txBox="1"/>
          <p:nvPr/>
        </p:nvSpPr>
        <p:spPr>
          <a:xfrm>
            <a:off x="9153144" y="4517136"/>
            <a:ext cx="2194560" cy="1481328"/>
          </a:xfrm>
          <a:prstGeom prst="rect">
            <a:avLst/>
          </a:prstGeom>
          <a:noFill/>
        </p:spPr>
        <p:txBody>
          <a:bodyPr wrap="square" lIns="0" rIns="0" tIns="0" bIns="0" anchor="t">
            <a:spAutoFit/>
          </a:bodyPr>
          <a:lstStyle/>
          <a:p>
            <a:pPr algn="l">
              <a:lnSpc>
                <a:spcPct val="98000"/>
              </a:lnSpc>
              <a:spcBef>
                <a:spcPts val="0"/>
              </a:spcBef>
              <a:spcAft>
                <a:spcPts val="0"/>
              </a:spcAft>
            </a:pPr>
            <a:r>
              <a:rPr sz="950" b="0" i="0">
                <a:solidFill>
                  <a:srgbClr val="CAD6DF"/>
                </a:solidFill>
                <a:latin typeface="Lato"/>
              </a:rPr>
              <a:t>An $18M Series A to build Samuel's first flight-qualified payload platform, commercialise wound-care and orthopedic verticals, and file NASA InSPA Phase 1 grants.</a:t>
            </a:r>
          </a:p>
        </p:txBody>
      </p:sp>
      <p:sp>
        <p:nvSpPr>
          <p:cNvPr id="58" name="Rectangle 57"/>
          <p:cNvSpPr/>
          <p:nvPr/>
        </p:nvSpPr>
        <p:spPr>
          <a:xfrm>
            <a:off x="9153144" y="6108192"/>
            <a:ext cx="566928" cy="45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PROBLEM</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A Global Organ &amp; Tissue Crisis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04 / 21</a:t>
            </a:r>
          </a:p>
        </p:txBody>
      </p:sp>
      <p:sp>
        <p:nvSpPr>
          <p:cNvPr id="11" name="Rounded Rectangle 10"/>
          <p:cNvSpPr/>
          <p:nvPr/>
        </p:nvSpPr>
        <p:spPr>
          <a:xfrm>
            <a:off x="502920" y="1426464"/>
            <a:ext cx="6510528" cy="444398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673352"/>
            <a:ext cx="5212080" cy="219456"/>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U.S. TRANSPLANT WAITLIST BY ORGAN  /  2025</a:t>
            </a:r>
          </a:p>
        </p:txBody>
      </p:sp>
      <p:sp>
        <p:nvSpPr>
          <p:cNvPr id="13" name="TextBox 12"/>
          <p:cNvSpPr txBox="1"/>
          <p:nvPr/>
        </p:nvSpPr>
        <p:spPr>
          <a:xfrm>
            <a:off x="758952" y="1956816"/>
            <a:ext cx="5212080" cy="182880"/>
          </a:xfrm>
          <a:prstGeom prst="rect">
            <a:avLst/>
          </a:prstGeom>
          <a:noFill/>
        </p:spPr>
        <p:txBody>
          <a:bodyPr wrap="square" lIns="0" rIns="0" tIns="0" bIns="0" anchor="t">
            <a:spAutoFit/>
          </a:bodyPr>
          <a:lstStyle/>
          <a:p>
            <a:pPr algn="l">
              <a:lnSpc>
                <a:spcPct val="100000"/>
              </a:lnSpc>
              <a:spcBef>
                <a:spcPts val="0"/>
              </a:spcBef>
              <a:spcAft>
                <a:spcPts val="0"/>
              </a:spcAft>
            </a:pPr>
            <a:r>
              <a:rPr sz="760" b="0" i="0">
                <a:solidFill>
                  <a:srgbClr val="8492A0"/>
                </a:solidFill>
                <a:latin typeface="Lato"/>
              </a:rPr>
              <a:t>Share of 103,223 people waiting</a:t>
            </a:r>
          </a:p>
        </p:txBody>
      </p:sp>
      <p:sp>
        <p:nvSpPr>
          <p:cNvPr id="14" name="TextBox 13"/>
          <p:cNvSpPr txBox="1"/>
          <p:nvPr/>
        </p:nvSpPr>
        <p:spPr>
          <a:xfrm>
            <a:off x="758952" y="2331720"/>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Kidney</a:t>
            </a:r>
          </a:p>
        </p:txBody>
      </p:sp>
      <p:sp>
        <p:nvSpPr>
          <p:cNvPr id="15" name="Rounded Rectangle 14"/>
          <p:cNvSpPr/>
          <p:nvPr/>
        </p:nvSpPr>
        <p:spPr>
          <a:xfrm>
            <a:off x="1645920" y="2359151"/>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645920" y="2359151"/>
            <a:ext cx="4434840" cy="14630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0" y="2331720"/>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87%</a:t>
            </a:r>
          </a:p>
        </p:txBody>
      </p:sp>
      <p:sp>
        <p:nvSpPr>
          <p:cNvPr id="18" name="TextBox 17"/>
          <p:cNvSpPr txBox="1"/>
          <p:nvPr/>
        </p:nvSpPr>
        <p:spPr>
          <a:xfrm>
            <a:off x="758952" y="2843784"/>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Liver</a:t>
            </a:r>
          </a:p>
        </p:txBody>
      </p:sp>
      <p:sp>
        <p:nvSpPr>
          <p:cNvPr id="19" name="Rounded Rectangle 18"/>
          <p:cNvSpPr/>
          <p:nvPr/>
        </p:nvSpPr>
        <p:spPr>
          <a:xfrm>
            <a:off x="1645920" y="2871215"/>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645920" y="2871215"/>
            <a:ext cx="458776"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0" y="2843784"/>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9%</a:t>
            </a:r>
          </a:p>
        </p:txBody>
      </p:sp>
      <p:sp>
        <p:nvSpPr>
          <p:cNvPr id="22" name="TextBox 21"/>
          <p:cNvSpPr txBox="1"/>
          <p:nvPr/>
        </p:nvSpPr>
        <p:spPr>
          <a:xfrm>
            <a:off x="758952" y="3355848"/>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Heart</a:t>
            </a:r>
          </a:p>
        </p:txBody>
      </p:sp>
      <p:sp>
        <p:nvSpPr>
          <p:cNvPr id="23" name="Rounded Rectangle 22"/>
          <p:cNvSpPr/>
          <p:nvPr/>
        </p:nvSpPr>
        <p:spPr>
          <a:xfrm>
            <a:off x="1645920" y="3383279"/>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645920" y="3383279"/>
            <a:ext cx="101950"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72200" y="3355848"/>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2%</a:t>
            </a:r>
          </a:p>
        </p:txBody>
      </p:sp>
      <p:sp>
        <p:nvSpPr>
          <p:cNvPr id="26" name="TextBox 25"/>
          <p:cNvSpPr txBox="1"/>
          <p:nvPr/>
        </p:nvSpPr>
        <p:spPr>
          <a:xfrm>
            <a:off x="758952" y="3867912"/>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Lung</a:t>
            </a:r>
          </a:p>
        </p:txBody>
      </p:sp>
      <p:sp>
        <p:nvSpPr>
          <p:cNvPr id="27" name="Rounded Rectangle 26"/>
          <p:cNvSpPr/>
          <p:nvPr/>
        </p:nvSpPr>
        <p:spPr>
          <a:xfrm>
            <a:off x="1645920" y="3895344"/>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645920" y="3895344"/>
            <a:ext cx="54864"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72200" y="3867912"/>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1%</a:t>
            </a:r>
          </a:p>
        </p:txBody>
      </p:sp>
      <p:sp>
        <p:nvSpPr>
          <p:cNvPr id="30" name="TextBox 29"/>
          <p:cNvSpPr txBox="1"/>
          <p:nvPr/>
        </p:nvSpPr>
        <p:spPr>
          <a:xfrm>
            <a:off x="758952" y="4379976"/>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Pancreas</a:t>
            </a:r>
          </a:p>
        </p:txBody>
      </p:sp>
      <p:sp>
        <p:nvSpPr>
          <p:cNvPr id="31" name="Rounded Rectangle 30"/>
          <p:cNvSpPr/>
          <p:nvPr/>
        </p:nvSpPr>
        <p:spPr>
          <a:xfrm>
            <a:off x="1645920" y="4407408"/>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645920" y="4407408"/>
            <a:ext cx="54864"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72200" y="4379976"/>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0.5%</a:t>
            </a:r>
          </a:p>
        </p:txBody>
      </p:sp>
      <p:sp>
        <p:nvSpPr>
          <p:cNvPr id="34" name="TextBox 33"/>
          <p:cNvSpPr txBox="1"/>
          <p:nvPr/>
        </p:nvSpPr>
        <p:spPr>
          <a:xfrm>
            <a:off x="758952" y="4892040"/>
            <a:ext cx="804672" cy="201168"/>
          </a:xfrm>
          <a:prstGeom prst="rect">
            <a:avLst/>
          </a:prstGeom>
          <a:noFill/>
        </p:spPr>
        <p:txBody>
          <a:bodyPr wrap="square" lIns="0" rIns="0" tIns="0" bIns="0" anchor="t">
            <a:spAutoFit/>
          </a:bodyPr>
          <a:lstStyle/>
          <a:p>
            <a:pPr algn="l">
              <a:lnSpc>
                <a:spcPct val="100000"/>
              </a:lnSpc>
              <a:spcBef>
                <a:spcPts val="0"/>
              </a:spcBef>
              <a:spcAft>
                <a:spcPts val="0"/>
              </a:spcAft>
            </a:pPr>
            <a:r>
              <a:rPr sz="880" b="1" i="0">
                <a:solidFill>
                  <a:srgbClr val="5E7082"/>
                </a:solidFill>
                <a:latin typeface="Lato"/>
              </a:rPr>
              <a:t>Other</a:t>
            </a:r>
          </a:p>
        </p:txBody>
      </p:sp>
      <p:sp>
        <p:nvSpPr>
          <p:cNvPr id="35" name="Rounded Rectangle 34"/>
          <p:cNvSpPr/>
          <p:nvPr/>
        </p:nvSpPr>
        <p:spPr>
          <a:xfrm>
            <a:off x="1645920" y="4919472"/>
            <a:ext cx="4434840" cy="146304"/>
          </a:xfrm>
          <a:prstGeom prst="roundRect">
            <a:avLst/>
          </a:prstGeom>
          <a:solidFill>
            <a:srgbClr val="EDF1F3"/>
          </a:solidFill>
          <a:ln w="9525">
            <a:solidFill>
              <a:srgbClr val="EDF1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645920" y="4919472"/>
            <a:ext cx="54864" cy="146304"/>
          </a:xfrm>
          <a:prstGeom prst="roundRect">
            <a:avLst/>
          </a:prstGeom>
          <a:solidFill>
            <a:srgbClr val="73CABB"/>
          </a:solidFill>
          <a:ln w="9525">
            <a:solidFill>
              <a:srgbClr val="73CA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72200" y="4892040"/>
            <a:ext cx="475488" cy="201168"/>
          </a:xfrm>
          <a:prstGeom prst="rect">
            <a:avLst/>
          </a:prstGeom>
          <a:noFill/>
        </p:spPr>
        <p:txBody>
          <a:bodyPr wrap="square" lIns="0" rIns="0" tIns="0" bIns="0" anchor="t">
            <a:spAutoFit/>
          </a:bodyPr>
          <a:lstStyle/>
          <a:p>
            <a:pPr algn="r">
              <a:lnSpc>
                <a:spcPct val="100000"/>
              </a:lnSpc>
              <a:spcBef>
                <a:spcPts val="0"/>
              </a:spcBef>
              <a:spcAft>
                <a:spcPts val="0"/>
              </a:spcAft>
            </a:pPr>
            <a:r>
              <a:rPr sz="880" b="1" i="0">
                <a:solidFill>
                  <a:srgbClr val="10243D"/>
                </a:solidFill>
                <a:latin typeface="Lato"/>
              </a:rPr>
              <a:t>0.5%</a:t>
            </a:r>
          </a:p>
        </p:txBody>
      </p:sp>
      <p:sp>
        <p:nvSpPr>
          <p:cNvPr id="38" name="TextBox 37"/>
          <p:cNvSpPr txBox="1"/>
          <p:nvPr/>
        </p:nvSpPr>
        <p:spPr>
          <a:xfrm>
            <a:off x="758952" y="5532120"/>
            <a:ext cx="3657600" cy="146304"/>
          </a:xfrm>
          <a:prstGeom prst="rect">
            <a:avLst/>
          </a:prstGeom>
          <a:noFill/>
        </p:spPr>
        <p:txBody>
          <a:bodyPr wrap="square" lIns="0" rIns="0" tIns="0" bIns="0" anchor="t">
            <a:spAutoFit/>
          </a:bodyPr>
          <a:lstStyle/>
          <a:p>
            <a:pPr algn="l">
              <a:lnSpc>
                <a:spcPct val="100000"/>
              </a:lnSpc>
              <a:spcBef>
                <a:spcPts val="0"/>
              </a:spcBef>
              <a:spcAft>
                <a:spcPts val="0"/>
              </a:spcAft>
            </a:pPr>
            <a:r>
              <a:rPr sz="670" b="0" i="0">
                <a:solidFill>
                  <a:srgbClr val="8492A0"/>
                </a:solidFill>
                <a:latin typeface="Lato"/>
              </a:rPr>
              <a:t>Source: OPTN / organdonor.gov, 2025</a:t>
            </a:r>
          </a:p>
        </p:txBody>
      </p:sp>
      <p:sp>
        <p:nvSpPr>
          <p:cNvPr id="39" name="Rounded Rectangle 38"/>
          <p:cNvSpPr/>
          <p:nvPr/>
        </p:nvSpPr>
        <p:spPr>
          <a:xfrm>
            <a:off x="7214616" y="1426464"/>
            <a:ext cx="4471416" cy="128016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61504" y="1609344"/>
            <a:ext cx="1371600" cy="393192"/>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087C71"/>
                </a:solidFill>
                <a:latin typeface="Lato"/>
              </a:rPr>
              <a:t>941,652</a:t>
            </a:r>
          </a:p>
        </p:txBody>
      </p:sp>
      <p:sp>
        <p:nvSpPr>
          <p:cNvPr id="41" name="TextBox 40"/>
          <p:cNvSpPr txBox="1"/>
          <p:nvPr/>
        </p:nvSpPr>
        <p:spPr>
          <a:xfrm>
            <a:off x="8942832" y="1600200"/>
            <a:ext cx="2468880" cy="80467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CVD deaths in the U.S. in 2022 — still the #1 cause of death, killing more people than all cancers combined</a:t>
            </a:r>
          </a:p>
        </p:txBody>
      </p:sp>
      <p:sp>
        <p:nvSpPr>
          <p:cNvPr id="42" name="Rounded Rectangle 41"/>
          <p:cNvSpPr/>
          <p:nvPr/>
        </p:nvSpPr>
        <p:spPr>
          <a:xfrm>
            <a:off x="7214616" y="2907792"/>
            <a:ext cx="4471416" cy="128016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61504" y="3090672"/>
            <a:ext cx="1371600" cy="393192"/>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087C71"/>
                </a:solidFill>
                <a:latin typeface="Lato"/>
              </a:rPr>
              <a:t>~1 per 34 sec</a:t>
            </a:r>
          </a:p>
        </p:txBody>
      </p:sp>
      <p:sp>
        <p:nvSpPr>
          <p:cNvPr id="44" name="TextBox 43"/>
          <p:cNvSpPr txBox="1"/>
          <p:nvPr/>
        </p:nvSpPr>
        <p:spPr>
          <a:xfrm>
            <a:off x="8942832" y="3081528"/>
            <a:ext cx="2468880" cy="80467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A cardiovascular death occurs in the U.S. on average every 34 seconds — roughly 2,500 per day</a:t>
            </a:r>
          </a:p>
        </p:txBody>
      </p:sp>
      <p:sp>
        <p:nvSpPr>
          <p:cNvPr id="45" name="Rounded Rectangle 44"/>
          <p:cNvSpPr/>
          <p:nvPr/>
        </p:nvSpPr>
        <p:spPr>
          <a:xfrm>
            <a:off x="7214616" y="4389120"/>
            <a:ext cx="4471416" cy="128016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61504" y="4572000"/>
            <a:ext cx="1371600" cy="393192"/>
          </a:xfrm>
          <a:prstGeom prst="rect">
            <a:avLst/>
          </a:prstGeom>
          <a:noFill/>
        </p:spPr>
        <p:txBody>
          <a:bodyPr wrap="square" lIns="0" rIns="0" tIns="0" bIns="0" anchor="t">
            <a:spAutoFit/>
          </a:bodyPr>
          <a:lstStyle/>
          <a:p>
            <a:pPr algn="l">
              <a:lnSpc>
                <a:spcPct val="100000"/>
              </a:lnSpc>
              <a:spcBef>
                <a:spcPts val="0"/>
              </a:spcBef>
              <a:spcAft>
                <a:spcPts val="0"/>
              </a:spcAft>
            </a:pPr>
            <a:r>
              <a:rPr sz="1700" b="1" i="0">
                <a:solidFill>
                  <a:srgbClr val="087C71"/>
                </a:solidFill>
                <a:latin typeface="Lato"/>
              </a:rPr>
              <a:t>10% met</a:t>
            </a:r>
          </a:p>
        </p:txBody>
      </p:sp>
      <p:sp>
        <p:nvSpPr>
          <p:cNvPr id="47" name="TextBox 46"/>
          <p:cNvSpPr txBox="1"/>
          <p:nvPr/>
        </p:nvSpPr>
        <p:spPr>
          <a:xfrm>
            <a:off x="8942832" y="4562856"/>
            <a:ext cx="2468880" cy="80467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Of estimated global transplant need: ~130,000 procedures annually versus demand above 1.3M</a:t>
            </a:r>
          </a:p>
        </p:txBody>
      </p:sp>
      <p:sp>
        <p:nvSpPr>
          <p:cNvPr id="48" name="TextBox 47"/>
          <p:cNvSpPr txBox="1"/>
          <p:nvPr/>
        </p:nvSpPr>
        <p:spPr>
          <a:xfrm>
            <a:off x="7333488" y="5577840"/>
            <a:ext cx="4114800" cy="201168"/>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8492A0"/>
                </a:solidFill>
                <a:latin typeface="Lato"/>
              </a:rPr>
              <a:t>Source: AHA 2025 Heart Disease &amp; Stroke Statistics; WHO Global Observatory on Donation and Transplantation.</a:t>
            </a:r>
          </a:p>
        </p:txBody>
      </p:sp>
      <p:sp>
        <p:nvSpPr>
          <p:cNvPr id="49" name="Rounded Rectangle 48"/>
          <p:cNvSpPr/>
          <p:nvPr/>
        </p:nvSpPr>
        <p:spPr>
          <a:xfrm>
            <a:off x="502920" y="5989320"/>
            <a:ext cx="11183112" cy="38404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22376" y="6099048"/>
            <a:ext cx="201168" cy="54864"/>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97280" y="5998464"/>
            <a:ext cx="10241280" cy="365760"/>
          </a:xfrm>
          <a:prstGeom prst="rect">
            <a:avLst/>
          </a:prstGeom>
          <a:noFill/>
        </p:spPr>
        <p:txBody>
          <a:bodyPr wrap="square" lIns="0" rIns="0" tIns="0" bIns="0" anchor="ctr">
            <a:spAutoFit/>
          </a:bodyPr>
          <a:lstStyle/>
          <a:p>
            <a:pPr algn="l">
              <a:lnSpc>
                <a:spcPct val="100000"/>
              </a:lnSpc>
              <a:spcBef>
                <a:spcPts val="0"/>
              </a:spcBef>
              <a:spcAft>
                <a:spcPts val="0"/>
              </a:spcAft>
            </a:pPr>
            <a:r>
              <a:rPr sz="950" b="1" i="0">
                <a:solidFill>
                  <a:srgbClr val="FFFFFF"/>
                </a:solidFill>
                <a:latin typeface="Lato"/>
              </a:rPr>
              <a:t>Patient-specific tissue can eliminate cross-reactive rejection — reducing both clinical burden and lifetime immunosuppressive drug cost.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CORE CONSTRAINT</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Why Earth-Based Bioprinting Has a Hard Ceiling</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05 / 21</a:t>
            </a:r>
          </a:p>
        </p:txBody>
      </p:sp>
      <p:sp>
        <p:nvSpPr>
          <p:cNvPr id="11" name="Rounded Rectangle 10"/>
          <p:cNvSpPr/>
          <p:nvPr/>
        </p:nvSpPr>
        <p:spPr>
          <a:xfrm>
            <a:off x="502920" y="1408176"/>
            <a:ext cx="11183112" cy="62179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1417320"/>
            <a:ext cx="10689336" cy="603504"/>
          </a:xfrm>
          <a:prstGeom prst="rect">
            <a:avLst/>
          </a:prstGeom>
          <a:noFill/>
        </p:spPr>
        <p:txBody>
          <a:bodyPr wrap="square" lIns="0" rIns="0" tIns="0" bIns="0" anchor="ctr">
            <a:spAutoFit/>
          </a:bodyPr>
          <a:lstStyle/>
          <a:p>
            <a:pPr algn="l">
              <a:lnSpc>
                <a:spcPct val="100000"/>
              </a:lnSpc>
              <a:spcBef>
                <a:spcPts val="0"/>
              </a:spcBef>
              <a:spcAft>
                <a:spcPts val="0"/>
              </a:spcAft>
            </a:pPr>
            <a:r>
              <a:rPr sz="1080" b="0" i="0">
                <a:solidFill>
                  <a:srgbClr val="23384D"/>
                </a:solidFill>
                <a:latin typeface="Lato"/>
              </a:rPr>
              <a:t>Gravity forces printed tissue to collapse under its own weight. Scaffolds add foreign material, increase process complexity, and limit geometry. Microgravity removes that constraint.</a:t>
            </a:r>
          </a:p>
        </p:txBody>
      </p:sp>
      <p:sp>
        <p:nvSpPr>
          <p:cNvPr id="13" name="Rounded Rectangle 12"/>
          <p:cNvSpPr/>
          <p:nvPr/>
        </p:nvSpPr>
        <p:spPr>
          <a:xfrm>
            <a:off x="502920" y="2212848"/>
            <a:ext cx="5486400" cy="4160520"/>
          </a:xfrm>
          <a:prstGeom prst="roundRect">
            <a:avLst/>
          </a:prstGeom>
          <a:solidFill>
            <a:srgbClr val="FAECE9"/>
          </a:solidFill>
          <a:ln w="12700">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441448"/>
            <a:ext cx="1417320" cy="310896"/>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6384" y="2441448"/>
            <a:ext cx="1307592" cy="310896"/>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EARTH GRAVITY</a:t>
            </a:r>
          </a:p>
        </p:txBody>
      </p:sp>
      <p:sp>
        <p:nvSpPr>
          <p:cNvPr id="16" name="TextBox 15"/>
          <p:cNvSpPr txBox="1"/>
          <p:nvPr/>
        </p:nvSpPr>
        <p:spPr>
          <a:xfrm>
            <a:off x="731520" y="2889504"/>
            <a:ext cx="2743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Scaffold-dependent</a:t>
            </a:r>
          </a:p>
        </p:txBody>
      </p:sp>
      <p:cxnSp>
        <p:nvCxnSpPr>
          <p:cNvPr id="17" name="Connector 16"/>
          <p:cNvCxnSpPr/>
          <p:nvPr/>
        </p:nvCxnSpPr>
        <p:spPr>
          <a:xfrm>
            <a:off x="1207007"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39526"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672045"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904564"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37083"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69602"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2602121"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834639" y="4493361"/>
            <a:ext cx="0" cy="683971"/>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15568" y="4493361"/>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15568" y="4714646"/>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115568" y="4935931"/>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115568" y="5157216"/>
            <a:ext cx="1810512" cy="0"/>
          </a:xfrm>
          <a:prstGeom prst="line">
            <a:avLst/>
          </a:prstGeom>
          <a:ln w="8890">
            <a:solidFill>
              <a:srgbClr val="AEBCC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1043696" y="3904945"/>
            <a:ext cx="502920" cy="331927"/>
          </a:xfrm>
          <a:prstGeom prst="ellipse">
            <a:avLst/>
          </a:prstGeom>
          <a:solidFill>
            <a:srgbClr val="55B9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00825" y="4005931"/>
            <a:ext cx="623620" cy="411589"/>
          </a:xfrm>
          <a:prstGeom prst="ellipse">
            <a:avLst/>
          </a:prstGeom>
          <a:solidFill>
            <a:srgbClr val="8CCFC3"/>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703892" y="4133069"/>
            <a:ext cx="543153" cy="358481"/>
          </a:xfrm>
          <a:prstGeom prst="ellipse">
            <a:avLst/>
          </a:prstGeom>
          <a:solidFill>
            <a:srgbClr val="55B9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38345" y="3952420"/>
            <a:ext cx="663854" cy="438143"/>
          </a:xfrm>
          <a:prstGeom prst="ellipse">
            <a:avLst/>
          </a:prstGeom>
          <a:solidFill>
            <a:srgbClr val="8CCFC3"/>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371587" y="4179941"/>
            <a:ext cx="523036" cy="345204"/>
          </a:xfrm>
          <a:prstGeom prst="ellipse">
            <a:avLst/>
          </a:prstGeom>
          <a:solidFill>
            <a:srgbClr val="55B9AA"/>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661269" y="4025444"/>
            <a:ext cx="442569" cy="292095"/>
          </a:xfrm>
          <a:prstGeom prst="ellipse">
            <a:avLst/>
          </a:prstGeom>
          <a:solidFill>
            <a:srgbClr val="8CCFC3"/>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88136" y="4453128"/>
            <a:ext cx="1865376" cy="0"/>
          </a:xfrm>
          <a:prstGeom prst="line">
            <a:avLst/>
          </a:prstGeom>
          <a:ln w="19050">
            <a:solidFill>
              <a:srgbClr val="D875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680667" y="3337560"/>
            <a:ext cx="0" cy="512064"/>
          </a:xfrm>
          <a:prstGeom prst="line">
            <a:avLst/>
          </a:prstGeom>
          <a:ln w="13970">
            <a:solidFill>
              <a:srgbClr val="D87566"/>
            </a:solidFill>
          </a:ln>
        </p:spPr>
        <p:style>
          <a:lnRef idx="2">
            <a:schemeClr val="accent1"/>
          </a:lnRef>
          <a:fillRef idx="0">
            <a:schemeClr val="accent1"/>
          </a:fillRef>
          <a:effectRef idx="1">
            <a:schemeClr val="accent1"/>
          </a:effectRef>
          <a:fontRef idx="minor">
            <a:schemeClr val="tx1"/>
          </a:fontRef>
        </p:style>
      </p:cxnSp>
      <p:sp>
        <p:nvSpPr>
          <p:cNvPr id="37" name="Chevron 36"/>
          <p:cNvSpPr/>
          <p:nvPr/>
        </p:nvSpPr>
        <p:spPr>
          <a:xfrm>
            <a:off x="1616659" y="3789273"/>
            <a:ext cx="128016" cy="146304"/>
          </a:xfrm>
          <a:prstGeom prst="chevron">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2474366" y="3337560"/>
            <a:ext cx="0" cy="512064"/>
          </a:xfrm>
          <a:prstGeom prst="line">
            <a:avLst/>
          </a:prstGeom>
          <a:ln w="13970">
            <a:solidFill>
              <a:srgbClr val="D87566"/>
            </a:solidFill>
          </a:ln>
        </p:spPr>
        <p:style>
          <a:lnRef idx="2">
            <a:schemeClr val="accent1"/>
          </a:lnRef>
          <a:fillRef idx="0">
            <a:schemeClr val="accent1"/>
          </a:fillRef>
          <a:effectRef idx="1">
            <a:schemeClr val="accent1"/>
          </a:effectRef>
          <a:fontRef idx="minor">
            <a:schemeClr val="tx1"/>
          </a:fontRef>
        </p:style>
      </p:cxnSp>
      <p:sp>
        <p:nvSpPr>
          <p:cNvPr id="39" name="Chevron 38"/>
          <p:cNvSpPr/>
          <p:nvPr/>
        </p:nvSpPr>
        <p:spPr>
          <a:xfrm>
            <a:off x="2410358" y="3789273"/>
            <a:ext cx="128016" cy="146304"/>
          </a:xfrm>
          <a:prstGeom prst="chevron">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3410712" y="3401568"/>
            <a:ext cx="73152" cy="73152"/>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593592" y="3291840"/>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Cells slump and fuse unevenly under load</a:t>
            </a:r>
          </a:p>
        </p:txBody>
      </p:sp>
      <p:sp>
        <p:nvSpPr>
          <p:cNvPr id="42" name="Rounded Rectangle 41"/>
          <p:cNvSpPr/>
          <p:nvPr/>
        </p:nvSpPr>
        <p:spPr>
          <a:xfrm>
            <a:off x="3410712" y="4069080"/>
            <a:ext cx="73152" cy="73152"/>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93592" y="3959352"/>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Scaffold prints first, then must be dissolved</a:t>
            </a:r>
          </a:p>
        </p:txBody>
      </p:sp>
      <p:sp>
        <p:nvSpPr>
          <p:cNvPr id="44" name="Rounded Rectangle 43"/>
          <p:cNvSpPr/>
          <p:nvPr/>
        </p:nvSpPr>
        <p:spPr>
          <a:xfrm>
            <a:off x="3410712" y="4736592"/>
            <a:ext cx="73152" cy="73152"/>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93592" y="4626864"/>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Complex hollow geometries remain difficult</a:t>
            </a:r>
          </a:p>
        </p:txBody>
      </p:sp>
      <p:sp>
        <p:nvSpPr>
          <p:cNvPr id="46" name="TextBox 45"/>
          <p:cNvSpPr txBox="1"/>
          <p:nvPr/>
        </p:nvSpPr>
        <p:spPr>
          <a:xfrm>
            <a:off x="3410712" y="5669280"/>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D87566"/>
                </a:solidFill>
                <a:latin typeface="Lato"/>
              </a:rPr>
              <a:t>PHYSICAL CONSTRAINT</a:t>
            </a:r>
          </a:p>
        </p:txBody>
      </p:sp>
      <p:sp>
        <p:nvSpPr>
          <p:cNvPr id="47" name="Rectangle 46"/>
          <p:cNvSpPr/>
          <p:nvPr/>
        </p:nvSpPr>
        <p:spPr>
          <a:xfrm>
            <a:off x="3410712" y="5961888"/>
            <a:ext cx="1874519" cy="45720"/>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199632" y="2212848"/>
            <a:ext cx="5486400" cy="4160520"/>
          </a:xfrm>
          <a:prstGeom prst="roundRect">
            <a:avLst/>
          </a:prstGeom>
          <a:solidFill>
            <a:srgbClr val="ECF8F4"/>
          </a:solidFill>
          <a:ln w="1270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428232" y="2441448"/>
            <a:ext cx="2011680" cy="31089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83096" y="2441448"/>
            <a:ext cx="1901952" cy="310896"/>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MICROGRAVITY  /  ISS ORBIT</a:t>
            </a:r>
          </a:p>
        </p:txBody>
      </p:sp>
      <p:sp>
        <p:nvSpPr>
          <p:cNvPr id="51" name="TextBox 50"/>
          <p:cNvSpPr txBox="1"/>
          <p:nvPr/>
        </p:nvSpPr>
        <p:spPr>
          <a:xfrm>
            <a:off x="6428232" y="2889504"/>
            <a:ext cx="2743200" cy="274320"/>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True 3D self-support</a:t>
            </a:r>
          </a:p>
        </p:txBody>
      </p:sp>
      <p:sp>
        <p:nvSpPr>
          <p:cNvPr id="52" name="Oval 51"/>
          <p:cNvSpPr/>
          <p:nvPr/>
        </p:nvSpPr>
        <p:spPr>
          <a:xfrm>
            <a:off x="7150608" y="3355848"/>
            <a:ext cx="1133856" cy="1792224"/>
          </a:xfrm>
          <a:prstGeom prst="ellipse">
            <a:avLst/>
          </a:prstGeom>
          <a:solidFill>
            <a:srgbClr val="ECF8F4"/>
          </a:solidFill>
          <a:ln w="1524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916887" y="3487521"/>
            <a:ext cx="603504" cy="603504"/>
          </a:xfrm>
          <a:prstGeom prst="ellipse">
            <a:avLst/>
          </a:prstGeom>
          <a:solidFill>
            <a:srgbClr val="00A58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430780" y="3407054"/>
            <a:ext cx="482803" cy="482803"/>
          </a:xfrm>
          <a:prstGeom prst="ellipse">
            <a:avLst/>
          </a:prstGeom>
          <a:solidFill>
            <a:srgbClr val="58C9B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798734" y="3648456"/>
            <a:ext cx="563270" cy="563270"/>
          </a:xfrm>
          <a:prstGeom prst="ellipse">
            <a:avLst/>
          </a:prstGeom>
          <a:solidFill>
            <a:srgbClr val="A9E3D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148779" y="3809390"/>
            <a:ext cx="683971" cy="683971"/>
          </a:xfrm>
          <a:prstGeom prst="ellipse">
            <a:avLst/>
          </a:prstGeom>
          <a:solidFill>
            <a:srgbClr val="00A58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7680228" y="4070908"/>
            <a:ext cx="482803" cy="482803"/>
          </a:xfrm>
          <a:prstGeom prst="ellipse">
            <a:avLst/>
          </a:prstGeom>
          <a:solidFill>
            <a:srgbClr val="58C9B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979798" y="4231843"/>
            <a:ext cx="523036" cy="523036"/>
          </a:xfrm>
          <a:prstGeom prst="ellipse">
            <a:avLst/>
          </a:prstGeom>
          <a:solidFill>
            <a:srgbClr val="A9E3D7"/>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892003" y="4251960"/>
            <a:ext cx="603504" cy="603504"/>
          </a:xfrm>
          <a:prstGeom prst="ellipse">
            <a:avLst/>
          </a:prstGeom>
          <a:solidFill>
            <a:srgbClr val="00A58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0" name="Connector 59"/>
          <p:cNvCxnSpPr/>
          <p:nvPr/>
        </p:nvCxnSpPr>
        <p:spPr>
          <a:xfrm flipH="1">
            <a:off x="6855805" y="4251960"/>
            <a:ext cx="1723461" cy="0"/>
          </a:xfrm>
          <a:prstGeom prst="line">
            <a:avLst/>
          </a:prstGeom>
          <a:ln w="8890">
            <a:solidFill>
              <a:srgbClr val="9FDCCF"/>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7717536" y="3547872"/>
            <a:ext cx="0" cy="1408176"/>
          </a:xfrm>
          <a:prstGeom prst="line">
            <a:avLst/>
          </a:prstGeom>
          <a:ln w="8890">
            <a:solidFill>
              <a:srgbClr val="9FDCCF"/>
            </a:solidFill>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9107424" y="3401568"/>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290304" y="3291840"/>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Tissue self-supports without a scaffold</a:t>
            </a:r>
          </a:p>
        </p:txBody>
      </p:sp>
      <p:sp>
        <p:nvSpPr>
          <p:cNvPr id="64" name="Rounded Rectangle 63"/>
          <p:cNvSpPr/>
          <p:nvPr/>
        </p:nvSpPr>
        <p:spPr>
          <a:xfrm>
            <a:off x="9107424" y="4069080"/>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290304" y="3959352"/>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Cell distribution and integrity improve</a:t>
            </a:r>
          </a:p>
        </p:txBody>
      </p:sp>
      <p:sp>
        <p:nvSpPr>
          <p:cNvPr id="66" name="Rounded Rectangle 65"/>
          <p:cNvSpPr/>
          <p:nvPr/>
        </p:nvSpPr>
        <p:spPr>
          <a:xfrm>
            <a:off x="9107424" y="4736592"/>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290304" y="4626864"/>
            <a:ext cx="2103120" cy="667512"/>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23384D"/>
                </a:solidFill>
                <a:latin typeface="Lato"/>
              </a:rPr>
              <a:t>Vascular and hollow forms become achievable</a:t>
            </a:r>
          </a:p>
        </p:txBody>
      </p:sp>
      <p:sp>
        <p:nvSpPr>
          <p:cNvPr id="68" name="TextBox 67"/>
          <p:cNvSpPr txBox="1"/>
          <p:nvPr/>
        </p:nvSpPr>
        <p:spPr>
          <a:xfrm>
            <a:off x="9107424" y="5669280"/>
            <a:ext cx="210312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0A58E"/>
                </a:solidFill>
                <a:latin typeface="Lato"/>
              </a:rPr>
              <a:t>ORBITAL ADVANTAGE</a:t>
            </a:r>
          </a:p>
        </p:txBody>
      </p:sp>
      <p:sp>
        <p:nvSpPr>
          <p:cNvPr id="69" name="Rectangle 68"/>
          <p:cNvSpPr/>
          <p:nvPr/>
        </p:nvSpPr>
        <p:spPr>
          <a:xfrm>
            <a:off x="9107424" y="5961888"/>
            <a:ext cx="1874519" cy="45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TECHNOLOGY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How Space-Based Bioprinting Works: Five-Step Process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06 / 21</a:t>
            </a:r>
          </a:p>
        </p:txBody>
      </p:sp>
      <p:sp>
        <p:nvSpPr>
          <p:cNvPr id="11" name="Rounded Rectangle 10"/>
          <p:cNvSpPr/>
          <p:nvPr/>
        </p:nvSpPr>
        <p:spPr>
          <a:xfrm>
            <a:off x="502920"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7512"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01</a:t>
            </a:r>
          </a:p>
        </p:txBody>
      </p:sp>
      <p:sp>
        <p:nvSpPr>
          <p:cNvPr id="14" name="TextBox 13"/>
          <p:cNvSpPr txBox="1"/>
          <p:nvPr/>
        </p:nvSpPr>
        <p:spPr>
          <a:xfrm>
            <a:off x="667512"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Cell Harvest</a:t>
            </a:r>
          </a:p>
        </p:txBody>
      </p:sp>
      <p:sp>
        <p:nvSpPr>
          <p:cNvPr id="15" name="TextBox 14"/>
          <p:cNvSpPr txBox="1"/>
          <p:nvPr/>
        </p:nvSpPr>
        <p:spPr>
          <a:xfrm>
            <a:off x="667512"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Biopsy yields patient-specific cells, reducing immunological rejection risk.</a:t>
            </a:r>
          </a:p>
        </p:txBody>
      </p:sp>
      <p:cxnSp>
        <p:nvCxnSpPr>
          <p:cNvPr id="16" name="Connector 15"/>
          <p:cNvCxnSpPr/>
          <p:nvPr/>
        </p:nvCxnSpPr>
        <p:spPr>
          <a:xfrm>
            <a:off x="2660904"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61488"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26080"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80944"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02</a:t>
            </a:r>
          </a:p>
        </p:txBody>
      </p:sp>
      <p:sp>
        <p:nvSpPr>
          <p:cNvPr id="20" name="TextBox 19"/>
          <p:cNvSpPr txBox="1"/>
          <p:nvPr/>
        </p:nvSpPr>
        <p:spPr>
          <a:xfrm>
            <a:off x="2926080"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Stem Cell Reprogramming</a:t>
            </a:r>
          </a:p>
        </p:txBody>
      </p:sp>
      <p:sp>
        <p:nvSpPr>
          <p:cNvPr id="21" name="TextBox 20"/>
          <p:cNvSpPr txBox="1"/>
          <p:nvPr/>
        </p:nvSpPr>
        <p:spPr>
          <a:xfrm>
            <a:off x="2926080"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The Nobel-winning iPSC method converts adult cells into pluripotent stem cells.</a:t>
            </a:r>
          </a:p>
        </p:txBody>
      </p:sp>
      <p:cxnSp>
        <p:nvCxnSpPr>
          <p:cNvPr id="22" name="Connector 21"/>
          <p:cNvCxnSpPr/>
          <p:nvPr/>
        </p:nvCxnSpPr>
        <p:spPr>
          <a:xfrm>
            <a:off x="4919472"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0056"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184648"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39512"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03</a:t>
            </a:r>
          </a:p>
        </p:txBody>
      </p:sp>
      <p:sp>
        <p:nvSpPr>
          <p:cNvPr id="26" name="TextBox 25"/>
          <p:cNvSpPr txBox="1"/>
          <p:nvPr/>
        </p:nvSpPr>
        <p:spPr>
          <a:xfrm>
            <a:off x="5184648"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Bioink Formulation</a:t>
            </a:r>
          </a:p>
        </p:txBody>
      </p:sp>
      <p:sp>
        <p:nvSpPr>
          <p:cNvPr id="27" name="TextBox 26"/>
          <p:cNvSpPr txBox="1"/>
          <p:nvPr/>
        </p:nvSpPr>
        <p:spPr>
          <a:xfrm>
            <a:off x="5184648"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Cells are suspended in hydrogel tuned for viscosity and viability.</a:t>
            </a:r>
          </a:p>
        </p:txBody>
      </p:sp>
      <p:cxnSp>
        <p:nvCxnSpPr>
          <p:cNvPr id="28" name="Connector 27"/>
          <p:cNvCxnSpPr/>
          <p:nvPr/>
        </p:nvCxnSpPr>
        <p:spPr>
          <a:xfrm>
            <a:off x="7178040"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278624" y="1435608"/>
            <a:ext cx="2157984" cy="1609344"/>
          </a:xfrm>
          <a:prstGeom prst="roundRect">
            <a:avLst/>
          </a:prstGeom>
          <a:solidFill>
            <a:srgbClr val="ECF8F4"/>
          </a:solidFill>
          <a:ln w="1143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443216" y="1609344"/>
            <a:ext cx="420624" cy="2743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80"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04</a:t>
            </a:r>
          </a:p>
        </p:txBody>
      </p:sp>
      <p:sp>
        <p:nvSpPr>
          <p:cNvPr id="32" name="TextBox 31"/>
          <p:cNvSpPr txBox="1"/>
          <p:nvPr/>
        </p:nvSpPr>
        <p:spPr>
          <a:xfrm>
            <a:off x="7443216"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In-Orbit Printing</a:t>
            </a:r>
          </a:p>
        </p:txBody>
      </p:sp>
      <p:sp>
        <p:nvSpPr>
          <p:cNvPr id="33" name="TextBox 32"/>
          <p:cNvSpPr txBox="1"/>
          <p:nvPr/>
        </p:nvSpPr>
        <p:spPr>
          <a:xfrm>
            <a:off x="7443216"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Layer-by-layer deposition in microgravity requires no scaffold.</a:t>
            </a:r>
          </a:p>
        </p:txBody>
      </p:sp>
      <p:cxnSp>
        <p:nvCxnSpPr>
          <p:cNvPr id="34" name="Connector 33"/>
          <p:cNvCxnSpPr/>
          <p:nvPr/>
        </p:nvCxnSpPr>
        <p:spPr>
          <a:xfrm>
            <a:off x="9436608" y="2240280"/>
            <a:ext cx="100584" cy="0"/>
          </a:xfrm>
          <a:prstGeom prst="line">
            <a:avLst/>
          </a:prstGeom>
          <a:ln w="17780">
            <a:solidFill>
              <a:srgbClr val="00A58E"/>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37192" y="1435608"/>
            <a:ext cx="2157984" cy="1609344"/>
          </a:xfrm>
          <a:prstGeom prst="roundRect">
            <a:avLst/>
          </a:prstGeom>
          <a:solidFill>
            <a:srgbClr val="FFFFFF"/>
          </a:solidFill>
          <a:ln w="11430">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01784" y="1609344"/>
            <a:ext cx="420624" cy="274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56648" y="1609344"/>
            <a:ext cx="310896" cy="274320"/>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05</a:t>
            </a:r>
          </a:p>
        </p:txBody>
      </p:sp>
      <p:sp>
        <p:nvSpPr>
          <p:cNvPr id="38" name="TextBox 37"/>
          <p:cNvSpPr txBox="1"/>
          <p:nvPr/>
        </p:nvSpPr>
        <p:spPr>
          <a:xfrm>
            <a:off x="9701784" y="1993392"/>
            <a:ext cx="1828800" cy="329184"/>
          </a:xfrm>
          <a:prstGeom prst="rect">
            <a:avLst/>
          </a:prstGeom>
          <a:noFill/>
        </p:spPr>
        <p:txBody>
          <a:bodyPr wrap="square" lIns="0" rIns="0" tIns="0" bIns="0" anchor="t">
            <a:spAutoFit/>
          </a:bodyPr>
          <a:lstStyle/>
          <a:p>
            <a:pPr algn="l">
              <a:lnSpc>
                <a:spcPct val="100000"/>
              </a:lnSpc>
              <a:spcBef>
                <a:spcPts val="0"/>
              </a:spcBef>
              <a:spcAft>
                <a:spcPts val="0"/>
              </a:spcAft>
            </a:pPr>
            <a:r>
              <a:rPr sz="1120" b="1" i="0">
                <a:solidFill>
                  <a:srgbClr val="10243D"/>
                </a:solidFill>
                <a:latin typeface="Lato"/>
              </a:rPr>
              <a:t>Tissue Maturation</a:t>
            </a:r>
          </a:p>
        </p:txBody>
      </p:sp>
      <p:sp>
        <p:nvSpPr>
          <p:cNvPr id="39" name="TextBox 38"/>
          <p:cNvSpPr txBox="1"/>
          <p:nvPr/>
        </p:nvSpPr>
        <p:spPr>
          <a:xfrm>
            <a:off x="9701784" y="2395728"/>
            <a:ext cx="1828800" cy="475488"/>
          </a:xfrm>
          <a:prstGeom prst="rect">
            <a:avLst/>
          </a:prstGeom>
          <a:noFill/>
        </p:spPr>
        <p:txBody>
          <a:bodyPr wrap="square" lIns="0" rIns="0" tIns="0" bIns="0" anchor="t">
            <a:spAutoFit/>
          </a:bodyPr>
          <a:lstStyle/>
          <a:p>
            <a:pPr algn="l">
              <a:lnSpc>
                <a:spcPct val="94000"/>
              </a:lnSpc>
              <a:spcBef>
                <a:spcPts val="0"/>
              </a:spcBef>
              <a:spcAft>
                <a:spcPts val="0"/>
              </a:spcAft>
            </a:pPr>
            <a:r>
              <a:rPr sz="810" b="0" i="0">
                <a:solidFill>
                  <a:srgbClr val="5E7082"/>
                </a:solidFill>
                <a:latin typeface="Lato"/>
              </a:rPr>
              <a:t>Bioreactor conditioning differentiates cells into target tissue.</a:t>
            </a:r>
          </a:p>
        </p:txBody>
      </p:sp>
      <p:sp>
        <p:nvSpPr>
          <p:cNvPr id="40" name="Rounded Rectangle 39"/>
          <p:cNvSpPr/>
          <p:nvPr/>
        </p:nvSpPr>
        <p:spPr>
          <a:xfrm>
            <a:off x="502920" y="3273552"/>
            <a:ext cx="3959352" cy="3099816"/>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4088" y="3438144"/>
            <a:ext cx="3557016" cy="182880"/>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5E7082"/>
                </a:solidFill>
                <a:latin typeface="Lato"/>
              </a:rPr>
              <a:t>FLIGHT PAYLOAD  /  FUNCTIONAL SCHEMATIC</a:t>
            </a:r>
          </a:p>
        </p:txBody>
      </p:sp>
      <p:sp>
        <p:nvSpPr>
          <p:cNvPr id="42" name="Rectangle 41"/>
          <p:cNvSpPr/>
          <p:nvPr/>
        </p:nvSpPr>
        <p:spPr>
          <a:xfrm>
            <a:off x="914400" y="3840480"/>
            <a:ext cx="3136392" cy="2203704"/>
          </a:xfrm>
          <a:prstGeom prst="rect">
            <a:avLst/>
          </a:prstGeom>
          <a:solidFill>
            <a:srgbClr val="FFFFFF"/>
          </a:solidFill>
          <a:ln w="15240">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078992" y="4005072"/>
            <a:ext cx="2807208" cy="347472"/>
          </a:xfrm>
          <a:prstGeom prst="rect">
            <a:avLst/>
          </a:prstGeom>
          <a:solidFill>
            <a:srgbClr val="E8F0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70432" y="4069080"/>
            <a:ext cx="2624328" cy="146304"/>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CONTROL + TELEMETRY</a:t>
            </a:r>
          </a:p>
        </p:txBody>
      </p:sp>
      <p:sp>
        <p:nvSpPr>
          <p:cNvPr id="45" name="Rectangle 44"/>
          <p:cNvSpPr/>
          <p:nvPr/>
        </p:nvSpPr>
        <p:spPr>
          <a:xfrm>
            <a:off x="1335024" y="4562856"/>
            <a:ext cx="2295144" cy="1261872"/>
          </a:xfrm>
          <a:prstGeom prst="rect">
            <a:avLst/>
          </a:prstGeom>
          <a:solidFill>
            <a:srgbClr val="ECF8F4"/>
          </a:solidFill>
          <a:ln w="12700">
            <a:solidFill>
              <a:srgbClr val="087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847088" y="4709160"/>
            <a:ext cx="1271016" cy="155448"/>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Isosceles Triangle 46"/>
          <p:cNvSpPr/>
          <p:nvPr/>
        </p:nvSpPr>
        <p:spPr>
          <a:xfrm>
            <a:off x="2372868" y="4846320"/>
            <a:ext cx="219456" cy="256032"/>
          </a:xfrm>
          <a:prstGeom prst="triangle">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a:off x="2482596" y="5074920"/>
            <a:ext cx="0" cy="274320"/>
          </a:xfrm>
          <a:prstGeom prst="line">
            <a:avLst/>
          </a:prstGeom>
          <a:ln w="15240">
            <a:solidFill>
              <a:srgbClr val="087C71"/>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2281427" y="5321808"/>
            <a:ext cx="402336" cy="164592"/>
          </a:xfrm>
          <a:prstGeom prst="ellipse">
            <a:avLst/>
          </a:prstGeom>
          <a:solidFill>
            <a:srgbClr val="A7E2D6"/>
          </a:solidFill>
          <a:ln w="10160">
            <a:solidFill>
              <a:srgbClr val="087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554480" y="5440680"/>
            <a:ext cx="1856232" cy="164592"/>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44752" y="5641848"/>
            <a:ext cx="2075688" cy="118872"/>
          </a:xfrm>
          <a:prstGeom prst="rect">
            <a:avLst/>
          </a:prstGeom>
          <a:noFill/>
        </p:spPr>
        <p:txBody>
          <a:bodyPr wrap="square" lIns="0" rIns="0" tIns="0" bIns="0" anchor="t">
            <a:spAutoFit/>
          </a:bodyPr>
          <a:lstStyle/>
          <a:p>
            <a:pPr algn="ctr">
              <a:lnSpc>
                <a:spcPct val="100000"/>
              </a:lnSpc>
              <a:spcBef>
                <a:spcPts val="0"/>
              </a:spcBef>
              <a:spcAft>
                <a:spcPts val="0"/>
              </a:spcAft>
            </a:pPr>
            <a:r>
              <a:rPr sz="630" b="1" i="0">
                <a:solidFill>
                  <a:srgbClr val="5E7082"/>
                </a:solidFill>
                <a:latin typeface="Lato"/>
              </a:rPr>
              <a:t>SEALED BIOPRINTING CHAMBER</a:t>
            </a:r>
          </a:p>
        </p:txBody>
      </p:sp>
      <p:sp>
        <p:nvSpPr>
          <p:cNvPr id="52" name="Rounded Rectangle 51"/>
          <p:cNvSpPr/>
          <p:nvPr/>
        </p:nvSpPr>
        <p:spPr>
          <a:xfrm>
            <a:off x="4663440" y="3273552"/>
            <a:ext cx="7022592" cy="3099816"/>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4937760" y="3529584"/>
            <a:ext cx="1170432" cy="31089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992624" y="3529584"/>
            <a:ext cx="1060704" cy="310896"/>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WHY ORBIT?</a:t>
            </a:r>
          </a:p>
        </p:txBody>
      </p:sp>
      <p:sp>
        <p:nvSpPr>
          <p:cNvPr id="55" name="TextBox 54"/>
          <p:cNvSpPr txBox="1"/>
          <p:nvPr/>
        </p:nvSpPr>
        <p:spPr>
          <a:xfrm>
            <a:off x="4937760" y="4023360"/>
            <a:ext cx="6309360" cy="457200"/>
          </a:xfrm>
          <a:prstGeom prst="rect">
            <a:avLst/>
          </a:prstGeom>
          <a:noFill/>
        </p:spPr>
        <p:txBody>
          <a:bodyPr wrap="square" lIns="0" rIns="0" tIns="0" bIns="0" anchor="t">
            <a:spAutoFit/>
          </a:bodyPr>
          <a:lstStyle/>
          <a:p>
            <a:pPr algn="l">
              <a:lnSpc>
                <a:spcPct val="100000"/>
              </a:lnSpc>
              <a:spcBef>
                <a:spcPts val="0"/>
              </a:spcBef>
              <a:spcAft>
                <a:spcPts val="0"/>
              </a:spcAft>
            </a:pPr>
            <a:r>
              <a:rPr sz="1600" b="1" i="0">
                <a:solidFill>
                  <a:srgbClr val="FFFFFF"/>
                </a:solidFill>
                <a:latin typeface="Lato"/>
              </a:rPr>
              <a:t>Near-weightlessness lets tissue grow in true three dimensions.</a:t>
            </a:r>
          </a:p>
        </p:txBody>
      </p:sp>
      <p:sp>
        <p:nvSpPr>
          <p:cNvPr id="56" name="TextBox 55"/>
          <p:cNvSpPr txBox="1"/>
          <p:nvPr/>
        </p:nvSpPr>
        <p:spPr>
          <a:xfrm>
            <a:off x="4937760" y="4590288"/>
            <a:ext cx="4370832" cy="987552"/>
          </a:xfrm>
          <a:prstGeom prst="rect">
            <a:avLst/>
          </a:prstGeom>
          <a:noFill/>
        </p:spPr>
        <p:txBody>
          <a:bodyPr wrap="square" lIns="0" rIns="0" tIns="0" bIns="0" anchor="t">
            <a:spAutoFit/>
          </a:bodyPr>
          <a:lstStyle/>
          <a:p>
            <a:pPr algn="l">
              <a:lnSpc>
                <a:spcPct val="98000"/>
              </a:lnSpc>
              <a:spcBef>
                <a:spcPts val="0"/>
              </a:spcBef>
              <a:spcAft>
                <a:spcPts val="0"/>
              </a:spcAft>
            </a:pPr>
            <a:r>
              <a:rPr sz="960" b="0" i="0">
                <a:solidFill>
                  <a:srgbClr val="C7D2DC"/>
                </a:solidFill>
                <a:latin typeface="Lato"/>
              </a:rPr>
              <a:t>The principle has been validated continuously since 2018 across NASA, Redwire Corporation, ROSCOSMOS, LambdaVision, and ESA/DLR — eight years of confirmation by independent organisations.</a:t>
            </a:r>
          </a:p>
        </p:txBody>
      </p:sp>
      <p:sp>
        <p:nvSpPr>
          <p:cNvPr id="57" name="Rectangle 56"/>
          <p:cNvSpPr/>
          <p:nvPr/>
        </p:nvSpPr>
        <p:spPr>
          <a:xfrm>
            <a:off x="9537192" y="4553712"/>
            <a:ext cx="45720" cy="1298448"/>
          </a:xfrm>
          <a:prstGeom prst="rect">
            <a:avLst/>
          </a:prstGeom>
          <a:solidFill>
            <a:srgbClr val="365068"/>
          </a:solidFill>
          <a:ln w="9525">
            <a:solidFill>
              <a:srgbClr val="3650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857232" y="4498848"/>
            <a:ext cx="1097280" cy="603504"/>
          </a:xfrm>
          <a:prstGeom prst="rect">
            <a:avLst/>
          </a:prstGeom>
          <a:noFill/>
        </p:spPr>
        <p:txBody>
          <a:bodyPr wrap="square" lIns="0" rIns="0" tIns="0" bIns="0" anchor="t">
            <a:spAutoFit/>
          </a:bodyPr>
          <a:lstStyle/>
          <a:p>
            <a:pPr algn="l">
              <a:lnSpc>
                <a:spcPct val="100000"/>
              </a:lnSpc>
              <a:spcBef>
                <a:spcPts val="0"/>
              </a:spcBef>
              <a:spcAft>
                <a:spcPts val="0"/>
              </a:spcAft>
            </a:pPr>
            <a:r>
              <a:rPr sz="2800" b="1" i="0">
                <a:solidFill>
                  <a:srgbClr val="00A58E"/>
                </a:solidFill>
                <a:latin typeface="Lato"/>
              </a:rPr>
              <a:t>8</a:t>
            </a:r>
          </a:p>
        </p:txBody>
      </p:sp>
      <p:sp>
        <p:nvSpPr>
          <p:cNvPr id="59" name="TextBox 58"/>
          <p:cNvSpPr txBox="1"/>
          <p:nvPr/>
        </p:nvSpPr>
        <p:spPr>
          <a:xfrm>
            <a:off x="9875520" y="5138928"/>
            <a:ext cx="1298448" cy="493776"/>
          </a:xfrm>
          <a:prstGeom prst="rect">
            <a:avLst/>
          </a:prstGeom>
          <a:noFill/>
        </p:spPr>
        <p:txBody>
          <a:bodyPr wrap="square" lIns="0" rIns="0" tIns="0" bIns="0" anchor="t">
            <a:spAutoFit/>
          </a:bodyPr>
          <a:lstStyle/>
          <a:p>
            <a:pPr algn="l">
              <a:lnSpc>
                <a:spcPct val="90000"/>
              </a:lnSpc>
              <a:spcBef>
                <a:spcPts val="0"/>
              </a:spcBef>
              <a:spcAft>
                <a:spcPts val="0"/>
              </a:spcAft>
            </a:pPr>
            <a:r>
              <a:rPr sz="800" b="1" i="0">
                <a:solidFill>
                  <a:srgbClr val="FFFFFF"/>
                </a:solidFill>
                <a:latin typeface="Lato"/>
              </a:rPr>
              <a:t>YEARS OF
VALIDATION</a:t>
            </a:r>
          </a:p>
        </p:txBody>
      </p:sp>
      <p:cxnSp>
        <p:nvCxnSpPr>
          <p:cNvPr id="60" name="Connector 59"/>
          <p:cNvCxnSpPr/>
          <p:nvPr/>
        </p:nvCxnSpPr>
        <p:spPr>
          <a:xfrm>
            <a:off x="4937760" y="5806440"/>
            <a:ext cx="6419088" cy="0"/>
          </a:xfrm>
          <a:prstGeom prst="line">
            <a:avLst/>
          </a:prstGeom>
          <a:ln w="10160">
            <a:solidFill>
              <a:srgbClr val="365068"/>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937760" y="5952744"/>
            <a:ext cx="6355080" cy="274320"/>
          </a:xfrm>
          <a:prstGeom prst="rect">
            <a:avLst/>
          </a:prstGeom>
          <a:noFill/>
        </p:spPr>
        <p:txBody>
          <a:bodyPr wrap="square" lIns="0" rIns="0" tIns="0" bIns="0" anchor="t">
            <a:spAutoFit/>
          </a:bodyPr>
          <a:lstStyle/>
          <a:p>
            <a:pPr algn="l">
              <a:lnSpc>
                <a:spcPct val="100000"/>
              </a:lnSpc>
              <a:spcBef>
                <a:spcPts val="0"/>
              </a:spcBef>
              <a:spcAft>
                <a:spcPts val="0"/>
              </a:spcAft>
            </a:pPr>
            <a:r>
              <a:rPr sz="780" b="0" i="1">
                <a:solidFill>
                  <a:srgbClr val="AEBCC8"/>
                </a:solidFill>
                <a:latin typeface="Lato"/>
              </a:rPr>
              <a:t>Adult cardiac muscle cannot self-regenerate; scar tissue blocks electrical signals — making cardiac Samuel's highest-value target vertical.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PRODUCT STRATEGY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Four High-Value Clinical Verticals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07 / 21</a:t>
            </a:r>
          </a:p>
        </p:txBody>
      </p:sp>
      <p:sp>
        <p:nvSpPr>
          <p:cNvPr id="11" name="Rounded Rectangle 10"/>
          <p:cNvSpPr/>
          <p:nvPr/>
        </p:nvSpPr>
        <p:spPr>
          <a:xfrm>
            <a:off x="502920" y="1426464"/>
            <a:ext cx="5486400" cy="2331720"/>
          </a:xfrm>
          <a:prstGeom prst="roundRect">
            <a:avLst/>
          </a:prstGeom>
          <a:solidFill>
            <a:srgbClr val="FAECE9"/>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22376" y="1636776"/>
            <a:ext cx="457200" cy="292608"/>
          </a:xfrm>
          <a:prstGeom prst="round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636776"/>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01</a:t>
            </a:r>
          </a:p>
        </p:txBody>
      </p:sp>
      <p:sp>
        <p:nvSpPr>
          <p:cNvPr id="14" name="TextBox 13"/>
          <p:cNvSpPr txBox="1"/>
          <p:nvPr/>
        </p:nvSpPr>
        <p:spPr>
          <a:xfrm>
            <a:off x="1362456" y="1591056"/>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Cardiac Tissue</a:t>
            </a:r>
          </a:p>
        </p:txBody>
      </p:sp>
      <p:sp>
        <p:nvSpPr>
          <p:cNvPr id="15" name="TextBox 14"/>
          <p:cNvSpPr txBox="1"/>
          <p:nvPr/>
        </p:nvSpPr>
        <p:spPr>
          <a:xfrm>
            <a:off x="722376" y="2139696"/>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CVD kills ~2,500 Americans daily. Adult heart tissue cannot regenerate. Redwire returned the first live human cardiac tissue from orbit in May 2024 under BFF-Cardiac.</a:t>
            </a:r>
          </a:p>
        </p:txBody>
      </p:sp>
      <p:cxnSp>
        <p:nvCxnSpPr>
          <p:cNvPr id="16" name="Connector 15"/>
          <p:cNvCxnSpPr/>
          <p:nvPr/>
        </p:nvCxnSpPr>
        <p:spPr>
          <a:xfrm>
            <a:off x="722376" y="3182112"/>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22376" y="3328416"/>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D87566"/>
                </a:solidFill>
                <a:latin typeface="Lato"/>
              </a:rPr>
              <a:t>PROVEN BY  /  Redwire BFF-Cardiac, ISS, May 2024</a:t>
            </a:r>
          </a:p>
        </p:txBody>
      </p:sp>
      <p:sp>
        <p:nvSpPr>
          <p:cNvPr id="18" name="Rounded Rectangle 17"/>
          <p:cNvSpPr/>
          <p:nvPr/>
        </p:nvSpPr>
        <p:spPr>
          <a:xfrm>
            <a:off x="6144768" y="1426464"/>
            <a:ext cx="5486400" cy="233172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64224" y="1636776"/>
            <a:ext cx="457200" cy="292608"/>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636776"/>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02</a:t>
            </a:r>
          </a:p>
        </p:txBody>
      </p:sp>
      <p:sp>
        <p:nvSpPr>
          <p:cNvPr id="21" name="TextBox 20"/>
          <p:cNvSpPr txBox="1"/>
          <p:nvPr/>
        </p:nvSpPr>
        <p:spPr>
          <a:xfrm>
            <a:off x="7004304" y="1591056"/>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Orthopedic Grafts</a:t>
            </a:r>
          </a:p>
        </p:txBody>
      </p:sp>
      <p:sp>
        <p:nvSpPr>
          <p:cNvPr id="22" name="TextBox 21"/>
          <p:cNvSpPr txBox="1"/>
          <p:nvPr/>
        </p:nvSpPr>
        <p:spPr>
          <a:xfrm>
            <a:off x="6364224" y="2139696"/>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Meniscal tears are among the most common U.S. military injuries. Redwire printed the first human knee meniscus in orbit in September 2023, establishing the foundational protocol.</a:t>
            </a:r>
          </a:p>
        </p:txBody>
      </p:sp>
      <p:cxnSp>
        <p:nvCxnSpPr>
          <p:cNvPr id="23" name="Connector 22"/>
          <p:cNvCxnSpPr/>
          <p:nvPr/>
        </p:nvCxnSpPr>
        <p:spPr>
          <a:xfrm>
            <a:off x="6364224" y="3182112"/>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64224" y="3328416"/>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5E91B5"/>
                </a:solidFill>
                <a:latin typeface="Lato"/>
              </a:rPr>
              <a:t>PROVEN BY  /  Redwire BFF-Meniscus-2, ISS, Sept 2023</a:t>
            </a:r>
          </a:p>
        </p:txBody>
      </p:sp>
      <p:sp>
        <p:nvSpPr>
          <p:cNvPr id="25" name="Rounded Rectangle 24"/>
          <p:cNvSpPr/>
          <p:nvPr/>
        </p:nvSpPr>
        <p:spPr>
          <a:xfrm>
            <a:off x="502920" y="3922776"/>
            <a:ext cx="5486400" cy="2331720"/>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22376" y="4133088"/>
            <a:ext cx="457200" cy="292608"/>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133088"/>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03</a:t>
            </a:r>
          </a:p>
        </p:txBody>
      </p:sp>
      <p:sp>
        <p:nvSpPr>
          <p:cNvPr id="28" name="TextBox 27"/>
          <p:cNvSpPr txBox="1"/>
          <p:nvPr/>
        </p:nvSpPr>
        <p:spPr>
          <a:xfrm>
            <a:off x="1362456" y="4087368"/>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Artificial Retinas</a:t>
            </a:r>
          </a:p>
        </p:txBody>
      </p:sp>
      <p:sp>
        <p:nvSpPr>
          <p:cNvPr id="29" name="TextBox 28"/>
          <p:cNvSpPr txBox="1"/>
          <p:nvPr/>
        </p:nvSpPr>
        <p:spPr>
          <a:xfrm>
            <a:off x="722376" y="4636008"/>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30 million people worldwide suffer from degenerative retinal disease. LambdaVision has produced consistent 200-layer protein retina films in microgravity across 9 ISS missions.</a:t>
            </a:r>
          </a:p>
        </p:txBody>
      </p:sp>
      <p:cxnSp>
        <p:nvCxnSpPr>
          <p:cNvPr id="30" name="Connector 29"/>
          <p:cNvCxnSpPr/>
          <p:nvPr/>
        </p:nvCxnSpPr>
        <p:spPr>
          <a:xfrm>
            <a:off x="722376" y="5678424"/>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22376" y="5824728"/>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7D6CB0"/>
                </a:solidFill>
                <a:latin typeface="Lato"/>
              </a:rPr>
              <a:t>PROVEN BY  /  LambdaVision + Space Tango, 9 ISS missions</a:t>
            </a:r>
          </a:p>
        </p:txBody>
      </p:sp>
      <p:sp>
        <p:nvSpPr>
          <p:cNvPr id="32" name="Rounded Rectangle 31"/>
          <p:cNvSpPr/>
          <p:nvPr/>
        </p:nvSpPr>
        <p:spPr>
          <a:xfrm>
            <a:off x="6144768" y="3922776"/>
            <a:ext cx="5486400" cy="233172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364224" y="4133088"/>
            <a:ext cx="457200"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4133088"/>
            <a:ext cx="347472" cy="292608"/>
          </a:xfrm>
          <a:prstGeom prst="rect">
            <a:avLst/>
          </a:prstGeom>
          <a:noFill/>
        </p:spPr>
        <p:txBody>
          <a:bodyPr wrap="square" lIns="0" rIns="0" tIns="0" bIns="0" anchor="ctr">
            <a:spAutoFit/>
          </a:bodyPr>
          <a:lstStyle/>
          <a:p>
            <a:pPr algn="ctr">
              <a:lnSpc>
                <a:spcPct val="100000"/>
              </a:lnSpc>
              <a:spcBef>
                <a:spcPts val="0"/>
              </a:spcBef>
              <a:spcAft>
                <a:spcPts val="0"/>
              </a:spcAft>
            </a:pPr>
            <a:r>
              <a:rPr sz="800" b="1" i="0">
                <a:solidFill>
                  <a:srgbClr val="FFFFFF"/>
                </a:solidFill>
                <a:latin typeface="Lato"/>
              </a:rPr>
              <a:t>04</a:t>
            </a:r>
          </a:p>
        </p:txBody>
      </p:sp>
      <p:sp>
        <p:nvSpPr>
          <p:cNvPr id="35" name="TextBox 34"/>
          <p:cNvSpPr txBox="1"/>
          <p:nvPr/>
        </p:nvSpPr>
        <p:spPr>
          <a:xfrm>
            <a:off x="7004304" y="4087368"/>
            <a:ext cx="4297680" cy="347472"/>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10243D"/>
                </a:solidFill>
                <a:latin typeface="Lato"/>
              </a:rPr>
              <a:t>Wound Care Patches</a:t>
            </a:r>
          </a:p>
        </p:txBody>
      </p:sp>
      <p:sp>
        <p:nvSpPr>
          <p:cNvPr id="36" name="TextBox 35"/>
          <p:cNvSpPr txBox="1"/>
          <p:nvPr/>
        </p:nvSpPr>
        <p:spPr>
          <a:xfrm>
            <a:off x="6364224" y="4636008"/>
            <a:ext cx="5029200" cy="877824"/>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5E7082"/>
                </a:solidFill>
                <a:latin typeface="Lato"/>
              </a:rPr>
              <a:t>ESA and DLR demonstrated a handheld bioprinter creating customised skin patches aboard the ISS during the Cosmic Kiss mission. Lowest regulatory burden — Samuel's Phase 1 entry point.</a:t>
            </a:r>
          </a:p>
        </p:txBody>
      </p:sp>
      <p:cxnSp>
        <p:nvCxnSpPr>
          <p:cNvPr id="37" name="Connector 36"/>
          <p:cNvCxnSpPr/>
          <p:nvPr/>
        </p:nvCxnSpPr>
        <p:spPr>
          <a:xfrm>
            <a:off x="6364224" y="5678424"/>
            <a:ext cx="5047488"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364224" y="5824728"/>
            <a:ext cx="5029200" cy="201168"/>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00A58E"/>
                </a:solidFill>
                <a:latin typeface="Lato"/>
              </a:rPr>
              <a:t>PROVEN BY  /  ESA/DLR Bioprint FirstAid, ISS,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THIRD-PARTY VALIDATION</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Eight Years of Proven In-Orbit Bioprinting</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08 / 21</a:t>
            </a:r>
          </a:p>
        </p:txBody>
      </p:sp>
      <p:sp>
        <p:nvSpPr>
          <p:cNvPr id="11" name="Rounded Rectangle 10"/>
          <p:cNvSpPr/>
          <p:nvPr/>
        </p:nvSpPr>
        <p:spPr>
          <a:xfrm>
            <a:off x="502920" y="1408176"/>
            <a:ext cx="11183112" cy="47548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1408176"/>
            <a:ext cx="10762488" cy="475488"/>
          </a:xfrm>
          <a:prstGeom prst="rect">
            <a:avLst/>
          </a:prstGeom>
          <a:noFill/>
        </p:spPr>
        <p:txBody>
          <a:bodyPr wrap="square" lIns="0" rIns="0" tIns="0" bIns="0" anchor="ctr">
            <a:spAutoFit/>
          </a:bodyPr>
          <a:lstStyle/>
          <a:p>
            <a:pPr algn="l">
              <a:lnSpc>
                <a:spcPct val="100000"/>
              </a:lnSpc>
              <a:spcBef>
                <a:spcPts val="0"/>
              </a:spcBef>
              <a:spcAft>
                <a:spcPts val="0"/>
              </a:spcAft>
            </a:pPr>
            <a:r>
              <a:rPr sz="900" b="0" i="0">
                <a:solidFill>
                  <a:srgbClr val="FFFFFF"/>
                </a:solidFill>
                <a:latin typeface="Lato"/>
              </a:rPr>
              <a:t>Independent milestones validate the market premise and demonstrate commercial feasibility — none were announced by Samuel Space.</a:t>
            </a:r>
          </a:p>
        </p:txBody>
      </p:sp>
      <p:cxnSp>
        <p:nvCxnSpPr>
          <p:cNvPr id="13" name="Connector 12"/>
          <p:cNvCxnSpPr/>
          <p:nvPr/>
        </p:nvCxnSpPr>
        <p:spPr>
          <a:xfrm>
            <a:off x="914400" y="3913632"/>
            <a:ext cx="10378440" cy="0"/>
          </a:xfrm>
          <a:prstGeom prst="line">
            <a:avLst/>
          </a:prstGeom>
          <a:ln w="19050">
            <a:solidFill>
              <a:srgbClr val="087C71"/>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969263"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flipV="1">
            <a:off x="1051560"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84047"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30352"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5215"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2018</a:t>
            </a:r>
          </a:p>
        </p:txBody>
      </p:sp>
      <p:sp>
        <p:nvSpPr>
          <p:cNvPr id="19" name="TextBox 18"/>
          <p:cNvSpPr txBox="1"/>
          <p:nvPr/>
        </p:nvSpPr>
        <p:spPr>
          <a:xfrm>
            <a:off x="512063" y="2578608"/>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ROSCOSMOS Organ.Aut</a:t>
            </a:r>
          </a:p>
        </p:txBody>
      </p:sp>
      <p:sp>
        <p:nvSpPr>
          <p:cNvPr id="20" name="TextBox 19"/>
          <p:cNvSpPr txBox="1"/>
          <p:nvPr/>
        </p:nvSpPr>
        <p:spPr>
          <a:xfrm>
            <a:off x="484631" y="2898648"/>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First magnetic bioprinter reaches ISS; constructs prove the approach.</a:t>
            </a:r>
          </a:p>
        </p:txBody>
      </p:sp>
      <p:sp>
        <p:nvSpPr>
          <p:cNvPr id="21" name="Oval 20"/>
          <p:cNvSpPr/>
          <p:nvPr/>
        </p:nvSpPr>
        <p:spPr>
          <a:xfrm>
            <a:off x="2633472"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2715768" y="3995928"/>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048255" y="4325112"/>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194560" y="4462272"/>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49424" y="4462272"/>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2019</a:t>
            </a:r>
          </a:p>
        </p:txBody>
      </p:sp>
      <p:sp>
        <p:nvSpPr>
          <p:cNvPr id="26" name="TextBox 25"/>
          <p:cNvSpPr txBox="1"/>
          <p:nvPr/>
        </p:nvSpPr>
        <p:spPr>
          <a:xfrm>
            <a:off x="2176272" y="4828032"/>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Redwire BFF launched</a:t>
            </a:r>
          </a:p>
        </p:txBody>
      </p:sp>
      <p:sp>
        <p:nvSpPr>
          <p:cNvPr id="27" name="TextBox 26"/>
          <p:cNvSpPr txBox="1"/>
          <p:nvPr/>
        </p:nvSpPr>
        <p:spPr>
          <a:xfrm>
            <a:off x="2148839" y="5148072"/>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BioFabrication Facility reaches ISS; later recognised by Popular Science.</a:t>
            </a:r>
          </a:p>
        </p:txBody>
      </p:sp>
      <p:sp>
        <p:nvSpPr>
          <p:cNvPr id="28" name="Oval 27"/>
          <p:cNvSpPr/>
          <p:nvPr/>
        </p:nvSpPr>
        <p:spPr>
          <a:xfrm>
            <a:off x="4297680"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4379976"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712464"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3858768"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913631"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DEC '21</a:t>
            </a:r>
          </a:p>
        </p:txBody>
      </p:sp>
      <p:sp>
        <p:nvSpPr>
          <p:cNvPr id="33" name="TextBox 32"/>
          <p:cNvSpPr txBox="1"/>
          <p:nvPr/>
        </p:nvSpPr>
        <p:spPr>
          <a:xfrm>
            <a:off x="3840480" y="2578608"/>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ESA Bioprint FirstAid</a:t>
            </a:r>
          </a:p>
        </p:txBody>
      </p:sp>
      <p:sp>
        <p:nvSpPr>
          <p:cNvPr id="34" name="TextBox 33"/>
          <p:cNvSpPr txBox="1"/>
          <p:nvPr/>
        </p:nvSpPr>
        <p:spPr>
          <a:xfrm>
            <a:off x="3813048" y="2898648"/>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Handheld skin-patch bioprinter demonstrated on Cosmic Kiss.</a:t>
            </a:r>
          </a:p>
        </p:txBody>
      </p:sp>
      <p:sp>
        <p:nvSpPr>
          <p:cNvPr id="35" name="Oval 34"/>
          <p:cNvSpPr/>
          <p:nvPr/>
        </p:nvSpPr>
        <p:spPr>
          <a:xfrm>
            <a:off x="5961888"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6044183" y="3995928"/>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5376671" y="4325112"/>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522975" y="4462272"/>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77839" y="4462272"/>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SEP '23</a:t>
            </a:r>
          </a:p>
        </p:txBody>
      </p:sp>
      <p:sp>
        <p:nvSpPr>
          <p:cNvPr id="40" name="TextBox 39"/>
          <p:cNvSpPr txBox="1"/>
          <p:nvPr/>
        </p:nvSpPr>
        <p:spPr>
          <a:xfrm>
            <a:off x="5504688" y="4828032"/>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First knee meniscus</a:t>
            </a:r>
          </a:p>
        </p:txBody>
      </p:sp>
      <p:sp>
        <p:nvSpPr>
          <p:cNvPr id="41" name="TextBox 40"/>
          <p:cNvSpPr txBox="1"/>
          <p:nvPr/>
        </p:nvSpPr>
        <p:spPr>
          <a:xfrm>
            <a:off x="5477255" y="5148072"/>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First human knee meniscus is printed in orbit.</a:t>
            </a:r>
          </a:p>
        </p:txBody>
      </p:sp>
      <p:sp>
        <p:nvSpPr>
          <p:cNvPr id="42" name="Oval 41"/>
          <p:cNvSpPr/>
          <p:nvPr/>
        </p:nvSpPr>
        <p:spPr>
          <a:xfrm>
            <a:off x="7626096"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7708392"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040879"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187183"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42047"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MAY '24</a:t>
            </a:r>
          </a:p>
        </p:txBody>
      </p:sp>
      <p:sp>
        <p:nvSpPr>
          <p:cNvPr id="47" name="TextBox 46"/>
          <p:cNvSpPr txBox="1"/>
          <p:nvPr/>
        </p:nvSpPr>
        <p:spPr>
          <a:xfrm>
            <a:off x="7168896" y="2578608"/>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First cardiac tissue</a:t>
            </a:r>
          </a:p>
        </p:txBody>
      </p:sp>
      <p:sp>
        <p:nvSpPr>
          <p:cNvPr id="48" name="TextBox 47"/>
          <p:cNvSpPr txBox="1"/>
          <p:nvPr/>
        </p:nvSpPr>
        <p:spPr>
          <a:xfrm>
            <a:off x="7141464" y="2898648"/>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First live 3D-bioprinted human cardiac tissue returns.</a:t>
            </a:r>
          </a:p>
        </p:txBody>
      </p:sp>
      <p:sp>
        <p:nvSpPr>
          <p:cNvPr id="49" name="Oval 48"/>
          <p:cNvSpPr/>
          <p:nvPr/>
        </p:nvSpPr>
        <p:spPr>
          <a:xfrm>
            <a:off x="9290304"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9372600" y="3995928"/>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705088" y="4325112"/>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8851392" y="4462272"/>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06256" y="4462272"/>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SEP '25</a:t>
            </a:r>
          </a:p>
        </p:txBody>
      </p:sp>
      <p:sp>
        <p:nvSpPr>
          <p:cNvPr id="54" name="TextBox 53"/>
          <p:cNvSpPr txBox="1"/>
          <p:nvPr/>
        </p:nvSpPr>
        <p:spPr>
          <a:xfrm>
            <a:off x="8833104" y="4828032"/>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Grants + contracts</a:t>
            </a:r>
          </a:p>
        </p:txBody>
      </p:sp>
      <p:sp>
        <p:nvSpPr>
          <p:cNvPr id="55" name="TextBox 54"/>
          <p:cNvSpPr txBox="1"/>
          <p:nvPr/>
        </p:nvSpPr>
        <p:spPr>
          <a:xfrm>
            <a:off x="8805672" y="5148072"/>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InSPA Phase 2 and a $25M NASA IDIQ expand the field.</a:t>
            </a:r>
          </a:p>
        </p:txBody>
      </p:sp>
      <p:sp>
        <p:nvSpPr>
          <p:cNvPr id="56" name="Oval 55"/>
          <p:cNvSpPr/>
          <p:nvPr/>
        </p:nvSpPr>
        <p:spPr>
          <a:xfrm>
            <a:off x="10954512" y="3831336"/>
            <a:ext cx="164592" cy="164592"/>
          </a:xfrm>
          <a:prstGeom prst="ellipse">
            <a:avLst/>
          </a:prstGeom>
          <a:solidFill>
            <a:srgbClr val="00A58E"/>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7" name="Connector 56"/>
          <p:cNvCxnSpPr/>
          <p:nvPr/>
        </p:nvCxnSpPr>
        <p:spPr>
          <a:xfrm flipV="1">
            <a:off x="11036808" y="3502152"/>
            <a:ext cx="0" cy="329184"/>
          </a:xfrm>
          <a:prstGeom prst="line">
            <a:avLst/>
          </a:prstGeom>
          <a:ln w="11430">
            <a:solidFill>
              <a:srgbClr val="087C71"/>
            </a:solidFill>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10369296" y="2075688"/>
            <a:ext cx="1335024" cy="126187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515600" y="2212848"/>
            <a:ext cx="1042415" cy="265176"/>
          </a:xfrm>
          <a:prstGeom prst="roundRect">
            <a:avLst/>
          </a:prstGeom>
          <a:solidFill>
            <a:srgbClr val="DDF4EE"/>
          </a:solidFill>
          <a:ln w="9525">
            <a:solidFill>
              <a:srgbClr val="DDF4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570464" y="2212848"/>
            <a:ext cx="932688" cy="265176"/>
          </a:xfrm>
          <a:prstGeom prst="rect">
            <a:avLst/>
          </a:prstGeom>
          <a:noFill/>
        </p:spPr>
        <p:txBody>
          <a:bodyPr wrap="square" lIns="0" rIns="0" tIns="0" bIns="0" anchor="ctr">
            <a:spAutoFit/>
          </a:bodyPr>
          <a:lstStyle/>
          <a:p>
            <a:pPr algn="ctr">
              <a:lnSpc>
                <a:spcPct val="100000"/>
              </a:lnSpc>
              <a:spcBef>
                <a:spcPts val="0"/>
              </a:spcBef>
              <a:spcAft>
                <a:spcPts val="0"/>
              </a:spcAft>
            </a:pPr>
            <a:r>
              <a:rPr sz="710" b="1" i="0">
                <a:solidFill>
                  <a:srgbClr val="087C71"/>
                </a:solidFill>
                <a:latin typeface="Lato"/>
              </a:rPr>
              <a:t>2026</a:t>
            </a:r>
          </a:p>
        </p:txBody>
      </p:sp>
      <p:sp>
        <p:nvSpPr>
          <p:cNvPr id="61" name="TextBox 60"/>
          <p:cNvSpPr txBox="1"/>
          <p:nvPr/>
        </p:nvSpPr>
        <p:spPr>
          <a:xfrm>
            <a:off x="10497312" y="2578608"/>
            <a:ext cx="1078992" cy="283464"/>
          </a:xfrm>
          <a:prstGeom prst="rect">
            <a:avLst/>
          </a:prstGeom>
          <a:noFill/>
        </p:spPr>
        <p:txBody>
          <a:bodyPr wrap="square" lIns="0" rIns="0" tIns="0" bIns="0" anchor="t">
            <a:spAutoFit/>
          </a:bodyPr>
          <a:lstStyle/>
          <a:p>
            <a:pPr algn="ctr">
              <a:lnSpc>
                <a:spcPct val="100000"/>
              </a:lnSpc>
              <a:spcBef>
                <a:spcPts val="0"/>
              </a:spcBef>
              <a:spcAft>
                <a:spcPts val="0"/>
              </a:spcAft>
            </a:pPr>
            <a:r>
              <a:rPr sz="819" b="1" i="0">
                <a:solidFill>
                  <a:srgbClr val="10243D"/>
                </a:solidFill>
                <a:latin typeface="Lato"/>
              </a:rPr>
              <a:t>Commercial pivot</a:t>
            </a:r>
          </a:p>
        </p:txBody>
      </p:sp>
      <p:sp>
        <p:nvSpPr>
          <p:cNvPr id="62" name="TextBox 61"/>
          <p:cNvSpPr txBox="1"/>
          <p:nvPr/>
        </p:nvSpPr>
        <p:spPr>
          <a:xfrm>
            <a:off x="10469880" y="2898648"/>
            <a:ext cx="1133856" cy="365760"/>
          </a:xfrm>
          <a:prstGeom prst="rect">
            <a:avLst/>
          </a:prstGeom>
          <a:noFill/>
        </p:spPr>
        <p:txBody>
          <a:bodyPr wrap="square" lIns="0" rIns="0" tIns="0" bIns="0" anchor="t">
            <a:spAutoFit/>
          </a:bodyPr>
          <a:lstStyle/>
          <a:p>
            <a:pPr algn="ctr">
              <a:lnSpc>
                <a:spcPct val="90000"/>
              </a:lnSpc>
              <a:spcBef>
                <a:spcPts val="0"/>
              </a:spcBef>
              <a:spcAft>
                <a:spcPts val="0"/>
              </a:spcAft>
            </a:pPr>
            <a:r>
              <a:rPr sz="700" b="0" i="0">
                <a:solidFill>
                  <a:srgbClr val="5E7082"/>
                </a:solidFill>
                <a:latin typeface="Lato"/>
              </a:rPr>
              <a:t>$7M seed and payload reservations signal commercial transition.</a:t>
            </a:r>
          </a:p>
        </p:txBody>
      </p:sp>
      <p:sp>
        <p:nvSpPr>
          <p:cNvPr id="63" name="TextBox 62"/>
          <p:cNvSpPr txBox="1"/>
          <p:nvPr/>
        </p:nvSpPr>
        <p:spPr>
          <a:xfrm>
            <a:off x="621792" y="6172200"/>
            <a:ext cx="1920240" cy="146304"/>
          </a:xfrm>
          <a:prstGeom prst="rect">
            <a:avLst/>
          </a:prstGeom>
          <a:noFill/>
        </p:spPr>
        <p:txBody>
          <a:bodyPr wrap="square" lIns="0" rIns="0" tIns="0" bIns="0" anchor="t">
            <a:spAutoFit/>
          </a:bodyPr>
          <a:lstStyle/>
          <a:p>
            <a:pPr algn="l">
              <a:lnSpc>
                <a:spcPct val="100000"/>
              </a:lnSpc>
              <a:spcBef>
                <a:spcPts val="0"/>
              </a:spcBef>
              <a:spcAft>
                <a:spcPts val="0"/>
              </a:spcAft>
            </a:pPr>
            <a:r>
              <a:rPr sz="710" b="1" i="0">
                <a:solidFill>
                  <a:srgbClr val="8492A0"/>
                </a:solidFill>
                <a:latin typeface="Lato"/>
              </a:rPr>
              <a:t>SCIENCE VALIDATED</a:t>
            </a:r>
          </a:p>
        </p:txBody>
      </p:sp>
      <p:sp>
        <p:nvSpPr>
          <p:cNvPr id="64" name="TextBox 63"/>
          <p:cNvSpPr txBox="1"/>
          <p:nvPr/>
        </p:nvSpPr>
        <p:spPr>
          <a:xfrm>
            <a:off x="9217152" y="6172200"/>
            <a:ext cx="2322576" cy="146304"/>
          </a:xfrm>
          <a:prstGeom prst="rect">
            <a:avLst/>
          </a:prstGeom>
          <a:noFill/>
        </p:spPr>
        <p:txBody>
          <a:bodyPr wrap="square" lIns="0" rIns="0" tIns="0" bIns="0" anchor="t">
            <a:spAutoFit/>
          </a:bodyPr>
          <a:lstStyle/>
          <a:p>
            <a:pPr algn="r">
              <a:lnSpc>
                <a:spcPct val="100000"/>
              </a:lnSpc>
              <a:spcBef>
                <a:spcPts val="0"/>
              </a:spcBef>
              <a:spcAft>
                <a:spcPts val="0"/>
              </a:spcAft>
            </a:pPr>
            <a:r>
              <a:rPr sz="710" b="1" i="0">
                <a:solidFill>
                  <a:srgbClr val="087C71"/>
                </a:solidFill>
                <a:latin typeface="Lato"/>
              </a:rPr>
              <a:t>COMMERCIAL ACCESS EMERGING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MARKET OPPORTUNITY</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A Rapidly Expanding Global Addressable Market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09 / 21</a:t>
            </a:r>
          </a:p>
        </p:txBody>
      </p:sp>
      <p:sp>
        <p:nvSpPr>
          <p:cNvPr id="11" name="Rounded Rectangle 10"/>
          <p:cNvSpPr/>
          <p:nvPr/>
        </p:nvSpPr>
        <p:spPr>
          <a:xfrm>
            <a:off x="502920" y="1426464"/>
            <a:ext cx="6547104" cy="4910328"/>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1682496"/>
            <a:ext cx="530352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GLOBAL 3D BIOPRINTING MARKET  /  USD $B</a:t>
            </a:r>
          </a:p>
        </p:txBody>
      </p:sp>
      <p:sp>
        <p:nvSpPr>
          <p:cNvPr id="13" name="TextBox 12"/>
          <p:cNvSpPr txBox="1"/>
          <p:nvPr/>
        </p:nvSpPr>
        <p:spPr>
          <a:xfrm>
            <a:off x="5413248" y="1682496"/>
            <a:ext cx="1298448" cy="201168"/>
          </a:xfrm>
          <a:prstGeom prst="rect">
            <a:avLst/>
          </a:prstGeom>
          <a:noFill/>
        </p:spPr>
        <p:txBody>
          <a:bodyPr wrap="square" lIns="0" rIns="0" tIns="0" bIns="0" anchor="t">
            <a:spAutoFit/>
          </a:bodyPr>
          <a:lstStyle/>
          <a:p>
            <a:pPr algn="r">
              <a:lnSpc>
                <a:spcPct val="100000"/>
              </a:lnSpc>
              <a:spcBef>
                <a:spcPts val="0"/>
              </a:spcBef>
              <a:spcAft>
                <a:spcPts val="0"/>
              </a:spcAft>
            </a:pPr>
            <a:r>
              <a:rPr sz="819" b="1" i="0">
                <a:solidFill>
                  <a:srgbClr val="087C71"/>
                </a:solidFill>
                <a:latin typeface="Lato"/>
              </a:rPr>
              <a:t>~15.9% CAGR</a:t>
            </a:r>
          </a:p>
        </p:txBody>
      </p:sp>
      <p:cxnSp>
        <p:nvCxnSpPr>
          <p:cNvPr id="14" name="Connector 13"/>
          <p:cNvCxnSpPr/>
          <p:nvPr/>
        </p:nvCxnSpPr>
        <p:spPr>
          <a:xfrm>
            <a:off x="960120" y="4566412"/>
            <a:ext cx="5650992" cy="0"/>
          </a:xfrm>
          <a:prstGeom prst="line">
            <a:avLst/>
          </a:prstGeom>
          <a:ln w="8890">
            <a:solidFill>
              <a:srgbClr val="E7ECE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1792" y="44749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80" b="0" i="0">
                <a:solidFill>
                  <a:srgbClr val="8492A0"/>
                </a:solidFill>
                <a:latin typeface="Lato"/>
              </a:rPr>
              <a:t>$1B</a:t>
            </a:r>
          </a:p>
        </p:txBody>
      </p:sp>
      <p:cxnSp>
        <p:nvCxnSpPr>
          <p:cNvPr id="16" name="Connector 15"/>
          <p:cNvCxnSpPr/>
          <p:nvPr/>
        </p:nvCxnSpPr>
        <p:spPr>
          <a:xfrm>
            <a:off x="960120" y="3664712"/>
            <a:ext cx="5650992" cy="0"/>
          </a:xfrm>
          <a:prstGeom prst="line">
            <a:avLst/>
          </a:prstGeom>
          <a:ln w="8890">
            <a:solidFill>
              <a:srgbClr val="E7ECEE"/>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21792" y="35732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80" b="0" i="0">
                <a:solidFill>
                  <a:srgbClr val="8492A0"/>
                </a:solidFill>
                <a:latin typeface="Lato"/>
              </a:rPr>
              <a:t>$2B</a:t>
            </a:r>
          </a:p>
        </p:txBody>
      </p:sp>
      <p:cxnSp>
        <p:nvCxnSpPr>
          <p:cNvPr id="18" name="Connector 17"/>
          <p:cNvCxnSpPr/>
          <p:nvPr/>
        </p:nvCxnSpPr>
        <p:spPr>
          <a:xfrm>
            <a:off x="960120" y="2763012"/>
            <a:ext cx="5650992" cy="0"/>
          </a:xfrm>
          <a:prstGeom prst="line">
            <a:avLst/>
          </a:prstGeom>
          <a:ln w="8890">
            <a:solidFill>
              <a:srgbClr val="E7ECEE"/>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21792" y="26715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80" b="0" i="0">
                <a:solidFill>
                  <a:srgbClr val="8492A0"/>
                </a:solidFill>
                <a:latin typeface="Lato"/>
              </a:rPr>
              <a:t>$3B</a:t>
            </a:r>
          </a:p>
        </p:txBody>
      </p:sp>
      <p:sp>
        <p:nvSpPr>
          <p:cNvPr id="20" name="Rectangle 19"/>
          <p:cNvSpPr/>
          <p:nvPr/>
        </p:nvSpPr>
        <p:spPr>
          <a:xfrm>
            <a:off x="960120" y="4313936"/>
            <a:ext cx="438912" cy="1154176"/>
          </a:xfrm>
          <a:prstGeom prst="rect">
            <a:avLst/>
          </a:prstGeom>
          <a:solidFill>
            <a:srgbClr val="8FD7CA"/>
          </a:solidFill>
          <a:ln w="9525">
            <a:solidFill>
              <a:srgbClr val="8FD7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4094480"/>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1.28</a:t>
            </a:r>
          </a:p>
        </p:txBody>
      </p:sp>
      <p:sp>
        <p:nvSpPr>
          <p:cNvPr id="22" name="TextBox 21"/>
          <p:cNvSpPr txBox="1"/>
          <p:nvPr/>
        </p:nvSpPr>
        <p:spPr>
          <a:xfrm>
            <a:off x="850392"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2023</a:t>
            </a:r>
          </a:p>
        </p:txBody>
      </p:sp>
      <p:sp>
        <p:nvSpPr>
          <p:cNvPr id="23" name="Rectangle 22"/>
          <p:cNvSpPr/>
          <p:nvPr/>
        </p:nvSpPr>
        <p:spPr>
          <a:xfrm>
            <a:off x="1704702" y="4151630"/>
            <a:ext cx="438912" cy="1316482"/>
          </a:xfrm>
          <a:prstGeom prst="rect">
            <a:avLst/>
          </a:prstGeom>
          <a:solidFill>
            <a:srgbClr val="8FD7CA"/>
          </a:solidFill>
          <a:ln w="9525">
            <a:solidFill>
              <a:srgbClr val="8FD7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613262" y="3932174"/>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1.46</a:t>
            </a:r>
          </a:p>
        </p:txBody>
      </p:sp>
      <p:sp>
        <p:nvSpPr>
          <p:cNvPr id="25" name="TextBox 24"/>
          <p:cNvSpPr txBox="1"/>
          <p:nvPr/>
        </p:nvSpPr>
        <p:spPr>
          <a:xfrm>
            <a:off x="1594974"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2024</a:t>
            </a:r>
          </a:p>
        </p:txBody>
      </p:sp>
      <p:sp>
        <p:nvSpPr>
          <p:cNvPr id="26" name="Rectangle 25"/>
          <p:cNvSpPr/>
          <p:nvPr/>
        </p:nvSpPr>
        <p:spPr>
          <a:xfrm>
            <a:off x="2449285" y="3935222"/>
            <a:ext cx="438912" cy="1532889"/>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357845" y="3715766"/>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1.70</a:t>
            </a:r>
          </a:p>
        </p:txBody>
      </p:sp>
      <p:sp>
        <p:nvSpPr>
          <p:cNvPr id="28" name="TextBox 27"/>
          <p:cNvSpPr txBox="1"/>
          <p:nvPr/>
        </p:nvSpPr>
        <p:spPr>
          <a:xfrm>
            <a:off x="2339557"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2025E</a:t>
            </a:r>
          </a:p>
        </p:txBody>
      </p:sp>
      <p:sp>
        <p:nvSpPr>
          <p:cNvPr id="29" name="Rectangle 28"/>
          <p:cNvSpPr/>
          <p:nvPr/>
        </p:nvSpPr>
        <p:spPr>
          <a:xfrm>
            <a:off x="3193868" y="3691763"/>
            <a:ext cx="438912" cy="177634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102428" y="3472307"/>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1.97</a:t>
            </a:r>
          </a:p>
        </p:txBody>
      </p:sp>
      <p:sp>
        <p:nvSpPr>
          <p:cNvPr id="31" name="TextBox 30"/>
          <p:cNvSpPr txBox="1"/>
          <p:nvPr/>
        </p:nvSpPr>
        <p:spPr>
          <a:xfrm>
            <a:off x="3084140"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2026E</a:t>
            </a:r>
          </a:p>
        </p:txBody>
      </p:sp>
      <p:sp>
        <p:nvSpPr>
          <p:cNvPr id="32" name="Rectangle 31"/>
          <p:cNvSpPr/>
          <p:nvPr/>
        </p:nvSpPr>
        <p:spPr>
          <a:xfrm>
            <a:off x="3938451" y="3412236"/>
            <a:ext cx="438912" cy="2055875"/>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47011" y="3192780"/>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2.28</a:t>
            </a:r>
          </a:p>
        </p:txBody>
      </p:sp>
      <p:sp>
        <p:nvSpPr>
          <p:cNvPr id="34" name="TextBox 33"/>
          <p:cNvSpPr txBox="1"/>
          <p:nvPr/>
        </p:nvSpPr>
        <p:spPr>
          <a:xfrm>
            <a:off x="3828723"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2027E</a:t>
            </a:r>
          </a:p>
        </p:txBody>
      </p:sp>
      <p:sp>
        <p:nvSpPr>
          <p:cNvPr id="35" name="Rectangle 34"/>
          <p:cNvSpPr/>
          <p:nvPr/>
        </p:nvSpPr>
        <p:spPr>
          <a:xfrm>
            <a:off x="4683034" y="3087624"/>
            <a:ext cx="438912" cy="238048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91594" y="2868168"/>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2.64</a:t>
            </a:r>
          </a:p>
        </p:txBody>
      </p:sp>
      <p:sp>
        <p:nvSpPr>
          <p:cNvPr id="37" name="TextBox 36"/>
          <p:cNvSpPr txBox="1"/>
          <p:nvPr/>
        </p:nvSpPr>
        <p:spPr>
          <a:xfrm>
            <a:off x="4573306"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2028E</a:t>
            </a:r>
          </a:p>
        </p:txBody>
      </p:sp>
      <p:sp>
        <p:nvSpPr>
          <p:cNvPr id="38" name="Rectangle 37"/>
          <p:cNvSpPr/>
          <p:nvPr/>
        </p:nvSpPr>
        <p:spPr>
          <a:xfrm>
            <a:off x="5427617" y="2708910"/>
            <a:ext cx="438912" cy="2759201"/>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36177" y="2489454"/>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3.06</a:t>
            </a:r>
          </a:p>
        </p:txBody>
      </p:sp>
      <p:sp>
        <p:nvSpPr>
          <p:cNvPr id="40" name="TextBox 39"/>
          <p:cNvSpPr txBox="1"/>
          <p:nvPr/>
        </p:nvSpPr>
        <p:spPr>
          <a:xfrm>
            <a:off x="5317889"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2029E</a:t>
            </a:r>
          </a:p>
        </p:txBody>
      </p:sp>
      <p:sp>
        <p:nvSpPr>
          <p:cNvPr id="41" name="Rectangle 40"/>
          <p:cNvSpPr/>
          <p:nvPr/>
        </p:nvSpPr>
        <p:spPr>
          <a:xfrm>
            <a:off x="6172200" y="2321179"/>
            <a:ext cx="438912" cy="314693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80760" y="2101723"/>
            <a:ext cx="621792"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10243D"/>
                </a:solidFill>
                <a:latin typeface="Lato"/>
              </a:rPr>
              <a:t>3.49</a:t>
            </a:r>
          </a:p>
        </p:txBody>
      </p:sp>
      <p:sp>
        <p:nvSpPr>
          <p:cNvPr id="43" name="TextBox 42"/>
          <p:cNvSpPr txBox="1"/>
          <p:nvPr/>
        </p:nvSpPr>
        <p:spPr>
          <a:xfrm>
            <a:off x="6062472" y="5577840"/>
            <a:ext cx="658368"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2030E</a:t>
            </a:r>
          </a:p>
        </p:txBody>
      </p:sp>
      <p:sp>
        <p:nvSpPr>
          <p:cNvPr id="44" name="TextBox 43"/>
          <p:cNvSpPr txBox="1"/>
          <p:nvPr/>
        </p:nvSpPr>
        <p:spPr>
          <a:xfrm>
            <a:off x="758952" y="6016752"/>
            <a:ext cx="4023360" cy="146304"/>
          </a:xfrm>
          <a:prstGeom prst="rect">
            <a:avLst/>
          </a:prstGeom>
          <a:noFill/>
        </p:spPr>
        <p:txBody>
          <a:bodyPr wrap="square" lIns="0" rIns="0" tIns="0" bIns="0" anchor="t">
            <a:spAutoFit/>
          </a:bodyPr>
          <a:lstStyle/>
          <a:p>
            <a:pPr algn="l">
              <a:lnSpc>
                <a:spcPct val="100000"/>
              </a:lnSpc>
              <a:spcBef>
                <a:spcPts val="0"/>
              </a:spcBef>
              <a:spcAft>
                <a:spcPts val="0"/>
              </a:spcAft>
            </a:pPr>
            <a:r>
              <a:rPr sz="670" b="0" i="0">
                <a:solidFill>
                  <a:srgbClr val="8492A0"/>
                </a:solidFill>
                <a:latin typeface="Lato"/>
              </a:rPr>
              <a:t>Source: Mordor Intelligence, January 2026</a:t>
            </a:r>
          </a:p>
        </p:txBody>
      </p:sp>
      <p:sp>
        <p:nvSpPr>
          <p:cNvPr id="45" name="Rounded Rectangle 44"/>
          <p:cNvSpPr/>
          <p:nvPr/>
        </p:nvSpPr>
        <p:spPr>
          <a:xfrm>
            <a:off x="7242048" y="1426464"/>
            <a:ext cx="4443984" cy="1088136"/>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79792" y="1591056"/>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10243D"/>
                </a:solidFill>
                <a:latin typeface="Lato"/>
              </a:rPr>
              <a:t>$3.5B+</a:t>
            </a:r>
          </a:p>
        </p:txBody>
      </p:sp>
      <p:sp>
        <p:nvSpPr>
          <p:cNvPr id="47" name="TextBox 46"/>
          <p:cNvSpPr txBox="1"/>
          <p:nvPr/>
        </p:nvSpPr>
        <p:spPr>
          <a:xfrm>
            <a:off x="8942832" y="1581912"/>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5E7082"/>
                </a:solidFill>
                <a:latin typeface="Lato"/>
              </a:rPr>
              <a:t>Projected global 3D bioprinting market by 2030 at ~15.9% CAGR</a:t>
            </a:r>
          </a:p>
        </p:txBody>
      </p:sp>
      <p:sp>
        <p:nvSpPr>
          <p:cNvPr id="48" name="Rectangle 47"/>
          <p:cNvSpPr/>
          <p:nvPr/>
        </p:nvSpPr>
        <p:spPr>
          <a:xfrm>
            <a:off x="7479792" y="2203704"/>
            <a:ext cx="530352" cy="3657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242048" y="2679192"/>
            <a:ext cx="4443984" cy="1088136"/>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479792" y="2843784"/>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10243D"/>
                </a:solidFill>
                <a:latin typeface="Lato"/>
              </a:rPr>
              <a:t>DEC 2024</a:t>
            </a:r>
          </a:p>
        </p:txBody>
      </p:sp>
      <p:sp>
        <p:nvSpPr>
          <p:cNvPr id="51" name="TextBox 50"/>
          <p:cNvSpPr txBox="1"/>
          <p:nvPr/>
        </p:nvSpPr>
        <p:spPr>
          <a:xfrm>
            <a:off x="8942832" y="2834640"/>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5E7082"/>
                </a:solidFill>
                <a:latin typeface="Lato"/>
              </a:rPr>
              <a:t>FDA cleared Symvess — first tissue-engineered vascular graft — setting a direct precedent</a:t>
            </a:r>
          </a:p>
        </p:txBody>
      </p:sp>
      <p:sp>
        <p:nvSpPr>
          <p:cNvPr id="52" name="Rectangle 51"/>
          <p:cNvSpPr/>
          <p:nvPr/>
        </p:nvSpPr>
        <p:spPr>
          <a:xfrm>
            <a:off x="7479792" y="3456432"/>
            <a:ext cx="530352" cy="36576"/>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7242048" y="3931920"/>
            <a:ext cx="4443984" cy="1088136"/>
          </a:xfrm>
          <a:prstGeom prst="roundRect">
            <a:avLst/>
          </a:prstGeom>
          <a:solidFill>
            <a:srgbClr val="FAF0D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479792" y="4096512"/>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10243D"/>
                </a:solidFill>
                <a:latin typeface="Lato"/>
              </a:rPr>
              <a:t>$420M+</a:t>
            </a:r>
          </a:p>
        </p:txBody>
      </p:sp>
      <p:sp>
        <p:nvSpPr>
          <p:cNvPr id="55" name="TextBox 54"/>
          <p:cNvSpPr txBox="1"/>
          <p:nvPr/>
        </p:nvSpPr>
        <p:spPr>
          <a:xfrm>
            <a:off x="8942832" y="4087368"/>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5E7082"/>
                </a:solidFill>
                <a:latin typeface="Lato"/>
              </a:rPr>
              <a:t>Committed by pharma companies to commercial-station research through 2030 (industry research)</a:t>
            </a:r>
          </a:p>
        </p:txBody>
      </p:sp>
      <p:sp>
        <p:nvSpPr>
          <p:cNvPr id="56" name="Rectangle 55"/>
          <p:cNvSpPr/>
          <p:nvPr/>
        </p:nvSpPr>
        <p:spPr>
          <a:xfrm>
            <a:off x="7479792" y="4709160"/>
            <a:ext cx="530352" cy="36576"/>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242048" y="5184648"/>
            <a:ext cx="4443984" cy="1088136"/>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479792" y="5349240"/>
            <a:ext cx="1298448" cy="292608"/>
          </a:xfrm>
          <a:prstGeom prst="rect">
            <a:avLst/>
          </a:prstGeom>
          <a:noFill/>
        </p:spPr>
        <p:txBody>
          <a:bodyPr wrap="square" lIns="0" rIns="0" tIns="0" bIns="0" anchor="t">
            <a:spAutoFit/>
          </a:bodyPr>
          <a:lstStyle/>
          <a:p>
            <a:pPr algn="l">
              <a:lnSpc>
                <a:spcPct val="100000"/>
              </a:lnSpc>
              <a:spcBef>
                <a:spcPts val="0"/>
              </a:spcBef>
              <a:spcAft>
                <a:spcPts val="0"/>
              </a:spcAft>
            </a:pPr>
            <a:r>
              <a:rPr sz="1450" b="1" i="0">
                <a:solidFill>
                  <a:srgbClr val="FFFFFF"/>
                </a:solidFill>
                <a:latin typeface="Lato"/>
              </a:rPr>
              <a:t>$200–400M</a:t>
            </a:r>
          </a:p>
        </p:txBody>
      </p:sp>
      <p:sp>
        <p:nvSpPr>
          <p:cNvPr id="59" name="TextBox 58"/>
          <p:cNvSpPr txBox="1"/>
          <p:nvPr/>
        </p:nvSpPr>
        <p:spPr>
          <a:xfrm>
            <a:off x="8942832" y="5340096"/>
            <a:ext cx="2468880" cy="649224"/>
          </a:xfrm>
          <a:prstGeom prst="rect">
            <a:avLst/>
          </a:prstGeom>
          <a:noFill/>
        </p:spPr>
        <p:txBody>
          <a:bodyPr wrap="square" lIns="0" rIns="0" tIns="0" bIns="0" anchor="t">
            <a:spAutoFit/>
          </a:bodyPr>
          <a:lstStyle/>
          <a:p>
            <a:pPr algn="l">
              <a:lnSpc>
                <a:spcPct val="95000"/>
              </a:lnSpc>
              <a:spcBef>
                <a:spcPts val="0"/>
              </a:spcBef>
              <a:spcAft>
                <a:spcPts val="0"/>
              </a:spcAft>
            </a:pPr>
            <a:r>
              <a:rPr sz="830" b="0" i="0">
                <a:solidFill>
                  <a:srgbClr val="C9D4DD"/>
                </a:solidFill>
                <a:latin typeface="Lato"/>
              </a:rPr>
              <a:t>Samuel's estimated initial SAM by 2030 across cardiac, orthopedic, and retinal constructs</a:t>
            </a:r>
          </a:p>
        </p:txBody>
      </p:sp>
      <p:sp>
        <p:nvSpPr>
          <p:cNvPr id="60" name="Rectangle 59"/>
          <p:cNvSpPr/>
          <p:nvPr/>
        </p:nvSpPr>
        <p:spPr>
          <a:xfrm>
            <a:off x="7479792" y="5961888"/>
            <a:ext cx="530352" cy="3657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MARKET TIMING</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Four Converging Tailwinds Create a Unique Entry Window</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10 / 21</a:t>
            </a:r>
          </a:p>
        </p:txBody>
      </p:sp>
      <p:sp>
        <p:nvSpPr>
          <p:cNvPr id="11" name="Rounded Rectangle 10"/>
          <p:cNvSpPr/>
          <p:nvPr/>
        </p:nvSpPr>
        <p:spPr>
          <a:xfrm>
            <a:off x="502920" y="1426464"/>
            <a:ext cx="5486400" cy="233172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426464"/>
            <a:ext cx="82296" cy="233172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609344"/>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~89%</a:t>
            </a:r>
          </a:p>
        </p:txBody>
      </p:sp>
      <p:sp>
        <p:nvSpPr>
          <p:cNvPr id="14" name="TextBox 13"/>
          <p:cNvSpPr txBox="1"/>
          <p:nvPr/>
        </p:nvSpPr>
        <p:spPr>
          <a:xfrm>
            <a:off x="2468880" y="1655064"/>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00A58E"/>
                </a:solidFill>
                <a:latin typeface="Lato"/>
              </a:rPr>
              <a:t>REDUCTION IN LAUNCH COST/KG SINCE 2010</a:t>
            </a:r>
          </a:p>
        </p:txBody>
      </p:sp>
      <p:cxnSp>
        <p:nvCxnSpPr>
          <p:cNvPr id="15" name="Connector 14"/>
          <p:cNvCxnSpPr/>
          <p:nvPr/>
        </p:nvCxnSpPr>
        <p:spPr>
          <a:xfrm>
            <a:off x="777240" y="2194560"/>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77240" y="2414016"/>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Launch Costs Have Collapsed</a:t>
            </a:r>
          </a:p>
        </p:txBody>
      </p:sp>
      <p:sp>
        <p:nvSpPr>
          <p:cNvPr id="17" name="TextBox 16"/>
          <p:cNvSpPr txBox="1"/>
          <p:nvPr/>
        </p:nvSpPr>
        <p:spPr>
          <a:xfrm>
            <a:off x="777240" y="2871216"/>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Cost-to-orbit has fallen from ~$54,000/kg in the Shuttle era to ~$6,000/kg on Falcon 9, bringing research payloads into commercial range.</a:t>
            </a:r>
          </a:p>
        </p:txBody>
      </p:sp>
      <p:sp>
        <p:nvSpPr>
          <p:cNvPr id="18" name="Rounded Rectangle 17"/>
          <p:cNvSpPr/>
          <p:nvPr/>
        </p:nvSpPr>
        <p:spPr>
          <a:xfrm>
            <a:off x="6144768" y="1426464"/>
            <a:ext cx="5486400" cy="233172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426464"/>
            <a:ext cx="82296" cy="2331720"/>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609344"/>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4</a:t>
            </a:r>
          </a:p>
        </p:txBody>
      </p:sp>
      <p:sp>
        <p:nvSpPr>
          <p:cNvPr id="21" name="TextBox 20"/>
          <p:cNvSpPr txBox="1"/>
          <p:nvPr/>
        </p:nvSpPr>
        <p:spPr>
          <a:xfrm>
            <a:off x="8110727" y="1655064"/>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5E91B5"/>
                </a:solidFill>
                <a:latin typeface="Lato"/>
              </a:rPr>
              <a:t>NASA-FUNDED SUCCESSOR PROGRAMS</a:t>
            </a:r>
          </a:p>
        </p:txBody>
      </p:sp>
      <p:cxnSp>
        <p:nvCxnSpPr>
          <p:cNvPr id="22" name="Connector 21"/>
          <p:cNvCxnSpPr/>
          <p:nvPr/>
        </p:nvCxnSpPr>
        <p:spPr>
          <a:xfrm>
            <a:off x="6419088" y="2194560"/>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19088" y="2414016"/>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Commercial Stations Are Coming</a:t>
            </a:r>
          </a:p>
        </p:txBody>
      </p:sp>
      <p:sp>
        <p:nvSpPr>
          <p:cNvPr id="24" name="TextBox 23"/>
          <p:cNvSpPr txBox="1"/>
          <p:nvPr/>
        </p:nvSpPr>
        <p:spPr>
          <a:xfrm>
            <a:off x="6419088" y="2871216"/>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ISS retires around 2030. Starlab, Axiom Station, Orbital Reef, and Vast Haven-1 are creating a diversified commercial LEO ecosystem.</a:t>
            </a:r>
          </a:p>
        </p:txBody>
      </p:sp>
      <p:sp>
        <p:nvSpPr>
          <p:cNvPr id="25" name="Rounded Rectangle 24"/>
          <p:cNvSpPr/>
          <p:nvPr/>
        </p:nvSpPr>
        <p:spPr>
          <a:xfrm>
            <a:off x="502920" y="3922776"/>
            <a:ext cx="5486400" cy="2331720"/>
          </a:xfrm>
          <a:prstGeom prst="roundRect">
            <a:avLst/>
          </a:prstGeom>
          <a:solidFill>
            <a:srgbClr val="FAF0D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 y="3922776"/>
            <a:ext cx="82296" cy="2331720"/>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 y="4105656"/>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DEC 2024</a:t>
            </a:r>
          </a:p>
        </p:txBody>
      </p:sp>
      <p:sp>
        <p:nvSpPr>
          <p:cNvPr id="28" name="TextBox 27"/>
          <p:cNvSpPr txBox="1"/>
          <p:nvPr/>
        </p:nvSpPr>
        <p:spPr>
          <a:xfrm>
            <a:off x="2468880" y="4151376"/>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E5A647"/>
                </a:solidFill>
                <a:latin typeface="Lato"/>
              </a:rPr>
              <a:t>FIRST FDA-CLEARED TISSUE-ENGINEERED VASCULAR GRAFT</a:t>
            </a:r>
          </a:p>
        </p:txBody>
      </p:sp>
      <p:cxnSp>
        <p:nvCxnSpPr>
          <p:cNvPr id="29" name="Connector 28"/>
          <p:cNvCxnSpPr/>
          <p:nvPr/>
        </p:nvCxnSpPr>
        <p:spPr>
          <a:xfrm>
            <a:off x="777240" y="4690872"/>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4910328"/>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Regulatory Precedent Is Set</a:t>
            </a:r>
          </a:p>
        </p:txBody>
      </p:sp>
      <p:sp>
        <p:nvSpPr>
          <p:cNvPr id="31" name="TextBox 30"/>
          <p:cNvSpPr txBox="1"/>
          <p:nvPr/>
        </p:nvSpPr>
        <p:spPr>
          <a:xfrm>
            <a:off x="777240" y="5367528"/>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Symvess established the first direct precedent for clinical tissue engineering and validates an actionable FDA review pathway.</a:t>
            </a:r>
          </a:p>
        </p:txBody>
      </p:sp>
      <p:sp>
        <p:nvSpPr>
          <p:cNvPr id="32" name="Rounded Rectangle 31"/>
          <p:cNvSpPr/>
          <p:nvPr/>
        </p:nvSpPr>
        <p:spPr>
          <a:xfrm>
            <a:off x="6144768" y="3922776"/>
            <a:ext cx="5486400" cy="2331720"/>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44768" y="3922776"/>
            <a:ext cx="82296" cy="2331720"/>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19088" y="4105656"/>
            <a:ext cx="1600200" cy="429768"/>
          </a:xfrm>
          <a:prstGeom prst="rect">
            <a:avLst/>
          </a:prstGeom>
          <a:noFill/>
        </p:spPr>
        <p:txBody>
          <a:bodyPr wrap="square" lIns="0" rIns="0" tIns="0" bIns="0" anchor="t">
            <a:spAutoFit/>
          </a:bodyPr>
          <a:lstStyle/>
          <a:p>
            <a:pPr algn="l">
              <a:lnSpc>
                <a:spcPct val="100000"/>
              </a:lnSpc>
              <a:spcBef>
                <a:spcPts val="0"/>
              </a:spcBef>
              <a:spcAft>
                <a:spcPts val="0"/>
              </a:spcAft>
            </a:pPr>
            <a:r>
              <a:rPr sz="2000" b="1" i="0">
                <a:solidFill>
                  <a:srgbClr val="10243D"/>
                </a:solidFill>
                <a:latin typeface="Lato"/>
              </a:rPr>
              <a:t>$329M</a:t>
            </a:r>
          </a:p>
        </p:txBody>
      </p:sp>
      <p:sp>
        <p:nvSpPr>
          <p:cNvPr id="35" name="TextBox 34"/>
          <p:cNvSpPr txBox="1"/>
          <p:nvPr/>
        </p:nvSpPr>
        <p:spPr>
          <a:xfrm>
            <a:off x="8110727" y="4151376"/>
            <a:ext cx="3200400" cy="365760"/>
          </a:xfrm>
          <a:prstGeom prst="rect">
            <a:avLst/>
          </a:prstGeom>
          <a:noFill/>
        </p:spPr>
        <p:txBody>
          <a:bodyPr wrap="square" lIns="0" rIns="0" tIns="0" bIns="0" anchor="t">
            <a:spAutoFit/>
          </a:bodyPr>
          <a:lstStyle/>
          <a:p>
            <a:pPr algn="r">
              <a:lnSpc>
                <a:spcPct val="100000"/>
              </a:lnSpc>
              <a:spcBef>
                <a:spcPts val="0"/>
              </a:spcBef>
              <a:spcAft>
                <a:spcPts val="0"/>
              </a:spcAft>
            </a:pPr>
            <a:r>
              <a:rPr sz="730" b="1" i="0">
                <a:solidFill>
                  <a:srgbClr val="7D6CB0"/>
                </a:solidFill>
                <a:latin typeface="Lato"/>
              </a:rPr>
              <a:t>RAISED BY IN-SPACE MANUFACTURING COMPARATOR VARDA</a:t>
            </a:r>
          </a:p>
        </p:txBody>
      </p:sp>
      <p:cxnSp>
        <p:nvCxnSpPr>
          <p:cNvPr id="36" name="Connector 35"/>
          <p:cNvCxnSpPr/>
          <p:nvPr/>
        </p:nvCxnSpPr>
        <p:spPr>
          <a:xfrm>
            <a:off x="6419088" y="4690872"/>
            <a:ext cx="4937760" cy="0"/>
          </a:xfrm>
          <a:prstGeom prst="line">
            <a:avLst/>
          </a:prstGeom>
          <a:ln w="8890">
            <a:solidFill>
              <a:srgbClr val="CBD8DD"/>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419088" y="4910328"/>
            <a:ext cx="4901184" cy="310896"/>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Capital Is Already Flowing</a:t>
            </a:r>
          </a:p>
        </p:txBody>
      </p:sp>
      <p:sp>
        <p:nvSpPr>
          <p:cNvPr id="38" name="TextBox 37"/>
          <p:cNvSpPr txBox="1"/>
          <p:nvPr/>
        </p:nvSpPr>
        <p:spPr>
          <a:xfrm>
            <a:off x="6419088" y="5367528"/>
            <a:ext cx="4901184" cy="621792"/>
          </a:xfrm>
          <a:prstGeom prst="rect">
            <a:avLst/>
          </a:prstGeom>
          <a:noFill/>
        </p:spPr>
        <p:txBody>
          <a:bodyPr wrap="square" lIns="0" rIns="0" tIns="0" bIns="0" anchor="t">
            <a:spAutoFit/>
          </a:bodyPr>
          <a:lstStyle/>
          <a:p>
            <a:pPr algn="l">
              <a:lnSpc>
                <a:spcPct val="97000"/>
              </a:lnSpc>
              <a:spcBef>
                <a:spcPts val="0"/>
              </a:spcBef>
              <a:spcAft>
                <a:spcPts val="0"/>
              </a:spcAft>
            </a:pPr>
            <a:r>
              <a:rPr sz="910" b="0" i="0">
                <a:solidFill>
                  <a:srgbClr val="5E7082"/>
                </a:solidFill>
                <a:latin typeface="Lato"/>
              </a:rPr>
              <a:t>Varda has raised $329M total. LambdaVision closed a $7M seed after securing more than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OUR PLATFORM</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Station-Agnostic Payload Platform</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11 / 21</a:t>
            </a:r>
          </a:p>
        </p:txBody>
      </p:sp>
      <p:sp>
        <p:nvSpPr>
          <p:cNvPr id="11" name="TextBox 10"/>
          <p:cNvSpPr txBox="1"/>
          <p:nvPr/>
        </p:nvSpPr>
        <p:spPr>
          <a:xfrm>
            <a:off x="502920" y="1399032"/>
            <a:ext cx="6537960" cy="438912"/>
          </a:xfrm>
          <a:prstGeom prst="rect">
            <a:avLst/>
          </a:prstGeom>
          <a:noFill/>
        </p:spPr>
        <p:txBody>
          <a:bodyPr wrap="square" lIns="0" rIns="0" tIns="0" bIns="0" anchor="t">
            <a:spAutoFit/>
          </a:bodyPr>
          <a:lstStyle/>
          <a:p>
            <a:pPr algn="l">
              <a:lnSpc>
                <a:spcPct val="100000"/>
              </a:lnSpc>
              <a:spcBef>
                <a:spcPts val="0"/>
              </a:spcBef>
              <a:spcAft>
                <a:spcPts val="0"/>
              </a:spcAft>
            </a:pPr>
            <a:r>
              <a:rPr sz="1019" b="0" i="0">
                <a:solidFill>
                  <a:srgbClr val="5E7082"/>
                </a:solidFill>
                <a:latin typeface="Lato"/>
              </a:rPr>
              <a:t>One flight-qualified hardware architecture, one growing bioink library, and one protocol stack — deployable across the commercial LEO ecosystem.</a:t>
            </a:r>
          </a:p>
        </p:txBody>
      </p:sp>
      <p:sp>
        <p:nvSpPr>
          <p:cNvPr id="12" name="Rounded Rectangle 11"/>
          <p:cNvSpPr/>
          <p:nvPr/>
        </p:nvSpPr>
        <p:spPr>
          <a:xfrm>
            <a:off x="502920" y="1965960"/>
            <a:ext cx="6510528" cy="9875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2185415"/>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2185415"/>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01</a:t>
            </a:r>
          </a:p>
        </p:txBody>
      </p:sp>
      <p:sp>
        <p:nvSpPr>
          <p:cNvPr id="15" name="TextBox 14"/>
          <p:cNvSpPr txBox="1"/>
          <p:nvPr/>
        </p:nvSpPr>
        <p:spPr>
          <a:xfrm>
            <a:off x="1399032" y="2130552"/>
            <a:ext cx="2057400" cy="274320"/>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Modular Payload Design</a:t>
            </a:r>
          </a:p>
        </p:txBody>
      </p:sp>
      <p:sp>
        <p:nvSpPr>
          <p:cNvPr id="16" name="TextBox 15"/>
          <p:cNvSpPr txBox="1"/>
          <p:nvPr/>
        </p:nvSpPr>
        <p:spPr>
          <a:xfrm>
            <a:off x="3438144" y="2121408"/>
            <a:ext cx="3273552" cy="557784"/>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Standard double-locker form factor designed for ISS, Starlab, and Axiom interfaces — one build, many stations.</a:t>
            </a:r>
          </a:p>
        </p:txBody>
      </p:sp>
      <p:sp>
        <p:nvSpPr>
          <p:cNvPr id="17" name="Rounded Rectangle 16"/>
          <p:cNvSpPr/>
          <p:nvPr/>
        </p:nvSpPr>
        <p:spPr>
          <a:xfrm>
            <a:off x="502920" y="3127248"/>
            <a:ext cx="6510528" cy="9875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1520" y="3346704"/>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3346704"/>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02</a:t>
            </a:r>
          </a:p>
        </p:txBody>
      </p:sp>
      <p:sp>
        <p:nvSpPr>
          <p:cNvPr id="20" name="TextBox 19"/>
          <p:cNvSpPr txBox="1"/>
          <p:nvPr/>
        </p:nvSpPr>
        <p:spPr>
          <a:xfrm>
            <a:off x="1399032" y="3291840"/>
            <a:ext cx="2057400" cy="274320"/>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Proprietary Cell-Line IP</a:t>
            </a:r>
          </a:p>
        </p:txBody>
      </p:sp>
      <p:sp>
        <p:nvSpPr>
          <p:cNvPr id="21" name="TextBox 20"/>
          <p:cNvSpPr txBox="1"/>
          <p:nvPr/>
        </p:nvSpPr>
        <p:spPr>
          <a:xfrm>
            <a:off x="3438144" y="3282696"/>
            <a:ext cx="3273552" cy="557784"/>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Microgravity-optimised bioinks and print protocols compound into the platform's core defensible asset.</a:t>
            </a:r>
          </a:p>
        </p:txBody>
      </p:sp>
      <p:sp>
        <p:nvSpPr>
          <p:cNvPr id="22" name="Rounded Rectangle 21"/>
          <p:cNvSpPr/>
          <p:nvPr/>
        </p:nvSpPr>
        <p:spPr>
          <a:xfrm>
            <a:off x="502920" y="4288536"/>
            <a:ext cx="6510528" cy="9875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31520" y="4507992"/>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4507992"/>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03</a:t>
            </a:r>
          </a:p>
        </p:txBody>
      </p:sp>
      <p:sp>
        <p:nvSpPr>
          <p:cNvPr id="25" name="TextBox 24"/>
          <p:cNvSpPr txBox="1"/>
          <p:nvPr/>
        </p:nvSpPr>
        <p:spPr>
          <a:xfrm>
            <a:off x="1399032" y="4453127"/>
            <a:ext cx="2057400" cy="274320"/>
          </a:xfrm>
          <a:prstGeom prst="rect">
            <a:avLst/>
          </a:prstGeom>
          <a:noFill/>
        </p:spPr>
        <p:txBody>
          <a:bodyPr wrap="square" lIns="0" rIns="0" tIns="0" bIns="0" anchor="t">
            <a:spAutoFit/>
          </a:bodyPr>
          <a:lstStyle/>
          <a:p>
            <a:pPr algn="l">
              <a:lnSpc>
                <a:spcPct val="100000"/>
              </a:lnSpc>
              <a:spcBef>
                <a:spcPts val="0"/>
              </a:spcBef>
              <a:spcAft>
                <a:spcPts val="0"/>
              </a:spcAft>
            </a:pPr>
            <a:r>
              <a:rPr sz="1150" b="1" i="0">
                <a:solidFill>
                  <a:srgbClr val="10243D"/>
                </a:solidFill>
                <a:latin typeface="Lato"/>
              </a:rPr>
              <a:t>Service-First Revenue</a:t>
            </a:r>
          </a:p>
        </p:txBody>
      </p:sp>
      <p:sp>
        <p:nvSpPr>
          <p:cNvPr id="26" name="TextBox 25"/>
          <p:cNvSpPr txBox="1"/>
          <p:nvPr/>
        </p:nvSpPr>
        <p:spPr>
          <a:xfrm>
            <a:off x="3438144" y="4443983"/>
            <a:ext cx="3273552" cy="557784"/>
          </a:xfrm>
          <a:prstGeom prst="rect">
            <a:avLst/>
          </a:prstGeom>
          <a:noFill/>
        </p:spPr>
        <p:txBody>
          <a:bodyPr wrap="square" lIns="0" rIns="0" tIns="0" bIns="0" anchor="t">
            <a:spAutoFit/>
          </a:bodyPr>
          <a:lstStyle/>
          <a:p>
            <a:pPr algn="l">
              <a:lnSpc>
                <a:spcPct val="95000"/>
              </a:lnSpc>
              <a:spcBef>
                <a:spcPts val="0"/>
              </a:spcBef>
              <a:spcAft>
                <a:spcPts val="0"/>
              </a:spcAft>
            </a:pPr>
            <a:r>
              <a:rPr sz="880" b="0" i="0">
                <a:solidFill>
                  <a:srgbClr val="5E7082"/>
                </a:solidFill>
                <a:latin typeface="Lato"/>
              </a:rPr>
              <a:t>Fee-for-service missions create near-term revenue while each flight expands the reusable IP base.</a:t>
            </a:r>
          </a:p>
        </p:txBody>
      </p:sp>
      <p:sp>
        <p:nvSpPr>
          <p:cNvPr id="27" name="Rounded Rectangle 26"/>
          <p:cNvSpPr/>
          <p:nvPr/>
        </p:nvSpPr>
        <p:spPr>
          <a:xfrm>
            <a:off x="502920" y="5577840"/>
            <a:ext cx="6510528" cy="79552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5769864"/>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50" b="1" i="0">
                <a:solidFill>
                  <a:srgbClr val="00A58E"/>
                </a:solidFill>
                <a:latin typeface="Lato"/>
              </a:rPr>
              <a:t>ENGINEERED FOR COMPATIBILITY</a:t>
            </a:r>
          </a:p>
        </p:txBody>
      </p:sp>
      <p:sp>
        <p:nvSpPr>
          <p:cNvPr id="29" name="TextBox 28"/>
          <p:cNvSpPr txBox="1"/>
          <p:nvPr/>
        </p:nvSpPr>
        <p:spPr>
          <a:xfrm>
            <a:off x="2898648" y="5669280"/>
            <a:ext cx="3721608" cy="384048"/>
          </a:xfrm>
          <a:prstGeom prst="rect">
            <a:avLst/>
          </a:prstGeom>
          <a:noFill/>
        </p:spPr>
        <p:txBody>
          <a:bodyPr wrap="square" lIns="0" rIns="0" tIns="0" bIns="0" anchor="ctr">
            <a:spAutoFit/>
          </a:bodyPr>
          <a:lstStyle/>
          <a:p>
            <a:pPr algn="l">
              <a:lnSpc>
                <a:spcPct val="100000"/>
              </a:lnSpc>
              <a:spcBef>
                <a:spcPts val="0"/>
              </a:spcBef>
              <a:spcAft>
                <a:spcPts val="0"/>
              </a:spcAft>
            </a:pPr>
            <a:r>
              <a:rPr sz="1200" b="1" i="0">
                <a:solidFill>
                  <a:srgbClr val="FFFFFF"/>
                </a:solidFill>
                <a:latin typeface="Lato"/>
              </a:rPr>
              <a:t>ISS today. Commercial stations tomorrow.</a:t>
            </a:r>
          </a:p>
        </p:txBody>
      </p:sp>
      <p:sp>
        <p:nvSpPr>
          <p:cNvPr id="30" name="Rounded Rectangle 29"/>
          <p:cNvSpPr/>
          <p:nvPr/>
        </p:nvSpPr>
        <p:spPr>
          <a:xfrm>
            <a:off x="7232904" y="1399032"/>
            <a:ext cx="4453128" cy="4974336"/>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98079" y="1664208"/>
            <a:ext cx="3913632"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10243D"/>
                </a:solidFill>
                <a:latin typeface="Lato"/>
              </a:rPr>
              <a:t>STATION ECOSYSTEM COMPATIBILITY</a:t>
            </a:r>
          </a:p>
        </p:txBody>
      </p:sp>
      <p:sp>
        <p:nvSpPr>
          <p:cNvPr id="32" name="Rounded Rectangle 31"/>
          <p:cNvSpPr/>
          <p:nvPr/>
        </p:nvSpPr>
        <p:spPr>
          <a:xfrm>
            <a:off x="7498079" y="2029968"/>
            <a:ext cx="3913632" cy="621792"/>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26679" y="2029968"/>
            <a:ext cx="3456432" cy="621792"/>
          </a:xfrm>
          <a:prstGeom prst="rect">
            <a:avLst/>
          </a:prstGeom>
          <a:noFill/>
        </p:spPr>
        <p:txBody>
          <a:bodyPr wrap="square" lIns="0" rIns="0" tIns="0" bIns="0" anchor="ctr">
            <a:spAutoFit/>
          </a:bodyPr>
          <a:lstStyle/>
          <a:p>
            <a:pPr algn="l">
              <a:lnSpc>
                <a:spcPct val="100000"/>
              </a:lnSpc>
              <a:spcBef>
                <a:spcPts val="0"/>
              </a:spcBef>
              <a:spcAft>
                <a:spcPts val="0"/>
              </a:spcAft>
            </a:pPr>
            <a:r>
              <a:rPr sz="1000" b="1" i="0">
                <a:solidFill>
                  <a:srgbClr val="FFFFFF"/>
                </a:solidFill>
                <a:latin typeface="Lato"/>
              </a:rPr>
              <a:t>SAMUEL SPACE  /  PAYLOAD PLATFORM</a:t>
            </a:r>
          </a:p>
        </p:txBody>
      </p:sp>
      <p:cxnSp>
        <p:nvCxnSpPr>
          <p:cNvPr id="34" name="Connector 33"/>
          <p:cNvCxnSpPr/>
          <p:nvPr/>
        </p:nvCxnSpPr>
        <p:spPr>
          <a:xfrm>
            <a:off x="7808975" y="2651760"/>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7717536" y="2761488"/>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724912"/>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ISS</a:t>
            </a:r>
          </a:p>
        </p:txBody>
      </p:sp>
      <p:sp>
        <p:nvSpPr>
          <p:cNvPr id="37" name="TextBox 36"/>
          <p:cNvSpPr txBox="1"/>
          <p:nvPr/>
        </p:nvSpPr>
        <p:spPr>
          <a:xfrm>
            <a:off x="9253728" y="2724912"/>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Redwire BFF — active through ~2030</a:t>
            </a:r>
          </a:p>
        </p:txBody>
      </p:sp>
      <p:cxnSp>
        <p:nvCxnSpPr>
          <p:cNvPr id="38" name="Connector 37"/>
          <p:cNvCxnSpPr/>
          <p:nvPr/>
        </p:nvCxnSpPr>
        <p:spPr>
          <a:xfrm>
            <a:off x="7808975" y="3255264"/>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7717536" y="3364992"/>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65008" y="3328416"/>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Starlab</a:t>
            </a:r>
          </a:p>
        </p:txBody>
      </p:sp>
      <p:sp>
        <p:nvSpPr>
          <p:cNvPr id="41" name="TextBox 40"/>
          <p:cNvSpPr txBox="1"/>
          <p:nvPr/>
        </p:nvSpPr>
        <p:spPr>
          <a:xfrm>
            <a:off x="9253728" y="3328416"/>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Voyager/Airbus JV — targeting 2029</a:t>
            </a:r>
          </a:p>
        </p:txBody>
      </p:sp>
      <p:cxnSp>
        <p:nvCxnSpPr>
          <p:cNvPr id="42" name="Connector 41"/>
          <p:cNvCxnSpPr/>
          <p:nvPr/>
        </p:nvCxnSpPr>
        <p:spPr>
          <a:xfrm>
            <a:off x="7808975" y="3858768"/>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7717536" y="3968496"/>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65008" y="3931920"/>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Axiom Station</a:t>
            </a:r>
          </a:p>
        </p:txBody>
      </p:sp>
      <p:sp>
        <p:nvSpPr>
          <p:cNvPr id="45" name="TextBox 44"/>
          <p:cNvSpPr txBox="1"/>
          <p:nvPr/>
        </p:nvSpPr>
        <p:spPr>
          <a:xfrm>
            <a:off x="9253728" y="3931920"/>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First commercial modules ~2026–2028</a:t>
            </a:r>
          </a:p>
        </p:txBody>
      </p:sp>
      <p:cxnSp>
        <p:nvCxnSpPr>
          <p:cNvPr id="46" name="Connector 45"/>
          <p:cNvCxnSpPr/>
          <p:nvPr/>
        </p:nvCxnSpPr>
        <p:spPr>
          <a:xfrm>
            <a:off x="7808975" y="4462272"/>
            <a:ext cx="0" cy="402335"/>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7717536" y="4572000"/>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65008" y="4535424"/>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Orbital Reef</a:t>
            </a:r>
          </a:p>
        </p:txBody>
      </p:sp>
      <p:sp>
        <p:nvSpPr>
          <p:cNvPr id="49" name="TextBox 48"/>
          <p:cNvSpPr txBox="1"/>
          <p:nvPr/>
        </p:nvSpPr>
        <p:spPr>
          <a:xfrm>
            <a:off x="9253728" y="4535424"/>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Blue Origin/Sierra Space — CLD-funded</a:t>
            </a:r>
          </a:p>
        </p:txBody>
      </p:sp>
      <p:cxnSp>
        <p:nvCxnSpPr>
          <p:cNvPr id="50" name="Connector 49"/>
          <p:cNvCxnSpPr/>
          <p:nvPr/>
        </p:nvCxnSpPr>
        <p:spPr>
          <a:xfrm>
            <a:off x="7808975" y="5065776"/>
            <a:ext cx="0" cy="402336"/>
          </a:xfrm>
          <a:prstGeom prst="line">
            <a:avLst/>
          </a:prstGeom>
          <a:ln w="12700">
            <a:solidFill>
              <a:srgbClr val="00A58E"/>
            </a:solidFill>
          </a:ln>
        </p:spPr>
        <p:style>
          <a:lnRef idx="2">
            <a:schemeClr val="accent1"/>
          </a:lnRef>
          <a:fillRef idx="0">
            <a:schemeClr val="accent1"/>
          </a:fillRef>
          <a:effectRef idx="1">
            <a:schemeClr val="accent1"/>
          </a:effectRef>
          <a:fontRef idx="minor">
            <a:schemeClr val="tx1"/>
          </a:fontRef>
        </p:style>
      </p:cxnSp>
      <p:sp>
        <p:nvSpPr>
          <p:cNvPr id="51" name="Oval 50"/>
          <p:cNvSpPr/>
          <p:nvPr/>
        </p:nvSpPr>
        <p:spPr>
          <a:xfrm>
            <a:off x="7717536" y="5175504"/>
            <a:ext cx="182880" cy="182880"/>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65008" y="5138928"/>
            <a:ext cx="1170432" cy="20116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10243D"/>
                </a:solidFill>
                <a:latin typeface="Lato"/>
              </a:rPr>
              <a:t>Vast Haven-1</a:t>
            </a:r>
          </a:p>
        </p:txBody>
      </p:sp>
      <p:sp>
        <p:nvSpPr>
          <p:cNvPr id="53" name="TextBox 52"/>
          <p:cNvSpPr txBox="1"/>
          <p:nvPr/>
        </p:nvSpPr>
        <p:spPr>
          <a:xfrm>
            <a:off x="9253728" y="5138928"/>
            <a:ext cx="1938528" cy="292608"/>
          </a:xfrm>
          <a:prstGeom prst="rect">
            <a:avLst/>
          </a:prstGeom>
          <a:noFill/>
        </p:spPr>
        <p:txBody>
          <a:bodyPr wrap="square" lIns="0" rIns="0" tIns="0" bIns="0" anchor="t">
            <a:spAutoFit/>
          </a:bodyPr>
          <a:lstStyle/>
          <a:p>
            <a:pPr algn="l">
              <a:lnSpc>
                <a:spcPct val="100000"/>
              </a:lnSpc>
              <a:spcBef>
                <a:spcPts val="0"/>
              </a:spcBef>
              <a:spcAft>
                <a:spcPts val="0"/>
              </a:spcAft>
            </a:pPr>
            <a:r>
              <a:rPr sz="740" b="0" i="0">
                <a:solidFill>
                  <a:srgbClr val="5E7082"/>
                </a:solidFill>
                <a:latin typeface="Lato"/>
              </a:rPr>
              <a:t>Dedicated commercial station — 2026 target</a:t>
            </a:r>
          </a:p>
        </p:txBody>
      </p:sp>
      <p:sp>
        <p:nvSpPr>
          <p:cNvPr id="54" name="TextBox 53"/>
          <p:cNvSpPr txBox="1"/>
          <p:nvPr/>
        </p:nvSpPr>
        <p:spPr>
          <a:xfrm>
            <a:off x="7498079" y="6053328"/>
            <a:ext cx="3886200" cy="201168"/>
          </a:xfrm>
          <a:prstGeom prst="rect">
            <a:avLst/>
          </a:prstGeom>
          <a:noFill/>
        </p:spPr>
        <p:txBody>
          <a:bodyPr wrap="square" lIns="0" rIns="0" tIns="0" bIns="0" anchor="t">
            <a:spAutoFit/>
          </a:bodyPr>
          <a:lstStyle/>
          <a:p>
            <a:pPr algn="l">
              <a:lnSpc>
                <a:spcPct val="100000"/>
              </a:lnSpc>
              <a:spcBef>
                <a:spcPts val="0"/>
              </a:spcBef>
              <a:spcAft>
                <a:spcPts val="0"/>
              </a:spcAft>
            </a:pPr>
            <a:r>
              <a:rPr sz="650" b="0" i="1">
                <a:solidFill>
                  <a:srgbClr val="8492A0"/>
                </a:solidFill>
                <a:latin typeface="Lato"/>
              </a:rPr>
              <a:t>Market context only — station names do not indicate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EXECUTION PLAN</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Four-Phase Technology &amp; Commercialisation Roadmap</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12 / 21</a:t>
            </a:r>
          </a:p>
        </p:txBody>
      </p:sp>
      <p:sp>
        <p:nvSpPr>
          <p:cNvPr id="11" name="Rounded Rectangle 10"/>
          <p:cNvSpPr/>
          <p:nvPr/>
        </p:nvSpPr>
        <p:spPr>
          <a:xfrm>
            <a:off x="502920" y="1426464"/>
            <a:ext cx="2624328" cy="4946904"/>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1426464"/>
            <a:ext cx="2624328" cy="73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0A58E"/>
                </a:solidFill>
                <a:latin typeface="Lato"/>
              </a:rPr>
              <a:t>PHASE 1</a:t>
            </a:r>
          </a:p>
        </p:txBody>
      </p:sp>
      <p:sp>
        <p:nvSpPr>
          <p:cNvPr id="14" name="TextBox 13"/>
          <p:cNvSpPr txBox="1"/>
          <p:nvPr/>
        </p:nvSpPr>
        <p:spPr>
          <a:xfrm>
            <a:off x="1847088"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8492A0"/>
                </a:solidFill>
                <a:latin typeface="Lato"/>
              </a:rPr>
              <a:t>YEARS 1–2</a:t>
            </a:r>
          </a:p>
        </p:txBody>
      </p:sp>
      <p:sp>
        <p:nvSpPr>
          <p:cNvPr id="15" name="TextBox 14"/>
          <p:cNvSpPr txBox="1"/>
          <p:nvPr/>
        </p:nvSpPr>
        <p:spPr>
          <a:xfrm>
            <a:off x="713232"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10243D"/>
                </a:solidFill>
                <a:latin typeface="Lato"/>
              </a:rPr>
              <a:t>Platform +
Wound Care</a:t>
            </a:r>
          </a:p>
        </p:txBody>
      </p:sp>
      <p:cxnSp>
        <p:nvCxnSpPr>
          <p:cNvPr id="16" name="Connector 15"/>
          <p:cNvCxnSpPr/>
          <p:nvPr/>
        </p:nvCxnSpPr>
        <p:spPr>
          <a:xfrm>
            <a:off x="713232" y="2907792"/>
            <a:ext cx="2203704"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2376" y="3291840"/>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Flight-qualify payload hardware</a:t>
            </a:r>
          </a:p>
        </p:txBody>
      </p:sp>
      <p:sp>
        <p:nvSpPr>
          <p:cNvPr id="19" name="Rounded Rectangle 18"/>
          <p:cNvSpPr/>
          <p:nvPr/>
        </p:nvSpPr>
        <p:spPr>
          <a:xfrm>
            <a:off x="722376" y="3831336"/>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Commercial wound-care trials</a:t>
            </a:r>
          </a:p>
        </p:txBody>
      </p:sp>
      <p:sp>
        <p:nvSpPr>
          <p:cNvPr id="21" name="Rounded Rectangle 20"/>
          <p:cNvSpPr/>
          <p:nvPr/>
        </p:nvSpPr>
        <p:spPr>
          <a:xfrm>
            <a:off x="722376" y="4370832"/>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NASA InSPA Phase 1 grants</a:t>
            </a:r>
          </a:p>
        </p:txBody>
      </p:sp>
      <p:sp>
        <p:nvSpPr>
          <p:cNvPr id="23" name="Rounded Rectangle 22"/>
          <p:cNvSpPr/>
          <p:nvPr/>
        </p:nvSpPr>
        <p:spPr>
          <a:xfrm>
            <a:off x="722376" y="4910328"/>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Research models for pharma CROs</a:t>
            </a:r>
          </a:p>
        </p:txBody>
      </p:sp>
      <p:sp>
        <p:nvSpPr>
          <p:cNvPr id="25" name="Rounded Rectangle 24"/>
          <p:cNvSpPr/>
          <p:nvPr/>
        </p:nvSpPr>
        <p:spPr>
          <a:xfrm>
            <a:off x="713232" y="5779008"/>
            <a:ext cx="2203704" cy="35661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4–6</a:t>
            </a:r>
          </a:p>
        </p:txBody>
      </p:sp>
      <p:sp>
        <p:nvSpPr>
          <p:cNvPr id="27" name="Rounded Rectangle 26"/>
          <p:cNvSpPr/>
          <p:nvPr/>
        </p:nvSpPr>
        <p:spPr>
          <a:xfrm>
            <a:off x="3319272" y="1426464"/>
            <a:ext cx="2624328" cy="494690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19272" y="1426464"/>
            <a:ext cx="2624328" cy="73152"/>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29584"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5E91B5"/>
                </a:solidFill>
                <a:latin typeface="Lato"/>
              </a:rPr>
              <a:t>PHASE 2</a:t>
            </a:r>
          </a:p>
        </p:txBody>
      </p:sp>
      <p:sp>
        <p:nvSpPr>
          <p:cNvPr id="30" name="TextBox 29"/>
          <p:cNvSpPr txBox="1"/>
          <p:nvPr/>
        </p:nvSpPr>
        <p:spPr>
          <a:xfrm>
            <a:off x="4663440"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8492A0"/>
                </a:solidFill>
                <a:latin typeface="Lato"/>
              </a:rPr>
              <a:t>YEARS 3–5</a:t>
            </a:r>
          </a:p>
        </p:txBody>
      </p:sp>
      <p:sp>
        <p:nvSpPr>
          <p:cNvPr id="31" name="TextBox 30"/>
          <p:cNvSpPr txBox="1"/>
          <p:nvPr/>
        </p:nvSpPr>
        <p:spPr>
          <a:xfrm>
            <a:off x="3529584"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10243D"/>
                </a:solidFill>
                <a:latin typeface="Lato"/>
              </a:rPr>
              <a:t>Orthopedic +
Cardiac</a:t>
            </a:r>
          </a:p>
        </p:txBody>
      </p:sp>
      <p:cxnSp>
        <p:nvCxnSpPr>
          <p:cNvPr id="32" name="Connector 31"/>
          <p:cNvCxnSpPr/>
          <p:nvPr/>
        </p:nvCxnSpPr>
        <p:spPr>
          <a:xfrm>
            <a:off x="3529584" y="2907792"/>
            <a:ext cx="2203704"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3538728" y="3291840"/>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721608"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510(k) wound-care filing</a:t>
            </a:r>
          </a:p>
        </p:txBody>
      </p:sp>
      <p:sp>
        <p:nvSpPr>
          <p:cNvPr id="35" name="Rounded Rectangle 34"/>
          <p:cNvSpPr/>
          <p:nvPr/>
        </p:nvSpPr>
        <p:spPr>
          <a:xfrm>
            <a:off x="3538728" y="3831336"/>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721608"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Orthopedic graft program</a:t>
            </a:r>
          </a:p>
        </p:txBody>
      </p:sp>
      <p:sp>
        <p:nvSpPr>
          <p:cNvPr id="37" name="Rounded Rectangle 36"/>
          <p:cNvSpPr/>
          <p:nvPr/>
        </p:nvSpPr>
        <p:spPr>
          <a:xfrm>
            <a:off x="3538728" y="4370832"/>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721608"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Cardiac patch preclinical work</a:t>
            </a:r>
          </a:p>
        </p:txBody>
      </p:sp>
      <p:sp>
        <p:nvSpPr>
          <p:cNvPr id="39" name="Rounded Rectangle 38"/>
          <p:cNvSpPr/>
          <p:nvPr/>
        </p:nvSpPr>
        <p:spPr>
          <a:xfrm>
            <a:off x="3538728" y="4910328"/>
            <a:ext cx="73152" cy="73152"/>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721608"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Series B financing</a:t>
            </a:r>
          </a:p>
        </p:txBody>
      </p:sp>
      <p:sp>
        <p:nvSpPr>
          <p:cNvPr id="41" name="Rounded Rectangle 40"/>
          <p:cNvSpPr/>
          <p:nvPr/>
        </p:nvSpPr>
        <p:spPr>
          <a:xfrm>
            <a:off x="3529584" y="5779008"/>
            <a:ext cx="2203704" cy="356616"/>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529584"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6–8</a:t>
            </a:r>
          </a:p>
        </p:txBody>
      </p:sp>
      <p:sp>
        <p:nvSpPr>
          <p:cNvPr id="43" name="Rounded Rectangle 42"/>
          <p:cNvSpPr/>
          <p:nvPr/>
        </p:nvSpPr>
        <p:spPr>
          <a:xfrm>
            <a:off x="6135624" y="1426464"/>
            <a:ext cx="2624328" cy="4946904"/>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35624" y="1426464"/>
            <a:ext cx="2624328" cy="73152"/>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345936"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7D6CB0"/>
                </a:solidFill>
                <a:latin typeface="Lato"/>
              </a:rPr>
              <a:t>PHASE 3</a:t>
            </a:r>
          </a:p>
        </p:txBody>
      </p:sp>
      <p:sp>
        <p:nvSpPr>
          <p:cNvPr id="46" name="TextBox 45"/>
          <p:cNvSpPr txBox="1"/>
          <p:nvPr/>
        </p:nvSpPr>
        <p:spPr>
          <a:xfrm>
            <a:off x="7479792"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8492A0"/>
                </a:solidFill>
                <a:latin typeface="Lato"/>
              </a:rPr>
              <a:t>YEARS 6–9</a:t>
            </a:r>
          </a:p>
        </p:txBody>
      </p:sp>
      <p:sp>
        <p:nvSpPr>
          <p:cNvPr id="47" name="TextBox 46"/>
          <p:cNvSpPr txBox="1"/>
          <p:nvPr/>
        </p:nvSpPr>
        <p:spPr>
          <a:xfrm>
            <a:off x="6345936"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10243D"/>
                </a:solidFill>
                <a:latin typeface="Lato"/>
              </a:rPr>
              <a:t>Retinal +
Vascular</a:t>
            </a:r>
          </a:p>
        </p:txBody>
      </p:sp>
      <p:cxnSp>
        <p:nvCxnSpPr>
          <p:cNvPr id="48" name="Connector 47"/>
          <p:cNvCxnSpPr/>
          <p:nvPr/>
        </p:nvCxnSpPr>
        <p:spPr>
          <a:xfrm>
            <a:off x="6345936" y="2907792"/>
            <a:ext cx="2203704" cy="0"/>
          </a:xfrm>
          <a:prstGeom prst="line">
            <a:avLst/>
          </a:prstGeom>
          <a:ln w="8890">
            <a:solidFill>
              <a:srgbClr val="CBD7DC"/>
            </a:solidFill>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6355080" y="3291840"/>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37960"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Retinal construct trials</a:t>
            </a:r>
          </a:p>
        </p:txBody>
      </p:sp>
      <p:sp>
        <p:nvSpPr>
          <p:cNvPr id="51" name="Rounded Rectangle 50"/>
          <p:cNvSpPr/>
          <p:nvPr/>
        </p:nvSpPr>
        <p:spPr>
          <a:xfrm>
            <a:off x="6355080" y="3831336"/>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37960"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FDA PMA pathway engagement</a:t>
            </a:r>
          </a:p>
        </p:txBody>
      </p:sp>
      <p:sp>
        <p:nvSpPr>
          <p:cNvPr id="53" name="Rounded Rectangle 52"/>
          <p:cNvSpPr/>
          <p:nvPr/>
        </p:nvSpPr>
        <p:spPr>
          <a:xfrm>
            <a:off x="6355080" y="4370832"/>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537960"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Expand to commercial stations</a:t>
            </a:r>
          </a:p>
        </p:txBody>
      </p:sp>
      <p:sp>
        <p:nvSpPr>
          <p:cNvPr id="55" name="Rounded Rectangle 54"/>
          <p:cNvSpPr/>
          <p:nvPr/>
        </p:nvSpPr>
        <p:spPr>
          <a:xfrm>
            <a:off x="6355080" y="4910328"/>
            <a:ext cx="73152" cy="73152"/>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Series C / pre-IPO financing</a:t>
            </a:r>
          </a:p>
        </p:txBody>
      </p:sp>
      <p:sp>
        <p:nvSpPr>
          <p:cNvPr id="57" name="Rounded Rectangle 56"/>
          <p:cNvSpPr/>
          <p:nvPr/>
        </p:nvSpPr>
        <p:spPr>
          <a:xfrm>
            <a:off x="6345936" y="5779008"/>
            <a:ext cx="2203704" cy="356616"/>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345936"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7–9</a:t>
            </a:r>
          </a:p>
        </p:txBody>
      </p:sp>
      <p:sp>
        <p:nvSpPr>
          <p:cNvPr id="59" name="Rounded Rectangle 58"/>
          <p:cNvSpPr/>
          <p:nvPr/>
        </p:nvSpPr>
        <p:spPr>
          <a:xfrm>
            <a:off x="8951976" y="1426464"/>
            <a:ext cx="2624328" cy="494690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951976" y="1426464"/>
            <a:ext cx="2624328" cy="731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62288" y="1682496"/>
            <a:ext cx="1188720"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0A58E"/>
                </a:solidFill>
                <a:latin typeface="Lato"/>
              </a:rPr>
              <a:t>PHASE 4</a:t>
            </a:r>
          </a:p>
        </p:txBody>
      </p:sp>
      <p:sp>
        <p:nvSpPr>
          <p:cNvPr id="62" name="TextBox 61"/>
          <p:cNvSpPr txBox="1"/>
          <p:nvPr/>
        </p:nvSpPr>
        <p:spPr>
          <a:xfrm>
            <a:off x="10296144" y="1682496"/>
            <a:ext cx="1060704" cy="201168"/>
          </a:xfrm>
          <a:prstGeom prst="rect">
            <a:avLst/>
          </a:prstGeom>
          <a:noFill/>
        </p:spPr>
        <p:txBody>
          <a:bodyPr wrap="square" lIns="0" rIns="0" tIns="0" bIns="0" anchor="t">
            <a:spAutoFit/>
          </a:bodyPr>
          <a:lstStyle/>
          <a:p>
            <a:pPr algn="r">
              <a:lnSpc>
                <a:spcPct val="100000"/>
              </a:lnSpc>
              <a:spcBef>
                <a:spcPts val="0"/>
              </a:spcBef>
              <a:spcAft>
                <a:spcPts val="0"/>
              </a:spcAft>
            </a:pPr>
            <a:r>
              <a:rPr sz="740" b="1" i="0">
                <a:solidFill>
                  <a:srgbClr val="B9C7D2"/>
                </a:solidFill>
                <a:latin typeface="Lato"/>
              </a:rPr>
              <a:t>YEAR 10+</a:t>
            </a:r>
          </a:p>
        </p:txBody>
      </p:sp>
      <p:sp>
        <p:nvSpPr>
          <p:cNvPr id="63" name="TextBox 62"/>
          <p:cNvSpPr txBox="1"/>
          <p:nvPr/>
        </p:nvSpPr>
        <p:spPr>
          <a:xfrm>
            <a:off x="9162288" y="2103120"/>
            <a:ext cx="2148840" cy="667512"/>
          </a:xfrm>
          <a:prstGeom prst="rect">
            <a:avLst/>
          </a:prstGeom>
          <a:noFill/>
        </p:spPr>
        <p:txBody>
          <a:bodyPr wrap="square" lIns="0" rIns="0" tIns="0" bIns="0" anchor="t">
            <a:spAutoFit/>
          </a:bodyPr>
          <a:lstStyle/>
          <a:p>
            <a:pPr algn="l">
              <a:lnSpc>
                <a:spcPct val="90000"/>
              </a:lnSpc>
              <a:spcBef>
                <a:spcPts val="0"/>
              </a:spcBef>
              <a:spcAft>
                <a:spcPts val="0"/>
              </a:spcAft>
            </a:pPr>
            <a:r>
              <a:rPr sz="1600" b="1" i="0">
                <a:solidFill>
                  <a:srgbClr val="FFFFFF"/>
                </a:solidFill>
                <a:latin typeface="Lato"/>
              </a:rPr>
              <a:t>Whole-Organ
Platform</a:t>
            </a:r>
          </a:p>
        </p:txBody>
      </p:sp>
      <p:cxnSp>
        <p:nvCxnSpPr>
          <p:cNvPr id="64" name="Connector 63"/>
          <p:cNvCxnSpPr/>
          <p:nvPr/>
        </p:nvCxnSpPr>
        <p:spPr>
          <a:xfrm>
            <a:off x="9162288" y="2907792"/>
            <a:ext cx="2203704" cy="0"/>
          </a:xfrm>
          <a:prstGeom prst="line">
            <a:avLst/>
          </a:prstGeom>
          <a:ln w="8890">
            <a:solidFill>
              <a:srgbClr val="3B5064"/>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9171432" y="3291840"/>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54312" y="3182112"/>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Vascularised organ constructs</a:t>
            </a:r>
          </a:p>
        </p:txBody>
      </p:sp>
      <p:sp>
        <p:nvSpPr>
          <p:cNvPr id="67" name="Rounded Rectangle 66"/>
          <p:cNvSpPr/>
          <p:nvPr/>
        </p:nvSpPr>
        <p:spPr>
          <a:xfrm>
            <a:off x="9171432" y="3831336"/>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354312" y="3721608"/>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Commercial station scale-up</a:t>
            </a:r>
          </a:p>
        </p:txBody>
      </p:sp>
      <p:sp>
        <p:nvSpPr>
          <p:cNvPr id="69" name="Rounded Rectangle 68"/>
          <p:cNvSpPr/>
          <p:nvPr/>
        </p:nvSpPr>
        <p:spPr>
          <a:xfrm>
            <a:off x="9171432" y="4370832"/>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354312" y="4261104"/>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Platform licensing to pharma</a:t>
            </a:r>
          </a:p>
        </p:txBody>
      </p:sp>
      <p:sp>
        <p:nvSpPr>
          <p:cNvPr id="71" name="Rounded Rectangle 70"/>
          <p:cNvSpPr/>
          <p:nvPr/>
        </p:nvSpPr>
        <p:spPr>
          <a:xfrm>
            <a:off x="9171432" y="4910328"/>
            <a:ext cx="73152" cy="73152"/>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354312" y="4800600"/>
            <a:ext cx="1956815" cy="539496"/>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CAD5DE"/>
                </a:solidFill>
                <a:latin typeface="Lato"/>
              </a:rPr>
              <a:t>IPO or strategic exit</a:t>
            </a:r>
          </a:p>
        </p:txBody>
      </p:sp>
      <p:sp>
        <p:nvSpPr>
          <p:cNvPr id="73" name="Rounded Rectangle 72"/>
          <p:cNvSpPr/>
          <p:nvPr/>
        </p:nvSpPr>
        <p:spPr>
          <a:xfrm>
            <a:off x="9162288" y="5779008"/>
            <a:ext cx="2203704" cy="356616"/>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162288" y="5779008"/>
            <a:ext cx="2203704" cy="356616"/>
          </a:xfrm>
          <a:prstGeom prst="rect">
            <a:avLst/>
          </a:prstGeom>
          <a:noFill/>
        </p:spPr>
        <p:txBody>
          <a:bodyPr wrap="square" lIns="0" rIns="0" tIns="0" bIns="0" anchor="ctr">
            <a:spAutoFit/>
          </a:bodyPr>
          <a:lstStyle/>
          <a:p>
            <a:pPr algn="ctr">
              <a:lnSpc>
                <a:spcPct val="100000"/>
              </a:lnSpc>
              <a:spcBef>
                <a:spcPts val="0"/>
              </a:spcBef>
              <a:spcAft>
                <a:spcPts val="0"/>
              </a:spcAft>
            </a:pPr>
            <a:r>
              <a:rPr sz="819" b="1" i="0">
                <a:solidFill>
                  <a:srgbClr val="FFFFFF"/>
                </a:solidFill>
                <a:latin typeface="Lato"/>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COMPETITIVE LANDSCAPE</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Samuel Space Targets the Space-Based Clinical Quadrant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13 / 21</a:t>
            </a:r>
          </a:p>
        </p:txBody>
      </p:sp>
      <p:sp>
        <p:nvSpPr>
          <p:cNvPr id="11" name="Rounded Rectangle 10"/>
          <p:cNvSpPr/>
          <p:nvPr/>
        </p:nvSpPr>
        <p:spPr>
          <a:xfrm>
            <a:off x="1234440" y="1481328"/>
            <a:ext cx="10058400" cy="480060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234440" y="1481328"/>
            <a:ext cx="5029200" cy="2400300"/>
          </a:xfrm>
          <a:prstGeom prst="rect">
            <a:avLst/>
          </a:prstGeom>
          <a:solidFill>
            <a:srgbClr val="F1F5F8"/>
          </a:solidFill>
          <a:ln w="9525">
            <a:solidFill>
              <a:srgbClr val="F1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63640" y="1481328"/>
            <a:ext cx="5029200" cy="2400300"/>
          </a:xfrm>
          <a:prstGeom prst="rect">
            <a:avLst/>
          </a:prstGeom>
          <a:solidFill>
            <a:srgbClr val="ECF8F4"/>
          </a:solidFill>
          <a:ln w="9525">
            <a:solidFill>
              <a:srgbClr val="ECF8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234440" y="3881628"/>
            <a:ext cx="5029200" cy="2400300"/>
          </a:xfrm>
          <a:prstGeom prst="rect">
            <a:avLst/>
          </a:prstGeom>
          <a:solidFill>
            <a:srgbClr val="F5F6F7"/>
          </a:solidFill>
          <a:ln w="9525">
            <a:solidFill>
              <a:srgbClr val="F5F6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3881628"/>
            <a:ext cx="5029200" cy="2400300"/>
          </a:xfrm>
          <a:prstGeom prst="rect">
            <a:avLst/>
          </a:prstGeom>
          <a:solidFill>
            <a:srgbClr val="F1F5F8"/>
          </a:solidFill>
          <a:ln w="9525">
            <a:solidFill>
              <a:srgbClr val="F1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263640" y="1481328"/>
            <a:ext cx="0" cy="4800600"/>
          </a:xfrm>
          <a:prstGeom prst="line">
            <a:avLst/>
          </a:prstGeom>
          <a:ln w="12700">
            <a:solidFill>
              <a:srgbClr val="B7C6CE"/>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234440" y="3881628"/>
            <a:ext cx="10058400" cy="0"/>
          </a:xfrm>
          <a:prstGeom prst="line">
            <a:avLst/>
          </a:prstGeom>
          <a:ln w="12700">
            <a:solidFill>
              <a:srgbClr val="B7C6CE"/>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1463040" y="1664208"/>
            <a:ext cx="1280160" cy="274320"/>
          </a:xfrm>
          <a:prstGeom prst="roundRect">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17904" y="1664208"/>
            <a:ext cx="1170431" cy="274320"/>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5E7082"/>
                </a:solidFill>
                <a:latin typeface="Lato"/>
              </a:rPr>
              <a:t>EARTH-BASED</a:t>
            </a:r>
          </a:p>
        </p:txBody>
      </p:sp>
      <p:sp>
        <p:nvSpPr>
          <p:cNvPr id="20" name="Rounded Rectangle 19"/>
          <p:cNvSpPr/>
          <p:nvPr/>
        </p:nvSpPr>
        <p:spPr>
          <a:xfrm>
            <a:off x="9784080" y="1664208"/>
            <a:ext cx="1280160" cy="2743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38944" y="1664208"/>
            <a:ext cx="1170431" cy="274320"/>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SPACE-BASED</a:t>
            </a:r>
          </a:p>
        </p:txBody>
      </p:sp>
      <p:sp>
        <p:nvSpPr>
          <p:cNvPr id="22" name="TextBox 21"/>
          <p:cNvSpPr txBox="1"/>
          <p:nvPr/>
        </p:nvSpPr>
        <p:spPr>
          <a:xfrm>
            <a:off x="1463040" y="2139696"/>
            <a:ext cx="1554480" cy="164592"/>
          </a:xfrm>
          <a:prstGeom prst="rect">
            <a:avLst/>
          </a:prstGeom>
          <a:noFill/>
        </p:spPr>
        <p:txBody>
          <a:bodyPr wrap="square" lIns="0" rIns="0" tIns="0" bIns="0" anchor="t">
            <a:spAutoFit/>
          </a:bodyPr>
          <a:lstStyle/>
          <a:p>
            <a:pPr algn="l">
              <a:lnSpc>
                <a:spcPct val="100000"/>
              </a:lnSpc>
              <a:spcBef>
                <a:spcPts val="0"/>
              </a:spcBef>
              <a:spcAft>
                <a:spcPts val="0"/>
              </a:spcAft>
            </a:pPr>
            <a:r>
              <a:rPr sz="660" b="1" i="0">
                <a:solidFill>
                  <a:srgbClr val="5E7082"/>
                </a:solidFill>
                <a:latin typeface="Lato"/>
              </a:rPr>
              <a:t>CLINICAL / COMMERCIAL</a:t>
            </a:r>
          </a:p>
        </p:txBody>
      </p:sp>
      <p:sp>
        <p:nvSpPr>
          <p:cNvPr id="23" name="TextBox 22"/>
          <p:cNvSpPr txBox="1"/>
          <p:nvPr/>
        </p:nvSpPr>
        <p:spPr>
          <a:xfrm>
            <a:off x="1463040" y="4137660"/>
            <a:ext cx="1234440" cy="164592"/>
          </a:xfrm>
          <a:prstGeom prst="rect">
            <a:avLst/>
          </a:prstGeom>
          <a:noFill/>
        </p:spPr>
        <p:txBody>
          <a:bodyPr wrap="square" lIns="0" rIns="0" tIns="0" bIns="0" anchor="t">
            <a:spAutoFit/>
          </a:bodyPr>
          <a:lstStyle/>
          <a:p>
            <a:pPr algn="l">
              <a:lnSpc>
                <a:spcPct val="100000"/>
              </a:lnSpc>
              <a:spcBef>
                <a:spcPts val="0"/>
              </a:spcBef>
              <a:spcAft>
                <a:spcPts val="0"/>
              </a:spcAft>
            </a:pPr>
            <a:r>
              <a:rPr sz="660" b="1" i="0">
                <a:solidFill>
                  <a:srgbClr val="5E7082"/>
                </a:solidFill>
                <a:latin typeface="Lato"/>
              </a:rPr>
              <a:t>EARLY RESEARCH</a:t>
            </a:r>
          </a:p>
        </p:txBody>
      </p:sp>
      <p:sp>
        <p:nvSpPr>
          <p:cNvPr id="24" name="Oval 23"/>
          <p:cNvSpPr/>
          <p:nvPr/>
        </p:nvSpPr>
        <p:spPr>
          <a:xfrm>
            <a:off x="2706624" y="2889504"/>
            <a:ext cx="164592" cy="164592"/>
          </a:xfrm>
          <a:prstGeom prst="ellipse">
            <a:avLst/>
          </a:prstGeom>
          <a:solidFill>
            <a:srgbClr val="10243D"/>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94560" y="3108960"/>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Cellink / BICO</a:t>
            </a:r>
          </a:p>
        </p:txBody>
      </p:sp>
      <p:sp>
        <p:nvSpPr>
          <p:cNvPr id="26" name="Oval 25"/>
          <p:cNvSpPr/>
          <p:nvPr/>
        </p:nvSpPr>
        <p:spPr>
          <a:xfrm>
            <a:off x="2935224" y="4325112"/>
            <a:ext cx="164592" cy="164592"/>
          </a:xfrm>
          <a:prstGeom prst="ellipse">
            <a:avLst/>
          </a:prstGeom>
          <a:solidFill>
            <a:srgbClr val="10243D"/>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423160" y="454456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Organovo</a:t>
            </a:r>
          </a:p>
        </p:txBody>
      </p:sp>
      <p:sp>
        <p:nvSpPr>
          <p:cNvPr id="28" name="Oval 27"/>
          <p:cNvSpPr/>
          <p:nvPr/>
        </p:nvSpPr>
        <p:spPr>
          <a:xfrm>
            <a:off x="3959352" y="2404872"/>
            <a:ext cx="164592" cy="164592"/>
          </a:xfrm>
          <a:prstGeom prst="ellipse">
            <a:avLst/>
          </a:prstGeom>
          <a:solidFill>
            <a:srgbClr val="10243D"/>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262432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3D Systems (Med)</a:t>
            </a:r>
          </a:p>
        </p:txBody>
      </p:sp>
      <p:sp>
        <p:nvSpPr>
          <p:cNvPr id="30" name="Oval 29"/>
          <p:cNvSpPr/>
          <p:nvPr/>
        </p:nvSpPr>
        <p:spPr>
          <a:xfrm>
            <a:off x="8101583" y="3593591"/>
            <a:ext cx="164592" cy="164592"/>
          </a:xfrm>
          <a:prstGeom prst="ellipse">
            <a:avLst/>
          </a:prstGeom>
          <a:solidFill>
            <a:srgbClr val="5E91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9519" y="381304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Redwire BFF</a:t>
            </a:r>
          </a:p>
        </p:txBody>
      </p:sp>
      <p:sp>
        <p:nvSpPr>
          <p:cNvPr id="32" name="Oval 31"/>
          <p:cNvSpPr/>
          <p:nvPr/>
        </p:nvSpPr>
        <p:spPr>
          <a:xfrm>
            <a:off x="9317736" y="2770632"/>
            <a:ext cx="164592" cy="164592"/>
          </a:xfrm>
          <a:prstGeom prst="ellipse">
            <a:avLst/>
          </a:prstGeom>
          <a:solidFill>
            <a:srgbClr val="7D6CB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805672" y="2990088"/>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LambdaVision</a:t>
            </a:r>
          </a:p>
        </p:txBody>
      </p:sp>
      <p:sp>
        <p:nvSpPr>
          <p:cNvPr id="34" name="Oval 33"/>
          <p:cNvSpPr/>
          <p:nvPr/>
        </p:nvSpPr>
        <p:spPr>
          <a:xfrm>
            <a:off x="7278624" y="4901184"/>
            <a:ext cx="164592" cy="164592"/>
          </a:xfrm>
          <a:prstGeom prst="ellipse">
            <a:avLst/>
          </a:prstGeom>
          <a:solidFill>
            <a:srgbClr val="5E91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66560" y="5120640"/>
            <a:ext cx="1188720" cy="219456"/>
          </a:xfrm>
          <a:prstGeom prst="rect">
            <a:avLst/>
          </a:prstGeom>
          <a:noFill/>
        </p:spPr>
        <p:txBody>
          <a:bodyPr wrap="square" lIns="0" rIns="0" tIns="0" bIns="0" anchor="t">
            <a:spAutoFit/>
          </a:bodyPr>
          <a:lstStyle/>
          <a:p>
            <a:pPr algn="ctr">
              <a:lnSpc>
                <a:spcPct val="100000"/>
              </a:lnSpc>
              <a:spcBef>
                <a:spcPts val="0"/>
              </a:spcBef>
              <a:spcAft>
                <a:spcPts val="0"/>
              </a:spcAft>
            </a:pPr>
            <a:r>
              <a:rPr sz="740" b="1" i="0">
                <a:solidFill>
                  <a:srgbClr val="23384D"/>
                </a:solidFill>
                <a:latin typeface="Lato"/>
              </a:rPr>
              <a:t>ROSCOSMOS / 3D BPS</a:t>
            </a:r>
          </a:p>
        </p:txBody>
      </p:sp>
      <p:sp>
        <p:nvSpPr>
          <p:cNvPr id="36" name="Oval 35"/>
          <p:cNvSpPr/>
          <p:nvPr/>
        </p:nvSpPr>
        <p:spPr>
          <a:xfrm>
            <a:off x="7552944" y="4297680"/>
            <a:ext cx="146304" cy="146304"/>
          </a:xfrm>
          <a:prstGeom prst="ellipse">
            <a:avLst/>
          </a:prstGeom>
          <a:solidFill>
            <a:srgbClr val="FFFFFF"/>
          </a:solidFill>
          <a:ln w="1397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14616" y="4498848"/>
            <a:ext cx="822960" cy="182880"/>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087C71"/>
                </a:solidFill>
                <a:latin typeface="Lato"/>
              </a:rPr>
              <a:t>Entry</a:t>
            </a:r>
          </a:p>
        </p:txBody>
      </p:sp>
      <p:cxnSp>
        <p:nvCxnSpPr>
          <p:cNvPr id="38" name="Connector 37"/>
          <p:cNvCxnSpPr/>
          <p:nvPr/>
        </p:nvCxnSpPr>
        <p:spPr>
          <a:xfrm flipV="1">
            <a:off x="7735823" y="2450592"/>
            <a:ext cx="1636777" cy="1810512"/>
          </a:xfrm>
          <a:prstGeom prst="line">
            <a:avLst/>
          </a:prstGeom>
          <a:ln w="21590">
            <a:solidFill>
              <a:srgbClr val="00A58E"/>
            </a:solidFill>
          </a:ln>
        </p:spPr>
        <p:style>
          <a:lnRef idx="2">
            <a:schemeClr val="accent1"/>
          </a:lnRef>
          <a:fillRef idx="0">
            <a:schemeClr val="accent1"/>
          </a:fillRef>
          <a:effectRef idx="1">
            <a:schemeClr val="accent1"/>
          </a:effectRef>
          <a:fontRef idx="minor">
            <a:schemeClr val="tx1"/>
          </a:fontRef>
        </p:style>
      </p:cxnSp>
      <p:sp>
        <p:nvSpPr>
          <p:cNvPr id="39" name="Isosceles Triangle 38"/>
          <p:cNvSpPr/>
          <p:nvPr/>
        </p:nvSpPr>
        <p:spPr>
          <a:xfrm rot="2700000">
            <a:off x="9363456" y="2368296"/>
            <a:ext cx="164592" cy="164592"/>
          </a:xfrm>
          <a:prstGeom prst="triangle">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63456" y="2103120"/>
            <a:ext cx="329184" cy="329184"/>
          </a:xfrm>
          <a:prstGeom prst="ellipse">
            <a:avLst/>
          </a:prstGeom>
          <a:solidFill>
            <a:srgbClr val="FFFFFF"/>
          </a:solidFill>
          <a:ln w="2794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445752" y="2185416"/>
            <a:ext cx="164592" cy="164592"/>
          </a:xfrm>
          <a:prstGeom prst="ellipse">
            <a:avLst/>
          </a:prstGeom>
          <a:solidFill>
            <a:srgbClr val="00A58E"/>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784080" y="2029968"/>
            <a:ext cx="1207008" cy="585216"/>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02952" y="2066543"/>
            <a:ext cx="969264" cy="493776"/>
          </a:xfrm>
          <a:prstGeom prst="rect">
            <a:avLst/>
          </a:prstGeom>
          <a:noFill/>
        </p:spPr>
        <p:txBody>
          <a:bodyPr wrap="square" lIns="0" rIns="0" tIns="0" bIns="0" anchor="ctr">
            <a:spAutoFit/>
          </a:bodyPr>
          <a:lstStyle/>
          <a:p>
            <a:pPr algn="ctr">
              <a:lnSpc>
                <a:spcPct val="90000"/>
              </a:lnSpc>
              <a:spcBef>
                <a:spcPts val="0"/>
              </a:spcBef>
              <a:spcAft>
                <a:spcPts val="0"/>
              </a:spcAft>
            </a:pPr>
            <a:r>
              <a:rPr sz="740" b="1" i="0">
                <a:solidFill>
                  <a:srgbClr val="FFFFFF"/>
                </a:solidFill>
                <a:latin typeface="Lato"/>
              </a:rPr>
              <a:t>SAMUEL SPACE
TARGET</a:t>
            </a:r>
          </a:p>
        </p:txBody>
      </p:sp>
      <p:sp>
        <p:nvSpPr>
          <p:cNvPr id="44" name="TextBox 43"/>
          <p:cNvSpPr txBox="1"/>
          <p:nvPr/>
        </p:nvSpPr>
        <p:spPr>
          <a:xfrm>
            <a:off x="1389888" y="6016752"/>
            <a:ext cx="7223760" cy="146304"/>
          </a:xfrm>
          <a:prstGeom prst="rect">
            <a:avLst/>
          </a:prstGeom>
          <a:noFill/>
        </p:spPr>
        <p:txBody>
          <a:bodyPr wrap="square" lIns="0" rIns="0" tIns="0" bIns="0" anchor="t">
            <a:spAutoFit/>
          </a:bodyPr>
          <a:lstStyle/>
          <a:p>
            <a:pPr algn="l">
              <a:lnSpc>
                <a:spcPct val="100000"/>
              </a:lnSpc>
              <a:spcBef>
                <a:spcPts val="0"/>
              </a:spcBef>
              <a:spcAft>
                <a:spcPts val="0"/>
              </a:spcAft>
            </a:pPr>
            <a:r>
              <a:rPr sz="660" b="0" i="1">
                <a:solidFill>
                  <a:srgbClr val="8492A0"/>
                </a:solidFill>
                <a:latin typeface="Lato"/>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REVENUE MODEL</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Three Complementary Revenue Streams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14 / 21</a:t>
            </a:r>
          </a:p>
        </p:txBody>
      </p:sp>
      <p:sp>
        <p:nvSpPr>
          <p:cNvPr id="11" name="Rounded Rectangle 10"/>
          <p:cNvSpPr/>
          <p:nvPr/>
        </p:nvSpPr>
        <p:spPr>
          <a:xfrm>
            <a:off x="502920" y="1435608"/>
            <a:ext cx="11183112" cy="1417320"/>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27632"/>
            <a:ext cx="749808" cy="50292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00A58E"/>
                </a:solidFill>
                <a:latin typeface="Lato"/>
              </a:rPr>
              <a:t>01</a:t>
            </a:r>
          </a:p>
        </p:txBody>
      </p:sp>
      <p:sp>
        <p:nvSpPr>
          <p:cNvPr id="13" name="TextBox 12"/>
          <p:cNvSpPr txBox="1"/>
          <p:nvPr/>
        </p:nvSpPr>
        <p:spPr>
          <a:xfrm>
            <a:off x="1719072" y="1618488"/>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40" b="1" i="0">
                <a:solidFill>
                  <a:srgbClr val="00A58E"/>
                </a:solidFill>
                <a:latin typeface="Lato"/>
              </a:rPr>
              <a:t>REVENUE STREAM 1</a:t>
            </a:r>
          </a:p>
        </p:txBody>
      </p:sp>
      <p:sp>
        <p:nvSpPr>
          <p:cNvPr id="14" name="TextBox 13"/>
          <p:cNvSpPr txBox="1"/>
          <p:nvPr/>
        </p:nvSpPr>
        <p:spPr>
          <a:xfrm>
            <a:off x="1719072" y="1911095"/>
            <a:ext cx="3246120" cy="329184"/>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Contract Bioprinting Services</a:t>
            </a:r>
          </a:p>
        </p:txBody>
      </p:sp>
      <p:sp>
        <p:nvSpPr>
          <p:cNvPr id="15" name="TextBox 14"/>
          <p:cNvSpPr txBox="1"/>
          <p:nvPr/>
        </p:nvSpPr>
        <p:spPr>
          <a:xfrm>
            <a:off x="5166360" y="1700784"/>
            <a:ext cx="4370832" cy="758952"/>
          </a:xfrm>
          <a:prstGeom prst="rect">
            <a:avLst/>
          </a:prstGeom>
          <a:noFill/>
        </p:spPr>
        <p:txBody>
          <a:bodyPr wrap="square" lIns="0" rIns="0" tIns="0" bIns="0" anchor="t">
            <a:spAutoFit/>
          </a:bodyPr>
          <a:lstStyle/>
          <a:p>
            <a:pPr algn="l">
              <a:lnSpc>
                <a:spcPct val="96000"/>
              </a:lnSpc>
              <a:spcBef>
                <a:spcPts val="0"/>
              </a:spcBef>
              <a:spcAft>
                <a:spcPts val="0"/>
              </a:spcAft>
            </a:pPr>
            <a:r>
              <a:rPr sz="900" b="0" i="0">
                <a:solidFill>
                  <a:srgbClr val="5E7082"/>
                </a:solidFill>
                <a:latin typeface="Lato"/>
              </a:rPr>
              <a:t>Fee-for-service orbital bioprinting missions for pharma, academic medical centres, and government research agencies. Revenue begins in Year 1.</a:t>
            </a:r>
          </a:p>
        </p:txBody>
      </p:sp>
      <p:sp>
        <p:nvSpPr>
          <p:cNvPr id="16" name="Rounded Rectangle 15"/>
          <p:cNvSpPr/>
          <p:nvPr/>
        </p:nvSpPr>
        <p:spPr>
          <a:xfrm>
            <a:off x="9802368" y="1819656"/>
            <a:ext cx="1600200" cy="5029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93808" y="1819656"/>
            <a:ext cx="1417320" cy="5029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NEAR-TERM REVENUE</a:t>
            </a:r>
          </a:p>
        </p:txBody>
      </p:sp>
      <p:sp>
        <p:nvSpPr>
          <p:cNvPr id="18" name="Rounded Rectangle 17"/>
          <p:cNvSpPr/>
          <p:nvPr/>
        </p:nvSpPr>
        <p:spPr>
          <a:xfrm>
            <a:off x="502920" y="3063240"/>
            <a:ext cx="11183112" cy="141732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255264"/>
            <a:ext cx="749808" cy="50292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5E91B5"/>
                </a:solidFill>
                <a:latin typeface="Lato"/>
              </a:rPr>
              <a:t>02</a:t>
            </a:r>
          </a:p>
        </p:txBody>
      </p:sp>
      <p:sp>
        <p:nvSpPr>
          <p:cNvPr id="20" name="TextBox 19"/>
          <p:cNvSpPr txBox="1"/>
          <p:nvPr/>
        </p:nvSpPr>
        <p:spPr>
          <a:xfrm>
            <a:off x="1719072" y="3246120"/>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40" b="1" i="0">
                <a:solidFill>
                  <a:srgbClr val="5E91B5"/>
                </a:solidFill>
                <a:latin typeface="Lato"/>
              </a:rPr>
              <a:t>REVENUE STREAM 2</a:t>
            </a:r>
          </a:p>
        </p:txBody>
      </p:sp>
      <p:sp>
        <p:nvSpPr>
          <p:cNvPr id="21" name="TextBox 20"/>
          <p:cNvSpPr txBox="1"/>
          <p:nvPr/>
        </p:nvSpPr>
        <p:spPr>
          <a:xfrm>
            <a:off x="1719072" y="3538728"/>
            <a:ext cx="3246120" cy="329184"/>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10243D"/>
                </a:solidFill>
                <a:latin typeface="Lato"/>
              </a:rPr>
              <a:t>Non-Dilutive Grant Funding</a:t>
            </a:r>
          </a:p>
        </p:txBody>
      </p:sp>
      <p:sp>
        <p:nvSpPr>
          <p:cNvPr id="22" name="TextBox 21"/>
          <p:cNvSpPr txBox="1"/>
          <p:nvPr/>
        </p:nvSpPr>
        <p:spPr>
          <a:xfrm>
            <a:off x="5166360" y="3328416"/>
            <a:ext cx="4370832" cy="758952"/>
          </a:xfrm>
          <a:prstGeom prst="rect">
            <a:avLst/>
          </a:prstGeom>
          <a:noFill/>
        </p:spPr>
        <p:txBody>
          <a:bodyPr wrap="square" lIns="0" rIns="0" tIns="0" bIns="0" anchor="t">
            <a:spAutoFit/>
          </a:bodyPr>
          <a:lstStyle/>
          <a:p>
            <a:pPr algn="l">
              <a:lnSpc>
                <a:spcPct val="96000"/>
              </a:lnSpc>
              <a:spcBef>
                <a:spcPts val="0"/>
              </a:spcBef>
              <a:spcAft>
                <a:spcPts val="0"/>
              </a:spcAft>
            </a:pPr>
            <a:r>
              <a:rPr sz="900" b="0" i="0">
                <a:solidFill>
                  <a:srgbClr val="5E7082"/>
                </a:solidFill>
                <a:latin typeface="Lato"/>
              </a:rPr>
              <a:t>NASA InSPA, ESA BIC, DoD SBIR/STTR, and NEI mechanisms can finance development without equity dilution. Samuel targets $4–8M across Years 1–4.</a:t>
            </a:r>
          </a:p>
        </p:txBody>
      </p:sp>
      <p:sp>
        <p:nvSpPr>
          <p:cNvPr id="23" name="Rounded Rectangle 22"/>
          <p:cNvSpPr/>
          <p:nvPr/>
        </p:nvSpPr>
        <p:spPr>
          <a:xfrm>
            <a:off x="9802368" y="3447288"/>
            <a:ext cx="1600200" cy="502920"/>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93808" y="3447288"/>
            <a:ext cx="1417320" cy="5029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REDUCES EQUITY BURN</a:t>
            </a:r>
          </a:p>
        </p:txBody>
      </p:sp>
      <p:sp>
        <p:nvSpPr>
          <p:cNvPr id="25" name="Rounded Rectangle 24"/>
          <p:cNvSpPr/>
          <p:nvPr/>
        </p:nvSpPr>
        <p:spPr>
          <a:xfrm>
            <a:off x="502920" y="4690872"/>
            <a:ext cx="11183112" cy="141732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4882896"/>
            <a:ext cx="749808" cy="502920"/>
          </a:xfrm>
          <a:prstGeom prst="rect">
            <a:avLst/>
          </a:prstGeom>
          <a:noFill/>
        </p:spPr>
        <p:txBody>
          <a:bodyPr wrap="square" lIns="0" rIns="0" tIns="0" bIns="0" anchor="t">
            <a:spAutoFit/>
          </a:bodyPr>
          <a:lstStyle/>
          <a:p>
            <a:pPr algn="l">
              <a:lnSpc>
                <a:spcPct val="100000"/>
              </a:lnSpc>
              <a:spcBef>
                <a:spcPts val="0"/>
              </a:spcBef>
              <a:spcAft>
                <a:spcPts val="0"/>
              </a:spcAft>
            </a:pPr>
            <a:r>
              <a:rPr sz="2200" b="1" i="0">
                <a:solidFill>
                  <a:srgbClr val="00A58E"/>
                </a:solidFill>
                <a:latin typeface="Lato"/>
              </a:rPr>
              <a:t>03</a:t>
            </a:r>
          </a:p>
        </p:txBody>
      </p:sp>
      <p:sp>
        <p:nvSpPr>
          <p:cNvPr id="27" name="TextBox 26"/>
          <p:cNvSpPr txBox="1"/>
          <p:nvPr/>
        </p:nvSpPr>
        <p:spPr>
          <a:xfrm>
            <a:off x="1719072" y="487375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40" b="1" i="0">
                <a:solidFill>
                  <a:srgbClr val="00A58E"/>
                </a:solidFill>
                <a:latin typeface="Lato"/>
              </a:rPr>
              <a:t>REVENUE STREAM 3</a:t>
            </a:r>
          </a:p>
        </p:txBody>
      </p:sp>
      <p:sp>
        <p:nvSpPr>
          <p:cNvPr id="28" name="TextBox 27"/>
          <p:cNvSpPr txBox="1"/>
          <p:nvPr/>
        </p:nvSpPr>
        <p:spPr>
          <a:xfrm>
            <a:off x="1719072" y="5166360"/>
            <a:ext cx="3246120" cy="329184"/>
          </a:xfrm>
          <a:prstGeom prst="rect">
            <a:avLst/>
          </a:prstGeom>
          <a:noFill/>
        </p:spPr>
        <p:txBody>
          <a:bodyPr wrap="square" lIns="0" rIns="0" tIns="0" bIns="0" anchor="t">
            <a:spAutoFit/>
          </a:bodyPr>
          <a:lstStyle/>
          <a:p>
            <a:pPr algn="l">
              <a:lnSpc>
                <a:spcPct val="100000"/>
              </a:lnSpc>
              <a:spcBef>
                <a:spcPts val="0"/>
              </a:spcBef>
              <a:spcAft>
                <a:spcPts val="0"/>
              </a:spcAft>
            </a:pPr>
            <a:r>
              <a:rPr sz="1400" b="1" i="0">
                <a:solidFill>
                  <a:srgbClr val="FFFFFF"/>
                </a:solidFill>
                <a:latin typeface="Lato"/>
              </a:rPr>
              <a:t>Tissue IP Licensing + Royalties</a:t>
            </a:r>
          </a:p>
        </p:txBody>
      </p:sp>
      <p:sp>
        <p:nvSpPr>
          <p:cNvPr id="29" name="TextBox 28"/>
          <p:cNvSpPr txBox="1"/>
          <p:nvPr/>
        </p:nvSpPr>
        <p:spPr>
          <a:xfrm>
            <a:off x="5166360" y="4956048"/>
            <a:ext cx="4370832" cy="758952"/>
          </a:xfrm>
          <a:prstGeom prst="rect">
            <a:avLst/>
          </a:prstGeom>
          <a:noFill/>
        </p:spPr>
        <p:txBody>
          <a:bodyPr wrap="square" lIns="0" rIns="0" tIns="0" bIns="0" anchor="t">
            <a:spAutoFit/>
          </a:bodyPr>
          <a:lstStyle/>
          <a:p>
            <a:pPr algn="l">
              <a:lnSpc>
                <a:spcPct val="96000"/>
              </a:lnSpc>
              <a:spcBef>
                <a:spcPts val="0"/>
              </a:spcBef>
              <a:spcAft>
                <a:spcPts val="0"/>
              </a:spcAft>
            </a:pPr>
            <a:r>
              <a:rPr sz="900" b="0" i="0">
                <a:solidFill>
                  <a:srgbClr val="CAD5DE"/>
                </a:solidFill>
                <a:latin typeface="Lato"/>
              </a:rPr>
              <a:t>As bioink formulations and protocols demonstrate clinical-grade output, Samuel licenses IP to pharmaceutical and device manufacturers from Year 3 onward.</a:t>
            </a:r>
          </a:p>
        </p:txBody>
      </p:sp>
      <p:sp>
        <p:nvSpPr>
          <p:cNvPr id="30" name="Rounded Rectangle 29"/>
          <p:cNvSpPr/>
          <p:nvPr/>
        </p:nvSpPr>
        <p:spPr>
          <a:xfrm>
            <a:off x="9802368" y="5074920"/>
            <a:ext cx="1600200" cy="5029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93808" y="5074920"/>
            <a:ext cx="1417320" cy="5029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LONG-TERM VALUE DRIVER</a:t>
            </a:r>
          </a:p>
        </p:txBody>
      </p:sp>
      <p:cxnSp>
        <p:nvCxnSpPr>
          <p:cNvPr id="32" name="Connector 31"/>
          <p:cNvCxnSpPr/>
          <p:nvPr/>
        </p:nvCxnSpPr>
        <p:spPr>
          <a:xfrm>
            <a:off x="1152144" y="6291072"/>
            <a:ext cx="9637776"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85216" y="6181344"/>
            <a:ext cx="1143000" cy="164592"/>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087C71"/>
                </a:solidFill>
                <a:latin typeface="Lato"/>
              </a:rPr>
              <a:t>SERVICES</a:t>
            </a:r>
          </a:p>
        </p:txBody>
      </p:sp>
      <p:sp>
        <p:nvSpPr>
          <p:cNvPr id="34" name="TextBox 33"/>
          <p:cNvSpPr txBox="1"/>
          <p:nvPr/>
        </p:nvSpPr>
        <p:spPr>
          <a:xfrm>
            <a:off x="5340096" y="6181344"/>
            <a:ext cx="1143000" cy="164592"/>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5E91B5"/>
                </a:solidFill>
                <a:latin typeface="Lato"/>
              </a:rPr>
              <a:t>GRANTS</a:t>
            </a:r>
          </a:p>
        </p:txBody>
      </p:sp>
      <p:sp>
        <p:nvSpPr>
          <p:cNvPr id="35" name="TextBox 34"/>
          <p:cNvSpPr txBox="1"/>
          <p:nvPr/>
        </p:nvSpPr>
        <p:spPr>
          <a:xfrm>
            <a:off x="10222992" y="6181344"/>
            <a:ext cx="1143000" cy="164592"/>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087C71"/>
                </a:solidFill>
                <a:latin typeface="Lato"/>
              </a:rPr>
              <a:t>SCALABLE IP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GO-TO-MARKET</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Sequenced Market Entry Across Four Partner Categories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15 / 21</a:t>
            </a:r>
          </a:p>
        </p:txBody>
      </p:sp>
      <p:sp>
        <p:nvSpPr>
          <p:cNvPr id="11" name="Rounded Rectangle 10"/>
          <p:cNvSpPr/>
          <p:nvPr/>
        </p:nvSpPr>
        <p:spPr>
          <a:xfrm>
            <a:off x="502920" y="1426464"/>
            <a:ext cx="2624328" cy="4946904"/>
          </a:xfrm>
          <a:prstGeom prst="roundRect">
            <a:avLst/>
          </a:prstGeom>
          <a:solidFill>
            <a:srgbClr val="ECF8F4"/>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04088" y="1645920"/>
            <a:ext cx="457200"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01</a:t>
            </a:r>
          </a:p>
        </p:txBody>
      </p:sp>
      <p:sp>
        <p:nvSpPr>
          <p:cNvPr id="14" name="TextBox 13"/>
          <p:cNvSpPr txBox="1"/>
          <p:nvPr/>
        </p:nvSpPr>
        <p:spPr>
          <a:xfrm>
            <a:off x="1527048"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00A58E"/>
                </a:solidFill>
                <a:latin typeface="Lato"/>
              </a:rPr>
              <a:t>ACCESS</a:t>
            </a:r>
          </a:p>
        </p:txBody>
      </p:sp>
      <p:sp>
        <p:nvSpPr>
          <p:cNvPr id="15" name="TextBox 14"/>
          <p:cNvSpPr txBox="1"/>
          <p:nvPr/>
        </p:nvSpPr>
        <p:spPr>
          <a:xfrm>
            <a:off x="704088"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Commercial Station Operators</a:t>
            </a:r>
          </a:p>
        </p:txBody>
      </p:sp>
      <p:cxnSp>
        <p:nvCxnSpPr>
          <p:cNvPr id="16" name="Connector 15"/>
          <p:cNvCxnSpPr/>
          <p:nvPr/>
        </p:nvCxnSpPr>
        <p:spPr>
          <a:xfrm>
            <a:off x="704088"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04088"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Secure research-service agreements and payload manifesting rights.</a:t>
            </a:r>
          </a:p>
        </p:txBody>
      </p:sp>
      <p:sp>
        <p:nvSpPr>
          <p:cNvPr id="18" name="TextBox 17"/>
          <p:cNvSpPr txBox="1"/>
          <p:nvPr/>
        </p:nvSpPr>
        <p:spPr>
          <a:xfrm>
            <a:off x="704088"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00A58E"/>
                </a:solidFill>
                <a:latin typeface="Lato"/>
              </a:rPr>
              <a:t>TARGET SET</a:t>
            </a:r>
          </a:p>
        </p:txBody>
      </p:sp>
      <p:sp>
        <p:nvSpPr>
          <p:cNvPr id="19" name="TextBox 18"/>
          <p:cNvSpPr txBox="1"/>
          <p:nvPr/>
        </p:nvSpPr>
        <p:spPr>
          <a:xfrm>
            <a:off x="704088"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Redwire, Starlab, Axiom, Vast</a:t>
            </a:r>
          </a:p>
        </p:txBody>
      </p:sp>
      <p:sp>
        <p:nvSpPr>
          <p:cNvPr id="20" name="Rectangle 19"/>
          <p:cNvSpPr/>
          <p:nvPr/>
        </p:nvSpPr>
        <p:spPr>
          <a:xfrm>
            <a:off x="704088" y="5961888"/>
            <a:ext cx="2212848" cy="54864"/>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319272" y="1426464"/>
            <a:ext cx="2624328" cy="494690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20440" y="1645920"/>
            <a:ext cx="457200" cy="283464"/>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75304"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02</a:t>
            </a:r>
          </a:p>
        </p:txBody>
      </p:sp>
      <p:sp>
        <p:nvSpPr>
          <p:cNvPr id="24" name="TextBox 23"/>
          <p:cNvSpPr txBox="1"/>
          <p:nvPr/>
        </p:nvSpPr>
        <p:spPr>
          <a:xfrm>
            <a:off x="4343400"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5E91B5"/>
                </a:solidFill>
                <a:latin typeface="Lato"/>
              </a:rPr>
              <a:t>INTEGRATE</a:t>
            </a:r>
          </a:p>
        </p:txBody>
      </p:sp>
      <p:sp>
        <p:nvSpPr>
          <p:cNvPr id="25" name="TextBox 24"/>
          <p:cNvSpPr txBox="1"/>
          <p:nvPr/>
        </p:nvSpPr>
        <p:spPr>
          <a:xfrm>
            <a:off x="3520440"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Payload Integrators + CROs</a:t>
            </a:r>
          </a:p>
        </p:txBody>
      </p:sp>
      <p:cxnSp>
        <p:nvCxnSpPr>
          <p:cNvPr id="26" name="Connector 25"/>
          <p:cNvCxnSpPr/>
          <p:nvPr/>
        </p:nvCxnSpPr>
        <p:spPr>
          <a:xfrm>
            <a:off x="3520440"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520440"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Outsource environmental control, crew interface, and downlink to move faster and preserve capital.</a:t>
            </a:r>
          </a:p>
        </p:txBody>
      </p:sp>
      <p:sp>
        <p:nvSpPr>
          <p:cNvPr id="28" name="TextBox 27"/>
          <p:cNvSpPr txBox="1"/>
          <p:nvPr/>
        </p:nvSpPr>
        <p:spPr>
          <a:xfrm>
            <a:off x="3520440"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5E91B5"/>
                </a:solidFill>
                <a:latin typeface="Lato"/>
              </a:rPr>
              <a:t>TARGET SET</a:t>
            </a:r>
          </a:p>
        </p:txBody>
      </p:sp>
      <p:sp>
        <p:nvSpPr>
          <p:cNvPr id="29" name="TextBox 28"/>
          <p:cNvSpPr txBox="1"/>
          <p:nvPr/>
        </p:nvSpPr>
        <p:spPr>
          <a:xfrm>
            <a:off x="3520440"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Space Tango, Nanoracks / Voyager</a:t>
            </a:r>
          </a:p>
        </p:txBody>
      </p:sp>
      <p:sp>
        <p:nvSpPr>
          <p:cNvPr id="30" name="Rectangle 29"/>
          <p:cNvSpPr/>
          <p:nvPr/>
        </p:nvSpPr>
        <p:spPr>
          <a:xfrm>
            <a:off x="3520440" y="5961888"/>
            <a:ext cx="2212848" cy="54864"/>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135624" y="1426464"/>
            <a:ext cx="2624328" cy="4946904"/>
          </a:xfrm>
          <a:prstGeom prst="roundRect">
            <a:avLst/>
          </a:prstGeom>
          <a:solidFill>
            <a:srgbClr val="FAF0D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36792" y="1645920"/>
            <a:ext cx="457200" cy="283464"/>
          </a:xfrm>
          <a:prstGeom prst="round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91655"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03</a:t>
            </a:r>
          </a:p>
        </p:txBody>
      </p:sp>
      <p:sp>
        <p:nvSpPr>
          <p:cNvPr id="34" name="TextBox 33"/>
          <p:cNvSpPr txBox="1"/>
          <p:nvPr/>
        </p:nvSpPr>
        <p:spPr>
          <a:xfrm>
            <a:off x="7159752"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E5A647"/>
                </a:solidFill>
                <a:latin typeface="Lato"/>
              </a:rPr>
              <a:t>MONETISE</a:t>
            </a:r>
          </a:p>
        </p:txBody>
      </p:sp>
      <p:sp>
        <p:nvSpPr>
          <p:cNvPr id="35" name="TextBox 34"/>
          <p:cNvSpPr txBox="1"/>
          <p:nvPr/>
        </p:nvSpPr>
        <p:spPr>
          <a:xfrm>
            <a:off x="6336792"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Pharma + Academic Medical Centres</a:t>
            </a:r>
          </a:p>
        </p:txBody>
      </p:sp>
      <p:cxnSp>
        <p:nvCxnSpPr>
          <p:cNvPr id="36" name="Connector 35"/>
          <p:cNvCxnSpPr/>
          <p:nvPr/>
        </p:nvCxnSpPr>
        <p:spPr>
          <a:xfrm>
            <a:off x="6336792"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336792"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Win contract-service demand for orbital tissue models and drug-screening programs.</a:t>
            </a:r>
          </a:p>
        </p:txBody>
      </p:sp>
      <p:sp>
        <p:nvSpPr>
          <p:cNvPr id="38" name="TextBox 37"/>
          <p:cNvSpPr txBox="1"/>
          <p:nvPr/>
        </p:nvSpPr>
        <p:spPr>
          <a:xfrm>
            <a:off x="6336792"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E5A647"/>
                </a:solidFill>
                <a:latin typeface="Lato"/>
              </a:rPr>
              <a:t>TARGET SET</a:t>
            </a:r>
          </a:p>
        </p:txBody>
      </p:sp>
      <p:sp>
        <p:nvSpPr>
          <p:cNvPr id="39" name="TextBox 38"/>
          <p:cNvSpPr txBox="1"/>
          <p:nvPr/>
        </p:nvSpPr>
        <p:spPr>
          <a:xfrm>
            <a:off x="6336792"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Pharma R&amp;D, NIH-funded labs</a:t>
            </a:r>
          </a:p>
        </p:txBody>
      </p:sp>
      <p:sp>
        <p:nvSpPr>
          <p:cNvPr id="40" name="Rectangle 39"/>
          <p:cNvSpPr/>
          <p:nvPr/>
        </p:nvSpPr>
        <p:spPr>
          <a:xfrm>
            <a:off x="6336792" y="5961888"/>
            <a:ext cx="2212848" cy="54864"/>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951976" y="1426464"/>
            <a:ext cx="2624328" cy="4946904"/>
          </a:xfrm>
          <a:prstGeom prst="roundRect">
            <a:avLst/>
          </a:prstGeom>
          <a:solidFill>
            <a:srgbClr val="EEEAF7"/>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153144" y="1645920"/>
            <a:ext cx="457200" cy="283464"/>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08008" y="1645920"/>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04</a:t>
            </a:r>
          </a:p>
        </p:txBody>
      </p:sp>
      <p:sp>
        <p:nvSpPr>
          <p:cNvPr id="44" name="TextBox 43"/>
          <p:cNvSpPr txBox="1"/>
          <p:nvPr/>
        </p:nvSpPr>
        <p:spPr>
          <a:xfrm>
            <a:off x="9976104" y="1682496"/>
            <a:ext cx="1389888" cy="182880"/>
          </a:xfrm>
          <a:prstGeom prst="rect">
            <a:avLst/>
          </a:prstGeom>
          <a:noFill/>
        </p:spPr>
        <p:txBody>
          <a:bodyPr wrap="square" lIns="0" rIns="0" tIns="0" bIns="0" anchor="t">
            <a:spAutoFit/>
          </a:bodyPr>
          <a:lstStyle/>
          <a:p>
            <a:pPr algn="r">
              <a:lnSpc>
                <a:spcPct val="100000"/>
              </a:lnSpc>
              <a:spcBef>
                <a:spcPts val="0"/>
              </a:spcBef>
              <a:spcAft>
                <a:spcPts val="0"/>
              </a:spcAft>
            </a:pPr>
            <a:r>
              <a:rPr sz="720" b="1" i="0">
                <a:solidFill>
                  <a:srgbClr val="7D6CB0"/>
                </a:solidFill>
                <a:latin typeface="Lato"/>
              </a:rPr>
              <a:t>DE-RISK</a:t>
            </a:r>
          </a:p>
        </p:txBody>
      </p:sp>
      <p:sp>
        <p:nvSpPr>
          <p:cNvPr id="45" name="TextBox 44"/>
          <p:cNvSpPr txBox="1"/>
          <p:nvPr/>
        </p:nvSpPr>
        <p:spPr>
          <a:xfrm>
            <a:off x="9153144" y="2185416"/>
            <a:ext cx="2212848" cy="658368"/>
          </a:xfrm>
          <a:prstGeom prst="rect">
            <a:avLst/>
          </a:prstGeom>
          <a:noFill/>
        </p:spPr>
        <p:txBody>
          <a:bodyPr wrap="square" lIns="0" rIns="0" tIns="0" bIns="0" anchor="t">
            <a:spAutoFit/>
          </a:bodyPr>
          <a:lstStyle/>
          <a:p>
            <a:pPr algn="l">
              <a:lnSpc>
                <a:spcPct val="92000"/>
              </a:lnSpc>
              <a:spcBef>
                <a:spcPts val="0"/>
              </a:spcBef>
              <a:spcAft>
                <a:spcPts val="0"/>
              </a:spcAft>
            </a:pPr>
            <a:r>
              <a:rPr sz="1400" b="1" i="0">
                <a:solidFill>
                  <a:srgbClr val="10243D"/>
                </a:solidFill>
                <a:latin typeface="Lato"/>
              </a:rPr>
              <a:t>Government + Grant Agencies</a:t>
            </a:r>
          </a:p>
        </p:txBody>
      </p:sp>
      <p:cxnSp>
        <p:nvCxnSpPr>
          <p:cNvPr id="46" name="Connector 45"/>
          <p:cNvCxnSpPr/>
          <p:nvPr/>
        </p:nvCxnSpPr>
        <p:spPr>
          <a:xfrm>
            <a:off x="9153144" y="2971800"/>
            <a:ext cx="2212848" cy="0"/>
          </a:xfrm>
          <a:prstGeom prst="line">
            <a:avLst/>
          </a:prstGeom>
          <a:ln w="8890">
            <a:solidFill>
              <a:srgbClr val="C7D4DA"/>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9153144" y="3236976"/>
            <a:ext cx="2212848" cy="1115568"/>
          </a:xfrm>
          <a:prstGeom prst="rect">
            <a:avLst/>
          </a:prstGeom>
          <a:noFill/>
        </p:spPr>
        <p:txBody>
          <a:bodyPr wrap="square" lIns="0" rIns="0" tIns="0" bIns="0" anchor="t">
            <a:spAutoFit/>
          </a:bodyPr>
          <a:lstStyle/>
          <a:p>
            <a:pPr algn="l">
              <a:lnSpc>
                <a:spcPct val="98000"/>
              </a:lnSpc>
              <a:spcBef>
                <a:spcPts val="0"/>
              </a:spcBef>
              <a:spcAft>
                <a:spcPts val="0"/>
              </a:spcAft>
            </a:pPr>
            <a:r>
              <a:rPr sz="910" b="0" i="0">
                <a:solidFill>
                  <a:srgbClr val="5E7082"/>
                </a:solidFill>
                <a:latin typeface="Lato"/>
              </a:rPr>
              <a:t>Use non-dilutive funding to de-risk development and validate technology for commercial buyers.</a:t>
            </a:r>
          </a:p>
        </p:txBody>
      </p:sp>
      <p:sp>
        <p:nvSpPr>
          <p:cNvPr id="48" name="TextBox 47"/>
          <p:cNvSpPr txBox="1"/>
          <p:nvPr/>
        </p:nvSpPr>
        <p:spPr>
          <a:xfrm>
            <a:off x="9153144" y="4828032"/>
            <a:ext cx="201168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7D6CB0"/>
                </a:solidFill>
                <a:latin typeface="Lato"/>
              </a:rPr>
              <a:t>TARGET SET</a:t>
            </a:r>
          </a:p>
        </p:txBody>
      </p:sp>
      <p:sp>
        <p:nvSpPr>
          <p:cNvPr id="49" name="TextBox 48"/>
          <p:cNvSpPr txBox="1"/>
          <p:nvPr/>
        </p:nvSpPr>
        <p:spPr>
          <a:xfrm>
            <a:off x="9153144" y="5175504"/>
            <a:ext cx="2212848" cy="502920"/>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10243D"/>
                </a:solidFill>
                <a:latin typeface="Lato"/>
              </a:rPr>
              <a:t>NASA, ESA, NIH NEI, DoD MTEC</a:t>
            </a:r>
          </a:p>
        </p:txBody>
      </p:sp>
      <p:sp>
        <p:nvSpPr>
          <p:cNvPr id="50" name="Rectangle 49"/>
          <p:cNvSpPr/>
          <p:nvPr/>
        </p:nvSpPr>
        <p:spPr>
          <a:xfrm>
            <a:off x="9153144" y="5961888"/>
            <a:ext cx="2212848" cy="54864"/>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FINANCIALS — ILLUSTRATIVE</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250" b="1" i="0">
                <a:solidFill>
                  <a:srgbClr val="10243D"/>
                </a:solidFill>
                <a:latin typeface="Lato"/>
              </a:rPr>
              <a:t>Five-Year Revenue Model (Illustrative Projections)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16 / 21</a:t>
            </a:r>
          </a:p>
        </p:txBody>
      </p:sp>
      <p:sp>
        <p:nvSpPr>
          <p:cNvPr id="11" name="TextBox 10"/>
          <p:cNvSpPr txBox="1"/>
          <p:nvPr/>
        </p:nvSpPr>
        <p:spPr>
          <a:xfrm>
            <a:off x="502920" y="1353312"/>
            <a:ext cx="6400800" cy="182880"/>
          </a:xfrm>
          <a:prstGeom prst="rect">
            <a:avLst/>
          </a:prstGeom>
          <a:noFill/>
        </p:spPr>
        <p:txBody>
          <a:bodyPr wrap="square" lIns="0" rIns="0" tIns="0" bIns="0" anchor="t">
            <a:spAutoFit/>
          </a:bodyPr>
          <a:lstStyle/>
          <a:p>
            <a:pPr algn="l">
              <a:lnSpc>
                <a:spcPct val="100000"/>
              </a:lnSpc>
              <a:spcBef>
                <a:spcPts val="0"/>
              </a:spcBef>
              <a:spcAft>
                <a:spcPts val="0"/>
              </a:spcAft>
            </a:pPr>
            <a:r>
              <a:rPr sz="750" b="0" i="1">
                <a:solidFill>
                  <a:srgbClr val="8492A0"/>
                </a:solidFill>
                <a:latin typeface="Lato"/>
              </a:rPr>
              <a:t>Illustrative projections for investor discussion only; actual results may vary materially.</a:t>
            </a:r>
          </a:p>
        </p:txBody>
      </p:sp>
      <p:sp>
        <p:nvSpPr>
          <p:cNvPr id="12" name="Rounded Rectangle 11"/>
          <p:cNvSpPr/>
          <p:nvPr/>
        </p:nvSpPr>
        <p:spPr>
          <a:xfrm>
            <a:off x="502920" y="1664208"/>
            <a:ext cx="6565392" cy="470916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1901952"/>
            <a:ext cx="384048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REVENUE BUILD  /  USD $M</a:t>
            </a:r>
          </a:p>
        </p:txBody>
      </p:sp>
      <p:sp>
        <p:nvSpPr>
          <p:cNvPr id="14" name="Rectangle 13"/>
          <p:cNvSpPr/>
          <p:nvPr/>
        </p:nvSpPr>
        <p:spPr>
          <a:xfrm>
            <a:off x="3977639" y="1929384"/>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42231" y="1892807"/>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5E7082"/>
                </a:solidFill>
                <a:latin typeface="Lato"/>
              </a:rPr>
              <a:t>Contract</a:t>
            </a:r>
          </a:p>
        </p:txBody>
      </p:sp>
      <p:sp>
        <p:nvSpPr>
          <p:cNvPr id="16" name="Rectangle 15"/>
          <p:cNvSpPr/>
          <p:nvPr/>
        </p:nvSpPr>
        <p:spPr>
          <a:xfrm>
            <a:off x="4892040" y="1929384"/>
            <a:ext cx="109728" cy="109728"/>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56631" y="1892807"/>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5E7082"/>
                </a:solidFill>
                <a:latin typeface="Lato"/>
              </a:rPr>
              <a:t>Grant</a:t>
            </a:r>
          </a:p>
        </p:txBody>
      </p:sp>
      <p:sp>
        <p:nvSpPr>
          <p:cNvPr id="18" name="Rectangle 17"/>
          <p:cNvSpPr/>
          <p:nvPr/>
        </p:nvSpPr>
        <p:spPr>
          <a:xfrm>
            <a:off x="5806440" y="1929384"/>
            <a:ext cx="109728" cy="109728"/>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71031" y="1892807"/>
            <a:ext cx="713232" cy="182880"/>
          </a:xfrm>
          <a:prstGeom prst="rect">
            <a:avLst/>
          </a:prstGeom>
          <a:noFill/>
        </p:spPr>
        <p:txBody>
          <a:bodyPr wrap="square" lIns="0" rIns="0" tIns="0" bIns="0" anchor="t">
            <a:spAutoFit/>
          </a:bodyPr>
          <a:lstStyle/>
          <a:p>
            <a:pPr algn="l">
              <a:lnSpc>
                <a:spcPct val="100000"/>
              </a:lnSpc>
              <a:spcBef>
                <a:spcPts val="0"/>
              </a:spcBef>
              <a:spcAft>
                <a:spcPts val="0"/>
              </a:spcAft>
            </a:pPr>
            <a:r>
              <a:rPr sz="640" b="0" i="0">
                <a:solidFill>
                  <a:srgbClr val="5E7082"/>
                </a:solidFill>
                <a:latin typeface="Lato"/>
              </a:rPr>
              <a:t>IP</a:t>
            </a:r>
          </a:p>
        </p:txBody>
      </p:sp>
      <p:cxnSp>
        <p:nvCxnSpPr>
          <p:cNvPr id="20" name="Connector 19"/>
          <p:cNvCxnSpPr/>
          <p:nvPr/>
        </p:nvCxnSpPr>
        <p:spPr>
          <a:xfrm>
            <a:off x="1069848" y="4956048"/>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94944" y="4864608"/>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5</a:t>
            </a:r>
          </a:p>
        </p:txBody>
      </p:sp>
      <p:cxnSp>
        <p:nvCxnSpPr>
          <p:cNvPr id="22" name="Connector 21"/>
          <p:cNvCxnSpPr/>
          <p:nvPr/>
        </p:nvCxnSpPr>
        <p:spPr>
          <a:xfrm>
            <a:off x="1069848" y="4325112"/>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94944" y="4233672"/>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10</a:t>
            </a:r>
          </a:p>
        </p:txBody>
      </p:sp>
      <p:cxnSp>
        <p:nvCxnSpPr>
          <p:cNvPr id="24" name="Connector 23"/>
          <p:cNvCxnSpPr/>
          <p:nvPr/>
        </p:nvCxnSpPr>
        <p:spPr>
          <a:xfrm>
            <a:off x="1069848" y="3694176"/>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4944" y="3602736"/>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15</a:t>
            </a:r>
          </a:p>
        </p:txBody>
      </p:sp>
      <p:cxnSp>
        <p:nvCxnSpPr>
          <p:cNvPr id="26" name="Connector 25"/>
          <p:cNvCxnSpPr/>
          <p:nvPr/>
        </p:nvCxnSpPr>
        <p:spPr>
          <a:xfrm>
            <a:off x="1069848" y="3063240"/>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94944" y="2971800"/>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20</a:t>
            </a:r>
          </a:p>
        </p:txBody>
      </p:sp>
      <p:cxnSp>
        <p:nvCxnSpPr>
          <p:cNvPr id="28" name="Connector 27"/>
          <p:cNvCxnSpPr/>
          <p:nvPr/>
        </p:nvCxnSpPr>
        <p:spPr>
          <a:xfrm>
            <a:off x="1069848" y="2432304"/>
            <a:ext cx="5440680" cy="0"/>
          </a:xfrm>
          <a:prstGeom prst="line">
            <a:avLst/>
          </a:prstGeom>
          <a:ln w="8890">
            <a:solidFill>
              <a:srgbClr val="E6EBE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94944" y="2340864"/>
            <a:ext cx="274320" cy="164592"/>
          </a:xfrm>
          <a:prstGeom prst="rect">
            <a:avLst/>
          </a:prstGeom>
          <a:noFill/>
        </p:spPr>
        <p:txBody>
          <a:bodyPr wrap="square" lIns="0" rIns="0" tIns="0" bIns="0" anchor="t">
            <a:spAutoFit/>
          </a:bodyPr>
          <a:lstStyle/>
          <a:p>
            <a:pPr algn="r">
              <a:lnSpc>
                <a:spcPct val="100000"/>
              </a:lnSpc>
              <a:spcBef>
                <a:spcPts val="0"/>
              </a:spcBef>
              <a:spcAft>
                <a:spcPts val="0"/>
              </a:spcAft>
            </a:pPr>
            <a:r>
              <a:rPr sz="650" b="0" i="0">
                <a:solidFill>
                  <a:srgbClr val="8492A0"/>
                </a:solidFill>
                <a:latin typeface="Lato"/>
              </a:rPr>
              <a:t>25</a:t>
            </a:r>
          </a:p>
        </p:txBody>
      </p:sp>
      <p:sp>
        <p:nvSpPr>
          <p:cNvPr id="30" name="Rectangle 29"/>
          <p:cNvSpPr/>
          <p:nvPr/>
        </p:nvSpPr>
        <p:spPr>
          <a:xfrm>
            <a:off x="1069848" y="5523890"/>
            <a:ext cx="621792" cy="63093"/>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69848" y="5486034"/>
            <a:ext cx="621792" cy="37856"/>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7" y="5257434"/>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$0.8</a:t>
            </a:r>
          </a:p>
        </p:txBody>
      </p:sp>
      <p:sp>
        <p:nvSpPr>
          <p:cNvPr id="33" name="TextBox 32"/>
          <p:cNvSpPr txBox="1"/>
          <p:nvPr/>
        </p:nvSpPr>
        <p:spPr>
          <a:xfrm>
            <a:off x="996695"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1</a:t>
            </a:r>
          </a:p>
        </p:txBody>
      </p:sp>
      <p:sp>
        <p:nvSpPr>
          <p:cNvPr id="34" name="Rectangle 33"/>
          <p:cNvSpPr/>
          <p:nvPr/>
        </p:nvSpPr>
        <p:spPr>
          <a:xfrm>
            <a:off x="2274570" y="5435559"/>
            <a:ext cx="621792" cy="151424"/>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274570" y="5309372"/>
            <a:ext cx="621792" cy="126187"/>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74570" y="5284134"/>
            <a:ext cx="621792" cy="25237"/>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183129" y="5055534"/>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$2.4</a:t>
            </a:r>
          </a:p>
        </p:txBody>
      </p:sp>
      <p:sp>
        <p:nvSpPr>
          <p:cNvPr id="38" name="TextBox 37"/>
          <p:cNvSpPr txBox="1"/>
          <p:nvPr/>
        </p:nvSpPr>
        <p:spPr>
          <a:xfrm>
            <a:off x="2201418"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2</a:t>
            </a:r>
          </a:p>
        </p:txBody>
      </p:sp>
      <p:sp>
        <p:nvSpPr>
          <p:cNvPr id="39" name="Rectangle 38"/>
          <p:cNvSpPr/>
          <p:nvPr/>
        </p:nvSpPr>
        <p:spPr>
          <a:xfrm>
            <a:off x="3479291" y="5208422"/>
            <a:ext cx="621792" cy="378561"/>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479291" y="5019141"/>
            <a:ext cx="621792" cy="189280"/>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479291" y="4817242"/>
            <a:ext cx="621792" cy="201899"/>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87851" y="4588642"/>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$6.1</a:t>
            </a:r>
          </a:p>
        </p:txBody>
      </p:sp>
      <p:sp>
        <p:nvSpPr>
          <p:cNvPr id="43" name="TextBox 42"/>
          <p:cNvSpPr txBox="1"/>
          <p:nvPr/>
        </p:nvSpPr>
        <p:spPr>
          <a:xfrm>
            <a:off x="3406139"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3</a:t>
            </a:r>
          </a:p>
        </p:txBody>
      </p:sp>
      <p:sp>
        <p:nvSpPr>
          <p:cNvPr id="44" name="Rectangle 43"/>
          <p:cNvSpPr/>
          <p:nvPr/>
        </p:nvSpPr>
        <p:spPr>
          <a:xfrm>
            <a:off x="4684014" y="4703673"/>
            <a:ext cx="621792" cy="883310"/>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84014" y="4451299"/>
            <a:ext cx="621792" cy="252374"/>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684014" y="3883456"/>
            <a:ext cx="621792" cy="567842"/>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92574" y="3654856"/>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$13.5</a:t>
            </a:r>
          </a:p>
        </p:txBody>
      </p:sp>
      <p:sp>
        <p:nvSpPr>
          <p:cNvPr id="48" name="TextBox 47"/>
          <p:cNvSpPr txBox="1"/>
          <p:nvPr/>
        </p:nvSpPr>
        <p:spPr>
          <a:xfrm>
            <a:off x="4610862"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4</a:t>
            </a:r>
          </a:p>
        </p:txBody>
      </p:sp>
      <p:sp>
        <p:nvSpPr>
          <p:cNvPr id="49" name="Rectangle 48"/>
          <p:cNvSpPr/>
          <p:nvPr/>
        </p:nvSpPr>
        <p:spPr>
          <a:xfrm>
            <a:off x="5888736" y="3820363"/>
            <a:ext cx="621792" cy="1766620"/>
          </a:xfrm>
          <a:prstGeom prst="rect">
            <a:avLst/>
          </a:prstGeom>
          <a:solidFill>
            <a:srgbClr val="00A58E"/>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888736" y="3504895"/>
            <a:ext cx="621792" cy="315468"/>
          </a:xfrm>
          <a:prstGeom prst="rect">
            <a:avLst/>
          </a:prstGeom>
          <a:solidFill>
            <a:srgbClr val="5E91B5"/>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88736" y="2533253"/>
            <a:ext cx="621792" cy="971641"/>
          </a:xfrm>
          <a:prstGeom prst="rect">
            <a:avLst/>
          </a:prstGeom>
          <a:solidFill>
            <a:srgbClr val="E5A647"/>
          </a:solidFill>
          <a:ln w="50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797296" y="2304653"/>
            <a:ext cx="804672" cy="164592"/>
          </a:xfrm>
          <a:prstGeom prst="rect">
            <a:avLst/>
          </a:prstGeom>
          <a:noFill/>
        </p:spPr>
        <p:txBody>
          <a:bodyPr wrap="square" lIns="0" rIns="0" tIns="0" bIns="0" anchor="t">
            <a:spAutoFit/>
          </a:bodyPr>
          <a:lstStyle/>
          <a:p>
            <a:pPr algn="ctr">
              <a:lnSpc>
                <a:spcPct val="100000"/>
              </a:lnSpc>
              <a:spcBef>
                <a:spcPts val="0"/>
              </a:spcBef>
              <a:spcAft>
                <a:spcPts val="0"/>
              </a:spcAft>
            </a:pPr>
            <a:r>
              <a:rPr sz="730" b="1" i="0">
                <a:solidFill>
                  <a:srgbClr val="10243D"/>
                </a:solidFill>
                <a:latin typeface="Lato"/>
              </a:rPr>
              <a:t>$24.2</a:t>
            </a:r>
          </a:p>
        </p:txBody>
      </p:sp>
      <p:sp>
        <p:nvSpPr>
          <p:cNvPr id="53" name="TextBox 52"/>
          <p:cNvSpPr txBox="1"/>
          <p:nvPr/>
        </p:nvSpPr>
        <p:spPr>
          <a:xfrm>
            <a:off x="5815583" y="5696712"/>
            <a:ext cx="768096" cy="164592"/>
          </a:xfrm>
          <a:prstGeom prst="rect">
            <a:avLst/>
          </a:prstGeom>
          <a:noFill/>
        </p:spPr>
        <p:txBody>
          <a:bodyPr wrap="square" lIns="0" rIns="0" tIns="0" bIns="0" anchor="t">
            <a:spAutoFit/>
          </a:bodyPr>
          <a:lstStyle/>
          <a:p>
            <a:pPr algn="ctr">
              <a:lnSpc>
                <a:spcPct val="100000"/>
              </a:lnSpc>
              <a:spcBef>
                <a:spcPts val="0"/>
              </a:spcBef>
              <a:spcAft>
                <a:spcPts val="0"/>
              </a:spcAft>
            </a:pPr>
            <a:r>
              <a:rPr sz="680" b="1" i="0">
                <a:solidFill>
                  <a:srgbClr val="5E7082"/>
                </a:solidFill>
                <a:latin typeface="Lato"/>
              </a:rPr>
              <a:t>YR 5</a:t>
            </a:r>
          </a:p>
        </p:txBody>
      </p:sp>
      <p:sp>
        <p:nvSpPr>
          <p:cNvPr id="54" name="TextBox 53"/>
          <p:cNvSpPr txBox="1"/>
          <p:nvPr/>
        </p:nvSpPr>
        <p:spPr>
          <a:xfrm>
            <a:off x="768096" y="6025896"/>
            <a:ext cx="3108960" cy="146304"/>
          </a:xfrm>
          <a:prstGeom prst="rect">
            <a:avLst/>
          </a:prstGeom>
          <a:noFill/>
        </p:spPr>
        <p:txBody>
          <a:bodyPr wrap="square" lIns="0" rIns="0" tIns="0" bIns="0" anchor="t">
            <a:spAutoFit/>
          </a:bodyPr>
          <a:lstStyle/>
          <a:p>
            <a:pPr algn="l">
              <a:lnSpc>
                <a:spcPct val="100000"/>
              </a:lnSpc>
              <a:spcBef>
                <a:spcPts val="0"/>
              </a:spcBef>
              <a:spcAft>
                <a:spcPts val="0"/>
              </a:spcAft>
            </a:pPr>
            <a:r>
              <a:rPr sz="650" b="0" i="0">
                <a:solidFill>
                  <a:srgbClr val="8492A0"/>
                </a:solidFill>
                <a:latin typeface="Lato"/>
              </a:rPr>
              <a:t>Illustrative revenue, not contracted backlog</a:t>
            </a:r>
          </a:p>
        </p:txBody>
      </p:sp>
      <p:sp>
        <p:nvSpPr>
          <p:cNvPr id="55" name="Rounded Rectangle 54"/>
          <p:cNvSpPr/>
          <p:nvPr/>
        </p:nvSpPr>
        <p:spPr>
          <a:xfrm>
            <a:off x="7260336" y="1664208"/>
            <a:ext cx="4425696" cy="4709160"/>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98079" y="1901952"/>
            <a:ext cx="393192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ANNUAL REVENUE DETAIL</a:t>
            </a:r>
          </a:p>
        </p:txBody>
      </p:sp>
      <p:sp>
        <p:nvSpPr>
          <p:cNvPr id="57" name="TextBox 56"/>
          <p:cNvSpPr txBox="1"/>
          <p:nvPr/>
        </p:nvSpPr>
        <p:spPr>
          <a:xfrm>
            <a:off x="7498079" y="2267712"/>
            <a:ext cx="59436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492A0"/>
                </a:solidFill>
                <a:latin typeface="Lato"/>
              </a:rPr>
              <a:t>YEAR</a:t>
            </a:r>
          </a:p>
        </p:txBody>
      </p:sp>
      <p:sp>
        <p:nvSpPr>
          <p:cNvPr id="58" name="TextBox 57"/>
          <p:cNvSpPr txBox="1"/>
          <p:nvPr/>
        </p:nvSpPr>
        <p:spPr>
          <a:xfrm>
            <a:off x="8165592" y="2267712"/>
            <a:ext cx="749808"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492A0"/>
                </a:solidFill>
                <a:latin typeface="Lato"/>
              </a:rPr>
              <a:t>TOTAL</a:t>
            </a:r>
          </a:p>
        </p:txBody>
      </p:sp>
      <p:sp>
        <p:nvSpPr>
          <p:cNvPr id="59" name="TextBox 58"/>
          <p:cNvSpPr txBox="1"/>
          <p:nvPr/>
        </p:nvSpPr>
        <p:spPr>
          <a:xfrm>
            <a:off x="8988552" y="2267712"/>
            <a:ext cx="2514600" cy="182880"/>
          </a:xfrm>
          <a:prstGeom prst="rect">
            <a:avLst/>
          </a:prstGeom>
          <a:noFill/>
        </p:spPr>
        <p:txBody>
          <a:bodyPr wrap="square" lIns="0" rIns="0" tIns="0" bIns="0" anchor="t">
            <a:spAutoFit/>
          </a:bodyPr>
          <a:lstStyle/>
          <a:p>
            <a:pPr algn="l">
              <a:lnSpc>
                <a:spcPct val="100000"/>
              </a:lnSpc>
              <a:spcBef>
                <a:spcPts val="0"/>
              </a:spcBef>
              <a:spcAft>
                <a:spcPts val="0"/>
              </a:spcAft>
            </a:pPr>
            <a:r>
              <a:rPr sz="720" b="1" i="0">
                <a:solidFill>
                  <a:srgbClr val="8492A0"/>
                </a:solidFill>
                <a:latin typeface="Lato"/>
              </a:rPr>
              <a:t>KEY DRIVER</a:t>
            </a:r>
          </a:p>
        </p:txBody>
      </p:sp>
      <p:cxnSp>
        <p:nvCxnSpPr>
          <p:cNvPr id="60" name="Connector 59"/>
          <p:cNvCxnSpPr/>
          <p:nvPr/>
        </p:nvCxnSpPr>
        <p:spPr>
          <a:xfrm>
            <a:off x="7498079" y="2542032"/>
            <a:ext cx="3913633" cy="0"/>
          </a:xfrm>
          <a:prstGeom prst="line">
            <a:avLst/>
          </a:prstGeom>
          <a:ln w="10160">
            <a:solidFill>
              <a:srgbClr val="BFCED5"/>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7498079" y="2688336"/>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Y1</a:t>
            </a:r>
          </a:p>
        </p:txBody>
      </p:sp>
      <p:sp>
        <p:nvSpPr>
          <p:cNvPr id="62" name="TextBox 61"/>
          <p:cNvSpPr txBox="1"/>
          <p:nvPr/>
        </p:nvSpPr>
        <p:spPr>
          <a:xfrm>
            <a:off x="8156448" y="2688336"/>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$0.8M</a:t>
            </a:r>
          </a:p>
        </p:txBody>
      </p:sp>
      <p:sp>
        <p:nvSpPr>
          <p:cNvPr id="63" name="TextBox 62"/>
          <p:cNvSpPr txBox="1"/>
          <p:nvPr/>
        </p:nvSpPr>
        <p:spPr>
          <a:xfrm>
            <a:off x="8997696" y="2670048"/>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First service contracts + NASA grant</a:t>
            </a:r>
          </a:p>
        </p:txBody>
      </p:sp>
      <p:cxnSp>
        <p:nvCxnSpPr>
          <p:cNvPr id="64" name="Connector 63"/>
          <p:cNvCxnSpPr/>
          <p:nvPr/>
        </p:nvCxnSpPr>
        <p:spPr>
          <a:xfrm>
            <a:off x="7498079" y="3145536"/>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7498079" y="3346704"/>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Y2</a:t>
            </a:r>
          </a:p>
        </p:txBody>
      </p:sp>
      <p:sp>
        <p:nvSpPr>
          <p:cNvPr id="66" name="TextBox 65"/>
          <p:cNvSpPr txBox="1"/>
          <p:nvPr/>
        </p:nvSpPr>
        <p:spPr>
          <a:xfrm>
            <a:off x="8156448" y="3346704"/>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$2.4M</a:t>
            </a:r>
          </a:p>
        </p:txBody>
      </p:sp>
      <p:sp>
        <p:nvSpPr>
          <p:cNvPr id="67" name="TextBox 66"/>
          <p:cNvSpPr txBox="1"/>
          <p:nvPr/>
        </p:nvSpPr>
        <p:spPr>
          <a:xfrm>
            <a:off x="8997696" y="3328416"/>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Expanded services + licensing launch</a:t>
            </a:r>
          </a:p>
        </p:txBody>
      </p:sp>
      <p:cxnSp>
        <p:nvCxnSpPr>
          <p:cNvPr id="68" name="Connector 67"/>
          <p:cNvCxnSpPr/>
          <p:nvPr/>
        </p:nvCxnSpPr>
        <p:spPr>
          <a:xfrm>
            <a:off x="7498079" y="3803904"/>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7498079" y="4005072"/>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Y3</a:t>
            </a:r>
          </a:p>
        </p:txBody>
      </p:sp>
      <p:sp>
        <p:nvSpPr>
          <p:cNvPr id="70" name="TextBox 69"/>
          <p:cNvSpPr txBox="1"/>
          <p:nvPr/>
        </p:nvSpPr>
        <p:spPr>
          <a:xfrm>
            <a:off x="8156448" y="4005072"/>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$6.1M</a:t>
            </a:r>
          </a:p>
        </p:txBody>
      </p:sp>
      <p:sp>
        <p:nvSpPr>
          <p:cNvPr id="71" name="TextBox 70"/>
          <p:cNvSpPr txBox="1"/>
          <p:nvPr/>
        </p:nvSpPr>
        <p:spPr>
          <a:xfrm>
            <a:off x="8997696" y="3986784"/>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Cardiac / ortho milestones + Starlab start</a:t>
            </a:r>
          </a:p>
        </p:txBody>
      </p:sp>
      <p:cxnSp>
        <p:nvCxnSpPr>
          <p:cNvPr id="72" name="Connector 71"/>
          <p:cNvCxnSpPr/>
          <p:nvPr/>
        </p:nvCxnSpPr>
        <p:spPr>
          <a:xfrm>
            <a:off x="7498079" y="4462272"/>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7498079" y="4663440"/>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Y4</a:t>
            </a:r>
          </a:p>
        </p:txBody>
      </p:sp>
      <p:sp>
        <p:nvSpPr>
          <p:cNvPr id="74" name="TextBox 73"/>
          <p:cNvSpPr txBox="1"/>
          <p:nvPr/>
        </p:nvSpPr>
        <p:spPr>
          <a:xfrm>
            <a:off x="8156448" y="4663440"/>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87C71"/>
                </a:solidFill>
                <a:latin typeface="Lato"/>
              </a:rPr>
              <a:t>$13.5M</a:t>
            </a:r>
          </a:p>
        </p:txBody>
      </p:sp>
      <p:sp>
        <p:nvSpPr>
          <p:cNvPr id="75" name="TextBox 74"/>
          <p:cNvSpPr txBox="1"/>
          <p:nvPr/>
        </p:nvSpPr>
        <p:spPr>
          <a:xfrm>
            <a:off x="8997696" y="4645152"/>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5E7082"/>
                </a:solidFill>
                <a:latin typeface="Lato"/>
              </a:rPr>
              <a:t>Licensing deals + multi-station operations</a:t>
            </a:r>
          </a:p>
        </p:txBody>
      </p:sp>
      <p:cxnSp>
        <p:nvCxnSpPr>
          <p:cNvPr id="76" name="Connector 75"/>
          <p:cNvCxnSpPr/>
          <p:nvPr/>
        </p:nvCxnSpPr>
        <p:spPr>
          <a:xfrm>
            <a:off x="7498079" y="5120640"/>
            <a:ext cx="3913633" cy="0"/>
          </a:xfrm>
          <a:prstGeom prst="line">
            <a:avLst/>
          </a:prstGeom>
          <a:ln w="7620">
            <a:solidFill>
              <a:srgbClr val="D4DEE2"/>
            </a:solidFill>
          </a:ln>
        </p:spPr>
        <p:style>
          <a:lnRef idx="2">
            <a:schemeClr val="accent1"/>
          </a:lnRef>
          <a:fillRef idx="0">
            <a:schemeClr val="accent1"/>
          </a:fillRef>
          <a:effectRef idx="1">
            <a:schemeClr val="accent1"/>
          </a:effectRef>
          <a:fontRef idx="minor">
            <a:schemeClr val="tx1"/>
          </a:fontRef>
        </p:style>
      </p:cxnSp>
      <p:sp>
        <p:nvSpPr>
          <p:cNvPr id="77" name="Rounded Rectangle 76"/>
          <p:cNvSpPr/>
          <p:nvPr/>
        </p:nvSpPr>
        <p:spPr>
          <a:xfrm>
            <a:off x="7434072" y="5248656"/>
            <a:ext cx="4023360" cy="55778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5321808"/>
            <a:ext cx="530352" cy="228600"/>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FFFFFF"/>
                </a:solidFill>
                <a:latin typeface="Lato"/>
              </a:rPr>
              <a:t>Y5</a:t>
            </a:r>
          </a:p>
        </p:txBody>
      </p:sp>
      <p:sp>
        <p:nvSpPr>
          <p:cNvPr id="79" name="TextBox 78"/>
          <p:cNvSpPr txBox="1"/>
          <p:nvPr/>
        </p:nvSpPr>
        <p:spPr>
          <a:xfrm>
            <a:off x="8156448" y="5321808"/>
            <a:ext cx="713232" cy="228600"/>
          </a:xfrm>
          <a:prstGeom prst="rect">
            <a:avLst/>
          </a:prstGeom>
          <a:noFill/>
        </p:spPr>
        <p:txBody>
          <a:bodyPr wrap="square" lIns="0" rIns="0" tIns="0" bIns="0" anchor="t">
            <a:spAutoFit/>
          </a:bodyPr>
          <a:lstStyle/>
          <a:p>
            <a:pPr algn="l">
              <a:lnSpc>
                <a:spcPct val="100000"/>
              </a:lnSpc>
              <a:spcBef>
                <a:spcPts val="0"/>
              </a:spcBef>
              <a:spcAft>
                <a:spcPts val="0"/>
              </a:spcAft>
            </a:pPr>
            <a:r>
              <a:rPr sz="950" b="1" i="0">
                <a:solidFill>
                  <a:srgbClr val="00A58E"/>
                </a:solidFill>
                <a:latin typeface="Lato"/>
              </a:rPr>
              <a:t>$24.2M</a:t>
            </a:r>
          </a:p>
        </p:txBody>
      </p:sp>
      <p:sp>
        <p:nvSpPr>
          <p:cNvPr id="80" name="TextBox 79"/>
          <p:cNvSpPr txBox="1"/>
          <p:nvPr/>
        </p:nvSpPr>
        <p:spPr>
          <a:xfrm>
            <a:off x="8997696" y="5303520"/>
            <a:ext cx="2267712" cy="347472"/>
          </a:xfrm>
          <a:prstGeom prst="rect">
            <a:avLst/>
          </a:prstGeom>
          <a:noFill/>
        </p:spPr>
        <p:txBody>
          <a:bodyPr wrap="square" lIns="0" rIns="0" tIns="0" bIns="0" anchor="t">
            <a:spAutoFit/>
          </a:bodyPr>
          <a:lstStyle/>
          <a:p>
            <a:pPr algn="l">
              <a:lnSpc>
                <a:spcPct val="92000"/>
              </a:lnSpc>
              <a:spcBef>
                <a:spcPts val="0"/>
              </a:spcBef>
              <a:spcAft>
                <a:spcPts val="0"/>
              </a:spcAft>
            </a:pPr>
            <a:r>
              <a:rPr sz="750" b="0" i="0">
                <a:solidFill>
                  <a:srgbClr val="CED8E0"/>
                </a:solidFill>
                <a:latin typeface="Lato"/>
              </a:rPr>
              <a:t>Scale-up across four product verticals</a:t>
            </a:r>
          </a:p>
        </p:txBody>
      </p:sp>
      <p:sp>
        <p:nvSpPr>
          <p:cNvPr id="81" name="Rounded Rectangle 80"/>
          <p:cNvSpPr/>
          <p:nvPr/>
        </p:nvSpPr>
        <p:spPr>
          <a:xfrm>
            <a:off x="9656064" y="5925312"/>
            <a:ext cx="1572768"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710928" y="5925312"/>
            <a:ext cx="1463040" cy="292608"/>
          </a:xfrm>
          <a:prstGeom prst="rect">
            <a:avLst/>
          </a:prstGeom>
          <a:noFill/>
        </p:spPr>
        <p:txBody>
          <a:bodyPr wrap="square" lIns="0" rIns="0" tIns="0" bIns="0" anchor="ctr">
            <a:spAutoFit/>
          </a:bodyPr>
          <a:lstStyle/>
          <a:p>
            <a:pPr algn="ctr">
              <a:lnSpc>
                <a:spcPct val="100000"/>
              </a:lnSpc>
              <a:spcBef>
                <a:spcPts val="0"/>
              </a:spcBef>
              <a:spcAft>
                <a:spcPts val="0"/>
              </a:spcAft>
            </a:pPr>
            <a:r>
              <a:rPr sz="750" b="1" i="0">
                <a:solidFill>
                  <a:srgbClr val="FFFFFF"/>
                </a:solidFill>
                <a:latin typeface="Lato"/>
              </a:rPr>
              <a:t>YEAR 5  /  $24.2M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ASK</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An $18M Series A to Reach First Commercial Flight</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17 / 21</a:t>
            </a:r>
          </a:p>
        </p:txBody>
      </p:sp>
      <p:sp>
        <p:nvSpPr>
          <p:cNvPr id="11" name="Rounded Rectangle 10"/>
          <p:cNvSpPr/>
          <p:nvPr/>
        </p:nvSpPr>
        <p:spPr>
          <a:xfrm>
            <a:off x="502920" y="1426464"/>
            <a:ext cx="2889504" cy="494690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1764792"/>
            <a:ext cx="1645920" cy="182880"/>
          </a:xfrm>
          <a:prstGeom prst="rect">
            <a:avLst/>
          </a:prstGeom>
          <a:noFill/>
        </p:spPr>
        <p:txBody>
          <a:bodyPr wrap="square" lIns="0" rIns="0" tIns="0" bIns="0" anchor="t">
            <a:spAutoFit/>
          </a:bodyPr>
          <a:lstStyle/>
          <a:p>
            <a:pPr algn="l">
              <a:lnSpc>
                <a:spcPct val="100000"/>
              </a:lnSpc>
              <a:spcBef>
                <a:spcPts val="0"/>
              </a:spcBef>
              <a:spcAft>
                <a:spcPts val="0"/>
              </a:spcAft>
            </a:pPr>
            <a:r>
              <a:rPr sz="780" b="1" i="0">
                <a:solidFill>
                  <a:srgbClr val="00A58E"/>
                </a:solidFill>
                <a:latin typeface="Lato"/>
              </a:rPr>
              <a:t>ROUND SIZE</a:t>
            </a:r>
          </a:p>
        </p:txBody>
      </p:sp>
      <p:sp>
        <p:nvSpPr>
          <p:cNvPr id="13" name="TextBox 12"/>
          <p:cNvSpPr txBox="1"/>
          <p:nvPr/>
        </p:nvSpPr>
        <p:spPr>
          <a:xfrm>
            <a:off x="786384" y="2139696"/>
            <a:ext cx="2157984" cy="658368"/>
          </a:xfrm>
          <a:prstGeom prst="rect">
            <a:avLst/>
          </a:prstGeom>
          <a:noFill/>
        </p:spPr>
        <p:txBody>
          <a:bodyPr wrap="square" lIns="0" rIns="0" tIns="0" bIns="0" anchor="t">
            <a:spAutoFit/>
          </a:bodyPr>
          <a:lstStyle/>
          <a:p>
            <a:pPr algn="l">
              <a:lnSpc>
                <a:spcPct val="100000"/>
              </a:lnSpc>
              <a:spcBef>
                <a:spcPts val="0"/>
              </a:spcBef>
              <a:spcAft>
                <a:spcPts val="0"/>
              </a:spcAft>
            </a:pPr>
            <a:r>
              <a:rPr sz="3000" b="1" i="0">
                <a:solidFill>
                  <a:srgbClr val="FFFFFF"/>
                </a:solidFill>
                <a:latin typeface="Lato"/>
              </a:rPr>
              <a:t>$18M</a:t>
            </a:r>
          </a:p>
        </p:txBody>
      </p:sp>
      <p:sp>
        <p:nvSpPr>
          <p:cNvPr id="14" name="TextBox 13"/>
          <p:cNvSpPr txBox="1"/>
          <p:nvPr/>
        </p:nvSpPr>
        <p:spPr>
          <a:xfrm>
            <a:off x="786384" y="2852928"/>
            <a:ext cx="2103120" cy="237744"/>
          </a:xfrm>
          <a:prstGeom prst="rect">
            <a:avLst/>
          </a:prstGeom>
          <a:noFill/>
        </p:spPr>
        <p:txBody>
          <a:bodyPr wrap="square" lIns="0" rIns="0" tIns="0" bIns="0" anchor="t">
            <a:spAutoFit/>
          </a:bodyPr>
          <a:lstStyle/>
          <a:p>
            <a:pPr algn="l">
              <a:lnSpc>
                <a:spcPct val="100000"/>
              </a:lnSpc>
              <a:spcBef>
                <a:spcPts val="0"/>
              </a:spcBef>
              <a:spcAft>
                <a:spcPts val="0"/>
              </a:spcAft>
            </a:pPr>
            <a:r>
              <a:rPr sz="919" b="1" i="0">
                <a:solidFill>
                  <a:srgbClr val="C7D2DB"/>
                </a:solidFill>
                <a:latin typeface="Lato"/>
              </a:rPr>
              <a:t>Series A Preferred Equity</a:t>
            </a:r>
          </a:p>
        </p:txBody>
      </p:sp>
      <p:cxnSp>
        <p:nvCxnSpPr>
          <p:cNvPr id="15" name="Connector 14"/>
          <p:cNvCxnSpPr/>
          <p:nvPr/>
        </p:nvCxnSpPr>
        <p:spPr>
          <a:xfrm>
            <a:off x="786384" y="3355848"/>
            <a:ext cx="2304288" cy="0"/>
          </a:xfrm>
          <a:prstGeom prst="line">
            <a:avLst/>
          </a:prstGeom>
          <a:ln w="10160">
            <a:solidFill>
              <a:srgbClr val="3B5064"/>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86384" y="3611880"/>
            <a:ext cx="1993392" cy="27432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00A58E"/>
                </a:solidFill>
                <a:latin typeface="Lato"/>
              </a:rPr>
              <a:t>~30 months</a:t>
            </a:r>
          </a:p>
        </p:txBody>
      </p:sp>
      <p:sp>
        <p:nvSpPr>
          <p:cNvPr id="17" name="TextBox 16"/>
          <p:cNvSpPr txBox="1"/>
          <p:nvPr/>
        </p:nvSpPr>
        <p:spPr>
          <a:xfrm>
            <a:off x="786384" y="3931920"/>
            <a:ext cx="1993392" cy="310896"/>
          </a:xfrm>
          <a:prstGeom prst="rect">
            <a:avLst/>
          </a:prstGeom>
          <a:noFill/>
        </p:spPr>
        <p:txBody>
          <a:bodyPr wrap="square" lIns="0" rIns="0" tIns="0" bIns="0" anchor="t">
            <a:spAutoFit/>
          </a:bodyPr>
          <a:lstStyle/>
          <a:p>
            <a:pPr algn="l">
              <a:lnSpc>
                <a:spcPct val="93000"/>
              </a:lnSpc>
              <a:spcBef>
                <a:spcPts val="0"/>
              </a:spcBef>
              <a:spcAft>
                <a:spcPts val="0"/>
              </a:spcAft>
            </a:pPr>
            <a:r>
              <a:rPr sz="760" b="0" i="0">
                <a:solidFill>
                  <a:srgbClr val="C7D2DB"/>
                </a:solidFill>
                <a:latin typeface="Lato"/>
              </a:rPr>
              <a:t>Runway to next value-inflection</a:t>
            </a:r>
          </a:p>
        </p:txBody>
      </p:sp>
      <p:sp>
        <p:nvSpPr>
          <p:cNvPr id="18" name="TextBox 17"/>
          <p:cNvSpPr txBox="1"/>
          <p:nvPr/>
        </p:nvSpPr>
        <p:spPr>
          <a:xfrm>
            <a:off x="786384" y="4416552"/>
            <a:ext cx="1993392" cy="27432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00A58E"/>
                </a:solidFill>
                <a:latin typeface="Lato"/>
              </a:rPr>
              <a:t>2</a:t>
            </a:r>
          </a:p>
        </p:txBody>
      </p:sp>
      <p:sp>
        <p:nvSpPr>
          <p:cNvPr id="19" name="TextBox 18"/>
          <p:cNvSpPr txBox="1"/>
          <p:nvPr/>
        </p:nvSpPr>
        <p:spPr>
          <a:xfrm>
            <a:off x="786384" y="4736592"/>
            <a:ext cx="1993392" cy="310896"/>
          </a:xfrm>
          <a:prstGeom prst="rect">
            <a:avLst/>
          </a:prstGeom>
          <a:noFill/>
        </p:spPr>
        <p:txBody>
          <a:bodyPr wrap="square" lIns="0" rIns="0" tIns="0" bIns="0" anchor="t">
            <a:spAutoFit/>
          </a:bodyPr>
          <a:lstStyle/>
          <a:p>
            <a:pPr algn="l">
              <a:lnSpc>
                <a:spcPct val="93000"/>
              </a:lnSpc>
              <a:spcBef>
                <a:spcPts val="0"/>
              </a:spcBef>
              <a:spcAft>
                <a:spcPts val="0"/>
              </a:spcAft>
            </a:pPr>
            <a:r>
              <a:rPr sz="760" b="0" i="0">
                <a:solidFill>
                  <a:srgbClr val="C7D2DB"/>
                </a:solidFill>
                <a:latin typeface="Lato"/>
              </a:rPr>
              <a:t>Product verticals reaching clinical pilot</a:t>
            </a:r>
          </a:p>
        </p:txBody>
      </p:sp>
      <p:sp>
        <p:nvSpPr>
          <p:cNvPr id="20" name="TextBox 19"/>
          <p:cNvSpPr txBox="1"/>
          <p:nvPr/>
        </p:nvSpPr>
        <p:spPr>
          <a:xfrm>
            <a:off x="786384" y="5221224"/>
            <a:ext cx="1993392" cy="274320"/>
          </a:xfrm>
          <a:prstGeom prst="rect">
            <a:avLst/>
          </a:prstGeom>
          <a:noFill/>
        </p:spPr>
        <p:txBody>
          <a:bodyPr wrap="square" lIns="0" rIns="0" tIns="0" bIns="0" anchor="t">
            <a:spAutoFit/>
          </a:bodyPr>
          <a:lstStyle/>
          <a:p>
            <a:pPr algn="l">
              <a:lnSpc>
                <a:spcPct val="100000"/>
              </a:lnSpc>
              <a:spcBef>
                <a:spcPts val="0"/>
              </a:spcBef>
              <a:spcAft>
                <a:spcPts val="0"/>
              </a:spcAft>
            </a:pPr>
            <a:r>
              <a:rPr sz="1250" b="1" i="0">
                <a:solidFill>
                  <a:srgbClr val="00A58E"/>
                </a:solidFill>
                <a:latin typeface="Lato"/>
              </a:rPr>
              <a:t>3–5</a:t>
            </a:r>
          </a:p>
        </p:txBody>
      </p:sp>
      <p:sp>
        <p:nvSpPr>
          <p:cNvPr id="21" name="TextBox 20"/>
          <p:cNvSpPr txBox="1"/>
          <p:nvPr/>
        </p:nvSpPr>
        <p:spPr>
          <a:xfrm>
            <a:off x="786384" y="5541264"/>
            <a:ext cx="1993392" cy="310896"/>
          </a:xfrm>
          <a:prstGeom prst="rect">
            <a:avLst/>
          </a:prstGeom>
          <a:noFill/>
        </p:spPr>
        <p:txBody>
          <a:bodyPr wrap="square" lIns="0" rIns="0" tIns="0" bIns="0" anchor="t">
            <a:spAutoFit/>
          </a:bodyPr>
          <a:lstStyle/>
          <a:p>
            <a:pPr algn="l">
              <a:lnSpc>
                <a:spcPct val="93000"/>
              </a:lnSpc>
              <a:spcBef>
                <a:spcPts val="0"/>
              </a:spcBef>
              <a:spcAft>
                <a:spcPts val="0"/>
              </a:spcAft>
            </a:pPr>
            <a:r>
              <a:rPr sz="760" b="0" i="0">
                <a:solidFill>
                  <a:srgbClr val="C7D2DB"/>
                </a:solidFill>
                <a:latin typeface="Lato"/>
              </a:rPr>
              <a:t>Target commercial flight missions secured</a:t>
            </a:r>
          </a:p>
        </p:txBody>
      </p:sp>
      <p:sp>
        <p:nvSpPr>
          <p:cNvPr id="22" name="Rounded Rectangle 21"/>
          <p:cNvSpPr/>
          <p:nvPr/>
        </p:nvSpPr>
        <p:spPr>
          <a:xfrm>
            <a:off x="3602736" y="1426464"/>
            <a:ext cx="3749039" cy="494690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867912" y="1700784"/>
            <a:ext cx="1828800"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USE OF FUNDS</a:t>
            </a:r>
          </a:p>
        </p:txBody>
      </p:sp>
      <p:sp>
        <p:nvSpPr>
          <p:cNvPr id="24" name="Rectangle 23"/>
          <p:cNvSpPr/>
          <p:nvPr/>
        </p:nvSpPr>
        <p:spPr>
          <a:xfrm>
            <a:off x="3867912" y="2103120"/>
            <a:ext cx="1287475" cy="310896"/>
          </a:xfrm>
          <a:prstGeom prst="rect">
            <a:avLst/>
          </a:prstGeom>
          <a:solidFill>
            <a:srgbClr val="00A58E"/>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155387" y="2103120"/>
            <a:ext cx="804672" cy="310896"/>
          </a:xfrm>
          <a:prstGeom prst="rect">
            <a:avLst/>
          </a:prstGeom>
          <a:solidFill>
            <a:srgbClr val="5E91B5"/>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60059" y="2103120"/>
            <a:ext cx="482803" cy="310896"/>
          </a:xfrm>
          <a:prstGeom prst="rect">
            <a:avLst/>
          </a:prstGeom>
          <a:solidFill>
            <a:srgbClr val="E5A647"/>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42862" y="2103120"/>
            <a:ext cx="482803" cy="310896"/>
          </a:xfrm>
          <a:prstGeom prst="rect">
            <a:avLst/>
          </a:prstGeom>
          <a:solidFill>
            <a:srgbClr val="7D6CB0"/>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25665" y="2103120"/>
            <a:ext cx="160934" cy="310896"/>
          </a:xfrm>
          <a:prstGeom prst="rect">
            <a:avLst/>
          </a:prstGeom>
          <a:solidFill>
            <a:srgbClr val="D87566"/>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867912" y="2724912"/>
            <a:ext cx="109728" cy="109728"/>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3087" y="2679192"/>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R&amp;D / Payload Development</a:t>
            </a:r>
          </a:p>
        </p:txBody>
      </p:sp>
      <p:sp>
        <p:nvSpPr>
          <p:cNvPr id="31" name="TextBox 30"/>
          <p:cNvSpPr txBox="1"/>
          <p:nvPr/>
        </p:nvSpPr>
        <p:spPr>
          <a:xfrm>
            <a:off x="6601968" y="2679192"/>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40%</a:t>
            </a:r>
          </a:p>
        </p:txBody>
      </p:sp>
      <p:sp>
        <p:nvSpPr>
          <p:cNvPr id="32" name="Rectangle 31"/>
          <p:cNvSpPr/>
          <p:nvPr/>
        </p:nvSpPr>
        <p:spPr>
          <a:xfrm>
            <a:off x="3867912" y="3346704"/>
            <a:ext cx="109728" cy="109728"/>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3087" y="3300984"/>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Flight + Integration</a:t>
            </a:r>
          </a:p>
        </p:txBody>
      </p:sp>
      <p:sp>
        <p:nvSpPr>
          <p:cNvPr id="34" name="TextBox 33"/>
          <p:cNvSpPr txBox="1"/>
          <p:nvPr/>
        </p:nvSpPr>
        <p:spPr>
          <a:xfrm>
            <a:off x="6601968" y="3300984"/>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25%</a:t>
            </a:r>
          </a:p>
        </p:txBody>
      </p:sp>
      <p:sp>
        <p:nvSpPr>
          <p:cNvPr id="35" name="Rectangle 34"/>
          <p:cNvSpPr/>
          <p:nvPr/>
        </p:nvSpPr>
        <p:spPr>
          <a:xfrm>
            <a:off x="3867912" y="3968496"/>
            <a:ext cx="109728" cy="109728"/>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33087" y="3922776"/>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Regulatory + Clinical</a:t>
            </a:r>
          </a:p>
        </p:txBody>
      </p:sp>
      <p:sp>
        <p:nvSpPr>
          <p:cNvPr id="37" name="TextBox 36"/>
          <p:cNvSpPr txBox="1"/>
          <p:nvPr/>
        </p:nvSpPr>
        <p:spPr>
          <a:xfrm>
            <a:off x="6601968" y="3922776"/>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15%</a:t>
            </a:r>
          </a:p>
        </p:txBody>
      </p:sp>
      <p:sp>
        <p:nvSpPr>
          <p:cNvPr id="38" name="Rectangle 37"/>
          <p:cNvSpPr/>
          <p:nvPr/>
        </p:nvSpPr>
        <p:spPr>
          <a:xfrm>
            <a:off x="3867912" y="4590288"/>
            <a:ext cx="109728" cy="109728"/>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3087" y="4544568"/>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Team Build-Out</a:t>
            </a:r>
          </a:p>
        </p:txBody>
      </p:sp>
      <p:sp>
        <p:nvSpPr>
          <p:cNvPr id="40" name="TextBox 39"/>
          <p:cNvSpPr txBox="1"/>
          <p:nvPr/>
        </p:nvSpPr>
        <p:spPr>
          <a:xfrm>
            <a:off x="6601968" y="4544568"/>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15%</a:t>
            </a:r>
          </a:p>
        </p:txBody>
      </p:sp>
      <p:sp>
        <p:nvSpPr>
          <p:cNvPr id="41" name="Rectangle 40"/>
          <p:cNvSpPr/>
          <p:nvPr/>
        </p:nvSpPr>
        <p:spPr>
          <a:xfrm>
            <a:off x="3867912" y="5212080"/>
            <a:ext cx="109728" cy="109728"/>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5166360"/>
            <a:ext cx="2212848" cy="256032"/>
          </a:xfrm>
          <a:prstGeom prst="rect">
            <a:avLst/>
          </a:prstGeom>
          <a:noFill/>
        </p:spPr>
        <p:txBody>
          <a:bodyPr wrap="square" lIns="0" rIns="0" tIns="0" bIns="0" anchor="t">
            <a:spAutoFit/>
          </a:bodyPr>
          <a:lstStyle/>
          <a:p>
            <a:pPr algn="l">
              <a:lnSpc>
                <a:spcPct val="100000"/>
              </a:lnSpc>
              <a:spcBef>
                <a:spcPts val="0"/>
              </a:spcBef>
              <a:spcAft>
                <a:spcPts val="0"/>
              </a:spcAft>
            </a:pPr>
            <a:r>
              <a:rPr sz="869" b="1" i="0">
                <a:solidFill>
                  <a:srgbClr val="23384D"/>
                </a:solidFill>
                <a:latin typeface="Lato"/>
              </a:rPr>
              <a:t>G&amp;A</a:t>
            </a:r>
          </a:p>
        </p:txBody>
      </p:sp>
      <p:sp>
        <p:nvSpPr>
          <p:cNvPr id="43" name="TextBox 42"/>
          <p:cNvSpPr txBox="1"/>
          <p:nvPr/>
        </p:nvSpPr>
        <p:spPr>
          <a:xfrm>
            <a:off x="6601968" y="5166360"/>
            <a:ext cx="457200" cy="256032"/>
          </a:xfrm>
          <a:prstGeom prst="rect">
            <a:avLst/>
          </a:prstGeom>
          <a:noFill/>
        </p:spPr>
        <p:txBody>
          <a:bodyPr wrap="square" lIns="0" rIns="0" tIns="0" bIns="0" anchor="t">
            <a:spAutoFit/>
          </a:bodyPr>
          <a:lstStyle/>
          <a:p>
            <a:pPr algn="r">
              <a:lnSpc>
                <a:spcPct val="100000"/>
              </a:lnSpc>
              <a:spcBef>
                <a:spcPts val="0"/>
              </a:spcBef>
              <a:spcAft>
                <a:spcPts val="0"/>
              </a:spcAft>
            </a:pPr>
            <a:r>
              <a:rPr sz="919" b="1" i="0">
                <a:solidFill>
                  <a:srgbClr val="10243D"/>
                </a:solidFill>
                <a:latin typeface="Lato"/>
              </a:rPr>
              <a:t>5%</a:t>
            </a:r>
          </a:p>
        </p:txBody>
      </p:sp>
      <p:sp>
        <p:nvSpPr>
          <p:cNvPr id="44" name="TextBox 43"/>
          <p:cNvSpPr txBox="1"/>
          <p:nvPr/>
        </p:nvSpPr>
        <p:spPr>
          <a:xfrm>
            <a:off x="3867912" y="5961888"/>
            <a:ext cx="3108960" cy="164592"/>
          </a:xfrm>
          <a:prstGeom prst="rect">
            <a:avLst/>
          </a:prstGeom>
          <a:noFill/>
        </p:spPr>
        <p:txBody>
          <a:bodyPr wrap="square" lIns="0" rIns="0" tIns="0" bIns="0" anchor="t">
            <a:spAutoFit/>
          </a:bodyPr>
          <a:lstStyle/>
          <a:p>
            <a:pPr algn="l">
              <a:lnSpc>
                <a:spcPct val="100000"/>
              </a:lnSpc>
              <a:spcBef>
                <a:spcPts val="0"/>
              </a:spcBef>
              <a:spcAft>
                <a:spcPts val="0"/>
              </a:spcAft>
            </a:pPr>
            <a:r>
              <a:rPr sz="650" b="0" i="1">
                <a:solidFill>
                  <a:srgbClr val="8492A0"/>
                </a:solidFill>
                <a:latin typeface="Lato"/>
              </a:rPr>
              <a:t>Allocation is illustrative and subject to diligence.</a:t>
            </a:r>
          </a:p>
        </p:txBody>
      </p:sp>
      <p:sp>
        <p:nvSpPr>
          <p:cNvPr id="45" name="Rounded Rectangle 44"/>
          <p:cNvSpPr/>
          <p:nvPr/>
        </p:nvSpPr>
        <p:spPr>
          <a:xfrm>
            <a:off x="7562088" y="1426464"/>
            <a:ext cx="4123944" cy="494690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827264" y="1700784"/>
            <a:ext cx="3584448" cy="201168"/>
          </a:xfrm>
          <a:prstGeom prst="rect">
            <a:avLst/>
          </a:prstGeom>
          <a:noFill/>
        </p:spPr>
        <p:txBody>
          <a:bodyPr wrap="square" lIns="0" rIns="0" tIns="0" bIns="0" anchor="t">
            <a:spAutoFit/>
          </a:bodyPr>
          <a:lstStyle/>
          <a:p>
            <a:pPr algn="l">
              <a:lnSpc>
                <a:spcPct val="100000"/>
              </a:lnSpc>
              <a:spcBef>
                <a:spcPts val="0"/>
              </a:spcBef>
              <a:spcAft>
                <a:spcPts val="0"/>
              </a:spcAft>
            </a:pPr>
            <a:r>
              <a:rPr sz="819" b="1" i="0">
                <a:solidFill>
                  <a:srgbClr val="10243D"/>
                </a:solidFill>
                <a:latin typeface="Lato"/>
              </a:rPr>
              <a:t>VALUE-INFLECTION MILESTONES</a:t>
            </a:r>
          </a:p>
        </p:txBody>
      </p:sp>
      <p:sp>
        <p:nvSpPr>
          <p:cNvPr id="47" name="Rounded Rectangle 46"/>
          <p:cNvSpPr/>
          <p:nvPr/>
        </p:nvSpPr>
        <p:spPr>
          <a:xfrm>
            <a:off x="7827264" y="2148840"/>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82128" y="2148840"/>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01</a:t>
            </a:r>
          </a:p>
        </p:txBody>
      </p:sp>
      <p:sp>
        <p:nvSpPr>
          <p:cNvPr id="49" name="TextBox 48"/>
          <p:cNvSpPr txBox="1"/>
          <p:nvPr/>
        </p:nvSpPr>
        <p:spPr>
          <a:xfrm>
            <a:off x="8485632" y="2139696"/>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Flight-qualify modular payload hardware</a:t>
            </a:r>
          </a:p>
        </p:txBody>
      </p:sp>
      <p:cxnSp>
        <p:nvCxnSpPr>
          <p:cNvPr id="50" name="Connector 49"/>
          <p:cNvCxnSpPr/>
          <p:nvPr/>
        </p:nvCxnSpPr>
        <p:spPr>
          <a:xfrm>
            <a:off x="8485632" y="2624328"/>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7827264" y="2843784"/>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82128" y="2843784"/>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02</a:t>
            </a:r>
          </a:p>
        </p:txBody>
      </p:sp>
      <p:sp>
        <p:nvSpPr>
          <p:cNvPr id="53" name="TextBox 52"/>
          <p:cNvSpPr txBox="1"/>
          <p:nvPr/>
        </p:nvSpPr>
        <p:spPr>
          <a:xfrm>
            <a:off x="8485632" y="2834640"/>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Complete 3–5 commissioned ISS missions</a:t>
            </a:r>
          </a:p>
        </p:txBody>
      </p:sp>
      <p:cxnSp>
        <p:nvCxnSpPr>
          <p:cNvPr id="54" name="Connector 53"/>
          <p:cNvCxnSpPr/>
          <p:nvPr/>
        </p:nvCxnSpPr>
        <p:spPr>
          <a:xfrm>
            <a:off x="8485632" y="3319272"/>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827264" y="3538728"/>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82128" y="3538728"/>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03</a:t>
            </a:r>
          </a:p>
        </p:txBody>
      </p:sp>
      <p:sp>
        <p:nvSpPr>
          <p:cNvPr id="57" name="TextBox 56"/>
          <p:cNvSpPr txBox="1"/>
          <p:nvPr/>
        </p:nvSpPr>
        <p:spPr>
          <a:xfrm>
            <a:off x="8485632" y="3529584"/>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File first NASA InSPA Phase 1 grant</a:t>
            </a:r>
          </a:p>
        </p:txBody>
      </p:sp>
      <p:cxnSp>
        <p:nvCxnSpPr>
          <p:cNvPr id="58" name="Connector 57"/>
          <p:cNvCxnSpPr/>
          <p:nvPr/>
        </p:nvCxnSpPr>
        <p:spPr>
          <a:xfrm>
            <a:off x="8485632" y="4014216"/>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7827264" y="4233672"/>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882128" y="4233672"/>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04</a:t>
            </a:r>
          </a:p>
        </p:txBody>
      </p:sp>
      <p:sp>
        <p:nvSpPr>
          <p:cNvPr id="61" name="TextBox 60"/>
          <p:cNvSpPr txBox="1"/>
          <p:nvPr/>
        </p:nvSpPr>
        <p:spPr>
          <a:xfrm>
            <a:off x="8485632" y="4224528"/>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Secure Starlab payload reservation</a:t>
            </a:r>
          </a:p>
        </p:txBody>
      </p:sp>
      <p:cxnSp>
        <p:nvCxnSpPr>
          <p:cNvPr id="62" name="Connector 61"/>
          <p:cNvCxnSpPr/>
          <p:nvPr/>
        </p:nvCxnSpPr>
        <p:spPr>
          <a:xfrm>
            <a:off x="8485632" y="4709160"/>
            <a:ext cx="2807208" cy="0"/>
          </a:xfrm>
          <a:prstGeom prst="line">
            <a:avLst/>
          </a:prstGeom>
          <a:ln w="7620">
            <a:solidFill>
              <a:srgbClr val="CFD9DE"/>
            </a:solidFill>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7827264" y="4928616"/>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882128" y="4928616"/>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05</a:t>
            </a:r>
          </a:p>
        </p:txBody>
      </p:sp>
      <p:sp>
        <p:nvSpPr>
          <p:cNvPr id="65" name="TextBox 64"/>
          <p:cNvSpPr txBox="1"/>
          <p:nvPr/>
        </p:nvSpPr>
        <p:spPr>
          <a:xfrm>
            <a:off x="8485632" y="4919472"/>
            <a:ext cx="2779776" cy="384048"/>
          </a:xfrm>
          <a:prstGeom prst="rect">
            <a:avLst/>
          </a:prstGeom>
          <a:noFill/>
        </p:spPr>
        <p:txBody>
          <a:bodyPr wrap="square" lIns="0" rIns="0" tIns="0" bIns="0" anchor="t">
            <a:spAutoFit/>
          </a:bodyPr>
          <a:lstStyle/>
          <a:p>
            <a:pPr algn="l">
              <a:lnSpc>
                <a:spcPct val="100000"/>
              </a:lnSpc>
              <a:spcBef>
                <a:spcPts val="0"/>
              </a:spcBef>
              <a:spcAft>
                <a:spcPts val="0"/>
              </a:spcAft>
            </a:pPr>
            <a:r>
              <a:rPr sz="900" b="1" i="0">
                <a:solidFill>
                  <a:srgbClr val="23384D"/>
                </a:solidFill>
                <a:latin typeface="Lato"/>
              </a:rPr>
              <a:t>Build core scientific + engineering team</a:t>
            </a:r>
          </a:p>
        </p:txBody>
      </p:sp>
      <p:sp>
        <p:nvSpPr>
          <p:cNvPr id="66" name="Rounded Rectangle 65"/>
          <p:cNvSpPr/>
          <p:nvPr/>
        </p:nvSpPr>
        <p:spPr>
          <a:xfrm>
            <a:off x="7827264" y="5742432"/>
            <a:ext cx="3584448" cy="36576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55279" y="5742432"/>
            <a:ext cx="3328416" cy="365760"/>
          </a:xfrm>
          <a:prstGeom prst="rect">
            <a:avLst/>
          </a:prstGeom>
          <a:noFill/>
        </p:spPr>
        <p:txBody>
          <a:bodyPr wrap="square" lIns="0" rIns="0" tIns="0" bIns="0" anchor="ctr">
            <a:spAutoFit/>
          </a:bodyPr>
          <a:lstStyle/>
          <a:p>
            <a:pPr algn="l">
              <a:lnSpc>
                <a:spcPct val="100000"/>
              </a:lnSpc>
              <a:spcBef>
                <a:spcPts val="0"/>
              </a:spcBef>
              <a:spcAft>
                <a:spcPts val="0"/>
              </a:spcAft>
            </a:pPr>
            <a:r>
              <a:rPr sz="740" b="1" i="0">
                <a:solidFill>
                  <a:srgbClr val="FFFFFF"/>
                </a:solidFill>
                <a:latin typeface="Lato"/>
              </a:rPr>
              <a:t>TARGET  /  FIRST COMMERCIAL FLIGHT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RISK FACTORS</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Key Risks and Mitigating Strategies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18 / 21</a:t>
            </a:r>
          </a:p>
        </p:txBody>
      </p:sp>
      <p:sp>
        <p:nvSpPr>
          <p:cNvPr id="11" name="Rectangle 10"/>
          <p:cNvSpPr/>
          <p:nvPr/>
        </p:nvSpPr>
        <p:spPr>
          <a:xfrm>
            <a:off x="502920" y="1426464"/>
            <a:ext cx="1417320" cy="420624"/>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1426464"/>
            <a:ext cx="1124712" cy="420624"/>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RISK CATEGORY</a:t>
            </a:r>
          </a:p>
        </p:txBody>
      </p:sp>
      <p:sp>
        <p:nvSpPr>
          <p:cNvPr id="13" name="Rectangle 12"/>
          <p:cNvSpPr/>
          <p:nvPr/>
        </p:nvSpPr>
        <p:spPr>
          <a:xfrm>
            <a:off x="1993392" y="1426464"/>
            <a:ext cx="4434840" cy="420624"/>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9696" y="1426464"/>
            <a:ext cx="4142231" cy="420624"/>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RISK</a:t>
            </a:r>
          </a:p>
        </p:txBody>
      </p:sp>
      <p:sp>
        <p:nvSpPr>
          <p:cNvPr id="15" name="Rectangle 14"/>
          <p:cNvSpPr/>
          <p:nvPr/>
        </p:nvSpPr>
        <p:spPr>
          <a:xfrm>
            <a:off x="6501383" y="1426464"/>
            <a:ext cx="4965192" cy="420624"/>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47688" y="1426464"/>
            <a:ext cx="4672583" cy="420624"/>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MITIGATING STRATEGY</a:t>
            </a:r>
          </a:p>
        </p:txBody>
      </p:sp>
      <p:sp>
        <p:nvSpPr>
          <p:cNvPr id="17" name="Rounded Rectangle 16"/>
          <p:cNvSpPr/>
          <p:nvPr/>
        </p:nvSpPr>
        <p:spPr>
          <a:xfrm>
            <a:off x="502920" y="1920240"/>
            <a:ext cx="141732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 y="1920240"/>
            <a:ext cx="73152" cy="758952"/>
          </a:xfrm>
          <a:prstGeom prst="rect">
            <a:avLst/>
          </a:prstGeom>
          <a:solidFill>
            <a:srgbClr val="D87566"/>
          </a:solidFill>
          <a:ln w="9525">
            <a:solidFill>
              <a:srgbClr val="D875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192024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TECHNICAL</a:t>
            </a:r>
          </a:p>
        </p:txBody>
      </p:sp>
      <p:sp>
        <p:nvSpPr>
          <p:cNvPr id="20" name="Rounded Rectangle 19"/>
          <p:cNvSpPr/>
          <p:nvPr/>
        </p:nvSpPr>
        <p:spPr>
          <a:xfrm>
            <a:off x="1993392" y="1920240"/>
            <a:ext cx="443484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94560" y="202996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Scaling from validated tissue patches to full vascularised organs remains scientifically unsolved industry-wide.</a:t>
            </a:r>
          </a:p>
        </p:txBody>
      </p:sp>
      <p:sp>
        <p:nvSpPr>
          <p:cNvPr id="22" name="Rounded Rectangle 21"/>
          <p:cNvSpPr/>
          <p:nvPr/>
        </p:nvSpPr>
        <p:spPr>
          <a:xfrm>
            <a:off x="6501384" y="1920240"/>
            <a:ext cx="5184648"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11696" y="202996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Monetise lower-complexity wound care and orthopedic products before attempting whole-organ printing.</a:t>
            </a:r>
          </a:p>
        </p:txBody>
      </p:sp>
      <p:sp>
        <p:nvSpPr>
          <p:cNvPr id="24" name="Rounded Rectangle 23"/>
          <p:cNvSpPr/>
          <p:nvPr/>
        </p:nvSpPr>
        <p:spPr>
          <a:xfrm>
            <a:off x="502920" y="2788920"/>
            <a:ext cx="141732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2788920"/>
            <a:ext cx="73152" cy="758952"/>
          </a:xfrm>
          <a:prstGeom prst="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278892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REGULATORY</a:t>
            </a:r>
          </a:p>
        </p:txBody>
      </p:sp>
      <p:sp>
        <p:nvSpPr>
          <p:cNvPr id="27" name="Rounded Rectangle 26"/>
          <p:cNvSpPr/>
          <p:nvPr/>
        </p:nvSpPr>
        <p:spPr>
          <a:xfrm>
            <a:off x="1993392" y="2788920"/>
            <a:ext cx="443484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194560" y="289864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FDA pathways for novel tissue-engineered products are long, costly, and precedent-limited.</a:t>
            </a:r>
          </a:p>
        </p:txBody>
      </p:sp>
      <p:sp>
        <p:nvSpPr>
          <p:cNvPr id="29" name="Rounded Rectangle 28"/>
          <p:cNvSpPr/>
          <p:nvPr/>
        </p:nvSpPr>
        <p:spPr>
          <a:xfrm>
            <a:off x="6501384" y="2788920"/>
            <a:ext cx="5184648"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11696" y="289864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Use the Symvess precedent, engage regulatory counsel from Year 1, and target lower-risk 510(k) products first.</a:t>
            </a:r>
          </a:p>
        </p:txBody>
      </p:sp>
      <p:sp>
        <p:nvSpPr>
          <p:cNvPr id="31" name="Rounded Rectangle 30"/>
          <p:cNvSpPr/>
          <p:nvPr/>
        </p:nvSpPr>
        <p:spPr>
          <a:xfrm>
            <a:off x="502920" y="3657600"/>
            <a:ext cx="141732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3657600"/>
            <a:ext cx="73152" cy="758952"/>
          </a:xfrm>
          <a:prstGeom prst="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365760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PLATFORM / ACCESS</a:t>
            </a:r>
          </a:p>
        </p:txBody>
      </p:sp>
      <p:sp>
        <p:nvSpPr>
          <p:cNvPr id="34" name="Rounded Rectangle 33"/>
          <p:cNvSpPr/>
          <p:nvPr/>
        </p:nvSpPr>
        <p:spPr>
          <a:xfrm>
            <a:off x="1993392" y="3657600"/>
            <a:ext cx="443484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94560" y="376732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ISS retirement around 2030 creates dependency risk if successor stations are delayed.</a:t>
            </a:r>
          </a:p>
        </p:txBody>
      </p:sp>
      <p:sp>
        <p:nvSpPr>
          <p:cNvPr id="36" name="Rounded Rectangle 35"/>
          <p:cNvSpPr/>
          <p:nvPr/>
        </p:nvSpPr>
        <p:spPr>
          <a:xfrm>
            <a:off x="6501384" y="3657600"/>
            <a:ext cx="5184648"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711696" y="376732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Design for ISS, Starlab, Axiom, Orbital Reef, and Vast to diversify single-platform exposure.</a:t>
            </a:r>
          </a:p>
        </p:txBody>
      </p:sp>
      <p:sp>
        <p:nvSpPr>
          <p:cNvPr id="38" name="Rounded Rectangle 37"/>
          <p:cNvSpPr/>
          <p:nvPr/>
        </p:nvSpPr>
        <p:spPr>
          <a:xfrm>
            <a:off x="502920" y="4526279"/>
            <a:ext cx="141732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526279"/>
            <a:ext cx="73152" cy="758952"/>
          </a:xfrm>
          <a:prstGeom prst="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526279"/>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CAPITAL INTENSITY</a:t>
            </a:r>
          </a:p>
        </p:txBody>
      </p:sp>
      <p:sp>
        <p:nvSpPr>
          <p:cNvPr id="41" name="Rounded Rectangle 40"/>
          <p:cNvSpPr/>
          <p:nvPr/>
        </p:nvSpPr>
        <p:spPr>
          <a:xfrm>
            <a:off x="1993392" y="4526279"/>
            <a:ext cx="4434840"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194560" y="4636007"/>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Flight missions, payload hardware, and clinical trials require sustained, significant investment.</a:t>
            </a:r>
          </a:p>
        </p:txBody>
      </p:sp>
      <p:sp>
        <p:nvSpPr>
          <p:cNvPr id="43" name="Rounded Rectangle 42"/>
          <p:cNvSpPr/>
          <p:nvPr/>
        </p:nvSpPr>
        <p:spPr>
          <a:xfrm>
            <a:off x="6501384" y="4526279"/>
            <a:ext cx="5184648" cy="758952"/>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711696" y="4636007"/>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Blend equity with NASA, ESA, and DoD non-dilutive funding, following sector precedent.</a:t>
            </a:r>
          </a:p>
        </p:txBody>
      </p:sp>
      <p:sp>
        <p:nvSpPr>
          <p:cNvPr id="45" name="Rounded Rectangle 44"/>
          <p:cNvSpPr/>
          <p:nvPr/>
        </p:nvSpPr>
        <p:spPr>
          <a:xfrm>
            <a:off x="502920" y="5394960"/>
            <a:ext cx="141732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02920" y="5394960"/>
            <a:ext cx="73152" cy="758952"/>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13232" y="5394960"/>
            <a:ext cx="1024128" cy="75895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10243D"/>
                </a:solidFill>
                <a:latin typeface="Lato"/>
              </a:rPr>
              <a:t>COMPETITIVE</a:t>
            </a:r>
          </a:p>
        </p:txBody>
      </p:sp>
      <p:sp>
        <p:nvSpPr>
          <p:cNvPr id="48" name="Rounded Rectangle 47"/>
          <p:cNvSpPr/>
          <p:nvPr/>
        </p:nvSpPr>
        <p:spPr>
          <a:xfrm>
            <a:off x="1993392" y="5394960"/>
            <a:ext cx="4434840"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194560" y="5504688"/>
            <a:ext cx="4032504" cy="530352"/>
          </a:xfrm>
          <a:prstGeom prst="rect">
            <a:avLst/>
          </a:prstGeom>
          <a:noFill/>
        </p:spPr>
        <p:txBody>
          <a:bodyPr wrap="square" lIns="0" rIns="0" tIns="0" bIns="0" anchor="t">
            <a:spAutoFit/>
          </a:bodyPr>
          <a:lstStyle/>
          <a:p>
            <a:pPr algn="l">
              <a:lnSpc>
                <a:spcPct val="93000"/>
              </a:lnSpc>
              <a:spcBef>
                <a:spcPts val="0"/>
              </a:spcBef>
              <a:spcAft>
                <a:spcPts val="0"/>
              </a:spcAft>
            </a:pPr>
            <a:r>
              <a:rPr sz="810" b="0" i="0">
                <a:solidFill>
                  <a:srgbClr val="5E7082"/>
                </a:solidFill>
                <a:latin typeface="Lato"/>
              </a:rPr>
              <a:t>Redwire and LambdaVision hold first-mover relationships with NASA and station operators.</a:t>
            </a:r>
          </a:p>
        </p:txBody>
      </p:sp>
      <p:sp>
        <p:nvSpPr>
          <p:cNvPr id="50" name="Rounded Rectangle 49"/>
          <p:cNvSpPr/>
          <p:nvPr/>
        </p:nvSpPr>
        <p:spPr>
          <a:xfrm>
            <a:off x="6501384" y="5394960"/>
            <a:ext cx="5184648" cy="758952"/>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711696" y="5504688"/>
            <a:ext cx="4764024" cy="530352"/>
          </a:xfrm>
          <a:prstGeom prst="rect">
            <a:avLst/>
          </a:prstGeom>
          <a:noFill/>
        </p:spPr>
        <p:txBody>
          <a:bodyPr wrap="square" lIns="0" rIns="0" tIns="0" bIns="0" anchor="t">
            <a:spAutoFit/>
          </a:bodyPr>
          <a:lstStyle/>
          <a:p>
            <a:pPr algn="l">
              <a:lnSpc>
                <a:spcPct val="93000"/>
              </a:lnSpc>
              <a:spcBef>
                <a:spcPts val="0"/>
              </a:spcBef>
              <a:spcAft>
                <a:spcPts val="0"/>
              </a:spcAft>
            </a:pPr>
            <a:r>
              <a:rPr sz="810" b="1" i="0">
                <a:solidFill>
                  <a:srgbClr val="23384D"/>
                </a:solidFill>
                <a:latin typeface="Lato"/>
              </a:rPr>
              <a:t>Differentiate through multi-vertical breadth and station-agnostic flexibility, not a single-contract strategy.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ORGANISATION</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Team &amp; Scientific Advisory Approach</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19 / 21</a:t>
            </a:r>
          </a:p>
        </p:txBody>
      </p:sp>
      <p:sp>
        <p:nvSpPr>
          <p:cNvPr id="11" name="Rounded Rectangle 10"/>
          <p:cNvSpPr/>
          <p:nvPr/>
        </p:nvSpPr>
        <p:spPr>
          <a:xfrm>
            <a:off x="502920" y="1399032"/>
            <a:ext cx="11183112" cy="512064"/>
          </a:xfrm>
          <a:prstGeom prst="roundRect">
            <a:avLst/>
          </a:prstGeom>
          <a:solidFill>
            <a:srgbClr val="F1F5F8"/>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408176"/>
            <a:ext cx="10725912" cy="493776"/>
          </a:xfrm>
          <a:prstGeom prst="rect">
            <a:avLst/>
          </a:prstGeom>
          <a:noFill/>
        </p:spPr>
        <p:txBody>
          <a:bodyPr wrap="square" lIns="0" rIns="0" tIns="0" bIns="0" anchor="ctr">
            <a:spAutoFit/>
          </a:bodyPr>
          <a:lstStyle/>
          <a:p>
            <a:pPr algn="l">
              <a:lnSpc>
                <a:spcPct val="100000"/>
              </a:lnSpc>
              <a:spcBef>
                <a:spcPts val="0"/>
              </a:spcBef>
              <a:spcAft>
                <a:spcPts val="0"/>
              </a:spcAft>
            </a:pPr>
            <a:r>
              <a:rPr sz="930" b="0" i="0">
                <a:solidFill>
                  <a:srgbClr val="23384D"/>
                </a:solidFill>
                <a:latin typeface="Lato"/>
              </a:rPr>
              <a:t>The Series A hiring plan is organised around four capabilities required to build, certify, and commercialise the platform.</a:t>
            </a:r>
          </a:p>
        </p:txBody>
      </p:sp>
      <p:sp>
        <p:nvSpPr>
          <p:cNvPr id="13" name="Rounded Rectangle 12"/>
          <p:cNvSpPr/>
          <p:nvPr/>
        </p:nvSpPr>
        <p:spPr>
          <a:xfrm>
            <a:off x="502920"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4088" y="2313432"/>
            <a:ext cx="457200"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01</a:t>
            </a:r>
          </a:p>
        </p:txBody>
      </p:sp>
      <p:sp>
        <p:nvSpPr>
          <p:cNvPr id="16" name="TextBox 15"/>
          <p:cNvSpPr txBox="1"/>
          <p:nvPr/>
        </p:nvSpPr>
        <p:spPr>
          <a:xfrm>
            <a:off x="1536192"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00A58E"/>
                </a:solidFill>
                <a:latin typeface="Lato"/>
              </a:rPr>
              <a:t>PLANNED HIRE</a:t>
            </a:r>
          </a:p>
        </p:txBody>
      </p:sp>
      <p:sp>
        <p:nvSpPr>
          <p:cNvPr id="17" name="TextBox 16"/>
          <p:cNvSpPr txBox="1"/>
          <p:nvPr/>
        </p:nvSpPr>
        <p:spPr>
          <a:xfrm>
            <a:off x="704088"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Founder / Chief
Executive Officer</a:t>
            </a:r>
          </a:p>
        </p:txBody>
      </p:sp>
      <p:sp>
        <p:nvSpPr>
          <p:cNvPr id="18" name="TextBox 17"/>
          <p:cNvSpPr txBox="1"/>
          <p:nvPr/>
        </p:nvSpPr>
        <p:spPr>
          <a:xfrm>
            <a:off x="704088"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Commercial space or biotech leadership; regulated hardware or therapeutics experience from seed to scale.</a:t>
            </a:r>
          </a:p>
        </p:txBody>
      </p:sp>
      <p:sp>
        <p:nvSpPr>
          <p:cNvPr id="19" name="Rounded Rectangle 18"/>
          <p:cNvSpPr/>
          <p:nvPr/>
        </p:nvSpPr>
        <p:spPr>
          <a:xfrm>
            <a:off x="3319272"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20440" y="2313432"/>
            <a:ext cx="457200" cy="283464"/>
          </a:xfrm>
          <a:prstGeom prst="roundRect">
            <a:avLst/>
          </a:prstGeom>
          <a:solidFill>
            <a:srgbClr val="5E91B5"/>
          </a:solidFill>
          <a:ln w="9525">
            <a:solidFill>
              <a:srgbClr val="5E91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75304"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02</a:t>
            </a:r>
          </a:p>
        </p:txBody>
      </p:sp>
      <p:sp>
        <p:nvSpPr>
          <p:cNvPr id="22" name="TextBox 21"/>
          <p:cNvSpPr txBox="1"/>
          <p:nvPr/>
        </p:nvSpPr>
        <p:spPr>
          <a:xfrm>
            <a:off x="4352544"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5E91B5"/>
                </a:solidFill>
                <a:latin typeface="Lato"/>
              </a:rPr>
              <a:t>PLANNED HIRE</a:t>
            </a:r>
          </a:p>
        </p:txBody>
      </p:sp>
      <p:sp>
        <p:nvSpPr>
          <p:cNvPr id="23" name="TextBox 22"/>
          <p:cNvSpPr txBox="1"/>
          <p:nvPr/>
        </p:nvSpPr>
        <p:spPr>
          <a:xfrm>
            <a:off x="3520440"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Chief Scientific
Officer</a:t>
            </a:r>
          </a:p>
        </p:txBody>
      </p:sp>
      <p:sp>
        <p:nvSpPr>
          <p:cNvPr id="24" name="TextBox 23"/>
          <p:cNvSpPr txBox="1"/>
          <p:nvPr/>
        </p:nvSpPr>
        <p:spPr>
          <a:xfrm>
            <a:off x="3520440"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PhD-level tissue engineering, stem-cell biology, or regenerative medicine expertise.</a:t>
            </a:r>
          </a:p>
        </p:txBody>
      </p:sp>
      <p:sp>
        <p:nvSpPr>
          <p:cNvPr id="25" name="Rounded Rectangle 24"/>
          <p:cNvSpPr/>
          <p:nvPr/>
        </p:nvSpPr>
        <p:spPr>
          <a:xfrm>
            <a:off x="6135624"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36792" y="2313432"/>
            <a:ext cx="457200" cy="283464"/>
          </a:xfrm>
          <a:prstGeom prst="roundRect">
            <a:avLst/>
          </a:prstGeom>
          <a:solidFill>
            <a:srgbClr val="E5A647"/>
          </a:solidFill>
          <a:ln w="9525">
            <a:solidFill>
              <a:srgbClr val="E5A64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1655"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03</a:t>
            </a:r>
          </a:p>
        </p:txBody>
      </p:sp>
      <p:sp>
        <p:nvSpPr>
          <p:cNvPr id="28" name="TextBox 27"/>
          <p:cNvSpPr txBox="1"/>
          <p:nvPr/>
        </p:nvSpPr>
        <p:spPr>
          <a:xfrm>
            <a:off x="7168896"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E5A647"/>
                </a:solidFill>
                <a:latin typeface="Lato"/>
              </a:rPr>
              <a:t>PLANNED HIRE</a:t>
            </a:r>
          </a:p>
        </p:txBody>
      </p:sp>
      <p:sp>
        <p:nvSpPr>
          <p:cNvPr id="29" name="TextBox 28"/>
          <p:cNvSpPr txBox="1"/>
          <p:nvPr/>
        </p:nvSpPr>
        <p:spPr>
          <a:xfrm>
            <a:off x="6336792"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VP, Payload
Engineering</a:t>
            </a:r>
          </a:p>
        </p:txBody>
      </p:sp>
      <p:sp>
        <p:nvSpPr>
          <p:cNvPr id="30" name="TextBox 29"/>
          <p:cNvSpPr txBox="1"/>
          <p:nvPr/>
        </p:nvSpPr>
        <p:spPr>
          <a:xfrm>
            <a:off x="6336792"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Aerospace hardware background with ISS or commercial LEO flight-qualification experience.</a:t>
            </a:r>
          </a:p>
        </p:txBody>
      </p:sp>
      <p:sp>
        <p:nvSpPr>
          <p:cNvPr id="31" name="Rounded Rectangle 30"/>
          <p:cNvSpPr/>
          <p:nvPr/>
        </p:nvSpPr>
        <p:spPr>
          <a:xfrm>
            <a:off x="8951976" y="2093976"/>
            <a:ext cx="2624328" cy="2340864"/>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9153144" y="2313432"/>
            <a:ext cx="457200" cy="283464"/>
          </a:xfrm>
          <a:prstGeom prst="roundRect">
            <a:avLst/>
          </a:prstGeom>
          <a:solidFill>
            <a:srgbClr val="7D6CB0"/>
          </a:solidFill>
          <a:ln w="9525">
            <a:solidFill>
              <a:srgbClr val="7D6C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08008" y="2313432"/>
            <a:ext cx="347472" cy="283464"/>
          </a:xfrm>
          <a:prstGeom prst="rect">
            <a:avLst/>
          </a:prstGeom>
          <a:noFill/>
        </p:spPr>
        <p:txBody>
          <a:bodyPr wrap="square" lIns="0" rIns="0" tIns="0" bIns="0" anchor="ctr">
            <a:spAutoFit/>
          </a:bodyPr>
          <a:lstStyle/>
          <a:p>
            <a:pPr algn="ctr">
              <a:lnSpc>
                <a:spcPct val="100000"/>
              </a:lnSpc>
              <a:spcBef>
                <a:spcPts val="0"/>
              </a:spcBef>
              <a:spcAft>
                <a:spcPts val="0"/>
              </a:spcAft>
            </a:pPr>
            <a:r>
              <a:rPr sz="760" b="1" i="0">
                <a:solidFill>
                  <a:srgbClr val="FFFFFF"/>
                </a:solidFill>
                <a:latin typeface="Lato"/>
              </a:rPr>
              <a:t>04</a:t>
            </a:r>
          </a:p>
        </p:txBody>
      </p:sp>
      <p:sp>
        <p:nvSpPr>
          <p:cNvPr id="34" name="TextBox 33"/>
          <p:cNvSpPr txBox="1"/>
          <p:nvPr/>
        </p:nvSpPr>
        <p:spPr>
          <a:xfrm>
            <a:off x="9985248" y="2368296"/>
            <a:ext cx="1353312" cy="146304"/>
          </a:xfrm>
          <a:prstGeom prst="rect">
            <a:avLst/>
          </a:prstGeom>
          <a:noFill/>
        </p:spPr>
        <p:txBody>
          <a:bodyPr wrap="square" lIns="0" rIns="0" tIns="0" bIns="0" anchor="t">
            <a:spAutoFit/>
          </a:bodyPr>
          <a:lstStyle/>
          <a:p>
            <a:pPr algn="r">
              <a:lnSpc>
                <a:spcPct val="100000"/>
              </a:lnSpc>
              <a:spcBef>
                <a:spcPts val="0"/>
              </a:spcBef>
              <a:spcAft>
                <a:spcPts val="0"/>
              </a:spcAft>
            </a:pPr>
            <a:r>
              <a:rPr sz="680" b="1" i="0">
                <a:solidFill>
                  <a:srgbClr val="7D6CB0"/>
                </a:solidFill>
                <a:latin typeface="Lato"/>
              </a:rPr>
              <a:t>PLANNED HIRE</a:t>
            </a:r>
          </a:p>
        </p:txBody>
      </p:sp>
      <p:sp>
        <p:nvSpPr>
          <p:cNvPr id="35" name="TextBox 34"/>
          <p:cNvSpPr txBox="1"/>
          <p:nvPr/>
        </p:nvSpPr>
        <p:spPr>
          <a:xfrm>
            <a:off x="9153144" y="2816352"/>
            <a:ext cx="2194560" cy="612648"/>
          </a:xfrm>
          <a:prstGeom prst="rect">
            <a:avLst/>
          </a:prstGeom>
          <a:noFill/>
        </p:spPr>
        <p:txBody>
          <a:bodyPr wrap="square" lIns="0" rIns="0" tIns="0" bIns="0" anchor="t">
            <a:spAutoFit/>
          </a:bodyPr>
          <a:lstStyle/>
          <a:p>
            <a:pPr algn="l">
              <a:lnSpc>
                <a:spcPct val="90000"/>
              </a:lnSpc>
              <a:spcBef>
                <a:spcPts val="0"/>
              </a:spcBef>
              <a:spcAft>
                <a:spcPts val="0"/>
              </a:spcAft>
            </a:pPr>
            <a:r>
              <a:rPr sz="1300" b="1" i="0">
                <a:solidFill>
                  <a:srgbClr val="10243D"/>
                </a:solidFill>
                <a:latin typeface="Lato"/>
              </a:rPr>
              <a:t>Head of Regulatory
Affairs</a:t>
            </a:r>
          </a:p>
        </p:txBody>
      </p:sp>
      <p:sp>
        <p:nvSpPr>
          <p:cNvPr id="36" name="TextBox 35"/>
          <p:cNvSpPr txBox="1"/>
          <p:nvPr/>
        </p:nvSpPr>
        <p:spPr>
          <a:xfrm>
            <a:off x="9153144" y="3575304"/>
            <a:ext cx="2194560" cy="621792"/>
          </a:xfrm>
          <a:prstGeom prst="rect">
            <a:avLst/>
          </a:prstGeom>
          <a:noFill/>
        </p:spPr>
        <p:txBody>
          <a:bodyPr wrap="square" lIns="0" rIns="0" tIns="0" bIns="0" anchor="t">
            <a:spAutoFit/>
          </a:bodyPr>
          <a:lstStyle/>
          <a:p>
            <a:pPr algn="l">
              <a:lnSpc>
                <a:spcPct val="95000"/>
              </a:lnSpc>
              <a:spcBef>
                <a:spcPts val="0"/>
              </a:spcBef>
              <a:spcAft>
                <a:spcPts val="0"/>
              </a:spcAft>
            </a:pPr>
            <a:r>
              <a:rPr sz="850" b="0" i="0">
                <a:solidFill>
                  <a:srgbClr val="5E7082"/>
                </a:solidFill>
                <a:latin typeface="Lato"/>
              </a:rPr>
              <a:t>FDA medical device / biologics expertise across 510(k) and PMA submissions.</a:t>
            </a:r>
          </a:p>
        </p:txBody>
      </p:sp>
      <p:sp>
        <p:nvSpPr>
          <p:cNvPr id="37" name="Rounded Rectangle 36"/>
          <p:cNvSpPr/>
          <p:nvPr/>
        </p:nvSpPr>
        <p:spPr>
          <a:xfrm>
            <a:off x="502920" y="4663440"/>
            <a:ext cx="11183112" cy="1709928"/>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68096" y="4919472"/>
            <a:ext cx="1078992" cy="292608"/>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 y="4919472"/>
            <a:ext cx="969264" cy="292608"/>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IN FORMATION</a:t>
            </a:r>
          </a:p>
        </p:txBody>
      </p:sp>
      <p:sp>
        <p:nvSpPr>
          <p:cNvPr id="40" name="TextBox 39"/>
          <p:cNvSpPr txBox="1"/>
          <p:nvPr/>
        </p:nvSpPr>
        <p:spPr>
          <a:xfrm>
            <a:off x="2057400" y="4864608"/>
            <a:ext cx="3017520" cy="365760"/>
          </a:xfrm>
          <a:prstGeom prst="rect">
            <a:avLst/>
          </a:prstGeom>
          <a:noFill/>
        </p:spPr>
        <p:txBody>
          <a:bodyPr wrap="square" lIns="0" rIns="0" tIns="0" bIns="0" anchor="t">
            <a:spAutoFit/>
          </a:bodyPr>
          <a:lstStyle/>
          <a:p>
            <a:pPr algn="l">
              <a:lnSpc>
                <a:spcPct val="100000"/>
              </a:lnSpc>
              <a:spcBef>
                <a:spcPts val="0"/>
              </a:spcBef>
              <a:spcAft>
                <a:spcPts val="0"/>
              </a:spcAft>
            </a:pPr>
            <a:r>
              <a:rPr sz="1500" b="1" i="0">
                <a:solidFill>
                  <a:srgbClr val="FFFFFF"/>
                </a:solidFill>
                <a:latin typeface="Lato"/>
              </a:rPr>
              <a:t>Scientific Advisory Board</a:t>
            </a:r>
          </a:p>
        </p:txBody>
      </p:sp>
      <p:sp>
        <p:nvSpPr>
          <p:cNvPr id="41" name="TextBox 40"/>
          <p:cNvSpPr txBox="1"/>
          <p:nvPr/>
        </p:nvSpPr>
        <p:spPr>
          <a:xfrm>
            <a:off x="5166360" y="4828032"/>
            <a:ext cx="6016752" cy="676656"/>
          </a:xfrm>
          <a:prstGeom prst="rect">
            <a:avLst/>
          </a:prstGeom>
          <a:noFill/>
        </p:spPr>
        <p:txBody>
          <a:bodyPr wrap="square" lIns="0" rIns="0" tIns="0" bIns="0" anchor="t">
            <a:spAutoFit/>
          </a:bodyPr>
          <a:lstStyle/>
          <a:p>
            <a:pPr algn="l">
              <a:lnSpc>
                <a:spcPct val="98000"/>
              </a:lnSpc>
              <a:spcBef>
                <a:spcPts val="0"/>
              </a:spcBef>
              <a:spcAft>
                <a:spcPts val="0"/>
              </a:spcAft>
            </a:pPr>
            <a:r>
              <a:rPr sz="940" b="0" i="0">
                <a:solidFill>
                  <a:srgbClr val="CBD6DE"/>
                </a:solidFill>
                <a:latin typeface="Lato"/>
              </a:rPr>
              <a:t>Recruiting across stem-cell and cardiac tissue biology, microgravity payload design, and protein-based biomanufacturing. Target appointments will be announced as the round closes.</a:t>
            </a:r>
          </a:p>
        </p:txBody>
      </p:sp>
      <p:cxnSp>
        <p:nvCxnSpPr>
          <p:cNvPr id="42" name="Connector 41"/>
          <p:cNvCxnSpPr/>
          <p:nvPr/>
        </p:nvCxnSpPr>
        <p:spPr>
          <a:xfrm>
            <a:off x="768096" y="5760720"/>
            <a:ext cx="10405872" cy="0"/>
          </a:xfrm>
          <a:prstGeom prst="line">
            <a:avLst/>
          </a:prstGeom>
          <a:ln w="8890">
            <a:solidFill>
              <a:srgbClr val="365068"/>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68096" y="5934456"/>
            <a:ext cx="141732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00A58E"/>
                </a:solidFill>
                <a:latin typeface="Lato"/>
              </a:rPr>
              <a:t>TARGET DISCIPLINES</a:t>
            </a:r>
          </a:p>
        </p:txBody>
      </p:sp>
      <p:sp>
        <p:nvSpPr>
          <p:cNvPr id="44" name="TextBox 43"/>
          <p:cNvSpPr txBox="1"/>
          <p:nvPr/>
        </p:nvSpPr>
        <p:spPr>
          <a:xfrm>
            <a:off x="2395728" y="5934456"/>
            <a:ext cx="137160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TISSUE BIOLOGY</a:t>
            </a:r>
          </a:p>
        </p:txBody>
      </p:sp>
      <p:sp>
        <p:nvSpPr>
          <p:cNvPr id="45" name="TextBox 44"/>
          <p:cNvSpPr txBox="1"/>
          <p:nvPr/>
        </p:nvSpPr>
        <p:spPr>
          <a:xfrm>
            <a:off x="4809744" y="5934456"/>
            <a:ext cx="137160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PAYLOAD DESIGN</a:t>
            </a:r>
          </a:p>
        </p:txBody>
      </p:sp>
      <p:sp>
        <p:nvSpPr>
          <p:cNvPr id="46" name="TextBox 45"/>
          <p:cNvSpPr txBox="1"/>
          <p:nvPr/>
        </p:nvSpPr>
        <p:spPr>
          <a:xfrm>
            <a:off x="7370064" y="5934456"/>
            <a:ext cx="137160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BIOPROCESSING</a:t>
            </a:r>
          </a:p>
        </p:txBody>
      </p:sp>
      <p:sp>
        <p:nvSpPr>
          <p:cNvPr id="47" name="TextBox 46"/>
          <p:cNvSpPr txBox="1"/>
          <p:nvPr/>
        </p:nvSpPr>
        <p:spPr>
          <a:xfrm>
            <a:off x="9765792" y="5934456"/>
            <a:ext cx="141732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FFFFFF"/>
                </a:solidFill>
                <a:latin typeface="Lato"/>
              </a:rPr>
              <a:t>REGULATORY SCIENCE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46304" y="0"/>
            <a:ext cx="45720" cy="6858000"/>
          </a:xfrm>
          <a:prstGeom prst="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566928"/>
            <a:ext cx="2926080" cy="219456"/>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THE OPPORTUNITY</a:t>
            </a:r>
          </a:p>
        </p:txBody>
      </p:sp>
      <p:sp>
        <p:nvSpPr>
          <p:cNvPr id="5" name="TextBox 4"/>
          <p:cNvSpPr txBox="1"/>
          <p:nvPr/>
        </p:nvSpPr>
        <p:spPr>
          <a:xfrm>
            <a:off x="658368" y="1170432"/>
            <a:ext cx="6400800" cy="1335024"/>
          </a:xfrm>
          <a:prstGeom prst="rect">
            <a:avLst/>
          </a:prstGeom>
          <a:noFill/>
        </p:spPr>
        <p:txBody>
          <a:bodyPr wrap="square" lIns="0" rIns="0" tIns="0" bIns="0" anchor="t">
            <a:spAutoFit/>
          </a:bodyPr>
          <a:lstStyle/>
          <a:p>
            <a:pPr algn="l">
              <a:lnSpc>
                <a:spcPct val="93000"/>
              </a:lnSpc>
              <a:spcBef>
                <a:spcPts val="0"/>
              </a:spcBef>
              <a:spcAft>
                <a:spcPts val="0"/>
              </a:spcAft>
            </a:pPr>
            <a:r>
              <a:rPr sz="2500" b="1" i="0">
                <a:solidFill>
                  <a:srgbClr val="10243D"/>
                </a:solidFill>
                <a:latin typeface="Lato"/>
              </a:rPr>
              <a:t>Every organ printed in orbit
is a life that didn't have to wait.</a:t>
            </a:r>
          </a:p>
        </p:txBody>
      </p:sp>
      <p:sp>
        <p:nvSpPr>
          <p:cNvPr id="6" name="TextBox 5"/>
          <p:cNvSpPr txBox="1"/>
          <p:nvPr/>
        </p:nvSpPr>
        <p:spPr>
          <a:xfrm>
            <a:off x="676656" y="2880360"/>
            <a:ext cx="5961888" cy="822960"/>
          </a:xfrm>
          <a:prstGeom prst="rect">
            <a:avLst/>
          </a:prstGeom>
          <a:noFill/>
        </p:spPr>
        <p:txBody>
          <a:bodyPr wrap="square" lIns="0" rIns="0" tIns="0" bIns="0" anchor="t">
            <a:spAutoFit/>
          </a:bodyPr>
          <a:lstStyle/>
          <a:p>
            <a:pPr algn="l">
              <a:lnSpc>
                <a:spcPct val="100000"/>
              </a:lnSpc>
              <a:spcBef>
                <a:spcPts val="0"/>
              </a:spcBef>
              <a:spcAft>
                <a:spcPts val="0"/>
              </a:spcAft>
            </a:pPr>
            <a:r>
              <a:rPr sz="1220" b="0" i="0">
                <a:solidFill>
                  <a:srgbClr val="23384D"/>
                </a:solidFill>
                <a:latin typeface="Lato"/>
              </a:rPr>
              <a:t>Samuel Space stands at the intersection of a validated microgravity bioprinting science base and the arrival of commercial stations built for exactly this work.</a:t>
            </a:r>
          </a:p>
        </p:txBody>
      </p:sp>
      <p:sp>
        <p:nvSpPr>
          <p:cNvPr id="7" name="Rectangle 6"/>
          <p:cNvSpPr/>
          <p:nvPr/>
        </p:nvSpPr>
        <p:spPr>
          <a:xfrm>
            <a:off x="676656" y="4059936"/>
            <a:ext cx="768096" cy="54864"/>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6656" y="4334256"/>
            <a:ext cx="5303520" cy="320040"/>
          </a:xfrm>
          <a:prstGeom prst="rect">
            <a:avLst/>
          </a:prstGeom>
          <a:noFill/>
        </p:spPr>
        <p:txBody>
          <a:bodyPr wrap="square" lIns="0" rIns="0" tIns="0" bIns="0" anchor="t">
            <a:spAutoFit/>
          </a:bodyPr>
          <a:lstStyle/>
          <a:p>
            <a:pPr algn="l">
              <a:lnSpc>
                <a:spcPct val="100000"/>
              </a:lnSpc>
              <a:spcBef>
                <a:spcPts val="0"/>
              </a:spcBef>
              <a:spcAft>
                <a:spcPts val="0"/>
              </a:spcAft>
            </a:pPr>
            <a:r>
              <a:rPr sz="1300" b="1" i="0">
                <a:solidFill>
                  <a:srgbClr val="10243D"/>
                </a:solidFill>
                <a:latin typeface="Lato"/>
              </a:rPr>
              <a:t>The science already works.</a:t>
            </a:r>
          </a:p>
        </p:txBody>
      </p:sp>
      <p:sp>
        <p:nvSpPr>
          <p:cNvPr id="9" name="TextBox 8"/>
          <p:cNvSpPr txBox="1"/>
          <p:nvPr/>
        </p:nvSpPr>
        <p:spPr>
          <a:xfrm>
            <a:off x="676656" y="4718304"/>
            <a:ext cx="5440680" cy="320040"/>
          </a:xfrm>
          <a:prstGeom prst="rect">
            <a:avLst/>
          </a:prstGeom>
          <a:noFill/>
        </p:spPr>
        <p:txBody>
          <a:bodyPr wrap="square" lIns="0" rIns="0" tIns="0" bIns="0" anchor="t">
            <a:spAutoFit/>
          </a:bodyPr>
          <a:lstStyle/>
          <a:p>
            <a:pPr algn="l">
              <a:lnSpc>
                <a:spcPct val="100000"/>
              </a:lnSpc>
              <a:spcBef>
                <a:spcPts val="0"/>
              </a:spcBef>
              <a:spcAft>
                <a:spcPts val="0"/>
              </a:spcAft>
            </a:pPr>
            <a:r>
              <a:rPr sz="1220" b="0" i="0">
                <a:solidFill>
                  <a:srgbClr val="5E7082"/>
                </a:solidFill>
                <a:latin typeface="Lato"/>
              </a:rPr>
              <a:t>What's needed now is a company built to commercialise it.</a:t>
            </a:r>
          </a:p>
        </p:txBody>
      </p:sp>
      <p:sp>
        <p:nvSpPr>
          <p:cNvPr id="10" name="Rounded Rectangle 9"/>
          <p:cNvSpPr/>
          <p:nvPr/>
        </p:nvSpPr>
        <p:spPr>
          <a:xfrm>
            <a:off x="676656" y="5669280"/>
            <a:ext cx="5669280" cy="576072"/>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5669280"/>
            <a:ext cx="3520440" cy="576072"/>
          </a:xfrm>
          <a:prstGeom prst="rect">
            <a:avLst/>
          </a:prstGeom>
          <a:noFill/>
        </p:spPr>
        <p:txBody>
          <a:bodyPr wrap="square" lIns="0" rIns="0" tIns="0" bIns="0" anchor="ctr">
            <a:spAutoFit/>
          </a:bodyPr>
          <a:lstStyle/>
          <a:p>
            <a:pPr algn="l">
              <a:lnSpc>
                <a:spcPct val="100000"/>
              </a:lnSpc>
              <a:spcBef>
                <a:spcPts val="0"/>
              </a:spcBef>
              <a:spcAft>
                <a:spcPts val="0"/>
              </a:spcAft>
            </a:pPr>
            <a:r>
              <a:rPr sz="770" b="1" i="0">
                <a:solidFill>
                  <a:srgbClr val="FFFFFF"/>
                </a:solidFill>
                <a:latin typeface="Lato"/>
              </a:rPr>
              <a:t>SAMUEL SPACE ORGAN AND TISSUE ENGINEERING</a:t>
            </a:r>
          </a:p>
        </p:txBody>
      </p:sp>
      <p:sp>
        <p:nvSpPr>
          <p:cNvPr id="12" name="TextBox 11"/>
          <p:cNvSpPr txBox="1"/>
          <p:nvPr/>
        </p:nvSpPr>
        <p:spPr>
          <a:xfrm>
            <a:off x="4233672" y="5669280"/>
            <a:ext cx="1847088" cy="576072"/>
          </a:xfrm>
          <a:prstGeom prst="rect">
            <a:avLst/>
          </a:prstGeom>
          <a:noFill/>
        </p:spPr>
        <p:txBody>
          <a:bodyPr wrap="square" lIns="0" rIns="0" tIns="0" bIns="0" anchor="ctr">
            <a:spAutoFit/>
          </a:bodyPr>
          <a:lstStyle/>
          <a:p>
            <a:pPr algn="r">
              <a:lnSpc>
                <a:spcPct val="100000"/>
              </a:lnSpc>
              <a:spcBef>
                <a:spcPts val="0"/>
              </a:spcBef>
              <a:spcAft>
                <a:spcPts val="0"/>
              </a:spcAft>
            </a:pPr>
            <a:r>
              <a:rPr sz="720" b="0" i="0">
                <a:solidFill>
                  <a:srgbClr val="C6D2DB"/>
                </a:solidFill>
                <a:latin typeface="Lato"/>
              </a:rPr>
              <a:t>investors@samuelspace.com  (placeholder)</a:t>
            </a:r>
          </a:p>
        </p:txBody>
      </p:sp>
      <p:sp>
        <p:nvSpPr>
          <p:cNvPr id="13" name="Rounded Rectangle 12"/>
          <p:cNvSpPr/>
          <p:nvPr/>
        </p:nvSpPr>
        <p:spPr>
          <a:xfrm>
            <a:off x="7040880" y="384048"/>
            <a:ext cx="4645152" cy="6053328"/>
          </a:xfrm>
          <a:prstGeom prst="roundRect">
            <a:avLst/>
          </a:prstGeom>
          <a:solidFill>
            <a:srgbClr val="ECF8F4"/>
          </a:solidFill>
          <a:ln w="11430">
            <a:solidFill>
              <a:srgbClr val="BFDC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0920" y="768096"/>
            <a:ext cx="4005072"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87C71"/>
                </a:solidFill>
                <a:latin typeface="Lato"/>
              </a:rPr>
              <a:t>THE INVESTMENT CASE</a:t>
            </a:r>
          </a:p>
        </p:txBody>
      </p:sp>
      <p:sp>
        <p:nvSpPr>
          <p:cNvPr id="15" name="Rounded Rectangle 14"/>
          <p:cNvSpPr/>
          <p:nvPr/>
        </p:nvSpPr>
        <p:spPr>
          <a:xfrm>
            <a:off x="7360920" y="1335024"/>
            <a:ext cx="438912" cy="283464"/>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15784" y="1335024"/>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01</a:t>
            </a:r>
          </a:p>
        </p:txBody>
      </p:sp>
      <p:sp>
        <p:nvSpPr>
          <p:cNvPr id="17" name="TextBox 16"/>
          <p:cNvSpPr txBox="1"/>
          <p:nvPr/>
        </p:nvSpPr>
        <p:spPr>
          <a:xfrm>
            <a:off x="8001000" y="1325880"/>
            <a:ext cx="31089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0243D"/>
                </a:solidFill>
                <a:latin typeface="Lato"/>
              </a:rPr>
              <a:t>Validated science</a:t>
            </a:r>
          </a:p>
        </p:txBody>
      </p:sp>
      <p:sp>
        <p:nvSpPr>
          <p:cNvPr id="18" name="TextBox 17"/>
          <p:cNvSpPr txBox="1"/>
          <p:nvPr/>
        </p:nvSpPr>
        <p:spPr>
          <a:xfrm>
            <a:off x="8001000" y="1719072"/>
            <a:ext cx="3108960" cy="402336"/>
          </a:xfrm>
          <a:prstGeom prst="rect">
            <a:avLst/>
          </a:prstGeom>
          <a:noFill/>
        </p:spPr>
        <p:txBody>
          <a:bodyPr wrap="square" lIns="0" rIns="0" tIns="0" bIns="0" anchor="t">
            <a:spAutoFit/>
          </a:bodyPr>
          <a:lstStyle/>
          <a:p>
            <a:pPr algn="l">
              <a:lnSpc>
                <a:spcPct val="100000"/>
              </a:lnSpc>
              <a:spcBef>
                <a:spcPts val="0"/>
              </a:spcBef>
              <a:spcAft>
                <a:spcPts val="0"/>
              </a:spcAft>
            </a:pPr>
            <a:r>
              <a:rPr sz="869" b="0" i="0">
                <a:solidFill>
                  <a:srgbClr val="5E7082"/>
                </a:solidFill>
                <a:latin typeface="Lato"/>
              </a:rPr>
              <a:t>Eight years of independent in-orbit milestones.</a:t>
            </a:r>
          </a:p>
        </p:txBody>
      </p:sp>
      <p:cxnSp>
        <p:nvCxnSpPr>
          <p:cNvPr id="19" name="Connector 18"/>
          <p:cNvCxnSpPr/>
          <p:nvPr/>
        </p:nvCxnSpPr>
        <p:spPr>
          <a:xfrm>
            <a:off x="7360920" y="2276856"/>
            <a:ext cx="3995928" cy="0"/>
          </a:xfrm>
          <a:prstGeom prst="line">
            <a:avLst/>
          </a:prstGeom>
          <a:ln w="8890">
            <a:solidFill>
              <a:srgbClr val="C6DCD6"/>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360920" y="2560320"/>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784" y="2560320"/>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02</a:t>
            </a:r>
          </a:p>
        </p:txBody>
      </p:sp>
      <p:sp>
        <p:nvSpPr>
          <p:cNvPr id="22" name="TextBox 21"/>
          <p:cNvSpPr txBox="1"/>
          <p:nvPr/>
        </p:nvSpPr>
        <p:spPr>
          <a:xfrm>
            <a:off x="8001000" y="2551176"/>
            <a:ext cx="31089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0243D"/>
                </a:solidFill>
                <a:latin typeface="Lato"/>
              </a:rPr>
              <a:t>Expanding access</a:t>
            </a:r>
          </a:p>
        </p:txBody>
      </p:sp>
      <p:sp>
        <p:nvSpPr>
          <p:cNvPr id="23" name="TextBox 22"/>
          <p:cNvSpPr txBox="1"/>
          <p:nvPr/>
        </p:nvSpPr>
        <p:spPr>
          <a:xfrm>
            <a:off x="8001000" y="2944368"/>
            <a:ext cx="3108960" cy="402336"/>
          </a:xfrm>
          <a:prstGeom prst="rect">
            <a:avLst/>
          </a:prstGeom>
          <a:noFill/>
        </p:spPr>
        <p:txBody>
          <a:bodyPr wrap="square" lIns="0" rIns="0" tIns="0" bIns="0" anchor="t">
            <a:spAutoFit/>
          </a:bodyPr>
          <a:lstStyle/>
          <a:p>
            <a:pPr algn="l">
              <a:lnSpc>
                <a:spcPct val="100000"/>
              </a:lnSpc>
              <a:spcBef>
                <a:spcPts val="0"/>
              </a:spcBef>
              <a:spcAft>
                <a:spcPts val="0"/>
              </a:spcAft>
            </a:pPr>
            <a:r>
              <a:rPr sz="869" b="0" i="0">
                <a:solidFill>
                  <a:srgbClr val="5E7082"/>
                </a:solidFill>
                <a:latin typeface="Lato"/>
              </a:rPr>
              <a:t>Commercial LEO infrastructure lowers platform risk.</a:t>
            </a:r>
          </a:p>
        </p:txBody>
      </p:sp>
      <p:cxnSp>
        <p:nvCxnSpPr>
          <p:cNvPr id="24" name="Connector 23"/>
          <p:cNvCxnSpPr/>
          <p:nvPr/>
        </p:nvCxnSpPr>
        <p:spPr>
          <a:xfrm>
            <a:off x="7360920" y="3502152"/>
            <a:ext cx="3995928" cy="0"/>
          </a:xfrm>
          <a:prstGeom prst="line">
            <a:avLst/>
          </a:prstGeom>
          <a:ln w="8890">
            <a:solidFill>
              <a:srgbClr val="C6DCD6"/>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360920" y="3785616"/>
            <a:ext cx="438912" cy="283464"/>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15784" y="3785616"/>
            <a:ext cx="329184" cy="283464"/>
          </a:xfrm>
          <a:prstGeom prst="rect">
            <a:avLst/>
          </a:prstGeom>
          <a:noFill/>
        </p:spPr>
        <p:txBody>
          <a:bodyPr wrap="square" lIns="0" rIns="0" tIns="0" bIns="0" anchor="ctr">
            <a:spAutoFit/>
          </a:bodyPr>
          <a:lstStyle/>
          <a:p>
            <a:pPr algn="ctr">
              <a:lnSpc>
                <a:spcPct val="100000"/>
              </a:lnSpc>
              <a:spcBef>
                <a:spcPts val="0"/>
              </a:spcBef>
              <a:spcAft>
                <a:spcPts val="0"/>
              </a:spcAft>
            </a:pPr>
            <a:r>
              <a:rPr sz="740" b="1" i="0">
                <a:solidFill>
                  <a:srgbClr val="FFFFFF"/>
                </a:solidFill>
                <a:latin typeface="Lato"/>
              </a:rPr>
              <a:t>03</a:t>
            </a:r>
          </a:p>
        </p:txBody>
      </p:sp>
      <p:sp>
        <p:nvSpPr>
          <p:cNvPr id="27" name="TextBox 26"/>
          <p:cNvSpPr txBox="1"/>
          <p:nvPr/>
        </p:nvSpPr>
        <p:spPr>
          <a:xfrm>
            <a:off x="8001000" y="3776472"/>
            <a:ext cx="3108960" cy="256032"/>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0243D"/>
                </a:solidFill>
                <a:latin typeface="Lato"/>
              </a:rPr>
              <a:t>Layered economics</a:t>
            </a:r>
          </a:p>
        </p:txBody>
      </p:sp>
      <p:sp>
        <p:nvSpPr>
          <p:cNvPr id="28" name="TextBox 27"/>
          <p:cNvSpPr txBox="1"/>
          <p:nvPr/>
        </p:nvSpPr>
        <p:spPr>
          <a:xfrm>
            <a:off x="8001000" y="4169664"/>
            <a:ext cx="3108960" cy="402336"/>
          </a:xfrm>
          <a:prstGeom prst="rect">
            <a:avLst/>
          </a:prstGeom>
          <a:noFill/>
        </p:spPr>
        <p:txBody>
          <a:bodyPr wrap="square" lIns="0" rIns="0" tIns="0" bIns="0" anchor="t">
            <a:spAutoFit/>
          </a:bodyPr>
          <a:lstStyle/>
          <a:p>
            <a:pPr algn="l">
              <a:lnSpc>
                <a:spcPct val="100000"/>
              </a:lnSpc>
              <a:spcBef>
                <a:spcPts val="0"/>
              </a:spcBef>
              <a:spcAft>
                <a:spcPts val="0"/>
              </a:spcAft>
            </a:pPr>
            <a:r>
              <a:rPr sz="869" b="0" i="0">
                <a:solidFill>
                  <a:srgbClr val="5E7082"/>
                </a:solidFill>
                <a:latin typeface="Lato"/>
              </a:rPr>
              <a:t>Services fund the path to high-value tissue IP.</a:t>
            </a:r>
          </a:p>
        </p:txBody>
      </p:sp>
      <p:cxnSp>
        <p:nvCxnSpPr>
          <p:cNvPr id="29" name="Connector 28"/>
          <p:cNvCxnSpPr/>
          <p:nvPr/>
        </p:nvCxnSpPr>
        <p:spPr>
          <a:xfrm>
            <a:off x="7360920" y="4727448"/>
            <a:ext cx="3995928" cy="0"/>
          </a:xfrm>
          <a:prstGeom prst="line">
            <a:avLst/>
          </a:prstGeom>
          <a:ln w="8890">
            <a:solidFill>
              <a:srgbClr val="C6DCD6"/>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8247888" y="4910328"/>
            <a:ext cx="2395728" cy="969264"/>
          </a:xfrm>
          <a:prstGeom prst="ellipse">
            <a:avLst/>
          </a:prstGeom>
          <a:solidFill>
            <a:srgbClr val="B9E7DC"/>
          </a:solidFill>
          <a:ln w="1397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641080" y="5074920"/>
            <a:ext cx="1609344" cy="640080"/>
          </a:xfrm>
          <a:prstGeom prst="ellipse">
            <a:avLst/>
          </a:prstGeom>
          <a:solidFill>
            <a:srgbClr val="8DD8C8"/>
          </a:solidFill>
          <a:ln w="12700">
            <a:solidFill>
              <a:srgbClr val="087C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759952"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79408" y="5330951"/>
            <a:ext cx="137160" cy="137160"/>
          </a:xfrm>
          <a:prstGeom prst="ellipse">
            <a:avLst/>
          </a:prstGeom>
          <a:solidFill>
            <a:srgbClr val="00A58E"/>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198864"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418320" y="5330951"/>
            <a:ext cx="137160" cy="137160"/>
          </a:xfrm>
          <a:prstGeom prst="ellipse">
            <a:avLst/>
          </a:prstGeom>
          <a:solidFill>
            <a:srgbClr val="00A58E"/>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637776"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857232" y="5330951"/>
            <a:ext cx="137160" cy="137160"/>
          </a:xfrm>
          <a:prstGeom prst="ellipse">
            <a:avLst/>
          </a:prstGeom>
          <a:solidFill>
            <a:srgbClr val="00A58E"/>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076688" y="5276088"/>
            <a:ext cx="137160" cy="137160"/>
          </a:xfrm>
          <a:prstGeom prst="ellipse">
            <a:avLst/>
          </a:prstGeom>
          <a:solidFill>
            <a:srgbClr val="FFFFFF"/>
          </a:solidFill>
          <a:ln w="6350">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826496" y="6153912"/>
            <a:ext cx="566928"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7"/>
        </a:solidFill>
        <a:effectLst/>
      </p:bgPr>
    </p:bg>
    <p:spTree>
      <p:nvGrpSpPr>
        <p:cNvPr id="1" name=""/>
        <p:cNvGrpSpPr/>
        <p:nvPr/>
      </p:nvGrpSpPr>
      <p:grpSpPr/>
      <p:sp>
        <p:nvSpPr>
          <p:cNvPr id="2" name="Rectangle 1"/>
          <p:cNvSpPr/>
          <p:nvPr/>
        </p:nvSpPr>
        <p:spPr>
          <a:xfrm>
            <a:off x="502920" y="246888"/>
            <a:ext cx="73152" cy="219456"/>
          </a:xfrm>
          <a:prstGeom prst="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9224" y="237744"/>
            <a:ext cx="5120640" cy="210312"/>
          </a:xfrm>
          <a:prstGeom prst="rect">
            <a:avLst/>
          </a:prstGeom>
          <a:noFill/>
        </p:spPr>
        <p:txBody>
          <a:bodyPr wrap="square" lIns="0" rIns="0" tIns="0" bIns="0" anchor="t">
            <a:spAutoFit/>
          </a:bodyPr>
          <a:lstStyle/>
          <a:p>
            <a:pPr algn="l">
              <a:lnSpc>
                <a:spcPct val="100000"/>
              </a:lnSpc>
              <a:spcBef>
                <a:spcPts val="0"/>
              </a:spcBef>
              <a:spcAft>
                <a:spcPts val="0"/>
              </a:spcAft>
            </a:pPr>
            <a:r>
              <a:rPr sz="850" b="1" i="0">
                <a:solidFill>
                  <a:srgbClr val="087C71"/>
                </a:solidFill>
                <a:latin typeface="Lato"/>
              </a:rPr>
              <a:t>APPENDIX</a:t>
            </a:r>
          </a:p>
        </p:txBody>
      </p:sp>
      <p:sp>
        <p:nvSpPr>
          <p:cNvPr id="4" name="TextBox 3"/>
          <p:cNvSpPr txBox="1"/>
          <p:nvPr/>
        </p:nvSpPr>
        <p:spPr>
          <a:xfrm>
            <a:off x="8339327" y="237744"/>
            <a:ext cx="3346704" cy="210312"/>
          </a:xfrm>
          <a:prstGeom prst="rect">
            <a:avLst/>
          </a:prstGeom>
          <a:noFill/>
        </p:spPr>
        <p:txBody>
          <a:bodyPr wrap="square" lIns="0" rIns="0" tIns="0" bIns="0" anchor="t">
            <a:spAutoFit/>
          </a:bodyPr>
          <a:lstStyle/>
          <a:p>
            <a:pPr algn="r">
              <a:lnSpc>
                <a:spcPct val="100000"/>
              </a:lnSpc>
              <a:spcBef>
                <a:spcPts val="0"/>
              </a:spcBef>
              <a:spcAft>
                <a:spcPts val="0"/>
              </a:spcAft>
            </a:pPr>
            <a:r>
              <a:rPr sz="750" b="1" i="0">
                <a:solidFill>
                  <a:srgbClr val="8492A0"/>
                </a:solidFill>
                <a:latin typeface="Lato"/>
              </a:rPr>
              <a:t>INVESTOR PRESENTATION  /  JUNE 2026</a:t>
            </a:r>
          </a:p>
        </p:txBody>
      </p:sp>
      <p:sp>
        <p:nvSpPr>
          <p:cNvPr id="5" name="TextBox 4"/>
          <p:cNvSpPr txBox="1"/>
          <p:nvPr/>
        </p:nvSpPr>
        <p:spPr>
          <a:xfrm>
            <a:off x="502920" y="566928"/>
            <a:ext cx="11183112" cy="512064"/>
          </a:xfrm>
          <a:prstGeom prst="rect">
            <a:avLst/>
          </a:prstGeom>
          <a:noFill/>
        </p:spPr>
        <p:txBody>
          <a:bodyPr wrap="square" lIns="0" rIns="0" tIns="0" bIns="0" anchor="ctr">
            <a:spAutoFit/>
          </a:bodyPr>
          <a:lstStyle/>
          <a:p>
            <a:pPr algn="l">
              <a:lnSpc>
                <a:spcPct val="100000"/>
              </a:lnSpc>
              <a:spcBef>
                <a:spcPts val="0"/>
              </a:spcBef>
              <a:spcAft>
                <a:spcPts val="0"/>
              </a:spcAft>
            </a:pPr>
            <a:r>
              <a:rPr sz="2400" b="1" i="0">
                <a:solidFill>
                  <a:srgbClr val="10243D"/>
                </a:solidFill>
                <a:latin typeface="Lato"/>
              </a:rPr>
              <a:t>Sources &amp; References</a:t>
            </a:r>
          </a:p>
        </p:txBody>
      </p:sp>
      <p:cxnSp>
        <p:nvCxnSpPr>
          <p:cNvPr id="6" name="Connector 5"/>
          <p:cNvCxnSpPr/>
          <p:nvPr/>
        </p:nvCxnSpPr>
        <p:spPr>
          <a:xfrm>
            <a:off x="502920" y="1225296"/>
            <a:ext cx="11183112" cy="0"/>
          </a:xfrm>
          <a:prstGeom prst="line">
            <a:avLst/>
          </a:prstGeom>
          <a:ln w="10160">
            <a:solidFill>
              <a:srgbClr val="DCE4E7"/>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502920" y="6492240"/>
            <a:ext cx="111831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02920" y="6565392"/>
            <a:ext cx="1463040" cy="146304"/>
          </a:xfrm>
          <a:prstGeom prst="rect">
            <a:avLst/>
          </a:prstGeom>
          <a:noFill/>
        </p:spPr>
        <p:txBody>
          <a:bodyPr wrap="square" lIns="0" rIns="0" tIns="0" bIns="0" anchor="t">
            <a:spAutoFit/>
          </a:bodyPr>
          <a:lstStyle/>
          <a:p>
            <a:pPr algn="l">
              <a:lnSpc>
                <a:spcPct val="100000"/>
              </a:lnSpc>
              <a:spcBef>
                <a:spcPts val="0"/>
              </a:spcBef>
              <a:spcAft>
                <a:spcPts val="0"/>
              </a:spcAft>
            </a:pPr>
            <a:r>
              <a:rPr sz="700" b="1" i="0">
                <a:solidFill>
                  <a:srgbClr val="8492A0"/>
                </a:solidFill>
                <a:latin typeface="Lato"/>
              </a:rPr>
              <a:t>CONFIDENTIAL</a:t>
            </a:r>
          </a:p>
        </p:txBody>
      </p:sp>
      <p:sp>
        <p:nvSpPr>
          <p:cNvPr id="9" name="TextBox 8"/>
          <p:cNvSpPr txBox="1"/>
          <p:nvPr/>
        </p:nvSpPr>
        <p:spPr>
          <a:xfrm>
            <a:off x="5074920" y="6565392"/>
            <a:ext cx="2057400" cy="146304"/>
          </a:xfrm>
          <a:prstGeom prst="rect">
            <a:avLst/>
          </a:prstGeom>
          <a:noFill/>
        </p:spPr>
        <p:txBody>
          <a:bodyPr wrap="square" lIns="0" rIns="0" tIns="0" bIns="0" anchor="t">
            <a:spAutoFit/>
          </a:bodyPr>
          <a:lstStyle/>
          <a:p>
            <a:pPr algn="ctr">
              <a:lnSpc>
                <a:spcPct val="100000"/>
              </a:lnSpc>
              <a:spcBef>
                <a:spcPts val="0"/>
              </a:spcBef>
              <a:spcAft>
                <a:spcPts val="0"/>
              </a:spcAft>
            </a:pPr>
            <a:r>
              <a:rPr sz="700" b="1" i="0">
                <a:solidFill>
                  <a:srgbClr val="8492A0"/>
                </a:solidFill>
                <a:latin typeface="Lato"/>
              </a:rPr>
              <a:t>SAMUEL SPACE</a:t>
            </a:r>
          </a:p>
        </p:txBody>
      </p:sp>
      <p:sp>
        <p:nvSpPr>
          <p:cNvPr id="10" name="TextBox 9"/>
          <p:cNvSpPr txBox="1"/>
          <p:nvPr/>
        </p:nvSpPr>
        <p:spPr>
          <a:xfrm>
            <a:off x="10808208" y="6565392"/>
            <a:ext cx="877824" cy="146304"/>
          </a:xfrm>
          <a:prstGeom prst="rect">
            <a:avLst/>
          </a:prstGeom>
          <a:noFill/>
        </p:spPr>
        <p:txBody>
          <a:bodyPr wrap="square" lIns="0" rIns="0" tIns="0" bIns="0" anchor="t">
            <a:spAutoFit/>
          </a:bodyPr>
          <a:lstStyle/>
          <a:p>
            <a:pPr algn="r">
              <a:lnSpc>
                <a:spcPct val="100000"/>
              </a:lnSpc>
              <a:spcBef>
                <a:spcPts val="0"/>
              </a:spcBef>
              <a:spcAft>
                <a:spcPts val="0"/>
              </a:spcAft>
            </a:pPr>
            <a:r>
              <a:rPr sz="700" b="1" i="0">
                <a:solidFill>
                  <a:srgbClr val="8492A0"/>
                </a:solidFill>
                <a:latin typeface="Lato"/>
              </a:rPr>
              <a:t>21 / 21</a:t>
            </a:r>
          </a:p>
        </p:txBody>
      </p:sp>
      <p:sp>
        <p:nvSpPr>
          <p:cNvPr id="11" name="Rounded Rectangle 10"/>
          <p:cNvSpPr/>
          <p:nvPr/>
        </p:nvSpPr>
        <p:spPr>
          <a:xfrm>
            <a:off x="502920" y="1426464"/>
            <a:ext cx="5486400" cy="361188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1682496"/>
            <a:ext cx="4992624"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87C71"/>
                </a:solidFill>
                <a:latin typeface="Lato"/>
              </a:rPr>
              <a:t>BIOPRINTING SCIENCE + TECHNOLOGY</a:t>
            </a:r>
          </a:p>
        </p:txBody>
      </p:sp>
      <p:cxnSp>
        <p:nvCxnSpPr>
          <p:cNvPr id="13" name="Connector 12"/>
          <p:cNvCxnSpPr/>
          <p:nvPr/>
        </p:nvCxnSpPr>
        <p:spPr>
          <a:xfrm>
            <a:off x="740664" y="1993392"/>
            <a:ext cx="50109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0664" y="2194560"/>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01</a:t>
            </a:r>
          </a:p>
        </p:txBody>
      </p:sp>
      <p:sp>
        <p:nvSpPr>
          <p:cNvPr id="15" name="TextBox 14"/>
          <p:cNvSpPr txBox="1"/>
          <p:nvPr/>
        </p:nvSpPr>
        <p:spPr>
          <a:xfrm>
            <a:off x="1161288" y="2185416"/>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NASA — "3D Bioprinting" research overview, ISS research program page</a:t>
            </a:r>
          </a:p>
        </p:txBody>
      </p:sp>
      <p:sp>
        <p:nvSpPr>
          <p:cNvPr id="16" name="TextBox 15"/>
          <p:cNvSpPr txBox="1"/>
          <p:nvPr/>
        </p:nvSpPr>
        <p:spPr>
          <a:xfrm>
            <a:off x="740664" y="2569464"/>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02</a:t>
            </a:r>
          </a:p>
        </p:txBody>
      </p:sp>
      <p:sp>
        <p:nvSpPr>
          <p:cNvPr id="17" name="TextBox 16"/>
          <p:cNvSpPr txBox="1"/>
          <p:nvPr/>
        </p:nvSpPr>
        <p:spPr>
          <a:xfrm>
            <a:off x="1161288" y="256032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NASA — BioFabrication Facility mission page, Redwire Corporation</a:t>
            </a:r>
          </a:p>
        </p:txBody>
      </p:sp>
      <p:sp>
        <p:nvSpPr>
          <p:cNvPr id="18" name="TextBox 17"/>
          <p:cNvSpPr txBox="1"/>
          <p:nvPr/>
        </p:nvSpPr>
        <p:spPr>
          <a:xfrm>
            <a:off x="740664" y="2944368"/>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03</a:t>
            </a:r>
          </a:p>
        </p:txBody>
      </p:sp>
      <p:sp>
        <p:nvSpPr>
          <p:cNvPr id="19" name="TextBox 18"/>
          <p:cNvSpPr txBox="1"/>
          <p:nvPr/>
        </p:nvSpPr>
        <p:spPr>
          <a:xfrm>
            <a:off x="1161288" y="2935224"/>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Redwire — BFF-Meniscus first human knee meniscus, Sept 2023</a:t>
            </a:r>
          </a:p>
        </p:txBody>
      </p:sp>
      <p:sp>
        <p:nvSpPr>
          <p:cNvPr id="20" name="TextBox 19"/>
          <p:cNvSpPr txBox="1"/>
          <p:nvPr/>
        </p:nvSpPr>
        <p:spPr>
          <a:xfrm>
            <a:off x="740664" y="3319272"/>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04</a:t>
            </a:r>
          </a:p>
        </p:txBody>
      </p:sp>
      <p:sp>
        <p:nvSpPr>
          <p:cNvPr id="21" name="TextBox 20"/>
          <p:cNvSpPr txBox="1"/>
          <p:nvPr/>
        </p:nvSpPr>
        <p:spPr>
          <a:xfrm>
            <a:off x="1161288" y="3310128"/>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Redwire — BFF-Cardiac investigation and ISS return coverage, 2024</a:t>
            </a:r>
          </a:p>
        </p:txBody>
      </p:sp>
      <p:sp>
        <p:nvSpPr>
          <p:cNvPr id="22" name="TextBox 21"/>
          <p:cNvSpPr txBox="1"/>
          <p:nvPr/>
        </p:nvSpPr>
        <p:spPr>
          <a:xfrm>
            <a:off x="740664" y="3694176"/>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05</a:t>
            </a:r>
          </a:p>
        </p:txBody>
      </p:sp>
      <p:sp>
        <p:nvSpPr>
          <p:cNvPr id="23" name="TextBox 22"/>
          <p:cNvSpPr txBox="1"/>
          <p:nvPr/>
        </p:nvSpPr>
        <p:spPr>
          <a:xfrm>
            <a:off x="1161288" y="3685032"/>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Redwire — NASA IDIQ contract award coverage, Sept 2025</a:t>
            </a:r>
          </a:p>
        </p:txBody>
      </p:sp>
      <p:sp>
        <p:nvSpPr>
          <p:cNvPr id="24" name="TextBox 23"/>
          <p:cNvSpPr txBox="1"/>
          <p:nvPr/>
        </p:nvSpPr>
        <p:spPr>
          <a:xfrm>
            <a:off x="740664" y="4069079"/>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06</a:t>
            </a:r>
          </a:p>
        </p:txBody>
      </p:sp>
      <p:sp>
        <p:nvSpPr>
          <p:cNvPr id="25" name="TextBox 24"/>
          <p:cNvSpPr txBox="1"/>
          <p:nvPr/>
        </p:nvSpPr>
        <p:spPr>
          <a:xfrm>
            <a:off x="1161288" y="4059935"/>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ESA / DLR — Bioprint FirstAid, Cosmic Kiss mission materials</a:t>
            </a:r>
          </a:p>
        </p:txBody>
      </p:sp>
      <p:sp>
        <p:nvSpPr>
          <p:cNvPr id="26" name="TextBox 25"/>
          <p:cNvSpPr txBox="1"/>
          <p:nvPr/>
        </p:nvSpPr>
        <p:spPr>
          <a:xfrm>
            <a:off x="740664" y="4443983"/>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07</a:t>
            </a:r>
          </a:p>
        </p:txBody>
      </p:sp>
      <p:sp>
        <p:nvSpPr>
          <p:cNvPr id="27" name="TextBox 26"/>
          <p:cNvSpPr txBox="1"/>
          <p:nvPr/>
        </p:nvSpPr>
        <p:spPr>
          <a:xfrm>
            <a:off x="1161288" y="443484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LambdaVision — Space Tango partnership, InSPA Phase 2 award, seed financing, 2025–2026</a:t>
            </a:r>
          </a:p>
        </p:txBody>
      </p:sp>
      <p:sp>
        <p:nvSpPr>
          <p:cNvPr id="28" name="Rounded Rectangle 27"/>
          <p:cNvSpPr/>
          <p:nvPr/>
        </p:nvSpPr>
        <p:spPr>
          <a:xfrm>
            <a:off x="6144768" y="1426464"/>
            <a:ext cx="5486400" cy="3611880"/>
          </a:xfrm>
          <a:prstGeom prst="roundRect">
            <a:avLst/>
          </a:prstGeom>
          <a:solidFill>
            <a:srgbClr val="FFFFFF"/>
          </a:solidFill>
          <a:ln w="9525">
            <a:solidFill>
              <a:srgbClr val="DCE4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1682496"/>
            <a:ext cx="4992624" cy="201168"/>
          </a:xfrm>
          <a:prstGeom prst="rect">
            <a:avLst/>
          </a:prstGeom>
          <a:noFill/>
        </p:spPr>
        <p:txBody>
          <a:bodyPr wrap="square" lIns="0" rIns="0" tIns="0" bIns="0" anchor="t">
            <a:spAutoFit/>
          </a:bodyPr>
          <a:lstStyle/>
          <a:p>
            <a:pPr algn="l">
              <a:lnSpc>
                <a:spcPct val="100000"/>
              </a:lnSpc>
              <a:spcBef>
                <a:spcPts val="0"/>
              </a:spcBef>
              <a:spcAft>
                <a:spcPts val="0"/>
              </a:spcAft>
            </a:pPr>
            <a:r>
              <a:rPr sz="800" b="1" i="0">
                <a:solidFill>
                  <a:srgbClr val="087C71"/>
                </a:solidFill>
                <a:latin typeface="Lato"/>
              </a:rPr>
              <a:t>MARKET, REGULATORY + INDUSTRY DATA</a:t>
            </a:r>
          </a:p>
        </p:txBody>
      </p:sp>
      <p:cxnSp>
        <p:nvCxnSpPr>
          <p:cNvPr id="30" name="Connector 29"/>
          <p:cNvCxnSpPr/>
          <p:nvPr/>
        </p:nvCxnSpPr>
        <p:spPr>
          <a:xfrm>
            <a:off x="6382512" y="1993392"/>
            <a:ext cx="5010912" cy="0"/>
          </a:xfrm>
          <a:prstGeom prst="line">
            <a:avLst/>
          </a:prstGeom>
          <a:ln w="8890">
            <a:solidFill>
              <a:srgbClr val="DCE4E7"/>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82512" y="2194560"/>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01</a:t>
            </a:r>
          </a:p>
        </p:txBody>
      </p:sp>
      <p:sp>
        <p:nvSpPr>
          <p:cNvPr id="32" name="TextBox 31"/>
          <p:cNvSpPr txBox="1"/>
          <p:nvPr/>
        </p:nvSpPr>
        <p:spPr>
          <a:xfrm>
            <a:off x="6803136" y="2185416"/>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ROSCOSMOS — 3D MBP / Organ.Aut mission summaries, 2018–2020</a:t>
            </a:r>
          </a:p>
        </p:txBody>
      </p:sp>
      <p:sp>
        <p:nvSpPr>
          <p:cNvPr id="33" name="TextBox 32"/>
          <p:cNvSpPr txBox="1"/>
          <p:nvPr/>
        </p:nvSpPr>
        <p:spPr>
          <a:xfrm>
            <a:off x="6382512" y="2569464"/>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02</a:t>
            </a:r>
          </a:p>
        </p:txBody>
      </p:sp>
      <p:sp>
        <p:nvSpPr>
          <p:cNvPr id="34" name="TextBox 33"/>
          <p:cNvSpPr txBox="1"/>
          <p:nvPr/>
        </p:nvSpPr>
        <p:spPr>
          <a:xfrm>
            <a:off x="6803136" y="256032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American Heart Association — 2025 Heart Disease &amp; Stroke Statistics</a:t>
            </a:r>
          </a:p>
        </p:txBody>
      </p:sp>
      <p:sp>
        <p:nvSpPr>
          <p:cNvPr id="35" name="TextBox 34"/>
          <p:cNvSpPr txBox="1"/>
          <p:nvPr/>
        </p:nvSpPr>
        <p:spPr>
          <a:xfrm>
            <a:off x="6382512" y="2944368"/>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03</a:t>
            </a:r>
          </a:p>
        </p:txBody>
      </p:sp>
      <p:sp>
        <p:nvSpPr>
          <p:cNvPr id="36" name="TextBox 35"/>
          <p:cNvSpPr txBox="1"/>
          <p:nvPr/>
        </p:nvSpPr>
        <p:spPr>
          <a:xfrm>
            <a:off x="6803136" y="2935224"/>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OPTN / organdonor.gov (HRSA) — U.S. transplant waitlist, 2025</a:t>
            </a:r>
          </a:p>
        </p:txBody>
      </p:sp>
      <p:sp>
        <p:nvSpPr>
          <p:cNvPr id="37" name="TextBox 36"/>
          <p:cNvSpPr txBox="1"/>
          <p:nvPr/>
        </p:nvSpPr>
        <p:spPr>
          <a:xfrm>
            <a:off x="6382512" y="3319272"/>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04</a:t>
            </a:r>
          </a:p>
        </p:txBody>
      </p:sp>
      <p:sp>
        <p:nvSpPr>
          <p:cNvPr id="38" name="TextBox 37"/>
          <p:cNvSpPr txBox="1"/>
          <p:nvPr/>
        </p:nvSpPr>
        <p:spPr>
          <a:xfrm>
            <a:off x="6803136" y="3310128"/>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WHO — Global Observatory on Donation and Transplantation</a:t>
            </a:r>
          </a:p>
        </p:txBody>
      </p:sp>
      <p:sp>
        <p:nvSpPr>
          <p:cNvPr id="39" name="TextBox 38"/>
          <p:cNvSpPr txBox="1"/>
          <p:nvPr/>
        </p:nvSpPr>
        <p:spPr>
          <a:xfrm>
            <a:off x="6382512" y="3694176"/>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05</a:t>
            </a:r>
          </a:p>
        </p:txBody>
      </p:sp>
      <p:sp>
        <p:nvSpPr>
          <p:cNvPr id="40" name="TextBox 39"/>
          <p:cNvSpPr txBox="1"/>
          <p:nvPr/>
        </p:nvSpPr>
        <p:spPr>
          <a:xfrm>
            <a:off x="6803136" y="3685032"/>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Mordor Intelligence — 3D Bioprinting Market Report, Jan 2026</a:t>
            </a:r>
          </a:p>
        </p:txBody>
      </p:sp>
      <p:sp>
        <p:nvSpPr>
          <p:cNvPr id="41" name="TextBox 40"/>
          <p:cNvSpPr txBox="1"/>
          <p:nvPr/>
        </p:nvSpPr>
        <p:spPr>
          <a:xfrm>
            <a:off x="6382512" y="4069079"/>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06</a:t>
            </a:r>
          </a:p>
        </p:txBody>
      </p:sp>
      <p:sp>
        <p:nvSpPr>
          <p:cNvPr id="42" name="TextBox 41"/>
          <p:cNvSpPr txBox="1"/>
          <p:nvPr/>
        </p:nvSpPr>
        <p:spPr>
          <a:xfrm>
            <a:off x="6803136" y="4059935"/>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U.S. FDA — Symvess clearance announcement, Dec 2024</a:t>
            </a:r>
          </a:p>
        </p:txBody>
      </p:sp>
      <p:sp>
        <p:nvSpPr>
          <p:cNvPr id="43" name="TextBox 42"/>
          <p:cNvSpPr txBox="1"/>
          <p:nvPr/>
        </p:nvSpPr>
        <p:spPr>
          <a:xfrm>
            <a:off x="6382512" y="4443983"/>
            <a:ext cx="292608" cy="182880"/>
          </a:xfrm>
          <a:prstGeom prst="rect">
            <a:avLst/>
          </a:prstGeom>
          <a:noFill/>
        </p:spPr>
        <p:txBody>
          <a:bodyPr wrap="square" lIns="0" rIns="0" tIns="0" bIns="0" anchor="t">
            <a:spAutoFit/>
          </a:bodyPr>
          <a:lstStyle/>
          <a:p>
            <a:pPr algn="l">
              <a:lnSpc>
                <a:spcPct val="100000"/>
              </a:lnSpc>
              <a:spcBef>
                <a:spcPts val="0"/>
              </a:spcBef>
              <a:spcAft>
                <a:spcPts val="0"/>
              </a:spcAft>
            </a:pPr>
            <a:r>
              <a:rPr sz="680" b="1" i="0">
                <a:solidFill>
                  <a:srgbClr val="087C71"/>
                </a:solidFill>
                <a:latin typeface="Lato"/>
              </a:rPr>
              <a:t>07</a:t>
            </a:r>
          </a:p>
        </p:txBody>
      </p:sp>
      <p:sp>
        <p:nvSpPr>
          <p:cNvPr id="44" name="TextBox 43"/>
          <p:cNvSpPr txBox="1"/>
          <p:nvPr/>
        </p:nvSpPr>
        <p:spPr>
          <a:xfrm>
            <a:off x="6803136" y="4434840"/>
            <a:ext cx="4553712" cy="274320"/>
          </a:xfrm>
          <a:prstGeom prst="rect">
            <a:avLst/>
          </a:prstGeom>
          <a:noFill/>
        </p:spPr>
        <p:txBody>
          <a:bodyPr wrap="square" lIns="0" rIns="0" tIns="0" bIns="0" anchor="t">
            <a:spAutoFit/>
          </a:bodyPr>
          <a:lstStyle/>
          <a:p>
            <a:pPr algn="l">
              <a:lnSpc>
                <a:spcPct val="90000"/>
              </a:lnSpc>
              <a:spcBef>
                <a:spcPts val="0"/>
              </a:spcBef>
              <a:spcAft>
                <a:spcPts val="0"/>
              </a:spcAft>
            </a:pPr>
            <a:r>
              <a:rPr sz="750" b="0" i="0">
                <a:solidFill>
                  <a:srgbClr val="5E7082"/>
                </a:solidFill>
                <a:latin typeface="Lato"/>
              </a:rPr>
              <a:t>NASA CLD program — Starlab, Axiom, Orbital Reef, Vast program pages</a:t>
            </a:r>
          </a:p>
        </p:txBody>
      </p:sp>
      <p:sp>
        <p:nvSpPr>
          <p:cNvPr id="45" name="Rounded Rectangle 44"/>
          <p:cNvSpPr/>
          <p:nvPr/>
        </p:nvSpPr>
        <p:spPr>
          <a:xfrm>
            <a:off x="502920" y="5266944"/>
            <a:ext cx="11183112" cy="1097280"/>
          </a:xfrm>
          <a:prstGeom prst="roundRect">
            <a:avLst/>
          </a:prstGeom>
          <a:solidFill>
            <a:srgbClr val="10243D"/>
          </a:solidFill>
          <a:ln w="9525">
            <a:solidFill>
              <a:srgbClr val="10243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58952" y="5504688"/>
            <a:ext cx="1097280" cy="274320"/>
          </a:xfrm>
          <a:prstGeom prst="roundRect">
            <a:avLst/>
          </a:prstGeom>
          <a:solidFill>
            <a:srgbClr val="00A58E"/>
          </a:solidFill>
          <a:ln w="9525">
            <a:solidFill>
              <a:srgbClr val="00A5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3815" y="5504688"/>
            <a:ext cx="987552" cy="274320"/>
          </a:xfrm>
          <a:prstGeom prst="rect">
            <a:avLst/>
          </a:prstGeom>
          <a:noFill/>
        </p:spPr>
        <p:txBody>
          <a:bodyPr wrap="square" lIns="0" rIns="0" tIns="0" bIns="0" anchor="ctr">
            <a:spAutoFit/>
          </a:bodyPr>
          <a:lstStyle/>
          <a:p>
            <a:pPr algn="ctr">
              <a:lnSpc>
                <a:spcPct val="100000"/>
              </a:lnSpc>
              <a:spcBef>
                <a:spcPts val="0"/>
              </a:spcBef>
              <a:spcAft>
                <a:spcPts val="0"/>
              </a:spcAft>
            </a:pPr>
            <a:r>
              <a:rPr sz="720" b="1" i="0">
                <a:solidFill>
                  <a:srgbClr val="FFFFFF"/>
                </a:solidFill>
                <a:latin typeface="Lato"/>
              </a:rPr>
              <a:t>METHODOLOGY</a:t>
            </a:r>
          </a:p>
        </p:txBody>
      </p:sp>
      <p:sp>
        <p:nvSpPr>
          <p:cNvPr id="48" name="TextBox 47"/>
          <p:cNvSpPr txBox="1"/>
          <p:nvPr/>
        </p:nvSpPr>
        <p:spPr>
          <a:xfrm>
            <a:off x="2084831" y="5449824"/>
            <a:ext cx="9235440" cy="603504"/>
          </a:xfrm>
          <a:prstGeom prst="rect">
            <a:avLst/>
          </a:prstGeom>
          <a:noFill/>
        </p:spPr>
        <p:txBody>
          <a:bodyPr wrap="square" lIns="0" rIns="0" tIns="0" bIns="0" anchor="t">
            <a:spAutoFit/>
          </a:bodyPr>
          <a:lstStyle/>
          <a:p>
            <a:pPr algn="l">
              <a:lnSpc>
                <a:spcPct val="96000"/>
              </a:lnSpc>
              <a:spcBef>
                <a:spcPts val="0"/>
              </a:spcBef>
              <a:spcAft>
                <a:spcPts val="0"/>
              </a:spcAft>
            </a:pPr>
            <a:r>
              <a:rPr sz="819" b="0" i="0">
                <a:solidFill>
                  <a:srgbClr val="CBD6DE"/>
                </a:solidFill>
                <a:latin typeface="Lato"/>
              </a:rPr>
              <a:t>All third-party milestones, dates, and figures are drawn from public sources and were current as of the cited date. References to NASA, Redwire, LambdaVision, ROSCOSMOS, and ESA/DLR describe industry validation — not partnerships, endorsements, or affiliations with Samuel 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dc:title>
  <dc:subject>Series A financing presentation</dc:subject>
  <dc:creator>Samuel Space Organ and Tissue Engineering</dc:creator>
  <cp:keywords>microgravity, bioprinting, tissue engineering, investor presentation</cp:keywords>
  <dc:description>Redesigned for a professional, light-background investor presentation.</dc:description>
  <cp:lastModifiedBy>Steve Canny</cp:lastModifiedBy>
  <cp:revision>1</cp:revision>
  <dcterms:created xsi:type="dcterms:W3CDTF">2013-01-27T09:14:16Z</dcterms:created>
  <dcterms:modified xsi:type="dcterms:W3CDTF">2013-01-27T09:15:58Z</dcterms:modified>
  <cp:category/>
</cp:coreProperties>
</file>