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c:v>
                </c:pt>
              </c:strCache>
            </c:strRef>
          </c:tx>
          <c:spPr>
            <a:solidFill>
              <a:srgbClr val="0A8F78"/>
            </a:solidFill>
            <a:ln>
              <a:solidFill>
                <a:srgbClr val="0A8F78"/>
              </a:solidFill>
            </a:ln>
            <a:effectLst/>
          </c:spPr>
          <c:invertIfNegative val="0"/>
          <c:dLbls>
            <c:numFmt formatCode="#,##0" sourceLinked="0"/>
            <c:txPr>
              <a:bodyPr/>
              <a:lstStyle/>
              <a:p>
                <a:pPr>
                  <a:defRPr b="0" i="0" strike="noStrike" sz="950" u="none">
                    <a:solidFill>
                      <a:srgbClr val="0B1330"/>
                    </a:solidFill>
                    <a:latin typeface="Arial"/>
                  </a:defRPr>
                </a:pPr>
              </a:p>
            </c:txPr>
            <c:showLegendKey val="0"/>
            <c:showVal val="1"/>
            <c:showCatName val="0"/>
            <c:showSerName val="0"/>
            <c:showPercent val="0"/>
            <c:showBubbleSize val="0"/>
            <c:showLeaderLines val="0"/>
          </c:dLbls>
          <c:cat>
            <c:multiLvlStrRef>
              <c:f>Sheet1!$A$2:$A$7</c:f>
              <c:multiLvlStrCache>
                <c:ptCount val="6"/>
                <c:lvl>
                  <c:pt idx="0">
                    <c:v>Kidney</c:v>
                  </c:pt>
                  <c:pt idx="1">
                    <c:v>Liver</c:v>
                  </c:pt>
                  <c:pt idx="2">
                    <c:v>Heart</c:v>
                  </c:pt>
                  <c:pt idx="3">
                    <c:v>Lung</c:v>
                  </c:pt>
                  <c:pt idx="4">
                    <c:v>Pancreas</c:v>
                  </c:pt>
                  <c:pt idx="5">
                    <c:v>Other</c:v>
                  </c:pt>
                </c:lvl>
              </c:multiLvlStrCache>
            </c:multiLvlStrRef>
          </c:cat>
          <c:val>
            <c:numRef>
              <c:f>Sheet1!$B$2:$B$7</c:f>
              <c:numCache>
                <c:formatCode>General</c:formatCode>
                <c:ptCount val="6"/>
                <c:pt idx="0">
                  <c:v>87</c:v>
                </c:pt>
                <c:pt idx="1">
                  <c:v>9</c:v>
                </c:pt>
                <c:pt idx="2">
                  <c:v>2</c:v>
                </c:pt>
                <c:pt idx="3">
                  <c:v>1</c:v>
                </c:pt>
                <c:pt idx="4">
                  <c:v>0.5</c:v>
                </c:pt>
                <c:pt idx="5">
                  <c:v>0.5</c:v>
                </c:pt>
              </c:numCache>
            </c:numRef>
          </c:val>
        </c:ser>
        <c:dLbls>
          <c:numFmt formatCode="0%" sourceLinked="0"/>
          <c:txPr>
            <a:bodyPr/>
            <a:lstStyle/>
            <a:p>
              <a:pPr>
                <a:defRPr b="0" i="0" strike="noStrike" sz="850" u="none">
                  <a:solidFill>
                    <a:srgbClr val="3D4663"/>
                  </a:solidFill>
                  <a:latin typeface="Aptos"/>
                </a:defRPr>
              </a:pPr>
            </a:p>
          </c:txPr>
          <c:dLblPos val="outEnd"/>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0DAE6"/>
            </a:solidFill>
            <a:prstDash val="solid"/>
            <a:round/>
          </a:ln>
        </c:spPr>
        <c:txPr>
          <a:bodyPr/>
          <a:lstStyle/>
          <a:p>
            <a:pPr>
              <a:defRPr sz="900" b="0" i="0" u="none" strike="noStrike">
                <a:solidFill>
                  <a:srgbClr val="3D4663"/>
                </a:solidFill>
                <a:latin typeface="Aptos"/>
              </a:defRPr>
            </a:pPr>
            <a:endParaRPr lang="en-US"/>
          </a:p>
        </c:txPr>
        <c:crossAx val="2094734552"/>
        <c:crosses val="autoZero"/>
        <c:auto val="1"/>
        <c:lblAlgn val="ctr"/>
        <c:noMultiLvlLbl val="1"/>
      </c:catAx>
      <c:valAx>
        <c:axId val="2094734552"/>
        <c:scaling>
          <c:orientation val="minMax"/>
        </c:scaling>
        <c:delete val="0"/>
        <c:axPos val="b"/>
        <c:majorGridlines>
          <c:spPr>
            <a:ln w="10160" cap="flat">
              <a:solidFill>
                <a:srgbClr val="DBE4F0"/>
              </a:solidFill>
              <a:prstDash val="solid"/>
              <a:round/>
            </a:ln>
          </c:spPr>
        </c:majorGridlines>
        <c:numFmt formatCode="General" sourceLinked="0"/>
        <c:majorTickMark val="out"/>
        <c:minorTickMark val="none"/>
        <c:tickLblPos val="low"/>
        <c:spPr>
          <a:ln w="12700" cap="flat">
            <a:solidFill>
              <a:srgbClr val="D0DAE6"/>
            </a:solidFill>
            <a:prstDash val="solid"/>
            <a:round/>
          </a:ln>
        </c:spPr>
        <c:txPr>
          <a:bodyPr/>
          <a:lstStyle/>
          <a:p>
            <a:pPr>
              <a:defRPr sz="800" b="0" i="0" u="none" strike="noStrike">
                <a:solidFill>
                  <a:srgbClr val="64739A"/>
                </a:solidFill>
                <a:latin typeface="Aptos"/>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Market ($B)</c:v>
                </c:pt>
              </c:strCache>
            </c:strRef>
          </c:tx>
          <c:spPr>
            <a:solidFill>
              <a:srgbClr val="0A8F78"/>
            </a:solidFill>
            <a:ln>
              <a:solidFill>
                <a:srgbClr val="0A8F78"/>
              </a:solidFill>
            </a:ln>
            <a:effectLst/>
          </c:spPr>
          <c:invertIfNegative val="0"/>
          <c:dLbls>
            <c:numFmt formatCode="0.0" sourceLinked="0"/>
            <c:txPr>
              <a:bodyPr/>
              <a:lstStyle/>
              <a:p>
                <a:pPr>
                  <a:defRPr b="0" i="0" strike="noStrike" sz="850" u="none">
                    <a:solidFill>
                      <a:srgbClr val="0B1330"/>
                    </a:solidFill>
                    <a:latin typeface="Arial"/>
                  </a:defRPr>
                </a:pPr>
              </a:p>
            </c:txPr>
            <c:showLegendKey val="0"/>
            <c:showVal val="1"/>
            <c:showCatName val="0"/>
            <c:showSerName val="0"/>
            <c:showPercent val="0"/>
            <c:showBubbleSize val="0"/>
            <c:showLeaderLines val="0"/>
          </c:dLbls>
          <c:cat>
            <c:multiLvlStrRef>
              <c:f>Sheet1!$A$2:$A$9</c:f>
              <c:multiLvlStrCache>
                <c:ptCount val="8"/>
                <c:lvl>
                  <c:pt idx="0">
                    <c:v>2023</c:v>
                  </c:pt>
                  <c:pt idx="1">
                    <c:v>2024</c:v>
                  </c:pt>
                  <c:pt idx="2">
                    <c:v>2025E</c:v>
                  </c:pt>
                  <c:pt idx="3">
                    <c:v>2026E</c:v>
                  </c:pt>
                  <c:pt idx="4">
                    <c:v>2027E</c:v>
                  </c:pt>
                  <c:pt idx="5">
                    <c:v>2028E</c:v>
                  </c:pt>
                  <c:pt idx="6">
                    <c:v>2029E</c:v>
                  </c:pt>
                  <c:pt idx="7">
                    <c:v>2030E</c:v>
                  </c:pt>
                </c:lvl>
              </c:multiLvlStrCache>
            </c:multiLvlStrRef>
          </c:cat>
          <c:val>
            <c:numRef>
              <c:f>Sheet1!$B$2:$B$9</c:f>
              <c:numCache>
                <c:formatCode>General</c:formatCode>
                <c:ptCount val="8"/>
                <c:pt idx="0">
                  <c:v>1.28</c:v>
                </c:pt>
                <c:pt idx="1">
                  <c:v>1.46</c:v>
                </c:pt>
                <c:pt idx="2">
                  <c:v>1.7</c:v>
                </c:pt>
                <c:pt idx="3">
                  <c:v>1.97</c:v>
                </c:pt>
                <c:pt idx="4">
                  <c:v>2.28</c:v>
                </c:pt>
                <c:pt idx="5">
                  <c:v>2.64</c:v>
                </c:pt>
                <c:pt idx="6">
                  <c:v>3.06</c:v>
                </c:pt>
                <c:pt idx="7">
                  <c:v>3.49</c:v>
                </c:pt>
              </c:numCache>
            </c:numRef>
          </c:val>
        </c:ser>
        <c:dLbls>
          <c:numFmt formatCode="0.0" sourceLinked="0"/>
          <c:txPr>
            <a:bodyPr/>
            <a:lstStyle/>
            <a:p>
              <a:pPr>
                <a:defRPr b="0" i="0" strike="noStrike" sz="850" u="none">
                  <a:solidFill>
                    <a:srgbClr val="0B1330"/>
                  </a:solidFill>
                  <a:latin typeface="Arial"/>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0DAE6"/>
            </a:solidFill>
            <a:prstDash val="solid"/>
            <a:round/>
          </a:ln>
        </c:spPr>
        <c:txPr>
          <a:bodyPr/>
          <a:lstStyle/>
          <a:p>
            <a:pPr>
              <a:defRPr sz="880" b="0" i="0" u="none" strike="noStrike">
                <a:solidFill>
                  <a:srgbClr val="3D4663"/>
                </a:solidFill>
                <a:latin typeface="Aptos"/>
              </a:defRPr>
            </a:pPr>
            <a:endParaRPr lang="en-US"/>
          </a:p>
        </c:txPr>
        <c:crossAx val="2094734552"/>
        <c:crosses val="autoZero"/>
        <c:auto val="1"/>
        <c:lblAlgn val="ctr"/>
        <c:noMultiLvlLbl val="1"/>
      </c:catAx>
      <c:valAx>
        <c:axId val="2094734552"/>
        <c:scaling>
          <c:orientation val="minMax"/>
        </c:scaling>
        <c:delete val="0"/>
        <c:axPos val="l"/>
        <c:majorGridlines>
          <c:spPr>
            <a:ln w="10160" cap="flat">
              <a:solidFill>
                <a:srgbClr val="DBE4F0"/>
              </a:solidFill>
              <a:prstDash val="solid"/>
              <a:round/>
            </a:ln>
          </c:spPr>
        </c:majorGridlines>
        <c:numFmt formatCode="General" sourceLinked="0"/>
        <c:majorTickMark val="out"/>
        <c:minorTickMark val="none"/>
        <c:tickLblPos val="nextTo"/>
        <c:spPr>
          <a:ln w="12700" cap="flat">
            <a:solidFill>
              <a:srgbClr val="D0DAE6"/>
            </a:solidFill>
            <a:prstDash val="solid"/>
            <a:round/>
          </a:ln>
        </c:spPr>
        <c:txPr>
          <a:bodyPr/>
          <a:lstStyle/>
          <a:p>
            <a:pPr>
              <a:defRPr sz="880" b="0" i="0" u="none" strike="noStrike">
                <a:solidFill>
                  <a:srgbClr val="64739A"/>
                </a:solidFill>
                <a:latin typeface="Aptos"/>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Contract Services ($M)</c:v>
                </c:pt>
              </c:strCache>
            </c:strRef>
          </c:tx>
          <c:spPr>
            <a:solidFill>
              <a:srgbClr val="0A8F78"/>
            </a:solidFill>
            <a:ln>
              <a:solidFill>
                <a:srgbClr val="0A8F78"/>
              </a:solidFill>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Yr 1</c:v>
                  </c:pt>
                  <c:pt idx="1">
                    <c:v>Yr 2</c:v>
                  </c:pt>
                  <c:pt idx="2">
                    <c:v>Yr 3</c:v>
                  </c:pt>
                  <c:pt idx="3">
                    <c:v>Yr 4</c:v>
                  </c:pt>
                  <c:pt idx="4">
                    <c:v>Yr 5</c:v>
                  </c:pt>
                </c:lvl>
              </c:multiLvlStrCache>
            </c:multiLvlStrRef>
          </c:cat>
          <c:val>
            <c:numRef>
              <c:f>Sheet1!$B$2:$B$6</c:f>
              <c:numCache>
                <c:formatCode>General</c:formatCode>
                <c:ptCount val="5"/>
                <c:pt idx="0">
                  <c:v>0.5</c:v>
                </c:pt>
                <c:pt idx="1">
                  <c:v>1.2</c:v>
                </c:pt>
                <c:pt idx="2">
                  <c:v>3</c:v>
                </c:pt>
                <c:pt idx="3">
                  <c:v>7</c:v>
                </c:pt>
                <c:pt idx="4">
                  <c:v>14</c:v>
                </c:pt>
              </c:numCache>
            </c:numRef>
          </c:val>
        </c:ser>
        <c:ser>
          <c:idx val="1"/>
          <c:order val="1"/>
          <c:tx>
            <c:strRef>
              <c:f>Sheet1!$C$1</c:f>
              <c:strCache>
                <c:ptCount val="1"/>
                <c:pt idx="0">
                  <c:v>Grant Revenue ($M)</c:v>
                </c:pt>
              </c:strCache>
            </c:strRef>
          </c:tx>
          <c:spPr>
            <a:solidFill>
              <a:srgbClr val="0B1330"/>
            </a:solidFill>
            <a:ln>
              <a:solidFill>
                <a:srgbClr val="0B1330"/>
              </a:solidFill>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Yr 1</c:v>
                  </c:pt>
                  <c:pt idx="1">
                    <c:v>Yr 2</c:v>
                  </c:pt>
                  <c:pt idx="2">
                    <c:v>Yr 3</c:v>
                  </c:pt>
                  <c:pt idx="3">
                    <c:v>Yr 4</c:v>
                  </c:pt>
                  <c:pt idx="4">
                    <c:v>Yr 5</c:v>
                  </c:pt>
                </c:lvl>
              </c:multiLvlStrCache>
            </c:multiLvlStrRef>
          </c:cat>
          <c:val>
            <c:numRef>
              <c:f>Sheet1!$C$2:$C$6</c:f>
              <c:numCache>
                <c:formatCode>General</c:formatCode>
                <c:ptCount val="5"/>
                <c:pt idx="0">
                  <c:v>0.3</c:v>
                </c:pt>
                <c:pt idx="1">
                  <c:v>1</c:v>
                </c:pt>
                <c:pt idx="2">
                  <c:v>1.5</c:v>
                </c:pt>
                <c:pt idx="3">
                  <c:v>2</c:v>
                </c:pt>
                <c:pt idx="4">
                  <c:v>2.5</c:v>
                </c:pt>
              </c:numCache>
            </c:numRef>
          </c:val>
        </c:ser>
        <c:ser>
          <c:idx val="2"/>
          <c:order val="2"/>
          <c:tx>
            <c:strRef>
              <c:f>Sheet1!$D$1</c:f>
              <c:strCache>
                <c:ptCount val="1"/>
                <c:pt idx="0">
                  <c:v>IP Licensing ($M)</c:v>
                </c:pt>
              </c:strCache>
            </c:strRef>
          </c:tx>
          <c:spPr>
            <a:solidFill>
              <a:srgbClr val="64739A"/>
            </a:solidFill>
            <a:ln>
              <a:solidFill>
                <a:srgbClr val="64739A"/>
              </a:solidFill>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Yr 1</c:v>
                  </c:pt>
                  <c:pt idx="1">
                    <c:v>Yr 2</c:v>
                  </c:pt>
                  <c:pt idx="2">
                    <c:v>Yr 3</c:v>
                  </c:pt>
                  <c:pt idx="3">
                    <c:v>Yr 4</c:v>
                  </c:pt>
                  <c:pt idx="4">
                    <c:v>Yr 5</c:v>
                  </c:pt>
                </c:lvl>
              </c:multiLvlStrCache>
            </c:multiLvlStrRef>
          </c:cat>
          <c:val>
            <c:numRef>
              <c:f>Sheet1!$D$2:$D$6</c:f>
              <c:numCache>
                <c:formatCode>General</c:formatCode>
                <c:ptCount val="5"/>
                <c:pt idx="0">
                  <c:v>0</c:v>
                </c:pt>
                <c:pt idx="1">
                  <c:v>0.2</c:v>
                </c:pt>
                <c:pt idx="2">
                  <c:v>1.6</c:v>
                </c:pt>
                <c:pt idx="3">
                  <c:v>4.5</c:v>
                </c:pt>
                <c:pt idx="4">
                  <c:v>7.7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0DAE6"/>
            </a:solidFill>
            <a:prstDash val="solid"/>
            <a:round/>
          </a:ln>
        </c:spPr>
        <c:txPr>
          <a:bodyPr/>
          <a:lstStyle/>
          <a:p>
            <a:pPr>
              <a:defRPr sz="880" b="0" i="0" u="none" strike="noStrike">
                <a:solidFill>
                  <a:srgbClr val="3D4663"/>
                </a:solidFill>
                <a:latin typeface="Aptos"/>
              </a:defRPr>
            </a:pPr>
            <a:endParaRPr lang="en-US"/>
          </a:p>
        </c:txPr>
        <c:crossAx val="2094734552"/>
        <c:crosses val="autoZero"/>
        <c:auto val="1"/>
        <c:lblAlgn val="ctr"/>
        <c:noMultiLvlLbl val="1"/>
      </c:catAx>
      <c:valAx>
        <c:axId val="2094734552"/>
        <c:scaling>
          <c:orientation val="minMax"/>
        </c:scaling>
        <c:delete val="0"/>
        <c:axPos val="l"/>
        <c:majorGridlines>
          <c:spPr>
            <a:ln w="10160" cap="flat">
              <a:solidFill>
                <a:srgbClr val="DBE4F0"/>
              </a:solidFill>
              <a:prstDash val="solid"/>
              <a:round/>
            </a:ln>
          </c:spPr>
        </c:majorGridlines>
        <c:numFmt formatCode="General" sourceLinked="0"/>
        <c:majorTickMark val="out"/>
        <c:minorTickMark val="none"/>
        <c:tickLblPos val="nextTo"/>
        <c:spPr>
          <a:ln w="12700" cap="flat">
            <a:solidFill>
              <a:srgbClr val="D0DAE6"/>
            </a:solidFill>
            <a:prstDash val="solid"/>
            <a:round/>
          </a:ln>
        </c:spPr>
        <c:txPr>
          <a:bodyPr/>
          <a:lstStyle/>
          <a:p>
            <a:pPr>
              <a:defRPr sz="880" b="0" i="0" u="none" strike="noStrike">
                <a:solidFill>
                  <a:srgbClr val="64739A"/>
                </a:solidFill>
                <a:latin typeface="Aptos"/>
              </a:defRPr>
            </a:pPr>
            <a:endParaRPr lang="en-US"/>
          </a:p>
        </c:txPr>
        <c:crossAx val="2094734554"/>
        <c:crosses val="autoZero"/>
        <c:crossBetween val="between"/>
      </c:valAx>
      <c:spPr>
        <a:noFill/>
        <a:ln>
          <a:noFill/>
        </a:ln>
        <a:effectLst/>
      </c:spPr>
    </c:plotArea>
    <c:legend>
      <c:legendPos val="b"/>
      <c:overlay val="0"/>
      <c:txPr>
        <a:bodyPr/>
        <a:lstStyle/>
        <a:p>
          <a:pPr>
            <a:defRPr sz="950">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0A8F78"/>
              </a:solidFill>
              <a:ln>
                <a:solidFill>
                  <a:srgbClr val="0A8F78"/>
                </a:solidFill>
              </a:ln>
              <a:effectLst/>
            </c:spPr>
          </c:dPt>
          <c:dPt>
            <c:idx val="1"/>
            <c:bubble3D val="0"/>
            <c:spPr>
              <a:solidFill>
                <a:srgbClr val="0B1330"/>
              </a:solidFill>
              <a:ln>
                <a:solidFill>
                  <a:srgbClr val="0B1330"/>
                </a:solidFill>
              </a:ln>
              <a:effectLst/>
            </c:spPr>
          </c:dPt>
          <c:dPt>
            <c:idx val="2"/>
            <c:bubble3D val="0"/>
            <c:spPr>
              <a:solidFill>
                <a:srgbClr val="3D4663"/>
              </a:solidFill>
              <a:ln>
                <a:solidFill>
                  <a:srgbClr val="3D4663"/>
                </a:solidFill>
              </a:ln>
              <a:effectLst/>
            </c:spPr>
          </c:dPt>
          <c:dPt>
            <c:idx val="3"/>
            <c:bubble3D val="0"/>
            <c:spPr>
              <a:solidFill>
                <a:srgbClr val="64739A"/>
              </a:solidFill>
              <a:ln>
                <a:solidFill>
                  <a:srgbClr val="64739A"/>
                </a:solidFill>
              </a:ln>
              <a:effectLst/>
            </c:spPr>
          </c:dPt>
          <c:dPt>
            <c:idx val="4"/>
            <c:bubble3D val="0"/>
            <c:spPr>
              <a:solidFill>
                <a:srgbClr val="DBE4F0"/>
              </a:solidFill>
              <a:ln>
                <a:solidFill>
                  <a:srgbClr val="DBE4F0"/>
                </a:solidFill>
              </a:ln>
              <a:effectLst/>
            </c:spPr>
          </c:dPt>
          <c:dLbls>
            <c:dLbl>
              <c:idx val="0"/>
              <c:numFmt formatCode="0%" sourceLinked="0"/>
              <c:spPr/>
              <c:txPr>
                <a:bodyPr/>
                <a:lstStyle/>
                <a:p>
                  <a:pPr>
                    <a:defRPr sz="950" b="0"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950" b="0" i="0" u="none" strike="noStrike">
                      <a:solidFill>
                        <a:srgbClr val="FFFFFF"/>
                      </a:solidFill>
                      <a:latin typeface="Calibri"/>
                    </a:defRPr>
                  </a:pPr>
                </a:p>
              </c:txPr>
              <c:showLegendKey val="0"/>
              <c:showVal val="0"/>
              <c:showCatName val="0"/>
              <c:showSerName val="0"/>
              <c:showPercent val="1"/>
              <c:showBubbleSize val="0"/>
            </c:dLbl>
            <c:dLbl>
              <c:idx val="2"/>
              <c:numFmt formatCode="0%" sourceLinked="0"/>
              <c:spPr/>
              <c:txPr>
                <a:bodyPr/>
                <a:lstStyle/>
                <a:p>
                  <a:pPr>
                    <a:defRPr sz="950" b="0" i="0" u="none" strike="noStrike">
                      <a:solidFill>
                        <a:srgbClr val="FFFFFF"/>
                      </a:solidFill>
                      <a:latin typeface="Calibri"/>
                    </a:defRPr>
                  </a:pPr>
                </a:p>
              </c:txPr>
              <c:showLegendKey val="0"/>
              <c:showVal val="0"/>
              <c:showCatName val="0"/>
              <c:showSerName val="0"/>
              <c:showPercent val="1"/>
              <c:showBubbleSize val="0"/>
            </c:dLbl>
            <c:dLbl>
              <c:idx val="3"/>
              <c:numFmt formatCode="0%" sourceLinked="0"/>
              <c:spPr/>
              <c:txPr>
                <a:bodyPr/>
                <a:lstStyle/>
                <a:p>
                  <a:pPr>
                    <a:defRPr sz="950" b="0" i="0" u="none" strike="noStrike">
                      <a:solidFill>
                        <a:srgbClr val="FFFFFF"/>
                      </a:solidFill>
                      <a:latin typeface="Calibri"/>
                    </a:defRPr>
                  </a:pPr>
                </a:p>
              </c:txPr>
              <c:showLegendKey val="0"/>
              <c:showVal val="0"/>
              <c:showCatName val="0"/>
              <c:showSerName val="0"/>
              <c:showPercent val="1"/>
              <c:showBubbleSize val="0"/>
            </c:dLbl>
            <c:dLbl>
              <c:idx val="4"/>
              <c:numFmt formatCode="0%" sourceLinked="0"/>
              <c:spPr/>
              <c:txPr>
                <a:bodyPr/>
                <a:lstStyle/>
                <a:p>
                  <a:pPr>
                    <a:defRPr sz="950" b="0"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R&amp;D / Payload Dev</c:v>
                </c:pt>
                <c:pt idx="1">
                  <c:v>Flight &amp; Integration</c:v>
                </c:pt>
                <c:pt idx="2">
                  <c:v>Regulatory &amp; Clinical</c:v>
                </c:pt>
                <c:pt idx="3">
                  <c:v>Team Build-Out</c:v>
                </c:pt>
                <c:pt idx="4">
                  <c:v>G&amp;A</c:v>
                </c:pt>
              </c:strCache>
            </c:strRef>
          </c:cat>
          <c:val>
            <c:numRef>
              <c:f>Sheet1!$B$2:$B$6</c:f>
              <c:numCache>
                <c:ptCount val="5"/>
                <c:pt idx="0">
                  <c:v>40</c:v>
                </c:pt>
                <c:pt idx="1">
                  <c:v>25</c:v>
                </c:pt>
                <c:pt idx="2">
                  <c:v>15</c:v>
                </c:pt>
                <c:pt idx="3">
                  <c:v>15</c:v>
                </c:pt>
                <c:pt idx="4">
                  <c:v>5</c:v>
                </c:pt>
              </c:numCache>
            </c:numRef>
          </c:val>
        </c:ser>
        <c:firstSliceAng val="0"/>
        <c:holeSize val="55"/>
      </c:doughnutChart>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p:bgPr>
    </p:bg>
    <p:spTree>
      <p:nvGrpSpPr>
        <p:cNvPr id="1" name=""/>
        <p:cNvGrpSpPr/>
        <p:nvPr/>
      </p:nvGrpSpPr>
      <p:grpSpPr>
        <a:xfrm>
          <a:off x="0" y="0"/>
          <a:ext cx="0" cy="0"/>
          <a:chOff x="0" y="0"/>
          <a:chExt cx="0" cy="0"/>
        </a:xfrm>
      </p:grpSpPr>
      <p:pic>
        <p:nvPicPr>
          <p:cNvPr id="2" name="Image 0" descr="/home/claude/samuel_deck/assets/orbit_hero.png">    </p:cNvPr>
          <p:cNvPicPr>
            <a:picLocks noChangeAspect="1"/>
          </p:cNvPicPr>
          <p:nvPr/>
        </p:nvPicPr>
        <p:blipFill>
          <a:blip r:embed="rId1"/>
          <a:stretch>
            <a:fillRect/>
          </a:stretch>
        </p:blipFill>
        <p:spPr>
          <a:xfrm>
            <a:off x="7619695" y="0"/>
            <a:ext cx="4572000" cy="6858000"/>
          </a:xfrm>
          <a:prstGeom prst="rect">
            <a:avLst/>
          </a:prstGeom>
        </p:spPr>
      </p:pic>
      <p:sp>
        <p:nvSpPr>
          <p:cNvPr id="3" name="Text 0"/>
          <p:cNvSpPr/>
          <p:nvPr/>
        </p:nvSpPr>
        <p:spPr>
          <a:xfrm>
            <a:off x="804672" y="1920240"/>
            <a:ext cx="64008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200" b="1" spc="220" kern="0" dirty="0">
                <a:solidFill>
                  <a:srgbClr val="0A8F78"/>
                </a:solidFill>
                <a:latin typeface="Aptos" pitchFamily="34" charset="0"/>
                <a:ea typeface="Calibri" pitchFamily="34" charset="-122"/>
                <a:cs typeface="Calibri" pitchFamily="34" charset="-120"/>
              </a:rPr>
              <a:t>CONFIDENTIAL INVESTOR PRESENTATION</a:t>
            </a:r>
            <a:endParaRPr lang="en-US" sz="1150" dirty="0"/>
          </a:p>
        </p:txBody>
      </p:sp>
      <p:sp>
        <p:nvSpPr>
          <p:cNvPr id="4" name="Text 1"/>
          <p:cNvSpPr/>
          <p:nvPr/>
        </p:nvSpPr>
        <p:spPr>
          <a:xfrm>
            <a:off x="804672" y="1993392"/>
            <a:ext cx="6492240" cy="228600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3800" b="1" dirty="0">
                <a:solidFill>
                  <a:srgbClr val="0B1330"/>
                </a:solidFill>
                <a:latin typeface="Aptos Display" pitchFamily="34" charset="0"/>
                <a:ea typeface="Cambria" pitchFamily="34" charset="-122"/>
                <a:cs typeface="Cambria" pitchFamily="34" charset="-120"/>
              </a:rPr>
              <a:t>Samuel Space</a:t>
            </a:r>
            <a:endParaRPr lang="en-US" sz="4000" dirty="0"/>
          </a:p>
          <a:p>
            <a:pPr indent="0" marL="0">
              <a:lnSpc>
                <a:spcPct val="102000"/>
              </a:lnSpc>
              <a:spcBef>
                <a:spcPts val="0"/>
              </a:spcBef>
              <a:spcAft>
                <a:spcPts val="0"/>
              </a:spcAft>
              <a:buNone/>
            </a:pPr>
            <a:r>
              <a:rPr lang="en-US" sz="3800" b="1" dirty="0">
                <a:solidFill>
                  <a:srgbClr val="0B1330"/>
                </a:solidFill>
                <a:latin typeface="Aptos Display" pitchFamily="34" charset="0"/>
                <a:ea typeface="Cambria" pitchFamily="34" charset="-122"/>
                <a:cs typeface="Cambria" pitchFamily="34" charset="-120"/>
              </a:rPr>
              <a:t>Organ and Tissue</a:t>
            </a:r>
            <a:endParaRPr lang="en-US" sz="4000" dirty="0"/>
          </a:p>
          <a:p>
            <a:pPr indent="0" marL="0">
              <a:lnSpc>
                <a:spcPct val="102000"/>
              </a:lnSpc>
              <a:spcBef>
                <a:spcPts val="0"/>
              </a:spcBef>
              <a:spcAft>
                <a:spcPts val="0"/>
              </a:spcAft>
              <a:buNone/>
            </a:pPr>
            <a:r>
              <a:rPr lang="en-US" sz="3800" b="1" dirty="0">
                <a:solidFill>
                  <a:srgbClr val="0B1330"/>
                </a:solidFill>
                <a:latin typeface="Aptos Display" pitchFamily="34" charset="0"/>
                <a:ea typeface="Cambria" pitchFamily="34" charset="-122"/>
                <a:cs typeface="Cambria" pitchFamily="34" charset="-120"/>
              </a:rPr>
              <a:t>Engineering</a:t>
            </a:r>
            <a:endParaRPr lang="en-US" sz="4000" dirty="0"/>
          </a:p>
        </p:txBody>
      </p:sp>
      <p:sp>
        <p:nvSpPr>
          <p:cNvPr id="5" name="Text 2"/>
          <p:cNvSpPr/>
          <p:nvPr/>
        </p:nvSpPr>
        <p:spPr>
          <a:xfrm>
            <a:off x="822960" y="4187952"/>
            <a:ext cx="6355080" cy="45720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600" i="1" dirty="0">
                <a:solidFill>
                  <a:srgbClr val="3D4663"/>
                </a:solidFill>
                <a:latin typeface="Aptos" pitchFamily="34" charset="0"/>
                <a:ea typeface="Calibri" pitchFamily="34" charset="-122"/>
                <a:cs typeface="Calibri" pitchFamily="34" charset="-120"/>
              </a:rPr>
              <a:t>Manufacturing the next generation of human tissue - in orbit.</a:t>
            </a:r>
            <a:endParaRPr lang="en-US" sz="1500" dirty="0"/>
          </a:p>
        </p:txBody>
      </p:sp>
      <p:sp>
        <p:nvSpPr>
          <p:cNvPr id="6" name="Shape 3"/>
          <p:cNvSpPr/>
          <p:nvPr/>
        </p:nvSpPr>
        <p:spPr>
          <a:xfrm>
            <a:off x="822960" y="5266944"/>
            <a:ext cx="3474720" cy="0"/>
          </a:xfrm>
          <a:prstGeom prst="line">
            <a:avLst/>
          </a:prstGeom>
          <a:noFill/>
          <a:ln w="19050">
            <a:solidFill>
              <a:srgbClr val="0A8F78"/>
            </a:solidFill>
            <a:prstDash val="solid"/>
          </a:ln>
        </p:spPr>
        <p:txBody>
          <a:bodyPr wrap="square"/>
          <a:p/>
        </p:txBody>
      </p:sp>
      <p:sp>
        <p:nvSpPr>
          <p:cNvPr id="7" name="Text 4"/>
          <p:cNvSpPr/>
          <p:nvPr/>
        </p:nvSpPr>
        <p:spPr>
          <a:xfrm>
            <a:off x="822960" y="5431536"/>
            <a:ext cx="54864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dirty="0">
                <a:solidFill>
                  <a:srgbClr val="64739A"/>
                </a:solidFill>
                <a:latin typeface="Aptos" pitchFamily="34" charset="0"/>
                <a:ea typeface="Calibri" pitchFamily="34" charset="-122"/>
                <a:cs typeface="Calibri" pitchFamily="34" charset="-120"/>
              </a:rPr>
              <a:t>Series A Financing - June 2026</a:t>
            </a:r>
            <a:endParaRPr lang="en-US" sz="1150" dirty="0"/>
          </a:p>
        </p:txBody>
      </p:sp>
      <p:sp>
        <p:nvSpPr>
          <p:cNvPr id="8" name="Text 5"/>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NOTICE</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Confidential - Forward-Looking Statement</a:t>
            </a:r>
            <a:endParaRPr lang="en-US" sz="2700" dirty="0"/>
          </a:p>
        </p:txBody>
      </p:sp>
      <p:sp>
        <p:nvSpPr>
          <p:cNvPr id="4" name="Shape 2"/>
          <p:cNvSpPr/>
          <p:nvPr/>
        </p:nvSpPr>
        <p:spPr>
          <a:xfrm>
            <a:off x="457200" y="1517904"/>
            <a:ext cx="548640" cy="548640"/>
          </a:xfrm>
          <a:prstGeom prst="ellipse">
            <a:avLst/>
          </a:prstGeom>
          <a:solidFill>
            <a:srgbClr val="E7F7F3"/>
          </a:solidFill>
          <a:ln w="12700">
            <a:solidFill>
              <a:srgbClr val="DBE4F0">
                <a:alpha val="0"/>
              </a:srgbClr>
            </a:solidFill>
            <a:prstDash val="solid"/>
          </a:ln>
        </p:spPr>
        <p:txBody>
          <a:bodyPr wrap="square"/>
          <a:p/>
        </p:txBody>
      </p:sp>
      <p:pic>
        <p:nvPicPr>
          <p:cNvPr id="5" name="Image 0" descr="/home/claude/samuel_deck/assets/icon_balancescale_teal.png">    </p:cNvPr>
          <p:cNvPicPr>
            <a:picLocks noChangeAspect="1"/>
          </p:cNvPicPr>
          <p:nvPr/>
        </p:nvPicPr>
        <p:blipFill>
          <a:blip r:embed="rId1"/>
          <a:stretch>
            <a:fillRect/>
          </a:stretch>
        </p:blipFill>
        <p:spPr>
          <a:xfrm>
            <a:off x="588874" y="1649578"/>
            <a:ext cx="285293" cy="285293"/>
          </a:xfrm>
          <a:prstGeom prst="rect">
            <a:avLst/>
          </a:prstGeom>
        </p:spPr>
      </p:pic>
      <p:sp>
        <p:nvSpPr>
          <p:cNvPr id="6" name="Text 3"/>
          <p:cNvSpPr/>
          <p:nvPr/>
        </p:nvSpPr>
        <p:spPr>
          <a:xfrm>
            <a:off x="457200" y="2304288"/>
            <a:ext cx="10817352" cy="384048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20" dirty="0">
                <a:solidFill>
                  <a:srgbClr val="3D4663"/>
                </a:solidFill>
                <a:latin typeface="Aptos" pitchFamily="34" charset="0"/>
                <a:ea typeface="Calibri" pitchFamily="34" charset="-122"/>
                <a:cs typeface="Calibri" pitchFamily="34" charset="-120"/>
              </a:rPr>
              <a:t>This presentation has been prepared by Samuel Space Organ and Tissue Engineering ("the Company") solely to assist prospective investors in evaluating a potential investment. It is confidential and may not be reproduced or distributed, in whole or in part, without the Company's prior written consent.</a:t>
            </a:r>
            <a:endParaRPr lang="en-US" sz="1350" dirty="0"/>
          </a:p>
          <a:p>
            <a:pPr indent="0" marL="0">
              <a:lnSpc>
                <a:spcPct val="102000"/>
              </a:lnSpc>
              <a:spcBef>
                <a:spcPts val="0"/>
              </a:spcBef>
              <a:spcAft>
                <a:spcPts val="0"/>
              </a:spcAft>
              <a:buNone/>
            </a:pPr>
            <a:endParaRPr lang="en-US" sz="1350" dirty="0"/>
          </a:p>
          <a:p>
            <a:pPr indent="0" marL="0">
              <a:lnSpc>
                <a:spcPct val="102000"/>
              </a:lnSpc>
              <a:spcBef>
                <a:spcPts val="0"/>
              </a:spcBef>
              <a:spcAft>
                <a:spcPts val="0"/>
              </a:spcAft>
              <a:buNone/>
            </a:pPr>
            <a:r>
              <a:rPr lang="en-US" sz="1120" dirty="0">
                <a:solidFill>
                  <a:srgbClr val="3D4663"/>
                </a:solidFill>
                <a:latin typeface="Aptos" pitchFamily="34" charset="0"/>
                <a:ea typeface="Calibri" pitchFamily="34" charset="-122"/>
                <a:cs typeface="Calibri" pitchFamily="34" charset="-120"/>
              </a:rPr>
              <a:t>This presentation contains forward-looking statements, including projections of financial and operating performance, market size, regulatory timelines, and technology milestones. These statements reflect current expectations and assumptions and are subject to significant risks and uncertainties; actual results may differ materially. Nothing herein constitutes an offer to sell, or a solicitation of an offer to buy, any securities, and any such offer will be made only pursuant to definitive offering documents.</a:t>
            </a:r>
            <a:endParaRPr lang="en-US" sz="1350" dirty="0"/>
          </a:p>
          <a:p>
            <a:pPr indent="0" marL="0">
              <a:lnSpc>
                <a:spcPct val="102000"/>
              </a:lnSpc>
              <a:spcBef>
                <a:spcPts val="0"/>
              </a:spcBef>
              <a:spcAft>
                <a:spcPts val="0"/>
              </a:spcAft>
              <a:buNone/>
            </a:pPr>
            <a:endParaRPr lang="en-US" sz="1350" dirty="0"/>
          </a:p>
          <a:p>
            <a:pPr indent="0" marL="0">
              <a:lnSpc>
                <a:spcPct val="102000"/>
              </a:lnSpc>
              <a:spcBef>
                <a:spcPts val="0"/>
              </a:spcBef>
              <a:spcAft>
                <a:spcPts val="0"/>
              </a:spcAft>
              <a:buNone/>
            </a:pPr>
            <a:r>
              <a:rPr lang="en-US" sz="1120" dirty="0">
                <a:solidFill>
                  <a:srgbClr val="3D4663"/>
                </a:solidFill>
                <a:latin typeface="Aptos" pitchFamily="34" charset="0"/>
                <a:ea typeface="Calibri" pitchFamily="34" charset="-122"/>
                <a:cs typeface="Calibri" pitchFamily="34" charset="-120"/>
              </a:rPr>
              <a:t>Certain industry, market, and scientific data in this presentation has been compiled from third-party sources - including government agencies, peer-reviewed publications, and public company disclosures - as cited in the Appendix. The Company has not independently verified all such data and makes no representation as to its completeness or accuracy.</a:t>
            </a:r>
            <a:endParaRPr lang="en-US" sz="1350" dirty="0"/>
          </a:p>
        </p:txBody>
      </p:sp>
      <p:sp>
        <p:nvSpPr>
          <p:cNvPr id="7" name="Text 4"/>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EXECUTIVE SUMMARY</a:t>
            </a:r>
            <a:endParaRPr lang="en-US" sz="1100" dirty="0"/>
          </a:p>
        </p:txBody>
      </p:sp>
      <p:sp>
        <p:nvSpPr>
          <p:cNvPr id="3" name="Text 1"/>
          <p:cNvSpPr/>
          <p:nvPr/>
        </p:nvSpPr>
        <p:spPr>
          <a:xfrm>
            <a:off x="457200" y="621792"/>
            <a:ext cx="1124712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Translating Proven Orbital Science Into a Commercial Tissue Platform</a:t>
            </a:r>
            <a:endParaRPr lang="en-US" sz="2400" dirty="0"/>
          </a:p>
        </p:txBody>
      </p:sp>
      <p:sp>
        <p:nvSpPr>
          <p:cNvPr id="4" name="Shape 2"/>
          <p:cNvSpPr/>
          <p:nvPr/>
        </p:nvSpPr>
        <p:spPr>
          <a:xfrm>
            <a:off x="457200" y="1444752"/>
            <a:ext cx="2553462" cy="1280160"/>
          </a:xfrm>
          <a:prstGeom prst="roundRect">
            <a:avLst>
              <a:gd name="adj" fmla="val 6429"/>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5" name="Text 3"/>
          <p:cNvSpPr/>
          <p:nvPr/>
        </p:nvSpPr>
        <p:spPr>
          <a:xfrm>
            <a:off x="603504" y="1572768"/>
            <a:ext cx="2260854" cy="53035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050" b="1" dirty="0">
                <a:solidFill>
                  <a:srgbClr val="0A8F78"/>
                </a:solidFill>
                <a:latin typeface="Aptos Display" pitchFamily="34" charset="0"/>
                <a:ea typeface="Cambria" pitchFamily="34" charset="-122"/>
                <a:cs typeface="Cambria" pitchFamily="34" charset="-120"/>
              </a:rPr>
              <a:t>103,223</a:t>
            </a:r>
            <a:endParaRPr lang="en-US" sz="1900" dirty="0"/>
          </a:p>
        </p:txBody>
      </p:sp>
      <p:sp>
        <p:nvSpPr>
          <p:cNvPr id="6" name="Text 4"/>
          <p:cNvSpPr/>
          <p:nvPr/>
        </p:nvSpPr>
        <p:spPr>
          <a:xfrm>
            <a:off x="603504" y="2139696"/>
            <a:ext cx="2260854" cy="47548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10" dirty="0">
                <a:solidFill>
                  <a:srgbClr val="3D4663"/>
                </a:solidFill>
                <a:latin typeface="Aptos" pitchFamily="34" charset="0"/>
                <a:ea typeface="Calibri" pitchFamily="34" charset="-122"/>
                <a:cs typeface="Calibri" pitchFamily="34" charset="-120"/>
              </a:rPr>
              <a:t>People on the U.S. transplant</a:t>
            </a:r>
            <a:endParaRPr lang="en-US" sz="1050" dirty="0"/>
          </a:p>
          <a:p>
            <a:pPr indent="0" marL="0">
              <a:lnSpc>
                <a:spcPct val="102000"/>
              </a:lnSpc>
              <a:spcBef>
                <a:spcPts val="0"/>
              </a:spcBef>
              <a:spcAft>
                <a:spcPts val="0"/>
              </a:spcAft>
              <a:buNone/>
            </a:pPr>
            <a:r>
              <a:rPr lang="en-US" sz="1110" dirty="0">
                <a:solidFill>
                  <a:srgbClr val="3D4663"/>
                </a:solidFill>
                <a:latin typeface="Aptos" pitchFamily="34" charset="0"/>
                <a:ea typeface="Calibri" pitchFamily="34" charset="-122"/>
                <a:cs typeface="Calibri" pitchFamily="34" charset="-120"/>
              </a:rPr>
              <a:t>waitlist today (OPTN, 2025)</a:t>
            </a:r>
            <a:endParaRPr lang="en-US" sz="1050" dirty="0"/>
          </a:p>
        </p:txBody>
      </p:sp>
      <p:sp>
        <p:nvSpPr>
          <p:cNvPr id="7" name="Shape 5"/>
          <p:cNvSpPr/>
          <p:nvPr/>
        </p:nvSpPr>
        <p:spPr>
          <a:xfrm>
            <a:off x="3211830" y="1444752"/>
            <a:ext cx="2553462" cy="1280160"/>
          </a:xfrm>
          <a:prstGeom prst="roundRect">
            <a:avLst>
              <a:gd name="adj" fmla="val 6429"/>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8" name="Text 6"/>
          <p:cNvSpPr/>
          <p:nvPr/>
        </p:nvSpPr>
        <p:spPr>
          <a:xfrm>
            <a:off x="3358134" y="1572768"/>
            <a:ext cx="2260854" cy="53035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050" b="1" dirty="0">
                <a:solidFill>
                  <a:srgbClr val="0A8F78"/>
                </a:solidFill>
                <a:latin typeface="Aptos Display" pitchFamily="34" charset="0"/>
                <a:ea typeface="Cambria" pitchFamily="34" charset="-122"/>
                <a:cs typeface="Cambria" pitchFamily="34" charset="-120"/>
              </a:rPr>
              <a:t>13 / day</a:t>
            </a:r>
            <a:endParaRPr lang="en-US" sz="1900" dirty="0"/>
          </a:p>
        </p:txBody>
      </p:sp>
      <p:sp>
        <p:nvSpPr>
          <p:cNvPr id="9" name="Text 7"/>
          <p:cNvSpPr/>
          <p:nvPr/>
        </p:nvSpPr>
        <p:spPr>
          <a:xfrm>
            <a:off x="3358134" y="2139696"/>
            <a:ext cx="2260854" cy="47548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10" dirty="0">
                <a:solidFill>
                  <a:srgbClr val="3D4663"/>
                </a:solidFill>
                <a:latin typeface="Aptos" pitchFamily="34" charset="0"/>
                <a:ea typeface="Calibri" pitchFamily="34" charset="-122"/>
                <a:cs typeface="Calibri" pitchFamily="34" charset="-120"/>
              </a:rPr>
              <a:t>Americans die waiting for</a:t>
            </a:r>
            <a:endParaRPr lang="en-US" sz="1050" dirty="0"/>
          </a:p>
          <a:p>
            <a:pPr indent="0" marL="0">
              <a:lnSpc>
                <a:spcPct val="102000"/>
              </a:lnSpc>
              <a:spcBef>
                <a:spcPts val="0"/>
              </a:spcBef>
              <a:spcAft>
                <a:spcPts val="0"/>
              </a:spcAft>
              <a:buNone/>
            </a:pPr>
            <a:r>
              <a:rPr lang="en-US" sz="1110" dirty="0">
                <a:solidFill>
                  <a:srgbClr val="3D4663"/>
                </a:solidFill>
                <a:latin typeface="Aptos" pitchFamily="34" charset="0"/>
                <a:ea typeface="Calibri" pitchFamily="34" charset="-122"/>
                <a:cs typeface="Calibri" pitchFamily="34" charset="-120"/>
              </a:rPr>
              <a:t>a donor organ</a:t>
            </a:r>
            <a:endParaRPr lang="en-US" sz="1050" dirty="0"/>
          </a:p>
        </p:txBody>
      </p:sp>
      <p:sp>
        <p:nvSpPr>
          <p:cNvPr id="10" name="Shape 8"/>
          <p:cNvSpPr/>
          <p:nvPr/>
        </p:nvSpPr>
        <p:spPr>
          <a:xfrm>
            <a:off x="5966460" y="1444752"/>
            <a:ext cx="2553462" cy="1280160"/>
          </a:xfrm>
          <a:prstGeom prst="roundRect">
            <a:avLst>
              <a:gd name="adj" fmla="val 6429"/>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1" name="Text 9"/>
          <p:cNvSpPr/>
          <p:nvPr/>
        </p:nvSpPr>
        <p:spPr>
          <a:xfrm>
            <a:off x="6112764" y="1572768"/>
            <a:ext cx="2260854" cy="53035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050" b="1" dirty="0">
                <a:solidFill>
                  <a:srgbClr val="0A8F78"/>
                </a:solidFill>
                <a:latin typeface="Aptos Display" pitchFamily="34" charset="0"/>
                <a:ea typeface="Cambria" pitchFamily="34" charset="-122"/>
                <a:cs typeface="Cambria" pitchFamily="34" charset="-120"/>
              </a:rPr>
              <a:t>$1.7B to $3.5B+</a:t>
            </a:r>
            <a:endParaRPr lang="en-US" sz="1900" dirty="0"/>
          </a:p>
        </p:txBody>
      </p:sp>
      <p:sp>
        <p:nvSpPr>
          <p:cNvPr id="12" name="Text 10"/>
          <p:cNvSpPr/>
          <p:nvPr/>
        </p:nvSpPr>
        <p:spPr>
          <a:xfrm>
            <a:off x="6112764" y="2139696"/>
            <a:ext cx="2260854" cy="47548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10" dirty="0">
                <a:solidFill>
                  <a:srgbClr val="3D4663"/>
                </a:solidFill>
                <a:latin typeface="Aptos" pitchFamily="34" charset="0"/>
                <a:ea typeface="Calibri" pitchFamily="34" charset="-122"/>
                <a:cs typeface="Calibri" pitchFamily="34" charset="-120"/>
              </a:rPr>
              <a:t>Global bioprinting market</a:t>
            </a:r>
            <a:endParaRPr lang="en-US" sz="1050" dirty="0"/>
          </a:p>
          <a:p>
            <a:pPr indent="0" marL="0">
              <a:lnSpc>
                <a:spcPct val="102000"/>
              </a:lnSpc>
              <a:spcBef>
                <a:spcPts val="0"/>
              </a:spcBef>
              <a:spcAft>
                <a:spcPts val="0"/>
              </a:spcAft>
              <a:buNone/>
            </a:pPr>
            <a:r>
              <a:rPr lang="en-US" sz="1110" dirty="0">
                <a:solidFill>
                  <a:srgbClr val="3D4663"/>
                </a:solidFill>
                <a:latin typeface="Aptos" pitchFamily="34" charset="0"/>
                <a:ea typeface="Calibri" pitchFamily="34" charset="-122"/>
                <a:cs typeface="Calibri" pitchFamily="34" charset="-120"/>
              </a:rPr>
              <a:t>2025 to 2030 (~16% CAGR)</a:t>
            </a:r>
            <a:endParaRPr lang="en-US" sz="1050" dirty="0"/>
          </a:p>
        </p:txBody>
      </p:sp>
      <p:sp>
        <p:nvSpPr>
          <p:cNvPr id="13" name="Shape 11"/>
          <p:cNvSpPr/>
          <p:nvPr/>
        </p:nvSpPr>
        <p:spPr>
          <a:xfrm>
            <a:off x="8721090" y="1444752"/>
            <a:ext cx="2553462" cy="1280160"/>
          </a:xfrm>
          <a:prstGeom prst="roundRect">
            <a:avLst>
              <a:gd name="adj" fmla="val 6429"/>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4" name="Text 12"/>
          <p:cNvSpPr/>
          <p:nvPr/>
        </p:nvSpPr>
        <p:spPr>
          <a:xfrm>
            <a:off x="8867394" y="1572768"/>
            <a:ext cx="2260854" cy="53035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050" b="1" dirty="0">
                <a:solidFill>
                  <a:srgbClr val="0A8F78"/>
                </a:solidFill>
                <a:latin typeface="Aptos Display" pitchFamily="34" charset="0"/>
                <a:ea typeface="Cambria" pitchFamily="34" charset="-122"/>
                <a:cs typeface="Cambria" pitchFamily="34" charset="-120"/>
              </a:rPr>
              <a:t>8 years</a:t>
            </a:r>
            <a:endParaRPr lang="en-US" sz="1900" dirty="0"/>
          </a:p>
        </p:txBody>
      </p:sp>
      <p:sp>
        <p:nvSpPr>
          <p:cNvPr id="15" name="Text 13"/>
          <p:cNvSpPr/>
          <p:nvPr/>
        </p:nvSpPr>
        <p:spPr>
          <a:xfrm>
            <a:off x="8867394" y="2139696"/>
            <a:ext cx="2260854" cy="47548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10" dirty="0">
                <a:solidFill>
                  <a:srgbClr val="3D4663"/>
                </a:solidFill>
                <a:latin typeface="Aptos" pitchFamily="34" charset="0"/>
                <a:ea typeface="Calibri" pitchFamily="34" charset="-122"/>
                <a:cs typeface="Calibri" pitchFamily="34" charset="-120"/>
              </a:rPr>
              <a:t>Continuous in-orbit</a:t>
            </a:r>
            <a:endParaRPr lang="en-US" sz="1050" dirty="0"/>
          </a:p>
          <a:p>
            <a:pPr indent="0" marL="0">
              <a:lnSpc>
                <a:spcPct val="102000"/>
              </a:lnSpc>
              <a:spcBef>
                <a:spcPts val="0"/>
              </a:spcBef>
              <a:spcAft>
                <a:spcPts val="0"/>
              </a:spcAft>
              <a:buNone/>
            </a:pPr>
            <a:r>
              <a:rPr lang="en-US" sz="1110" dirty="0">
                <a:solidFill>
                  <a:srgbClr val="3D4663"/>
                </a:solidFill>
                <a:latin typeface="Aptos" pitchFamily="34" charset="0"/>
                <a:ea typeface="Calibri" pitchFamily="34" charset="-122"/>
                <a:cs typeface="Calibri" pitchFamily="34" charset="-120"/>
              </a:rPr>
              <a:t>bioprinting validation</a:t>
            </a:r>
            <a:endParaRPr lang="en-US" sz="1050" dirty="0"/>
          </a:p>
        </p:txBody>
      </p:sp>
      <p:sp>
        <p:nvSpPr>
          <p:cNvPr id="16" name="Shape 14"/>
          <p:cNvSpPr/>
          <p:nvPr/>
        </p:nvSpPr>
        <p:spPr>
          <a:xfrm>
            <a:off x="457200" y="2999232"/>
            <a:ext cx="2553462" cy="3035808"/>
          </a:xfrm>
          <a:prstGeom prst="roundRect">
            <a:avLst>
              <a:gd name="adj" fmla="val 3223"/>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7" name="Shape 15"/>
          <p:cNvSpPr/>
          <p:nvPr/>
        </p:nvSpPr>
        <p:spPr>
          <a:xfrm>
            <a:off x="640080" y="3145536"/>
            <a:ext cx="475488" cy="475488"/>
          </a:xfrm>
          <a:prstGeom prst="ellipse">
            <a:avLst/>
          </a:prstGeom>
          <a:solidFill>
            <a:srgbClr val="0A8F78"/>
          </a:solidFill>
          <a:ln w="12700">
            <a:noFill/>
            <a:prstDash val="solid"/>
          </a:ln>
        </p:spPr>
        <p:txBody>
          <a:bodyPr wrap="square"/>
          <a:p/>
        </p:txBody>
      </p:sp>
      <p:pic>
        <p:nvPicPr>
          <p:cNvPr id="18" name="Image 0" descr="/home/claude/samuel_deck/assets/icon_hospital_teal.png">    </p:cNvPr>
          <p:cNvPicPr>
            <a:picLocks noChangeAspect="1"/>
          </p:cNvPicPr>
          <p:nvPr/>
        </p:nvPicPr>
        <p:blipFill>
          <a:blip r:embed="rId1"/>
          <a:stretch>
            <a:fillRect/>
          </a:stretch>
        </p:blipFill>
        <p:spPr>
          <a:xfrm>
            <a:off x="754197" y="3259653"/>
            <a:ext cx="247254" cy="247254"/>
          </a:xfrm>
          <a:prstGeom prst="rect">
            <a:avLst/>
          </a:prstGeom>
        </p:spPr>
      </p:pic>
      <p:sp>
        <p:nvSpPr>
          <p:cNvPr id="19" name="Text 16"/>
          <p:cNvSpPr/>
          <p:nvPr/>
        </p:nvSpPr>
        <p:spPr>
          <a:xfrm>
            <a:off x="640080" y="3730752"/>
            <a:ext cx="2187702" cy="30175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500" b="1" dirty="0">
                <a:solidFill>
                  <a:srgbClr val="0B1330"/>
                </a:solidFill>
                <a:latin typeface="Aptos Display" pitchFamily="34" charset="0"/>
                <a:ea typeface="Cambria" pitchFamily="34" charset="-122"/>
                <a:cs typeface="Cambria" pitchFamily="34" charset="-120"/>
              </a:rPr>
              <a:t>The Problem</a:t>
            </a:r>
            <a:endParaRPr lang="en-US" sz="1400" dirty="0"/>
          </a:p>
        </p:txBody>
      </p:sp>
      <p:sp>
        <p:nvSpPr>
          <p:cNvPr id="20" name="Text 17"/>
          <p:cNvSpPr/>
          <p:nvPr/>
        </p:nvSpPr>
        <p:spPr>
          <a:xfrm>
            <a:off x="640080" y="4059936"/>
            <a:ext cx="2187702" cy="182880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10" dirty="0">
                <a:solidFill>
                  <a:srgbClr val="3D4663"/>
                </a:solidFill>
                <a:latin typeface="Aptos" pitchFamily="34" charset="0"/>
                <a:ea typeface="Calibri" pitchFamily="34" charset="-122"/>
                <a:cs typeface="Calibri" pitchFamily="34" charset="-120"/>
              </a:rPr>
              <a:t>Organ and tissue shortages persist globally. Earth-based bioprinting hits a physical ceiling: gravity causes tissues to collapse without a temporary scaffold, limiting achievable geometry.</a:t>
            </a:r>
            <a:endParaRPr lang="en-US" sz="1050" dirty="0"/>
          </a:p>
        </p:txBody>
      </p:sp>
      <p:sp>
        <p:nvSpPr>
          <p:cNvPr id="21" name="Shape 18"/>
          <p:cNvSpPr/>
          <p:nvPr/>
        </p:nvSpPr>
        <p:spPr>
          <a:xfrm>
            <a:off x="3211830" y="2999232"/>
            <a:ext cx="2553462" cy="3035808"/>
          </a:xfrm>
          <a:prstGeom prst="roundRect">
            <a:avLst>
              <a:gd name="adj" fmla="val 3223"/>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22" name="Shape 19"/>
          <p:cNvSpPr/>
          <p:nvPr/>
        </p:nvSpPr>
        <p:spPr>
          <a:xfrm>
            <a:off x="3394710" y="3145536"/>
            <a:ext cx="475488" cy="475488"/>
          </a:xfrm>
          <a:prstGeom prst="ellipse">
            <a:avLst/>
          </a:prstGeom>
          <a:solidFill>
            <a:srgbClr val="0A8F78"/>
          </a:solidFill>
          <a:ln w="12700">
            <a:noFill/>
            <a:prstDash val="solid"/>
          </a:ln>
        </p:spPr>
        <p:txBody>
          <a:bodyPr wrap="square"/>
          <a:p/>
        </p:txBody>
      </p:sp>
      <p:pic>
        <p:nvPicPr>
          <p:cNvPr id="23" name="Image 1" descr="/home/claude/samuel_deck/assets/icon_satellitedish_teal.png">    </p:cNvPr>
          <p:cNvPicPr>
            <a:picLocks noChangeAspect="1"/>
          </p:cNvPicPr>
          <p:nvPr/>
        </p:nvPicPr>
        <p:blipFill>
          <a:blip r:embed="rId2"/>
          <a:stretch>
            <a:fillRect/>
          </a:stretch>
        </p:blipFill>
        <p:spPr>
          <a:xfrm>
            <a:off x="3508827" y="3259653"/>
            <a:ext cx="247254" cy="247254"/>
          </a:xfrm>
          <a:prstGeom prst="rect">
            <a:avLst/>
          </a:prstGeom>
        </p:spPr>
      </p:pic>
      <p:sp>
        <p:nvSpPr>
          <p:cNvPr id="24" name="Text 20"/>
          <p:cNvSpPr/>
          <p:nvPr/>
        </p:nvSpPr>
        <p:spPr>
          <a:xfrm>
            <a:off x="3394710" y="3730752"/>
            <a:ext cx="2187702" cy="30175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500" b="1" dirty="0">
                <a:solidFill>
                  <a:srgbClr val="0B1330"/>
                </a:solidFill>
                <a:latin typeface="Aptos Display" pitchFamily="34" charset="0"/>
                <a:ea typeface="Cambria" pitchFamily="34" charset="-122"/>
                <a:cs typeface="Cambria" pitchFamily="34" charset="-120"/>
              </a:rPr>
              <a:t>The Unlock</a:t>
            </a:r>
            <a:endParaRPr lang="en-US" sz="1400" dirty="0"/>
          </a:p>
        </p:txBody>
      </p:sp>
      <p:sp>
        <p:nvSpPr>
          <p:cNvPr id="25" name="Text 21"/>
          <p:cNvSpPr/>
          <p:nvPr/>
        </p:nvSpPr>
        <p:spPr>
          <a:xfrm>
            <a:off x="3394710" y="4059936"/>
            <a:ext cx="2187702" cy="182880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10" dirty="0">
                <a:solidFill>
                  <a:srgbClr val="3D4663"/>
                </a:solidFill>
                <a:latin typeface="Aptos" pitchFamily="34" charset="0"/>
                <a:ea typeface="Calibri" pitchFamily="34" charset="-122"/>
                <a:cs typeface="Calibri" pitchFamily="34" charset="-120"/>
              </a:rPr>
              <a:t>Microgravity eliminates scaffold dependency. NASA, Redwire, ESA, LambdaVision and ROSCOSMOS have validated the science aboard the ISS continuously since 2018.</a:t>
            </a:r>
            <a:endParaRPr lang="en-US" sz="1050" dirty="0"/>
          </a:p>
        </p:txBody>
      </p:sp>
      <p:sp>
        <p:nvSpPr>
          <p:cNvPr id="26" name="Shape 22"/>
          <p:cNvSpPr/>
          <p:nvPr/>
        </p:nvSpPr>
        <p:spPr>
          <a:xfrm>
            <a:off x="5966460" y="2999232"/>
            <a:ext cx="2553462" cy="3035808"/>
          </a:xfrm>
          <a:prstGeom prst="roundRect">
            <a:avLst>
              <a:gd name="adj" fmla="val 3223"/>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27" name="Shape 23"/>
          <p:cNvSpPr/>
          <p:nvPr/>
        </p:nvSpPr>
        <p:spPr>
          <a:xfrm>
            <a:off x="6149340" y="3145536"/>
            <a:ext cx="475488" cy="475488"/>
          </a:xfrm>
          <a:prstGeom prst="ellipse">
            <a:avLst/>
          </a:prstGeom>
          <a:solidFill>
            <a:srgbClr val="0A8F78"/>
          </a:solidFill>
          <a:ln w="12700">
            <a:noFill/>
            <a:prstDash val="solid"/>
          </a:ln>
        </p:spPr>
        <p:txBody>
          <a:bodyPr wrap="square"/>
          <a:p/>
        </p:txBody>
      </p:sp>
      <p:pic>
        <p:nvPicPr>
          <p:cNvPr id="28" name="Image 2" descr="/home/claude/samuel_deck/assets/icon_chartline_teal.png">    </p:cNvPr>
          <p:cNvPicPr>
            <a:picLocks noChangeAspect="1"/>
          </p:cNvPicPr>
          <p:nvPr/>
        </p:nvPicPr>
        <p:blipFill>
          <a:blip r:embed="rId3"/>
          <a:stretch>
            <a:fillRect/>
          </a:stretch>
        </p:blipFill>
        <p:spPr>
          <a:xfrm>
            <a:off x="6263457" y="3259653"/>
            <a:ext cx="247254" cy="247254"/>
          </a:xfrm>
          <a:prstGeom prst="rect">
            <a:avLst/>
          </a:prstGeom>
        </p:spPr>
      </p:pic>
      <p:sp>
        <p:nvSpPr>
          <p:cNvPr id="29" name="Text 24"/>
          <p:cNvSpPr/>
          <p:nvPr/>
        </p:nvSpPr>
        <p:spPr>
          <a:xfrm>
            <a:off x="6149340" y="3730752"/>
            <a:ext cx="2187702" cy="30175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500" b="1" dirty="0">
                <a:solidFill>
                  <a:srgbClr val="0B1330"/>
                </a:solidFill>
                <a:latin typeface="Aptos Display" pitchFamily="34" charset="0"/>
                <a:ea typeface="Cambria" pitchFamily="34" charset="-122"/>
                <a:cs typeface="Cambria" pitchFamily="34" charset="-120"/>
              </a:rPr>
              <a:t>The Market</a:t>
            </a:r>
            <a:endParaRPr lang="en-US" sz="1400" dirty="0"/>
          </a:p>
        </p:txBody>
      </p:sp>
      <p:sp>
        <p:nvSpPr>
          <p:cNvPr id="30" name="Text 25"/>
          <p:cNvSpPr/>
          <p:nvPr/>
        </p:nvSpPr>
        <p:spPr>
          <a:xfrm>
            <a:off x="6149340" y="4059936"/>
            <a:ext cx="2187702" cy="182880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10" dirty="0">
                <a:solidFill>
                  <a:srgbClr val="3D4663"/>
                </a:solidFill>
                <a:latin typeface="Aptos" pitchFamily="34" charset="0"/>
                <a:ea typeface="Calibri" pitchFamily="34" charset="-122"/>
                <a:cs typeface="Calibri" pitchFamily="34" charset="-120"/>
              </a:rPr>
              <a:t>A $1.7B market growing at ~16% CAGR, the first FDA-cleared tissue-engineered vascular graft (Symvess, Dec 2024), and four commercial stations entering service from 2026.</a:t>
            </a:r>
            <a:endParaRPr lang="en-US" sz="1050" dirty="0"/>
          </a:p>
        </p:txBody>
      </p:sp>
      <p:sp>
        <p:nvSpPr>
          <p:cNvPr id="31" name="Shape 26"/>
          <p:cNvSpPr/>
          <p:nvPr/>
        </p:nvSpPr>
        <p:spPr>
          <a:xfrm>
            <a:off x="8721090" y="2999232"/>
            <a:ext cx="2553462" cy="3035808"/>
          </a:xfrm>
          <a:prstGeom prst="roundRect">
            <a:avLst>
              <a:gd name="adj" fmla="val 3223"/>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32" name="Shape 27"/>
          <p:cNvSpPr/>
          <p:nvPr/>
        </p:nvSpPr>
        <p:spPr>
          <a:xfrm>
            <a:off x="8903970" y="3145536"/>
            <a:ext cx="475488" cy="475488"/>
          </a:xfrm>
          <a:prstGeom prst="ellipse">
            <a:avLst/>
          </a:prstGeom>
          <a:solidFill>
            <a:srgbClr val="0A8F78"/>
          </a:solidFill>
          <a:ln w="12700">
            <a:noFill/>
            <a:prstDash val="solid"/>
          </a:ln>
        </p:spPr>
        <p:txBody>
          <a:bodyPr wrap="square"/>
          <a:p/>
        </p:txBody>
      </p:sp>
      <p:pic>
        <p:nvPicPr>
          <p:cNvPr id="33" name="Image 3" descr="/home/claude/samuel_deck/assets/icon_rocket_teal.png">    </p:cNvPr>
          <p:cNvPicPr>
            <a:picLocks noChangeAspect="1"/>
          </p:cNvPicPr>
          <p:nvPr/>
        </p:nvPicPr>
        <p:blipFill>
          <a:blip r:embed="rId4"/>
          <a:stretch>
            <a:fillRect/>
          </a:stretch>
        </p:blipFill>
        <p:spPr>
          <a:xfrm>
            <a:off x="9018087" y="3259653"/>
            <a:ext cx="247254" cy="247254"/>
          </a:xfrm>
          <a:prstGeom prst="rect">
            <a:avLst/>
          </a:prstGeom>
        </p:spPr>
      </p:pic>
      <p:sp>
        <p:nvSpPr>
          <p:cNvPr id="34" name="Text 28"/>
          <p:cNvSpPr/>
          <p:nvPr/>
        </p:nvSpPr>
        <p:spPr>
          <a:xfrm>
            <a:off x="8903970" y="3730752"/>
            <a:ext cx="2187702" cy="30175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500" b="1" dirty="0">
                <a:solidFill>
                  <a:srgbClr val="0B1330"/>
                </a:solidFill>
                <a:latin typeface="Aptos Display" pitchFamily="34" charset="0"/>
                <a:ea typeface="Cambria" pitchFamily="34" charset="-122"/>
                <a:cs typeface="Cambria" pitchFamily="34" charset="-120"/>
              </a:rPr>
              <a:t>The Ask</a:t>
            </a:r>
            <a:endParaRPr lang="en-US" sz="1400" dirty="0"/>
          </a:p>
        </p:txBody>
      </p:sp>
      <p:sp>
        <p:nvSpPr>
          <p:cNvPr id="35" name="Text 29"/>
          <p:cNvSpPr/>
          <p:nvPr/>
        </p:nvSpPr>
        <p:spPr>
          <a:xfrm>
            <a:off x="8903970" y="4059936"/>
            <a:ext cx="2187702" cy="182880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10" dirty="0">
                <a:solidFill>
                  <a:srgbClr val="3D4663"/>
                </a:solidFill>
                <a:latin typeface="Aptos" pitchFamily="34" charset="0"/>
                <a:ea typeface="Calibri" pitchFamily="34" charset="-122"/>
                <a:cs typeface="Calibri" pitchFamily="34" charset="-120"/>
              </a:rPr>
              <a:t>An $18M Series A to build Samuel's first flight-qualified payload platform, commercialise wound-care and orthopedic verticals, and file NASA InSPA Phase 1 grants.</a:t>
            </a:r>
            <a:endParaRPr lang="en-US" sz="1050" dirty="0"/>
          </a:p>
        </p:txBody>
      </p:sp>
      <p:sp>
        <p:nvSpPr>
          <p:cNvPr id="36" name="Text 30"/>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THE PROBLEM</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A Global Organ &amp; Tissue Crisis</a:t>
            </a:r>
            <a:endParaRPr lang="en-US" sz="2700" dirty="0"/>
          </a:p>
        </p:txBody>
      </p:sp>
      <p:sp>
        <p:nvSpPr>
          <p:cNvPr id="4" name="Text 2"/>
          <p:cNvSpPr/>
          <p:nvPr/>
        </p:nvSpPr>
        <p:spPr>
          <a:xfrm>
            <a:off x="457200" y="1417320"/>
            <a:ext cx="5669280" cy="274320"/>
          </a:xfrm>
          <a:prstGeom prst="rect">
            <a:avLst/>
          </a:prstGeom>
          <a:noFill/>
          <a:ln/>
        </p:spPr>
        <p:txBody>
          <a:bodyPr wrap="square" lIns="0" tIns="0" rIns="0" bIns="0" rtlCol="0" anchor="ctr"/>
          <a:lstStyle/>
          <a:p>
            <a:pPr indent="0" marL="0">
              <a:buNone/>
            </a:pPr>
            <a:r>
              <a:rPr lang="en-US" sz="1200" b="1" dirty="0">
                <a:solidFill>
                  <a:srgbClr val="0B1330"/>
                </a:solidFill>
                <a:latin typeface="Aptos" pitchFamily="34" charset="0"/>
                <a:ea typeface="Calibri" pitchFamily="34" charset="-122"/>
                <a:cs typeface="Calibri" pitchFamily="34" charset="-120"/>
              </a:rPr>
              <a:t>U.S. Transplant Waiting List by Organ (2025)</a:t>
            </a:r>
            <a:endParaRPr lang="en-US" sz="1200" dirty="0"/>
          </a:p>
        </p:txBody>
      </p:sp>
      <p:graphicFrame>
        <p:nvGraphicFramePr>
          <p:cNvPr id="5" name="Chart 0" descr=""/>
          <p:cNvGraphicFramePr/>
          <p:nvPr/>
        </p:nvGraphicFramePr>
        <p:xfrm>
          <a:off x="457200" y="1719072"/>
          <a:ext cx="5669280" cy="31089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4882896"/>
            <a:ext cx="5486400" cy="201168"/>
          </a:xfrm>
          <a:prstGeom prst="rect">
            <a:avLst/>
          </a:prstGeom>
          <a:noFill/>
          <a:ln/>
        </p:spPr>
        <p:txBody>
          <a:bodyPr wrap="square" lIns="0" tIns="0" rIns="0" bIns="0" rtlCol="0" anchor="ctr"/>
          <a:lstStyle/>
          <a:p>
            <a:pPr indent="0" marL="0">
              <a:buNone/>
            </a:pPr>
            <a:r>
              <a:rPr lang="en-US" sz="850" i="1" dirty="0">
                <a:solidFill>
                  <a:srgbClr val="64739A"/>
                </a:solidFill>
                <a:latin typeface="Aptos" pitchFamily="34" charset="0"/>
                <a:ea typeface="Calibri" pitchFamily="34" charset="-122"/>
                <a:cs typeface="Calibri" pitchFamily="34" charset="-120"/>
              </a:rPr>
              <a:t>Source: OPTN / organdonor.gov, 2025</a:t>
            </a:r>
            <a:endParaRPr lang="en-US" sz="850" dirty="0"/>
          </a:p>
        </p:txBody>
      </p:sp>
      <p:sp>
        <p:nvSpPr>
          <p:cNvPr id="7" name="Shape 4"/>
          <p:cNvSpPr/>
          <p:nvPr/>
        </p:nvSpPr>
        <p:spPr>
          <a:xfrm>
            <a:off x="6327648" y="1444752"/>
            <a:ext cx="5239512" cy="1024128"/>
          </a:xfrm>
          <a:prstGeom prst="roundRect">
            <a:avLst>
              <a:gd name="adj" fmla="val 8036"/>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8" name="Text 5"/>
          <p:cNvSpPr/>
          <p:nvPr/>
        </p:nvSpPr>
        <p:spPr>
          <a:xfrm>
            <a:off x="6492240" y="1536192"/>
            <a:ext cx="1828800" cy="82296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850" b="1" dirty="0">
                <a:solidFill>
                  <a:srgbClr val="0A8F78"/>
                </a:solidFill>
                <a:latin typeface="Aptos Display" pitchFamily="34" charset="0"/>
                <a:ea typeface="Cambria" pitchFamily="34" charset="-122"/>
                <a:cs typeface="Cambria" pitchFamily="34" charset="-120"/>
              </a:rPr>
              <a:t>941,652</a:t>
            </a:r>
            <a:endParaRPr lang="en-US" sz="1600" dirty="0"/>
          </a:p>
        </p:txBody>
      </p:sp>
      <p:sp>
        <p:nvSpPr>
          <p:cNvPr id="9" name="Text 6"/>
          <p:cNvSpPr/>
          <p:nvPr/>
        </p:nvSpPr>
        <p:spPr>
          <a:xfrm>
            <a:off x="8430768" y="1536192"/>
            <a:ext cx="2926080" cy="82296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70" dirty="0">
                <a:solidFill>
                  <a:srgbClr val="3D4663"/>
                </a:solidFill>
                <a:latin typeface="Aptos" pitchFamily="34" charset="0"/>
                <a:ea typeface="Calibri" pitchFamily="34" charset="-122"/>
                <a:cs typeface="Calibri" pitchFamily="34" charset="-120"/>
              </a:rPr>
              <a:t>CVD deaths in the U.S. in 2022 - still the #1 cause of death, killing more people than all cancers combined</a:t>
            </a:r>
            <a:endParaRPr lang="en-US" sz="950" dirty="0"/>
          </a:p>
        </p:txBody>
      </p:sp>
      <p:sp>
        <p:nvSpPr>
          <p:cNvPr id="10" name="Shape 7"/>
          <p:cNvSpPr/>
          <p:nvPr/>
        </p:nvSpPr>
        <p:spPr>
          <a:xfrm>
            <a:off x="6327648" y="2578608"/>
            <a:ext cx="5239512" cy="1024128"/>
          </a:xfrm>
          <a:prstGeom prst="roundRect">
            <a:avLst>
              <a:gd name="adj" fmla="val 8036"/>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1" name="Text 8"/>
          <p:cNvSpPr/>
          <p:nvPr/>
        </p:nvSpPr>
        <p:spPr>
          <a:xfrm>
            <a:off x="6492240" y="2670048"/>
            <a:ext cx="1828800" cy="82296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850" b="1" dirty="0">
                <a:solidFill>
                  <a:srgbClr val="0A8F78"/>
                </a:solidFill>
                <a:latin typeface="Aptos Display" pitchFamily="34" charset="0"/>
                <a:ea typeface="Cambria" pitchFamily="34" charset="-122"/>
                <a:cs typeface="Cambria" pitchFamily="34" charset="-120"/>
              </a:rPr>
              <a:t>~1 per 34 sec</a:t>
            </a:r>
            <a:endParaRPr lang="en-US" sz="1600" dirty="0"/>
          </a:p>
        </p:txBody>
      </p:sp>
      <p:sp>
        <p:nvSpPr>
          <p:cNvPr id="12" name="Text 9"/>
          <p:cNvSpPr/>
          <p:nvPr/>
        </p:nvSpPr>
        <p:spPr>
          <a:xfrm>
            <a:off x="8430768" y="2670048"/>
            <a:ext cx="2926080" cy="82296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70" dirty="0">
                <a:solidFill>
                  <a:srgbClr val="3D4663"/>
                </a:solidFill>
                <a:latin typeface="Aptos" pitchFamily="34" charset="0"/>
                <a:ea typeface="Calibri" pitchFamily="34" charset="-122"/>
                <a:cs typeface="Calibri" pitchFamily="34" charset="-120"/>
              </a:rPr>
              <a:t>A cardiovascular death occurs in the U.S. on average every 34 seconds - roughly 2,500 per day</a:t>
            </a:r>
            <a:endParaRPr lang="en-US" sz="950" dirty="0"/>
          </a:p>
        </p:txBody>
      </p:sp>
      <p:sp>
        <p:nvSpPr>
          <p:cNvPr id="13" name="Shape 10"/>
          <p:cNvSpPr/>
          <p:nvPr/>
        </p:nvSpPr>
        <p:spPr>
          <a:xfrm>
            <a:off x="6327648" y="3712464"/>
            <a:ext cx="5239512" cy="1024128"/>
          </a:xfrm>
          <a:prstGeom prst="roundRect">
            <a:avLst>
              <a:gd name="adj" fmla="val 8036"/>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4" name="Text 11"/>
          <p:cNvSpPr/>
          <p:nvPr/>
        </p:nvSpPr>
        <p:spPr>
          <a:xfrm>
            <a:off x="6492240" y="3803904"/>
            <a:ext cx="1828800" cy="82296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850" b="1" dirty="0">
                <a:solidFill>
                  <a:srgbClr val="0A8F78"/>
                </a:solidFill>
                <a:latin typeface="Aptos Display" pitchFamily="34" charset="0"/>
                <a:ea typeface="Cambria" pitchFamily="34" charset="-122"/>
                <a:cs typeface="Cambria" pitchFamily="34" charset="-120"/>
              </a:rPr>
              <a:t>10% met</a:t>
            </a:r>
            <a:endParaRPr lang="en-US" sz="1600" dirty="0"/>
          </a:p>
        </p:txBody>
      </p:sp>
      <p:sp>
        <p:nvSpPr>
          <p:cNvPr id="15" name="Text 12"/>
          <p:cNvSpPr/>
          <p:nvPr/>
        </p:nvSpPr>
        <p:spPr>
          <a:xfrm>
            <a:off x="8430768" y="3803904"/>
            <a:ext cx="2926080" cy="82296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70" dirty="0">
                <a:solidFill>
                  <a:srgbClr val="3D4663"/>
                </a:solidFill>
                <a:latin typeface="Aptos" pitchFamily="34" charset="0"/>
                <a:ea typeface="Calibri" pitchFamily="34" charset="-122"/>
                <a:cs typeface="Calibri" pitchFamily="34" charset="-120"/>
              </a:rPr>
              <a:t>Of the estimated global transplant need. WHO reports ~130,000 transplants/yr vs. demand exceeding 1.3M</a:t>
            </a:r>
            <a:endParaRPr lang="en-US" sz="950" dirty="0"/>
          </a:p>
        </p:txBody>
      </p:sp>
      <p:sp>
        <p:nvSpPr>
          <p:cNvPr id="16" name="Text 13"/>
          <p:cNvSpPr/>
          <p:nvPr/>
        </p:nvSpPr>
        <p:spPr>
          <a:xfrm>
            <a:off x="6327648" y="4809744"/>
            <a:ext cx="5239512" cy="20116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860" i="1" dirty="0">
                <a:solidFill>
                  <a:srgbClr val="64739A"/>
                </a:solidFill>
                <a:latin typeface="Aptos" pitchFamily="34" charset="0"/>
                <a:ea typeface="Calibri" pitchFamily="34" charset="-122"/>
                <a:cs typeface="Calibri" pitchFamily="34" charset="-120"/>
              </a:rPr>
              <a:t>Source: AHA 2025 Heart Disease &amp; Stroke Statistics; WHO Global Observatory on Donation and Transplantation.</a:t>
            </a:r>
            <a:endParaRPr lang="en-US" sz="850" dirty="0"/>
          </a:p>
        </p:txBody>
      </p:sp>
      <p:sp>
        <p:nvSpPr>
          <p:cNvPr id="17" name="Shape 14"/>
          <p:cNvSpPr/>
          <p:nvPr/>
        </p:nvSpPr>
        <p:spPr>
          <a:xfrm>
            <a:off x="457200" y="5120640"/>
            <a:ext cx="10817352" cy="1051560"/>
          </a:xfrm>
          <a:prstGeom prst="roundRect">
            <a:avLst>
              <a:gd name="adj" fmla="val 6957"/>
            </a:avLst>
          </a:prstGeom>
          <a:solidFill>
            <a:srgbClr val="ECF2F9"/>
          </a:solidFill>
          <a:ln w="12700">
            <a:solidFill>
              <a:srgbClr val="DBE4F0">
                <a:alpha val="0"/>
              </a:srgbClr>
            </a:solidFill>
            <a:prstDash val="solid"/>
          </a:ln>
        </p:spPr>
        <p:txBody>
          <a:bodyPr wrap="square"/>
          <a:p/>
        </p:txBody>
      </p:sp>
      <p:sp>
        <p:nvSpPr>
          <p:cNvPr id="18" name="Shape 15"/>
          <p:cNvSpPr/>
          <p:nvPr/>
        </p:nvSpPr>
        <p:spPr>
          <a:xfrm>
            <a:off x="658368" y="5285232"/>
            <a:ext cx="457200" cy="457200"/>
          </a:xfrm>
          <a:prstGeom prst="ellipse">
            <a:avLst/>
          </a:prstGeom>
          <a:solidFill>
            <a:srgbClr val="0A8F78"/>
          </a:solidFill>
          <a:ln w="12700">
            <a:noFill/>
            <a:prstDash val="solid"/>
          </a:ln>
        </p:spPr>
        <p:txBody>
          <a:bodyPr wrap="square"/>
          <a:p/>
        </p:txBody>
      </p:sp>
      <p:pic>
        <p:nvPicPr>
          <p:cNvPr id="19" name="Image 0" descr="/home/claude/samuel_deck/assets/icon_globeamericas_navy.png">    </p:cNvPr>
          <p:cNvPicPr>
            <a:picLocks noChangeAspect="1"/>
          </p:cNvPicPr>
          <p:nvPr/>
        </p:nvPicPr>
        <p:blipFill>
          <a:blip r:embed="rId2"/>
          <a:stretch>
            <a:fillRect/>
          </a:stretch>
        </p:blipFill>
        <p:spPr>
          <a:xfrm>
            <a:off x="768096" y="5394960"/>
            <a:ext cx="237744" cy="237744"/>
          </a:xfrm>
          <a:prstGeom prst="rect">
            <a:avLst/>
          </a:prstGeom>
        </p:spPr>
      </p:pic>
      <p:sp>
        <p:nvSpPr>
          <p:cNvPr id="20" name="Text 16"/>
          <p:cNvSpPr/>
          <p:nvPr/>
        </p:nvSpPr>
        <p:spPr>
          <a:xfrm>
            <a:off x="1298448" y="5212080"/>
            <a:ext cx="9784080" cy="82296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40" dirty="0">
                <a:solidFill>
                  <a:srgbClr val="3D4663"/>
                </a:solidFill>
                <a:latin typeface="Aptos" pitchFamily="34" charset="0"/>
                <a:ea typeface="Calibri" pitchFamily="34" charset="-122"/>
                <a:cs typeface="Calibri" pitchFamily="34" charset="-120"/>
              </a:rPr>
              <a:t>Transplant recipients also face a lifetime of immunosuppressive therapy and rejection risk. Tissue printed from a patient's own cells eliminates cross-reactive rejection entirely - removing both the clinical burden and the ongoing drug cost.</a:t>
            </a:r>
            <a:endParaRPr lang="en-US" sz="1150" dirty="0"/>
          </a:p>
        </p:txBody>
      </p:sp>
      <p:sp>
        <p:nvSpPr>
          <p:cNvPr id="21" name="Text 17"/>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THE CORE CONSTRAINT</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Why Earth-Based Bioprinting Has a Hard Ceiling</a:t>
            </a:r>
            <a:endParaRPr lang="en-US" sz="2700" dirty="0"/>
          </a:p>
        </p:txBody>
      </p:sp>
      <p:sp>
        <p:nvSpPr>
          <p:cNvPr id="4" name="Text 2"/>
          <p:cNvSpPr/>
          <p:nvPr/>
        </p:nvSpPr>
        <p:spPr>
          <a:xfrm>
            <a:off x="457200" y="1371600"/>
            <a:ext cx="10817352" cy="53035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60" dirty="0">
                <a:solidFill>
                  <a:srgbClr val="3D4663"/>
                </a:solidFill>
                <a:latin typeface="Aptos" pitchFamily="34" charset="0"/>
                <a:ea typeface="Calibri" pitchFamily="34" charset="-122"/>
                <a:cs typeface="Calibri" pitchFamily="34" charset="-120"/>
              </a:rPr>
              <a:t>On Earth, gravity forces tissues to collapse under their own weight during printing. A scaffold must be built into every construct, adding complexity, introducing foreign material, and limiting achievable geometry. Microgravity removes this constraint entirely.</a:t>
            </a:r>
            <a:endParaRPr lang="en-US" sz="1250" dirty="0"/>
          </a:p>
        </p:txBody>
      </p:sp>
      <p:sp>
        <p:nvSpPr>
          <p:cNvPr id="5" name="Shape 3"/>
          <p:cNvSpPr/>
          <p:nvPr/>
        </p:nvSpPr>
        <p:spPr>
          <a:xfrm>
            <a:off x="548640" y="2048256"/>
            <a:ext cx="5074920" cy="4224528"/>
          </a:xfrm>
          <a:prstGeom prst="roundRect">
            <a:avLst>
              <a:gd name="adj" fmla="val 1948"/>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6" name="Shape 4"/>
          <p:cNvSpPr/>
          <p:nvPr/>
        </p:nvSpPr>
        <p:spPr>
          <a:xfrm>
            <a:off x="6153912" y="2048256"/>
            <a:ext cx="5074920" cy="4224528"/>
          </a:xfrm>
          <a:prstGeom prst="roundRect">
            <a:avLst>
              <a:gd name="adj" fmla="val 1948"/>
            </a:avLst>
          </a:prstGeom>
          <a:solidFill>
            <a:srgbClr val="E7F7F3"/>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7" name="Text 5"/>
          <p:cNvSpPr/>
          <p:nvPr/>
        </p:nvSpPr>
        <p:spPr>
          <a:xfrm>
            <a:off x="548640" y="2231136"/>
            <a:ext cx="5074920" cy="256032"/>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100" b="1" spc="180" kern="0" dirty="0">
                <a:solidFill>
                  <a:srgbClr val="3D4663"/>
                </a:solidFill>
                <a:latin typeface="Aptos" pitchFamily="34" charset="0"/>
                <a:ea typeface="Calibri" pitchFamily="34" charset="-122"/>
                <a:cs typeface="Calibri" pitchFamily="34" charset="-120"/>
              </a:rPr>
              <a:t>EARTH GRAVITY</a:t>
            </a:r>
            <a:endParaRPr lang="en-US" sz="1150" dirty="0"/>
          </a:p>
        </p:txBody>
      </p:sp>
      <p:sp>
        <p:nvSpPr>
          <p:cNvPr id="8" name="Text 6"/>
          <p:cNvSpPr/>
          <p:nvPr/>
        </p:nvSpPr>
        <p:spPr>
          <a:xfrm>
            <a:off x="6153912" y="2231136"/>
            <a:ext cx="5074920" cy="256032"/>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100" b="1" spc="180" kern="0" dirty="0">
                <a:solidFill>
                  <a:srgbClr val="0A8F78"/>
                </a:solidFill>
                <a:latin typeface="Aptos" pitchFamily="34" charset="0"/>
                <a:ea typeface="Calibri" pitchFamily="34" charset="-122"/>
                <a:cs typeface="Calibri" pitchFamily="34" charset="-120"/>
              </a:rPr>
              <a:t>MICROGRAVITY - ISS ORBIT</a:t>
            </a:r>
            <a:endParaRPr lang="en-US" sz="1150" dirty="0"/>
          </a:p>
        </p:txBody>
      </p:sp>
      <p:pic>
        <p:nvPicPr>
          <p:cNvPr id="9" name="Image 0" descr="/home/claude/samuel_deck/assets/gravity_left.png">    </p:cNvPr>
          <p:cNvPicPr>
            <a:picLocks noChangeAspect="1"/>
          </p:cNvPicPr>
          <p:nvPr/>
        </p:nvPicPr>
        <p:blipFill>
          <a:blip r:embed="rId1"/>
          <a:stretch>
            <a:fillRect/>
          </a:stretch>
        </p:blipFill>
        <p:spPr>
          <a:xfrm>
            <a:off x="1988820" y="2578608"/>
            <a:ext cx="2194560" cy="2194560"/>
          </a:xfrm>
          <a:prstGeom prst="rect">
            <a:avLst/>
          </a:prstGeom>
        </p:spPr>
      </p:pic>
      <p:pic>
        <p:nvPicPr>
          <p:cNvPr id="10" name="Image 1" descr="/home/claude/samuel_deck/assets/gravity_right.png">    </p:cNvPr>
          <p:cNvPicPr>
            <a:picLocks noChangeAspect="1"/>
          </p:cNvPicPr>
          <p:nvPr/>
        </p:nvPicPr>
        <p:blipFill>
          <a:blip r:embed="rId2"/>
          <a:stretch>
            <a:fillRect/>
          </a:stretch>
        </p:blipFill>
        <p:spPr>
          <a:xfrm>
            <a:off x="7594092" y="2578608"/>
            <a:ext cx="2194560" cy="2194560"/>
          </a:xfrm>
          <a:prstGeom prst="rect">
            <a:avLst/>
          </a:prstGeom>
        </p:spPr>
      </p:pic>
      <p:sp>
        <p:nvSpPr>
          <p:cNvPr id="11" name="Text 7"/>
          <p:cNvSpPr/>
          <p:nvPr/>
        </p:nvSpPr>
        <p:spPr>
          <a:xfrm>
            <a:off x="749808" y="4956048"/>
            <a:ext cx="4672584" cy="1152144"/>
          </a:xfrm>
          <a:prstGeom prst="rect">
            <a:avLst/>
          </a:prstGeom>
          <a:noFill/>
          <a:ln/>
        </p:spPr>
        <p:txBody>
          <a:bodyPr wrap="square" lIns="25400" tIns="25400" rIns="25400" bIns="25400" rtlCol="0" anchor="t"/>
          <a:lstStyle/>
          <a:p>
            <a:pPr marL="342900" indent="-342900">
              <a:lnSpc>
                <a:spcPct val="102000"/>
              </a:lnSpc>
              <a:spcBef>
                <a:spcPts val="0"/>
              </a:spcBef>
              <a:spcAft>
                <a:spcPts val="0"/>
              </a:spcAft>
              <a:buSzPct val="100000"/>
              <a:buChar char="•"/>
            </a:pPr>
            <a:r>
              <a:rPr lang="en-US" sz="1040" dirty="0">
                <a:solidFill>
                  <a:srgbClr val="3D4663"/>
                </a:solidFill>
                <a:latin typeface="Aptos" pitchFamily="34" charset="0"/>
                <a:ea typeface="Calibri" pitchFamily="34" charset="-122"/>
                <a:cs typeface="Calibri" pitchFamily="34" charset="-120"/>
              </a:rPr>
              <a:t>Cells slump and fuse unevenly under gravitational load</a:t>
            </a:r>
            <a:endParaRPr lang="en-US" sz="1000" dirty="0"/>
          </a:p>
          <a:p>
            <a:pPr marL="342900" indent="-342900">
              <a:lnSpc>
                <a:spcPct val="102000"/>
              </a:lnSpc>
              <a:spcBef>
                <a:spcPts val="0"/>
              </a:spcBef>
              <a:spcAft>
                <a:spcPts val="0"/>
              </a:spcAft>
              <a:buSzPct val="100000"/>
              <a:buChar char="•"/>
            </a:pPr>
            <a:r>
              <a:rPr lang="en-US" sz="1040" dirty="0">
                <a:solidFill>
                  <a:srgbClr val="3D4663"/>
                </a:solidFill>
                <a:latin typeface="Aptos" pitchFamily="34" charset="0"/>
                <a:ea typeface="Calibri" pitchFamily="34" charset="-122"/>
                <a:cs typeface="Calibri" pitchFamily="34" charset="-120"/>
              </a:rPr>
              <a:t>Scaffold material printed first, then must be dissolved</a:t>
            </a:r>
            <a:endParaRPr lang="en-US" sz="1000" dirty="0"/>
          </a:p>
          <a:p>
            <a:pPr marL="342900" indent="-342900">
              <a:lnSpc>
                <a:spcPct val="102000"/>
              </a:lnSpc>
              <a:spcBef>
                <a:spcPts val="0"/>
              </a:spcBef>
              <a:spcAft>
                <a:spcPts val="0"/>
              </a:spcAft>
              <a:buSzPct val="100000"/>
              <a:buChar char="•"/>
            </a:pPr>
            <a:r>
              <a:rPr lang="en-US" sz="1040" dirty="0">
                <a:solidFill>
                  <a:srgbClr val="3D4663"/>
                </a:solidFill>
                <a:latin typeface="Aptos" pitchFamily="34" charset="0"/>
                <a:ea typeface="Calibri" pitchFamily="34" charset="-122"/>
                <a:cs typeface="Calibri" pitchFamily="34" charset="-120"/>
              </a:rPr>
              <a:t>Complex hollow structures (e.g. heart chambers) extremely difficult</a:t>
            </a:r>
            <a:endParaRPr lang="en-US" sz="1000" dirty="0"/>
          </a:p>
        </p:txBody>
      </p:sp>
      <p:sp>
        <p:nvSpPr>
          <p:cNvPr id="12" name="Text 8"/>
          <p:cNvSpPr/>
          <p:nvPr/>
        </p:nvSpPr>
        <p:spPr>
          <a:xfrm>
            <a:off x="6355080" y="4956048"/>
            <a:ext cx="4672584" cy="1152144"/>
          </a:xfrm>
          <a:prstGeom prst="rect">
            <a:avLst/>
          </a:prstGeom>
          <a:noFill/>
          <a:ln/>
        </p:spPr>
        <p:txBody>
          <a:bodyPr wrap="square" lIns="25400" tIns="25400" rIns="25400" bIns="25400" rtlCol="0" anchor="t"/>
          <a:lstStyle/>
          <a:p>
            <a:pPr marL="342900" indent="-342900">
              <a:lnSpc>
                <a:spcPct val="102000"/>
              </a:lnSpc>
              <a:spcBef>
                <a:spcPts val="0"/>
              </a:spcBef>
              <a:spcAft>
                <a:spcPts val="0"/>
              </a:spcAft>
              <a:buSzPct val="100000"/>
              <a:buChar char="•"/>
            </a:pPr>
            <a:r>
              <a:rPr lang="en-US" sz="1040" dirty="0">
                <a:solidFill>
                  <a:srgbClr val="3D4663"/>
                </a:solidFill>
                <a:latin typeface="Aptos" pitchFamily="34" charset="0"/>
                <a:ea typeface="Calibri" pitchFamily="34" charset="-122"/>
                <a:cs typeface="Calibri" pitchFamily="34" charset="-120"/>
              </a:rPr>
              <a:t>Tissue self-supports in true 3D - no scaffold required</a:t>
            </a:r>
            <a:endParaRPr lang="en-US" sz="1000" dirty="0"/>
          </a:p>
          <a:p>
            <a:pPr marL="342900" indent="-342900">
              <a:lnSpc>
                <a:spcPct val="102000"/>
              </a:lnSpc>
              <a:spcBef>
                <a:spcPts val="0"/>
              </a:spcBef>
              <a:spcAft>
                <a:spcPts val="0"/>
              </a:spcAft>
              <a:buSzPct val="100000"/>
              <a:buChar char="•"/>
            </a:pPr>
            <a:r>
              <a:rPr lang="en-US" sz="1040" dirty="0">
                <a:solidFill>
                  <a:srgbClr val="3D4663"/>
                </a:solidFill>
                <a:latin typeface="Aptos" pitchFamily="34" charset="0"/>
                <a:ea typeface="Calibri" pitchFamily="34" charset="-122"/>
                <a:cs typeface="Calibri" pitchFamily="34" charset="-120"/>
              </a:rPr>
              <a:t>More uniform cell distribution and structural integrity</a:t>
            </a:r>
            <a:endParaRPr lang="en-US" sz="1000" dirty="0"/>
          </a:p>
          <a:p>
            <a:pPr marL="342900" indent="-342900">
              <a:lnSpc>
                <a:spcPct val="102000"/>
              </a:lnSpc>
              <a:spcBef>
                <a:spcPts val="0"/>
              </a:spcBef>
              <a:spcAft>
                <a:spcPts val="0"/>
              </a:spcAft>
              <a:buSzPct val="100000"/>
              <a:buChar char="•"/>
            </a:pPr>
            <a:r>
              <a:rPr lang="en-US" sz="1040" dirty="0">
                <a:solidFill>
                  <a:srgbClr val="3D4663"/>
                </a:solidFill>
                <a:latin typeface="Aptos" pitchFamily="34" charset="0"/>
                <a:ea typeface="Calibri" pitchFamily="34" charset="-122"/>
                <a:cs typeface="Calibri" pitchFamily="34" charset="-120"/>
              </a:rPr>
              <a:t>Complex vascular and hollow geometries become achievable</a:t>
            </a:r>
            <a:endParaRPr lang="en-US" sz="1000" dirty="0"/>
          </a:p>
        </p:txBody>
      </p:sp>
      <p:sp>
        <p:nvSpPr>
          <p:cNvPr id="13" name="Text 9"/>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THE TECHNOLOGY</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How Space-Based Bioprinting Works: Five-Step Process</a:t>
            </a:r>
            <a:endParaRPr lang="en-US" sz="2700" dirty="0"/>
          </a:p>
        </p:txBody>
      </p:sp>
      <p:sp>
        <p:nvSpPr>
          <p:cNvPr id="4" name="Shape 2"/>
          <p:cNvSpPr/>
          <p:nvPr/>
        </p:nvSpPr>
        <p:spPr>
          <a:xfrm>
            <a:off x="2932024" y="2459736"/>
            <a:ext cx="155448" cy="0"/>
          </a:xfrm>
          <a:prstGeom prst="line">
            <a:avLst/>
          </a:prstGeom>
          <a:noFill/>
          <a:ln w="25400">
            <a:solidFill>
              <a:srgbClr val="12C9AA"/>
            </a:solidFill>
            <a:prstDash val="solid"/>
          </a:ln>
        </p:spPr>
        <p:txBody>
          <a:bodyPr wrap="square"/>
          <a:p/>
        </p:txBody>
      </p:sp>
      <p:sp>
        <p:nvSpPr>
          <p:cNvPr id="5" name="Shape 3"/>
          <p:cNvSpPr/>
          <p:nvPr/>
        </p:nvSpPr>
        <p:spPr>
          <a:xfrm>
            <a:off x="1734160" y="1152144"/>
            <a:ext cx="493776" cy="493776"/>
          </a:xfrm>
          <a:prstGeom prst="ellipse">
            <a:avLst/>
          </a:prstGeom>
          <a:solidFill>
            <a:srgbClr val="0B1330"/>
          </a:solidFill>
          <a:ln w="12700">
            <a:noFill/>
            <a:prstDash val="solid"/>
          </a:ln>
        </p:spPr>
        <p:txBody>
          <a:bodyPr wrap="square"/>
          <a:p/>
        </p:txBody>
      </p:sp>
      <p:pic>
        <p:nvPicPr>
          <p:cNvPr id="6" name="Image 0" descr="/home/claude/samuel_deck/assets/icon_syringe_teal.png">    </p:cNvPr>
          <p:cNvPicPr>
            <a:picLocks noChangeAspect="1"/>
          </p:cNvPicPr>
          <p:nvPr/>
        </p:nvPicPr>
        <p:blipFill>
          <a:blip r:embed="rId1"/>
          <a:stretch>
            <a:fillRect/>
          </a:stretch>
        </p:blipFill>
        <p:spPr>
          <a:xfrm>
            <a:off x="1852666" y="1270650"/>
            <a:ext cx="256764" cy="256764"/>
          </a:xfrm>
          <a:prstGeom prst="rect">
            <a:avLst/>
          </a:prstGeom>
        </p:spPr>
      </p:pic>
      <p:sp>
        <p:nvSpPr>
          <p:cNvPr id="7" name="Shape 4"/>
          <p:cNvSpPr/>
          <p:nvPr/>
        </p:nvSpPr>
        <p:spPr>
          <a:xfrm>
            <a:off x="1066648" y="1828800"/>
            <a:ext cx="1828800" cy="1261872"/>
          </a:xfrm>
          <a:prstGeom prst="roundRect">
            <a:avLst>
              <a:gd name="adj" fmla="val 6522"/>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8" name="Text 5"/>
          <p:cNvSpPr/>
          <p:nvPr/>
        </p:nvSpPr>
        <p:spPr>
          <a:xfrm>
            <a:off x="1158088" y="1938528"/>
            <a:ext cx="1645920" cy="475488"/>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Cell</a:t>
            </a:r>
            <a:endParaRPr lang="en-US" sz="1200" dirty="0"/>
          </a:p>
          <a:p>
            <a:pPr algn="ct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Harvest</a:t>
            </a:r>
            <a:endParaRPr lang="en-US" sz="1200" dirty="0"/>
          </a:p>
        </p:txBody>
      </p:sp>
      <p:sp>
        <p:nvSpPr>
          <p:cNvPr id="9" name="Text 6"/>
          <p:cNvSpPr/>
          <p:nvPr/>
        </p:nvSpPr>
        <p:spPr>
          <a:xfrm>
            <a:off x="1158088" y="2450592"/>
            <a:ext cx="1645920" cy="566928"/>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19" dirty="0">
                <a:solidFill>
                  <a:srgbClr val="3D4663"/>
                </a:solidFill>
                <a:latin typeface="Aptos" pitchFamily="34" charset="0"/>
                <a:ea typeface="Calibri" pitchFamily="34" charset="-122"/>
                <a:cs typeface="Calibri" pitchFamily="34" charset="-120"/>
              </a:rPr>
              <a:t>Biopsy yields patient-specific cells, eliminating immunological rejection risk</a:t>
            </a:r>
            <a:endParaRPr lang="en-US" sz="900" dirty="0"/>
          </a:p>
        </p:txBody>
      </p:sp>
      <p:sp>
        <p:nvSpPr>
          <p:cNvPr id="10" name="Shape 7"/>
          <p:cNvSpPr/>
          <p:nvPr/>
        </p:nvSpPr>
        <p:spPr>
          <a:xfrm>
            <a:off x="2639416" y="1755648"/>
            <a:ext cx="228600" cy="228600"/>
          </a:xfrm>
          <a:prstGeom prst="ellipse">
            <a:avLst/>
          </a:prstGeom>
          <a:solidFill>
            <a:srgbClr val="0A8F78"/>
          </a:solidFill>
          <a:ln w="12700">
            <a:noFill/>
            <a:prstDash val="solid"/>
          </a:ln>
        </p:spPr>
        <p:txBody>
          <a:bodyPr wrap="square"/>
          <a:p/>
        </p:txBody>
      </p:sp>
      <p:sp>
        <p:nvSpPr>
          <p:cNvPr id="11" name="Text 8"/>
          <p:cNvSpPr/>
          <p:nvPr/>
        </p:nvSpPr>
        <p:spPr>
          <a:xfrm>
            <a:off x="2639416" y="1755648"/>
            <a:ext cx="22860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Calibri" pitchFamily="34" charset="-122"/>
                <a:cs typeface="Calibri" pitchFamily="34" charset="-120"/>
              </a:rPr>
              <a:t>1</a:t>
            </a:r>
            <a:endParaRPr lang="en-US" sz="850" dirty="0"/>
          </a:p>
        </p:txBody>
      </p:sp>
      <p:sp>
        <p:nvSpPr>
          <p:cNvPr id="12" name="Shape 9"/>
          <p:cNvSpPr/>
          <p:nvPr/>
        </p:nvSpPr>
        <p:spPr>
          <a:xfrm>
            <a:off x="4989424" y="2459736"/>
            <a:ext cx="155448" cy="0"/>
          </a:xfrm>
          <a:prstGeom prst="line">
            <a:avLst/>
          </a:prstGeom>
          <a:noFill/>
          <a:ln w="25400">
            <a:solidFill>
              <a:srgbClr val="12C9AA"/>
            </a:solidFill>
            <a:prstDash val="solid"/>
          </a:ln>
        </p:spPr>
        <p:txBody>
          <a:bodyPr wrap="square"/>
          <a:p/>
        </p:txBody>
      </p:sp>
      <p:sp>
        <p:nvSpPr>
          <p:cNvPr id="13" name="Shape 10"/>
          <p:cNvSpPr/>
          <p:nvPr/>
        </p:nvSpPr>
        <p:spPr>
          <a:xfrm>
            <a:off x="3791560" y="1152144"/>
            <a:ext cx="493776" cy="493776"/>
          </a:xfrm>
          <a:prstGeom prst="ellipse">
            <a:avLst/>
          </a:prstGeom>
          <a:solidFill>
            <a:srgbClr val="0B1330"/>
          </a:solidFill>
          <a:ln w="12700">
            <a:noFill/>
            <a:prstDash val="solid"/>
          </a:ln>
        </p:spPr>
        <p:txBody>
          <a:bodyPr wrap="square"/>
          <a:p/>
        </p:txBody>
      </p:sp>
      <p:pic>
        <p:nvPicPr>
          <p:cNvPr id="14" name="Image 1" descr="/home/claude/samuel_deck/assets/icon_dna_teal.png">    </p:cNvPr>
          <p:cNvPicPr>
            <a:picLocks noChangeAspect="1"/>
          </p:cNvPicPr>
          <p:nvPr/>
        </p:nvPicPr>
        <p:blipFill>
          <a:blip r:embed="rId2"/>
          <a:stretch>
            <a:fillRect/>
          </a:stretch>
        </p:blipFill>
        <p:spPr>
          <a:xfrm>
            <a:off x="3910066" y="1270650"/>
            <a:ext cx="256764" cy="256764"/>
          </a:xfrm>
          <a:prstGeom prst="rect">
            <a:avLst/>
          </a:prstGeom>
        </p:spPr>
      </p:pic>
      <p:sp>
        <p:nvSpPr>
          <p:cNvPr id="15" name="Shape 11"/>
          <p:cNvSpPr/>
          <p:nvPr/>
        </p:nvSpPr>
        <p:spPr>
          <a:xfrm>
            <a:off x="3124048" y="1828800"/>
            <a:ext cx="1828800" cy="1261872"/>
          </a:xfrm>
          <a:prstGeom prst="roundRect">
            <a:avLst>
              <a:gd name="adj" fmla="val 6522"/>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6" name="Text 12"/>
          <p:cNvSpPr/>
          <p:nvPr/>
        </p:nvSpPr>
        <p:spPr>
          <a:xfrm>
            <a:off x="3215488" y="1938528"/>
            <a:ext cx="1645920" cy="475488"/>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Stem Cell</a:t>
            </a:r>
            <a:endParaRPr lang="en-US" sz="1200" dirty="0"/>
          </a:p>
          <a:p>
            <a:pPr algn="ct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Reprogramming</a:t>
            </a:r>
            <a:endParaRPr lang="en-US" sz="1200" dirty="0"/>
          </a:p>
        </p:txBody>
      </p:sp>
      <p:sp>
        <p:nvSpPr>
          <p:cNvPr id="17" name="Text 13"/>
          <p:cNvSpPr/>
          <p:nvPr/>
        </p:nvSpPr>
        <p:spPr>
          <a:xfrm>
            <a:off x="3215488" y="2450592"/>
            <a:ext cx="1645920" cy="566928"/>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19" dirty="0">
                <a:solidFill>
                  <a:srgbClr val="3D4663"/>
                </a:solidFill>
                <a:latin typeface="Aptos" pitchFamily="34" charset="0"/>
                <a:ea typeface="Calibri" pitchFamily="34" charset="-122"/>
                <a:cs typeface="Calibri" pitchFamily="34" charset="-120"/>
              </a:rPr>
              <a:t>Nobel-winning iPSC method converts adult cells to pluripotent stem cells</a:t>
            </a:r>
            <a:endParaRPr lang="en-US" sz="900" dirty="0"/>
          </a:p>
        </p:txBody>
      </p:sp>
      <p:sp>
        <p:nvSpPr>
          <p:cNvPr id="18" name="Shape 14"/>
          <p:cNvSpPr/>
          <p:nvPr/>
        </p:nvSpPr>
        <p:spPr>
          <a:xfrm>
            <a:off x="4696816" y="1755648"/>
            <a:ext cx="228600" cy="228600"/>
          </a:xfrm>
          <a:prstGeom prst="ellipse">
            <a:avLst/>
          </a:prstGeom>
          <a:solidFill>
            <a:srgbClr val="0A8F78"/>
          </a:solidFill>
          <a:ln w="12700">
            <a:noFill/>
            <a:prstDash val="solid"/>
          </a:ln>
        </p:spPr>
        <p:txBody>
          <a:bodyPr wrap="square"/>
          <a:p/>
        </p:txBody>
      </p:sp>
      <p:sp>
        <p:nvSpPr>
          <p:cNvPr id="19" name="Text 15"/>
          <p:cNvSpPr/>
          <p:nvPr/>
        </p:nvSpPr>
        <p:spPr>
          <a:xfrm>
            <a:off x="4696816" y="1755648"/>
            <a:ext cx="22860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Calibri" pitchFamily="34" charset="-122"/>
                <a:cs typeface="Calibri" pitchFamily="34" charset="-120"/>
              </a:rPr>
              <a:t>2</a:t>
            </a:r>
            <a:endParaRPr lang="en-US" sz="850" dirty="0"/>
          </a:p>
        </p:txBody>
      </p:sp>
      <p:sp>
        <p:nvSpPr>
          <p:cNvPr id="20" name="Shape 16"/>
          <p:cNvSpPr/>
          <p:nvPr/>
        </p:nvSpPr>
        <p:spPr>
          <a:xfrm>
            <a:off x="7046824" y="2459736"/>
            <a:ext cx="155448" cy="0"/>
          </a:xfrm>
          <a:prstGeom prst="line">
            <a:avLst/>
          </a:prstGeom>
          <a:noFill/>
          <a:ln w="25400">
            <a:solidFill>
              <a:srgbClr val="12C9AA"/>
            </a:solidFill>
            <a:prstDash val="solid"/>
          </a:ln>
        </p:spPr>
        <p:txBody>
          <a:bodyPr wrap="square"/>
          <a:p/>
        </p:txBody>
      </p:sp>
      <p:sp>
        <p:nvSpPr>
          <p:cNvPr id="21" name="Shape 17"/>
          <p:cNvSpPr/>
          <p:nvPr/>
        </p:nvSpPr>
        <p:spPr>
          <a:xfrm>
            <a:off x="5848960" y="1152144"/>
            <a:ext cx="493776" cy="493776"/>
          </a:xfrm>
          <a:prstGeom prst="ellipse">
            <a:avLst/>
          </a:prstGeom>
          <a:solidFill>
            <a:srgbClr val="0B1330"/>
          </a:solidFill>
          <a:ln w="12700">
            <a:noFill/>
            <a:prstDash val="solid"/>
          </a:ln>
        </p:spPr>
        <p:txBody>
          <a:bodyPr wrap="square"/>
          <a:p/>
        </p:txBody>
      </p:sp>
      <p:pic>
        <p:nvPicPr>
          <p:cNvPr id="22" name="Image 2" descr="/home/claude/samuel_deck/assets/icon_flask_teal.png">    </p:cNvPr>
          <p:cNvPicPr>
            <a:picLocks noChangeAspect="1"/>
          </p:cNvPicPr>
          <p:nvPr/>
        </p:nvPicPr>
        <p:blipFill>
          <a:blip r:embed="rId3"/>
          <a:stretch>
            <a:fillRect/>
          </a:stretch>
        </p:blipFill>
        <p:spPr>
          <a:xfrm>
            <a:off x="5967466" y="1270650"/>
            <a:ext cx="256764" cy="256764"/>
          </a:xfrm>
          <a:prstGeom prst="rect">
            <a:avLst/>
          </a:prstGeom>
        </p:spPr>
      </p:pic>
      <p:sp>
        <p:nvSpPr>
          <p:cNvPr id="23" name="Shape 18"/>
          <p:cNvSpPr/>
          <p:nvPr/>
        </p:nvSpPr>
        <p:spPr>
          <a:xfrm>
            <a:off x="5181448" y="1828800"/>
            <a:ext cx="1828800" cy="1261872"/>
          </a:xfrm>
          <a:prstGeom prst="roundRect">
            <a:avLst>
              <a:gd name="adj" fmla="val 6522"/>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24" name="Text 19"/>
          <p:cNvSpPr/>
          <p:nvPr/>
        </p:nvSpPr>
        <p:spPr>
          <a:xfrm>
            <a:off x="5272888" y="1938528"/>
            <a:ext cx="1645920" cy="475488"/>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Bioink</a:t>
            </a:r>
            <a:endParaRPr lang="en-US" sz="1200" dirty="0"/>
          </a:p>
          <a:p>
            <a:pPr algn="ct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Formulation</a:t>
            </a:r>
            <a:endParaRPr lang="en-US" sz="1200" dirty="0"/>
          </a:p>
        </p:txBody>
      </p:sp>
      <p:sp>
        <p:nvSpPr>
          <p:cNvPr id="25" name="Text 20"/>
          <p:cNvSpPr/>
          <p:nvPr/>
        </p:nvSpPr>
        <p:spPr>
          <a:xfrm>
            <a:off x="5272888" y="2450592"/>
            <a:ext cx="1645920" cy="566928"/>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19" dirty="0">
                <a:solidFill>
                  <a:srgbClr val="3D4663"/>
                </a:solidFill>
                <a:latin typeface="Aptos" pitchFamily="34" charset="0"/>
                <a:ea typeface="Calibri" pitchFamily="34" charset="-122"/>
                <a:cs typeface="Calibri" pitchFamily="34" charset="-120"/>
              </a:rPr>
              <a:t>Cells suspended in hydrogel optimised for printing viscosity and cell viability</a:t>
            </a:r>
            <a:endParaRPr lang="en-US" sz="900" dirty="0"/>
          </a:p>
        </p:txBody>
      </p:sp>
      <p:sp>
        <p:nvSpPr>
          <p:cNvPr id="26" name="Shape 21"/>
          <p:cNvSpPr/>
          <p:nvPr/>
        </p:nvSpPr>
        <p:spPr>
          <a:xfrm>
            <a:off x="6754216" y="1755648"/>
            <a:ext cx="228600" cy="228600"/>
          </a:xfrm>
          <a:prstGeom prst="ellipse">
            <a:avLst/>
          </a:prstGeom>
          <a:solidFill>
            <a:srgbClr val="0A8F78"/>
          </a:solidFill>
          <a:ln w="12700">
            <a:noFill/>
            <a:prstDash val="solid"/>
          </a:ln>
        </p:spPr>
        <p:txBody>
          <a:bodyPr wrap="square"/>
          <a:p/>
        </p:txBody>
      </p:sp>
      <p:sp>
        <p:nvSpPr>
          <p:cNvPr id="27" name="Text 22"/>
          <p:cNvSpPr/>
          <p:nvPr/>
        </p:nvSpPr>
        <p:spPr>
          <a:xfrm>
            <a:off x="6754216" y="1755648"/>
            <a:ext cx="22860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Calibri" pitchFamily="34" charset="-122"/>
                <a:cs typeface="Calibri" pitchFamily="34" charset="-120"/>
              </a:rPr>
              <a:t>3</a:t>
            </a:r>
            <a:endParaRPr lang="en-US" sz="850" dirty="0"/>
          </a:p>
        </p:txBody>
      </p:sp>
      <p:sp>
        <p:nvSpPr>
          <p:cNvPr id="28" name="Shape 23"/>
          <p:cNvSpPr/>
          <p:nvPr/>
        </p:nvSpPr>
        <p:spPr>
          <a:xfrm>
            <a:off x="9104224" y="2459736"/>
            <a:ext cx="155448" cy="0"/>
          </a:xfrm>
          <a:prstGeom prst="line">
            <a:avLst/>
          </a:prstGeom>
          <a:noFill/>
          <a:ln w="25400">
            <a:solidFill>
              <a:srgbClr val="12C9AA"/>
            </a:solidFill>
            <a:prstDash val="solid"/>
          </a:ln>
        </p:spPr>
        <p:txBody>
          <a:bodyPr wrap="square"/>
          <a:p/>
        </p:txBody>
      </p:sp>
      <p:sp>
        <p:nvSpPr>
          <p:cNvPr id="29" name="Shape 24"/>
          <p:cNvSpPr/>
          <p:nvPr/>
        </p:nvSpPr>
        <p:spPr>
          <a:xfrm>
            <a:off x="7906360" y="1152144"/>
            <a:ext cx="493776" cy="493776"/>
          </a:xfrm>
          <a:prstGeom prst="ellipse">
            <a:avLst/>
          </a:prstGeom>
          <a:solidFill>
            <a:srgbClr val="0B1330"/>
          </a:solidFill>
          <a:ln w="12700">
            <a:noFill/>
            <a:prstDash val="solid"/>
          </a:ln>
        </p:spPr>
        <p:txBody>
          <a:bodyPr wrap="square"/>
          <a:p/>
        </p:txBody>
      </p:sp>
      <p:pic>
        <p:nvPicPr>
          <p:cNvPr id="30" name="Image 3" descr="/home/claude/samuel_deck/assets/icon_satellitedish_navy.png">    </p:cNvPr>
          <p:cNvPicPr>
            <a:picLocks noChangeAspect="1"/>
          </p:cNvPicPr>
          <p:nvPr/>
        </p:nvPicPr>
        <p:blipFill>
          <a:blip r:embed="rId4"/>
          <a:stretch>
            <a:fillRect/>
          </a:stretch>
        </p:blipFill>
        <p:spPr>
          <a:xfrm>
            <a:off x="8024866" y="1270650"/>
            <a:ext cx="256764" cy="256764"/>
          </a:xfrm>
          <a:prstGeom prst="rect">
            <a:avLst/>
          </a:prstGeom>
        </p:spPr>
      </p:pic>
      <p:sp>
        <p:nvSpPr>
          <p:cNvPr id="31" name="Shape 25"/>
          <p:cNvSpPr/>
          <p:nvPr/>
        </p:nvSpPr>
        <p:spPr>
          <a:xfrm>
            <a:off x="7238848" y="1828800"/>
            <a:ext cx="1828800" cy="1261872"/>
          </a:xfrm>
          <a:prstGeom prst="roundRect">
            <a:avLst>
              <a:gd name="adj" fmla="val 6522"/>
            </a:avLst>
          </a:prstGeom>
          <a:solidFill>
            <a:srgbClr val="E7F7F3"/>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32" name="Text 26"/>
          <p:cNvSpPr/>
          <p:nvPr/>
        </p:nvSpPr>
        <p:spPr>
          <a:xfrm>
            <a:off x="7330288" y="1938528"/>
            <a:ext cx="1645920" cy="475488"/>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In-Orbit</a:t>
            </a:r>
            <a:endParaRPr lang="en-US" sz="1200" dirty="0"/>
          </a:p>
          <a:p>
            <a:pPr algn="ct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Printing</a:t>
            </a:r>
            <a:endParaRPr lang="en-US" sz="1200" dirty="0"/>
          </a:p>
        </p:txBody>
      </p:sp>
      <p:sp>
        <p:nvSpPr>
          <p:cNvPr id="33" name="Text 27"/>
          <p:cNvSpPr/>
          <p:nvPr/>
        </p:nvSpPr>
        <p:spPr>
          <a:xfrm>
            <a:off x="7330288" y="2450592"/>
            <a:ext cx="1645920" cy="566928"/>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19" dirty="0">
                <a:solidFill>
                  <a:srgbClr val="3D4663"/>
                </a:solidFill>
                <a:latin typeface="Aptos" pitchFamily="34" charset="0"/>
                <a:ea typeface="Calibri" pitchFamily="34" charset="-122"/>
                <a:cs typeface="Calibri" pitchFamily="34" charset="-120"/>
              </a:rPr>
              <a:t>Layer-by-layer deposition in microgravity - no scaffold required</a:t>
            </a:r>
            <a:endParaRPr lang="en-US" sz="900" dirty="0"/>
          </a:p>
        </p:txBody>
      </p:sp>
      <p:sp>
        <p:nvSpPr>
          <p:cNvPr id="34" name="Shape 28"/>
          <p:cNvSpPr/>
          <p:nvPr/>
        </p:nvSpPr>
        <p:spPr>
          <a:xfrm>
            <a:off x="8811616" y="1755648"/>
            <a:ext cx="228600" cy="228600"/>
          </a:xfrm>
          <a:prstGeom prst="ellipse">
            <a:avLst/>
          </a:prstGeom>
          <a:solidFill>
            <a:srgbClr val="0A8F78"/>
          </a:solidFill>
          <a:ln w="12700">
            <a:noFill/>
            <a:prstDash val="solid"/>
          </a:ln>
        </p:spPr>
        <p:txBody>
          <a:bodyPr wrap="square"/>
          <a:p/>
        </p:txBody>
      </p:sp>
      <p:sp>
        <p:nvSpPr>
          <p:cNvPr id="35" name="Text 29"/>
          <p:cNvSpPr/>
          <p:nvPr/>
        </p:nvSpPr>
        <p:spPr>
          <a:xfrm>
            <a:off x="8811616" y="1755648"/>
            <a:ext cx="22860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Calibri" pitchFamily="34" charset="-122"/>
                <a:cs typeface="Calibri" pitchFamily="34" charset="-120"/>
              </a:rPr>
              <a:t>4</a:t>
            </a:r>
            <a:endParaRPr lang="en-US" sz="850" dirty="0"/>
          </a:p>
        </p:txBody>
      </p:sp>
      <p:sp>
        <p:nvSpPr>
          <p:cNvPr id="36" name="Shape 30"/>
          <p:cNvSpPr/>
          <p:nvPr/>
        </p:nvSpPr>
        <p:spPr>
          <a:xfrm>
            <a:off x="9963760" y="1152144"/>
            <a:ext cx="493776" cy="493776"/>
          </a:xfrm>
          <a:prstGeom prst="ellipse">
            <a:avLst/>
          </a:prstGeom>
          <a:solidFill>
            <a:srgbClr val="0B1330"/>
          </a:solidFill>
          <a:ln w="12700">
            <a:noFill/>
            <a:prstDash val="solid"/>
          </a:ln>
        </p:spPr>
        <p:txBody>
          <a:bodyPr wrap="square"/>
          <a:p/>
        </p:txBody>
      </p:sp>
      <p:pic>
        <p:nvPicPr>
          <p:cNvPr id="37" name="Image 4" descr="/home/claude/samuel_deck/assets/icon_heartbeat_teal.png">    </p:cNvPr>
          <p:cNvPicPr>
            <a:picLocks noChangeAspect="1"/>
          </p:cNvPicPr>
          <p:nvPr/>
        </p:nvPicPr>
        <p:blipFill>
          <a:blip r:embed="rId5"/>
          <a:stretch>
            <a:fillRect/>
          </a:stretch>
        </p:blipFill>
        <p:spPr>
          <a:xfrm>
            <a:off x="10082266" y="1270650"/>
            <a:ext cx="256764" cy="256764"/>
          </a:xfrm>
          <a:prstGeom prst="rect">
            <a:avLst/>
          </a:prstGeom>
        </p:spPr>
      </p:pic>
      <p:sp>
        <p:nvSpPr>
          <p:cNvPr id="38" name="Shape 31"/>
          <p:cNvSpPr/>
          <p:nvPr/>
        </p:nvSpPr>
        <p:spPr>
          <a:xfrm>
            <a:off x="9296248" y="1828800"/>
            <a:ext cx="1828800" cy="1261872"/>
          </a:xfrm>
          <a:prstGeom prst="roundRect">
            <a:avLst>
              <a:gd name="adj" fmla="val 6522"/>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39" name="Text 32"/>
          <p:cNvSpPr/>
          <p:nvPr/>
        </p:nvSpPr>
        <p:spPr>
          <a:xfrm>
            <a:off x="9387688" y="1938528"/>
            <a:ext cx="1645920" cy="475488"/>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Tissue</a:t>
            </a:r>
            <a:endParaRPr lang="en-US" sz="1200" dirty="0"/>
          </a:p>
          <a:p>
            <a:pPr algn="ct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Maturation</a:t>
            </a:r>
            <a:endParaRPr lang="en-US" sz="1200" dirty="0"/>
          </a:p>
        </p:txBody>
      </p:sp>
      <p:sp>
        <p:nvSpPr>
          <p:cNvPr id="40" name="Text 33"/>
          <p:cNvSpPr/>
          <p:nvPr/>
        </p:nvSpPr>
        <p:spPr>
          <a:xfrm>
            <a:off x="9387688" y="2450592"/>
            <a:ext cx="1645920" cy="566928"/>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19" dirty="0">
                <a:solidFill>
                  <a:srgbClr val="3D4663"/>
                </a:solidFill>
                <a:latin typeface="Aptos" pitchFamily="34" charset="0"/>
                <a:ea typeface="Calibri" pitchFamily="34" charset="-122"/>
                <a:cs typeface="Calibri" pitchFamily="34" charset="-120"/>
              </a:rPr>
              <a:t>Bioreactor conditioning allows cells to differentiate into target tissue type</a:t>
            </a:r>
            <a:endParaRPr lang="en-US" sz="900" dirty="0"/>
          </a:p>
        </p:txBody>
      </p:sp>
      <p:sp>
        <p:nvSpPr>
          <p:cNvPr id="41" name="Shape 34"/>
          <p:cNvSpPr/>
          <p:nvPr/>
        </p:nvSpPr>
        <p:spPr>
          <a:xfrm>
            <a:off x="10869016" y="1755648"/>
            <a:ext cx="228600" cy="228600"/>
          </a:xfrm>
          <a:prstGeom prst="ellipse">
            <a:avLst/>
          </a:prstGeom>
          <a:solidFill>
            <a:srgbClr val="0A8F78"/>
          </a:solidFill>
          <a:ln w="12700">
            <a:noFill/>
            <a:prstDash val="solid"/>
          </a:ln>
        </p:spPr>
        <p:txBody>
          <a:bodyPr wrap="square"/>
          <a:p/>
        </p:txBody>
      </p:sp>
      <p:sp>
        <p:nvSpPr>
          <p:cNvPr id="42" name="Text 35"/>
          <p:cNvSpPr/>
          <p:nvPr/>
        </p:nvSpPr>
        <p:spPr>
          <a:xfrm>
            <a:off x="10869016" y="1755648"/>
            <a:ext cx="22860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Calibri" pitchFamily="34" charset="-122"/>
                <a:cs typeface="Calibri" pitchFamily="34" charset="-120"/>
              </a:rPr>
              <a:t>5</a:t>
            </a:r>
            <a:endParaRPr lang="en-US" sz="850" dirty="0"/>
          </a:p>
        </p:txBody>
      </p:sp>
      <p:sp>
        <p:nvSpPr>
          <p:cNvPr id="43" name="Shape 36"/>
          <p:cNvSpPr/>
          <p:nvPr/>
        </p:nvSpPr>
        <p:spPr>
          <a:xfrm>
            <a:off x="457200" y="3310128"/>
            <a:ext cx="4160520" cy="2615184"/>
          </a:xfrm>
          <a:prstGeom prst="roundRect">
            <a:avLst>
              <a:gd name="adj" fmla="val 3147"/>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pic>
        <p:nvPicPr>
          <p:cNvPr id="44" name="Image 5" descr="/home/claude/samuel_deck/assets/bioprinter.png">    </p:cNvPr>
          <p:cNvPicPr>
            <a:picLocks noChangeAspect="1"/>
          </p:cNvPicPr>
          <p:nvPr/>
        </p:nvPicPr>
        <p:blipFill>
          <a:blip r:embed="rId6"/>
          <a:stretch>
            <a:fillRect/>
          </a:stretch>
        </p:blipFill>
        <p:spPr>
          <a:xfrm>
            <a:off x="777240" y="3474720"/>
            <a:ext cx="3520440" cy="1956816"/>
          </a:xfrm>
          <a:prstGeom prst="rect">
            <a:avLst/>
          </a:prstGeom>
        </p:spPr>
      </p:pic>
      <p:sp>
        <p:nvSpPr>
          <p:cNvPr id="45" name="Text 37"/>
          <p:cNvSpPr/>
          <p:nvPr/>
        </p:nvSpPr>
        <p:spPr>
          <a:xfrm>
            <a:off x="640080" y="5541264"/>
            <a:ext cx="3794760" cy="292608"/>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880" i="1" dirty="0">
                <a:solidFill>
                  <a:srgbClr val="64739A"/>
                </a:solidFill>
                <a:latin typeface="Aptos" pitchFamily="34" charset="0"/>
                <a:ea typeface="Calibri" pitchFamily="34" charset="-122"/>
                <a:cs typeface="Calibri" pitchFamily="34" charset="-120"/>
              </a:rPr>
              <a:t>Schematic: layer-by-layer orbital bioprinting hardware</a:t>
            </a:r>
            <a:endParaRPr lang="en-US" sz="950" dirty="0"/>
          </a:p>
        </p:txBody>
      </p:sp>
      <p:sp>
        <p:nvSpPr>
          <p:cNvPr id="46" name="Shape 38"/>
          <p:cNvSpPr/>
          <p:nvPr/>
        </p:nvSpPr>
        <p:spPr>
          <a:xfrm>
            <a:off x="4855464" y="3310128"/>
            <a:ext cx="6419088" cy="2615184"/>
          </a:xfrm>
          <a:prstGeom prst="roundRect">
            <a:avLst>
              <a:gd name="adj" fmla="val 3147"/>
            </a:avLst>
          </a:prstGeom>
          <a:solidFill>
            <a:srgbClr val="FFFFFF"/>
          </a:solidFill>
          <a:ln w="12700">
            <a:solidFill>
              <a:srgbClr val="DBE4F0">
                <a:alpha val="0"/>
              </a:srgbClr>
            </a:solidFill>
            <a:prstDash val="solid"/>
          </a:ln>
        </p:spPr>
        <p:txBody>
          <a:bodyPr wrap="square"/>
          <a:p/>
        </p:txBody>
      </p:sp>
      <p:sp>
        <p:nvSpPr>
          <p:cNvPr id="47" name="Shape 39"/>
          <p:cNvSpPr/>
          <p:nvPr/>
        </p:nvSpPr>
        <p:spPr>
          <a:xfrm>
            <a:off x="5056632" y="3511296"/>
            <a:ext cx="457200" cy="457200"/>
          </a:xfrm>
          <a:prstGeom prst="ellipse">
            <a:avLst/>
          </a:prstGeom>
          <a:solidFill>
            <a:srgbClr val="0A8F78"/>
          </a:solidFill>
          <a:ln w="12700">
            <a:noFill/>
            <a:prstDash val="solid"/>
          </a:ln>
        </p:spPr>
        <p:txBody>
          <a:bodyPr wrap="square"/>
          <a:p/>
        </p:txBody>
      </p:sp>
      <p:pic>
        <p:nvPicPr>
          <p:cNvPr id="48" name="Image 6" descr="/home/claude/samuel_deck/assets/icon_microscope_navy.png">    </p:cNvPr>
          <p:cNvPicPr>
            <a:picLocks noChangeAspect="1"/>
          </p:cNvPicPr>
          <p:nvPr/>
        </p:nvPicPr>
        <p:blipFill>
          <a:blip r:embed="rId7"/>
          <a:stretch>
            <a:fillRect/>
          </a:stretch>
        </p:blipFill>
        <p:spPr>
          <a:xfrm>
            <a:off x="5166360" y="3621024"/>
            <a:ext cx="237744" cy="237744"/>
          </a:xfrm>
          <a:prstGeom prst="rect">
            <a:avLst/>
          </a:prstGeom>
        </p:spPr>
      </p:pic>
      <p:sp>
        <p:nvSpPr>
          <p:cNvPr id="49" name="Text 40"/>
          <p:cNvSpPr/>
          <p:nvPr/>
        </p:nvSpPr>
        <p:spPr>
          <a:xfrm>
            <a:off x="5641848" y="3547872"/>
            <a:ext cx="5413248" cy="36576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400" b="1" dirty="0">
                <a:solidFill>
                  <a:srgbClr val="0B1330"/>
                </a:solidFill>
                <a:latin typeface="Aptos Display" pitchFamily="34" charset="0"/>
                <a:ea typeface="Cambria" pitchFamily="34" charset="-122"/>
                <a:cs typeface="Cambria" pitchFamily="34" charset="-120"/>
              </a:rPr>
              <a:t>Why orbit?</a:t>
            </a:r>
            <a:endParaRPr lang="en-US" sz="1450" dirty="0"/>
          </a:p>
        </p:txBody>
      </p:sp>
      <p:sp>
        <p:nvSpPr>
          <p:cNvPr id="50" name="Text 41"/>
          <p:cNvSpPr/>
          <p:nvPr/>
        </p:nvSpPr>
        <p:spPr>
          <a:xfrm>
            <a:off x="5074920" y="4096512"/>
            <a:ext cx="5980176" cy="1060704"/>
          </a:xfrm>
          <a:prstGeom prst="rect">
            <a:avLst/>
          </a:prstGeom>
          <a:noFill/>
          <a:ln/>
        </p:spPr>
        <p:txBody>
          <a:bodyPr wrap="square" lIns="25400" tIns="25400" rIns="25400" bIns="25400" rtlCol="0" anchor="t"/>
          <a:lstStyle/>
          <a:p>
            <a:pPr indent="0" marL="0">
              <a:lnSpc>
                <a:spcPct val="102000"/>
              </a:lnSpc>
              <a:spcBef>
                <a:spcPts val="0"/>
              </a:spcBef>
              <a:spcAft>
                <a:spcPts val="0"/>
              </a:spcAft>
              <a:buNone/>
            </a:pPr>
            <a:r>
              <a:rPr lang="en-US" sz="1080" dirty="0">
                <a:solidFill>
                  <a:srgbClr val="3D4663"/>
                </a:solidFill>
                <a:latin typeface="Aptos" pitchFamily="34" charset="0"/>
                <a:ea typeface="Calibri" pitchFamily="34" charset="-122"/>
                <a:cs typeface="Calibri" pitchFamily="34" charset="-120"/>
              </a:rPr>
              <a:t>In the near-weightlessness of ISS orbit (~400 km altitude), tissues grow in true three dimensions with no gravitational compression. This principle has been validated continuously since 2018 across NASA, Redwire Corporation, ROSCOSMOS, LambdaVision Inc., and ESA/DLR — eight years of confirmation by organisations operating entirely independently of one another.</a:t>
            </a:r>
            <a:endParaRPr lang="en-US" sz="1100" dirty="0"/>
          </a:p>
        </p:txBody>
      </p:sp>
      <p:sp>
        <p:nvSpPr>
          <p:cNvPr id="51" name="Shape 42"/>
          <p:cNvSpPr/>
          <p:nvPr/>
        </p:nvSpPr>
        <p:spPr>
          <a:xfrm>
            <a:off x="5074920" y="5230368"/>
            <a:ext cx="5980176" cy="0"/>
          </a:xfrm>
          <a:prstGeom prst="line">
            <a:avLst/>
          </a:prstGeom>
          <a:noFill/>
          <a:ln w="12700">
            <a:solidFill>
              <a:srgbClr val="1B2747"/>
            </a:solidFill>
            <a:prstDash val="solid"/>
          </a:ln>
        </p:spPr>
        <p:txBody>
          <a:bodyPr wrap="square"/>
          <a:p/>
        </p:txBody>
      </p:sp>
      <p:sp>
        <p:nvSpPr>
          <p:cNvPr id="52" name="Text 43"/>
          <p:cNvSpPr/>
          <p:nvPr/>
        </p:nvSpPr>
        <p:spPr>
          <a:xfrm>
            <a:off x="5074920" y="5321808"/>
            <a:ext cx="5980176" cy="548640"/>
          </a:xfrm>
          <a:prstGeom prst="rect">
            <a:avLst/>
          </a:prstGeom>
          <a:noFill/>
          <a:ln/>
        </p:spPr>
        <p:txBody>
          <a:bodyPr wrap="square" lIns="25400" tIns="25400" rIns="25400" bIns="25400" rtlCol="0" anchor="t"/>
          <a:lstStyle/>
          <a:p>
            <a:pPr indent="0" marL="0">
              <a:lnSpc>
                <a:spcPct val="102000"/>
              </a:lnSpc>
              <a:spcBef>
                <a:spcPts val="0"/>
              </a:spcBef>
              <a:spcAft>
                <a:spcPts val="0"/>
              </a:spcAft>
              <a:buNone/>
            </a:pPr>
            <a:r>
              <a:rPr lang="en-US" sz="950" i="1" dirty="0">
                <a:solidFill>
                  <a:srgbClr val="64739A"/>
                </a:solidFill>
                <a:latin typeface="Aptos" pitchFamily="34" charset="0"/>
                <a:ea typeface="Calibri" pitchFamily="34" charset="-122"/>
                <a:cs typeface="Calibri" pitchFamily="34" charset="-120"/>
              </a:rPr>
              <a:t>Note: Adult cardiac muscle cannot self-regenerate — damaged tissue is replaced by scar tissue that blocks electrical signals, a key driver of CVD mortality and why cardiac is Samuel's highest-value target vertical.</a:t>
            </a:r>
            <a:endParaRPr lang="en-US" sz="930" dirty="0"/>
          </a:p>
        </p:txBody>
      </p:sp>
      <p:sp>
        <p:nvSpPr>
          <p:cNvPr id="53" name="Text 44"/>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PRODUCT STRATEGY</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Four High-Value Clinical Verticals</a:t>
            </a:r>
            <a:endParaRPr lang="en-US" sz="2700" dirty="0"/>
          </a:p>
        </p:txBody>
      </p:sp>
      <p:sp>
        <p:nvSpPr>
          <p:cNvPr id="4" name="Shape 2"/>
          <p:cNvSpPr/>
          <p:nvPr/>
        </p:nvSpPr>
        <p:spPr>
          <a:xfrm>
            <a:off x="457200" y="1444752"/>
            <a:ext cx="5280660" cy="2487168"/>
          </a:xfrm>
          <a:prstGeom prst="roundRect">
            <a:avLst>
              <a:gd name="adj" fmla="val 3309"/>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5" name="Shape 3"/>
          <p:cNvSpPr/>
          <p:nvPr/>
        </p:nvSpPr>
        <p:spPr>
          <a:xfrm>
            <a:off x="658368" y="1627632"/>
            <a:ext cx="914400" cy="914400"/>
          </a:xfrm>
          <a:prstGeom prst="ellipse">
            <a:avLst/>
          </a:prstGeom>
          <a:solidFill>
            <a:srgbClr val="FFFFFF"/>
          </a:solidFill>
          <a:ln w="12700">
            <a:solidFill>
              <a:srgbClr val="D7E2F0"/>
            </a:solidFill>
            <a:prstDash val="solid"/>
          </a:ln>
        </p:spPr>
        <p:txBody>
          <a:bodyPr wrap="square"/>
          <a:p/>
        </p:txBody>
      </p:sp>
      <p:pic>
        <p:nvPicPr>
          <p:cNvPr id="6" name="Image 0" descr="/home/claude/samuel_deck/assets/illus_heart_organ.png">    </p:cNvPr>
          <p:cNvPicPr>
            <a:picLocks noChangeAspect="1"/>
          </p:cNvPicPr>
          <p:nvPr/>
        </p:nvPicPr>
        <p:blipFill>
          <a:blip r:embed="rId1"/>
          <a:stretch>
            <a:fillRect/>
          </a:stretch>
        </p:blipFill>
        <p:spPr>
          <a:xfrm>
            <a:off x="777240" y="1746504"/>
            <a:ext cx="676656" cy="676656"/>
          </a:xfrm>
          <a:prstGeom prst="rect">
            <a:avLst/>
          </a:prstGeom>
        </p:spPr>
      </p:pic>
      <p:sp>
        <p:nvSpPr>
          <p:cNvPr id="7" name="Text 4"/>
          <p:cNvSpPr/>
          <p:nvPr/>
        </p:nvSpPr>
        <p:spPr>
          <a:xfrm>
            <a:off x="1719072" y="1664208"/>
            <a:ext cx="3835908" cy="566928"/>
          </a:xfrm>
          <a:prstGeom prst="rect">
            <a:avLst/>
          </a:prstGeom>
          <a:noFill/>
          <a:ln/>
        </p:spPr>
        <p:txBody>
          <a:bodyPr wrap="square" lIns="25400" tIns="25400" rIns="25400" bIns="25400" rtlCol="0" anchor="ctr"/>
          <a:lstStyle/>
          <a:p>
            <a:pPr indent="0" marL="0" algn="ctr">
              <a:lnSpc>
                <a:spcPct val="102000"/>
              </a:lnSpc>
              <a:spcBef>
                <a:spcPts val="0"/>
              </a:spcBef>
              <a:spcAft>
                <a:spcPts val="0"/>
              </a:spcAft>
              <a:buNone/>
            </a:pPr>
            <a:r>
              <a:rPr lang="en-US" sz="1700" b="1" dirty="0">
                <a:solidFill>
                  <a:srgbClr val="0B1330"/>
                </a:solidFill>
                <a:latin typeface="Aptos Display" pitchFamily="34" charset="0"/>
                <a:ea typeface="Cambria" pitchFamily="34" charset="-122"/>
                <a:cs typeface="Cambria" pitchFamily="34" charset="-120"/>
              </a:rPr>
              <a:t>Cardiac Tissue</a:t>
            </a:r>
            <a:endParaRPr lang="en-US" sz="1600" dirty="0"/>
          </a:p>
        </p:txBody>
      </p:sp>
      <p:sp>
        <p:nvSpPr>
          <p:cNvPr id="8" name="Text 5"/>
          <p:cNvSpPr/>
          <p:nvPr/>
        </p:nvSpPr>
        <p:spPr>
          <a:xfrm>
            <a:off x="658368" y="2670048"/>
            <a:ext cx="4878324" cy="841248"/>
          </a:xfrm>
          <a:prstGeom prst="rect">
            <a:avLst/>
          </a:prstGeom>
          <a:noFill/>
          <a:ln/>
        </p:spPr>
        <p:txBody>
          <a:bodyPr wrap="square" lIns="25400" tIns="25400" rIns="25400" bIns="25400" rtlCol="0" anchor="t"/>
          <a:lstStyle/>
          <a:p>
            <a:pPr indent="0" marL="0">
              <a:lnSpc>
                <a:spcPct val="102000"/>
              </a:lnSpc>
              <a:spcBef>
                <a:spcPts val="0"/>
              </a:spcBef>
              <a:spcAft>
                <a:spcPts val="0"/>
              </a:spcAft>
              <a:buNone/>
            </a:pPr>
            <a:r>
              <a:rPr lang="en-US" sz="1080" dirty="0">
                <a:solidFill>
                  <a:srgbClr val="3D4663"/>
                </a:solidFill>
                <a:latin typeface="Aptos" pitchFamily="34" charset="0"/>
                <a:ea typeface="Calibri" pitchFamily="34" charset="-122"/>
                <a:cs typeface="Calibri" pitchFamily="34" charset="-120"/>
              </a:rPr>
              <a:t>CVD kills ~2,500 Americans daily. Adult heart tissue cannot regenerate. Redwire returned the first live human cardiac tissue from orbit in May 2024 under BFF-Cardiac.</a:t>
            </a:r>
            <a:endParaRPr lang="en-US" sz="1030" dirty="0"/>
          </a:p>
        </p:txBody>
      </p:sp>
      <p:sp>
        <p:nvSpPr>
          <p:cNvPr id="9" name="Shape 6"/>
          <p:cNvSpPr/>
          <p:nvPr/>
        </p:nvSpPr>
        <p:spPr>
          <a:xfrm>
            <a:off x="658368" y="3566160"/>
            <a:ext cx="4878324" cy="237744"/>
          </a:xfrm>
          <a:prstGeom prst="roundRect">
            <a:avLst>
              <a:gd name="adj" fmla="val 15385"/>
            </a:avLst>
          </a:prstGeom>
          <a:solidFill>
            <a:srgbClr val="E7F7F3"/>
          </a:solidFill>
          <a:ln w="12700">
            <a:solidFill>
              <a:srgbClr val="DBE4F0">
                <a:alpha val="0"/>
              </a:srgbClr>
            </a:solidFill>
            <a:prstDash val="solid"/>
          </a:ln>
        </p:spPr>
        <p:txBody>
          <a:bodyPr wrap="square"/>
          <a:p/>
        </p:txBody>
      </p:sp>
      <p:sp>
        <p:nvSpPr>
          <p:cNvPr id="10" name="Text 7"/>
          <p:cNvSpPr/>
          <p:nvPr/>
        </p:nvSpPr>
        <p:spPr>
          <a:xfrm>
            <a:off x="749808" y="3584448"/>
            <a:ext cx="4695444" cy="20116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910" dirty="0" b="1">
                <a:solidFill>
                  <a:srgbClr val="3D4663"/>
                </a:solidFill>
                <a:latin typeface="Aptos" pitchFamily="34" charset="0"/>
                <a:ea typeface="Calibri" pitchFamily="34" charset="-122"/>
                <a:cs typeface="Calibri" pitchFamily="34" charset="-120"/>
              </a:rPr>
              <a:t>Proven by: Redwire BFF-Cardiac, ISS, May 2024</a:t>
            </a:r>
            <a:endParaRPr lang="en-US" sz="850" dirty="0"/>
          </a:p>
        </p:txBody>
      </p:sp>
      <p:sp>
        <p:nvSpPr>
          <p:cNvPr id="11" name="Shape 8"/>
          <p:cNvSpPr/>
          <p:nvPr/>
        </p:nvSpPr>
        <p:spPr>
          <a:xfrm>
            <a:off x="5993892" y="1444752"/>
            <a:ext cx="5280660" cy="2487168"/>
          </a:xfrm>
          <a:prstGeom prst="roundRect">
            <a:avLst>
              <a:gd name="adj" fmla="val 3309"/>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2" name="Shape 9"/>
          <p:cNvSpPr/>
          <p:nvPr/>
        </p:nvSpPr>
        <p:spPr>
          <a:xfrm>
            <a:off x="6195060" y="1627632"/>
            <a:ext cx="914400" cy="914400"/>
          </a:xfrm>
          <a:prstGeom prst="ellipse">
            <a:avLst/>
          </a:prstGeom>
          <a:solidFill>
            <a:srgbClr val="FFFFFF"/>
          </a:solidFill>
          <a:ln w="12700">
            <a:solidFill>
              <a:srgbClr val="D7E2F0"/>
            </a:solidFill>
            <a:prstDash val="solid"/>
          </a:ln>
        </p:spPr>
        <p:txBody>
          <a:bodyPr wrap="square"/>
          <a:p/>
        </p:txBody>
      </p:sp>
      <p:pic>
        <p:nvPicPr>
          <p:cNvPr id="13" name="Image 1" descr="/home/claude/samuel_deck/assets/illus_joint_organ.png">    </p:cNvPr>
          <p:cNvPicPr>
            <a:picLocks noChangeAspect="1"/>
          </p:cNvPicPr>
          <p:nvPr/>
        </p:nvPicPr>
        <p:blipFill>
          <a:blip r:embed="rId2"/>
          <a:stretch>
            <a:fillRect/>
          </a:stretch>
        </p:blipFill>
        <p:spPr>
          <a:xfrm>
            <a:off x="6313932" y="1746504"/>
            <a:ext cx="676656" cy="676656"/>
          </a:xfrm>
          <a:prstGeom prst="rect">
            <a:avLst/>
          </a:prstGeom>
        </p:spPr>
      </p:pic>
      <p:sp>
        <p:nvSpPr>
          <p:cNvPr id="14" name="Text 10"/>
          <p:cNvSpPr/>
          <p:nvPr/>
        </p:nvSpPr>
        <p:spPr>
          <a:xfrm>
            <a:off x="7255764" y="1664208"/>
            <a:ext cx="3835908" cy="566928"/>
          </a:xfrm>
          <a:prstGeom prst="rect">
            <a:avLst/>
          </a:prstGeom>
          <a:noFill/>
          <a:ln/>
        </p:spPr>
        <p:txBody>
          <a:bodyPr wrap="square" lIns="25400" tIns="25400" rIns="25400" bIns="25400" rtlCol="0" anchor="ctr"/>
          <a:lstStyle/>
          <a:p>
            <a:pPr indent="0" marL="0" algn="ctr">
              <a:lnSpc>
                <a:spcPct val="102000"/>
              </a:lnSpc>
              <a:spcBef>
                <a:spcPts val="0"/>
              </a:spcBef>
              <a:spcAft>
                <a:spcPts val="0"/>
              </a:spcAft>
              <a:buNone/>
            </a:pPr>
            <a:r>
              <a:rPr lang="en-US" sz="1700" b="1" dirty="0">
                <a:solidFill>
                  <a:srgbClr val="0B1330"/>
                </a:solidFill>
                <a:latin typeface="Aptos Display" pitchFamily="34" charset="0"/>
                <a:ea typeface="Cambria" pitchFamily="34" charset="-122"/>
                <a:cs typeface="Cambria" pitchFamily="34" charset="-120"/>
              </a:rPr>
              <a:t>Orthopedic Grafts</a:t>
            </a:r>
            <a:endParaRPr lang="en-US" sz="1600" dirty="0"/>
          </a:p>
        </p:txBody>
      </p:sp>
      <p:sp>
        <p:nvSpPr>
          <p:cNvPr id="15" name="Text 11"/>
          <p:cNvSpPr/>
          <p:nvPr/>
        </p:nvSpPr>
        <p:spPr>
          <a:xfrm>
            <a:off x="6195060" y="2670048"/>
            <a:ext cx="4878324" cy="841248"/>
          </a:xfrm>
          <a:prstGeom prst="rect">
            <a:avLst/>
          </a:prstGeom>
          <a:noFill/>
          <a:ln/>
        </p:spPr>
        <p:txBody>
          <a:bodyPr wrap="square" lIns="25400" tIns="25400" rIns="25400" bIns="25400" rtlCol="0" anchor="t"/>
          <a:lstStyle/>
          <a:p>
            <a:pPr indent="0" marL="0">
              <a:lnSpc>
                <a:spcPct val="102000"/>
              </a:lnSpc>
              <a:spcBef>
                <a:spcPts val="0"/>
              </a:spcBef>
              <a:spcAft>
                <a:spcPts val="0"/>
              </a:spcAft>
              <a:buNone/>
            </a:pPr>
            <a:r>
              <a:rPr lang="en-US" sz="1080" dirty="0">
                <a:solidFill>
                  <a:srgbClr val="3D4663"/>
                </a:solidFill>
                <a:latin typeface="Aptos" pitchFamily="34" charset="0"/>
                <a:ea typeface="Calibri" pitchFamily="34" charset="-122"/>
                <a:cs typeface="Calibri" pitchFamily="34" charset="-120"/>
              </a:rPr>
              <a:t>Meniscal tears are among the most common U.S. military injuries. Redwire printed the first human knee meniscus in orbit in September 2023, establishing the foundational protocol.</a:t>
            </a:r>
            <a:endParaRPr lang="en-US" sz="1030" dirty="0"/>
          </a:p>
        </p:txBody>
      </p:sp>
      <p:sp>
        <p:nvSpPr>
          <p:cNvPr id="16" name="Shape 12"/>
          <p:cNvSpPr/>
          <p:nvPr/>
        </p:nvSpPr>
        <p:spPr>
          <a:xfrm>
            <a:off x="6195060" y="3566160"/>
            <a:ext cx="4878324" cy="237744"/>
          </a:xfrm>
          <a:prstGeom prst="roundRect">
            <a:avLst>
              <a:gd name="adj" fmla="val 15385"/>
            </a:avLst>
          </a:prstGeom>
          <a:solidFill>
            <a:srgbClr val="E7F7F3"/>
          </a:solidFill>
          <a:ln w="12700">
            <a:solidFill>
              <a:srgbClr val="DBE4F0">
                <a:alpha val="0"/>
              </a:srgbClr>
            </a:solidFill>
            <a:prstDash val="solid"/>
          </a:ln>
        </p:spPr>
        <p:txBody>
          <a:bodyPr wrap="square"/>
          <a:p/>
        </p:txBody>
      </p:sp>
      <p:sp>
        <p:nvSpPr>
          <p:cNvPr id="17" name="Text 13"/>
          <p:cNvSpPr/>
          <p:nvPr/>
        </p:nvSpPr>
        <p:spPr>
          <a:xfrm>
            <a:off x="6286500" y="3584448"/>
            <a:ext cx="4695444" cy="20116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910" dirty="0" b="1">
                <a:solidFill>
                  <a:srgbClr val="3D4663"/>
                </a:solidFill>
                <a:latin typeface="Aptos" pitchFamily="34" charset="0"/>
                <a:ea typeface="Calibri" pitchFamily="34" charset="-122"/>
                <a:cs typeface="Calibri" pitchFamily="34" charset="-120"/>
              </a:rPr>
              <a:t>Proven by: Redwire BFF-Meniscus-2, ISS, Sept 2023</a:t>
            </a:r>
            <a:endParaRPr lang="en-US" sz="850" dirty="0"/>
          </a:p>
        </p:txBody>
      </p:sp>
      <p:sp>
        <p:nvSpPr>
          <p:cNvPr id="18" name="Shape 14"/>
          <p:cNvSpPr/>
          <p:nvPr/>
        </p:nvSpPr>
        <p:spPr>
          <a:xfrm>
            <a:off x="457200" y="4078224"/>
            <a:ext cx="5280660" cy="2487168"/>
          </a:xfrm>
          <a:prstGeom prst="roundRect">
            <a:avLst>
              <a:gd name="adj" fmla="val 3309"/>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9" name="Shape 15"/>
          <p:cNvSpPr/>
          <p:nvPr/>
        </p:nvSpPr>
        <p:spPr>
          <a:xfrm>
            <a:off x="658368" y="4261104"/>
            <a:ext cx="914400" cy="914400"/>
          </a:xfrm>
          <a:prstGeom prst="ellipse">
            <a:avLst/>
          </a:prstGeom>
          <a:solidFill>
            <a:srgbClr val="FFFFFF"/>
          </a:solidFill>
          <a:ln w="12700">
            <a:solidFill>
              <a:srgbClr val="D7E2F0"/>
            </a:solidFill>
            <a:prstDash val="solid"/>
          </a:ln>
        </p:spPr>
        <p:txBody>
          <a:bodyPr wrap="square"/>
          <a:p/>
        </p:txBody>
      </p:sp>
      <p:pic>
        <p:nvPicPr>
          <p:cNvPr id="20" name="Image 2" descr="/home/claude/samuel_deck/assets/illus_eye_organ.png">    </p:cNvPr>
          <p:cNvPicPr>
            <a:picLocks noChangeAspect="1"/>
          </p:cNvPicPr>
          <p:nvPr/>
        </p:nvPicPr>
        <p:blipFill>
          <a:blip r:embed="rId3"/>
          <a:stretch>
            <a:fillRect/>
          </a:stretch>
        </p:blipFill>
        <p:spPr>
          <a:xfrm>
            <a:off x="777240" y="4379976"/>
            <a:ext cx="676656" cy="676656"/>
          </a:xfrm>
          <a:prstGeom prst="rect">
            <a:avLst/>
          </a:prstGeom>
        </p:spPr>
      </p:pic>
      <p:sp>
        <p:nvSpPr>
          <p:cNvPr id="21" name="Text 16"/>
          <p:cNvSpPr/>
          <p:nvPr/>
        </p:nvSpPr>
        <p:spPr>
          <a:xfrm>
            <a:off x="1719072" y="4297680"/>
            <a:ext cx="3835908" cy="566928"/>
          </a:xfrm>
          <a:prstGeom prst="rect">
            <a:avLst/>
          </a:prstGeom>
          <a:noFill/>
          <a:ln/>
        </p:spPr>
        <p:txBody>
          <a:bodyPr wrap="square" lIns="25400" tIns="25400" rIns="25400" bIns="25400" rtlCol="0" anchor="ctr"/>
          <a:lstStyle/>
          <a:p>
            <a:pPr indent="0" marL="0" algn="ctr">
              <a:lnSpc>
                <a:spcPct val="102000"/>
              </a:lnSpc>
              <a:spcBef>
                <a:spcPts val="0"/>
              </a:spcBef>
              <a:spcAft>
                <a:spcPts val="0"/>
              </a:spcAft>
              <a:buNone/>
            </a:pPr>
            <a:r>
              <a:rPr lang="en-US" sz="1700" b="1" dirty="0">
                <a:solidFill>
                  <a:srgbClr val="0B1330"/>
                </a:solidFill>
                <a:latin typeface="Aptos Display" pitchFamily="34" charset="0"/>
                <a:ea typeface="Cambria" pitchFamily="34" charset="-122"/>
                <a:cs typeface="Cambria" pitchFamily="34" charset="-120"/>
              </a:rPr>
              <a:t>Artificial Retinas</a:t>
            </a:r>
            <a:endParaRPr lang="en-US" sz="1600" dirty="0"/>
          </a:p>
        </p:txBody>
      </p:sp>
      <p:sp>
        <p:nvSpPr>
          <p:cNvPr id="22" name="Text 17"/>
          <p:cNvSpPr/>
          <p:nvPr/>
        </p:nvSpPr>
        <p:spPr>
          <a:xfrm>
            <a:off x="658368" y="5303520"/>
            <a:ext cx="4878324" cy="841248"/>
          </a:xfrm>
          <a:prstGeom prst="rect">
            <a:avLst/>
          </a:prstGeom>
          <a:noFill/>
          <a:ln/>
        </p:spPr>
        <p:txBody>
          <a:bodyPr wrap="square" lIns="25400" tIns="25400" rIns="25400" bIns="25400" rtlCol="0" anchor="t"/>
          <a:lstStyle/>
          <a:p>
            <a:pPr indent="0" marL="0">
              <a:lnSpc>
                <a:spcPct val="102000"/>
              </a:lnSpc>
              <a:spcBef>
                <a:spcPts val="0"/>
              </a:spcBef>
              <a:spcAft>
                <a:spcPts val="0"/>
              </a:spcAft>
              <a:buNone/>
            </a:pPr>
            <a:r>
              <a:rPr lang="en-US" sz="1080" dirty="0">
                <a:solidFill>
                  <a:srgbClr val="3D4663"/>
                </a:solidFill>
                <a:latin typeface="Aptos" pitchFamily="34" charset="0"/>
                <a:ea typeface="Calibri" pitchFamily="34" charset="-122"/>
                <a:cs typeface="Calibri" pitchFamily="34" charset="-120"/>
              </a:rPr>
              <a:t>30 million people worldwide suffer from degenerative retinal disease. LambdaVision has produced consistent 200-layer protein retina films in microgravity across 9 ISS missions.</a:t>
            </a:r>
            <a:endParaRPr lang="en-US" sz="1030" dirty="0"/>
          </a:p>
        </p:txBody>
      </p:sp>
      <p:sp>
        <p:nvSpPr>
          <p:cNvPr id="23" name="Shape 18"/>
          <p:cNvSpPr/>
          <p:nvPr/>
        </p:nvSpPr>
        <p:spPr>
          <a:xfrm>
            <a:off x="658368" y="6199632"/>
            <a:ext cx="4878324" cy="237744"/>
          </a:xfrm>
          <a:prstGeom prst="roundRect">
            <a:avLst>
              <a:gd name="adj" fmla="val 15385"/>
            </a:avLst>
          </a:prstGeom>
          <a:solidFill>
            <a:srgbClr val="E7F7F3"/>
          </a:solidFill>
          <a:ln w="12700">
            <a:solidFill>
              <a:srgbClr val="DBE4F0">
                <a:alpha val="0"/>
              </a:srgbClr>
            </a:solidFill>
            <a:prstDash val="solid"/>
          </a:ln>
        </p:spPr>
        <p:txBody>
          <a:bodyPr wrap="square"/>
          <a:p/>
        </p:txBody>
      </p:sp>
      <p:sp>
        <p:nvSpPr>
          <p:cNvPr id="24" name="Text 19"/>
          <p:cNvSpPr/>
          <p:nvPr/>
        </p:nvSpPr>
        <p:spPr>
          <a:xfrm>
            <a:off x="749808" y="6217920"/>
            <a:ext cx="4695444" cy="20116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910" dirty="0" b="1">
                <a:solidFill>
                  <a:srgbClr val="3D4663"/>
                </a:solidFill>
                <a:latin typeface="Aptos" pitchFamily="34" charset="0"/>
                <a:ea typeface="Calibri" pitchFamily="34" charset="-122"/>
                <a:cs typeface="Calibri" pitchFamily="34" charset="-120"/>
              </a:rPr>
              <a:t>Proven by: LambdaVision / Space Tango, 9 ISS missions</a:t>
            </a:r>
            <a:endParaRPr lang="en-US" sz="850" dirty="0"/>
          </a:p>
        </p:txBody>
      </p:sp>
      <p:sp>
        <p:nvSpPr>
          <p:cNvPr id="25" name="Shape 20"/>
          <p:cNvSpPr/>
          <p:nvPr/>
        </p:nvSpPr>
        <p:spPr>
          <a:xfrm>
            <a:off x="5993892" y="4078224"/>
            <a:ext cx="5280660" cy="2487168"/>
          </a:xfrm>
          <a:prstGeom prst="roundRect">
            <a:avLst>
              <a:gd name="adj" fmla="val 3309"/>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26" name="Shape 21"/>
          <p:cNvSpPr/>
          <p:nvPr/>
        </p:nvSpPr>
        <p:spPr>
          <a:xfrm>
            <a:off x="6195060" y="4261104"/>
            <a:ext cx="914400" cy="914400"/>
          </a:xfrm>
          <a:prstGeom prst="ellipse">
            <a:avLst/>
          </a:prstGeom>
          <a:solidFill>
            <a:srgbClr val="FFFFFF"/>
          </a:solidFill>
          <a:ln w="12700">
            <a:solidFill>
              <a:srgbClr val="D7E2F0"/>
            </a:solidFill>
            <a:prstDash val="solid"/>
          </a:ln>
        </p:spPr>
        <p:txBody>
          <a:bodyPr wrap="square"/>
          <a:p/>
        </p:txBody>
      </p:sp>
      <p:pic>
        <p:nvPicPr>
          <p:cNvPr id="27" name="Image 3" descr="/home/claude/samuel_deck/assets/illus_patch_organ.png">    </p:cNvPr>
          <p:cNvPicPr>
            <a:picLocks noChangeAspect="1"/>
          </p:cNvPicPr>
          <p:nvPr/>
        </p:nvPicPr>
        <p:blipFill>
          <a:blip r:embed="rId4"/>
          <a:stretch>
            <a:fillRect/>
          </a:stretch>
        </p:blipFill>
        <p:spPr>
          <a:xfrm>
            <a:off x="6313932" y="4379976"/>
            <a:ext cx="676656" cy="676656"/>
          </a:xfrm>
          <a:prstGeom prst="rect">
            <a:avLst/>
          </a:prstGeom>
        </p:spPr>
      </p:pic>
      <p:sp>
        <p:nvSpPr>
          <p:cNvPr id="28" name="Text 22"/>
          <p:cNvSpPr/>
          <p:nvPr/>
        </p:nvSpPr>
        <p:spPr>
          <a:xfrm>
            <a:off x="7255764" y="4297680"/>
            <a:ext cx="3835908" cy="566928"/>
          </a:xfrm>
          <a:prstGeom prst="rect">
            <a:avLst/>
          </a:prstGeom>
          <a:noFill/>
          <a:ln/>
        </p:spPr>
        <p:txBody>
          <a:bodyPr wrap="square" lIns="25400" tIns="25400" rIns="25400" bIns="25400" rtlCol="0" anchor="ctr"/>
          <a:lstStyle/>
          <a:p>
            <a:pPr indent="0" marL="0" algn="ctr">
              <a:lnSpc>
                <a:spcPct val="102000"/>
              </a:lnSpc>
              <a:spcBef>
                <a:spcPts val="0"/>
              </a:spcBef>
              <a:spcAft>
                <a:spcPts val="0"/>
              </a:spcAft>
              <a:buNone/>
            </a:pPr>
            <a:r>
              <a:rPr lang="en-US" sz="1700" b="1" dirty="0">
                <a:solidFill>
                  <a:srgbClr val="0B1330"/>
                </a:solidFill>
                <a:latin typeface="Aptos Display" pitchFamily="34" charset="0"/>
                <a:ea typeface="Cambria" pitchFamily="34" charset="-122"/>
                <a:cs typeface="Cambria" pitchFamily="34" charset="-120"/>
              </a:rPr>
              <a:t>Wound Care Patches</a:t>
            </a:r>
            <a:endParaRPr lang="en-US" sz="1600" dirty="0"/>
          </a:p>
        </p:txBody>
      </p:sp>
      <p:sp>
        <p:nvSpPr>
          <p:cNvPr id="29" name="Text 23"/>
          <p:cNvSpPr/>
          <p:nvPr/>
        </p:nvSpPr>
        <p:spPr>
          <a:xfrm>
            <a:off x="6195060" y="5303520"/>
            <a:ext cx="4878324" cy="841248"/>
          </a:xfrm>
          <a:prstGeom prst="rect">
            <a:avLst/>
          </a:prstGeom>
          <a:noFill/>
          <a:ln/>
        </p:spPr>
        <p:txBody>
          <a:bodyPr wrap="square" lIns="25400" tIns="25400" rIns="25400" bIns="25400" rtlCol="0" anchor="t"/>
          <a:lstStyle/>
          <a:p>
            <a:pPr indent="0" marL="0">
              <a:lnSpc>
                <a:spcPct val="102000"/>
              </a:lnSpc>
              <a:spcBef>
                <a:spcPts val="0"/>
              </a:spcBef>
              <a:spcAft>
                <a:spcPts val="0"/>
              </a:spcAft>
              <a:buNone/>
            </a:pPr>
            <a:r>
              <a:rPr lang="en-US" sz="1080" dirty="0">
                <a:solidFill>
                  <a:srgbClr val="3D4663"/>
                </a:solidFill>
                <a:latin typeface="Aptos" pitchFamily="34" charset="0"/>
                <a:ea typeface="Calibri" pitchFamily="34" charset="-122"/>
                <a:cs typeface="Calibri" pitchFamily="34" charset="-120"/>
              </a:rPr>
              <a:t>ESA and DLR demonstrated a handheld bioprinter creating customised skin patches aboard the ISS during the Cosmic Kiss mission. Lowest regulatory burden — Samuel's Phase 1 entry point.</a:t>
            </a:r>
            <a:endParaRPr lang="en-US" sz="1030" dirty="0"/>
          </a:p>
        </p:txBody>
      </p:sp>
      <p:sp>
        <p:nvSpPr>
          <p:cNvPr id="30" name="Shape 24"/>
          <p:cNvSpPr/>
          <p:nvPr/>
        </p:nvSpPr>
        <p:spPr>
          <a:xfrm>
            <a:off x="6195060" y="6199632"/>
            <a:ext cx="4878324" cy="237744"/>
          </a:xfrm>
          <a:prstGeom prst="roundRect">
            <a:avLst>
              <a:gd name="adj" fmla="val 15385"/>
            </a:avLst>
          </a:prstGeom>
          <a:solidFill>
            <a:srgbClr val="E7F7F3"/>
          </a:solidFill>
          <a:ln w="12700">
            <a:solidFill>
              <a:srgbClr val="DBE4F0">
                <a:alpha val="0"/>
              </a:srgbClr>
            </a:solidFill>
            <a:prstDash val="solid"/>
          </a:ln>
        </p:spPr>
        <p:txBody>
          <a:bodyPr wrap="square"/>
          <a:p/>
        </p:txBody>
      </p:sp>
      <p:sp>
        <p:nvSpPr>
          <p:cNvPr id="31" name="Text 25"/>
          <p:cNvSpPr/>
          <p:nvPr/>
        </p:nvSpPr>
        <p:spPr>
          <a:xfrm>
            <a:off x="6286500" y="6217920"/>
            <a:ext cx="4695444" cy="20116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910" dirty="0" b="1">
                <a:solidFill>
                  <a:srgbClr val="3D4663"/>
                </a:solidFill>
                <a:latin typeface="Aptos" pitchFamily="34" charset="0"/>
                <a:ea typeface="Calibri" pitchFamily="34" charset="-122"/>
                <a:cs typeface="Calibri" pitchFamily="34" charset="-120"/>
              </a:rPr>
              <a:t>Proven by: ESA/DLR Bioprint FirstAid, ISS, Dec 2021</a:t>
            </a:r>
            <a:endParaRPr lang="en-US" sz="850" dirty="0"/>
          </a:p>
        </p:txBody>
      </p:sp>
      <p:sp>
        <p:nvSpPr>
          <p:cNvPr id="32" name="Text 26"/>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THIRD-PARTY VALIDATION</a:t>
            </a:r>
            <a:endParaRPr lang="en-US" sz="1100" dirty="0"/>
          </a:p>
        </p:txBody>
      </p:sp>
      <p:sp>
        <p:nvSpPr>
          <p:cNvPr id="3" name="Text 1"/>
          <p:cNvSpPr/>
          <p:nvPr/>
        </p:nvSpPr>
        <p:spPr>
          <a:xfrm>
            <a:off x="457200" y="621792"/>
            <a:ext cx="1124712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Eight Years of Proven In-Orbit Bioprinting</a:t>
            </a:r>
            <a:endParaRPr lang="en-US" sz="2700" dirty="0"/>
          </a:p>
        </p:txBody>
      </p:sp>
      <p:sp>
        <p:nvSpPr>
          <p:cNvPr id="4" name="Text 2"/>
          <p:cNvSpPr/>
          <p:nvPr/>
        </p:nvSpPr>
        <p:spPr>
          <a:xfrm>
            <a:off x="457200" y="1371600"/>
            <a:ext cx="10817352" cy="29260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80" i="1" dirty="0">
                <a:solidFill>
                  <a:srgbClr val="3D4663"/>
                </a:solidFill>
                <a:latin typeface="Aptos" pitchFamily="34" charset="0"/>
                <a:ea typeface="Calibri" pitchFamily="34" charset="-122"/>
                <a:cs typeface="Calibri" pitchFamily="34" charset="-120"/>
              </a:rPr>
              <a:t>Every milestone below was publicly announced by an independent organisation - not by Samuel Space. They validate the market premise and demonstrate commercial feasibility.</a:t>
            </a:r>
            <a:endParaRPr lang="en-US" sz="1050" dirty="0"/>
          </a:p>
        </p:txBody>
      </p:sp>
      <p:sp>
        <p:nvSpPr>
          <p:cNvPr id="5" name="Shape 3"/>
          <p:cNvSpPr/>
          <p:nvPr/>
        </p:nvSpPr>
        <p:spPr>
          <a:xfrm>
            <a:off x="1280160" y="3931920"/>
            <a:ext cx="9628632" cy="0"/>
          </a:xfrm>
          <a:prstGeom prst="line">
            <a:avLst/>
          </a:prstGeom>
          <a:noFill/>
          <a:ln w="19050">
            <a:solidFill>
              <a:srgbClr val="0A8F78"/>
            </a:solidFill>
            <a:prstDash val="solid"/>
          </a:ln>
        </p:spPr>
        <p:txBody>
          <a:bodyPr wrap="square"/>
          <a:p/>
        </p:txBody>
      </p:sp>
      <p:sp>
        <p:nvSpPr>
          <p:cNvPr id="6" name="Shape 4"/>
          <p:cNvSpPr/>
          <p:nvPr/>
        </p:nvSpPr>
        <p:spPr>
          <a:xfrm>
            <a:off x="1188720" y="3840480"/>
            <a:ext cx="182880" cy="182880"/>
          </a:xfrm>
          <a:prstGeom prst="ellipse">
            <a:avLst/>
          </a:prstGeom>
          <a:solidFill>
            <a:srgbClr val="0A8F78"/>
          </a:solidFill>
          <a:ln w="12700">
            <a:noFill/>
            <a:prstDash val="solid"/>
          </a:ln>
        </p:spPr>
        <p:txBody>
          <a:bodyPr wrap="square"/>
          <a:p/>
        </p:txBody>
      </p:sp>
      <p:sp>
        <p:nvSpPr>
          <p:cNvPr id="7" name="Text 5"/>
          <p:cNvSpPr/>
          <p:nvPr/>
        </p:nvSpPr>
        <p:spPr>
          <a:xfrm>
            <a:off x="822960" y="4096512"/>
            <a:ext cx="914400" cy="219456"/>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00" b="1" dirty="0">
                <a:solidFill>
                  <a:srgbClr val="0A8F78"/>
                </a:solidFill>
                <a:latin typeface="Aptos" pitchFamily="34" charset="0"/>
                <a:ea typeface="Calibri" pitchFamily="34" charset="-122"/>
                <a:cs typeface="Calibri" pitchFamily="34" charset="-120"/>
              </a:rPr>
              <a:t>2018</a:t>
            </a:r>
            <a:endParaRPr lang="en-US" sz="900" dirty="0"/>
          </a:p>
        </p:txBody>
      </p:sp>
      <p:sp>
        <p:nvSpPr>
          <p:cNvPr id="8" name="Shape 6"/>
          <p:cNvSpPr/>
          <p:nvPr/>
        </p:nvSpPr>
        <p:spPr>
          <a:xfrm>
            <a:off x="1280160" y="3584448"/>
            <a:ext cx="0" cy="256032"/>
          </a:xfrm>
          <a:prstGeom prst="line">
            <a:avLst/>
          </a:prstGeom>
          <a:noFill/>
          <a:ln w="12700">
            <a:solidFill>
              <a:srgbClr val="D0DAE6"/>
            </a:solidFill>
            <a:prstDash val="solid"/>
          </a:ln>
        </p:spPr>
        <p:txBody>
          <a:bodyPr wrap="square"/>
          <a:p/>
        </p:txBody>
      </p:sp>
      <p:sp>
        <p:nvSpPr>
          <p:cNvPr id="9" name="Shape 7"/>
          <p:cNvSpPr/>
          <p:nvPr/>
        </p:nvSpPr>
        <p:spPr>
          <a:xfrm>
            <a:off x="1234440" y="2286000"/>
            <a:ext cx="1389888" cy="1298448"/>
          </a:xfrm>
          <a:prstGeom prst="roundRect">
            <a:avLst>
              <a:gd name="adj" fmla="val 4225"/>
            </a:avLst>
          </a:prstGeom>
          <a:solidFill>
            <a:srgbClr val="FFFFFF"/>
          </a:solidFill>
          <a:ln w="12700">
            <a:solidFill>
              <a:srgbClr val="DBE4F0"/>
            </a:solidFill>
            <a:prstDash val="solid"/>
          </a:ln>
        </p:spPr>
        <p:txBody>
          <a:bodyPr wrap="square"/>
          <a:p/>
        </p:txBody>
      </p:sp>
      <p:sp>
        <p:nvSpPr>
          <p:cNvPr id="10" name="Text 8"/>
          <p:cNvSpPr/>
          <p:nvPr/>
        </p:nvSpPr>
        <p:spPr>
          <a:xfrm>
            <a:off x="1344168" y="2395728"/>
            <a:ext cx="1170432" cy="274320"/>
          </a:xfrm>
          <a:prstGeom prst="rect">
            <a:avLst/>
          </a:prstGeom>
          <a:noFill/>
          <a:ln/>
        </p:spPr>
        <p:txBody>
          <a:bodyPr wrap="square" lIns="25400" tIns="25400" rIns="25400" bIns="25400" rtlCol="0" anchor="t"/>
          <a:lstStyle/>
          <a:p>
            <a:pPr indent="0" marL="0" algn="ctr">
              <a:lnSpc>
                <a:spcPct val="102000"/>
              </a:lnSpc>
              <a:spcBef>
                <a:spcPts val="0"/>
              </a:spcBef>
              <a:spcAft>
                <a:spcPts val="0"/>
              </a:spcAft>
              <a:buNone/>
            </a:pPr>
            <a:r>
              <a:rPr lang="en-US" sz="1120" b="1" dirty="0">
                <a:solidFill>
                  <a:srgbClr val="0B1330"/>
                </a:solidFill>
                <a:latin typeface="Aptos Display" pitchFamily="34" charset="0"/>
                <a:ea typeface="Cambria" pitchFamily="34" charset="-122"/>
                <a:cs typeface="Cambria" pitchFamily="34" charset="-120"/>
              </a:rPr>
              <a:t>ROSCOSMOS Organ.Aut</a:t>
            </a:r>
            <a:endParaRPr lang="en-US" sz="1000" dirty="0"/>
          </a:p>
        </p:txBody>
      </p:sp>
      <p:sp>
        <p:nvSpPr>
          <p:cNvPr id="11" name="Text 9"/>
          <p:cNvSpPr/>
          <p:nvPr/>
        </p:nvSpPr>
        <p:spPr>
          <a:xfrm>
            <a:off x="1344168" y="2688336"/>
            <a:ext cx="1170432" cy="841248"/>
          </a:xfrm>
          <a:prstGeom prst="rect">
            <a:avLst/>
          </a:prstGeom>
          <a:noFill/>
          <a:ln/>
        </p:spPr>
        <p:txBody>
          <a:bodyPr wrap="square" lIns="25400" tIns="25400" rIns="25400" bIns="25400" rtlCol="0" anchor="t"/>
          <a:lstStyle/>
          <a:p>
            <a:pPr indent="0" marL="0" algn="ctr">
              <a:lnSpc>
                <a:spcPct val="102000"/>
              </a:lnSpc>
              <a:spcBef>
                <a:spcPts val="0"/>
              </a:spcBef>
              <a:spcAft>
                <a:spcPts val="0"/>
              </a:spcAft>
              <a:buNone/>
            </a:pPr>
            <a:r>
              <a:rPr lang="en-US" sz="850" dirty="0">
                <a:solidFill>
                  <a:srgbClr val="3D4663"/>
                </a:solidFill>
                <a:latin typeface="Aptos" pitchFamily="34" charset="0"/>
                <a:ea typeface="Calibri" pitchFamily="34" charset="-122"/>
                <a:cs typeface="Calibri" pitchFamily="34" charset="-120"/>
              </a:rPr>
              <a:t>First magnetic 3D bioprinter on ISS; tissue constructs created 2018-2020 prove in-orbit approach</a:t>
            </a:r>
            <a:endParaRPr lang="en-US" sz="830" dirty="0"/>
          </a:p>
        </p:txBody>
      </p:sp>
      <p:sp>
        <p:nvSpPr>
          <p:cNvPr id="12" name="Shape 10"/>
          <p:cNvSpPr/>
          <p:nvPr/>
        </p:nvSpPr>
        <p:spPr>
          <a:xfrm>
            <a:off x="2793492" y="3840480"/>
            <a:ext cx="182880" cy="182880"/>
          </a:xfrm>
          <a:prstGeom prst="ellipse">
            <a:avLst/>
          </a:prstGeom>
          <a:solidFill>
            <a:srgbClr val="0A8F78"/>
          </a:solidFill>
          <a:ln w="12700">
            <a:noFill/>
            <a:prstDash val="solid"/>
          </a:ln>
        </p:spPr>
        <p:txBody>
          <a:bodyPr wrap="square"/>
          <a:p/>
        </p:txBody>
      </p:sp>
      <p:sp>
        <p:nvSpPr>
          <p:cNvPr id="13" name="Text 11"/>
          <p:cNvSpPr/>
          <p:nvPr/>
        </p:nvSpPr>
        <p:spPr>
          <a:xfrm>
            <a:off x="2427732" y="4096512"/>
            <a:ext cx="914400" cy="219456"/>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00" b="1" dirty="0">
                <a:solidFill>
                  <a:srgbClr val="0A8F78"/>
                </a:solidFill>
                <a:latin typeface="Aptos" pitchFamily="34" charset="0"/>
                <a:ea typeface="Calibri" pitchFamily="34" charset="-122"/>
                <a:cs typeface="Calibri" pitchFamily="34" charset="-120"/>
              </a:rPr>
              <a:t>2019</a:t>
            </a:r>
            <a:endParaRPr lang="en-US" sz="900" dirty="0"/>
          </a:p>
        </p:txBody>
      </p:sp>
      <p:sp>
        <p:nvSpPr>
          <p:cNvPr id="14" name="Shape 12"/>
          <p:cNvSpPr/>
          <p:nvPr/>
        </p:nvSpPr>
        <p:spPr>
          <a:xfrm>
            <a:off x="2884932" y="4023360"/>
            <a:ext cx="0" cy="292608"/>
          </a:xfrm>
          <a:prstGeom prst="line">
            <a:avLst/>
          </a:prstGeom>
          <a:noFill/>
          <a:ln w="12700">
            <a:solidFill>
              <a:srgbClr val="D0DAE6"/>
            </a:solidFill>
            <a:prstDash val="solid"/>
          </a:ln>
        </p:spPr>
        <p:txBody>
          <a:bodyPr wrap="square"/>
          <a:p/>
        </p:txBody>
      </p:sp>
      <p:sp>
        <p:nvSpPr>
          <p:cNvPr id="15" name="Shape 13"/>
          <p:cNvSpPr/>
          <p:nvPr/>
        </p:nvSpPr>
        <p:spPr>
          <a:xfrm>
            <a:off x="2189988" y="4389120"/>
            <a:ext cx="1389888" cy="1298448"/>
          </a:xfrm>
          <a:prstGeom prst="roundRect">
            <a:avLst>
              <a:gd name="adj" fmla="val 4225"/>
            </a:avLst>
          </a:prstGeom>
          <a:solidFill>
            <a:srgbClr val="FFFFFF"/>
          </a:solidFill>
          <a:ln w="12700">
            <a:solidFill>
              <a:srgbClr val="DBE4F0"/>
            </a:solidFill>
            <a:prstDash val="solid"/>
          </a:ln>
        </p:spPr>
        <p:txBody>
          <a:bodyPr wrap="square"/>
          <a:p/>
        </p:txBody>
      </p:sp>
      <p:sp>
        <p:nvSpPr>
          <p:cNvPr id="16" name="Text 14"/>
          <p:cNvSpPr/>
          <p:nvPr/>
        </p:nvSpPr>
        <p:spPr>
          <a:xfrm>
            <a:off x="2299716" y="4498848"/>
            <a:ext cx="1170432" cy="274320"/>
          </a:xfrm>
          <a:prstGeom prst="rect">
            <a:avLst/>
          </a:prstGeom>
          <a:noFill/>
          <a:ln/>
        </p:spPr>
        <p:txBody>
          <a:bodyPr wrap="square" lIns="25400" tIns="25400" rIns="25400" bIns="25400" rtlCol="0" anchor="t"/>
          <a:lstStyle/>
          <a:p>
            <a:pPr indent="0" marL="0" algn="ctr">
              <a:lnSpc>
                <a:spcPct val="102000"/>
              </a:lnSpc>
              <a:spcBef>
                <a:spcPts val="0"/>
              </a:spcBef>
              <a:spcAft>
                <a:spcPts val="0"/>
              </a:spcAft>
              <a:buNone/>
            </a:pPr>
            <a:r>
              <a:rPr lang="en-US" sz="1120" b="1" dirty="0">
                <a:solidFill>
                  <a:srgbClr val="0B1330"/>
                </a:solidFill>
                <a:latin typeface="Aptos Display" pitchFamily="34" charset="0"/>
                <a:ea typeface="Cambria" pitchFamily="34" charset="-122"/>
                <a:cs typeface="Cambria" pitchFamily="34" charset="-120"/>
              </a:rPr>
              <a:t>Redwire BFF Launched</a:t>
            </a:r>
            <a:endParaRPr lang="en-US" sz="1000" dirty="0"/>
          </a:p>
        </p:txBody>
      </p:sp>
      <p:sp>
        <p:nvSpPr>
          <p:cNvPr id="17" name="Text 15"/>
          <p:cNvSpPr/>
          <p:nvPr/>
        </p:nvSpPr>
        <p:spPr>
          <a:xfrm>
            <a:off x="2299716" y="4791456"/>
            <a:ext cx="1170432" cy="841248"/>
          </a:xfrm>
          <a:prstGeom prst="rect">
            <a:avLst/>
          </a:prstGeom>
          <a:noFill/>
          <a:ln/>
        </p:spPr>
        <p:txBody>
          <a:bodyPr wrap="square" lIns="25400" tIns="25400" rIns="25400" bIns="25400" rtlCol="0" anchor="t"/>
          <a:lstStyle/>
          <a:p>
            <a:pPr indent="0" marL="0" algn="ctr">
              <a:lnSpc>
                <a:spcPct val="102000"/>
              </a:lnSpc>
              <a:spcBef>
                <a:spcPts val="0"/>
              </a:spcBef>
              <a:spcAft>
                <a:spcPts val="0"/>
              </a:spcAft>
              <a:buNone/>
            </a:pPr>
            <a:r>
              <a:rPr lang="en-US" sz="850" dirty="0">
                <a:solidFill>
                  <a:srgbClr val="3D4663"/>
                </a:solidFill>
                <a:latin typeface="Aptos" pitchFamily="34" charset="0"/>
                <a:ea typeface="Calibri" pitchFamily="34" charset="-122"/>
                <a:cs typeface="Calibri" pitchFamily="34" charset="-120"/>
              </a:rPr>
              <a:t>BioFabrication Facility (Techshot/nScrypt) arrives on ISS; later wins Popular Science Best of What's New 2023</a:t>
            </a:r>
            <a:endParaRPr lang="en-US" sz="830" dirty="0"/>
          </a:p>
        </p:txBody>
      </p:sp>
      <p:sp>
        <p:nvSpPr>
          <p:cNvPr id="18" name="Shape 16"/>
          <p:cNvSpPr/>
          <p:nvPr/>
        </p:nvSpPr>
        <p:spPr>
          <a:xfrm>
            <a:off x="4398264" y="3840480"/>
            <a:ext cx="182880" cy="182880"/>
          </a:xfrm>
          <a:prstGeom prst="ellipse">
            <a:avLst/>
          </a:prstGeom>
          <a:solidFill>
            <a:srgbClr val="0A8F78"/>
          </a:solidFill>
          <a:ln w="12700">
            <a:noFill/>
            <a:prstDash val="solid"/>
          </a:ln>
        </p:spPr>
        <p:txBody>
          <a:bodyPr wrap="square"/>
          <a:p/>
        </p:txBody>
      </p:sp>
      <p:sp>
        <p:nvSpPr>
          <p:cNvPr id="19" name="Text 17"/>
          <p:cNvSpPr/>
          <p:nvPr/>
        </p:nvSpPr>
        <p:spPr>
          <a:xfrm>
            <a:off x="4032504" y="4096512"/>
            <a:ext cx="914400" cy="219456"/>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00" b="1" dirty="0">
                <a:solidFill>
                  <a:srgbClr val="0A8F78"/>
                </a:solidFill>
                <a:latin typeface="Aptos" pitchFamily="34" charset="0"/>
                <a:ea typeface="Calibri" pitchFamily="34" charset="-122"/>
                <a:cs typeface="Calibri" pitchFamily="34" charset="-120"/>
              </a:rPr>
              <a:t>Dec '21</a:t>
            </a:r>
            <a:endParaRPr lang="en-US" sz="900" dirty="0"/>
          </a:p>
        </p:txBody>
      </p:sp>
      <p:sp>
        <p:nvSpPr>
          <p:cNvPr id="20" name="Shape 18"/>
          <p:cNvSpPr/>
          <p:nvPr/>
        </p:nvSpPr>
        <p:spPr>
          <a:xfrm>
            <a:off x="4489704" y="3584448"/>
            <a:ext cx="0" cy="256032"/>
          </a:xfrm>
          <a:prstGeom prst="line">
            <a:avLst/>
          </a:prstGeom>
          <a:noFill/>
          <a:ln w="12700">
            <a:solidFill>
              <a:srgbClr val="D0DAE6"/>
            </a:solidFill>
            <a:prstDash val="solid"/>
          </a:ln>
        </p:spPr>
        <p:txBody>
          <a:bodyPr wrap="square"/>
          <a:p/>
        </p:txBody>
      </p:sp>
      <p:sp>
        <p:nvSpPr>
          <p:cNvPr id="21" name="Shape 19"/>
          <p:cNvSpPr/>
          <p:nvPr/>
        </p:nvSpPr>
        <p:spPr>
          <a:xfrm>
            <a:off x="3794760" y="2286000"/>
            <a:ext cx="1389888" cy="1298448"/>
          </a:xfrm>
          <a:prstGeom prst="roundRect">
            <a:avLst>
              <a:gd name="adj" fmla="val 4225"/>
            </a:avLst>
          </a:prstGeom>
          <a:solidFill>
            <a:srgbClr val="FFFFFF"/>
          </a:solidFill>
          <a:ln w="12700">
            <a:solidFill>
              <a:srgbClr val="DBE4F0"/>
            </a:solidFill>
            <a:prstDash val="solid"/>
          </a:ln>
        </p:spPr>
        <p:txBody>
          <a:bodyPr wrap="square"/>
          <a:p/>
        </p:txBody>
      </p:sp>
      <p:sp>
        <p:nvSpPr>
          <p:cNvPr id="22" name="Text 20"/>
          <p:cNvSpPr/>
          <p:nvPr/>
        </p:nvSpPr>
        <p:spPr>
          <a:xfrm>
            <a:off x="3904488" y="2395728"/>
            <a:ext cx="1170432" cy="274320"/>
          </a:xfrm>
          <a:prstGeom prst="rect">
            <a:avLst/>
          </a:prstGeom>
          <a:noFill/>
          <a:ln/>
        </p:spPr>
        <p:txBody>
          <a:bodyPr wrap="square" lIns="25400" tIns="25400" rIns="25400" bIns="25400" rtlCol="0" anchor="t"/>
          <a:lstStyle/>
          <a:p>
            <a:pPr indent="0" marL="0" algn="ctr">
              <a:lnSpc>
                <a:spcPct val="102000"/>
              </a:lnSpc>
              <a:spcBef>
                <a:spcPts val="0"/>
              </a:spcBef>
              <a:spcAft>
                <a:spcPts val="0"/>
              </a:spcAft>
              <a:buNone/>
            </a:pPr>
            <a:r>
              <a:rPr lang="en-US" sz="1120" b="1" dirty="0">
                <a:solidFill>
                  <a:srgbClr val="0B1330"/>
                </a:solidFill>
                <a:latin typeface="Aptos Display" pitchFamily="34" charset="0"/>
                <a:ea typeface="Cambria" pitchFamily="34" charset="-122"/>
                <a:cs typeface="Cambria" pitchFamily="34" charset="-120"/>
              </a:rPr>
              <a:t>ESA Bioprint FirstAid</a:t>
            </a:r>
            <a:endParaRPr lang="en-US" sz="1000" dirty="0"/>
          </a:p>
        </p:txBody>
      </p:sp>
      <p:sp>
        <p:nvSpPr>
          <p:cNvPr id="23" name="Text 21"/>
          <p:cNvSpPr/>
          <p:nvPr/>
        </p:nvSpPr>
        <p:spPr>
          <a:xfrm>
            <a:off x="3904488" y="2688336"/>
            <a:ext cx="1170432" cy="841248"/>
          </a:xfrm>
          <a:prstGeom prst="rect">
            <a:avLst/>
          </a:prstGeom>
          <a:noFill/>
          <a:ln/>
        </p:spPr>
        <p:txBody>
          <a:bodyPr wrap="square" lIns="25400" tIns="25400" rIns="25400" bIns="25400" rtlCol="0" anchor="t"/>
          <a:lstStyle/>
          <a:p>
            <a:pPr indent="0" marL="0" algn="ctr">
              <a:lnSpc>
                <a:spcPct val="102000"/>
              </a:lnSpc>
              <a:spcBef>
                <a:spcPts val="0"/>
              </a:spcBef>
              <a:spcAft>
                <a:spcPts val="0"/>
              </a:spcAft>
              <a:buNone/>
            </a:pPr>
            <a:r>
              <a:rPr lang="en-US" sz="850" dirty="0">
                <a:solidFill>
                  <a:srgbClr val="3D4663"/>
                </a:solidFill>
                <a:latin typeface="Aptos" pitchFamily="34" charset="0"/>
                <a:ea typeface="Calibri" pitchFamily="34" charset="-122"/>
                <a:cs typeface="Calibri" pitchFamily="34" charset="-120"/>
              </a:rPr>
              <a:t>Portable handheld bioprinter demonstrated by astronaut Matthias Maurer on Cosmic Kiss mission</a:t>
            </a:r>
            <a:endParaRPr lang="en-US" sz="830" dirty="0"/>
          </a:p>
        </p:txBody>
      </p:sp>
      <p:sp>
        <p:nvSpPr>
          <p:cNvPr id="24" name="Shape 22"/>
          <p:cNvSpPr/>
          <p:nvPr/>
        </p:nvSpPr>
        <p:spPr>
          <a:xfrm>
            <a:off x="6003036" y="3840480"/>
            <a:ext cx="182880" cy="182880"/>
          </a:xfrm>
          <a:prstGeom prst="ellipse">
            <a:avLst/>
          </a:prstGeom>
          <a:solidFill>
            <a:srgbClr val="0A8F78"/>
          </a:solidFill>
          <a:ln w="12700">
            <a:noFill/>
            <a:prstDash val="solid"/>
          </a:ln>
        </p:spPr>
        <p:txBody>
          <a:bodyPr wrap="square"/>
          <a:p/>
        </p:txBody>
      </p:sp>
      <p:sp>
        <p:nvSpPr>
          <p:cNvPr id="25" name="Text 23"/>
          <p:cNvSpPr/>
          <p:nvPr/>
        </p:nvSpPr>
        <p:spPr>
          <a:xfrm>
            <a:off x="5637276" y="4096512"/>
            <a:ext cx="914400" cy="219456"/>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00" b="1" dirty="0">
                <a:solidFill>
                  <a:srgbClr val="0A8F78"/>
                </a:solidFill>
                <a:latin typeface="Aptos" pitchFamily="34" charset="0"/>
                <a:ea typeface="Calibri" pitchFamily="34" charset="-122"/>
                <a:cs typeface="Calibri" pitchFamily="34" charset="-120"/>
              </a:rPr>
              <a:t>Sep '23</a:t>
            </a:r>
            <a:endParaRPr lang="en-US" sz="900" dirty="0"/>
          </a:p>
        </p:txBody>
      </p:sp>
      <p:sp>
        <p:nvSpPr>
          <p:cNvPr id="26" name="Shape 24"/>
          <p:cNvSpPr/>
          <p:nvPr/>
        </p:nvSpPr>
        <p:spPr>
          <a:xfrm>
            <a:off x="6094476" y="4023360"/>
            <a:ext cx="0" cy="292608"/>
          </a:xfrm>
          <a:prstGeom prst="line">
            <a:avLst/>
          </a:prstGeom>
          <a:noFill/>
          <a:ln w="12700">
            <a:solidFill>
              <a:srgbClr val="D0DAE6"/>
            </a:solidFill>
            <a:prstDash val="solid"/>
          </a:ln>
        </p:spPr>
        <p:txBody>
          <a:bodyPr wrap="square"/>
          <a:p/>
        </p:txBody>
      </p:sp>
      <p:sp>
        <p:nvSpPr>
          <p:cNvPr id="27" name="Shape 25"/>
          <p:cNvSpPr/>
          <p:nvPr/>
        </p:nvSpPr>
        <p:spPr>
          <a:xfrm>
            <a:off x="5399532" y="4389120"/>
            <a:ext cx="1389888" cy="1298448"/>
          </a:xfrm>
          <a:prstGeom prst="roundRect">
            <a:avLst>
              <a:gd name="adj" fmla="val 4225"/>
            </a:avLst>
          </a:prstGeom>
          <a:solidFill>
            <a:srgbClr val="FFFFFF"/>
          </a:solidFill>
          <a:ln w="12700">
            <a:solidFill>
              <a:srgbClr val="DBE4F0"/>
            </a:solidFill>
            <a:prstDash val="solid"/>
          </a:ln>
        </p:spPr>
        <p:txBody>
          <a:bodyPr wrap="square"/>
          <a:p/>
        </p:txBody>
      </p:sp>
      <p:sp>
        <p:nvSpPr>
          <p:cNvPr id="28" name="Text 26"/>
          <p:cNvSpPr/>
          <p:nvPr/>
        </p:nvSpPr>
        <p:spPr>
          <a:xfrm>
            <a:off x="5509260" y="4498848"/>
            <a:ext cx="1170432" cy="274320"/>
          </a:xfrm>
          <a:prstGeom prst="rect">
            <a:avLst/>
          </a:prstGeom>
          <a:noFill/>
          <a:ln/>
        </p:spPr>
        <p:txBody>
          <a:bodyPr wrap="square" lIns="25400" tIns="25400" rIns="25400" bIns="25400" rtlCol="0" anchor="t"/>
          <a:lstStyle/>
          <a:p>
            <a:pPr indent="0" marL="0" algn="ctr">
              <a:lnSpc>
                <a:spcPct val="102000"/>
              </a:lnSpc>
              <a:spcBef>
                <a:spcPts val="0"/>
              </a:spcBef>
              <a:spcAft>
                <a:spcPts val="0"/>
              </a:spcAft>
              <a:buNone/>
            </a:pPr>
            <a:r>
              <a:rPr lang="en-US" sz="1120" b="1" dirty="0">
                <a:solidFill>
                  <a:srgbClr val="0B1330"/>
                </a:solidFill>
                <a:latin typeface="Aptos Display" pitchFamily="34" charset="0"/>
                <a:ea typeface="Cambria" pitchFamily="34" charset="-122"/>
                <a:cs typeface="Cambria" pitchFamily="34" charset="-120"/>
              </a:rPr>
              <a:t>First Knee Meniscus</a:t>
            </a:r>
            <a:endParaRPr lang="en-US" sz="1000" dirty="0"/>
          </a:p>
        </p:txBody>
      </p:sp>
      <p:sp>
        <p:nvSpPr>
          <p:cNvPr id="29" name="Text 27"/>
          <p:cNvSpPr/>
          <p:nvPr/>
        </p:nvSpPr>
        <p:spPr>
          <a:xfrm>
            <a:off x="5509260" y="4791456"/>
            <a:ext cx="1170432" cy="841248"/>
          </a:xfrm>
          <a:prstGeom prst="rect">
            <a:avLst/>
          </a:prstGeom>
          <a:noFill/>
          <a:ln/>
        </p:spPr>
        <p:txBody>
          <a:bodyPr wrap="square" lIns="25400" tIns="25400" rIns="25400" bIns="25400" rtlCol="0" anchor="t"/>
          <a:lstStyle/>
          <a:p>
            <a:pPr indent="0" marL="0" algn="ctr">
              <a:lnSpc>
                <a:spcPct val="102000"/>
              </a:lnSpc>
              <a:spcBef>
                <a:spcPts val="0"/>
              </a:spcBef>
              <a:spcAft>
                <a:spcPts val="0"/>
              </a:spcAft>
              <a:buNone/>
            </a:pPr>
            <a:r>
              <a:rPr lang="en-US" sz="850" dirty="0">
                <a:solidFill>
                  <a:srgbClr val="3D4663"/>
                </a:solidFill>
                <a:latin typeface="Aptos" pitchFamily="34" charset="0"/>
                <a:ea typeface="Calibri" pitchFamily="34" charset="-122"/>
                <a:cs typeface="Calibri" pitchFamily="34" charset="-120"/>
              </a:rPr>
              <a:t>Redwire BFF prints first human knee meniscus in orbit - musculoskeletal milestone</a:t>
            </a:r>
            <a:endParaRPr lang="en-US" sz="830" dirty="0"/>
          </a:p>
        </p:txBody>
      </p:sp>
      <p:sp>
        <p:nvSpPr>
          <p:cNvPr id="30" name="Shape 28"/>
          <p:cNvSpPr/>
          <p:nvPr/>
        </p:nvSpPr>
        <p:spPr>
          <a:xfrm>
            <a:off x="7607808" y="3840480"/>
            <a:ext cx="182880" cy="182880"/>
          </a:xfrm>
          <a:prstGeom prst="ellipse">
            <a:avLst/>
          </a:prstGeom>
          <a:solidFill>
            <a:srgbClr val="0A8F78"/>
          </a:solidFill>
          <a:ln w="12700">
            <a:noFill/>
            <a:prstDash val="solid"/>
          </a:ln>
        </p:spPr>
        <p:txBody>
          <a:bodyPr wrap="square"/>
          <a:p/>
        </p:txBody>
      </p:sp>
      <p:sp>
        <p:nvSpPr>
          <p:cNvPr id="31" name="Text 29"/>
          <p:cNvSpPr/>
          <p:nvPr/>
        </p:nvSpPr>
        <p:spPr>
          <a:xfrm>
            <a:off x="7242048" y="4096512"/>
            <a:ext cx="914400" cy="219456"/>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00" b="1" dirty="0">
                <a:solidFill>
                  <a:srgbClr val="0A8F78"/>
                </a:solidFill>
                <a:latin typeface="Aptos" pitchFamily="34" charset="0"/>
                <a:ea typeface="Calibri" pitchFamily="34" charset="-122"/>
                <a:cs typeface="Calibri" pitchFamily="34" charset="-120"/>
              </a:rPr>
              <a:t>May '24</a:t>
            </a:r>
            <a:endParaRPr lang="en-US" sz="900" dirty="0"/>
          </a:p>
        </p:txBody>
      </p:sp>
      <p:sp>
        <p:nvSpPr>
          <p:cNvPr id="32" name="Shape 30"/>
          <p:cNvSpPr/>
          <p:nvPr/>
        </p:nvSpPr>
        <p:spPr>
          <a:xfrm>
            <a:off x="7699248" y="3584448"/>
            <a:ext cx="0" cy="256032"/>
          </a:xfrm>
          <a:prstGeom prst="line">
            <a:avLst/>
          </a:prstGeom>
          <a:noFill/>
          <a:ln w="12700">
            <a:solidFill>
              <a:srgbClr val="D0DAE6"/>
            </a:solidFill>
            <a:prstDash val="solid"/>
          </a:ln>
        </p:spPr>
        <p:txBody>
          <a:bodyPr wrap="square"/>
          <a:p/>
        </p:txBody>
      </p:sp>
      <p:sp>
        <p:nvSpPr>
          <p:cNvPr id="33" name="Shape 31"/>
          <p:cNvSpPr/>
          <p:nvPr/>
        </p:nvSpPr>
        <p:spPr>
          <a:xfrm>
            <a:off x="7004304" y="2286000"/>
            <a:ext cx="1389888" cy="1298448"/>
          </a:xfrm>
          <a:prstGeom prst="roundRect">
            <a:avLst>
              <a:gd name="adj" fmla="val 4225"/>
            </a:avLst>
          </a:prstGeom>
          <a:solidFill>
            <a:srgbClr val="FFFFFF"/>
          </a:solidFill>
          <a:ln w="12700">
            <a:solidFill>
              <a:srgbClr val="DBE4F0"/>
            </a:solidFill>
            <a:prstDash val="solid"/>
          </a:ln>
        </p:spPr>
        <p:txBody>
          <a:bodyPr wrap="square"/>
          <a:p/>
        </p:txBody>
      </p:sp>
      <p:sp>
        <p:nvSpPr>
          <p:cNvPr id="34" name="Text 32"/>
          <p:cNvSpPr/>
          <p:nvPr/>
        </p:nvSpPr>
        <p:spPr>
          <a:xfrm>
            <a:off x="7114032" y="2395728"/>
            <a:ext cx="1170432" cy="274320"/>
          </a:xfrm>
          <a:prstGeom prst="rect">
            <a:avLst/>
          </a:prstGeom>
          <a:noFill/>
          <a:ln/>
        </p:spPr>
        <p:txBody>
          <a:bodyPr wrap="square" lIns="25400" tIns="25400" rIns="25400" bIns="25400" rtlCol="0" anchor="t"/>
          <a:lstStyle/>
          <a:p>
            <a:pPr indent="0" marL="0" algn="ctr">
              <a:lnSpc>
                <a:spcPct val="102000"/>
              </a:lnSpc>
              <a:spcBef>
                <a:spcPts val="0"/>
              </a:spcBef>
              <a:spcAft>
                <a:spcPts val="0"/>
              </a:spcAft>
              <a:buNone/>
            </a:pPr>
            <a:r>
              <a:rPr lang="en-US" sz="1120" b="1" dirty="0">
                <a:solidFill>
                  <a:srgbClr val="0B1330"/>
                </a:solidFill>
                <a:latin typeface="Aptos Display" pitchFamily="34" charset="0"/>
                <a:ea typeface="Cambria" pitchFamily="34" charset="-122"/>
                <a:cs typeface="Cambria" pitchFamily="34" charset="-120"/>
              </a:rPr>
              <a:t>First Cardiac Tissue</a:t>
            </a:r>
            <a:endParaRPr lang="en-US" sz="1000" dirty="0"/>
          </a:p>
        </p:txBody>
      </p:sp>
      <p:sp>
        <p:nvSpPr>
          <p:cNvPr id="35" name="Text 33"/>
          <p:cNvSpPr/>
          <p:nvPr/>
        </p:nvSpPr>
        <p:spPr>
          <a:xfrm>
            <a:off x="7114032" y="2688336"/>
            <a:ext cx="1170432" cy="841248"/>
          </a:xfrm>
          <a:prstGeom prst="rect">
            <a:avLst/>
          </a:prstGeom>
          <a:noFill/>
          <a:ln/>
        </p:spPr>
        <p:txBody>
          <a:bodyPr wrap="square" lIns="25400" tIns="25400" rIns="25400" bIns="25400" rtlCol="0" anchor="t"/>
          <a:lstStyle/>
          <a:p>
            <a:pPr indent="0" marL="0" algn="ctr">
              <a:lnSpc>
                <a:spcPct val="102000"/>
              </a:lnSpc>
              <a:spcBef>
                <a:spcPts val="0"/>
              </a:spcBef>
              <a:spcAft>
                <a:spcPts val="0"/>
              </a:spcAft>
              <a:buNone/>
            </a:pPr>
            <a:r>
              <a:rPr lang="en-US" sz="850" dirty="0">
                <a:solidFill>
                  <a:srgbClr val="3D4663"/>
                </a:solidFill>
                <a:latin typeface="Aptos" pitchFamily="34" charset="0"/>
                <a:ea typeface="Calibri" pitchFamily="34" charset="-122"/>
                <a:cs typeface="Calibri" pitchFamily="34" charset="-120"/>
              </a:rPr>
              <a:t>Redwire returns first live 3D-bioprinted human cardiac tissue from ISS under BFF-Cardiac</a:t>
            </a:r>
            <a:endParaRPr lang="en-US" sz="830" dirty="0"/>
          </a:p>
        </p:txBody>
      </p:sp>
      <p:sp>
        <p:nvSpPr>
          <p:cNvPr id="36" name="Shape 34"/>
          <p:cNvSpPr/>
          <p:nvPr/>
        </p:nvSpPr>
        <p:spPr>
          <a:xfrm>
            <a:off x="9212580" y="3840480"/>
            <a:ext cx="182880" cy="182880"/>
          </a:xfrm>
          <a:prstGeom prst="ellipse">
            <a:avLst/>
          </a:prstGeom>
          <a:solidFill>
            <a:srgbClr val="0A8F78"/>
          </a:solidFill>
          <a:ln w="12700">
            <a:noFill/>
            <a:prstDash val="solid"/>
          </a:ln>
        </p:spPr>
        <p:txBody>
          <a:bodyPr wrap="square"/>
          <a:p/>
        </p:txBody>
      </p:sp>
      <p:sp>
        <p:nvSpPr>
          <p:cNvPr id="37" name="Text 35"/>
          <p:cNvSpPr/>
          <p:nvPr/>
        </p:nvSpPr>
        <p:spPr>
          <a:xfrm>
            <a:off x="8846820" y="4096512"/>
            <a:ext cx="914400" cy="219456"/>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00" b="1" dirty="0">
                <a:solidFill>
                  <a:srgbClr val="0A8F78"/>
                </a:solidFill>
                <a:latin typeface="Aptos" pitchFamily="34" charset="0"/>
                <a:ea typeface="Calibri" pitchFamily="34" charset="-122"/>
                <a:cs typeface="Calibri" pitchFamily="34" charset="-120"/>
              </a:rPr>
              <a:t>Sep '25</a:t>
            </a:r>
            <a:endParaRPr lang="en-US" sz="900" dirty="0"/>
          </a:p>
        </p:txBody>
      </p:sp>
      <p:sp>
        <p:nvSpPr>
          <p:cNvPr id="38" name="Shape 36"/>
          <p:cNvSpPr/>
          <p:nvPr/>
        </p:nvSpPr>
        <p:spPr>
          <a:xfrm>
            <a:off x="9304020" y="4023360"/>
            <a:ext cx="0" cy="292608"/>
          </a:xfrm>
          <a:prstGeom prst="line">
            <a:avLst/>
          </a:prstGeom>
          <a:noFill/>
          <a:ln w="12700">
            <a:solidFill>
              <a:srgbClr val="D0DAE6"/>
            </a:solidFill>
            <a:prstDash val="solid"/>
          </a:ln>
        </p:spPr>
        <p:txBody>
          <a:bodyPr wrap="square"/>
          <a:p/>
        </p:txBody>
      </p:sp>
      <p:sp>
        <p:nvSpPr>
          <p:cNvPr id="39" name="Shape 37"/>
          <p:cNvSpPr/>
          <p:nvPr/>
        </p:nvSpPr>
        <p:spPr>
          <a:xfrm>
            <a:off x="8609076" y="4389120"/>
            <a:ext cx="1389888" cy="1298448"/>
          </a:xfrm>
          <a:prstGeom prst="roundRect">
            <a:avLst>
              <a:gd name="adj" fmla="val 4225"/>
            </a:avLst>
          </a:prstGeom>
          <a:solidFill>
            <a:srgbClr val="FFFFFF"/>
          </a:solidFill>
          <a:ln w="12700">
            <a:solidFill>
              <a:srgbClr val="DBE4F0"/>
            </a:solidFill>
            <a:prstDash val="solid"/>
          </a:ln>
        </p:spPr>
        <p:txBody>
          <a:bodyPr wrap="square"/>
          <a:p/>
        </p:txBody>
      </p:sp>
      <p:sp>
        <p:nvSpPr>
          <p:cNvPr id="40" name="Text 38"/>
          <p:cNvSpPr/>
          <p:nvPr/>
        </p:nvSpPr>
        <p:spPr>
          <a:xfrm>
            <a:off x="8718804" y="4498848"/>
            <a:ext cx="1170432" cy="274320"/>
          </a:xfrm>
          <a:prstGeom prst="rect">
            <a:avLst/>
          </a:prstGeom>
          <a:noFill/>
          <a:ln/>
        </p:spPr>
        <p:txBody>
          <a:bodyPr wrap="square" lIns="25400" tIns="25400" rIns="25400" bIns="25400" rtlCol="0" anchor="t"/>
          <a:lstStyle/>
          <a:p>
            <a:pPr indent="0" marL="0" algn="ctr">
              <a:lnSpc>
                <a:spcPct val="102000"/>
              </a:lnSpc>
              <a:spcBef>
                <a:spcPts val="0"/>
              </a:spcBef>
              <a:spcAft>
                <a:spcPts val="0"/>
              </a:spcAft>
              <a:buNone/>
            </a:pPr>
            <a:r>
              <a:rPr lang="en-US" sz="1120" b="1" dirty="0">
                <a:solidFill>
                  <a:srgbClr val="0B1330"/>
                </a:solidFill>
                <a:latin typeface="Aptos Display" pitchFamily="34" charset="0"/>
                <a:ea typeface="Cambria" pitchFamily="34" charset="-122"/>
                <a:cs typeface="Cambria" pitchFamily="34" charset="-120"/>
              </a:rPr>
              <a:t>Grants &amp; Contracts</a:t>
            </a:r>
            <a:endParaRPr lang="en-US" sz="1000" dirty="0"/>
          </a:p>
        </p:txBody>
      </p:sp>
      <p:sp>
        <p:nvSpPr>
          <p:cNvPr id="41" name="Text 39"/>
          <p:cNvSpPr/>
          <p:nvPr/>
        </p:nvSpPr>
        <p:spPr>
          <a:xfrm>
            <a:off x="8718804" y="4791456"/>
            <a:ext cx="1170432" cy="841248"/>
          </a:xfrm>
          <a:prstGeom prst="rect">
            <a:avLst/>
          </a:prstGeom>
          <a:noFill/>
          <a:ln/>
        </p:spPr>
        <p:txBody>
          <a:bodyPr wrap="square" lIns="25400" tIns="25400" rIns="25400" bIns="25400" rtlCol="0" anchor="t"/>
          <a:lstStyle/>
          <a:p>
            <a:pPr indent="0" marL="0" algn="ctr">
              <a:lnSpc>
                <a:spcPct val="102000"/>
              </a:lnSpc>
              <a:spcBef>
                <a:spcPts val="0"/>
              </a:spcBef>
              <a:spcAft>
                <a:spcPts val="0"/>
              </a:spcAft>
              <a:buNone/>
            </a:pPr>
            <a:r>
              <a:rPr lang="en-US" sz="850" dirty="0">
                <a:solidFill>
                  <a:srgbClr val="3D4663"/>
                </a:solidFill>
                <a:latin typeface="Aptos" pitchFamily="34" charset="0"/>
                <a:ea typeface="Calibri" pitchFamily="34" charset="-122"/>
                <a:cs typeface="Calibri" pitchFamily="34" charset="-120"/>
              </a:rPr>
              <a:t>LambdaVision wins NASA InSPA Phase 2; Redwire awarded $25M NASA IDIQ for continued ISS work</a:t>
            </a:r>
            <a:endParaRPr lang="en-US" sz="830" dirty="0"/>
          </a:p>
        </p:txBody>
      </p:sp>
      <p:sp>
        <p:nvSpPr>
          <p:cNvPr id="42" name="Shape 40"/>
          <p:cNvSpPr/>
          <p:nvPr/>
        </p:nvSpPr>
        <p:spPr>
          <a:xfrm>
            <a:off x="10817352" y="3840480"/>
            <a:ext cx="182880" cy="182880"/>
          </a:xfrm>
          <a:prstGeom prst="ellipse">
            <a:avLst/>
          </a:prstGeom>
          <a:solidFill>
            <a:srgbClr val="0A8F78"/>
          </a:solidFill>
          <a:ln w="12700">
            <a:noFill/>
            <a:prstDash val="solid"/>
          </a:ln>
        </p:spPr>
        <p:txBody>
          <a:bodyPr wrap="square"/>
          <a:p/>
        </p:txBody>
      </p:sp>
      <p:sp>
        <p:nvSpPr>
          <p:cNvPr id="43" name="Text 41"/>
          <p:cNvSpPr/>
          <p:nvPr/>
        </p:nvSpPr>
        <p:spPr>
          <a:xfrm>
            <a:off x="10451592" y="4096512"/>
            <a:ext cx="914400" cy="219456"/>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00" b="1" dirty="0">
                <a:solidFill>
                  <a:srgbClr val="0A8F78"/>
                </a:solidFill>
                <a:latin typeface="Aptos" pitchFamily="34" charset="0"/>
                <a:ea typeface="Calibri" pitchFamily="34" charset="-122"/>
                <a:cs typeface="Calibri" pitchFamily="34" charset="-120"/>
              </a:rPr>
              <a:t>2026</a:t>
            </a:r>
            <a:endParaRPr lang="en-US" sz="900" dirty="0"/>
          </a:p>
        </p:txBody>
      </p:sp>
      <p:sp>
        <p:nvSpPr>
          <p:cNvPr id="44" name="Shape 42"/>
          <p:cNvSpPr/>
          <p:nvPr/>
        </p:nvSpPr>
        <p:spPr>
          <a:xfrm>
            <a:off x="10908792" y="3584448"/>
            <a:ext cx="0" cy="256032"/>
          </a:xfrm>
          <a:prstGeom prst="line">
            <a:avLst/>
          </a:prstGeom>
          <a:noFill/>
          <a:ln w="12700">
            <a:solidFill>
              <a:srgbClr val="D0DAE6"/>
            </a:solidFill>
            <a:prstDash val="solid"/>
          </a:ln>
        </p:spPr>
        <p:txBody>
          <a:bodyPr wrap="square"/>
          <a:p/>
        </p:txBody>
      </p:sp>
      <p:sp>
        <p:nvSpPr>
          <p:cNvPr id="45" name="Shape 43"/>
          <p:cNvSpPr/>
          <p:nvPr/>
        </p:nvSpPr>
        <p:spPr>
          <a:xfrm>
            <a:off x="9564624" y="2286000"/>
            <a:ext cx="1389888" cy="1298448"/>
          </a:xfrm>
          <a:prstGeom prst="roundRect">
            <a:avLst>
              <a:gd name="adj" fmla="val 4225"/>
            </a:avLst>
          </a:prstGeom>
          <a:solidFill>
            <a:srgbClr val="FFFFFF"/>
          </a:solidFill>
          <a:ln w="12700">
            <a:solidFill>
              <a:srgbClr val="DBE4F0"/>
            </a:solidFill>
            <a:prstDash val="solid"/>
          </a:ln>
        </p:spPr>
        <p:txBody>
          <a:bodyPr wrap="square"/>
          <a:p/>
        </p:txBody>
      </p:sp>
      <p:sp>
        <p:nvSpPr>
          <p:cNvPr id="46" name="Text 44"/>
          <p:cNvSpPr/>
          <p:nvPr/>
        </p:nvSpPr>
        <p:spPr>
          <a:xfrm>
            <a:off x="9674352" y="2395728"/>
            <a:ext cx="1170432" cy="274320"/>
          </a:xfrm>
          <a:prstGeom prst="rect">
            <a:avLst/>
          </a:prstGeom>
          <a:noFill/>
          <a:ln/>
        </p:spPr>
        <p:txBody>
          <a:bodyPr wrap="square" lIns="25400" tIns="25400" rIns="25400" bIns="25400" rtlCol="0" anchor="t"/>
          <a:lstStyle/>
          <a:p>
            <a:pPr indent="0" marL="0" algn="ctr">
              <a:lnSpc>
                <a:spcPct val="102000"/>
              </a:lnSpc>
              <a:spcBef>
                <a:spcPts val="0"/>
              </a:spcBef>
              <a:spcAft>
                <a:spcPts val="0"/>
              </a:spcAft>
              <a:buNone/>
            </a:pPr>
            <a:r>
              <a:rPr lang="en-US" sz="1120" b="1" dirty="0">
                <a:solidFill>
                  <a:srgbClr val="0B1330"/>
                </a:solidFill>
                <a:latin typeface="Aptos Display" pitchFamily="34" charset="0"/>
                <a:ea typeface="Cambria" pitchFamily="34" charset="-122"/>
                <a:cs typeface="Cambria" pitchFamily="34" charset="-120"/>
              </a:rPr>
              <a:t>Commercial Pivot</a:t>
            </a:r>
            <a:endParaRPr lang="en-US" sz="1000" dirty="0"/>
          </a:p>
        </p:txBody>
      </p:sp>
      <p:sp>
        <p:nvSpPr>
          <p:cNvPr id="47" name="Text 45"/>
          <p:cNvSpPr/>
          <p:nvPr/>
        </p:nvSpPr>
        <p:spPr>
          <a:xfrm>
            <a:off x="9674352" y="2688336"/>
            <a:ext cx="1170432" cy="841248"/>
          </a:xfrm>
          <a:prstGeom prst="rect">
            <a:avLst/>
          </a:prstGeom>
          <a:noFill/>
          <a:ln/>
        </p:spPr>
        <p:txBody>
          <a:bodyPr wrap="square" lIns="25400" tIns="25400" rIns="25400" bIns="25400" rtlCol="0" anchor="t"/>
          <a:lstStyle/>
          <a:p>
            <a:pPr indent="0" marL="0" algn="ctr">
              <a:lnSpc>
                <a:spcPct val="102000"/>
              </a:lnSpc>
              <a:spcBef>
                <a:spcPts val="0"/>
              </a:spcBef>
              <a:spcAft>
                <a:spcPts val="0"/>
              </a:spcAft>
              <a:buNone/>
            </a:pPr>
            <a:r>
              <a:rPr lang="en-US" sz="850" dirty="0">
                <a:solidFill>
                  <a:srgbClr val="3D4663"/>
                </a:solidFill>
                <a:latin typeface="Aptos" pitchFamily="34" charset="0"/>
                <a:ea typeface="Calibri" pitchFamily="34" charset="-122"/>
                <a:cs typeface="Calibri" pitchFamily="34" charset="-120"/>
              </a:rPr>
              <a:t>LambdaVision closes $7M seed; commercial station payload slots reserved ahead of ISS 2030 retirement</a:t>
            </a:r>
            <a:endParaRPr lang="en-US" sz="830" dirty="0"/>
          </a:p>
        </p:txBody>
      </p:sp>
      <p:sp>
        <p:nvSpPr>
          <p:cNvPr id="48" name="Text 46"/>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MARKET OPPORTUNITY</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A Rapidly Expanding Global Addressable Market</a:t>
            </a:r>
            <a:endParaRPr lang="en-US" sz="2700" dirty="0"/>
          </a:p>
        </p:txBody>
      </p:sp>
      <p:sp>
        <p:nvSpPr>
          <p:cNvPr id="4" name="Text 2"/>
          <p:cNvSpPr/>
          <p:nvPr/>
        </p:nvSpPr>
        <p:spPr>
          <a:xfrm>
            <a:off x="457200" y="1408176"/>
            <a:ext cx="5943600" cy="274320"/>
          </a:xfrm>
          <a:prstGeom prst="rect">
            <a:avLst/>
          </a:prstGeom>
          <a:noFill/>
          <a:ln/>
        </p:spPr>
        <p:txBody>
          <a:bodyPr wrap="square" lIns="0" tIns="0" rIns="0" bIns="0" rtlCol="0" anchor="ctr"/>
          <a:lstStyle/>
          <a:p>
            <a:pPr indent="0" marL="0">
              <a:buNone/>
            </a:pPr>
            <a:r>
              <a:rPr lang="en-US" sz="1200" b="1" dirty="0">
                <a:solidFill>
                  <a:srgbClr val="0B1330"/>
                </a:solidFill>
                <a:latin typeface="Aptos" pitchFamily="34" charset="0"/>
                <a:ea typeface="Calibri" pitchFamily="34" charset="-122"/>
                <a:cs typeface="Calibri" pitchFamily="34" charset="-120"/>
              </a:rPr>
              <a:t>Global 3D Bioprinting Market 2023-2030 (USD $B)</a:t>
            </a:r>
            <a:endParaRPr lang="en-US" sz="1200" dirty="0"/>
          </a:p>
        </p:txBody>
      </p:sp>
      <p:graphicFrame>
        <p:nvGraphicFramePr>
          <p:cNvPr id="5" name="Chart 0" descr=""/>
          <p:cNvGraphicFramePr/>
          <p:nvPr/>
        </p:nvGraphicFramePr>
        <p:xfrm>
          <a:off x="457200" y="1700784"/>
          <a:ext cx="5943600" cy="33832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5138928"/>
            <a:ext cx="5943600" cy="20116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860" i="1" dirty="0">
                <a:solidFill>
                  <a:srgbClr val="64739A"/>
                </a:solidFill>
                <a:latin typeface="Aptos" pitchFamily="34" charset="0"/>
                <a:ea typeface="Calibri" pitchFamily="34" charset="-122"/>
                <a:cs typeface="Calibri" pitchFamily="34" charset="-120"/>
              </a:rPr>
              <a:t>Source: Mordor Intelligence, 3D Bioprinting Market Report, Jan 2026 | ~15.9% CAGR</a:t>
            </a:r>
            <a:endParaRPr lang="en-US" sz="850" dirty="0"/>
          </a:p>
        </p:txBody>
      </p:sp>
      <p:sp>
        <p:nvSpPr>
          <p:cNvPr id="7" name="Shape 4"/>
          <p:cNvSpPr/>
          <p:nvPr/>
        </p:nvSpPr>
        <p:spPr>
          <a:xfrm>
            <a:off x="6400800" y="1463040"/>
            <a:ext cx="5166360" cy="822960"/>
          </a:xfrm>
          <a:prstGeom prst="roundRect">
            <a:avLst>
              <a:gd name="adj" fmla="val 10000"/>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8" name="Text 5"/>
          <p:cNvSpPr/>
          <p:nvPr/>
        </p:nvSpPr>
        <p:spPr>
          <a:xfrm>
            <a:off x="6565392" y="1536192"/>
            <a:ext cx="1737360" cy="67665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800" b="1" dirty="0">
                <a:solidFill>
                  <a:srgbClr val="0A8F78"/>
                </a:solidFill>
                <a:latin typeface="Aptos Display" pitchFamily="34" charset="0"/>
                <a:ea typeface="Cambria" pitchFamily="34" charset="-122"/>
                <a:cs typeface="Cambria" pitchFamily="34" charset="-120"/>
              </a:rPr>
              <a:t>$3.5B+</a:t>
            </a:r>
            <a:endParaRPr lang="en-US" sz="1550" dirty="0"/>
          </a:p>
        </p:txBody>
      </p:sp>
      <p:sp>
        <p:nvSpPr>
          <p:cNvPr id="9" name="Text 6"/>
          <p:cNvSpPr/>
          <p:nvPr/>
        </p:nvSpPr>
        <p:spPr>
          <a:xfrm>
            <a:off x="8412480" y="1536192"/>
            <a:ext cx="3035808" cy="67665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60" dirty="0">
                <a:solidFill>
                  <a:srgbClr val="3D4663"/>
                </a:solidFill>
                <a:latin typeface="Aptos" pitchFamily="34" charset="0"/>
                <a:ea typeface="Calibri" pitchFamily="34" charset="-122"/>
                <a:cs typeface="Calibri" pitchFamily="34" charset="-120"/>
              </a:rPr>
              <a:t>Projected global 3D bioprinting market by 2030 at ~15.9% CAGR (Mordor Intelligence, Jan 2026)</a:t>
            </a:r>
            <a:endParaRPr lang="en-US" sz="950" dirty="0"/>
          </a:p>
        </p:txBody>
      </p:sp>
      <p:sp>
        <p:nvSpPr>
          <p:cNvPr id="10" name="Shape 7"/>
          <p:cNvSpPr/>
          <p:nvPr/>
        </p:nvSpPr>
        <p:spPr>
          <a:xfrm>
            <a:off x="6400800" y="2377440"/>
            <a:ext cx="5166360" cy="822960"/>
          </a:xfrm>
          <a:prstGeom prst="roundRect">
            <a:avLst>
              <a:gd name="adj" fmla="val 10000"/>
            </a:avLst>
          </a:prstGeom>
          <a:solidFill>
            <a:srgbClr val="E7F7F3"/>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1" name="Text 8"/>
          <p:cNvSpPr/>
          <p:nvPr/>
        </p:nvSpPr>
        <p:spPr>
          <a:xfrm>
            <a:off x="6565392" y="2450592"/>
            <a:ext cx="1737360" cy="67665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800" b="1" dirty="0">
                <a:solidFill>
                  <a:srgbClr val="0B1330"/>
                </a:solidFill>
                <a:latin typeface="Aptos Display" pitchFamily="34" charset="0"/>
                <a:ea typeface="Cambria" pitchFamily="34" charset="-122"/>
                <a:cs typeface="Cambria" pitchFamily="34" charset="-120"/>
              </a:rPr>
              <a:t>Dec 2024</a:t>
            </a:r>
            <a:endParaRPr lang="en-US" sz="1550" dirty="0"/>
          </a:p>
        </p:txBody>
      </p:sp>
      <p:sp>
        <p:nvSpPr>
          <p:cNvPr id="12" name="Text 9"/>
          <p:cNvSpPr/>
          <p:nvPr/>
        </p:nvSpPr>
        <p:spPr>
          <a:xfrm>
            <a:off x="8412480" y="2450592"/>
            <a:ext cx="3035808" cy="67665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60" dirty="0">
                <a:solidFill>
                  <a:srgbClr val="3D4663"/>
                </a:solidFill>
                <a:latin typeface="Aptos" pitchFamily="34" charset="0"/>
                <a:ea typeface="Calibri" pitchFamily="34" charset="-122"/>
                <a:cs typeface="Calibri" pitchFamily="34" charset="-120"/>
              </a:rPr>
              <a:t>FDA cleared Symvess - first tissue-engineered vascular graft - setting a direct regulatory precedent</a:t>
            </a:r>
            <a:endParaRPr lang="en-US" sz="950" dirty="0"/>
          </a:p>
        </p:txBody>
      </p:sp>
      <p:sp>
        <p:nvSpPr>
          <p:cNvPr id="13" name="Shape 10"/>
          <p:cNvSpPr/>
          <p:nvPr/>
        </p:nvSpPr>
        <p:spPr>
          <a:xfrm>
            <a:off x="6400800" y="3291840"/>
            <a:ext cx="5166360" cy="822960"/>
          </a:xfrm>
          <a:prstGeom prst="roundRect">
            <a:avLst>
              <a:gd name="adj" fmla="val 10000"/>
            </a:avLst>
          </a:prstGeom>
          <a:solidFill>
            <a:srgbClr val="ECF2F9"/>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4" name="Text 11"/>
          <p:cNvSpPr/>
          <p:nvPr/>
        </p:nvSpPr>
        <p:spPr>
          <a:xfrm>
            <a:off x="6565392" y="3364992"/>
            <a:ext cx="1737360" cy="67665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800" b="1" dirty="0">
                <a:solidFill>
                  <a:srgbClr val="0B1330"/>
                </a:solidFill>
                <a:latin typeface="Aptos Display" pitchFamily="34" charset="0"/>
                <a:ea typeface="Cambria" pitchFamily="34" charset="-122"/>
                <a:cs typeface="Cambria" pitchFamily="34" charset="-120"/>
              </a:rPr>
              <a:t>$420M+</a:t>
            </a:r>
            <a:endParaRPr lang="en-US" sz="1550" dirty="0"/>
          </a:p>
        </p:txBody>
      </p:sp>
      <p:sp>
        <p:nvSpPr>
          <p:cNvPr id="15" name="Text 12"/>
          <p:cNvSpPr/>
          <p:nvPr/>
        </p:nvSpPr>
        <p:spPr>
          <a:xfrm>
            <a:off x="8412480" y="3364992"/>
            <a:ext cx="3035808" cy="67665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60" dirty="0">
                <a:solidFill>
                  <a:srgbClr val="3D4663"/>
                </a:solidFill>
                <a:latin typeface="Aptos" pitchFamily="34" charset="0"/>
                <a:ea typeface="Calibri" pitchFamily="34" charset="-122"/>
                <a:cs typeface="Calibri" pitchFamily="34" charset="-120"/>
              </a:rPr>
              <a:t>Committed by pharma companies to commercial-station research programs through 2030 (industry research)</a:t>
            </a:r>
            <a:endParaRPr lang="en-US" sz="950" dirty="0"/>
          </a:p>
        </p:txBody>
      </p:sp>
      <p:sp>
        <p:nvSpPr>
          <p:cNvPr id="16" name="Shape 13"/>
          <p:cNvSpPr/>
          <p:nvPr/>
        </p:nvSpPr>
        <p:spPr>
          <a:xfrm>
            <a:off x="6400800" y="4206240"/>
            <a:ext cx="5166360" cy="822960"/>
          </a:xfrm>
          <a:prstGeom prst="roundRect">
            <a:avLst>
              <a:gd name="adj" fmla="val 10000"/>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7" name="Text 14"/>
          <p:cNvSpPr/>
          <p:nvPr/>
        </p:nvSpPr>
        <p:spPr>
          <a:xfrm>
            <a:off x="6565392" y="4279392"/>
            <a:ext cx="1737360" cy="67665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800" b="1" dirty="0">
                <a:solidFill>
                  <a:srgbClr val="0B1330"/>
                </a:solidFill>
                <a:latin typeface="Aptos Display" pitchFamily="34" charset="0"/>
                <a:ea typeface="Cambria" pitchFamily="34" charset="-122"/>
                <a:cs typeface="Cambria" pitchFamily="34" charset="-120"/>
              </a:rPr>
              <a:t>$200-400M</a:t>
            </a:r>
            <a:endParaRPr lang="en-US" sz="1550" dirty="0"/>
          </a:p>
        </p:txBody>
      </p:sp>
      <p:sp>
        <p:nvSpPr>
          <p:cNvPr id="18" name="Text 15"/>
          <p:cNvSpPr/>
          <p:nvPr/>
        </p:nvSpPr>
        <p:spPr>
          <a:xfrm>
            <a:off x="8412480" y="4279392"/>
            <a:ext cx="3035808" cy="67665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60" dirty="0">
                <a:solidFill>
                  <a:srgbClr val="3D4663"/>
                </a:solidFill>
                <a:latin typeface="Aptos" pitchFamily="34" charset="0"/>
                <a:ea typeface="Calibri" pitchFamily="34" charset="-122"/>
                <a:cs typeface="Calibri" pitchFamily="34" charset="-120"/>
              </a:rPr>
              <a:t>Samuel's estimated initial SAM by 2030 (cardiac patches, ortho grafts, retinal constructs)</a:t>
            </a:r>
            <a:endParaRPr lang="en-US" sz="950" dirty="0"/>
          </a:p>
        </p:txBody>
      </p:sp>
      <p:sp>
        <p:nvSpPr>
          <p:cNvPr id="19" name="Text 16"/>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MARKET TIMING</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Four Converging Tailwinds Create a Unique Entry Window</a:t>
            </a:r>
            <a:endParaRPr lang="en-US" sz="2700" dirty="0"/>
          </a:p>
        </p:txBody>
      </p:sp>
      <p:sp>
        <p:nvSpPr>
          <p:cNvPr id="4" name="Shape 2"/>
          <p:cNvSpPr/>
          <p:nvPr/>
        </p:nvSpPr>
        <p:spPr>
          <a:xfrm>
            <a:off x="457200" y="1463040"/>
            <a:ext cx="5280660" cy="2194560"/>
          </a:xfrm>
          <a:prstGeom prst="roundRect">
            <a:avLst>
              <a:gd name="adj" fmla="val 3750"/>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5" name="Shape 3"/>
          <p:cNvSpPr/>
          <p:nvPr/>
        </p:nvSpPr>
        <p:spPr>
          <a:xfrm>
            <a:off x="658368" y="1664208"/>
            <a:ext cx="438912" cy="438912"/>
          </a:xfrm>
          <a:prstGeom prst="ellipse">
            <a:avLst/>
          </a:prstGeom>
          <a:solidFill>
            <a:srgbClr val="0A8F78"/>
          </a:solidFill>
          <a:ln w="12700">
            <a:noFill/>
            <a:prstDash val="solid"/>
          </a:ln>
        </p:spPr>
        <p:txBody>
          <a:bodyPr wrap="square"/>
          <a:p/>
        </p:txBody>
      </p:sp>
      <p:pic>
        <p:nvPicPr>
          <p:cNvPr id="6" name="Image 0" descr="/home/claude/samuel_deck/assets/icon_rocket_teal.png">    </p:cNvPr>
          <p:cNvPicPr>
            <a:picLocks noChangeAspect="1"/>
          </p:cNvPicPr>
          <p:nvPr/>
        </p:nvPicPr>
        <p:blipFill>
          <a:blip r:embed="rId1"/>
          <a:stretch>
            <a:fillRect/>
          </a:stretch>
        </p:blipFill>
        <p:spPr>
          <a:xfrm>
            <a:off x="763707" y="1769547"/>
            <a:ext cx="228234" cy="228234"/>
          </a:xfrm>
          <a:prstGeom prst="rect">
            <a:avLst/>
          </a:prstGeom>
        </p:spPr>
      </p:pic>
      <p:sp>
        <p:nvSpPr>
          <p:cNvPr id="7" name="Text 4"/>
          <p:cNvSpPr/>
          <p:nvPr/>
        </p:nvSpPr>
        <p:spPr>
          <a:xfrm>
            <a:off x="1280160" y="1627632"/>
            <a:ext cx="1645920" cy="43891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700" b="1" dirty="0">
                <a:solidFill>
                  <a:srgbClr val="0A8F78"/>
                </a:solidFill>
                <a:latin typeface="Aptos Display" pitchFamily="34" charset="0"/>
                <a:ea typeface="Cambria" pitchFamily="34" charset="-122"/>
                <a:cs typeface="Cambria" pitchFamily="34" charset="-120"/>
              </a:rPr>
              <a:t>~89%</a:t>
            </a:r>
            <a:endParaRPr lang="en-US" sz="1700" dirty="0"/>
          </a:p>
        </p:txBody>
      </p:sp>
      <p:sp>
        <p:nvSpPr>
          <p:cNvPr id="8" name="Text 5"/>
          <p:cNvSpPr/>
          <p:nvPr/>
        </p:nvSpPr>
        <p:spPr>
          <a:xfrm>
            <a:off x="1280160" y="2103120"/>
            <a:ext cx="4274820" cy="21945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b="1">
                <a:solidFill>
                  <a:srgbClr val="3D4663"/>
                </a:solidFill>
                <a:latin typeface="Aptos" pitchFamily="34" charset="0"/>
                <a:ea typeface="Calibri" pitchFamily="34" charset="-122"/>
                <a:cs typeface="Calibri" pitchFamily="34" charset="-120"/>
              </a:rPr>
              <a:t>reduction in launch cost/kg since 2010</a:t>
            </a:r>
            <a:endParaRPr lang="en-US" sz="850" dirty="0"/>
          </a:p>
        </p:txBody>
      </p:sp>
      <p:sp>
        <p:nvSpPr>
          <p:cNvPr id="9" name="Text 6"/>
          <p:cNvSpPr/>
          <p:nvPr/>
        </p:nvSpPr>
        <p:spPr>
          <a:xfrm>
            <a:off x="658368" y="2377440"/>
            <a:ext cx="4878324" cy="29260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Launch Costs Have Collapsed</a:t>
            </a:r>
            <a:endParaRPr lang="en-US" sz="1300" dirty="0"/>
          </a:p>
        </p:txBody>
      </p:sp>
      <p:sp>
        <p:nvSpPr>
          <p:cNvPr id="10" name="Text 7"/>
          <p:cNvSpPr/>
          <p:nvPr/>
        </p:nvSpPr>
        <p:spPr>
          <a:xfrm>
            <a:off x="658368" y="2706624"/>
            <a:ext cx="4878324" cy="86868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19" dirty="0">
                <a:solidFill>
                  <a:srgbClr val="3D4663"/>
                </a:solidFill>
                <a:latin typeface="Aptos" pitchFamily="34" charset="0"/>
                <a:ea typeface="Calibri" pitchFamily="34" charset="-122"/>
                <a:cs typeface="Calibri" pitchFamily="34" charset="-120"/>
              </a:rPr>
              <a:t>Cost-to-orbit has dropped from ~$54,000/kg (Space Shuttle era) to ~$6,000/kg (Falcon 9). Starship is expected to reduce this further. Research payloads that were cost-prohibitive a decade ago are now commercially viable.</a:t>
            </a:r>
            <a:endParaRPr lang="en-US" sz="930" dirty="0"/>
          </a:p>
        </p:txBody>
      </p:sp>
      <p:sp>
        <p:nvSpPr>
          <p:cNvPr id="11" name="Shape 8"/>
          <p:cNvSpPr/>
          <p:nvPr/>
        </p:nvSpPr>
        <p:spPr>
          <a:xfrm>
            <a:off x="5993892" y="1463040"/>
            <a:ext cx="5280660" cy="2194560"/>
          </a:xfrm>
          <a:prstGeom prst="roundRect">
            <a:avLst>
              <a:gd name="adj" fmla="val 3750"/>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2" name="Shape 9"/>
          <p:cNvSpPr/>
          <p:nvPr/>
        </p:nvSpPr>
        <p:spPr>
          <a:xfrm>
            <a:off x="6195060" y="1664208"/>
            <a:ext cx="438912" cy="438912"/>
          </a:xfrm>
          <a:prstGeom prst="ellipse">
            <a:avLst/>
          </a:prstGeom>
          <a:solidFill>
            <a:srgbClr val="0A8F78"/>
          </a:solidFill>
          <a:ln w="12700">
            <a:noFill/>
            <a:prstDash val="solid"/>
          </a:ln>
        </p:spPr>
        <p:txBody>
          <a:bodyPr wrap="square"/>
          <a:p/>
        </p:txBody>
      </p:sp>
      <p:pic>
        <p:nvPicPr>
          <p:cNvPr id="13" name="Image 1" descr="/home/claude/samuel_deck/assets/icon_building_teal.png">    </p:cNvPr>
          <p:cNvPicPr>
            <a:picLocks noChangeAspect="1"/>
          </p:cNvPicPr>
          <p:nvPr/>
        </p:nvPicPr>
        <p:blipFill>
          <a:blip r:embed="rId2"/>
          <a:stretch>
            <a:fillRect/>
          </a:stretch>
        </p:blipFill>
        <p:spPr>
          <a:xfrm>
            <a:off x="6300399" y="1769547"/>
            <a:ext cx="228234" cy="228234"/>
          </a:xfrm>
          <a:prstGeom prst="rect">
            <a:avLst/>
          </a:prstGeom>
        </p:spPr>
      </p:pic>
      <p:sp>
        <p:nvSpPr>
          <p:cNvPr id="14" name="Text 10"/>
          <p:cNvSpPr/>
          <p:nvPr/>
        </p:nvSpPr>
        <p:spPr>
          <a:xfrm>
            <a:off x="6816852" y="1627632"/>
            <a:ext cx="1645920" cy="43891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700" b="1" dirty="0">
                <a:solidFill>
                  <a:srgbClr val="0A8F78"/>
                </a:solidFill>
                <a:latin typeface="Aptos Display" pitchFamily="34" charset="0"/>
                <a:ea typeface="Cambria" pitchFamily="34" charset="-122"/>
                <a:cs typeface="Cambria" pitchFamily="34" charset="-120"/>
              </a:rPr>
              <a:t>4</a:t>
            </a:r>
            <a:endParaRPr lang="en-US" sz="1700" dirty="0"/>
          </a:p>
        </p:txBody>
      </p:sp>
      <p:sp>
        <p:nvSpPr>
          <p:cNvPr id="15" name="Text 11"/>
          <p:cNvSpPr/>
          <p:nvPr/>
        </p:nvSpPr>
        <p:spPr>
          <a:xfrm>
            <a:off x="6816852" y="2103120"/>
            <a:ext cx="4274820" cy="21945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b="1">
                <a:solidFill>
                  <a:srgbClr val="3D4663"/>
                </a:solidFill>
                <a:latin typeface="Aptos" pitchFamily="34" charset="0"/>
                <a:ea typeface="Calibri" pitchFamily="34" charset="-122"/>
                <a:cs typeface="Calibri" pitchFamily="34" charset="-120"/>
              </a:rPr>
              <a:t>NASA-funded commercial station programs</a:t>
            </a:r>
            <a:endParaRPr lang="en-US" sz="850" dirty="0"/>
          </a:p>
        </p:txBody>
      </p:sp>
      <p:sp>
        <p:nvSpPr>
          <p:cNvPr id="16" name="Text 12"/>
          <p:cNvSpPr/>
          <p:nvPr/>
        </p:nvSpPr>
        <p:spPr>
          <a:xfrm>
            <a:off x="6195060" y="2377440"/>
            <a:ext cx="4878324" cy="29260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Commercial Stations Are Coming</a:t>
            </a:r>
            <a:endParaRPr lang="en-US" sz="1300" dirty="0"/>
          </a:p>
        </p:txBody>
      </p:sp>
      <p:sp>
        <p:nvSpPr>
          <p:cNvPr id="17" name="Text 13"/>
          <p:cNvSpPr/>
          <p:nvPr/>
        </p:nvSpPr>
        <p:spPr>
          <a:xfrm>
            <a:off x="6195060" y="2706624"/>
            <a:ext cx="4878324" cy="86868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19" dirty="0">
                <a:solidFill>
                  <a:srgbClr val="3D4663"/>
                </a:solidFill>
                <a:latin typeface="Aptos" pitchFamily="34" charset="0"/>
                <a:ea typeface="Calibri" pitchFamily="34" charset="-122"/>
                <a:cs typeface="Calibri" pitchFamily="34" charset="-120"/>
              </a:rPr>
              <a:t>ISS retires ~2030. NASA's CLD program has funded four successors: Starlab (Voyager/Airbus, targeting 2029), Axiom Station, Orbital Reef (Blue Origin/Sierra Space), and Vast Haven-1. Samuel is designed station-agnostic from day one.</a:t>
            </a:r>
            <a:endParaRPr lang="en-US" sz="930" dirty="0"/>
          </a:p>
        </p:txBody>
      </p:sp>
      <p:sp>
        <p:nvSpPr>
          <p:cNvPr id="18" name="Shape 14"/>
          <p:cNvSpPr/>
          <p:nvPr/>
        </p:nvSpPr>
        <p:spPr>
          <a:xfrm>
            <a:off x="457200" y="3840480"/>
            <a:ext cx="5280660" cy="2194560"/>
          </a:xfrm>
          <a:prstGeom prst="roundRect">
            <a:avLst>
              <a:gd name="adj" fmla="val 3750"/>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9" name="Shape 15"/>
          <p:cNvSpPr/>
          <p:nvPr/>
        </p:nvSpPr>
        <p:spPr>
          <a:xfrm>
            <a:off x="658368" y="4041648"/>
            <a:ext cx="438912" cy="438912"/>
          </a:xfrm>
          <a:prstGeom prst="ellipse">
            <a:avLst/>
          </a:prstGeom>
          <a:solidFill>
            <a:srgbClr val="0A8F78"/>
          </a:solidFill>
          <a:ln w="12700">
            <a:noFill/>
            <a:prstDash val="solid"/>
          </a:ln>
        </p:spPr>
        <p:txBody>
          <a:bodyPr wrap="square"/>
          <a:p/>
        </p:txBody>
      </p:sp>
      <p:pic>
        <p:nvPicPr>
          <p:cNvPr id="20" name="Image 2" descr="/home/claude/samuel_deck/assets/icon_balancescale_teal.png">    </p:cNvPr>
          <p:cNvPicPr>
            <a:picLocks noChangeAspect="1"/>
          </p:cNvPicPr>
          <p:nvPr/>
        </p:nvPicPr>
        <p:blipFill>
          <a:blip r:embed="rId3"/>
          <a:stretch>
            <a:fillRect/>
          </a:stretch>
        </p:blipFill>
        <p:spPr>
          <a:xfrm>
            <a:off x="763707" y="4146987"/>
            <a:ext cx="228234" cy="228234"/>
          </a:xfrm>
          <a:prstGeom prst="rect">
            <a:avLst/>
          </a:prstGeom>
        </p:spPr>
      </p:pic>
      <p:sp>
        <p:nvSpPr>
          <p:cNvPr id="21" name="Text 16"/>
          <p:cNvSpPr/>
          <p:nvPr/>
        </p:nvSpPr>
        <p:spPr>
          <a:xfrm>
            <a:off x="1280160" y="4005072"/>
            <a:ext cx="1645920" cy="43891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700" b="1" dirty="0">
                <a:solidFill>
                  <a:srgbClr val="0A8F78"/>
                </a:solidFill>
                <a:latin typeface="Aptos Display" pitchFamily="34" charset="0"/>
                <a:ea typeface="Cambria" pitchFamily="34" charset="-122"/>
                <a:cs typeface="Cambria" pitchFamily="34" charset="-120"/>
              </a:rPr>
              <a:t>Dec 2024</a:t>
            </a:r>
            <a:endParaRPr lang="en-US" sz="1700" dirty="0"/>
          </a:p>
        </p:txBody>
      </p:sp>
      <p:sp>
        <p:nvSpPr>
          <p:cNvPr id="22" name="Text 17"/>
          <p:cNvSpPr/>
          <p:nvPr/>
        </p:nvSpPr>
        <p:spPr>
          <a:xfrm>
            <a:off x="1280160" y="4480560"/>
            <a:ext cx="4274820" cy="21945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b="1">
                <a:solidFill>
                  <a:srgbClr val="3D4663"/>
                </a:solidFill>
                <a:latin typeface="Aptos" pitchFamily="34" charset="0"/>
                <a:ea typeface="Calibri" pitchFamily="34" charset="-122"/>
                <a:cs typeface="Calibri" pitchFamily="34" charset="-120"/>
              </a:rPr>
              <a:t>First FDA-cleared tissue-engineered vascular graft</a:t>
            </a:r>
            <a:endParaRPr lang="en-US" sz="850" dirty="0"/>
          </a:p>
        </p:txBody>
      </p:sp>
      <p:sp>
        <p:nvSpPr>
          <p:cNvPr id="23" name="Text 18"/>
          <p:cNvSpPr/>
          <p:nvPr/>
        </p:nvSpPr>
        <p:spPr>
          <a:xfrm>
            <a:off x="658368" y="4754880"/>
            <a:ext cx="4878324" cy="29260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Regulatory Precedent Is Set</a:t>
            </a:r>
            <a:endParaRPr lang="en-US" sz="1300" dirty="0"/>
          </a:p>
        </p:txBody>
      </p:sp>
      <p:sp>
        <p:nvSpPr>
          <p:cNvPr id="24" name="Text 19"/>
          <p:cNvSpPr/>
          <p:nvPr/>
        </p:nvSpPr>
        <p:spPr>
          <a:xfrm>
            <a:off x="658368" y="5084064"/>
            <a:ext cx="4878324" cy="86868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19" dirty="0">
                <a:solidFill>
                  <a:srgbClr val="3D4663"/>
                </a:solidFill>
                <a:latin typeface="Aptos" pitchFamily="34" charset="0"/>
                <a:ea typeface="Calibri" pitchFamily="34" charset="-122"/>
                <a:cs typeface="Calibri" pitchFamily="34" charset="-120"/>
              </a:rPr>
              <a:t>The FDA cleared Symvess - the first tissue-engineered synthetic vascular graft - in December 2024. This is the single most important regulatory precedent for clinical bioprinted tissue and validates the FDA's review pathway.</a:t>
            </a:r>
            <a:endParaRPr lang="en-US" sz="930" dirty="0"/>
          </a:p>
        </p:txBody>
      </p:sp>
      <p:sp>
        <p:nvSpPr>
          <p:cNvPr id="25" name="Shape 20"/>
          <p:cNvSpPr/>
          <p:nvPr/>
        </p:nvSpPr>
        <p:spPr>
          <a:xfrm>
            <a:off x="5993892" y="3840480"/>
            <a:ext cx="5280660" cy="2194560"/>
          </a:xfrm>
          <a:prstGeom prst="roundRect">
            <a:avLst>
              <a:gd name="adj" fmla="val 3750"/>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26" name="Shape 21"/>
          <p:cNvSpPr/>
          <p:nvPr/>
        </p:nvSpPr>
        <p:spPr>
          <a:xfrm>
            <a:off x="6195060" y="4041648"/>
            <a:ext cx="438912" cy="438912"/>
          </a:xfrm>
          <a:prstGeom prst="ellipse">
            <a:avLst/>
          </a:prstGeom>
          <a:solidFill>
            <a:srgbClr val="0A8F78"/>
          </a:solidFill>
          <a:ln w="12700">
            <a:noFill/>
            <a:prstDash val="solid"/>
          </a:ln>
        </p:spPr>
        <p:txBody>
          <a:bodyPr wrap="square"/>
          <a:p/>
        </p:txBody>
      </p:sp>
      <p:pic>
        <p:nvPicPr>
          <p:cNvPr id="27" name="Image 3" descr="/home/claude/samuel_deck/assets/icon_dollarsign_teal.png">    </p:cNvPr>
          <p:cNvPicPr>
            <a:picLocks noChangeAspect="1"/>
          </p:cNvPicPr>
          <p:nvPr/>
        </p:nvPicPr>
        <p:blipFill>
          <a:blip r:embed="rId4"/>
          <a:stretch>
            <a:fillRect/>
          </a:stretch>
        </p:blipFill>
        <p:spPr>
          <a:xfrm>
            <a:off x="6300399" y="4146987"/>
            <a:ext cx="228234" cy="228234"/>
          </a:xfrm>
          <a:prstGeom prst="rect">
            <a:avLst/>
          </a:prstGeom>
        </p:spPr>
      </p:pic>
      <p:sp>
        <p:nvSpPr>
          <p:cNvPr id="28" name="Text 22"/>
          <p:cNvSpPr/>
          <p:nvPr/>
        </p:nvSpPr>
        <p:spPr>
          <a:xfrm>
            <a:off x="6816852" y="4005072"/>
            <a:ext cx="1645920" cy="43891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700" b="1" dirty="0">
                <a:solidFill>
                  <a:srgbClr val="0A8F78"/>
                </a:solidFill>
                <a:latin typeface="Aptos Display" pitchFamily="34" charset="0"/>
                <a:ea typeface="Cambria" pitchFamily="34" charset="-122"/>
                <a:cs typeface="Cambria" pitchFamily="34" charset="-120"/>
              </a:rPr>
              <a:t>$329M</a:t>
            </a:r>
            <a:endParaRPr lang="en-US" sz="1700" dirty="0"/>
          </a:p>
        </p:txBody>
      </p:sp>
      <p:sp>
        <p:nvSpPr>
          <p:cNvPr id="29" name="Text 23"/>
          <p:cNvSpPr/>
          <p:nvPr/>
        </p:nvSpPr>
        <p:spPr>
          <a:xfrm>
            <a:off x="6816852" y="4480560"/>
            <a:ext cx="4274820" cy="21945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b="1">
                <a:solidFill>
                  <a:srgbClr val="3D4663"/>
                </a:solidFill>
                <a:latin typeface="Aptos" pitchFamily="34" charset="0"/>
                <a:ea typeface="Calibri" pitchFamily="34" charset="-122"/>
                <a:cs typeface="Calibri" pitchFamily="34" charset="-120"/>
              </a:rPr>
              <a:t>Raised by Varda Space (in-space manufacturing comp)</a:t>
            </a:r>
            <a:endParaRPr lang="en-US" sz="850" dirty="0"/>
          </a:p>
        </p:txBody>
      </p:sp>
      <p:sp>
        <p:nvSpPr>
          <p:cNvPr id="30" name="Text 24"/>
          <p:cNvSpPr/>
          <p:nvPr/>
        </p:nvSpPr>
        <p:spPr>
          <a:xfrm>
            <a:off x="6195060" y="4754880"/>
            <a:ext cx="4878324" cy="29260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Capital Is Already Flowing</a:t>
            </a:r>
            <a:endParaRPr lang="en-US" sz="1300" dirty="0"/>
          </a:p>
        </p:txBody>
      </p:sp>
      <p:sp>
        <p:nvSpPr>
          <p:cNvPr id="31" name="Text 25"/>
          <p:cNvSpPr/>
          <p:nvPr/>
        </p:nvSpPr>
        <p:spPr>
          <a:xfrm>
            <a:off x="6195060" y="5084064"/>
            <a:ext cx="4878324" cy="86868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19" dirty="0">
                <a:solidFill>
                  <a:srgbClr val="3D4663"/>
                </a:solidFill>
                <a:latin typeface="Aptos" pitchFamily="34" charset="0"/>
                <a:ea typeface="Calibri" pitchFamily="34" charset="-122"/>
                <a:cs typeface="Calibri" pitchFamily="34" charset="-120"/>
              </a:rPr>
              <a:t>Varda Space Industries has raised $329M total, including a $187M Series C (July 2025) led by Natural Capital and Shrug Capital with Founders Fund and Khosla Ventures. LambdaVision closed a $7M seed atop $15M+ in non-dilutive grants.</a:t>
            </a:r>
            <a:endParaRPr lang="en-US" sz="930" dirty="0"/>
          </a:p>
        </p:txBody>
      </p:sp>
      <p:sp>
        <p:nvSpPr>
          <p:cNvPr id="32" name="Text 26"/>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OUR PLATFORM</a:t>
            </a:r>
            <a:endParaRPr lang="en-US" sz="1100" dirty="0"/>
          </a:p>
        </p:txBody>
      </p:sp>
      <p:sp>
        <p:nvSpPr>
          <p:cNvPr id="3" name="Text 1"/>
          <p:cNvSpPr/>
          <p:nvPr/>
        </p:nvSpPr>
        <p:spPr>
          <a:xfrm>
            <a:off x="457200" y="621792"/>
            <a:ext cx="8686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Station-Agnostic Payload Platform</a:t>
            </a:r>
            <a:endParaRPr lang="en-US" sz="2700" dirty="0"/>
          </a:p>
        </p:txBody>
      </p:sp>
      <p:sp>
        <p:nvSpPr>
          <p:cNvPr id="4" name="Text 2"/>
          <p:cNvSpPr/>
          <p:nvPr/>
        </p:nvSpPr>
        <p:spPr>
          <a:xfrm>
            <a:off x="457200" y="1371600"/>
            <a:ext cx="6858000" cy="566928"/>
          </a:xfrm>
          <a:prstGeom prst="rect">
            <a:avLst/>
          </a:prstGeom>
          <a:noFill/>
          <a:ln/>
        </p:spPr>
        <p:txBody>
          <a:bodyPr wrap="square" lIns="0" tIns="0" rIns="0" bIns="0" rtlCol="0" anchor="ctr"/>
          <a:lstStyle/>
          <a:p>
            <a:pPr indent="0" marL="0">
              <a:lnSpc>
                <a:spcPct val="122000"/>
              </a:lnSpc>
              <a:buNone/>
            </a:pPr>
            <a:r>
              <a:rPr lang="en-US" sz="1150" dirty="0">
                <a:solidFill>
                  <a:srgbClr val="3D4663"/>
                </a:solidFill>
                <a:latin typeface="Aptos" pitchFamily="34" charset="0"/>
                <a:ea typeface="Calibri" pitchFamily="34" charset="-122"/>
                <a:cs typeface="Calibri" pitchFamily="34" charset="-120"/>
              </a:rPr>
              <a:t>Samuel Space is built as a payload integrator and tissue manufacturing platform - hardware-compatible across all emerging commercial LEO stations. The same flight-qualified platform, bioink libraries, and protocols deploy whether the payload flies on the ISS, Starlab, Axiom, Orbital Reef, or Vast.</a:t>
            </a:r>
            <a:endParaRPr lang="en-US" sz="1150" dirty="0"/>
          </a:p>
        </p:txBody>
      </p:sp>
      <p:sp>
        <p:nvSpPr>
          <p:cNvPr id="5" name="Shape 3"/>
          <p:cNvSpPr/>
          <p:nvPr/>
        </p:nvSpPr>
        <p:spPr>
          <a:xfrm>
            <a:off x="457200" y="2103120"/>
            <a:ext cx="420624" cy="420624"/>
          </a:xfrm>
          <a:prstGeom prst="ellipse">
            <a:avLst/>
          </a:prstGeom>
          <a:solidFill>
            <a:srgbClr val="DEF6F1"/>
          </a:solidFill>
          <a:ln w="12700">
            <a:solidFill>
              <a:srgbClr val="FFFFFF">
                <a:alpha val="0"/>
              </a:srgbClr>
            </a:solidFill>
            <a:prstDash val="solid"/>
          </a:ln>
        </p:spPr>
        <p:txBody>
          <a:bodyPr wrap="square"/>
          <a:p/>
        </p:txBody>
      </p:sp>
      <p:pic>
        <p:nvPicPr>
          <p:cNvPr id="6" name="Image 0" descr="/home/claude/samuel_deck/assets/icon_cogs_teal.png">    </p:cNvPr>
          <p:cNvPicPr>
            <a:picLocks noChangeAspect="1"/>
          </p:cNvPicPr>
          <p:nvPr/>
        </p:nvPicPr>
        <p:blipFill>
          <a:blip r:embed="rId1"/>
          <a:stretch>
            <a:fillRect/>
          </a:stretch>
        </p:blipFill>
        <p:spPr>
          <a:xfrm>
            <a:off x="558150" y="2204070"/>
            <a:ext cx="218724" cy="218724"/>
          </a:xfrm>
          <a:prstGeom prst="rect">
            <a:avLst/>
          </a:prstGeom>
        </p:spPr>
      </p:pic>
      <p:sp>
        <p:nvSpPr>
          <p:cNvPr id="7" name="Text 4"/>
          <p:cNvSpPr/>
          <p:nvPr/>
        </p:nvSpPr>
        <p:spPr>
          <a:xfrm>
            <a:off x="1024128" y="2103120"/>
            <a:ext cx="5943600" cy="23774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300" b="1" dirty="0">
                <a:solidFill>
                  <a:srgbClr val="0B1330"/>
                </a:solidFill>
                <a:latin typeface="Aptos Display" pitchFamily="34" charset="0"/>
                <a:ea typeface="Cambria" pitchFamily="34" charset="-122"/>
                <a:cs typeface="Cambria" pitchFamily="34" charset="-120"/>
              </a:rPr>
              <a:t>Modular Payload Design</a:t>
            </a:r>
            <a:endParaRPr lang="en-US" sz="1250" dirty="0"/>
          </a:p>
        </p:txBody>
      </p:sp>
      <p:sp>
        <p:nvSpPr>
          <p:cNvPr id="8" name="Text 5"/>
          <p:cNvSpPr/>
          <p:nvPr/>
        </p:nvSpPr>
        <p:spPr>
          <a:xfrm>
            <a:off x="1024128" y="2359152"/>
            <a:ext cx="5943600" cy="713232"/>
          </a:xfrm>
          <a:prstGeom prst="rect">
            <a:avLst/>
          </a:prstGeom>
          <a:noFill/>
          <a:ln/>
        </p:spPr>
        <p:txBody>
          <a:bodyPr wrap="square" lIns="25400" tIns="25400" rIns="25400" bIns="25400" rtlCol="0" anchor="t"/>
          <a:lstStyle/>
          <a:p>
            <a:pPr indent="0" marL="0">
              <a:lnSpc>
                <a:spcPct val="102000"/>
              </a:lnSpc>
              <a:spcBef>
                <a:spcPts val="0"/>
              </a:spcBef>
              <a:spcAft>
                <a:spcPts val="0"/>
              </a:spcAft>
              <a:buNone/>
            </a:pPr>
            <a:r>
              <a:rPr lang="en-US" sz="1010" dirty="0">
                <a:solidFill>
                  <a:srgbClr val="3D4663"/>
                </a:solidFill>
                <a:latin typeface="Aptos" pitchFamily="34" charset="0"/>
                <a:ea typeface="Calibri" pitchFamily="34" charset="-122"/>
                <a:cs typeface="Calibri" pitchFamily="34" charset="-120"/>
              </a:rPr>
              <a:t>Hardware footprint matches standard double-locker form factor compatible with ISS, Starlab, and Axiom interfaces - one build, many stations.</a:t>
            </a:r>
            <a:endParaRPr lang="en-US" sz="980" dirty="0"/>
          </a:p>
        </p:txBody>
      </p:sp>
      <p:sp>
        <p:nvSpPr>
          <p:cNvPr id="9" name="Shape 6"/>
          <p:cNvSpPr/>
          <p:nvPr/>
        </p:nvSpPr>
        <p:spPr>
          <a:xfrm>
            <a:off x="457200" y="3182112"/>
            <a:ext cx="420624" cy="420624"/>
          </a:xfrm>
          <a:prstGeom prst="ellipse">
            <a:avLst/>
          </a:prstGeom>
          <a:solidFill>
            <a:srgbClr val="DEF6F1"/>
          </a:solidFill>
          <a:ln w="12700">
            <a:solidFill>
              <a:srgbClr val="FFFFFF">
                <a:alpha val="0"/>
              </a:srgbClr>
            </a:solidFill>
            <a:prstDash val="solid"/>
          </a:ln>
        </p:spPr>
        <p:txBody>
          <a:bodyPr wrap="square"/>
          <a:p/>
        </p:txBody>
      </p:sp>
      <p:pic>
        <p:nvPicPr>
          <p:cNvPr id="10" name="Image 1" descr="/home/claude/samuel_deck/assets/icon_shieldalt_teal.png">    </p:cNvPr>
          <p:cNvPicPr>
            <a:picLocks noChangeAspect="1"/>
          </p:cNvPicPr>
          <p:nvPr/>
        </p:nvPicPr>
        <p:blipFill>
          <a:blip r:embed="rId2"/>
          <a:stretch>
            <a:fillRect/>
          </a:stretch>
        </p:blipFill>
        <p:spPr>
          <a:xfrm>
            <a:off x="558150" y="3283062"/>
            <a:ext cx="218724" cy="218724"/>
          </a:xfrm>
          <a:prstGeom prst="rect">
            <a:avLst/>
          </a:prstGeom>
        </p:spPr>
      </p:pic>
      <p:sp>
        <p:nvSpPr>
          <p:cNvPr id="11" name="Text 7"/>
          <p:cNvSpPr/>
          <p:nvPr/>
        </p:nvSpPr>
        <p:spPr>
          <a:xfrm>
            <a:off x="1024128" y="3182112"/>
            <a:ext cx="5943600" cy="23774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300" b="1" dirty="0">
                <a:solidFill>
                  <a:srgbClr val="0B1330"/>
                </a:solidFill>
                <a:latin typeface="Aptos Display" pitchFamily="34" charset="0"/>
                <a:ea typeface="Cambria" pitchFamily="34" charset="-122"/>
                <a:cs typeface="Cambria" pitchFamily="34" charset="-120"/>
              </a:rPr>
              <a:t>Proprietary Cell-Line IP</a:t>
            </a:r>
            <a:endParaRPr lang="en-US" sz="1250" dirty="0"/>
          </a:p>
        </p:txBody>
      </p:sp>
      <p:sp>
        <p:nvSpPr>
          <p:cNvPr id="12" name="Text 8"/>
          <p:cNvSpPr/>
          <p:nvPr/>
        </p:nvSpPr>
        <p:spPr>
          <a:xfrm>
            <a:off x="1024128" y="3438144"/>
            <a:ext cx="5943600" cy="713232"/>
          </a:xfrm>
          <a:prstGeom prst="rect">
            <a:avLst/>
          </a:prstGeom>
          <a:noFill/>
          <a:ln/>
        </p:spPr>
        <p:txBody>
          <a:bodyPr wrap="square" lIns="25400" tIns="25400" rIns="25400" bIns="25400" rtlCol="0" anchor="t"/>
          <a:lstStyle/>
          <a:p>
            <a:pPr indent="0" marL="0">
              <a:lnSpc>
                <a:spcPct val="102000"/>
              </a:lnSpc>
              <a:spcBef>
                <a:spcPts val="0"/>
              </a:spcBef>
              <a:spcAft>
                <a:spcPts val="0"/>
              </a:spcAft>
              <a:buNone/>
            </a:pPr>
            <a:r>
              <a:rPr lang="en-US" sz="1010" dirty="0">
                <a:solidFill>
                  <a:srgbClr val="3D4663"/>
                </a:solidFill>
                <a:latin typeface="Aptos" pitchFamily="34" charset="0"/>
                <a:ea typeface="Calibri" pitchFamily="34" charset="-122"/>
                <a:cs typeface="Calibri" pitchFamily="34" charset="-120"/>
              </a:rPr>
              <a:t>Bioink formulations and printing protocols optimised for microgravity are the core defensible IP asset, accumulated across every mission flown.</a:t>
            </a:r>
            <a:endParaRPr lang="en-US" sz="980" dirty="0"/>
          </a:p>
        </p:txBody>
      </p:sp>
      <p:sp>
        <p:nvSpPr>
          <p:cNvPr id="13" name="Shape 9"/>
          <p:cNvSpPr/>
          <p:nvPr/>
        </p:nvSpPr>
        <p:spPr>
          <a:xfrm>
            <a:off x="457200" y="4261104"/>
            <a:ext cx="420624" cy="420624"/>
          </a:xfrm>
          <a:prstGeom prst="ellipse">
            <a:avLst/>
          </a:prstGeom>
          <a:solidFill>
            <a:srgbClr val="DEF6F1"/>
          </a:solidFill>
          <a:ln w="12700">
            <a:solidFill>
              <a:srgbClr val="FFFFFF">
                <a:alpha val="0"/>
              </a:srgbClr>
            </a:solidFill>
            <a:prstDash val="solid"/>
          </a:ln>
        </p:spPr>
        <p:txBody>
          <a:bodyPr wrap="square"/>
          <a:p/>
        </p:txBody>
      </p:sp>
      <p:pic>
        <p:nvPicPr>
          <p:cNvPr id="14" name="Image 2" descr="/home/claude/samuel_deck/assets/icon_handshake_teal.png">    </p:cNvPr>
          <p:cNvPicPr>
            <a:picLocks noChangeAspect="1"/>
          </p:cNvPicPr>
          <p:nvPr/>
        </p:nvPicPr>
        <p:blipFill>
          <a:blip r:embed="rId3"/>
          <a:stretch>
            <a:fillRect/>
          </a:stretch>
        </p:blipFill>
        <p:spPr>
          <a:xfrm>
            <a:off x="558150" y="4362054"/>
            <a:ext cx="218724" cy="218724"/>
          </a:xfrm>
          <a:prstGeom prst="rect">
            <a:avLst/>
          </a:prstGeom>
        </p:spPr>
      </p:pic>
      <p:sp>
        <p:nvSpPr>
          <p:cNvPr id="15" name="Text 10"/>
          <p:cNvSpPr/>
          <p:nvPr/>
        </p:nvSpPr>
        <p:spPr>
          <a:xfrm>
            <a:off x="1024128" y="4261104"/>
            <a:ext cx="5943600" cy="23774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300" b="1" dirty="0">
                <a:solidFill>
                  <a:srgbClr val="0B1330"/>
                </a:solidFill>
                <a:latin typeface="Aptos Display" pitchFamily="34" charset="0"/>
                <a:ea typeface="Cambria" pitchFamily="34" charset="-122"/>
                <a:cs typeface="Cambria" pitchFamily="34" charset="-120"/>
              </a:rPr>
              <a:t>Service-First Revenue</a:t>
            </a:r>
            <a:endParaRPr lang="en-US" sz="1250" dirty="0"/>
          </a:p>
        </p:txBody>
      </p:sp>
      <p:sp>
        <p:nvSpPr>
          <p:cNvPr id="16" name="Text 11"/>
          <p:cNvSpPr/>
          <p:nvPr/>
        </p:nvSpPr>
        <p:spPr>
          <a:xfrm>
            <a:off x="1024128" y="4517136"/>
            <a:ext cx="5943600" cy="713232"/>
          </a:xfrm>
          <a:prstGeom prst="rect">
            <a:avLst/>
          </a:prstGeom>
          <a:noFill/>
          <a:ln/>
        </p:spPr>
        <p:txBody>
          <a:bodyPr wrap="square" lIns="25400" tIns="25400" rIns="25400" bIns="25400" rtlCol="0" anchor="t"/>
          <a:lstStyle/>
          <a:p>
            <a:pPr indent="0" marL="0">
              <a:lnSpc>
                <a:spcPct val="102000"/>
              </a:lnSpc>
              <a:spcBef>
                <a:spcPts val="0"/>
              </a:spcBef>
              <a:spcAft>
                <a:spcPts val="0"/>
              </a:spcAft>
              <a:buNone/>
            </a:pPr>
            <a:r>
              <a:rPr lang="en-US" sz="1010" dirty="0">
                <a:solidFill>
                  <a:srgbClr val="3D4663"/>
                </a:solidFill>
                <a:latin typeface="Aptos" pitchFamily="34" charset="0"/>
                <a:ea typeface="Calibri" pitchFamily="34" charset="-122"/>
                <a:cs typeface="Calibri" pitchFamily="34" charset="-120"/>
              </a:rPr>
              <a:t>Fee-for-service bioprinting generates near-term revenue from pharma and academic customers while building the IP base that creates long-term enterprise value.</a:t>
            </a:r>
            <a:endParaRPr lang="en-US" sz="980" dirty="0"/>
          </a:p>
        </p:txBody>
      </p:sp>
      <p:sp>
        <p:nvSpPr>
          <p:cNvPr id="17" name="Shape 12"/>
          <p:cNvSpPr/>
          <p:nvPr/>
        </p:nvSpPr>
        <p:spPr>
          <a:xfrm>
            <a:off x="457200" y="5413248"/>
            <a:ext cx="6858000" cy="896112"/>
          </a:xfrm>
          <a:prstGeom prst="roundRect">
            <a:avLst>
              <a:gd name="adj" fmla="val 9184"/>
            </a:avLst>
          </a:prstGeom>
          <a:solidFill>
            <a:srgbClr val="ECF2F9"/>
          </a:solidFill>
          <a:ln w="12700">
            <a:solidFill>
              <a:srgbClr val="DBE4F0">
                <a:alpha val="0"/>
              </a:srgbClr>
            </a:solidFill>
            <a:prstDash val="solid"/>
          </a:ln>
        </p:spPr>
        <p:txBody>
          <a:bodyPr wrap="square"/>
          <a:p/>
        </p:txBody>
      </p:sp>
      <p:pic>
        <p:nvPicPr>
          <p:cNvPr id="18" name="Image 3" descr="/home/claude/samuel_deck/assets/station_wide.png">    </p:cNvPr>
          <p:cNvPicPr>
            <a:picLocks noChangeAspect="1"/>
          </p:cNvPicPr>
          <p:nvPr/>
        </p:nvPicPr>
        <p:blipFill>
          <a:blip r:embed="rId4"/>
          <a:stretch>
            <a:fillRect/>
          </a:stretch>
        </p:blipFill>
        <p:spPr>
          <a:xfrm>
            <a:off x="658368" y="5519928"/>
            <a:ext cx="1463040" cy="682752"/>
          </a:xfrm>
          <a:prstGeom prst="rect">
            <a:avLst/>
          </a:prstGeom>
        </p:spPr>
      </p:pic>
      <p:sp>
        <p:nvSpPr>
          <p:cNvPr id="19" name="Text 13"/>
          <p:cNvSpPr/>
          <p:nvPr/>
        </p:nvSpPr>
        <p:spPr>
          <a:xfrm>
            <a:off x="2322576" y="5413248"/>
            <a:ext cx="4791456" cy="89611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i="1" dirty="0">
                <a:solidFill>
                  <a:srgbClr val="3D4663"/>
                </a:solidFill>
                <a:latin typeface="Aptos" pitchFamily="34" charset="0"/>
                <a:ea typeface="Calibri" pitchFamily="34" charset="-122"/>
                <a:cs typeface="Calibri" pitchFamily="34" charset="-120"/>
              </a:rPr>
              <a:t>Engineered for compatibility with next-generation orbital infrastructure — from the ISS today to Starlab, Axiom, and beyond.</a:t>
            </a:r>
            <a:endParaRPr lang="en-US" sz="1030" dirty="0"/>
          </a:p>
        </p:txBody>
      </p:sp>
      <p:sp>
        <p:nvSpPr>
          <p:cNvPr id="20" name="Text 14"/>
          <p:cNvSpPr/>
          <p:nvPr/>
        </p:nvSpPr>
        <p:spPr>
          <a:xfrm>
            <a:off x="7589520" y="1371600"/>
            <a:ext cx="41148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b="1" spc="120" kern="0" dirty="0">
                <a:solidFill>
                  <a:srgbClr val="0A8F78"/>
                </a:solidFill>
                <a:latin typeface="Aptos" pitchFamily="34" charset="0"/>
                <a:ea typeface="Calibri" pitchFamily="34" charset="-122"/>
                <a:cs typeface="Calibri" pitchFamily="34" charset="-120"/>
              </a:rPr>
              <a:t>STATION ECOSYSTEM COMPATIBILITY</a:t>
            </a:r>
            <a:endParaRPr lang="en-US" sz="1000" dirty="0"/>
          </a:p>
        </p:txBody>
      </p:sp>
      <p:sp>
        <p:nvSpPr>
          <p:cNvPr id="21" name="Shape 15"/>
          <p:cNvSpPr/>
          <p:nvPr/>
        </p:nvSpPr>
        <p:spPr>
          <a:xfrm>
            <a:off x="7589520" y="1700784"/>
            <a:ext cx="4114800" cy="566928"/>
          </a:xfrm>
          <a:prstGeom prst="roundRect">
            <a:avLst>
              <a:gd name="adj" fmla="val 12903"/>
            </a:avLst>
          </a:prstGeom>
          <a:solidFill>
            <a:srgbClr val="ECF2F9"/>
          </a:solidFill>
          <a:ln w="12700">
            <a:solidFill>
              <a:srgbClr val="DBE4F0">
                <a:alpha val="0"/>
              </a:srgbClr>
            </a:solidFill>
            <a:prstDash val="solid"/>
          </a:ln>
        </p:spPr>
        <p:txBody>
          <a:bodyPr wrap="square"/>
          <a:p/>
        </p:txBody>
      </p:sp>
      <p:sp>
        <p:nvSpPr>
          <p:cNvPr id="22" name="Text 16"/>
          <p:cNvSpPr/>
          <p:nvPr/>
        </p:nvSpPr>
        <p:spPr>
          <a:xfrm>
            <a:off x="7589520" y="1700784"/>
            <a:ext cx="4114800" cy="566928"/>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450" b="1" dirty="0">
                <a:solidFill>
                  <a:srgbClr val="0B1330"/>
                </a:solidFill>
                <a:latin typeface="Aptos Display" pitchFamily="34" charset="0"/>
                <a:ea typeface="Cambria" pitchFamily="34" charset="-122"/>
                <a:cs typeface="Cambria" pitchFamily="34" charset="-120"/>
              </a:rPr>
              <a:t>Samuel Space Platform</a:t>
            </a:r>
            <a:endParaRPr lang="en-US" sz="1400" dirty="0"/>
          </a:p>
        </p:txBody>
      </p:sp>
      <p:sp>
        <p:nvSpPr>
          <p:cNvPr id="23" name="Shape 17"/>
          <p:cNvSpPr/>
          <p:nvPr/>
        </p:nvSpPr>
        <p:spPr>
          <a:xfrm>
            <a:off x="7589520" y="2432304"/>
            <a:ext cx="4114800" cy="640080"/>
          </a:xfrm>
          <a:prstGeom prst="roundRect">
            <a:avLst>
              <a:gd name="adj" fmla="val 12857"/>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24" name="Shape 18"/>
          <p:cNvSpPr/>
          <p:nvPr/>
        </p:nvSpPr>
        <p:spPr>
          <a:xfrm>
            <a:off x="7735824" y="2532888"/>
            <a:ext cx="420624" cy="420624"/>
          </a:xfrm>
          <a:prstGeom prst="ellipse">
            <a:avLst/>
          </a:prstGeom>
          <a:solidFill>
            <a:srgbClr val="DEF6F1"/>
          </a:solidFill>
          <a:ln w="12700">
            <a:solidFill>
              <a:srgbClr val="FFFFFF">
                <a:alpha val="0"/>
              </a:srgbClr>
            </a:solidFill>
            <a:prstDash val="solid"/>
          </a:ln>
        </p:spPr>
        <p:txBody>
          <a:bodyPr wrap="square"/>
          <a:p/>
        </p:txBody>
      </p:sp>
      <p:pic>
        <p:nvPicPr>
          <p:cNvPr id="25" name="Image 4" descr="/home/claude/samuel_deck/assets/icon_satellitedish_teal.png">    </p:cNvPr>
          <p:cNvPicPr>
            <a:picLocks noChangeAspect="1"/>
          </p:cNvPicPr>
          <p:nvPr/>
        </p:nvPicPr>
        <p:blipFill>
          <a:blip r:embed="rId5"/>
          <a:stretch>
            <a:fillRect/>
          </a:stretch>
        </p:blipFill>
        <p:spPr>
          <a:xfrm>
            <a:off x="7836774" y="2633838"/>
            <a:ext cx="218724" cy="218724"/>
          </a:xfrm>
          <a:prstGeom prst="rect">
            <a:avLst/>
          </a:prstGeom>
        </p:spPr>
      </p:pic>
      <p:sp>
        <p:nvSpPr>
          <p:cNvPr id="26" name="Text 19"/>
          <p:cNvSpPr/>
          <p:nvPr/>
        </p:nvSpPr>
        <p:spPr>
          <a:xfrm>
            <a:off x="8321040" y="2505456"/>
            <a:ext cx="3200400" cy="23774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50" b="1" dirty="0">
                <a:solidFill>
                  <a:srgbClr val="0B1330"/>
                </a:solidFill>
                <a:latin typeface="Aptos Display" pitchFamily="34" charset="0"/>
                <a:ea typeface="Cambria" pitchFamily="34" charset="-122"/>
                <a:cs typeface="Cambria" pitchFamily="34" charset="-120"/>
              </a:rPr>
              <a:t>ISS</a:t>
            </a:r>
            <a:endParaRPr lang="en-US" sz="1150" dirty="0"/>
          </a:p>
        </p:txBody>
      </p:sp>
      <p:sp>
        <p:nvSpPr>
          <p:cNvPr id="27" name="Text 20"/>
          <p:cNvSpPr/>
          <p:nvPr/>
        </p:nvSpPr>
        <p:spPr>
          <a:xfrm>
            <a:off x="8321040" y="2761488"/>
            <a:ext cx="3200400" cy="2560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869" dirty="0">
                <a:solidFill>
                  <a:srgbClr val="3D4663"/>
                </a:solidFill>
                <a:latin typeface="Aptos" pitchFamily="34" charset="0"/>
                <a:ea typeface="Calibri" pitchFamily="34" charset="-122"/>
                <a:cs typeface="Calibri" pitchFamily="34" charset="-120"/>
              </a:rPr>
              <a:t>Redwire BFF - active now through ~2030</a:t>
            </a:r>
            <a:endParaRPr lang="en-US" sz="850" dirty="0"/>
          </a:p>
        </p:txBody>
      </p:sp>
      <p:sp>
        <p:nvSpPr>
          <p:cNvPr id="28" name="Shape 21"/>
          <p:cNvSpPr/>
          <p:nvPr/>
        </p:nvSpPr>
        <p:spPr>
          <a:xfrm>
            <a:off x="7589520" y="3182112"/>
            <a:ext cx="4114800" cy="640080"/>
          </a:xfrm>
          <a:prstGeom prst="roundRect">
            <a:avLst>
              <a:gd name="adj" fmla="val 12857"/>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29" name="Shape 22"/>
          <p:cNvSpPr/>
          <p:nvPr/>
        </p:nvSpPr>
        <p:spPr>
          <a:xfrm>
            <a:off x="7735824" y="3282696"/>
            <a:ext cx="420624" cy="420624"/>
          </a:xfrm>
          <a:prstGeom prst="ellipse">
            <a:avLst/>
          </a:prstGeom>
          <a:solidFill>
            <a:srgbClr val="DEF6F1"/>
          </a:solidFill>
          <a:ln w="12700">
            <a:solidFill>
              <a:srgbClr val="FFFFFF">
                <a:alpha val="0"/>
              </a:srgbClr>
            </a:solidFill>
            <a:prstDash val="solid"/>
          </a:ln>
        </p:spPr>
        <p:txBody>
          <a:bodyPr wrap="square"/>
          <a:p/>
        </p:txBody>
      </p:sp>
      <p:pic>
        <p:nvPicPr>
          <p:cNvPr id="30" name="Image 5" descr="/home/claude/samuel_deck/assets/icon_rocket_teal.png">    </p:cNvPr>
          <p:cNvPicPr>
            <a:picLocks noChangeAspect="1"/>
          </p:cNvPicPr>
          <p:nvPr/>
        </p:nvPicPr>
        <p:blipFill>
          <a:blip r:embed="rId6"/>
          <a:stretch>
            <a:fillRect/>
          </a:stretch>
        </p:blipFill>
        <p:spPr>
          <a:xfrm>
            <a:off x="7836774" y="3383646"/>
            <a:ext cx="218724" cy="218724"/>
          </a:xfrm>
          <a:prstGeom prst="rect">
            <a:avLst/>
          </a:prstGeom>
        </p:spPr>
      </p:pic>
      <p:sp>
        <p:nvSpPr>
          <p:cNvPr id="31" name="Text 23"/>
          <p:cNvSpPr/>
          <p:nvPr/>
        </p:nvSpPr>
        <p:spPr>
          <a:xfrm>
            <a:off x="8321040" y="3255264"/>
            <a:ext cx="3200400" cy="23774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50" b="1" dirty="0">
                <a:solidFill>
                  <a:srgbClr val="0B1330"/>
                </a:solidFill>
                <a:latin typeface="Aptos Display" pitchFamily="34" charset="0"/>
                <a:ea typeface="Cambria" pitchFamily="34" charset="-122"/>
                <a:cs typeface="Cambria" pitchFamily="34" charset="-120"/>
              </a:rPr>
              <a:t>Starlab</a:t>
            </a:r>
            <a:endParaRPr lang="en-US" sz="1150" dirty="0"/>
          </a:p>
        </p:txBody>
      </p:sp>
      <p:sp>
        <p:nvSpPr>
          <p:cNvPr id="32" name="Text 24"/>
          <p:cNvSpPr/>
          <p:nvPr/>
        </p:nvSpPr>
        <p:spPr>
          <a:xfrm>
            <a:off x="8321040" y="3511296"/>
            <a:ext cx="3200400" cy="2560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869" dirty="0">
                <a:solidFill>
                  <a:srgbClr val="3D4663"/>
                </a:solidFill>
                <a:latin typeface="Aptos" pitchFamily="34" charset="0"/>
                <a:ea typeface="Calibri" pitchFamily="34" charset="-122"/>
                <a:cs typeface="Calibri" pitchFamily="34" charset="-120"/>
              </a:rPr>
              <a:t>Voyager/Airbus JV - targeting 2029 launch</a:t>
            </a:r>
            <a:endParaRPr lang="en-US" sz="850" dirty="0"/>
          </a:p>
        </p:txBody>
      </p:sp>
      <p:sp>
        <p:nvSpPr>
          <p:cNvPr id="33" name="Shape 25"/>
          <p:cNvSpPr/>
          <p:nvPr/>
        </p:nvSpPr>
        <p:spPr>
          <a:xfrm>
            <a:off x="7589520" y="3931920"/>
            <a:ext cx="4114800" cy="640080"/>
          </a:xfrm>
          <a:prstGeom prst="roundRect">
            <a:avLst>
              <a:gd name="adj" fmla="val 12857"/>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34" name="Shape 26"/>
          <p:cNvSpPr/>
          <p:nvPr/>
        </p:nvSpPr>
        <p:spPr>
          <a:xfrm>
            <a:off x="7735824" y="4032504"/>
            <a:ext cx="420624" cy="420624"/>
          </a:xfrm>
          <a:prstGeom prst="ellipse">
            <a:avLst/>
          </a:prstGeom>
          <a:solidFill>
            <a:srgbClr val="DEF6F1"/>
          </a:solidFill>
          <a:ln w="12700">
            <a:solidFill>
              <a:srgbClr val="FFFFFF">
                <a:alpha val="0"/>
              </a:srgbClr>
            </a:solidFill>
            <a:prstDash val="solid"/>
          </a:ln>
        </p:spPr>
        <p:txBody>
          <a:bodyPr wrap="square"/>
          <a:p/>
        </p:txBody>
      </p:sp>
      <p:pic>
        <p:nvPicPr>
          <p:cNvPr id="35" name="Image 6" descr="/home/claude/samuel_deck/assets/icon_building_teal.png">    </p:cNvPr>
          <p:cNvPicPr>
            <a:picLocks noChangeAspect="1"/>
          </p:cNvPicPr>
          <p:nvPr/>
        </p:nvPicPr>
        <p:blipFill>
          <a:blip r:embed="rId7"/>
          <a:stretch>
            <a:fillRect/>
          </a:stretch>
        </p:blipFill>
        <p:spPr>
          <a:xfrm>
            <a:off x="7836774" y="4133454"/>
            <a:ext cx="218724" cy="218724"/>
          </a:xfrm>
          <a:prstGeom prst="rect">
            <a:avLst/>
          </a:prstGeom>
        </p:spPr>
      </p:pic>
      <p:sp>
        <p:nvSpPr>
          <p:cNvPr id="36" name="Text 27"/>
          <p:cNvSpPr/>
          <p:nvPr/>
        </p:nvSpPr>
        <p:spPr>
          <a:xfrm>
            <a:off x="8321040" y="4005072"/>
            <a:ext cx="3200400" cy="23774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50" b="1" dirty="0">
                <a:solidFill>
                  <a:srgbClr val="0B1330"/>
                </a:solidFill>
                <a:latin typeface="Aptos Display" pitchFamily="34" charset="0"/>
                <a:ea typeface="Cambria" pitchFamily="34" charset="-122"/>
                <a:cs typeface="Cambria" pitchFamily="34" charset="-120"/>
              </a:rPr>
              <a:t>Axiom Station</a:t>
            </a:r>
            <a:endParaRPr lang="en-US" sz="1150" dirty="0"/>
          </a:p>
        </p:txBody>
      </p:sp>
      <p:sp>
        <p:nvSpPr>
          <p:cNvPr id="37" name="Text 28"/>
          <p:cNvSpPr/>
          <p:nvPr/>
        </p:nvSpPr>
        <p:spPr>
          <a:xfrm>
            <a:off x="8321040" y="4261104"/>
            <a:ext cx="3200400" cy="2560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869" dirty="0">
                <a:solidFill>
                  <a:srgbClr val="3D4663"/>
                </a:solidFill>
                <a:latin typeface="Aptos" pitchFamily="34" charset="0"/>
                <a:ea typeface="Calibri" pitchFamily="34" charset="-122"/>
                <a:cs typeface="Calibri" pitchFamily="34" charset="-120"/>
              </a:rPr>
              <a:t>First commercial modules ~2026-2028</a:t>
            </a:r>
            <a:endParaRPr lang="en-US" sz="850" dirty="0"/>
          </a:p>
        </p:txBody>
      </p:sp>
      <p:sp>
        <p:nvSpPr>
          <p:cNvPr id="38" name="Shape 29"/>
          <p:cNvSpPr/>
          <p:nvPr/>
        </p:nvSpPr>
        <p:spPr>
          <a:xfrm>
            <a:off x="7589520" y="4681728"/>
            <a:ext cx="4114800" cy="640080"/>
          </a:xfrm>
          <a:prstGeom prst="roundRect">
            <a:avLst>
              <a:gd name="adj" fmla="val 12857"/>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39" name="Shape 30"/>
          <p:cNvSpPr/>
          <p:nvPr/>
        </p:nvSpPr>
        <p:spPr>
          <a:xfrm>
            <a:off x="7735824" y="4782312"/>
            <a:ext cx="420624" cy="420624"/>
          </a:xfrm>
          <a:prstGeom prst="ellipse">
            <a:avLst/>
          </a:prstGeom>
          <a:solidFill>
            <a:srgbClr val="DEF6F1"/>
          </a:solidFill>
          <a:ln w="12700">
            <a:solidFill>
              <a:srgbClr val="FFFFFF">
                <a:alpha val="0"/>
              </a:srgbClr>
            </a:solidFill>
            <a:prstDash val="solid"/>
          </a:ln>
        </p:spPr>
        <p:txBody>
          <a:bodyPr wrap="square"/>
          <a:p/>
        </p:txBody>
      </p:sp>
      <p:pic>
        <p:nvPicPr>
          <p:cNvPr id="40" name="Image 7" descr="/home/claude/samuel_deck/assets/icon_globeamericas_teal.png">    </p:cNvPr>
          <p:cNvPicPr>
            <a:picLocks noChangeAspect="1"/>
          </p:cNvPicPr>
          <p:nvPr/>
        </p:nvPicPr>
        <p:blipFill>
          <a:blip r:embed="rId8"/>
          <a:stretch>
            <a:fillRect/>
          </a:stretch>
        </p:blipFill>
        <p:spPr>
          <a:xfrm>
            <a:off x="7836774" y="4883262"/>
            <a:ext cx="218724" cy="218724"/>
          </a:xfrm>
          <a:prstGeom prst="rect">
            <a:avLst/>
          </a:prstGeom>
        </p:spPr>
      </p:pic>
      <p:sp>
        <p:nvSpPr>
          <p:cNvPr id="41" name="Text 31"/>
          <p:cNvSpPr/>
          <p:nvPr/>
        </p:nvSpPr>
        <p:spPr>
          <a:xfrm>
            <a:off x="8321040" y="4754880"/>
            <a:ext cx="3200400" cy="23774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50" b="1" dirty="0">
                <a:solidFill>
                  <a:srgbClr val="0B1330"/>
                </a:solidFill>
                <a:latin typeface="Aptos Display" pitchFamily="34" charset="0"/>
                <a:ea typeface="Cambria" pitchFamily="34" charset="-122"/>
                <a:cs typeface="Cambria" pitchFamily="34" charset="-120"/>
              </a:rPr>
              <a:t>Orbital Reef</a:t>
            </a:r>
            <a:endParaRPr lang="en-US" sz="1150" dirty="0"/>
          </a:p>
        </p:txBody>
      </p:sp>
      <p:sp>
        <p:nvSpPr>
          <p:cNvPr id="42" name="Text 32"/>
          <p:cNvSpPr/>
          <p:nvPr/>
        </p:nvSpPr>
        <p:spPr>
          <a:xfrm>
            <a:off x="8321040" y="5010912"/>
            <a:ext cx="3200400" cy="2560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869" dirty="0">
                <a:solidFill>
                  <a:srgbClr val="3D4663"/>
                </a:solidFill>
                <a:latin typeface="Aptos" pitchFamily="34" charset="0"/>
                <a:ea typeface="Calibri" pitchFamily="34" charset="-122"/>
                <a:cs typeface="Calibri" pitchFamily="34" charset="-120"/>
              </a:rPr>
              <a:t>Blue Origin/Sierra Space - CLD-funded</a:t>
            </a:r>
            <a:endParaRPr lang="en-US" sz="850" dirty="0"/>
          </a:p>
        </p:txBody>
      </p:sp>
      <p:sp>
        <p:nvSpPr>
          <p:cNvPr id="43" name="Shape 33"/>
          <p:cNvSpPr/>
          <p:nvPr/>
        </p:nvSpPr>
        <p:spPr>
          <a:xfrm>
            <a:off x="7589520" y="5431536"/>
            <a:ext cx="4114800" cy="640080"/>
          </a:xfrm>
          <a:prstGeom prst="roundRect">
            <a:avLst>
              <a:gd name="adj" fmla="val 12857"/>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44" name="Shape 34"/>
          <p:cNvSpPr/>
          <p:nvPr/>
        </p:nvSpPr>
        <p:spPr>
          <a:xfrm>
            <a:off x="7735824" y="5532120"/>
            <a:ext cx="420624" cy="420624"/>
          </a:xfrm>
          <a:prstGeom prst="ellipse">
            <a:avLst/>
          </a:prstGeom>
          <a:solidFill>
            <a:srgbClr val="DEF6F1"/>
          </a:solidFill>
          <a:ln w="12700">
            <a:solidFill>
              <a:srgbClr val="FFFFFF">
                <a:alpha val="0"/>
              </a:srgbClr>
            </a:solidFill>
            <a:prstDash val="solid"/>
          </a:ln>
        </p:spPr>
        <p:txBody>
          <a:bodyPr wrap="square"/>
          <a:p/>
        </p:txBody>
      </p:sp>
      <p:pic>
        <p:nvPicPr>
          <p:cNvPr id="45" name="Image 8" descr="/home/claude/samuel_deck/assets/icon_chartline_teal.png">    </p:cNvPr>
          <p:cNvPicPr>
            <a:picLocks noChangeAspect="1"/>
          </p:cNvPicPr>
          <p:nvPr/>
        </p:nvPicPr>
        <p:blipFill>
          <a:blip r:embed="rId9"/>
          <a:stretch>
            <a:fillRect/>
          </a:stretch>
        </p:blipFill>
        <p:spPr>
          <a:xfrm>
            <a:off x="7836774" y="5633070"/>
            <a:ext cx="218724" cy="218724"/>
          </a:xfrm>
          <a:prstGeom prst="rect">
            <a:avLst/>
          </a:prstGeom>
        </p:spPr>
      </p:pic>
      <p:sp>
        <p:nvSpPr>
          <p:cNvPr id="46" name="Text 35"/>
          <p:cNvSpPr/>
          <p:nvPr/>
        </p:nvSpPr>
        <p:spPr>
          <a:xfrm>
            <a:off x="8321040" y="5504688"/>
            <a:ext cx="3200400" cy="23774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50" b="1" dirty="0">
                <a:solidFill>
                  <a:srgbClr val="0B1330"/>
                </a:solidFill>
                <a:latin typeface="Aptos Display" pitchFamily="34" charset="0"/>
                <a:ea typeface="Cambria" pitchFamily="34" charset="-122"/>
                <a:cs typeface="Cambria" pitchFamily="34" charset="-120"/>
              </a:rPr>
              <a:t>Vast Haven-1</a:t>
            </a:r>
            <a:endParaRPr lang="en-US" sz="1150" dirty="0"/>
          </a:p>
        </p:txBody>
      </p:sp>
      <p:sp>
        <p:nvSpPr>
          <p:cNvPr id="47" name="Text 36"/>
          <p:cNvSpPr/>
          <p:nvPr/>
        </p:nvSpPr>
        <p:spPr>
          <a:xfrm>
            <a:off x="8321040" y="5760720"/>
            <a:ext cx="3200400" cy="2560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869" dirty="0">
                <a:solidFill>
                  <a:srgbClr val="3D4663"/>
                </a:solidFill>
                <a:latin typeface="Aptos" pitchFamily="34" charset="0"/>
                <a:ea typeface="Calibri" pitchFamily="34" charset="-122"/>
                <a:cs typeface="Calibri" pitchFamily="34" charset="-120"/>
              </a:rPr>
              <a:t>First dedicated commercial station, 2026</a:t>
            </a:r>
            <a:endParaRPr lang="en-US" sz="850" dirty="0"/>
          </a:p>
        </p:txBody>
      </p:sp>
      <p:sp>
        <p:nvSpPr>
          <p:cNvPr id="48" name="Text 37"/>
          <p:cNvSpPr/>
          <p:nvPr/>
        </p:nvSpPr>
        <p:spPr>
          <a:xfrm>
            <a:off x="457200" y="6400800"/>
            <a:ext cx="6858000" cy="20116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850" i="1" dirty="0">
                <a:solidFill>
                  <a:srgbClr val="64739A"/>
                </a:solidFill>
                <a:latin typeface="Aptos" pitchFamily="34" charset="0"/>
                <a:ea typeface="Calibri" pitchFamily="34" charset="-122"/>
                <a:cs typeface="Calibri" pitchFamily="34" charset="-120"/>
              </a:rPr>
              <a:t>Station names shown as market context only - not as confirmed Samuel partnerships.</a:t>
            </a:r>
            <a:endParaRPr lang="en-US" sz="850" dirty="0"/>
          </a:p>
        </p:txBody>
      </p:sp>
      <p:sp>
        <p:nvSpPr>
          <p:cNvPr id="49" name="Text 38"/>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EXECUTION PLAN</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Four-Phase Technology &amp; Commercialisation Roadmap</a:t>
            </a:r>
            <a:endParaRPr lang="en-US" sz="2700" dirty="0"/>
          </a:p>
        </p:txBody>
      </p:sp>
      <p:sp>
        <p:nvSpPr>
          <p:cNvPr id="4" name="Shape 2"/>
          <p:cNvSpPr/>
          <p:nvPr/>
        </p:nvSpPr>
        <p:spPr>
          <a:xfrm>
            <a:off x="457200" y="1463040"/>
            <a:ext cx="2580894" cy="4773168"/>
          </a:xfrm>
          <a:prstGeom prst="roundRect">
            <a:avLst>
              <a:gd name="adj" fmla="val 3189"/>
            </a:avLst>
          </a:prstGeom>
          <a:solidFill>
            <a:srgbClr val="E7F7F3"/>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5" name="Text 3"/>
          <p:cNvSpPr/>
          <p:nvPr/>
        </p:nvSpPr>
        <p:spPr>
          <a:xfrm>
            <a:off x="585216" y="1591056"/>
            <a:ext cx="2324862" cy="23774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60" b="1" spc="150" kern="0" dirty="0">
                <a:solidFill>
                  <a:srgbClr val="0A8F78"/>
                </a:solidFill>
                <a:latin typeface="Aptos" pitchFamily="34" charset="0"/>
                <a:ea typeface="Calibri" pitchFamily="34" charset="-122"/>
                <a:cs typeface="Calibri" pitchFamily="34" charset="-120"/>
              </a:rPr>
              <a:t>PHASE 1</a:t>
            </a:r>
            <a:endParaRPr lang="en-US" sz="950" dirty="0"/>
          </a:p>
        </p:txBody>
      </p:sp>
      <p:sp>
        <p:nvSpPr>
          <p:cNvPr id="6" name="Text 4"/>
          <p:cNvSpPr/>
          <p:nvPr/>
        </p:nvSpPr>
        <p:spPr>
          <a:xfrm>
            <a:off x="585216" y="1847088"/>
            <a:ext cx="2324862" cy="18288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b="1">
                <a:solidFill>
                  <a:srgbClr val="64739A"/>
                </a:solidFill>
                <a:latin typeface="Aptos" pitchFamily="34" charset="0"/>
                <a:ea typeface="Calibri" pitchFamily="34" charset="-122"/>
                <a:cs typeface="Calibri" pitchFamily="34" charset="-120"/>
              </a:rPr>
              <a:t>Years 1-2</a:t>
            </a:r>
            <a:endParaRPr lang="en-US" sz="900" dirty="0"/>
          </a:p>
        </p:txBody>
      </p:sp>
      <p:sp>
        <p:nvSpPr>
          <p:cNvPr id="7" name="Shape 5"/>
          <p:cNvSpPr/>
          <p:nvPr/>
        </p:nvSpPr>
        <p:spPr>
          <a:xfrm>
            <a:off x="585216" y="2066544"/>
            <a:ext cx="2324862" cy="0"/>
          </a:xfrm>
          <a:prstGeom prst="line">
            <a:avLst/>
          </a:prstGeom>
          <a:noFill/>
          <a:ln w="12700">
            <a:solidFill>
              <a:srgbClr val="D7E2F0"/>
            </a:solidFill>
            <a:prstDash val="solid"/>
          </a:ln>
        </p:spPr>
        <p:txBody>
          <a:bodyPr wrap="square"/>
          <a:p/>
        </p:txBody>
      </p:sp>
      <p:sp>
        <p:nvSpPr>
          <p:cNvPr id="8" name="Text 6"/>
          <p:cNvSpPr/>
          <p:nvPr/>
        </p:nvSpPr>
        <p:spPr>
          <a:xfrm>
            <a:off x="585216" y="2139696"/>
            <a:ext cx="2324862" cy="45720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500" b="1" dirty="0">
                <a:solidFill>
                  <a:srgbClr val="0B1330"/>
                </a:solidFill>
                <a:latin typeface="Aptos Display" pitchFamily="34" charset="0"/>
                <a:ea typeface="Cambria" pitchFamily="34" charset="-122"/>
                <a:cs typeface="Cambria" pitchFamily="34" charset="-120"/>
              </a:rPr>
              <a:t>Platform &amp; Wound Care</a:t>
            </a:r>
            <a:endParaRPr lang="en-US" sz="1250" dirty="0"/>
          </a:p>
        </p:txBody>
      </p:sp>
      <p:sp>
        <p:nvSpPr>
          <p:cNvPr id="9" name="Text 7"/>
          <p:cNvSpPr/>
          <p:nvPr/>
        </p:nvSpPr>
        <p:spPr>
          <a:xfrm>
            <a:off x="585216" y="2468880"/>
            <a:ext cx="2324862" cy="3017520"/>
          </a:xfrm>
          <a:prstGeom prst="rect">
            <a:avLst/>
          </a:prstGeom>
          <a:noFill/>
          <a:ln/>
        </p:spPr>
        <p:txBody>
          <a:bodyPr wrap="square" lIns="25400" tIns="25400" rIns="25400" bIns="25400" rtlCol="0" anchor="t"/>
          <a:lstStyle/>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ISS payload hardware certification</a:t>
            </a:r>
            <a:endParaRPr lang="en-US" sz="950" dirty="0"/>
          </a:p>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Commercial wound-care patch trials</a:t>
            </a:r>
            <a:endParaRPr lang="en-US" sz="950" dirty="0"/>
          </a:p>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NASA InSPA Phase 1 grant applications</a:t>
            </a:r>
            <a:endParaRPr lang="en-US" sz="950" dirty="0"/>
          </a:p>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Research tissue models for pharma CROs</a:t>
            </a:r>
            <a:endParaRPr lang="en-US" sz="950" dirty="0"/>
          </a:p>
        </p:txBody>
      </p:sp>
      <p:sp>
        <p:nvSpPr>
          <p:cNvPr id="10" name="Shape 8"/>
          <p:cNvSpPr/>
          <p:nvPr/>
        </p:nvSpPr>
        <p:spPr>
          <a:xfrm>
            <a:off x="585216" y="5833872"/>
            <a:ext cx="2324862" cy="274320"/>
          </a:xfrm>
          <a:prstGeom prst="roundRect">
            <a:avLst>
              <a:gd name="adj" fmla="val 13333"/>
            </a:avLst>
          </a:prstGeom>
          <a:solidFill>
            <a:srgbClr val="0A8F78"/>
          </a:solidFill>
          <a:ln w="12700">
            <a:noFill/>
            <a:prstDash val="solid"/>
          </a:ln>
        </p:spPr>
        <p:txBody>
          <a:bodyPr wrap="square"/>
          <a:p/>
        </p:txBody>
      </p:sp>
      <p:sp>
        <p:nvSpPr>
          <p:cNvPr id="11" name="Text 9"/>
          <p:cNvSpPr/>
          <p:nvPr/>
        </p:nvSpPr>
        <p:spPr>
          <a:xfrm>
            <a:off x="585216" y="5833872"/>
            <a:ext cx="2324862" cy="274320"/>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19" b="1" dirty="0">
                <a:solidFill>
                  <a:srgbClr val="FFFFFF"/>
                </a:solidFill>
                <a:latin typeface="Aptos" pitchFamily="34" charset="0"/>
                <a:ea typeface="Calibri" pitchFamily="34" charset="-122"/>
                <a:cs typeface="Calibri" pitchFamily="34" charset="-120"/>
              </a:rPr>
              <a:t>TRL 4 -&gt; 6</a:t>
            </a:r>
            <a:endParaRPr lang="en-US" sz="900" dirty="0"/>
          </a:p>
        </p:txBody>
      </p:sp>
      <p:sp>
        <p:nvSpPr>
          <p:cNvPr id="12" name="Shape 10"/>
          <p:cNvSpPr/>
          <p:nvPr/>
        </p:nvSpPr>
        <p:spPr>
          <a:xfrm>
            <a:off x="3202686" y="1463040"/>
            <a:ext cx="2580894" cy="4773168"/>
          </a:xfrm>
          <a:prstGeom prst="roundRect">
            <a:avLst>
              <a:gd name="adj" fmla="val 3189"/>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3" name="Text 11"/>
          <p:cNvSpPr/>
          <p:nvPr/>
        </p:nvSpPr>
        <p:spPr>
          <a:xfrm>
            <a:off x="3330702" y="1591056"/>
            <a:ext cx="2324862" cy="23774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60" b="1" spc="150" kern="0" dirty="0">
                <a:solidFill>
                  <a:srgbClr val="0A8F78"/>
                </a:solidFill>
                <a:latin typeface="Aptos" pitchFamily="34" charset="0"/>
                <a:ea typeface="Calibri" pitchFamily="34" charset="-122"/>
                <a:cs typeface="Calibri" pitchFamily="34" charset="-120"/>
              </a:rPr>
              <a:t>PHASE 2</a:t>
            </a:r>
            <a:endParaRPr lang="en-US" sz="950" dirty="0"/>
          </a:p>
        </p:txBody>
      </p:sp>
      <p:sp>
        <p:nvSpPr>
          <p:cNvPr id="14" name="Text 12"/>
          <p:cNvSpPr/>
          <p:nvPr/>
        </p:nvSpPr>
        <p:spPr>
          <a:xfrm>
            <a:off x="3330702" y="1847088"/>
            <a:ext cx="2324862" cy="18288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b="1">
                <a:solidFill>
                  <a:srgbClr val="64739A"/>
                </a:solidFill>
                <a:latin typeface="Aptos" pitchFamily="34" charset="0"/>
                <a:ea typeface="Calibri" pitchFamily="34" charset="-122"/>
                <a:cs typeface="Calibri" pitchFamily="34" charset="-120"/>
              </a:rPr>
              <a:t>Years 3-5</a:t>
            </a:r>
            <a:endParaRPr lang="en-US" sz="900" dirty="0"/>
          </a:p>
        </p:txBody>
      </p:sp>
      <p:sp>
        <p:nvSpPr>
          <p:cNvPr id="15" name="Shape 13"/>
          <p:cNvSpPr/>
          <p:nvPr/>
        </p:nvSpPr>
        <p:spPr>
          <a:xfrm>
            <a:off x="3330702" y="2066544"/>
            <a:ext cx="2324862" cy="0"/>
          </a:xfrm>
          <a:prstGeom prst="line">
            <a:avLst/>
          </a:prstGeom>
          <a:noFill/>
          <a:ln w="12700">
            <a:solidFill>
              <a:srgbClr val="D7E2F0"/>
            </a:solidFill>
            <a:prstDash val="solid"/>
          </a:ln>
        </p:spPr>
        <p:txBody>
          <a:bodyPr wrap="square"/>
          <a:p/>
        </p:txBody>
      </p:sp>
      <p:sp>
        <p:nvSpPr>
          <p:cNvPr id="16" name="Text 14"/>
          <p:cNvSpPr/>
          <p:nvPr/>
        </p:nvSpPr>
        <p:spPr>
          <a:xfrm>
            <a:off x="3330702" y="2139696"/>
            <a:ext cx="2324862" cy="45720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500" b="1" dirty="0">
                <a:solidFill>
                  <a:srgbClr val="0B1330"/>
                </a:solidFill>
                <a:latin typeface="Aptos Display" pitchFamily="34" charset="0"/>
                <a:ea typeface="Cambria" pitchFamily="34" charset="-122"/>
                <a:cs typeface="Cambria" pitchFamily="34" charset="-120"/>
              </a:rPr>
              <a:t>Orthopedic &amp; Cardiac</a:t>
            </a:r>
            <a:endParaRPr lang="en-US" sz="1250" dirty="0"/>
          </a:p>
        </p:txBody>
      </p:sp>
      <p:sp>
        <p:nvSpPr>
          <p:cNvPr id="17" name="Text 15"/>
          <p:cNvSpPr/>
          <p:nvPr/>
        </p:nvSpPr>
        <p:spPr>
          <a:xfrm>
            <a:off x="3330702" y="2468880"/>
            <a:ext cx="2324862" cy="3017520"/>
          </a:xfrm>
          <a:prstGeom prst="rect">
            <a:avLst/>
          </a:prstGeom>
          <a:noFill/>
          <a:ln/>
        </p:spPr>
        <p:txBody>
          <a:bodyPr wrap="square" lIns="25400" tIns="25400" rIns="25400" bIns="25400" rtlCol="0" anchor="t"/>
          <a:lstStyle/>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510(k) filing for wound-care products</a:t>
            </a:r>
            <a:endParaRPr lang="en-US" sz="950" dirty="0"/>
          </a:p>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Orthopedic graft BFF-compatible program</a:t>
            </a:r>
            <a:endParaRPr lang="en-US" sz="950" dirty="0"/>
          </a:p>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Cardiac patch preclinical studies</a:t>
            </a:r>
            <a:endParaRPr lang="en-US" sz="950" dirty="0"/>
          </a:p>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Series B fundraise</a:t>
            </a:r>
            <a:endParaRPr lang="en-US" sz="950" dirty="0"/>
          </a:p>
        </p:txBody>
      </p:sp>
      <p:sp>
        <p:nvSpPr>
          <p:cNvPr id="18" name="Shape 16"/>
          <p:cNvSpPr/>
          <p:nvPr/>
        </p:nvSpPr>
        <p:spPr>
          <a:xfrm>
            <a:off x="3330702" y="5833872"/>
            <a:ext cx="2324862" cy="274320"/>
          </a:xfrm>
          <a:prstGeom prst="roundRect">
            <a:avLst>
              <a:gd name="adj" fmla="val 13333"/>
            </a:avLst>
          </a:prstGeom>
          <a:solidFill>
            <a:srgbClr val="0B1330"/>
          </a:solidFill>
          <a:ln w="12700">
            <a:noFill/>
            <a:prstDash val="solid"/>
          </a:ln>
        </p:spPr>
        <p:txBody>
          <a:bodyPr wrap="square"/>
          <a:p/>
        </p:txBody>
      </p:sp>
      <p:sp>
        <p:nvSpPr>
          <p:cNvPr id="19" name="Text 17"/>
          <p:cNvSpPr/>
          <p:nvPr/>
        </p:nvSpPr>
        <p:spPr>
          <a:xfrm>
            <a:off x="3330702" y="5833872"/>
            <a:ext cx="2324862" cy="274320"/>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19" b="1" dirty="0">
                <a:solidFill>
                  <a:srgbClr val="FFFFFF"/>
                </a:solidFill>
                <a:latin typeface="Aptos" pitchFamily="34" charset="0"/>
                <a:ea typeface="Calibri" pitchFamily="34" charset="-122"/>
                <a:cs typeface="Calibri" pitchFamily="34" charset="-120"/>
              </a:rPr>
              <a:t>TRL 6 -&gt; 8</a:t>
            </a:r>
            <a:endParaRPr lang="en-US" sz="900" dirty="0"/>
          </a:p>
        </p:txBody>
      </p:sp>
      <p:sp>
        <p:nvSpPr>
          <p:cNvPr id="20" name="Shape 18"/>
          <p:cNvSpPr/>
          <p:nvPr/>
        </p:nvSpPr>
        <p:spPr>
          <a:xfrm>
            <a:off x="5948172" y="1463040"/>
            <a:ext cx="2580894" cy="4773168"/>
          </a:xfrm>
          <a:prstGeom prst="roundRect">
            <a:avLst>
              <a:gd name="adj" fmla="val 3189"/>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21" name="Text 19"/>
          <p:cNvSpPr/>
          <p:nvPr/>
        </p:nvSpPr>
        <p:spPr>
          <a:xfrm>
            <a:off x="6076188" y="1591056"/>
            <a:ext cx="2324862" cy="23774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60" b="1" spc="150" kern="0" dirty="0">
                <a:solidFill>
                  <a:srgbClr val="0A8F78"/>
                </a:solidFill>
                <a:latin typeface="Aptos" pitchFamily="34" charset="0"/>
                <a:ea typeface="Calibri" pitchFamily="34" charset="-122"/>
                <a:cs typeface="Calibri" pitchFamily="34" charset="-120"/>
              </a:rPr>
              <a:t>PHASE 3</a:t>
            </a:r>
            <a:endParaRPr lang="en-US" sz="950" dirty="0"/>
          </a:p>
        </p:txBody>
      </p:sp>
      <p:sp>
        <p:nvSpPr>
          <p:cNvPr id="22" name="Text 20"/>
          <p:cNvSpPr/>
          <p:nvPr/>
        </p:nvSpPr>
        <p:spPr>
          <a:xfrm>
            <a:off x="6076188" y="1847088"/>
            <a:ext cx="2324862" cy="18288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b="1">
                <a:solidFill>
                  <a:srgbClr val="64739A"/>
                </a:solidFill>
                <a:latin typeface="Aptos" pitchFamily="34" charset="0"/>
                <a:ea typeface="Calibri" pitchFamily="34" charset="-122"/>
                <a:cs typeface="Calibri" pitchFamily="34" charset="-120"/>
              </a:rPr>
              <a:t>Years 6-9</a:t>
            </a:r>
            <a:endParaRPr lang="en-US" sz="900" dirty="0"/>
          </a:p>
        </p:txBody>
      </p:sp>
      <p:sp>
        <p:nvSpPr>
          <p:cNvPr id="23" name="Shape 21"/>
          <p:cNvSpPr/>
          <p:nvPr/>
        </p:nvSpPr>
        <p:spPr>
          <a:xfrm>
            <a:off x="6076188" y="2066544"/>
            <a:ext cx="2324862" cy="0"/>
          </a:xfrm>
          <a:prstGeom prst="line">
            <a:avLst/>
          </a:prstGeom>
          <a:noFill/>
          <a:ln w="12700">
            <a:solidFill>
              <a:srgbClr val="D7E2F0"/>
            </a:solidFill>
            <a:prstDash val="solid"/>
          </a:ln>
        </p:spPr>
        <p:txBody>
          <a:bodyPr wrap="square"/>
          <a:p/>
        </p:txBody>
      </p:sp>
      <p:sp>
        <p:nvSpPr>
          <p:cNvPr id="24" name="Text 22"/>
          <p:cNvSpPr/>
          <p:nvPr/>
        </p:nvSpPr>
        <p:spPr>
          <a:xfrm>
            <a:off x="6076188" y="2139696"/>
            <a:ext cx="2324862" cy="45720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500" b="1" dirty="0">
                <a:solidFill>
                  <a:srgbClr val="0B1330"/>
                </a:solidFill>
                <a:latin typeface="Aptos Display" pitchFamily="34" charset="0"/>
                <a:ea typeface="Cambria" pitchFamily="34" charset="-122"/>
                <a:cs typeface="Cambria" pitchFamily="34" charset="-120"/>
              </a:rPr>
              <a:t>Retinal &amp; Vascular</a:t>
            </a:r>
            <a:endParaRPr lang="en-US" sz="1250" dirty="0"/>
          </a:p>
        </p:txBody>
      </p:sp>
      <p:sp>
        <p:nvSpPr>
          <p:cNvPr id="25" name="Text 23"/>
          <p:cNvSpPr/>
          <p:nvPr/>
        </p:nvSpPr>
        <p:spPr>
          <a:xfrm>
            <a:off x="6076188" y="2468880"/>
            <a:ext cx="2324862" cy="3017520"/>
          </a:xfrm>
          <a:prstGeom prst="rect">
            <a:avLst/>
          </a:prstGeom>
          <a:noFill/>
          <a:ln/>
        </p:spPr>
        <p:txBody>
          <a:bodyPr wrap="square" lIns="25400" tIns="25400" rIns="25400" bIns="25400" rtlCol="0" anchor="t"/>
          <a:lstStyle/>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Clinical trials for retinal constructs</a:t>
            </a:r>
            <a:endParaRPr lang="en-US" sz="950" dirty="0"/>
          </a:p>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FDA PMA pathway engagement</a:t>
            </a:r>
            <a:endParaRPr lang="en-US" sz="950" dirty="0"/>
          </a:p>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Expand to Orbital Reef / Axiom</a:t>
            </a:r>
            <a:endParaRPr lang="en-US" sz="950" dirty="0"/>
          </a:p>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Series C / pre-IPO raise</a:t>
            </a:r>
            <a:endParaRPr lang="en-US" sz="950" dirty="0"/>
          </a:p>
        </p:txBody>
      </p:sp>
      <p:sp>
        <p:nvSpPr>
          <p:cNvPr id="26" name="Shape 24"/>
          <p:cNvSpPr/>
          <p:nvPr/>
        </p:nvSpPr>
        <p:spPr>
          <a:xfrm>
            <a:off x="6076188" y="5833872"/>
            <a:ext cx="2324862" cy="274320"/>
          </a:xfrm>
          <a:prstGeom prst="roundRect">
            <a:avLst>
              <a:gd name="adj" fmla="val 13333"/>
            </a:avLst>
          </a:prstGeom>
          <a:solidFill>
            <a:srgbClr val="0B1330"/>
          </a:solidFill>
          <a:ln w="12700">
            <a:noFill/>
            <a:prstDash val="solid"/>
          </a:ln>
        </p:spPr>
        <p:txBody>
          <a:bodyPr wrap="square"/>
          <a:p/>
        </p:txBody>
      </p:sp>
      <p:sp>
        <p:nvSpPr>
          <p:cNvPr id="27" name="Text 25"/>
          <p:cNvSpPr/>
          <p:nvPr/>
        </p:nvSpPr>
        <p:spPr>
          <a:xfrm>
            <a:off x="6076188" y="5833872"/>
            <a:ext cx="2324862" cy="274320"/>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19" b="1" dirty="0">
                <a:solidFill>
                  <a:srgbClr val="FFFFFF"/>
                </a:solidFill>
                <a:latin typeface="Aptos" pitchFamily="34" charset="0"/>
                <a:ea typeface="Calibri" pitchFamily="34" charset="-122"/>
                <a:cs typeface="Calibri" pitchFamily="34" charset="-120"/>
              </a:rPr>
              <a:t>TRL 7 -&gt; 9</a:t>
            </a:r>
            <a:endParaRPr lang="en-US" sz="900" dirty="0"/>
          </a:p>
        </p:txBody>
      </p:sp>
      <p:sp>
        <p:nvSpPr>
          <p:cNvPr id="28" name="Shape 26"/>
          <p:cNvSpPr/>
          <p:nvPr/>
        </p:nvSpPr>
        <p:spPr>
          <a:xfrm>
            <a:off x="8693658" y="1463040"/>
            <a:ext cx="2580894" cy="4773168"/>
          </a:xfrm>
          <a:prstGeom prst="roundRect">
            <a:avLst>
              <a:gd name="adj" fmla="val 3189"/>
            </a:avLst>
          </a:prstGeom>
          <a:solidFill>
            <a:srgbClr val="ECF2F9"/>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29" name="Text 27"/>
          <p:cNvSpPr/>
          <p:nvPr/>
        </p:nvSpPr>
        <p:spPr>
          <a:xfrm>
            <a:off x="8821674" y="1591056"/>
            <a:ext cx="2324862" cy="23774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60" b="1" spc="150" kern="0" dirty="0">
                <a:solidFill>
                  <a:srgbClr val="0A8F78"/>
                </a:solidFill>
                <a:latin typeface="Aptos" pitchFamily="34" charset="0"/>
                <a:ea typeface="Calibri" pitchFamily="34" charset="-122"/>
                <a:cs typeface="Calibri" pitchFamily="34" charset="-120"/>
              </a:rPr>
              <a:t>PHASE 4</a:t>
            </a:r>
            <a:endParaRPr lang="en-US" sz="950" dirty="0"/>
          </a:p>
        </p:txBody>
      </p:sp>
      <p:sp>
        <p:nvSpPr>
          <p:cNvPr id="30" name="Text 28"/>
          <p:cNvSpPr/>
          <p:nvPr/>
        </p:nvSpPr>
        <p:spPr>
          <a:xfrm>
            <a:off x="8821674" y="1847088"/>
            <a:ext cx="2324862" cy="18288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b="1">
                <a:solidFill>
                  <a:srgbClr val="64739A"/>
                </a:solidFill>
                <a:latin typeface="Aptos" pitchFamily="34" charset="0"/>
                <a:ea typeface="Calibri" pitchFamily="34" charset="-122"/>
                <a:cs typeface="Calibri" pitchFamily="34" charset="-120"/>
              </a:rPr>
              <a:t>Year 10+</a:t>
            </a:r>
            <a:endParaRPr lang="en-US" sz="900" dirty="0"/>
          </a:p>
        </p:txBody>
      </p:sp>
      <p:sp>
        <p:nvSpPr>
          <p:cNvPr id="31" name="Shape 29"/>
          <p:cNvSpPr/>
          <p:nvPr/>
        </p:nvSpPr>
        <p:spPr>
          <a:xfrm>
            <a:off x="8821674" y="2066544"/>
            <a:ext cx="2324862" cy="0"/>
          </a:xfrm>
          <a:prstGeom prst="line">
            <a:avLst/>
          </a:prstGeom>
          <a:noFill/>
          <a:ln w="12700">
            <a:solidFill>
              <a:srgbClr val="1B2747"/>
            </a:solidFill>
            <a:prstDash val="solid"/>
          </a:ln>
        </p:spPr>
        <p:txBody>
          <a:bodyPr wrap="square"/>
          <a:p/>
        </p:txBody>
      </p:sp>
      <p:sp>
        <p:nvSpPr>
          <p:cNvPr id="32" name="Text 30"/>
          <p:cNvSpPr/>
          <p:nvPr/>
        </p:nvSpPr>
        <p:spPr>
          <a:xfrm>
            <a:off x="8821674" y="2139696"/>
            <a:ext cx="2324862" cy="45720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500" b="1" dirty="0">
                <a:solidFill>
                  <a:srgbClr val="0B1330"/>
                </a:solidFill>
                <a:latin typeface="Aptos Display" pitchFamily="34" charset="0"/>
                <a:ea typeface="Cambria" pitchFamily="34" charset="-122"/>
                <a:cs typeface="Cambria" pitchFamily="34" charset="-120"/>
              </a:rPr>
              <a:t>Whole-Organ Platform</a:t>
            </a:r>
            <a:endParaRPr lang="en-US" sz="1250" dirty="0"/>
          </a:p>
        </p:txBody>
      </p:sp>
      <p:sp>
        <p:nvSpPr>
          <p:cNvPr id="33" name="Text 31"/>
          <p:cNvSpPr/>
          <p:nvPr/>
        </p:nvSpPr>
        <p:spPr>
          <a:xfrm>
            <a:off x="8821674" y="2468880"/>
            <a:ext cx="2324862" cy="3017520"/>
          </a:xfrm>
          <a:prstGeom prst="rect">
            <a:avLst/>
          </a:prstGeom>
          <a:noFill/>
          <a:ln/>
        </p:spPr>
        <p:txBody>
          <a:bodyPr wrap="square" lIns="25400" tIns="25400" rIns="25400" bIns="25400" rtlCol="0" anchor="t"/>
          <a:lstStyle/>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Vascularised full-organ constructs</a:t>
            </a:r>
            <a:endParaRPr lang="en-US" sz="950" dirty="0"/>
          </a:p>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Commercial station scale-up</a:t>
            </a:r>
            <a:endParaRPr lang="en-US" sz="950" dirty="0"/>
          </a:p>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Platform licensing to pharma majors</a:t>
            </a:r>
            <a:endParaRPr lang="en-US" sz="950" dirty="0"/>
          </a:p>
          <a:p>
            <a:pPr marL="342900" indent="-342900">
              <a:lnSpc>
                <a:spcPct val="102000"/>
              </a:lnSpc>
              <a:spcBef>
                <a:spcPts val="0"/>
              </a:spcBef>
              <a:spcAft>
                <a:spcPts val="0"/>
              </a:spcAft>
              <a:buSzPct val="100000"/>
              <a:buChar char="•"/>
            </a:pPr>
            <a:r>
              <a:rPr lang="en-US" sz="1019" dirty="0">
                <a:solidFill>
                  <a:srgbClr val="3D4663"/>
                </a:solidFill>
                <a:latin typeface="Aptos" pitchFamily="34" charset="0"/>
                <a:ea typeface="Calibri" pitchFamily="34" charset="-122"/>
                <a:cs typeface="Calibri" pitchFamily="34" charset="-120"/>
              </a:rPr>
              <a:t>IPO or strategic exit</a:t>
            </a:r>
            <a:endParaRPr lang="en-US" sz="950" dirty="0"/>
          </a:p>
        </p:txBody>
      </p:sp>
      <p:sp>
        <p:nvSpPr>
          <p:cNvPr id="34" name="Shape 32"/>
          <p:cNvSpPr/>
          <p:nvPr/>
        </p:nvSpPr>
        <p:spPr>
          <a:xfrm>
            <a:off x="8821674" y="5833872"/>
            <a:ext cx="2324862" cy="274320"/>
          </a:xfrm>
          <a:prstGeom prst="roundRect">
            <a:avLst>
              <a:gd name="adj" fmla="val 13333"/>
            </a:avLst>
          </a:prstGeom>
          <a:solidFill>
            <a:srgbClr val="0A8F78"/>
          </a:solidFill>
          <a:ln w="12700">
            <a:noFill/>
            <a:prstDash val="solid"/>
          </a:ln>
        </p:spPr>
        <p:txBody>
          <a:bodyPr wrap="square"/>
          <a:p/>
        </p:txBody>
      </p:sp>
      <p:sp>
        <p:nvSpPr>
          <p:cNvPr id="35" name="Text 33"/>
          <p:cNvSpPr/>
          <p:nvPr/>
        </p:nvSpPr>
        <p:spPr>
          <a:xfrm>
            <a:off x="8821674" y="5833872"/>
            <a:ext cx="2324862" cy="274320"/>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19" b="1" dirty="0">
                <a:solidFill>
                  <a:srgbClr val="FFFFFF"/>
                </a:solidFill>
                <a:latin typeface="Aptos" pitchFamily="34" charset="0"/>
                <a:ea typeface="Calibri" pitchFamily="34" charset="-122"/>
                <a:cs typeface="Calibri" pitchFamily="34" charset="-120"/>
              </a:rPr>
              <a:t>TRL 9+</a:t>
            </a:r>
            <a:endParaRPr lang="en-US" sz="900" dirty="0"/>
          </a:p>
        </p:txBody>
      </p:sp>
      <p:sp>
        <p:nvSpPr>
          <p:cNvPr id="36" name="Text 34"/>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COMPETITIVE LANDSCAPE</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Samuel Space Targets the Space-Based Clinical Quadrant</a:t>
            </a:r>
            <a:endParaRPr lang="en-US" sz="2700" dirty="0"/>
          </a:p>
        </p:txBody>
      </p:sp>
      <p:sp>
        <p:nvSpPr>
          <p:cNvPr id="4" name="Shape 2"/>
          <p:cNvSpPr/>
          <p:nvPr/>
        </p:nvSpPr>
        <p:spPr>
          <a:xfrm>
            <a:off x="914400" y="1426464"/>
            <a:ext cx="9875520" cy="4956048"/>
          </a:xfrm>
          <a:prstGeom prst="rect">
            <a:avLst/>
          </a:prstGeom>
          <a:solidFill>
            <a:srgbClr val="FFFFFF"/>
          </a:solidFill>
          <a:ln w="12700">
            <a:solidFill>
              <a:srgbClr val="DBE4F0">
                <a:alpha val="0"/>
              </a:srgbClr>
            </a:solidFill>
            <a:prstDash val="solid"/>
          </a:ln>
        </p:spPr>
        <p:txBody>
          <a:bodyPr wrap="square"/>
          <a:p/>
        </p:txBody>
      </p:sp>
      <p:sp>
        <p:nvSpPr>
          <p:cNvPr id="5" name="Shape 3"/>
          <p:cNvSpPr/>
          <p:nvPr/>
        </p:nvSpPr>
        <p:spPr>
          <a:xfrm>
            <a:off x="914400" y="3904488"/>
            <a:ext cx="9875520" cy="0"/>
          </a:xfrm>
          <a:prstGeom prst="line">
            <a:avLst/>
          </a:prstGeom>
          <a:noFill/>
          <a:ln w="15240">
            <a:solidFill>
              <a:srgbClr val="D0DAE6"/>
            </a:solidFill>
            <a:prstDash val="solid"/>
          </a:ln>
        </p:spPr>
        <p:txBody>
          <a:bodyPr wrap="square"/>
          <a:p/>
        </p:txBody>
      </p:sp>
      <p:sp>
        <p:nvSpPr>
          <p:cNvPr id="6" name="Shape 4"/>
          <p:cNvSpPr/>
          <p:nvPr/>
        </p:nvSpPr>
        <p:spPr>
          <a:xfrm>
            <a:off x="5852160" y="1426464"/>
            <a:ext cx="0" cy="4956048"/>
          </a:xfrm>
          <a:prstGeom prst="line">
            <a:avLst/>
          </a:prstGeom>
          <a:noFill/>
          <a:ln w="15240">
            <a:solidFill>
              <a:srgbClr val="D0DAE6"/>
            </a:solidFill>
            <a:prstDash val="solid"/>
          </a:ln>
        </p:spPr>
        <p:txBody>
          <a:bodyPr wrap="square"/>
          <a:p/>
        </p:txBody>
      </p:sp>
      <p:sp>
        <p:nvSpPr>
          <p:cNvPr id="7" name="Text 5"/>
          <p:cNvSpPr/>
          <p:nvPr/>
        </p:nvSpPr>
        <p:spPr>
          <a:xfrm>
            <a:off x="1097280" y="1517904"/>
            <a:ext cx="4663440" cy="219456"/>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50" b="1" spc="120" kern="0" dirty="0">
                <a:solidFill>
                  <a:srgbClr val="3D4663"/>
                </a:solidFill>
                <a:latin typeface="Aptos" pitchFamily="34" charset="0"/>
                <a:ea typeface="Calibri" pitchFamily="34" charset="-122"/>
                <a:cs typeface="Calibri" pitchFamily="34" charset="-120"/>
              </a:rPr>
              <a:t>EARTH-BASED</a:t>
            </a:r>
            <a:endParaRPr lang="en-US" sz="950" dirty="0"/>
          </a:p>
        </p:txBody>
      </p:sp>
      <p:sp>
        <p:nvSpPr>
          <p:cNvPr id="8" name="Text 6"/>
          <p:cNvSpPr/>
          <p:nvPr/>
        </p:nvSpPr>
        <p:spPr>
          <a:xfrm>
            <a:off x="5943600" y="1517904"/>
            <a:ext cx="4754880" cy="219456"/>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050" b="1" spc="120" kern="0" dirty="0">
                <a:solidFill>
                  <a:srgbClr val="0A8F78"/>
                </a:solidFill>
                <a:latin typeface="Aptos" pitchFamily="34" charset="0"/>
                <a:ea typeface="Calibri" pitchFamily="34" charset="-122"/>
                <a:cs typeface="Calibri" pitchFamily="34" charset="-120"/>
              </a:rPr>
              <a:t>SPACE-BASED</a:t>
            </a:r>
            <a:endParaRPr lang="en-US" sz="950" dirty="0"/>
          </a:p>
        </p:txBody>
      </p:sp>
      <p:sp>
        <p:nvSpPr>
          <p:cNvPr id="9" name="Text 7"/>
          <p:cNvSpPr/>
          <p:nvPr/>
        </p:nvSpPr>
        <p:spPr>
          <a:xfrm>
            <a:off x="1005840" y="1755648"/>
            <a:ext cx="1737360" cy="18288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940" dirty="0" b="1">
                <a:solidFill>
                  <a:srgbClr val="64739A"/>
                </a:solidFill>
                <a:latin typeface="Aptos" pitchFamily="34" charset="0"/>
                <a:ea typeface="Calibri" pitchFamily="34" charset="-122"/>
                <a:cs typeface="Calibri" pitchFamily="34" charset="-120"/>
              </a:rPr>
              <a:t>CLINICAL / COMMERCIAL</a:t>
            </a:r>
            <a:endParaRPr lang="en-US" sz="800" dirty="0"/>
          </a:p>
        </p:txBody>
      </p:sp>
      <p:sp>
        <p:nvSpPr>
          <p:cNvPr id="10" name="Text 8"/>
          <p:cNvSpPr/>
          <p:nvPr/>
        </p:nvSpPr>
        <p:spPr>
          <a:xfrm>
            <a:off x="1005840" y="6126480"/>
            <a:ext cx="1737360" cy="18288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940" dirty="0" b="1">
                <a:solidFill>
                  <a:srgbClr val="64739A"/>
                </a:solidFill>
                <a:latin typeface="Aptos" pitchFamily="34" charset="0"/>
                <a:ea typeface="Calibri" pitchFamily="34" charset="-122"/>
                <a:cs typeface="Calibri" pitchFamily="34" charset="-120"/>
              </a:rPr>
              <a:t>EARLY RESEARCH</a:t>
            </a:r>
            <a:endParaRPr lang="en-US" sz="800" dirty="0"/>
          </a:p>
        </p:txBody>
      </p:sp>
      <p:sp>
        <p:nvSpPr>
          <p:cNvPr id="11" name="Shape 9"/>
          <p:cNvSpPr/>
          <p:nvPr/>
        </p:nvSpPr>
        <p:spPr>
          <a:xfrm>
            <a:off x="1603858" y="3209178"/>
            <a:ext cx="201168" cy="201168"/>
          </a:xfrm>
          <a:prstGeom prst="ellipse">
            <a:avLst/>
          </a:prstGeom>
          <a:solidFill>
            <a:srgbClr val="3D4663"/>
          </a:solidFill>
          <a:ln w="12700">
            <a:noFill/>
            <a:prstDash val="solid"/>
          </a:ln>
        </p:spPr>
        <p:txBody>
          <a:bodyPr wrap="square"/>
          <a:p/>
        </p:txBody>
      </p:sp>
      <p:sp>
        <p:nvSpPr>
          <p:cNvPr id="12" name="Text 10"/>
          <p:cNvSpPr/>
          <p:nvPr/>
        </p:nvSpPr>
        <p:spPr>
          <a:xfrm>
            <a:off x="1201522" y="3456066"/>
            <a:ext cx="1005840" cy="310896"/>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919" dirty="0" b="0">
                <a:solidFill>
                  <a:srgbClr val="3D4663"/>
                </a:solidFill>
                <a:latin typeface="Aptos" pitchFamily="34" charset="0"/>
                <a:ea typeface="Calibri" pitchFamily="34" charset="-122"/>
                <a:cs typeface="Calibri" pitchFamily="34" charset="-120"/>
              </a:rPr>
              <a:t>Cellink / BICO</a:t>
            </a:r>
            <a:endParaRPr lang="en-US" sz="750" dirty="0"/>
          </a:p>
        </p:txBody>
      </p:sp>
      <p:sp>
        <p:nvSpPr>
          <p:cNvPr id="13" name="Shape 11"/>
          <p:cNvSpPr/>
          <p:nvPr/>
        </p:nvSpPr>
        <p:spPr>
          <a:xfrm>
            <a:off x="1702613" y="4101267"/>
            <a:ext cx="201168" cy="201168"/>
          </a:xfrm>
          <a:prstGeom prst="ellipse">
            <a:avLst/>
          </a:prstGeom>
          <a:solidFill>
            <a:srgbClr val="3D4663"/>
          </a:solidFill>
          <a:ln w="12700">
            <a:noFill/>
            <a:prstDash val="solid"/>
          </a:ln>
        </p:spPr>
        <p:txBody>
          <a:bodyPr wrap="square"/>
          <a:p/>
        </p:txBody>
      </p:sp>
      <p:sp>
        <p:nvSpPr>
          <p:cNvPr id="14" name="Text 12"/>
          <p:cNvSpPr/>
          <p:nvPr/>
        </p:nvSpPr>
        <p:spPr>
          <a:xfrm>
            <a:off x="1300277" y="4348155"/>
            <a:ext cx="1005840" cy="310896"/>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919" dirty="0" b="0">
                <a:solidFill>
                  <a:srgbClr val="3D4663"/>
                </a:solidFill>
                <a:latin typeface="Aptos" pitchFamily="34" charset="0"/>
                <a:ea typeface="Calibri" pitchFamily="34" charset="-122"/>
                <a:cs typeface="Calibri" pitchFamily="34" charset="-120"/>
              </a:rPr>
              <a:t>Organovo</a:t>
            </a:r>
            <a:endParaRPr lang="en-US" sz="750" dirty="0"/>
          </a:p>
        </p:txBody>
      </p:sp>
      <p:sp>
        <p:nvSpPr>
          <p:cNvPr id="15" name="Shape 13"/>
          <p:cNvSpPr/>
          <p:nvPr/>
        </p:nvSpPr>
        <p:spPr>
          <a:xfrm>
            <a:off x="2097634" y="2564892"/>
            <a:ext cx="201168" cy="201168"/>
          </a:xfrm>
          <a:prstGeom prst="ellipse">
            <a:avLst/>
          </a:prstGeom>
          <a:solidFill>
            <a:srgbClr val="3D4663"/>
          </a:solidFill>
          <a:ln w="12700">
            <a:noFill/>
            <a:prstDash val="solid"/>
          </a:ln>
        </p:spPr>
        <p:txBody>
          <a:bodyPr wrap="square"/>
          <a:p/>
        </p:txBody>
      </p:sp>
      <p:sp>
        <p:nvSpPr>
          <p:cNvPr id="16" name="Text 14"/>
          <p:cNvSpPr/>
          <p:nvPr/>
        </p:nvSpPr>
        <p:spPr>
          <a:xfrm>
            <a:off x="1695298" y="2811780"/>
            <a:ext cx="1005840" cy="310896"/>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919" dirty="0" b="0">
                <a:solidFill>
                  <a:srgbClr val="3D4663"/>
                </a:solidFill>
                <a:latin typeface="Aptos" pitchFamily="34" charset="0"/>
                <a:ea typeface="Calibri" pitchFamily="34" charset="-122"/>
                <a:cs typeface="Calibri" pitchFamily="34" charset="-120"/>
              </a:rPr>
              <a:t>3D Systems (Med)</a:t>
            </a:r>
            <a:endParaRPr lang="en-US" sz="750" dirty="0"/>
          </a:p>
        </p:txBody>
      </p:sp>
      <p:sp>
        <p:nvSpPr>
          <p:cNvPr id="17" name="Shape 15"/>
          <p:cNvSpPr/>
          <p:nvPr/>
        </p:nvSpPr>
        <p:spPr>
          <a:xfrm>
            <a:off x="7825435" y="3556102"/>
            <a:ext cx="201168" cy="201168"/>
          </a:xfrm>
          <a:prstGeom prst="ellipse">
            <a:avLst/>
          </a:prstGeom>
          <a:solidFill>
            <a:srgbClr val="3D4663"/>
          </a:solidFill>
          <a:ln w="12700">
            <a:noFill/>
            <a:prstDash val="solid"/>
          </a:ln>
        </p:spPr>
        <p:txBody>
          <a:bodyPr wrap="square"/>
          <a:p/>
        </p:txBody>
      </p:sp>
      <p:sp>
        <p:nvSpPr>
          <p:cNvPr id="18" name="Text 16"/>
          <p:cNvSpPr/>
          <p:nvPr/>
        </p:nvSpPr>
        <p:spPr>
          <a:xfrm>
            <a:off x="7423099" y="3802990"/>
            <a:ext cx="1005840" cy="310896"/>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919" dirty="0" b="0">
                <a:solidFill>
                  <a:srgbClr val="3D4663"/>
                </a:solidFill>
                <a:latin typeface="Aptos" pitchFamily="34" charset="0"/>
                <a:ea typeface="Calibri" pitchFamily="34" charset="-122"/>
                <a:cs typeface="Calibri" pitchFamily="34" charset="-120"/>
              </a:rPr>
              <a:t>Redwire BFF</a:t>
            </a:r>
            <a:endParaRPr lang="en-US" sz="750" dirty="0"/>
          </a:p>
        </p:txBody>
      </p:sp>
      <p:sp>
        <p:nvSpPr>
          <p:cNvPr id="19" name="Shape 17"/>
          <p:cNvSpPr/>
          <p:nvPr/>
        </p:nvSpPr>
        <p:spPr>
          <a:xfrm>
            <a:off x="8911742" y="2812694"/>
            <a:ext cx="201168" cy="201168"/>
          </a:xfrm>
          <a:prstGeom prst="ellipse">
            <a:avLst/>
          </a:prstGeom>
          <a:solidFill>
            <a:srgbClr val="0A8F78"/>
          </a:solidFill>
          <a:ln w="12700">
            <a:noFill/>
            <a:prstDash val="solid"/>
          </a:ln>
        </p:spPr>
        <p:txBody>
          <a:bodyPr wrap="square"/>
          <a:p/>
        </p:txBody>
      </p:sp>
      <p:sp>
        <p:nvSpPr>
          <p:cNvPr id="20" name="Text 18"/>
          <p:cNvSpPr/>
          <p:nvPr/>
        </p:nvSpPr>
        <p:spPr>
          <a:xfrm>
            <a:off x="8509406" y="3059582"/>
            <a:ext cx="1005840" cy="310896"/>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919" dirty="0" b="0">
                <a:solidFill>
                  <a:srgbClr val="3D4663"/>
                </a:solidFill>
                <a:latin typeface="Aptos" pitchFamily="34" charset="0"/>
                <a:ea typeface="Calibri" pitchFamily="34" charset="-122"/>
                <a:cs typeface="Calibri" pitchFamily="34" charset="-120"/>
              </a:rPr>
              <a:t>LambdaVision</a:t>
            </a:r>
            <a:endParaRPr lang="en-US" sz="750" dirty="0"/>
          </a:p>
        </p:txBody>
      </p:sp>
      <p:sp>
        <p:nvSpPr>
          <p:cNvPr id="21" name="Shape 19"/>
          <p:cNvSpPr/>
          <p:nvPr/>
        </p:nvSpPr>
        <p:spPr>
          <a:xfrm>
            <a:off x="6541618" y="4894235"/>
            <a:ext cx="201168" cy="201168"/>
          </a:xfrm>
          <a:prstGeom prst="ellipse">
            <a:avLst/>
          </a:prstGeom>
          <a:solidFill>
            <a:srgbClr val="3D4663"/>
          </a:solidFill>
          <a:ln w="12700">
            <a:noFill/>
            <a:prstDash val="solid"/>
          </a:ln>
        </p:spPr>
        <p:txBody>
          <a:bodyPr wrap="square"/>
          <a:p/>
        </p:txBody>
      </p:sp>
      <p:sp>
        <p:nvSpPr>
          <p:cNvPr id="22" name="Text 20"/>
          <p:cNvSpPr/>
          <p:nvPr/>
        </p:nvSpPr>
        <p:spPr>
          <a:xfrm>
            <a:off x="6139282" y="5141123"/>
            <a:ext cx="1005840" cy="310896"/>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919" dirty="0" b="0">
                <a:solidFill>
                  <a:srgbClr val="3D4663"/>
                </a:solidFill>
                <a:latin typeface="Aptos" pitchFamily="34" charset="0"/>
                <a:ea typeface="Calibri" pitchFamily="34" charset="-122"/>
                <a:cs typeface="Calibri" pitchFamily="34" charset="-120"/>
              </a:rPr>
              <a:t>ROSCOSMOS /</a:t>
            </a:r>
            <a:endParaRPr lang="en-US" sz="750" dirty="0"/>
          </a:p>
          <a:p>
            <a:pPr algn="ctr" indent="0" marL="0">
              <a:lnSpc>
                <a:spcPct val="102000"/>
              </a:lnSpc>
              <a:spcBef>
                <a:spcPts val="0"/>
              </a:spcBef>
              <a:spcAft>
                <a:spcPts val="0"/>
              </a:spcAft>
              <a:buNone/>
            </a:pPr>
            <a:r>
              <a:rPr lang="en-US" sz="919" dirty="0" b="0">
                <a:solidFill>
                  <a:srgbClr val="3D4663"/>
                </a:solidFill>
                <a:latin typeface="Aptos" pitchFamily="34" charset="0"/>
                <a:ea typeface="Calibri" pitchFamily="34" charset="-122"/>
                <a:cs typeface="Calibri" pitchFamily="34" charset="-120"/>
              </a:rPr>
              <a:t>3D BPS</a:t>
            </a:r>
            <a:endParaRPr lang="en-US" sz="750" dirty="0"/>
          </a:p>
        </p:txBody>
      </p:sp>
      <p:sp>
        <p:nvSpPr>
          <p:cNvPr id="23" name="Shape 21"/>
          <p:cNvSpPr/>
          <p:nvPr/>
        </p:nvSpPr>
        <p:spPr>
          <a:xfrm>
            <a:off x="6839712" y="4499214"/>
            <a:ext cx="1382573" cy="-2180661"/>
          </a:xfrm>
          <a:prstGeom prst="line">
            <a:avLst/>
          </a:prstGeom>
          <a:noFill/>
          <a:ln w="22860">
            <a:solidFill>
              <a:srgbClr val="12C9AA"/>
            </a:solidFill>
            <a:prstDash val="dash"/>
          </a:ln>
        </p:spPr>
        <p:txBody>
          <a:bodyPr wrap="square"/>
          <a:p/>
        </p:txBody>
      </p:sp>
      <p:sp>
        <p:nvSpPr>
          <p:cNvPr id="24" name="Shape 22"/>
          <p:cNvSpPr/>
          <p:nvPr/>
        </p:nvSpPr>
        <p:spPr>
          <a:xfrm>
            <a:off x="6739128" y="4398630"/>
            <a:ext cx="201168" cy="201168"/>
          </a:xfrm>
          <a:prstGeom prst="ellipse">
            <a:avLst/>
          </a:prstGeom>
          <a:solidFill>
            <a:srgbClr val="FFFFFF"/>
          </a:solidFill>
          <a:ln w="25400">
            <a:noFill/>
            <a:prstDash val="solid"/>
          </a:ln>
        </p:spPr>
        <p:txBody>
          <a:bodyPr wrap="square"/>
          <a:p/>
        </p:txBody>
      </p:sp>
      <p:sp>
        <p:nvSpPr>
          <p:cNvPr id="25" name="Text 23"/>
          <p:cNvSpPr/>
          <p:nvPr/>
        </p:nvSpPr>
        <p:spPr>
          <a:xfrm>
            <a:off x="6245352" y="4608942"/>
            <a:ext cx="822960" cy="182880"/>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919" dirty="0" b="1">
                <a:solidFill>
                  <a:srgbClr val="3D4663"/>
                </a:solidFill>
                <a:latin typeface="Aptos" pitchFamily="34" charset="0"/>
                <a:ea typeface="Calibri" pitchFamily="34" charset="-122"/>
                <a:cs typeface="Calibri" pitchFamily="34" charset="-120"/>
              </a:rPr>
              <a:t>Entry</a:t>
            </a:r>
            <a:endParaRPr lang="en-US" sz="750" dirty="0"/>
          </a:p>
        </p:txBody>
      </p:sp>
      <p:sp>
        <p:nvSpPr>
          <p:cNvPr id="26" name="Shape 24"/>
          <p:cNvSpPr/>
          <p:nvPr/>
        </p:nvSpPr>
        <p:spPr>
          <a:xfrm>
            <a:off x="8066837" y="2163105"/>
            <a:ext cx="310896" cy="310896"/>
          </a:xfrm>
          <a:prstGeom prst="ellipse">
            <a:avLst/>
          </a:prstGeom>
          <a:solidFill>
            <a:srgbClr val="0A8F78"/>
          </a:solidFill>
          <a:ln w="12700">
            <a:noFill/>
            <a:prstDash val="solid"/>
          </a:ln>
        </p:spPr>
        <p:txBody>
          <a:bodyPr wrap="square"/>
          <a:p/>
        </p:txBody>
      </p:sp>
      <p:sp>
        <p:nvSpPr>
          <p:cNvPr id="27" name="Text 25"/>
          <p:cNvSpPr/>
          <p:nvPr/>
        </p:nvSpPr>
        <p:spPr>
          <a:xfrm>
            <a:off x="8423453" y="2181393"/>
            <a:ext cx="1371600" cy="329184"/>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180" b="1" dirty="0">
                <a:solidFill>
                  <a:srgbClr val="0A8F78"/>
                </a:solidFill>
                <a:latin typeface="Aptos Display" pitchFamily="34" charset="0"/>
                <a:ea typeface="Calibri" pitchFamily="34" charset="-122"/>
                <a:cs typeface="Calibri" pitchFamily="34" charset="-120"/>
              </a:rPr>
              <a:t>Samuel Space</a:t>
            </a:r>
            <a:endParaRPr lang="en-US" sz="850" dirty="0"/>
          </a:p>
          <a:p>
            <a:pPr algn="ctr" indent="0" marL="0">
              <a:lnSpc>
                <a:spcPct val="102000"/>
              </a:lnSpc>
              <a:spcBef>
                <a:spcPts val="0"/>
              </a:spcBef>
              <a:spcAft>
                <a:spcPts val="0"/>
              </a:spcAft>
              <a:buNone/>
            </a:pPr>
            <a:r>
              <a:rPr lang="en-US" sz="1180" b="1" dirty="0">
                <a:solidFill>
                  <a:srgbClr val="0A8F78"/>
                </a:solidFill>
                <a:latin typeface="Aptos Display" pitchFamily="34" charset="0"/>
                <a:ea typeface="Calibri" pitchFamily="34" charset="-122"/>
                <a:cs typeface="Calibri" pitchFamily="34" charset="-120"/>
              </a:rPr>
              <a:t>(target)</a:t>
            </a:r>
            <a:endParaRPr lang="en-US" sz="850" dirty="0"/>
          </a:p>
        </p:txBody>
      </p:sp>
      <p:sp>
        <p:nvSpPr>
          <p:cNvPr id="28" name="Text 26"/>
          <p:cNvSpPr/>
          <p:nvPr/>
        </p:nvSpPr>
        <p:spPr>
          <a:xfrm>
            <a:off x="914400" y="6473952"/>
            <a:ext cx="7315200" cy="20116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850" i="1" dirty="0">
                <a:solidFill>
                  <a:srgbClr val="64739A"/>
                </a:solidFill>
                <a:latin typeface="Aptos" pitchFamily="34" charset="0"/>
                <a:ea typeface="Calibri" pitchFamily="34" charset="-122"/>
                <a:cs typeface="Calibri" pitchFamily="34" charset="-120"/>
              </a:rPr>
              <a:t>Positions are illustrative, based on public technology and commercialisation-stage disclosures.</a:t>
            </a:r>
            <a:endParaRPr lang="en-US" sz="850" dirty="0"/>
          </a:p>
        </p:txBody>
      </p:sp>
      <p:sp>
        <p:nvSpPr>
          <p:cNvPr id="29" name="Text 27"/>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REVENUE MODEL</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Three Complementary Revenue Streams</a:t>
            </a:r>
            <a:endParaRPr lang="en-US" sz="2700" dirty="0"/>
          </a:p>
        </p:txBody>
      </p:sp>
      <p:sp>
        <p:nvSpPr>
          <p:cNvPr id="4" name="Shape 2"/>
          <p:cNvSpPr/>
          <p:nvPr/>
        </p:nvSpPr>
        <p:spPr>
          <a:xfrm>
            <a:off x="457200" y="1463040"/>
            <a:ext cx="10817352" cy="1444752"/>
          </a:xfrm>
          <a:prstGeom prst="roundRect">
            <a:avLst>
              <a:gd name="adj" fmla="val 5696"/>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5" name="Shape 3"/>
          <p:cNvSpPr/>
          <p:nvPr/>
        </p:nvSpPr>
        <p:spPr>
          <a:xfrm>
            <a:off x="658368" y="1719072"/>
            <a:ext cx="475488" cy="475488"/>
          </a:xfrm>
          <a:prstGeom prst="ellipse">
            <a:avLst/>
          </a:prstGeom>
          <a:solidFill>
            <a:srgbClr val="0B1330"/>
          </a:solidFill>
          <a:ln w="12700">
            <a:solidFill>
              <a:srgbClr val="FFFFFF">
                <a:alpha val="0"/>
              </a:srgbClr>
            </a:solidFill>
            <a:prstDash val="solid"/>
          </a:ln>
        </p:spPr>
        <p:txBody>
          <a:bodyPr wrap="square"/>
          <a:p/>
        </p:txBody>
      </p:sp>
      <p:pic>
        <p:nvPicPr>
          <p:cNvPr id="6" name="Image 0" descr="/home/claude/samuel_deck/assets/icon_vial_teal.png">    </p:cNvPr>
          <p:cNvPicPr>
            <a:picLocks noChangeAspect="1"/>
          </p:cNvPicPr>
          <p:nvPr/>
        </p:nvPicPr>
        <p:blipFill>
          <a:blip r:embed="rId1"/>
          <a:stretch>
            <a:fillRect/>
          </a:stretch>
        </p:blipFill>
        <p:spPr>
          <a:xfrm>
            <a:off x="772485" y="1833189"/>
            <a:ext cx="247254" cy="247254"/>
          </a:xfrm>
          <a:prstGeom prst="rect">
            <a:avLst/>
          </a:prstGeom>
        </p:spPr>
      </p:pic>
      <p:sp>
        <p:nvSpPr>
          <p:cNvPr id="7" name="Text 4"/>
          <p:cNvSpPr/>
          <p:nvPr/>
        </p:nvSpPr>
        <p:spPr>
          <a:xfrm>
            <a:off x="1316736" y="1591056"/>
            <a:ext cx="2743200" cy="20116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10" b="1" spc="100" kern="0" dirty="0">
                <a:solidFill>
                  <a:srgbClr val="0A8F78"/>
                </a:solidFill>
                <a:latin typeface="Aptos" pitchFamily="34" charset="0"/>
                <a:ea typeface="Calibri" pitchFamily="34" charset="-122"/>
                <a:cs typeface="Calibri" pitchFamily="34" charset="-120"/>
              </a:rPr>
              <a:t>REVENUE STREAM 1</a:t>
            </a:r>
            <a:endParaRPr lang="en-US" sz="900" dirty="0"/>
          </a:p>
        </p:txBody>
      </p:sp>
      <p:sp>
        <p:nvSpPr>
          <p:cNvPr id="8" name="Text 5"/>
          <p:cNvSpPr/>
          <p:nvPr/>
        </p:nvSpPr>
        <p:spPr>
          <a:xfrm>
            <a:off x="1316736" y="1828800"/>
            <a:ext cx="6675120" cy="31089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600" b="1" dirty="0">
                <a:solidFill>
                  <a:srgbClr val="0B1330"/>
                </a:solidFill>
                <a:latin typeface="Aptos Display" pitchFamily="34" charset="0"/>
                <a:ea typeface="Cambria" pitchFamily="34" charset="-122"/>
                <a:cs typeface="Cambria" pitchFamily="34" charset="-120"/>
              </a:rPr>
              <a:t>Contract Bioprinting Services</a:t>
            </a:r>
            <a:endParaRPr lang="en-US" sz="1500" dirty="0"/>
          </a:p>
        </p:txBody>
      </p:sp>
      <p:sp>
        <p:nvSpPr>
          <p:cNvPr id="9" name="Text 6"/>
          <p:cNvSpPr/>
          <p:nvPr/>
        </p:nvSpPr>
        <p:spPr>
          <a:xfrm>
            <a:off x="1316736" y="2157984"/>
            <a:ext cx="6675120" cy="67665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40" dirty="0">
                <a:solidFill>
                  <a:srgbClr val="3D4663"/>
                </a:solidFill>
                <a:latin typeface="Aptos" pitchFamily="34" charset="0"/>
                <a:ea typeface="Calibri" pitchFamily="34" charset="-122"/>
                <a:cs typeface="Calibri" pitchFamily="34" charset="-120"/>
              </a:rPr>
              <a:t>Fee-for-service orbital bioprinting missions for pharmaceutical companies, academic medical centres, and government research agencies, modelled on how Redwire's BFF and Space Tango currently operate commercially. Revenue begins in Year 1.</a:t>
            </a:r>
            <a:endParaRPr lang="en-US" sz="1000" dirty="0"/>
          </a:p>
        </p:txBody>
      </p:sp>
      <p:sp>
        <p:nvSpPr>
          <p:cNvPr id="10" name="Shape 7"/>
          <p:cNvSpPr/>
          <p:nvPr/>
        </p:nvSpPr>
        <p:spPr>
          <a:xfrm>
            <a:off x="9402775" y="1828800"/>
            <a:ext cx="2221992" cy="274320"/>
          </a:xfrm>
          <a:prstGeom prst="roundRect">
            <a:avLst>
              <a:gd name="adj" fmla="val 16667"/>
            </a:avLst>
          </a:prstGeom>
          <a:solidFill>
            <a:srgbClr val="E7F7F3"/>
          </a:solidFill>
          <a:ln w="12700">
            <a:solidFill>
              <a:srgbClr val="DBE4F0">
                <a:alpha val="0"/>
              </a:srgbClr>
            </a:solidFill>
            <a:prstDash val="solid"/>
          </a:ln>
        </p:spPr>
        <p:txBody>
          <a:bodyPr wrap="square"/>
          <a:p/>
        </p:txBody>
      </p:sp>
      <p:sp>
        <p:nvSpPr>
          <p:cNvPr id="11" name="Text 8"/>
          <p:cNvSpPr/>
          <p:nvPr/>
        </p:nvSpPr>
        <p:spPr>
          <a:xfrm>
            <a:off x="9402775" y="1828800"/>
            <a:ext cx="2221992" cy="274320"/>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100" dirty="0" b="1">
                <a:solidFill>
                  <a:srgbClr val="0A8F78"/>
                </a:solidFill>
                <a:latin typeface="Aptos" pitchFamily="34" charset="0"/>
                <a:ea typeface="Calibri" pitchFamily="34" charset="-122"/>
                <a:cs typeface="Calibri" pitchFamily="34" charset="-120"/>
              </a:rPr>
              <a:t>Near-Term Revenue</a:t>
            </a:r>
            <a:endParaRPr lang="en-US" sz="850" dirty="0"/>
          </a:p>
        </p:txBody>
      </p:sp>
      <p:sp>
        <p:nvSpPr>
          <p:cNvPr id="12" name="Shape 9"/>
          <p:cNvSpPr/>
          <p:nvPr/>
        </p:nvSpPr>
        <p:spPr>
          <a:xfrm>
            <a:off x="457200" y="3035808"/>
            <a:ext cx="10817352" cy="1444752"/>
          </a:xfrm>
          <a:prstGeom prst="roundRect">
            <a:avLst>
              <a:gd name="adj" fmla="val 5696"/>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3" name="Shape 10"/>
          <p:cNvSpPr/>
          <p:nvPr/>
        </p:nvSpPr>
        <p:spPr>
          <a:xfrm>
            <a:off x="658368" y="3291840"/>
            <a:ext cx="475488" cy="475488"/>
          </a:xfrm>
          <a:prstGeom prst="ellipse">
            <a:avLst/>
          </a:prstGeom>
          <a:solidFill>
            <a:srgbClr val="DEF6F1"/>
          </a:solidFill>
          <a:ln w="12700">
            <a:solidFill>
              <a:srgbClr val="FFFFFF">
                <a:alpha val="0"/>
              </a:srgbClr>
            </a:solidFill>
            <a:prstDash val="solid"/>
          </a:ln>
        </p:spPr>
        <p:txBody>
          <a:bodyPr wrap="square"/>
          <a:p/>
        </p:txBody>
      </p:sp>
      <p:pic>
        <p:nvPicPr>
          <p:cNvPr id="14" name="Image 1" descr="/home/claude/samuel_deck/assets/icon_globeamericas_teal.png">    </p:cNvPr>
          <p:cNvPicPr>
            <a:picLocks noChangeAspect="1"/>
          </p:cNvPicPr>
          <p:nvPr/>
        </p:nvPicPr>
        <p:blipFill>
          <a:blip r:embed="rId2"/>
          <a:stretch>
            <a:fillRect/>
          </a:stretch>
        </p:blipFill>
        <p:spPr>
          <a:xfrm>
            <a:off x="772485" y="3405957"/>
            <a:ext cx="247254" cy="247254"/>
          </a:xfrm>
          <a:prstGeom prst="rect">
            <a:avLst/>
          </a:prstGeom>
        </p:spPr>
      </p:pic>
      <p:sp>
        <p:nvSpPr>
          <p:cNvPr id="15" name="Text 11"/>
          <p:cNvSpPr/>
          <p:nvPr/>
        </p:nvSpPr>
        <p:spPr>
          <a:xfrm>
            <a:off x="1316736" y="3163824"/>
            <a:ext cx="2743200" cy="20116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10" b="1" spc="100" kern="0" dirty="0">
                <a:solidFill>
                  <a:srgbClr val="0A8F78"/>
                </a:solidFill>
                <a:latin typeface="Aptos" pitchFamily="34" charset="0"/>
                <a:ea typeface="Calibri" pitchFamily="34" charset="-122"/>
                <a:cs typeface="Calibri" pitchFamily="34" charset="-120"/>
              </a:rPr>
              <a:t>REVENUE STREAM 2</a:t>
            </a:r>
            <a:endParaRPr lang="en-US" sz="900" dirty="0"/>
          </a:p>
        </p:txBody>
      </p:sp>
      <p:sp>
        <p:nvSpPr>
          <p:cNvPr id="16" name="Text 12"/>
          <p:cNvSpPr/>
          <p:nvPr/>
        </p:nvSpPr>
        <p:spPr>
          <a:xfrm>
            <a:off x="1316736" y="3401568"/>
            <a:ext cx="6675120" cy="31089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600" b="1" dirty="0">
                <a:solidFill>
                  <a:srgbClr val="0B1330"/>
                </a:solidFill>
                <a:latin typeface="Aptos Display" pitchFamily="34" charset="0"/>
                <a:ea typeface="Cambria" pitchFamily="34" charset="-122"/>
                <a:cs typeface="Cambria" pitchFamily="34" charset="-120"/>
              </a:rPr>
              <a:t>Non-Dilutive Grant Funding</a:t>
            </a:r>
            <a:endParaRPr lang="en-US" sz="1500" dirty="0"/>
          </a:p>
        </p:txBody>
      </p:sp>
      <p:sp>
        <p:nvSpPr>
          <p:cNvPr id="17" name="Text 13"/>
          <p:cNvSpPr/>
          <p:nvPr/>
        </p:nvSpPr>
        <p:spPr>
          <a:xfrm>
            <a:off x="1316736" y="3730752"/>
            <a:ext cx="6675120" cy="67665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40" dirty="0">
                <a:solidFill>
                  <a:srgbClr val="3D4663"/>
                </a:solidFill>
                <a:latin typeface="Aptos" pitchFamily="34" charset="0"/>
                <a:ea typeface="Calibri" pitchFamily="34" charset="-122"/>
                <a:cs typeface="Calibri" pitchFamily="34" charset="-120"/>
              </a:rPr>
              <a:t>NASA InSPA, ESA BIC, DoD SBIR/STTR, and National Eye Institute mechanisms provide substantial non-dilutive capital. LambdaVision has secured $15M+ cumulatively; Redwire holds a $25M NASA IDIQ. Samuel targets $4-8M in grants across Years 1-4.</a:t>
            </a:r>
            <a:endParaRPr lang="en-US" sz="1000" dirty="0"/>
          </a:p>
        </p:txBody>
      </p:sp>
      <p:sp>
        <p:nvSpPr>
          <p:cNvPr id="18" name="Shape 14"/>
          <p:cNvSpPr/>
          <p:nvPr/>
        </p:nvSpPr>
        <p:spPr>
          <a:xfrm>
            <a:off x="9402775" y="3401568"/>
            <a:ext cx="2221992" cy="274320"/>
          </a:xfrm>
          <a:prstGeom prst="roundRect">
            <a:avLst>
              <a:gd name="adj" fmla="val 16667"/>
            </a:avLst>
          </a:prstGeom>
          <a:solidFill>
            <a:srgbClr val="E7F7F3"/>
          </a:solidFill>
          <a:ln w="12700">
            <a:solidFill>
              <a:srgbClr val="DBE4F0">
                <a:alpha val="0"/>
              </a:srgbClr>
            </a:solidFill>
            <a:prstDash val="solid"/>
          </a:ln>
        </p:spPr>
        <p:txBody>
          <a:bodyPr wrap="square"/>
          <a:p/>
        </p:txBody>
      </p:sp>
      <p:sp>
        <p:nvSpPr>
          <p:cNvPr id="19" name="Text 15"/>
          <p:cNvSpPr/>
          <p:nvPr/>
        </p:nvSpPr>
        <p:spPr>
          <a:xfrm>
            <a:off x="9402775" y="3401568"/>
            <a:ext cx="2221992" cy="274320"/>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100" dirty="0" b="1">
                <a:solidFill>
                  <a:srgbClr val="0A8F78"/>
                </a:solidFill>
                <a:latin typeface="Aptos" pitchFamily="34" charset="0"/>
                <a:ea typeface="Calibri" pitchFamily="34" charset="-122"/>
                <a:cs typeface="Calibri" pitchFamily="34" charset="-120"/>
              </a:rPr>
              <a:t>Reduces Equity Burn</a:t>
            </a:r>
            <a:endParaRPr lang="en-US" sz="850" dirty="0"/>
          </a:p>
        </p:txBody>
      </p:sp>
      <p:sp>
        <p:nvSpPr>
          <p:cNvPr id="20" name="Shape 16"/>
          <p:cNvSpPr/>
          <p:nvPr/>
        </p:nvSpPr>
        <p:spPr>
          <a:xfrm>
            <a:off x="457200" y="4608576"/>
            <a:ext cx="10817352" cy="1444752"/>
          </a:xfrm>
          <a:prstGeom prst="roundRect">
            <a:avLst>
              <a:gd name="adj" fmla="val 5696"/>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21" name="Shape 17"/>
          <p:cNvSpPr/>
          <p:nvPr/>
        </p:nvSpPr>
        <p:spPr>
          <a:xfrm>
            <a:off x="658368" y="4864608"/>
            <a:ext cx="475488" cy="475488"/>
          </a:xfrm>
          <a:prstGeom prst="ellipse">
            <a:avLst/>
          </a:prstGeom>
          <a:solidFill>
            <a:srgbClr val="0B1330"/>
          </a:solidFill>
          <a:ln w="12700">
            <a:solidFill>
              <a:srgbClr val="FFFFFF">
                <a:alpha val="0"/>
              </a:srgbClr>
            </a:solidFill>
            <a:prstDash val="solid"/>
          </a:ln>
        </p:spPr>
        <p:txBody>
          <a:bodyPr wrap="square"/>
          <a:p/>
        </p:txBody>
      </p:sp>
      <p:pic>
        <p:nvPicPr>
          <p:cNvPr id="22" name="Image 2" descr="/home/claude/samuel_deck/assets/icon_award_teal.png">    </p:cNvPr>
          <p:cNvPicPr>
            <a:picLocks noChangeAspect="1"/>
          </p:cNvPicPr>
          <p:nvPr/>
        </p:nvPicPr>
        <p:blipFill>
          <a:blip r:embed="rId3"/>
          <a:stretch>
            <a:fillRect/>
          </a:stretch>
        </p:blipFill>
        <p:spPr>
          <a:xfrm>
            <a:off x="772485" y="4978725"/>
            <a:ext cx="247254" cy="247254"/>
          </a:xfrm>
          <a:prstGeom prst="rect">
            <a:avLst/>
          </a:prstGeom>
        </p:spPr>
      </p:pic>
      <p:sp>
        <p:nvSpPr>
          <p:cNvPr id="23" name="Text 18"/>
          <p:cNvSpPr/>
          <p:nvPr/>
        </p:nvSpPr>
        <p:spPr>
          <a:xfrm>
            <a:off x="1316736" y="4736592"/>
            <a:ext cx="2743200" cy="20116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10" b="1" spc="100" kern="0" dirty="0">
                <a:solidFill>
                  <a:srgbClr val="0A8F78"/>
                </a:solidFill>
                <a:latin typeface="Aptos" pitchFamily="34" charset="0"/>
                <a:ea typeface="Calibri" pitchFamily="34" charset="-122"/>
                <a:cs typeface="Calibri" pitchFamily="34" charset="-120"/>
              </a:rPr>
              <a:t>REVENUE STREAM 3</a:t>
            </a:r>
            <a:endParaRPr lang="en-US" sz="900" dirty="0"/>
          </a:p>
        </p:txBody>
      </p:sp>
      <p:sp>
        <p:nvSpPr>
          <p:cNvPr id="24" name="Text 19"/>
          <p:cNvSpPr/>
          <p:nvPr/>
        </p:nvSpPr>
        <p:spPr>
          <a:xfrm>
            <a:off x="1316736" y="4974336"/>
            <a:ext cx="6675120" cy="31089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600" b="1" dirty="0">
                <a:solidFill>
                  <a:srgbClr val="0B1330"/>
                </a:solidFill>
                <a:latin typeface="Aptos Display" pitchFamily="34" charset="0"/>
                <a:ea typeface="Cambria" pitchFamily="34" charset="-122"/>
                <a:cs typeface="Cambria" pitchFamily="34" charset="-120"/>
              </a:rPr>
              <a:t>Tissue IP Licensing &amp; Royalties</a:t>
            </a:r>
            <a:endParaRPr lang="en-US" sz="1500" dirty="0"/>
          </a:p>
        </p:txBody>
      </p:sp>
      <p:sp>
        <p:nvSpPr>
          <p:cNvPr id="25" name="Text 20"/>
          <p:cNvSpPr/>
          <p:nvPr/>
        </p:nvSpPr>
        <p:spPr>
          <a:xfrm>
            <a:off x="1316736" y="5303520"/>
            <a:ext cx="6675120" cy="67665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40" dirty="0">
                <a:solidFill>
                  <a:srgbClr val="3D4663"/>
                </a:solidFill>
                <a:latin typeface="Aptos" pitchFamily="34" charset="0"/>
                <a:ea typeface="Calibri" pitchFamily="34" charset="-122"/>
                <a:cs typeface="Calibri" pitchFamily="34" charset="-120"/>
              </a:rPr>
              <a:t>As proprietary bioink formulations and protocols demonstrate clinical-grade output, Samuel licenses IP to pharmaceutical and device manufacturers. This becomes the primary long-term value driver, targeted from Year 3 onward.</a:t>
            </a:r>
            <a:endParaRPr lang="en-US" sz="1000" dirty="0"/>
          </a:p>
        </p:txBody>
      </p:sp>
      <p:sp>
        <p:nvSpPr>
          <p:cNvPr id="26" name="Shape 21"/>
          <p:cNvSpPr/>
          <p:nvPr/>
        </p:nvSpPr>
        <p:spPr>
          <a:xfrm>
            <a:off x="9402775" y="4974336"/>
            <a:ext cx="2221992" cy="274320"/>
          </a:xfrm>
          <a:prstGeom prst="roundRect">
            <a:avLst>
              <a:gd name="adj" fmla="val 16667"/>
            </a:avLst>
          </a:prstGeom>
          <a:solidFill>
            <a:srgbClr val="E7F7F3"/>
          </a:solidFill>
          <a:ln w="12700">
            <a:solidFill>
              <a:srgbClr val="DBE4F0">
                <a:alpha val="0"/>
              </a:srgbClr>
            </a:solidFill>
            <a:prstDash val="solid"/>
          </a:ln>
        </p:spPr>
        <p:txBody>
          <a:bodyPr wrap="square"/>
          <a:p/>
        </p:txBody>
      </p:sp>
      <p:sp>
        <p:nvSpPr>
          <p:cNvPr id="27" name="Text 22"/>
          <p:cNvSpPr/>
          <p:nvPr/>
        </p:nvSpPr>
        <p:spPr>
          <a:xfrm>
            <a:off x="9402775" y="4974336"/>
            <a:ext cx="2221992" cy="274320"/>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100" dirty="0" b="1">
                <a:solidFill>
                  <a:srgbClr val="0A8F78"/>
                </a:solidFill>
                <a:latin typeface="Aptos" pitchFamily="34" charset="0"/>
                <a:ea typeface="Calibri" pitchFamily="34" charset="-122"/>
                <a:cs typeface="Calibri" pitchFamily="34" charset="-120"/>
              </a:rPr>
              <a:t>Long-Term Value Driver</a:t>
            </a:r>
            <a:endParaRPr lang="en-US" sz="850" dirty="0"/>
          </a:p>
        </p:txBody>
      </p:sp>
      <p:sp>
        <p:nvSpPr>
          <p:cNvPr id="28" name="Text 23"/>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GO-TO-MARKET</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Sequenced Market Entry Across Four Partner Categories</a:t>
            </a:r>
            <a:endParaRPr lang="en-US" sz="2700" dirty="0"/>
          </a:p>
        </p:txBody>
      </p:sp>
      <p:sp>
        <p:nvSpPr>
          <p:cNvPr id="4" name="Shape 2"/>
          <p:cNvSpPr/>
          <p:nvPr/>
        </p:nvSpPr>
        <p:spPr>
          <a:xfrm>
            <a:off x="457200" y="1463040"/>
            <a:ext cx="2567178" cy="4864608"/>
          </a:xfrm>
          <a:prstGeom prst="roundRect">
            <a:avLst>
              <a:gd name="adj" fmla="val 3206"/>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5" name="Shape 3"/>
          <p:cNvSpPr/>
          <p:nvPr/>
        </p:nvSpPr>
        <p:spPr>
          <a:xfrm>
            <a:off x="658368" y="1627632"/>
            <a:ext cx="347472" cy="347472"/>
          </a:xfrm>
          <a:prstGeom prst="ellipse">
            <a:avLst/>
          </a:prstGeom>
          <a:solidFill>
            <a:srgbClr val="0A8F78"/>
          </a:solidFill>
          <a:ln w="12700">
            <a:noFill/>
            <a:prstDash val="solid"/>
          </a:ln>
        </p:spPr>
        <p:txBody>
          <a:bodyPr wrap="square"/>
          <a:p/>
        </p:txBody>
      </p:sp>
      <p:sp>
        <p:nvSpPr>
          <p:cNvPr id="6" name="Text 4"/>
          <p:cNvSpPr/>
          <p:nvPr/>
        </p:nvSpPr>
        <p:spPr>
          <a:xfrm>
            <a:off x="658368" y="16276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Calibri" pitchFamily="34" charset="-122"/>
                <a:cs typeface="Calibri" pitchFamily="34" charset="-120"/>
              </a:rPr>
              <a:t>1</a:t>
            </a:r>
            <a:endParaRPr lang="en-US" sz="1200" dirty="0"/>
          </a:p>
        </p:txBody>
      </p:sp>
      <p:sp>
        <p:nvSpPr>
          <p:cNvPr id="7" name="Shape 5"/>
          <p:cNvSpPr/>
          <p:nvPr/>
        </p:nvSpPr>
        <p:spPr>
          <a:xfrm>
            <a:off x="1484757" y="2157984"/>
            <a:ext cx="512064" cy="512064"/>
          </a:xfrm>
          <a:prstGeom prst="ellipse">
            <a:avLst/>
          </a:prstGeom>
          <a:solidFill>
            <a:srgbClr val="E7F7F3"/>
          </a:solidFill>
          <a:ln w="12700">
            <a:solidFill>
              <a:srgbClr val="DBE4F0">
                <a:alpha val="0"/>
              </a:srgbClr>
            </a:solidFill>
            <a:prstDash val="solid"/>
          </a:ln>
        </p:spPr>
        <p:txBody>
          <a:bodyPr wrap="square"/>
          <a:p/>
        </p:txBody>
      </p:sp>
      <p:pic>
        <p:nvPicPr>
          <p:cNvPr id="8" name="Image 0" descr="/home/claude/samuel_deck/assets/icon_satellitedish_teal.png">    </p:cNvPr>
          <p:cNvPicPr>
            <a:picLocks noChangeAspect="1"/>
          </p:cNvPicPr>
          <p:nvPr/>
        </p:nvPicPr>
        <p:blipFill>
          <a:blip r:embed="rId1"/>
          <a:stretch>
            <a:fillRect/>
          </a:stretch>
        </p:blipFill>
        <p:spPr>
          <a:xfrm>
            <a:off x="1607652" y="2280879"/>
            <a:ext cx="266273" cy="266273"/>
          </a:xfrm>
          <a:prstGeom prst="rect">
            <a:avLst/>
          </a:prstGeom>
        </p:spPr>
      </p:pic>
      <p:sp>
        <p:nvSpPr>
          <p:cNvPr id="9" name="Text 6"/>
          <p:cNvSpPr/>
          <p:nvPr/>
        </p:nvSpPr>
        <p:spPr>
          <a:xfrm>
            <a:off x="585216" y="2798064"/>
            <a:ext cx="2311146" cy="512064"/>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Commercial Station Operators</a:t>
            </a:r>
            <a:endParaRPr lang="en-US" sz="1200" dirty="0"/>
          </a:p>
        </p:txBody>
      </p:sp>
      <p:sp>
        <p:nvSpPr>
          <p:cNvPr id="10" name="Text 7"/>
          <p:cNvSpPr/>
          <p:nvPr/>
        </p:nvSpPr>
        <p:spPr>
          <a:xfrm>
            <a:off x="585216" y="3364992"/>
            <a:ext cx="2311146" cy="193852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a:solidFill>
                  <a:srgbClr val="3D4663"/>
                </a:solidFill>
                <a:latin typeface="Aptos" pitchFamily="34" charset="0"/>
                <a:ea typeface="Calibri" pitchFamily="34" charset="-122"/>
                <a:cs typeface="Calibri" pitchFamily="34" charset="-120"/>
              </a:rPr>
              <a:t>Redwire (active BFF operator), Starlab (Voyager/Airbus JV), Axiom Space, Blue Origin Orbital Reef, and Vast Haven-1. Samuel negotiates research-service agreements and payload manifesting rights with each.</a:t>
            </a:r>
            <a:endParaRPr lang="en-US" sz="930" dirty="0"/>
          </a:p>
        </p:txBody>
      </p:sp>
      <p:sp>
        <p:nvSpPr>
          <p:cNvPr id="11" name="Shape 8"/>
          <p:cNvSpPr/>
          <p:nvPr/>
        </p:nvSpPr>
        <p:spPr>
          <a:xfrm>
            <a:off x="585216" y="5961888"/>
            <a:ext cx="2311146" cy="237744"/>
          </a:xfrm>
          <a:prstGeom prst="roundRect">
            <a:avLst>
              <a:gd name="adj" fmla="val 15385"/>
            </a:avLst>
          </a:prstGeom>
          <a:solidFill>
            <a:srgbClr val="E7F7F3"/>
          </a:solidFill>
          <a:ln w="12700">
            <a:solidFill>
              <a:srgbClr val="DBE4F0">
                <a:alpha val="0"/>
              </a:srgbClr>
            </a:solidFill>
            <a:prstDash val="solid"/>
          </a:ln>
        </p:spPr>
        <p:txBody>
          <a:bodyPr wrap="square"/>
          <a:p/>
        </p:txBody>
      </p:sp>
      <p:sp>
        <p:nvSpPr>
          <p:cNvPr id="12" name="Text 9"/>
          <p:cNvSpPr/>
          <p:nvPr/>
        </p:nvSpPr>
        <p:spPr>
          <a:xfrm>
            <a:off x="585216" y="5961888"/>
            <a:ext cx="2311146" cy="237744"/>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900" dirty="0" b="1">
                <a:solidFill>
                  <a:srgbClr val="3D4663"/>
                </a:solidFill>
                <a:latin typeface="Aptos" pitchFamily="34" charset="0"/>
                <a:ea typeface="Calibri" pitchFamily="34" charset="-122"/>
                <a:cs typeface="Calibri" pitchFamily="34" charset="-120"/>
              </a:rPr>
              <a:t>Redwire, Starlab, Axiom, Vast</a:t>
            </a:r>
            <a:endParaRPr lang="en-US" sz="730" dirty="0"/>
          </a:p>
        </p:txBody>
      </p:sp>
      <p:sp>
        <p:nvSpPr>
          <p:cNvPr id="13" name="Shape 10"/>
          <p:cNvSpPr/>
          <p:nvPr/>
        </p:nvSpPr>
        <p:spPr>
          <a:xfrm>
            <a:off x="3207258" y="1463040"/>
            <a:ext cx="2567178" cy="4864608"/>
          </a:xfrm>
          <a:prstGeom prst="roundRect">
            <a:avLst>
              <a:gd name="adj" fmla="val 3206"/>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4" name="Shape 11"/>
          <p:cNvSpPr/>
          <p:nvPr/>
        </p:nvSpPr>
        <p:spPr>
          <a:xfrm>
            <a:off x="3408426" y="1627632"/>
            <a:ext cx="347472" cy="347472"/>
          </a:xfrm>
          <a:prstGeom prst="ellipse">
            <a:avLst/>
          </a:prstGeom>
          <a:solidFill>
            <a:srgbClr val="0A8F78"/>
          </a:solidFill>
          <a:ln w="12700">
            <a:noFill/>
            <a:prstDash val="solid"/>
          </a:ln>
        </p:spPr>
        <p:txBody>
          <a:bodyPr wrap="square"/>
          <a:p/>
        </p:txBody>
      </p:sp>
      <p:sp>
        <p:nvSpPr>
          <p:cNvPr id="15" name="Text 12"/>
          <p:cNvSpPr/>
          <p:nvPr/>
        </p:nvSpPr>
        <p:spPr>
          <a:xfrm>
            <a:off x="3408426" y="16276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Calibri" pitchFamily="34" charset="-122"/>
                <a:cs typeface="Calibri" pitchFamily="34" charset="-120"/>
              </a:rPr>
              <a:t>2</a:t>
            </a:r>
            <a:endParaRPr lang="en-US" sz="1200" dirty="0"/>
          </a:p>
        </p:txBody>
      </p:sp>
      <p:sp>
        <p:nvSpPr>
          <p:cNvPr id="16" name="Shape 13"/>
          <p:cNvSpPr/>
          <p:nvPr/>
        </p:nvSpPr>
        <p:spPr>
          <a:xfrm>
            <a:off x="4234815" y="2157984"/>
            <a:ext cx="512064" cy="512064"/>
          </a:xfrm>
          <a:prstGeom prst="ellipse">
            <a:avLst/>
          </a:prstGeom>
          <a:solidFill>
            <a:srgbClr val="E7F7F3"/>
          </a:solidFill>
          <a:ln w="12700">
            <a:solidFill>
              <a:srgbClr val="DBE4F0">
                <a:alpha val="0"/>
              </a:srgbClr>
            </a:solidFill>
            <a:prstDash val="solid"/>
          </a:ln>
        </p:spPr>
        <p:txBody>
          <a:bodyPr wrap="square"/>
          <a:p/>
        </p:txBody>
      </p:sp>
      <p:pic>
        <p:nvPicPr>
          <p:cNvPr id="17" name="Image 1" descr="/home/claude/samuel_deck/assets/icon_flask_teal.png">    </p:cNvPr>
          <p:cNvPicPr>
            <a:picLocks noChangeAspect="1"/>
          </p:cNvPicPr>
          <p:nvPr/>
        </p:nvPicPr>
        <p:blipFill>
          <a:blip r:embed="rId2"/>
          <a:stretch>
            <a:fillRect/>
          </a:stretch>
        </p:blipFill>
        <p:spPr>
          <a:xfrm>
            <a:off x="4357710" y="2280879"/>
            <a:ext cx="266273" cy="266273"/>
          </a:xfrm>
          <a:prstGeom prst="rect">
            <a:avLst/>
          </a:prstGeom>
        </p:spPr>
      </p:pic>
      <p:sp>
        <p:nvSpPr>
          <p:cNvPr id="18" name="Text 14"/>
          <p:cNvSpPr/>
          <p:nvPr/>
        </p:nvSpPr>
        <p:spPr>
          <a:xfrm>
            <a:off x="3335274" y="2798064"/>
            <a:ext cx="2311146" cy="512064"/>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Payload Integrators &amp; CROs</a:t>
            </a:r>
            <a:endParaRPr lang="en-US" sz="1200" dirty="0"/>
          </a:p>
        </p:txBody>
      </p:sp>
      <p:sp>
        <p:nvSpPr>
          <p:cNvPr id="19" name="Text 15"/>
          <p:cNvSpPr/>
          <p:nvPr/>
        </p:nvSpPr>
        <p:spPr>
          <a:xfrm>
            <a:off x="3335274" y="3364992"/>
            <a:ext cx="2311146" cy="193852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a:solidFill>
                  <a:srgbClr val="3D4663"/>
                </a:solidFill>
                <a:latin typeface="Aptos" pitchFamily="34" charset="0"/>
                <a:ea typeface="Calibri" pitchFamily="34" charset="-122"/>
                <a:cs typeface="Calibri" pitchFamily="34" charset="-120"/>
              </a:rPr>
              <a:t>Partners such as Space Tango, LambdaVision's enabling integrator, provide environmental control, crew interface, and downlink services. Samuel outsources non-core integration to move faster and preserve capital.</a:t>
            </a:r>
            <a:endParaRPr lang="en-US" sz="930" dirty="0"/>
          </a:p>
        </p:txBody>
      </p:sp>
      <p:sp>
        <p:nvSpPr>
          <p:cNvPr id="20" name="Shape 16"/>
          <p:cNvSpPr/>
          <p:nvPr/>
        </p:nvSpPr>
        <p:spPr>
          <a:xfrm>
            <a:off x="3335274" y="5961888"/>
            <a:ext cx="2311146" cy="237744"/>
          </a:xfrm>
          <a:prstGeom prst="roundRect">
            <a:avLst>
              <a:gd name="adj" fmla="val 15385"/>
            </a:avLst>
          </a:prstGeom>
          <a:solidFill>
            <a:srgbClr val="E7F7F3"/>
          </a:solidFill>
          <a:ln w="12700">
            <a:solidFill>
              <a:srgbClr val="DBE4F0">
                <a:alpha val="0"/>
              </a:srgbClr>
            </a:solidFill>
            <a:prstDash val="solid"/>
          </a:ln>
        </p:spPr>
        <p:txBody>
          <a:bodyPr wrap="square"/>
          <a:p/>
        </p:txBody>
      </p:sp>
      <p:sp>
        <p:nvSpPr>
          <p:cNvPr id="21" name="Text 17"/>
          <p:cNvSpPr/>
          <p:nvPr/>
        </p:nvSpPr>
        <p:spPr>
          <a:xfrm>
            <a:off x="3335274" y="5961888"/>
            <a:ext cx="2311146" cy="237744"/>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900" dirty="0" b="1">
                <a:solidFill>
                  <a:srgbClr val="3D4663"/>
                </a:solidFill>
                <a:latin typeface="Aptos" pitchFamily="34" charset="0"/>
                <a:ea typeface="Calibri" pitchFamily="34" charset="-122"/>
                <a:cs typeface="Calibri" pitchFamily="34" charset="-120"/>
              </a:rPr>
              <a:t>Space Tango, Nanoracks/Voyager</a:t>
            </a:r>
            <a:endParaRPr lang="en-US" sz="730" dirty="0"/>
          </a:p>
        </p:txBody>
      </p:sp>
      <p:sp>
        <p:nvSpPr>
          <p:cNvPr id="22" name="Shape 18"/>
          <p:cNvSpPr/>
          <p:nvPr/>
        </p:nvSpPr>
        <p:spPr>
          <a:xfrm>
            <a:off x="5957316" y="1463040"/>
            <a:ext cx="2567178" cy="4864608"/>
          </a:xfrm>
          <a:prstGeom prst="roundRect">
            <a:avLst>
              <a:gd name="adj" fmla="val 3206"/>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23" name="Shape 19"/>
          <p:cNvSpPr/>
          <p:nvPr/>
        </p:nvSpPr>
        <p:spPr>
          <a:xfrm>
            <a:off x="6158484" y="1627632"/>
            <a:ext cx="347472" cy="347472"/>
          </a:xfrm>
          <a:prstGeom prst="ellipse">
            <a:avLst/>
          </a:prstGeom>
          <a:solidFill>
            <a:srgbClr val="0A8F78"/>
          </a:solidFill>
          <a:ln w="12700">
            <a:noFill/>
            <a:prstDash val="solid"/>
          </a:ln>
        </p:spPr>
        <p:txBody>
          <a:bodyPr wrap="square"/>
          <a:p/>
        </p:txBody>
      </p:sp>
      <p:sp>
        <p:nvSpPr>
          <p:cNvPr id="24" name="Text 20"/>
          <p:cNvSpPr/>
          <p:nvPr/>
        </p:nvSpPr>
        <p:spPr>
          <a:xfrm>
            <a:off x="6158484" y="16276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Calibri" pitchFamily="34" charset="-122"/>
                <a:cs typeface="Calibri" pitchFamily="34" charset="-120"/>
              </a:rPr>
              <a:t>3</a:t>
            </a:r>
            <a:endParaRPr lang="en-US" sz="1200" dirty="0"/>
          </a:p>
        </p:txBody>
      </p:sp>
      <p:sp>
        <p:nvSpPr>
          <p:cNvPr id="25" name="Shape 21"/>
          <p:cNvSpPr/>
          <p:nvPr/>
        </p:nvSpPr>
        <p:spPr>
          <a:xfrm>
            <a:off x="6984873" y="2157984"/>
            <a:ext cx="512064" cy="512064"/>
          </a:xfrm>
          <a:prstGeom prst="ellipse">
            <a:avLst/>
          </a:prstGeom>
          <a:solidFill>
            <a:srgbClr val="E7F7F3"/>
          </a:solidFill>
          <a:ln w="12700">
            <a:solidFill>
              <a:srgbClr val="DBE4F0">
                <a:alpha val="0"/>
              </a:srgbClr>
            </a:solidFill>
            <a:prstDash val="solid"/>
          </a:ln>
        </p:spPr>
        <p:txBody>
          <a:bodyPr wrap="square"/>
          <a:p/>
        </p:txBody>
      </p:sp>
      <p:pic>
        <p:nvPicPr>
          <p:cNvPr id="26" name="Image 2" descr="/home/claude/samuel_deck/assets/icon_hospital_teal.png">    </p:cNvPr>
          <p:cNvPicPr>
            <a:picLocks noChangeAspect="1"/>
          </p:cNvPicPr>
          <p:nvPr/>
        </p:nvPicPr>
        <p:blipFill>
          <a:blip r:embed="rId3"/>
          <a:stretch>
            <a:fillRect/>
          </a:stretch>
        </p:blipFill>
        <p:spPr>
          <a:xfrm>
            <a:off x="7107768" y="2280879"/>
            <a:ext cx="266273" cy="266273"/>
          </a:xfrm>
          <a:prstGeom prst="rect">
            <a:avLst/>
          </a:prstGeom>
        </p:spPr>
      </p:pic>
      <p:sp>
        <p:nvSpPr>
          <p:cNvPr id="27" name="Text 22"/>
          <p:cNvSpPr/>
          <p:nvPr/>
        </p:nvSpPr>
        <p:spPr>
          <a:xfrm>
            <a:off x="6085332" y="2798064"/>
            <a:ext cx="2311146" cy="512064"/>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Pharma &amp; Academic Medical Centres</a:t>
            </a:r>
            <a:endParaRPr lang="en-US" sz="1200" dirty="0"/>
          </a:p>
        </p:txBody>
      </p:sp>
      <p:sp>
        <p:nvSpPr>
          <p:cNvPr id="28" name="Text 23"/>
          <p:cNvSpPr/>
          <p:nvPr/>
        </p:nvSpPr>
        <p:spPr>
          <a:xfrm>
            <a:off x="6085332" y="3364992"/>
            <a:ext cx="2311146" cy="193852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a:solidFill>
                  <a:srgbClr val="3D4663"/>
                </a:solidFill>
                <a:latin typeface="Aptos" pitchFamily="34" charset="0"/>
                <a:ea typeface="Calibri" pitchFamily="34" charset="-122"/>
                <a:cs typeface="Calibri" pitchFamily="34" charset="-120"/>
              </a:rPr>
              <a:t>Initial contract-service revenue comes from pharmaceutical R&amp;D divisions seeking orbital tissue models for drug screening, and from NIH-funded academic biotech groups with institutional mandates.</a:t>
            </a:r>
            <a:endParaRPr lang="en-US" sz="930" dirty="0"/>
          </a:p>
        </p:txBody>
      </p:sp>
      <p:sp>
        <p:nvSpPr>
          <p:cNvPr id="29" name="Shape 24"/>
          <p:cNvSpPr/>
          <p:nvPr/>
        </p:nvSpPr>
        <p:spPr>
          <a:xfrm>
            <a:off x="6085332" y="5961888"/>
            <a:ext cx="2311146" cy="237744"/>
          </a:xfrm>
          <a:prstGeom prst="roundRect">
            <a:avLst>
              <a:gd name="adj" fmla="val 15385"/>
            </a:avLst>
          </a:prstGeom>
          <a:solidFill>
            <a:srgbClr val="E7F7F3"/>
          </a:solidFill>
          <a:ln w="12700">
            <a:solidFill>
              <a:srgbClr val="DBE4F0">
                <a:alpha val="0"/>
              </a:srgbClr>
            </a:solidFill>
            <a:prstDash val="solid"/>
          </a:ln>
        </p:spPr>
        <p:txBody>
          <a:bodyPr wrap="square"/>
          <a:p/>
        </p:txBody>
      </p:sp>
      <p:sp>
        <p:nvSpPr>
          <p:cNvPr id="30" name="Text 25"/>
          <p:cNvSpPr/>
          <p:nvPr/>
        </p:nvSpPr>
        <p:spPr>
          <a:xfrm>
            <a:off x="6085332" y="5961888"/>
            <a:ext cx="2311146" cy="237744"/>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900" dirty="0" b="1">
                <a:solidFill>
                  <a:srgbClr val="3D4663"/>
                </a:solidFill>
                <a:latin typeface="Aptos" pitchFamily="34" charset="0"/>
                <a:ea typeface="Calibri" pitchFamily="34" charset="-122"/>
                <a:cs typeface="Calibri" pitchFamily="34" charset="-120"/>
              </a:rPr>
              <a:t>Pharma R&amp;D, NIH-funded labs</a:t>
            </a:r>
            <a:endParaRPr lang="en-US" sz="730" dirty="0"/>
          </a:p>
        </p:txBody>
      </p:sp>
      <p:sp>
        <p:nvSpPr>
          <p:cNvPr id="31" name="Shape 26"/>
          <p:cNvSpPr/>
          <p:nvPr/>
        </p:nvSpPr>
        <p:spPr>
          <a:xfrm>
            <a:off x="8707374" y="1463040"/>
            <a:ext cx="2567178" cy="4864608"/>
          </a:xfrm>
          <a:prstGeom prst="roundRect">
            <a:avLst>
              <a:gd name="adj" fmla="val 3206"/>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32" name="Shape 27"/>
          <p:cNvSpPr/>
          <p:nvPr/>
        </p:nvSpPr>
        <p:spPr>
          <a:xfrm>
            <a:off x="8908542" y="1627632"/>
            <a:ext cx="347472" cy="347472"/>
          </a:xfrm>
          <a:prstGeom prst="ellipse">
            <a:avLst/>
          </a:prstGeom>
          <a:solidFill>
            <a:srgbClr val="0A8F78"/>
          </a:solidFill>
          <a:ln w="12700">
            <a:noFill/>
            <a:prstDash val="solid"/>
          </a:ln>
        </p:spPr>
        <p:txBody>
          <a:bodyPr wrap="square"/>
          <a:p/>
        </p:txBody>
      </p:sp>
      <p:sp>
        <p:nvSpPr>
          <p:cNvPr id="33" name="Text 28"/>
          <p:cNvSpPr/>
          <p:nvPr/>
        </p:nvSpPr>
        <p:spPr>
          <a:xfrm>
            <a:off x="8908542" y="16276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Calibri" pitchFamily="34" charset="-122"/>
                <a:cs typeface="Calibri" pitchFamily="34" charset="-120"/>
              </a:rPr>
              <a:t>4</a:t>
            </a:r>
            <a:endParaRPr lang="en-US" sz="1200" dirty="0"/>
          </a:p>
        </p:txBody>
      </p:sp>
      <p:sp>
        <p:nvSpPr>
          <p:cNvPr id="34" name="Shape 29"/>
          <p:cNvSpPr/>
          <p:nvPr/>
        </p:nvSpPr>
        <p:spPr>
          <a:xfrm>
            <a:off x="9734931" y="2157984"/>
            <a:ext cx="512064" cy="512064"/>
          </a:xfrm>
          <a:prstGeom prst="ellipse">
            <a:avLst/>
          </a:prstGeom>
          <a:solidFill>
            <a:srgbClr val="E7F7F3"/>
          </a:solidFill>
          <a:ln w="12700">
            <a:solidFill>
              <a:srgbClr val="DBE4F0">
                <a:alpha val="0"/>
              </a:srgbClr>
            </a:solidFill>
            <a:prstDash val="solid"/>
          </a:ln>
        </p:spPr>
        <p:txBody>
          <a:bodyPr wrap="square"/>
          <a:p/>
        </p:txBody>
      </p:sp>
      <p:pic>
        <p:nvPicPr>
          <p:cNvPr id="35" name="Image 3" descr="/home/claude/samuel_deck/assets/icon_building_teal.png">    </p:cNvPr>
          <p:cNvPicPr>
            <a:picLocks noChangeAspect="1"/>
          </p:cNvPicPr>
          <p:nvPr/>
        </p:nvPicPr>
        <p:blipFill>
          <a:blip r:embed="rId4"/>
          <a:stretch>
            <a:fillRect/>
          </a:stretch>
        </p:blipFill>
        <p:spPr>
          <a:xfrm>
            <a:off x="9857826" y="2280879"/>
            <a:ext cx="266273" cy="266273"/>
          </a:xfrm>
          <a:prstGeom prst="rect">
            <a:avLst/>
          </a:prstGeom>
        </p:spPr>
      </p:pic>
      <p:sp>
        <p:nvSpPr>
          <p:cNvPr id="36" name="Text 30"/>
          <p:cNvSpPr/>
          <p:nvPr/>
        </p:nvSpPr>
        <p:spPr>
          <a:xfrm>
            <a:off x="8835390" y="2798064"/>
            <a:ext cx="2311146" cy="512064"/>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Government &amp; Grant Agencies</a:t>
            </a:r>
            <a:endParaRPr lang="en-US" sz="1200" dirty="0"/>
          </a:p>
        </p:txBody>
      </p:sp>
      <p:sp>
        <p:nvSpPr>
          <p:cNvPr id="37" name="Text 31"/>
          <p:cNvSpPr/>
          <p:nvPr/>
        </p:nvSpPr>
        <p:spPr>
          <a:xfrm>
            <a:off x="8835390" y="3364992"/>
            <a:ext cx="2311146" cy="193852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a:solidFill>
                  <a:srgbClr val="3D4663"/>
                </a:solidFill>
                <a:latin typeface="Aptos" pitchFamily="34" charset="0"/>
                <a:ea typeface="Calibri" pitchFamily="34" charset="-122"/>
                <a:cs typeface="Calibri" pitchFamily="34" charset="-120"/>
              </a:rPr>
              <a:t>NASA (InSPA, SBIR/STTR), ESA, NIH National Eye Institute, and DoD MTEC provide non-dilutive grant capital that de-risks early development and validates the technology for commercial buyers.</a:t>
            </a:r>
            <a:endParaRPr lang="en-US" sz="930" dirty="0"/>
          </a:p>
        </p:txBody>
      </p:sp>
      <p:sp>
        <p:nvSpPr>
          <p:cNvPr id="38" name="Shape 32"/>
          <p:cNvSpPr/>
          <p:nvPr/>
        </p:nvSpPr>
        <p:spPr>
          <a:xfrm>
            <a:off x="8835390" y="5961888"/>
            <a:ext cx="2311146" cy="237744"/>
          </a:xfrm>
          <a:prstGeom prst="roundRect">
            <a:avLst>
              <a:gd name="adj" fmla="val 15385"/>
            </a:avLst>
          </a:prstGeom>
          <a:solidFill>
            <a:srgbClr val="E7F7F3"/>
          </a:solidFill>
          <a:ln w="12700">
            <a:solidFill>
              <a:srgbClr val="DBE4F0">
                <a:alpha val="0"/>
              </a:srgbClr>
            </a:solidFill>
            <a:prstDash val="solid"/>
          </a:ln>
        </p:spPr>
        <p:txBody>
          <a:bodyPr wrap="square"/>
          <a:p/>
        </p:txBody>
      </p:sp>
      <p:sp>
        <p:nvSpPr>
          <p:cNvPr id="39" name="Text 33"/>
          <p:cNvSpPr/>
          <p:nvPr/>
        </p:nvSpPr>
        <p:spPr>
          <a:xfrm>
            <a:off x="8835390" y="5961888"/>
            <a:ext cx="2311146" cy="237744"/>
          </a:xfrm>
          <a:prstGeom prst="rect">
            <a:avLst/>
          </a:prstGeom>
          <a:noFill/>
          <a:ln/>
        </p:spPr>
        <p:txBody>
          <a:bodyPr wrap="square" lIns="25400" tIns="25400" rIns="25400" bIns="25400" rtlCol="0" anchor="ctr"/>
          <a:lstStyle/>
          <a:p>
            <a:pPr algn="ctr" indent="0" marL="0">
              <a:lnSpc>
                <a:spcPct val="102000"/>
              </a:lnSpc>
              <a:spcBef>
                <a:spcPts val="0"/>
              </a:spcBef>
              <a:spcAft>
                <a:spcPts val="0"/>
              </a:spcAft>
              <a:buNone/>
            </a:pPr>
            <a:r>
              <a:rPr lang="en-US" sz="900" dirty="0" b="1">
                <a:solidFill>
                  <a:srgbClr val="3D4663"/>
                </a:solidFill>
                <a:latin typeface="Aptos" pitchFamily="34" charset="0"/>
                <a:ea typeface="Calibri" pitchFamily="34" charset="-122"/>
                <a:cs typeface="Calibri" pitchFamily="34" charset="-120"/>
              </a:rPr>
              <a:t>NASA, ESA, NIH NEI, DoD MTEC</a:t>
            </a:r>
            <a:endParaRPr lang="en-US" sz="730" dirty="0"/>
          </a:p>
        </p:txBody>
      </p:sp>
      <p:sp>
        <p:nvSpPr>
          <p:cNvPr id="40" name="Text 34"/>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FINANCIALS - ILLUSTRATIVE</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Five-Year Revenue Model (Illustrative Projections)</a:t>
            </a:r>
            <a:endParaRPr lang="en-US" sz="2700" dirty="0"/>
          </a:p>
        </p:txBody>
      </p:sp>
      <p:sp>
        <p:nvSpPr>
          <p:cNvPr id="4" name="Text 2"/>
          <p:cNvSpPr/>
          <p:nvPr/>
        </p:nvSpPr>
        <p:spPr>
          <a:xfrm>
            <a:off x="457200" y="1371600"/>
            <a:ext cx="10817352" cy="2560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960" i="1" dirty="0">
                <a:solidFill>
                  <a:srgbClr val="64739A"/>
                </a:solidFill>
                <a:latin typeface="Aptos" pitchFamily="34" charset="0"/>
                <a:ea typeface="Calibri" pitchFamily="34" charset="-122"/>
                <a:cs typeface="Calibri" pitchFamily="34" charset="-120"/>
              </a:rPr>
              <a:t>Figures are illustrative projections for investor discussion purposes only. Actual results will vary materially.</a:t>
            </a:r>
            <a:endParaRPr lang="en-US" sz="1050" dirty="0"/>
          </a:p>
        </p:txBody>
      </p:sp>
      <p:graphicFrame>
        <p:nvGraphicFramePr>
          <p:cNvPr id="5" name="Chart 0" descr=""/>
          <p:cNvGraphicFramePr/>
          <p:nvPr/>
        </p:nvGraphicFramePr>
        <p:xfrm>
          <a:off x="457200" y="1700784"/>
          <a:ext cx="6400800" cy="429768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543800" y="1700784"/>
          <a:ext cx="4187952" cy="3474720"/>
        </p:xfrm>
        <a:graphic>
          <a:graphicData uri="http://schemas.openxmlformats.org/drawingml/2006/table">
            <a:tbl>
              <a:tblPr/>
              <a:tblGrid>
                <a:gridCol w="777240"/>
                <a:gridCol w="914400"/>
                <a:gridCol w="2496312"/>
              </a:tblGrid>
              <a:tr h="475488">
                <a:tc>
                  <a:txBody>
                    <a:bodyPr/>
                    <a:lstStyle/>
                    <a:p>
                      <a:pPr indent="0" marL="0" algn="l">
                        <a:lnSpc>
                          <a:spcPct val="102000"/>
                        </a:lnSpc>
                        <a:spcBef>
                          <a:spcPts val="0"/>
                        </a:spcBef>
                        <a:spcAft>
                          <a:spcPts val="0"/>
                        </a:spcAft>
                        <a:buNone/>
                      </a:pPr>
                      <a:r>
                        <a:rPr lang="en-US" sz="1050" b="1" dirty="0">
                          <a:solidFill>
                            <a:srgbClr val="FFFFFF"/>
                          </a:solidFill>
                          <a:latin typeface="Aptos" pitchFamily="34" charset="0"/>
                          <a:ea typeface="Calibri" pitchFamily="34" charset="-122"/>
                          <a:cs typeface="Calibri" pitchFamily="34" charset="-120"/>
                        </a:rPr>
                        <a:t>Year</a:t>
                      </a:r>
                      <a:endParaRPr lang="en-US" sz="10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0B1330"/>
                    </a:solidFill>
                  </a:tcPr>
                </a:tc>
                <a:tc>
                  <a:txBody>
                    <a:bodyPr/>
                    <a:lstStyle/>
                    <a:p>
                      <a:pPr indent="0" marL="0" algn="l">
                        <a:lnSpc>
                          <a:spcPct val="102000"/>
                        </a:lnSpc>
                        <a:spcBef>
                          <a:spcPts val="0"/>
                        </a:spcBef>
                        <a:spcAft>
                          <a:spcPts val="0"/>
                        </a:spcAft>
                        <a:buNone/>
                      </a:pPr>
                      <a:r>
                        <a:rPr lang="en-US" sz="1050" b="1" dirty="0">
                          <a:solidFill>
                            <a:srgbClr val="FFFFFF"/>
                          </a:solidFill>
                          <a:latin typeface="Aptos" pitchFamily="34" charset="0"/>
                          <a:ea typeface="Calibri" pitchFamily="34" charset="-122"/>
                          <a:cs typeface="Calibri" pitchFamily="34" charset="-120"/>
                        </a:rPr>
                        <a:t>Total Rev.</a:t>
                      </a:r>
                      <a:endParaRPr lang="en-US" sz="10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0B1330"/>
                    </a:solidFill>
                  </a:tcPr>
                </a:tc>
                <a:tc>
                  <a:txBody>
                    <a:bodyPr/>
                    <a:lstStyle/>
                    <a:p>
                      <a:pPr indent="0" marL="0" algn="l">
                        <a:lnSpc>
                          <a:spcPct val="102000"/>
                        </a:lnSpc>
                        <a:spcBef>
                          <a:spcPts val="0"/>
                        </a:spcBef>
                        <a:spcAft>
                          <a:spcPts val="0"/>
                        </a:spcAft>
                        <a:buNone/>
                      </a:pPr>
                      <a:r>
                        <a:rPr lang="en-US" sz="1050" b="1" dirty="0">
                          <a:solidFill>
                            <a:srgbClr val="FFFFFF"/>
                          </a:solidFill>
                          <a:latin typeface="Aptos" pitchFamily="34" charset="0"/>
                          <a:ea typeface="Calibri" pitchFamily="34" charset="-122"/>
                          <a:cs typeface="Calibri" pitchFamily="34" charset="-120"/>
                        </a:rPr>
                        <a:t>Key Driver</a:t>
                      </a:r>
                      <a:endParaRPr lang="en-US" sz="10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0B1330"/>
                    </a:solidFill>
                  </a:tcPr>
                </a:tc>
              </a:tr>
              <a:tr h="603504">
                <a:tc>
                  <a:txBody>
                    <a:bodyPr/>
                    <a:lstStyle/>
                    <a:p>
                      <a:pPr indent="0" marL="0" algn="l">
                        <a:lnSpc>
                          <a:spcPct val="102000"/>
                        </a:lnSpc>
                        <a:spcBef>
                          <a:spcPts val="0"/>
                        </a:spcBef>
                        <a:spcAft>
                          <a:spcPts val="0"/>
                        </a:spcAft>
                        <a:buNone/>
                      </a:pPr>
                      <a:r>
                        <a:rPr lang="en-US" sz="1019" dirty="0" b="0">
                          <a:solidFill>
                            <a:srgbClr val="3D4663"/>
                          </a:solidFill>
                          <a:latin typeface="Aptos" pitchFamily="34" charset="0"/>
                          <a:ea typeface="Calibri" pitchFamily="34" charset="-122"/>
                          <a:cs typeface="Calibri" pitchFamily="34" charset="-120"/>
                        </a:rPr>
                        <a:t>Year 1</a:t>
                      </a:r>
                      <a:endParaRPr lang="en-US" sz="9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c>
                  <a:txBody>
                    <a:bodyPr/>
                    <a:lstStyle/>
                    <a:p>
                      <a:pPr indent="0" marL="0" algn="l">
                        <a:lnSpc>
                          <a:spcPct val="102000"/>
                        </a:lnSpc>
                        <a:spcBef>
                          <a:spcPts val="0"/>
                        </a:spcBef>
                        <a:spcAft>
                          <a:spcPts val="0"/>
                        </a:spcAft>
                        <a:buNone/>
                      </a:pPr>
                      <a:r>
                        <a:rPr lang="en-US" sz="1019" b="0" dirty="0">
                          <a:solidFill>
                            <a:srgbClr val="3D4663"/>
                          </a:solidFill>
                          <a:latin typeface="Aptos" pitchFamily="34" charset="0"/>
                          <a:ea typeface="Calibri" pitchFamily="34" charset="-122"/>
                          <a:cs typeface="Calibri" pitchFamily="34" charset="-120"/>
                        </a:rPr>
                        <a:t>$0.8M</a:t>
                      </a:r>
                      <a:endParaRPr lang="en-US" sz="9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c>
                  <a:txBody>
                    <a:bodyPr/>
                    <a:lstStyle/>
                    <a:p>
                      <a:pPr indent="0" marL="0" algn="l">
                        <a:lnSpc>
                          <a:spcPct val="102000"/>
                        </a:lnSpc>
                        <a:spcBef>
                          <a:spcPts val="0"/>
                        </a:spcBef>
                        <a:spcAft>
                          <a:spcPts val="0"/>
                        </a:spcAft>
                        <a:buNone/>
                      </a:pPr>
                      <a:r>
                        <a:rPr lang="en-US" sz="1019" dirty="0" b="0">
                          <a:solidFill>
                            <a:srgbClr val="3D4663"/>
                          </a:solidFill>
                          <a:latin typeface="Aptos" pitchFamily="34" charset="0"/>
                          <a:ea typeface="Calibri" pitchFamily="34" charset="-122"/>
                          <a:cs typeface="Calibri" pitchFamily="34" charset="-120"/>
                        </a:rPr>
                        <a:t>First service contracts + NASA grant</a:t>
                      </a:r>
                      <a:endParaRPr lang="en-US" sz="9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r>
              <a:tr h="603504">
                <a:tc>
                  <a:txBody>
                    <a:bodyPr/>
                    <a:lstStyle/>
                    <a:p>
                      <a:pPr indent="0" marL="0" algn="l">
                        <a:lnSpc>
                          <a:spcPct val="102000"/>
                        </a:lnSpc>
                        <a:spcBef>
                          <a:spcPts val="0"/>
                        </a:spcBef>
                        <a:spcAft>
                          <a:spcPts val="0"/>
                        </a:spcAft>
                        <a:buNone/>
                      </a:pPr>
                      <a:r>
                        <a:rPr lang="en-US" sz="1019" dirty="0" b="0">
                          <a:solidFill>
                            <a:srgbClr val="3D4663"/>
                          </a:solidFill>
                          <a:latin typeface="Aptos" pitchFamily="34" charset="0"/>
                          <a:ea typeface="Calibri" pitchFamily="34" charset="-122"/>
                          <a:cs typeface="Calibri" pitchFamily="34" charset="-120"/>
                        </a:rPr>
                        <a:t>Year 2</a:t>
                      </a:r>
                      <a:endParaRPr lang="en-US" sz="9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7F9FC"/>
                    </a:solidFill>
                  </a:tcPr>
                </a:tc>
                <a:tc>
                  <a:txBody>
                    <a:bodyPr/>
                    <a:lstStyle/>
                    <a:p>
                      <a:pPr indent="0" marL="0" algn="l">
                        <a:lnSpc>
                          <a:spcPct val="102000"/>
                        </a:lnSpc>
                        <a:spcBef>
                          <a:spcPts val="0"/>
                        </a:spcBef>
                        <a:spcAft>
                          <a:spcPts val="0"/>
                        </a:spcAft>
                        <a:buNone/>
                      </a:pPr>
                      <a:r>
                        <a:rPr lang="en-US" sz="1019" b="0" dirty="0">
                          <a:solidFill>
                            <a:srgbClr val="3D4663"/>
                          </a:solidFill>
                          <a:latin typeface="Aptos" pitchFamily="34" charset="0"/>
                          <a:ea typeface="Calibri" pitchFamily="34" charset="-122"/>
                          <a:cs typeface="Calibri" pitchFamily="34" charset="-120"/>
                        </a:rPr>
                        <a:t>$2.4M</a:t>
                      </a:r>
                      <a:endParaRPr lang="en-US" sz="9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7F9FC"/>
                    </a:solidFill>
                  </a:tcPr>
                </a:tc>
                <a:tc>
                  <a:txBody>
                    <a:bodyPr/>
                    <a:lstStyle/>
                    <a:p>
                      <a:pPr indent="0" marL="0" algn="l">
                        <a:lnSpc>
                          <a:spcPct val="102000"/>
                        </a:lnSpc>
                        <a:spcBef>
                          <a:spcPts val="0"/>
                        </a:spcBef>
                        <a:spcAft>
                          <a:spcPts val="0"/>
                        </a:spcAft>
                        <a:buNone/>
                      </a:pPr>
                      <a:r>
                        <a:rPr lang="en-US" sz="1019" dirty="0" b="0">
                          <a:solidFill>
                            <a:srgbClr val="3D4663"/>
                          </a:solidFill>
                          <a:latin typeface="Aptos" pitchFamily="34" charset="0"/>
                          <a:ea typeface="Calibri" pitchFamily="34" charset="-122"/>
                          <a:cs typeface="Calibri" pitchFamily="34" charset="-120"/>
                        </a:rPr>
                        <a:t>Expanded services + IP licensing launch</a:t>
                      </a:r>
                      <a:endParaRPr lang="en-US" sz="9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7F9FC"/>
                    </a:solidFill>
                  </a:tcPr>
                </a:tc>
              </a:tr>
              <a:tr h="603504">
                <a:tc>
                  <a:txBody>
                    <a:bodyPr/>
                    <a:lstStyle/>
                    <a:p>
                      <a:pPr indent="0" marL="0" algn="l">
                        <a:lnSpc>
                          <a:spcPct val="102000"/>
                        </a:lnSpc>
                        <a:spcBef>
                          <a:spcPts val="0"/>
                        </a:spcBef>
                        <a:spcAft>
                          <a:spcPts val="0"/>
                        </a:spcAft>
                        <a:buNone/>
                      </a:pPr>
                      <a:r>
                        <a:rPr lang="en-US" sz="1019" dirty="0" b="0">
                          <a:solidFill>
                            <a:srgbClr val="3D4663"/>
                          </a:solidFill>
                          <a:latin typeface="Aptos" pitchFamily="34" charset="0"/>
                          <a:ea typeface="Calibri" pitchFamily="34" charset="-122"/>
                          <a:cs typeface="Calibri" pitchFamily="34" charset="-120"/>
                        </a:rPr>
                        <a:t>Year 3</a:t>
                      </a:r>
                      <a:endParaRPr lang="en-US" sz="9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c>
                  <a:txBody>
                    <a:bodyPr/>
                    <a:lstStyle/>
                    <a:p>
                      <a:pPr indent="0" marL="0" algn="l">
                        <a:lnSpc>
                          <a:spcPct val="102000"/>
                        </a:lnSpc>
                        <a:spcBef>
                          <a:spcPts val="0"/>
                        </a:spcBef>
                        <a:spcAft>
                          <a:spcPts val="0"/>
                        </a:spcAft>
                        <a:buNone/>
                      </a:pPr>
                      <a:r>
                        <a:rPr lang="en-US" sz="1019" b="0" dirty="0">
                          <a:solidFill>
                            <a:srgbClr val="3D4663"/>
                          </a:solidFill>
                          <a:latin typeface="Aptos" pitchFamily="34" charset="0"/>
                          <a:ea typeface="Calibri" pitchFamily="34" charset="-122"/>
                          <a:cs typeface="Calibri" pitchFamily="34" charset="-120"/>
                        </a:rPr>
                        <a:t>$6.1M</a:t>
                      </a:r>
                      <a:endParaRPr lang="en-US" sz="9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c>
                  <a:txBody>
                    <a:bodyPr/>
                    <a:lstStyle/>
                    <a:p>
                      <a:pPr indent="0" marL="0" algn="l">
                        <a:lnSpc>
                          <a:spcPct val="102000"/>
                        </a:lnSpc>
                        <a:spcBef>
                          <a:spcPts val="0"/>
                        </a:spcBef>
                        <a:spcAft>
                          <a:spcPts val="0"/>
                        </a:spcAft>
                        <a:buNone/>
                      </a:pPr>
                      <a:r>
                        <a:rPr lang="en-US" sz="1019" dirty="0" b="0">
                          <a:solidFill>
                            <a:srgbClr val="3D4663"/>
                          </a:solidFill>
                          <a:latin typeface="Aptos" pitchFamily="34" charset="0"/>
                          <a:ea typeface="Calibri" pitchFamily="34" charset="-122"/>
                          <a:cs typeface="Calibri" pitchFamily="34" charset="-120"/>
                        </a:rPr>
                        <a:t>Cardiac/ortho milestones + Starlab start</a:t>
                      </a:r>
                      <a:endParaRPr lang="en-US" sz="9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r>
              <a:tr h="603504">
                <a:tc>
                  <a:txBody>
                    <a:bodyPr/>
                    <a:lstStyle/>
                    <a:p>
                      <a:pPr indent="0" marL="0" algn="l">
                        <a:lnSpc>
                          <a:spcPct val="102000"/>
                        </a:lnSpc>
                        <a:spcBef>
                          <a:spcPts val="0"/>
                        </a:spcBef>
                        <a:spcAft>
                          <a:spcPts val="0"/>
                        </a:spcAft>
                        <a:buNone/>
                      </a:pPr>
                      <a:r>
                        <a:rPr lang="en-US" sz="1019" dirty="0" b="0">
                          <a:solidFill>
                            <a:srgbClr val="3D4663"/>
                          </a:solidFill>
                          <a:latin typeface="Aptos" pitchFamily="34" charset="0"/>
                          <a:ea typeface="Calibri" pitchFamily="34" charset="-122"/>
                          <a:cs typeface="Calibri" pitchFamily="34" charset="-120"/>
                        </a:rPr>
                        <a:t>Year 4</a:t>
                      </a:r>
                      <a:endParaRPr lang="en-US" sz="9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7F9FC"/>
                    </a:solidFill>
                  </a:tcPr>
                </a:tc>
                <a:tc>
                  <a:txBody>
                    <a:bodyPr/>
                    <a:lstStyle/>
                    <a:p>
                      <a:pPr indent="0" marL="0" algn="l">
                        <a:lnSpc>
                          <a:spcPct val="102000"/>
                        </a:lnSpc>
                        <a:spcBef>
                          <a:spcPts val="0"/>
                        </a:spcBef>
                        <a:spcAft>
                          <a:spcPts val="0"/>
                        </a:spcAft>
                        <a:buNone/>
                      </a:pPr>
                      <a:r>
                        <a:rPr lang="en-US" sz="1019" b="0" dirty="0">
                          <a:solidFill>
                            <a:srgbClr val="3D4663"/>
                          </a:solidFill>
                          <a:latin typeface="Aptos" pitchFamily="34" charset="0"/>
                          <a:ea typeface="Calibri" pitchFamily="34" charset="-122"/>
                          <a:cs typeface="Calibri" pitchFamily="34" charset="-120"/>
                        </a:rPr>
                        <a:t>$13.5M</a:t>
                      </a:r>
                      <a:endParaRPr lang="en-US" sz="9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7F9FC"/>
                    </a:solidFill>
                  </a:tcPr>
                </a:tc>
                <a:tc>
                  <a:txBody>
                    <a:bodyPr/>
                    <a:lstStyle/>
                    <a:p>
                      <a:pPr indent="0" marL="0" algn="l">
                        <a:lnSpc>
                          <a:spcPct val="102000"/>
                        </a:lnSpc>
                        <a:spcBef>
                          <a:spcPts val="0"/>
                        </a:spcBef>
                        <a:spcAft>
                          <a:spcPts val="0"/>
                        </a:spcAft>
                        <a:buNone/>
                      </a:pPr>
                      <a:r>
                        <a:rPr lang="en-US" sz="1019" dirty="0" b="0">
                          <a:solidFill>
                            <a:srgbClr val="3D4663"/>
                          </a:solidFill>
                          <a:latin typeface="Aptos" pitchFamily="34" charset="0"/>
                          <a:ea typeface="Calibri" pitchFamily="34" charset="-122"/>
                          <a:cs typeface="Calibri" pitchFamily="34" charset="-120"/>
                        </a:rPr>
                        <a:t>IP licensing deals + multi-station ops</a:t>
                      </a:r>
                      <a:endParaRPr lang="en-US" sz="9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7F9FC"/>
                    </a:solidFill>
                  </a:tcPr>
                </a:tc>
              </a:tr>
              <a:tr h="585216">
                <a:tc>
                  <a:txBody>
                    <a:bodyPr/>
                    <a:lstStyle/>
                    <a:p>
                      <a:pPr indent="0" marL="0" algn="l">
                        <a:lnSpc>
                          <a:spcPct val="102000"/>
                        </a:lnSpc>
                        <a:spcBef>
                          <a:spcPts val="0"/>
                        </a:spcBef>
                        <a:spcAft>
                          <a:spcPts val="0"/>
                        </a:spcAft>
                        <a:buNone/>
                      </a:pPr>
                      <a:r>
                        <a:rPr lang="en-US" sz="1019" dirty="0" b="0">
                          <a:solidFill>
                            <a:srgbClr val="3D4663"/>
                          </a:solidFill>
                          <a:latin typeface="Aptos" pitchFamily="34" charset="0"/>
                          <a:ea typeface="Calibri" pitchFamily="34" charset="-122"/>
                          <a:cs typeface="Calibri" pitchFamily="34" charset="-120"/>
                        </a:rPr>
                        <a:t>Year 5</a:t>
                      </a:r>
                      <a:endParaRPr lang="en-US" sz="9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c>
                  <a:txBody>
                    <a:bodyPr/>
                    <a:lstStyle/>
                    <a:p>
                      <a:pPr indent="0" marL="0" algn="l">
                        <a:lnSpc>
                          <a:spcPct val="102000"/>
                        </a:lnSpc>
                        <a:spcBef>
                          <a:spcPts val="0"/>
                        </a:spcBef>
                        <a:spcAft>
                          <a:spcPts val="0"/>
                        </a:spcAft>
                        <a:buNone/>
                      </a:pPr>
                      <a:r>
                        <a:rPr lang="en-US" sz="1019" b="0" dirty="0">
                          <a:solidFill>
                            <a:srgbClr val="3D4663"/>
                          </a:solidFill>
                          <a:latin typeface="Aptos" pitchFamily="34" charset="0"/>
                          <a:ea typeface="Calibri" pitchFamily="34" charset="-122"/>
                          <a:cs typeface="Calibri" pitchFamily="34" charset="-120"/>
                        </a:rPr>
                        <a:t>$24.2M</a:t>
                      </a:r>
                      <a:endParaRPr lang="en-US" sz="9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c>
                  <a:txBody>
                    <a:bodyPr/>
                    <a:lstStyle/>
                    <a:p>
                      <a:pPr indent="0" marL="0" algn="l">
                        <a:lnSpc>
                          <a:spcPct val="102000"/>
                        </a:lnSpc>
                        <a:spcBef>
                          <a:spcPts val="0"/>
                        </a:spcBef>
                        <a:spcAft>
                          <a:spcPts val="0"/>
                        </a:spcAft>
                        <a:buNone/>
                      </a:pPr>
                      <a:r>
                        <a:rPr lang="en-US" sz="1019" dirty="0" b="0">
                          <a:solidFill>
                            <a:srgbClr val="3D4663"/>
                          </a:solidFill>
                          <a:latin typeface="Aptos" pitchFamily="34" charset="0"/>
                          <a:ea typeface="Calibri" pitchFamily="34" charset="-122"/>
                          <a:cs typeface="Calibri" pitchFamily="34" charset="-120"/>
                        </a:rPr>
                        <a:t>Full vertical scale-up across four verticals</a:t>
                      </a:r>
                      <a:endParaRPr lang="en-US" sz="9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r>
            </a:tbl>
          </a:graphicData>
        </a:graphic>
      </p:graphicFrame>
      <p:sp>
        <p:nvSpPr>
          <p:cNvPr id="7" name="Text 3"/>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THE ASK</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An $18M Series A to Reach First Commercial Flight</a:t>
            </a:r>
            <a:endParaRPr lang="en-US" sz="2700" dirty="0"/>
          </a:p>
        </p:txBody>
      </p:sp>
      <p:sp>
        <p:nvSpPr>
          <p:cNvPr id="4" name="Shape 2"/>
          <p:cNvSpPr/>
          <p:nvPr/>
        </p:nvSpPr>
        <p:spPr>
          <a:xfrm>
            <a:off x="457200" y="1463040"/>
            <a:ext cx="3246120" cy="4846320"/>
          </a:xfrm>
          <a:prstGeom prst="roundRect">
            <a:avLst>
              <a:gd name="adj" fmla="val 2535"/>
            </a:avLst>
          </a:prstGeom>
          <a:solidFill>
            <a:srgbClr val="ECF2F9"/>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5" name="Text 3"/>
          <p:cNvSpPr/>
          <p:nvPr/>
        </p:nvSpPr>
        <p:spPr>
          <a:xfrm>
            <a:off x="731520" y="1783080"/>
            <a:ext cx="2697480" cy="23774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19" b="1" spc="160" kern="0" dirty="0">
                <a:solidFill>
                  <a:srgbClr val="0A8F78"/>
                </a:solidFill>
                <a:latin typeface="Aptos" pitchFamily="34" charset="0"/>
                <a:ea typeface="Calibri" pitchFamily="34" charset="-122"/>
                <a:cs typeface="Calibri" pitchFamily="34" charset="-120"/>
              </a:rPr>
              <a:t>ROUND SIZE</a:t>
            </a:r>
            <a:endParaRPr lang="en-US" sz="1000" dirty="0"/>
          </a:p>
        </p:txBody>
      </p:sp>
      <p:sp>
        <p:nvSpPr>
          <p:cNvPr id="6" name="Text 4"/>
          <p:cNvSpPr/>
          <p:nvPr/>
        </p:nvSpPr>
        <p:spPr>
          <a:xfrm>
            <a:off x="731520" y="2011680"/>
            <a:ext cx="2697480" cy="86868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4600" b="1" dirty="0">
                <a:solidFill>
                  <a:srgbClr val="0A8F78"/>
                </a:solidFill>
                <a:latin typeface="Aptos Display" pitchFamily="34" charset="0"/>
                <a:ea typeface="Cambria" pitchFamily="34" charset="-122"/>
                <a:cs typeface="Cambria" pitchFamily="34" charset="-120"/>
              </a:rPr>
              <a:t>$18M</a:t>
            </a:r>
            <a:endParaRPr lang="en-US" sz="4600" dirty="0"/>
          </a:p>
        </p:txBody>
      </p:sp>
      <p:sp>
        <p:nvSpPr>
          <p:cNvPr id="7" name="Text 5"/>
          <p:cNvSpPr/>
          <p:nvPr/>
        </p:nvSpPr>
        <p:spPr>
          <a:xfrm>
            <a:off x="731520" y="2907792"/>
            <a:ext cx="269748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20" dirty="0">
                <a:solidFill>
                  <a:srgbClr val="3D4663"/>
                </a:solidFill>
                <a:latin typeface="Aptos" pitchFamily="34" charset="0"/>
                <a:ea typeface="Calibri" pitchFamily="34" charset="-122"/>
                <a:cs typeface="Calibri" pitchFamily="34" charset="-120"/>
              </a:rPr>
              <a:t>Series A Preferred Equity</a:t>
            </a:r>
            <a:endParaRPr lang="en-US" sz="1100" dirty="0"/>
          </a:p>
        </p:txBody>
      </p:sp>
      <p:sp>
        <p:nvSpPr>
          <p:cNvPr id="8" name="Shape 6"/>
          <p:cNvSpPr/>
          <p:nvPr/>
        </p:nvSpPr>
        <p:spPr>
          <a:xfrm>
            <a:off x="731520" y="3383280"/>
            <a:ext cx="2697480" cy="0"/>
          </a:xfrm>
          <a:prstGeom prst="line">
            <a:avLst/>
          </a:prstGeom>
          <a:noFill/>
          <a:ln w="12700">
            <a:solidFill>
              <a:srgbClr val="1B2747"/>
            </a:solidFill>
            <a:prstDash val="solid"/>
          </a:ln>
        </p:spPr>
        <p:txBody>
          <a:bodyPr wrap="square"/>
          <a:p/>
        </p:txBody>
      </p:sp>
      <p:sp>
        <p:nvSpPr>
          <p:cNvPr id="9" name="Text 7"/>
          <p:cNvSpPr/>
          <p:nvPr/>
        </p:nvSpPr>
        <p:spPr>
          <a:xfrm>
            <a:off x="731520" y="3566160"/>
            <a:ext cx="1188720" cy="29260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500" b="1" dirty="0">
                <a:solidFill>
                  <a:srgbClr val="0A8F78"/>
                </a:solidFill>
                <a:latin typeface="Aptos Display" pitchFamily="34" charset="0"/>
                <a:ea typeface="Cambria" pitchFamily="34" charset="-122"/>
                <a:cs typeface="Cambria" pitchFamily="34" charset="-120"/>
              </a:rPr>
              <a:t>~30 months</a:t>
            </a:r>
            <a:endParaRPr lang="en-US" sz="1500" dirty="0"/>
          </a:p>
        </p:txBody>
      </p:sp>
      <p:sp>
        <p:nvSpPr>
          <p:cNvPr id="10" name="Text 8"/>
          <p:cNvSpPr/>
          <p:nvPr/>
        </p:nvSpPr>
        <p:spPr>
          <a:xfrm>
            <a:off x="731520" y="3840480"/>
            <a:ext cx="2697480" cy="29260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a:solidFill>
                  <a:srgbClr val="3D4663"/>
                </a:solidFill>
                <a:latin typeface="Aptos" pitchFamily="34" charset="0"/>
                <a:ea typeface="Calibri" pitchFamily="34" charset="-122"/>
                <a:cs typeface="Calibri" pitchFamily="34" charset="-120"/>
              </a:rPr>
              <a:t>Runway to next value-inflection milestone</a:t>
            </a:r>
            <a:endParaRPr lang="en-US" sz="870" dirty="0"/>
          </a:p>
        </p:txBody>
      </p:sp>
      <p:sp>
        <p:nvSpPr>
          <p:cNvPr id="11" name="Text 9"/>
          <p:cNvSpPr/>
          <p:nvPr/>
        </p:nvSpPr>
        <p:spPr>
          <a:xfrm>
            <a:off x="731520" y="4169664"/>
            <a:ext cx="1188720" cy="29260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500" b="1" dirty="0">
                <a:solidFill>
                  <a:srgbClr val="0A8F78"/>
                </a:solidFill>
                <a:latin typeface="Aptos Display" pitchFamily="34" charset="0"/>
                <a:ea typeface="Cambria" pitchFamily="34" charset="-122"/>
                <a:cs typeface="Cambria" pitchFamily="34" charset="-120"/>
              </a:rPr>
              <a:t>2</a:t>
            </a:r>
            <a:endParaRPr lang="en-US" sz="1500" dirty="0"/>
          </a:p>
        </p:txBody>
      </p:sp>
      <p:sp>
        <p:nvSpPr>
          <p:cNvPr id="12" name="Text 10"/>
          <p:cNvSpPr/>
          <p:nvPr/>
        </p:nvSpPr>
        <p:spPr>
          <a:xfrm>
            <a:off x="731520" y="4443984"/>
            <a:ext cx="2697480" cy="29260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a:solidFill>
                  <a:srgbClr val="3D4663"/>
                </a:solidFill>
                <a:latin typeface="Aptos" pitchFamily="34" charset="0"/>
                <a:ea typeface="Calibri" pitchFamily="34" charset="-122"/>
                <a:cs typeface="Calibri" pitchFamily="34" charset="-120"/>
              </a:rPr>
              <a:t>Product verticals reaching clinical pilot stage</a:t>
            </a:r>
            <a:endParaRPr lang="en-US" sz="870" dirty="0"/>
          </a:p>
        </p:txBody>
      </p:sp>
      <p:sp>
        <p:nvSpPr>
          <p:cNvPr id="13" name="Text 11"/>
          <p:cNvSpPr/>
          <p:nvPr/>
        </p:nvSpPr>
        <p:spPr>
          <a:xfrm>
            <a:off x="731520" y="4773168"/>
            <a:ext cx="1188720" cy="29260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500" b="1" dirty="0">
                <a:solidFill>
                  <a:srgbClr val="0A8F78"/>
                </a:solidFill>
                <a:latin typeface="Aptos Display" pitchFamily="34" charset="0"/>
                <a:ea typeface="Cambria" pitchFamily="34" charset="-122"/>
                <a:cs typeface="Cambria" pitchFamily="34" charset="-120"/>
              </a:rPr>
              <a:t>3-5</a:t>
            </a:r>
            <a:endParaRPr lang="en-US" sz="1500" dirty="0"/>
          </a:p>
        </p:txBody>
      </p:sp>
      <p:sp>
        <p:nvSpPr>
          <p:cNvPr id="14" name="Text 12"/>
          <p:cNvSpPr/>
          <p:nvPr/>
        </p:nvSpPr>
        <p:spPr>
          <a:xfrm>
            <a:off x="731520" y="5047488"/>
            <a:ext cx="2697480" cy="29260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a:solidFill>
                  <a:srgbClr val="3D4663"/>
                </a:solidFill>
                <a:latin typeface="Aptos" pitchFamily="34" charset="0"/>
                <a:ea typeface="Calibri" pitchFamily="34" charset="-122"/>
                <a:cs typeface="Calibri" pitchFamily="34" charset="-120"/>
              </a:rPr>
              <a:t>Targeted commercial flight missions secured</a:t>
            </a:r>
            <a:endParaRPr lang="en-US" sz="870" dirty="0"/>
          </a:p>
        </p:txBody>
      </p:sp>
      <p:sp>
        <p:nvSpPr>
          <p:cNvPr id="15" name="Text 13"/>
          <p:cNvSpPr/>
          <p:nvPr/>
        </p:nvSpPr>
        <p:spPr>
          <a:xfrm>
            <a:off x="4114800" y="1481328"/>
            <a:ext cx="3657600" cy="274320"/>
          </a:xfrm>
          <a:prstGeom prst="rect">
            <a:avLst/>
          </a:prstGeom>
          <a:noFill/>
          <a:ln/>
        </p:spPr>
        <p:txBody>
          <a:bodyPr wrap="square" lIns="0" tIns="0" rIns="0" bIns="0" rtlCol="0" anchor="ctr"/>
          <a:lstStyle/>
          <a:p>
            <a:pPr indent="0" marL="0">
              <a:buNone/>
            </a:pPr>
            <a:r>
              <a:rPr lang="en-US" sz="1200" b="1" dirty="0">
                <a:solidFill>
                  <a:srgbClr val="0B1330"/>
                </a:solidFill>
                <a:latin typeface="Aptos" pitchFamily="34" charset="0"/>
                <a:ea typeface="Calibri" pitchFamily="34" charset="-122"/>
                <a:cs typeface="Calibri" pitchFamily="34" charset="-120"/>
              </a:rPr>
              <a:t>Use of Funds</a:t>
            </a:r>
            <a:endParaRPr lang="en-US" sz="1200" dirty="0"/>
          </a:p>
        </p:txBody>
      </p:sp>
      <p:graphicFrame>
        <p:nvGraphicFramePr>
          <p:cNvPr id="16" name="Chart 0" descr=""/>
          <p:cNvGraphicFramePr/>
          <p:nvPr/>
        </p:nvGraphicFramePr>
        <p:xfrm>
          <a:off x="3794760" y="1755648"/>
          <a:ext cx="4206240" cy="320040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3794760" y="5029200"/>
            <a:ext cx="128016" cy="128016"/>
          </a:xfrm>
          <a:prstGeom prst="ellipse">
            <a:avLst/>
          </a:prstGeom>
          <a:solidFill>
            <a:srgbClr val="0A8F78"/>
          </a:solidFill>
          <a:ln w="12700">
            <a:noFill/>
            <a:prstDash val="solid"/>
          </a:ln>
        </p:spPr>
        <p:txBody>
          <a:bodyPr wrap="square"/>
          <a:p/>
        </p:txBody>
      </p:sp>
      <p:sp>
        <p:nvSpPr>
          <p:cNvPr id="18" name="Text 15"/>
          <p:cNvSpPr/>
          <p:nvPr/>
        </p:nvSpPr>
        <p:spPr>
          <a:xfrm>
            <a:off x="3977640" y="4937760"/>
            <a:ext cx="1417320" cy="31089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890" dirty="0">
                <a:solidFill>
                  <a:srgbClr val="3D4663"/>
                </a:solidFill>
                <a:latin typeface="Aptos" pitchFamily="34" charset="0"/>
                <a:ea typeface="Calibri" pitchFamily="34" charset="-122"/>
                <a:cs typeface="Calibri" pitchFamily="34" charset="-120"/>
              </a:rPr>
              <a:t>R&amp;D / Payload Development</a:t>
            </a:r>
            <a:endParaRPr lang="en-US" sz="730" dirty="0"/>
          </a:p>
        </p:txBody>
      </p:sp>
      <p:sp>
        <p:nvSpPr>
          <p:cNvPr id="19" name="Shape 16"/>
          <p:cNvSpPr/>
          <p:nvPr/>
        </p:nvSpPr>
        <p:spPr>
          <a:xfrm>
            <a:off x="5422392" y="5029200"/>
            <a:ext cx="128016" cy="128016"/>
          </a:xfrm>
          <a:prstGeom prst="ellipse">
            <a:avLst/>
          </a:prstGeom>
          <a:solidFill>
            <a:srgbClr val="0B1330"/>
          </a:solidFill>
          <a:ln w="12700">
            <a:noFill/>
            <a:prstDash val="solid"/>
          </a:ln>
        </p:spPr>
        <p:txBody>
          <a:bodyPr wrap="square"/>
          <a:p/>
        </p:txBody>
      </p:sp>
      <p:sp>
        <p:nvSpPr>
          <p:cNvPr id="20" name="Text 17"/>
          <p:cNvSpPr/>
          <p:nvPr/>
        </p:nvSpPr>
        <p:spPr>
          <a:xfrm>
            <a:off x="5605272" y="4937760"/>
            <a:ext cx="1417320" cy="31089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890" dirty="0">
                <a:solidFill>
                  <a:srgbClr val="3D4663"/>
                </a:solidFill>
                <a:latin typeface="Aptos" pitchFamily="34" charset="0"/>
                <a:ea typeface="Calibri" pitchFamily="34" charset="-122"/>
                <a:cs typeface="Calibri" pitchFamily="34" charset="-120"/>
              </a:rPr>
              <a:t>Flight &amp; Integration Costs</a:t>
            </a:r>
            <a:endParaRPr lang="en-US" sz="730" dirty="0"/>
          </a:p>
        </p:txBody>
      </p:sp>
      <p:sp>
        <p:nvSpPr>
          <p:cNvPr id="21" name="Shape 18"/>
          <p:cNvSpPr/>
          <p:nvPr/>
        </p:nvSpPr>
        <p:spPr>
          <a:xfrm>
            <a:off x="7050024" y="5029200"/>
            <a:ext cx="128016" cy="128016"/>
          </a:xfrm>
          <a:prstGeom prst="ellipse">
            <a:avLst/>
          </a:prstGeom>
          <a:solidFill>
            <a:srgbClr val="3D4663"/>
          </a:solidFill>
          <a:ln w="12700">
            <a:noFill/>
            <a:prstDash val="solid"/>
          </a:ln>
        </p:spPr>
        <p:txBody>
          <a:bodyPr wrap="square"/>
          <a:p/>
        </p:txBody>
      </p:sp>
      <p:sp>
        <p:nvSpPr>
          <p:cNvPr id="22" name="Text 19"/>
          <p:cNvSpPr/>
          <p:nvPr/>
        </p:nvSpPr>
        <p:spPr>
          <a:xfrm>
            <a:off x="7232904" y="4937760"/>
            <a:ext cx="1417320" cy="31089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890" dirty="0">
                <a:solidFill>
                  <a:srgbClr val="3D4663"/>
                </a:solidFill>
                <a:latin typeface="Aptos" pitchFamily="34" charset="0"/>
                <a:ea typeface="Calibri" pitchFamily="34" charset="-122"/>
                <a:cs typeface="Calibri" pitchFamily="34" charset="-120"/>
              </a:rPr>
              <a:t>Regulatory &amp; Clinical Prep</a:t>
            </a:r>
            <a:endParaRPr lang="en-US" sz="730" dirty="0"/>
          </a:p>
        </p:txBody>
      </p:sp>
      <p:sp>
        <p:nvSpPr>
          <p:cNvPr id="23" name="Shape 20"/>
          <p:cNvSpPr/>
          <p:nvPr/>
        </p:nvSpPr>
        <p:spPr>
          <a:xfrm>
            <a:off x="8677656" y="5029200"/>
            <a:ext cx="128016" cy="128016"/>
          </a:xfrm>
          <a:prstGeom prst="ellipse">
            <a:avLst/>
          </a:prstGeom>
          <a:solidFill>
            <a:srgbClr val="64739A"/>
          </a:solidFill>
          <a:ln w="12700">
            <a:noFill/>
            <a:prstDash val="solid"/>
          </a:ln>
        </p:spPr>
        <p:txBody>
          <a:bodyPr wrap="square"/>
          <a:p/>
        </p:txBody>
      </p:sp>
      <p:sp>
        <p:nvSpPr>
          <p:cNvPr id="24" name="Text 21"/>
          <p:cNvSpPr/>
          <p:nvPr/>
        </p:nvSpPr>
        <p:spPr>
          <a:xfrm>
            <a:off x="8860536" y="4937760"/>
            <a:ext cx="1417320" cy="31089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890" dirty="0">
                <a:solidFill>
                  <a:srgbClr val="3D4663"/>
                </a:solidFill>
                <a:latin typeface="Aptos" pitchFamily="34" charset="0"/>
                <a:ea typeface="Calibri" pitchFamily="34" charset="-122"/>
                <a:cs typeface="Calibri" pitchFamily="34" charset="-120"/>
              </a:rPr>
              <a:t>Team Build-Out</a:t>
            </a:r>
            <a:endParaRPr lang="en-US" sz="730" dirty="0"/>
          </a:p>
        </p:txBody>
      </p:sp>
      <p:sp>
        <p:nvSpPr>
          <p:cNvPr id="25" name="Shape 22"/>
          <p:cNvSpPr/>
          <p:nvPr/>
        </p:nvSpPr>
        <p:spPr>
          <a:xfrm>
            <a:off x="10305288" y="5029200"/>
            <a:ext cx="128016" cy="128016"/>
          </a:xfrm>
          <a:prstGeom prst="ellipse">
            <a:avLst/>
          </a:prstGeom>
          <a:solidFill>
            <a:srgbClr val="DBE4F0"/>
          </a:solidFill>
          <a:ln w="12700">
            <a:noFill/>
            <a:prstDash val="solid"/>
          </a:ln>
        </p:spPr>
        <p:txBody>
          <a:bodyPr wrap="square"/>
          <a:p/>
        </p:txBody>
      </p:sp>
      <p:sp>
        <p:nvSpPr>
          <p:cNvPr id="26" name="Text 23"/>
          <p:cNvSpPr/>
          <p:nvPr/>
        </p:nvSpPr>
        <p:spPr>
          <a:xfrm>
            <a:off x="10488168" y="4937760"/>
            <a:ext cx="1417320" cy="310896"/>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890" dirty="0">
                <a:solidFill>
                  <a:srgbClr val="3D4663"/>
                </a:solidFill>
                <a:latin typeface="Aptos" pitchFamily="34" charset="0"/>
                <a:ea typeface="Calibri" pitchFamily="34" charset="-122"/>
                <a:cs typeface="Calibri" pitchFamily="34" charset="-120"/>
              </a:rPr>
              <a:t>G&amp;A</a:t>
            </a:r>
            <a:endParaRPr lang="en-US" sz="730" dirty="0"/>
          </a:p>
        </p:txBody>
      </p:sp>
      <p:sp>
        <p:nvSpPr>
          <p:cNvPr id="27" name="Text 24"/>
          <p:cNvSpPr/>
          <p:nvPr/>
        </p:nvSpPr>
        <p:spPr>
          <a:xfrm>
            <a:off x="8321040" y="1481328"/>
            <a:ext cx="2971800" cy="274320"/>
          </a:xfrm>
          <a:prstGeom prst="rect">
            <a:avLst/>
          </a:prstGeom>
          <a:noFill/>
          <a:ln/>
        </p:spPr>
        <p:txBody>
          <a:bodyPr wrap="square" lIns="0" tIns="0" rIns="0" bIns="0" rtlCol="0" anchor="ctr"/>
          <a:lstStyle/>
          <a:p>
            <a:pPr indent="0" marL="0">
              <a:buNone/>
            </a:pPr>
            <a:r>
              <a:rPr lang="en-US" sz="1200" b="1" dirty="0">
                <a:solidFill>
                  <a:srgbClr val="0B1330"/>
                </a:solidFill>
                <a:latin typeface="Aptos" pitchFamily="34" charset="0"/>
                <a:ea typeface="Calibri" pitchFamily="34" charset="-122"/>
                <a:cs typeface="Calibri" pitchFamily="34" charset="-120"/>
              </a:rPr>
              <a:t>Key Use-of-Funds Milestones</a:t>
            </a:r>
            <a:endParaRPr lang="en-US" sz="1200" dirty="0"/>
          </a:p>
        </p:txBody>
      </p:sp>
      <p:sp>
        <p:nvSpPr>
          <p:cNvPr id="28" name="Shape 25"/>
          <p:cNvSpPr/>
          <p:nvPr/>
        </p:nvSpPr>
        <p:spPr>
          <a:xfrm>
            <a:off x="8321040" y="1792224"/>
            <a:ext cx="2971800" cy="3200400"/>
          </a:xfrm>
          <a:prstGeom prst="roundRect">
            <a:avLst>
              <a:gd name="adj" fmla="val 2769"/>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29" name="Text 26"/>
          <p:cNvSpPr/>
          <p:nvPr/>
        </p:nvSpPr>
        <p:spPr>
          <a:xfrm>
            <a:off x="8503920" y="1956816"/>
            <a:ext cx="2606040" cy="2926080"/>
          </a:xfrm>
          <a:prstGeom prst="rect">
            <a:avLst/>
          </a:prstGeom>
          <a:noFill/>
          <a:ln/>
        </p:spPr>
        <p:txBody>
          <a:bodyPr wrap="square" lIns="25400" tIns="25400" rIns="25400" bIns="25400" rtlCol="0" anchor="t"/>
          <a:lstStyle/>
          <a:p>
            <a:pPr marL="342900" indent="-342900">
              <a:lnSpc>
                <a:spcPct val="102000"/>
              </a:lnSpc>
              <a:spcBef>
                <a:spcPts val="0"/>
              </a:spcBef>
              <a:spcAft>
                <a:spcPts val="0"/>
              </a:spcAft>
              <a:buSzPct val="100000"/>
              <a:buChar char="•"/>
            </a:pPr>
            <a:r>
              <a:rPr lang="en-US" sz="1040" dirty="0">
                <a:solidFill>
                  <a:srgbClr val="3D4663"/>
                </a:solidFill>
                <a:latin typeface="Aptos" pitchFamily="34" charset="0"/>
                <a:ea typeface="Calibri" pitchFamily="34" charset="-122"/>
                <a:cs typeface="Calibri" pitchFamily="34" charset="-120"/>
              </a:rPr>
              <a:t>Flight-qualify modular payload hardware</a:t>
            </a:r>
            <a:endParaRPr lang="en-US" sz="970" dirty="0"/>
          </a:p>
          <a:p>
            <a:pPr marL="342900" indent="-342900">
              <a:lnSpc>
                <a:spcPct val="102000"/>
              </a:lnSpc>
              <a:spcBef>
                <a:spcPts val="0"/>
              </a:spcBef>
              <a:spcAft>
                <a:spcPts val="0"/>
              </a:spcAft>
              <a:buSzPct val="100000"/>
              <a:buChar char="•"/>
            </a:pPr>
            <a:r>
              <a:rPr lang="en-US" sz="1040" dirty="0">
                <a:solidFill>
                  <a:srgbClr val="3D4663"/>
                </a:solidFill>
                <a:latin typeface="Aptos" pitchFamily="34" charset="0"/>
                <a:ea typeface="Calibri" pitchFamily="34" charset="-122"/>
                <a:cs typeface="Calibri" pitchFamily="34" charset="-120"/>
              </a:rPr>
              <a:t>Complete 3-5 commissioned ISS missions</a:t>
            </a:r>
            <a:endParaRPr lang="en-US" sz="970" dirty="0"/>
          </a:p>
          <a:p>
            <a:pPr marL="342900" indent="-342900">
              <a:lnSpc>
                <a:spcPct val="102000"/>
              </a:lnSpc>
              <a:spcBef>
                <a:spcPts val="0"/>
              </a:spcBef>
              <a:spcAft>
                <a:spcPts val="0"/>
              </a:spcAft>
              <a:buSzPct val="100000"/>
              <a:buChar char="•"/>
            </a:pPr>
            <a:r>
              <a:rPr lang="en-US" sz="1040" dirty="0">
                <a:solidFill>
                  <a:srgbClr val="3D4663"/>
                </a:solidFill>
                <a:latin typeface="Aptos" pitchFamily="34" charset="0"/>
                <a:ea typeface="Calibri" pitchFamily="34" charset="-122"/>
                <a:cs typeface="Calibri" pitchFamily="34" charset="-120"/>
              </a:rPr>
              <a:t>File first NASA InSPA Phase 1 grant</a:t>
            </a:r>
            <a:endParaRPr lang="en-US" sz="970" dirty="0"/>
          </a:p>
          <a:p>
            <a:pPr marL="342900" indent="-342900">
              <a:lnSpc>
                <a:spcPct val="102000"/>
              </a:lnSpc>
              <a:spcBef>
                <a:spcPts val="0"/>
              </a:spcBef>
              <a:spcAft>
                <a:spcPts val="0"/>
              </a:spcAft>
              <a:buSzPct val="100000"/>
              <a:buChar char="•"/>
            </a:pPr>
            <a:r>
              <a:rPr lang="en-US" sz="1040" dirty="0">
                <a:solidFill>
                  <a:srgbClr val="3D4663"/>
                </a:solidFill>
                <a:latin typeface="Aptos" pitchFamily="34" charset="0"/>
                <a:ea typeface="Calibri" pitchFamily="34" charset="-122"/>
                <a:cs typeface="Calibri" pitchFamily="34" charset="-120"/>
              </a:rPr>
              <a:t>Secure Starlab payload reservation</a:t>
            </a:r>
            <a:endParaRPr lang="en-US" sz="970" dirty="0"/>
          </a:p>
          <a:p>
            <a:pPr marL="342900" indent="-342900">
              <a:lnSpc>
                <a:spcPct val="102000"/>
              </a:lnSpc>
              <a:spcBef>
                <a:spcPts val="0"/>
              </a:spcBef>
              <a:spcAft>
                <a:spcPts val="0"/>
              </a:spcAft>
              <a:buSzPct val="100000"/>
              <a:buChar char="•"/>
            </a:pPr>
            <a:r>
              <a:rPr lang="en-US" sz="1040" dirty="0">
                <a:solidFill>
                  <a:srgbClr val="3D4663"/>
                </a:solidFill>
                <a:latin typeface="Aptos" pitchFamily="34" charset="0"/>
                <a:ea typeface="Calibri" pitchFamily="34" charset="-122"/>
                <a:cs typeface="Calibri" pitchFamily="34" charset="-120"/>
              </a:rPr>
              <a:t>Build core scientific &amp; engineering team</a:t>
            </a:r>
            <a:endParaRPr lang="en-US" sz="970" dirty="0"/>
          </a:p>
        </p:txBody>
      </p:sp>
      <p:sp>
        <p:nvSpPr>
          <p:cNvPr id="30" name="Text 27"/>
          <p:cNvSpPr/>
          <p:nvPr/>
        </p:nvSpPr>
        <p:spPr>
          <a:xfrm>
            <a:off x="457200" y="6400800"/>
            <a:ext cx="7315200" cy="201168"/>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850" i="1" dirty="0">
                <a:solidFill>
                  <a:srgbClr val="64739A"/>
                </a:solidFill>
                <a:latin typeface="Aptos" pitchFamily="34" charset="0"/>
                <a:ea typeface="Calibri" pitchFamily="34" charset="-122"/>
                <a:cs typeface="Calibri" pitchFamily="34" charset="-120"/>
              </a:rPr>
              <a:t>Allocation figures are illustrative and subject to change based on diligence and negotiated terms.</a:t>
            </a:r>
            <a:endParaRPr lang="en-US" sz="850" dirty="0"/>
          </a:p>
        </p:txBody>
      </p:sp>
      <p:sp>
        <p:nvSpPr>
          <p:cNvPr id="31" name="Text 28"/>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RISK FACTORS</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Key Risks and Mitigating Strategies</a:t>
            </a:r>
            <a:endParaRPr lang="en-US" sz="2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10817352" cy="4480560"/>
        </p:xfrm>
        <a:graphic>
          <a:graphicData uri="http://schemas.openxmlformats.org/drawingml/2006/table">
            <a:tbl>
              <a:tblPr/>
              <a:tblGrid>
                <a:gridCol w="1417320"/>
                <a:gridCol w="3794760"/>
                <a:gridCol w="5605272"/>
              </a:tblGrid>
              <a:tr h="457200">
                <a:tc>
                  <a:txBody>
                    <a:bodyPr/>
                    <a:lstStyle/>
                    <a:p>
                      <a:pPr indent="0" marL="0" algn="l">
                        <a:lnSpc>
                          <a:spcPct val="102000"/>
                        </a:lnSpc>
                        <a:spcBef>
                          <a:spcPts val="0"/>
                        </a:spcBef>
                        <a:spcAft>
                          <a:spcPts val="0"/>
                        </a:spcAft>
                        <a:buNone/>
                      </a:pPr>
                      <a:r>
                        <a:rPr lang="en-US" sz="1080" b="1" dirty="0">
                          <a:solidFill>
                            <a:srgbClr val="FFFFFF"/>
                          </a:solidFill>
                          <a:latin typeface="Aptos" pitchFamily="34" charset="0"/>
                          <a:ea typeface="Calibri" pitchFamily="34" charset="-122"/>
                          <a:cs typeface="Calibri" pitchFamily="34" charset="-120"/>
                        </a:rPr>
                        <a:t>Risk Category</a:t>
                      </a:r>
                      <a:endParaRPr lang="en-US" sz="10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0B1330"/>
                    </a:solidFill>
                  </a:tcPr>
                </a:tc>
                <a:tc>
                  <a:txBody>
                    <a:bodyPr/>
                    <a:lstStyle/>
                    <a:p>
                      <a:pPr indent="0" marL="0" algn="l">
                        <a:lnSpc>
                          <a:spcPct val="102000"/>
                        </a:lnSpc>
                        <a:spcBef>
                          <a:spcPts val="0"/>
                        </a:spcBef>
                        <a:spcAft>
                          <a:spcPts val="0"/>
                        </a:spcAft>
                        <a:buNone/>
                      </a:pPr>
                      <a:r>
                        <a:rPr lang="en-US" sz="1080" b="1" dirty="0">
                          <a:solidFill>
                            <a:srgbClr val="FFFFFF"/>
                          </a:solidFill>
                          <a:latin typeface="Aptos" pitchFamily="34" charset="0"/>
                          <a:ea typeface="Calibri" pitchFamily="34" charset="-122"/>
                          <a:cs typeface="Calibri" pitchFamily="34" charset="-120"/>
                        </a:rPr>
                        <a:t>Risk</a:t>
                      </a:r>
                      <a:endParaRPr lang="en-US" sz="10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0B1330"/>
                    </a:solidFill>
                  </a:tcPr>
                </a:tc>
                <a:tc>
                  <a:txBody>
                    <a:bodyPr/>
                    <a:lstStyle/>
                    <a:p>
                      <a:pPr indent="0" marL="0" algn="l">
                        <a:lnSpc>
                          <a:spcPct val="102000"/>
                        </a:lnSpc>
                        <a:spcBef>
                          <a:spcPts val="0"/>
                        </a:spcBef>
                        <a:spcAft>
                          <a:spcPts val="0"/>
                        </a:spcAft>
                        <a:buNone/>
                      </a:pPr>
                      <a:r>
                        <a:rPr lang="en-US" sz="1080" b="1" dirty="0">
                          <a:solidFill>
                            <a:srgbClr val="FFFFFF"/>
                          </a:solidFill>
                          <a:latin typeface="Aptos" pitchFamily="34" charset="0"/>
                          <a:ea typeface="Calibri" pitchFamily="34" charset="-122"/>
                          <a:cs typeface="Calibri" pitchFamily="34" charset="-120"/>
                        </a:rPr>
                        <a:t>Mitigant</a:t>
                      </a:r>
                      <a:endParaRPr lang="en-US" sz="10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0B1330"/>
                    </a:solidFill>
                  </a:tcPr>
                </a:tc>
              </a:tr>
              <a:tr h="804672">
                <a:tc>
                  <a:txBody>
                    <a:bodyPr/>
                    <a:lstStyle/>
                    <a:p>
                      <a:pPr indent="0" marL="0" algn="l">
                        <a:lnSpc>
                          <a:spcPct val="102000"/>
                        </a:lnSpc>
                        <a:spcBef>
                          <a:spcPts val="0"/>
                        </a:spcBef>
                        <a:spcAft>
                          <a:spcPts val="0"/>
                        </a:spcAft>
                        <a:buNone/>
                      </a:pPr>
                      <a:r>
                        <a:rPr lang="en-US" sz="1010" b="0" dirty="0">
                          <a:solidFill>
                            <a:srgbClr val="3D4663"/>
                          </a:solidFill>
                          <a:latin typeface="Aptos" pitchFamily="34" charset="0"/>
                          <a:ea typeface="Calibri" pitchFamily="34" charset="-122"/>
                          <a:cs typeface="Calibri" pitchFamily="34" charset="-120"/>
                        </a:rPr>
                        <a:t>Technical</a:t>
                      </a:r>
                      <a:endParaRPr lang="en-US" sz="9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c>
                  <a:txBody>
                    <a:bodyPr/>
                    <a:lstStyle/>
                    <a:p>
                      <a:pPr indent="0" marL="0" algn="l">
                        <a:lnSpc>
                          <a:spcPct val="102000"/>
                        </a:lnSpc>
                        <a:spcBef>
                          <a:spcPts val="0"/>
                        </a:spcBef>
                        <a:spcAft>
                          <a:spcPts val="0"/>
                        </a:spcAft>
                        <a:buNone/>
                      </a:pPr>
                      <a:r>
                        <a:rPr lang="en-US" sz="1010" dirty="0" b="0">
                          <a:solidFill>
                            <a:srgbClr val="3D4663"/>
                          </a:solidFill>
                          <a:latin typeface="Aptos" pitchFamily="34" charset="0"/>
                          <a:ea typeface="Calibri" pitchFamily="34" charset="-122"/>
                          <a:cs typeface="Calibri" pitchFamily="34" charset="-120"/>
                        </a:rPr>
                        <a:t>Scaling from validated tissue patches to full vascularised organs remains scientifically unsolved industry-wide.</a:t>
                      </a:r>
                      <a:endParaRPr lang="en-US" sz="9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c>
                  <a:txBody>
                    <a:bodyPr/>
                    <a:lstStyle/>
                    <a:p>
                      <a:pPr indent="0" marL="0" algn="l">
                        <a:lnSpc>
                          <a:spcPct val="102000"/>
                        </a:lnSpc>
                        <a:spcBef>
                          <a:spcPts val="0"/>
                        </a:spcBef>
                        <a:spcAft>
                          <a:spcPts val="0"/>
                        </a:spcAft>
                        <a:buNone/>
                      </a:pPr>
                      <a:r>
                        <a:rPr lang="en-US" sz="1010" dirty="0" b="0">
                          <a:solidFill>
                            <a:srgbClr val="3D4663"/>
                          </a:solidFill>
                          <a:latin typeface="Aptos" pitchFamily="34" charset="0"/>
                          <a:ea typeface="Calibri" pitchFamily="34" charset="-122"/>
                          <a:cs typeface="Calibri" pitchFamily="34" charset="-120"/>
                        </a:rPr>
                        <a:t>Phased roadmap monetises near-term, lower-complexity verticals (wound care, orthopedic) before attempting whole-organ printing.</a:t>
                      </a:r>
                      <a:endParaRPr lang="en-US" sz="9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r>
              <a:tr h="804672">
                <a:tc>
                  <a:txBody>
                    <a:bodyPr/>
                    <a:lstStyle/>
                    <a:p>
                      <a:pPr indent="0" marL="0" algn="l">
                        <a:lnSpc>
                          <a:spcPct val="102000"/>
                        </a:lnSpc>
                        <a:spcBef>
                          <a:spcPts val="0"/>
                        </a:spcBef>
                        <a:spcAft>
                          <a:spcPts val="0"/>
                        </a:spcAft>
                        <a:buNone/>
                      </a:pPr>
                      <a:r>
                        <a:rPr lang="en-US" sz="1010" b="0" dirty="0">
                          <a:solidFill>
                            <a:srgbClr val="3D4663"/>
                          </a:solidFill>
                          <a:latin typeface="Aptos" pitchFamily="34" charset="0"/>
                          <a:ea typeface="Calibri" pitchFamily="34" charset="-122"/>
                          <a:cs typeface="Calibri" pitchFamily="34" charset="-120"/>
                        </a:rPr>
                        <a:t>Regulatory</a:t>
                      </a:r>
                      <a:endParaRPr lang="en-US" sz="9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7F9FC"/>
                    </a:solidFill>
                  </a:tcPr>
                </a:tc>
                <a:tc>
                  <a:txBody>
                    <a:bodyPr/>
                    <a:lstStyle/>
                    <a:p>
                      <a:pPr indent="0" marL="0" algn="l">
                        <a:lnSpc>
                          <a:spcPct val="102000"/>
                        </a:lnSpc>
                        <a:spcBef>
                          <a:spcPts val="0"/>
                        </a:spcBef>
                        <a:spcAft>
                          <a:spcPts val="0"/>
                        </a:spcAft>
                        <a:buNone/>
                      </a:pPr>
                      <a:r>
                        <a:rPr lang="en-US" sz="1010" dirty="0" b="0">
                          <a:solidFill>
                            <a:srgbClr val="3D4663"/>
                          </a:solidFill>
                          <a:latin typeface="Aptos" pitchFamily="34" charset="0"/>
                          <a:ea typeface="Calibri" pitchFamily="34" charset="-122"/>
                          <a:cs typeface="Calibri" pitchFamily="34" charset="-120"/>
                        </a:rPr>
                        <a:t>FDA approval pathways for novel tissue-engineered products are long, costly, and precedent-limited.</a:t>
                      </a:r>
                      <a:endParaRPr lang="en-US" sz="9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7F9FC"/>
                    </a:solidFill>
                  </a:tcPr>
                </a:tc>
                <a:tc>
                  <a:txBody>
                    <a:bodyPr/>
                    <a:lstStyle/>
                    <a:p>
                      <a:pPr indent="0" marL="0" algn="l">
                        <a:lnSpc>
                          <a:spcPct val="102000"/>
                        </a:lnSpc>
                        <a:spcBef>
                          <a:spcPts val="0"/>
                        </a:spcBef>
                        <a:spcAft>
                          <a:spcPts val="0"/>
                        </a:spcAft>
                        <a:buNone/>
                      </a:pPr>
                      <a:r>
                        <a:rPr lang="en-US" sz="1010" dirty="0" b="0">
                          <a:solidFill>
                            <a:srgbClr val="3D4663"/>
                          </a:solidFill>
                          <a:latin typeface="Aptos" pitchFamily="34" charset="0"/>
                          <a:ea typeface="Calibri" pitchFamily="34" charset="-122"/>
                          <a:cs typeface="Calibri" pitchFamily="34" charset="-120"/>
                        </a:rPr>
                        <a:t>Symvess clearance (Dec 2024) establishes the first direct precedent. Samuel engages regulatory counsel from Year 1 and targets lower-risk 510(k) products first.</a:t>
                      </a:r>
                      <a:endParaRPr lang="en-US" sz="9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7F9FC"/>
                    </a:solidFill>
                  </a:tcPr>
                </a:tc>
              </a:tr>
              <a:tr h="804672">
                <a:tc>
                  <a:txBody>
                    <a:bodyPr/>
                    <a:lstStyle/>
                    <a:p>
                      <a:pPr indent="0" marL="0" algn="l">
                        <a:lnSpc>
                          <a:spcPct val="102000"/>
                        </a:lnSpc>
                        <a:spcBef>
                          <a:spcPts val="0"/>
                        </a:spcBef>
                        <a:spcAft>
                          <a:spcPts val="0"/>
                        </a:spcAft>
                        <a:buNone/>
                      </a:pPr>
                      <a:r>
                        <a:rPr lang="en-US" sz="1010" b="0" dirty="0">
                          <a:solidFill>
                            <a:srgbClr val="3D4663"/>
                          </a:solidFill>
                          <a:latin typeface="Aptos" pitchFamily="34" charset="0"/>
                          <a:ea typeface="Calibri" pitchFamily="34" charset="-122"/>
                          <a:cs typeface="Calibri" pitchFamily="34" charset="-120"/>
                        </a:rPr>
                        <a:t>Platform / Access</a:t>
                      </a:r>
                      <a:endParaRPr lang="en-US" sz="9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c>
                  <a:txBody>
                    <a:bodyPr/>
                    <a:lstStyle/>
                    <a:p>
                      <a:pPr indent="0" marL="0" algn="l">
                        <a:lnSpc>
                          <a:spcPct val="102000"/>
                        </a:lnSpc>
                        <a:spcBef>
                          <a:spcPts val="0"/>
                        </a:spcBef>
                        <a:spcAft>
                          <a:spcPts val="0"/>
                        </a:spcAft>
                        <a:buNone/>
                      </a:pPr>
                      <a:r>
                        <a:rPr lang="en-US" sz="1010" dirty="0" b="0">
                          <a:solidFill>
                            <a:srgbClr val="3D4663"/>
                          </a:solidFill>
                          <a:latin typeface="Aptos" pitchFamily="34" charset="0"/>
                          <a:ea typeface="Calibri" pitchFamily="34" charset="-122"/>
                          <a:cs typeface="Calibri" pitchFamily="34" charset="-120"/>
                        </a:rPr>
                        <a:t>ISS retirement (~2030) creates dependency risk if commercial successor stations are delayed.</a:t>
                      </a:r>
                      <a:endParaRPr lang="en-US" sz="9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c>
                  <a:txBody>
                    <a:bodyPr/>
                    <a:lstStyle/>
                    <a:p>
                      <a:pPr indent="0" marL="0" algn="l">
                        <a:lnSpc>
                          <a:spcPct val="102000"/>
                        </a:lnSpc>
                        <a:spcBef>
                          <a:spcPts val="0"/>
                        </a:spcBef>
                        <a:spcAft>
                          <a:spcPts val="0"/>
                        </a:spcAft>
                        <a:buNone/>
                      </a:pPr>
                      <a:r>
                        <a:rPr lang="en-US" sz="1010" dirty="0" b="0">
                          <a:solidFill>
                            <a:srgbClr val="3D4663"/>
                          </a:solidFill>
                          <a:latin typeface="Aptos" pitchFamily="34" charset="0"/>
                          <a:ea typeface="Calibri" pitchFamily="34" charset="-122"/>
                          <a:cs typeface="Calibri" pitchFamily="34" charset="-120"/>
                        </a:rPr>
                        <a:t>Station-agnostic hardware design supports ISS, Starlab, Axiom, Orbital Reef, and Vast simultaneously, diversifying single-platform exposure.</a:t>
                      </a:r>
                      <a:endParaRPr lang="en-US" sz="9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r>
              <a:tr h="804672">
                <a:tc>
                  <a:txBody>
                    <a:bodyPr/>
                    <a:lstStyle/>
                    <a:p>
                      <a:pPr indent="0" marL="0" algn="l">
                        <a:lnSpc>
                          <a:spcPct val="102000"/>
                        </a:lnSpc>
                        <a:spcBef>
                          <a:spcPts val="0"/>
                        </a:spcBef>
                        <a:spcAft>
                          <a:spcPts val="0"/>
                        </a:spcAft>
                        <a:buNone/>
                      </a:pPr>
                      <a:r>
                        <a:rPr lang="en-US" sz="1010" b="0" dirty="0">
                          <a:solidFill>
                            <a:srgbClr val="3D4663"/>
                          </a:solidFill>
                          <a:latin typeface="Aptos" pitchFamily="34" charset="0"/>
                          <a:ea typeface="Calibri" pitchFamily="34" charset="-122"/>
                          <a:cs typeface="Calibri" pitchFamily="34" charset="-120"/>
                        </a:rPr>
                        <a:t>Capital Intensity</a:t>
                      </a:r>
                      <a:endParaRPr lang="en-US" sz="9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7F9FC"/>
                    </a:solidFill>
                  </a:tcPr>
                </a:tc>
                <a:tc>
                  <a:txBody>
                    <a:bodyPr/>
                    <a:lstStyle/>
                    <a:p>
                      <a:pPr indent="0" marL="0" algn="l">
                        <a:lnSpc>
                          <a:spcPct val="102000"/>
                        </a:lnSpc>
                        <a:spcBef>
                          <a:spcPts val="0"/>
                        </a:spcBef>
                        <a:spcAft>
                          <a:spcPts val="0"/>
                        </a:spcAft>
                        <a:buNone/>
                      </a:pPr>
                      <a:r>
                        <a:rPr lang="en-US" sz="1010" dirty="0" b="0">
                          <a:solidFill>
                            <a:srgbClr val="3D4663"/>
                          </a:solidFill>
                          <a:latin typeface="Aptos" pitchFamily="34" charset="0"/>
                          <a:ea typeface="Calibri" pitchFamily="34" charset="-122"/>
                          <a:cs typeface="Calibri" pitchFamily="34" charset="-120"/>
                        </a:rPr>
                        <a:t>Flight missions, payload hardware, and clinical trials require sustained, significant capital investment.</a:t>
                      </a:r>
                      <a:endParaRPr lang="en-US" sz="9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7F9FC"/>
                    </a:solidFill>
                  </a:tcPr>
                </a:tc>
                <a:tc>
                  <a:txBody>
                    <a:bodyPr/>
                    <a:lstStyle/>
                    <a:p>
                      <a:pPr indent="0" marL="0" algn="l">
                        <a:lnSpc>
                          <a:spcPct val="102000"/>
                        </a:lnSpc>
                        <a:spcBef>
                          <a:spcPts val="0"/>
                        </a:spcBef>
                        <a:spcAft>
                          <a:spcPts val="0"/>
                        </a:spcAft>
                        <a:buNone/>
                      </a:pPr>
                      <a:r>
                        <a:rPr lang="en-US" sz="1010" dirty="0" b="0">
                          <a:solidFill>
                            <a:srgbClr val="3D4663"/>
                          </a:solidFill>
                          <a:latin typeface="Aptos" pitchFamily="34" charset="0"/>
                          <a:ea typeface="Calibri" pitchFamily="34" charset="-122"/>
                          <a:cs typeface="Calibri" pitchFamily="34" charset="-120"/>
                        </a:rPr>
                        <a:t>Blended funding strategy combines equity with non-dilutive NASA/ESA/DoD grants, following the precedent set by LambdaVision and Redwire.</a:t>
                      </a:r>
                      <a:endParaRPr lang="en-US" sz="9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7F9FC"/>
                    </a:solidFill>
                  </a:tcPr>
                </a:tc>
              </a:tr>
              <a:tr h="804672">
                <a:tc>
                  <a:txBody>
                    <a:bodyPr/>
                    <a:lstStyle/>
                    <a:p>
                      <a:pPr indent="0" marL="0" algn="l">
                        <a:lnSpc>
                          <a:spcPct val="102000"/>
                        </a:lnSpc>
                        <a:spcBef>
                          <a:spcPts val="0"/>
                        </a:spcBef>
                        <a:spcAft>
                          <a:spcPts val="0"/>
                        </a:spcAft>
                        <a:buNone/>
                      </a:pPr>
                      <a:r>
                        <a:rPr lang="en-US" sz="1010" b="0" dirty="0">
                          <a:solidFill>
                            <a:srgbClr val="3D4663"/>
                          </a:solidFill>
                          <a:latin typeface="Aptos" pitchFamily="34" charset="0"/>
                          <a:ea typeface="Calibri" pitchFamily="34" charset="-122"/>
                          <a:cs typeface="Calibri" pitchFamily="34" charset="-120"/>
                        </a:rPr>
                        <a:t>Competitive</a:t>
                      </a:r>
                      <a:endParaRPr lang="en-US" sz="95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c>
                  <a:txBody>
                    <a:bodyPr/>
                    <a:lstStyle/>
                    <a:p>
                      <a:pPr indent="0" marL="0" algn="l">
                        <a:lnSpc>
                          <a:spcPct val="102000"/>
                        </a:lnSpc>
                        <a:spcBef>
                          <a:spcPts val="0"/>
                        </a:spcBef>
                        <a:spcAft>
                          <a:spcPts val="0"/>
                        </a:spcAft>
                        <a:buNone/>
                      </a:pPr>
                      <a:r>
                        <a:rPr lang="en-US" sz="1010" dirty="0" b="0">
                          <a:solidFill>
                            <a:srgbClr val="3D4663"/>
                          </a:solidFill>
                          <a:latin typeface="Aptos" pitchFamily="34" charset="0"/>
                          <a:ea typeface="Calibri" pitchFamily="34" charset="-122"/>
                          <a:cs typeface="Calibri" pitchFamily="34" charset="-120"/>
                        </a:rPr>
                        <a:t>Incumbent operators (Redwire, LambdaVision) hold first-mover relationships with NASA and station operators.</a:t>
                      </a:r>
                      <a:endParaRPr lang="en-US" sz="9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c>
                  <a:txBody>
                    <a:bodyPr/>
                    <a:lstStyle/>
                    <a:p>
                      <a:pPr indent="0" marL="0" algn="l">
                        <a:lnSpc>
                          <a:spcPct val="102000"/>
                        </a:lnSpc>
                        <a:spcBef>
                          <a:spcPts val="0"/>
                        </a:spcBef>
                        <a:spcAft>
                          <a:spcPts val="0"/>
                        </a:spcAft>
                        <a:buNone/>
                      </a:pPr>
                      <a:r>
                        <a:rPr lang="en-US" sz="1010" dirty="0" b="0">
                          <a:solidFill>
                            <a:srgbClr val="3D4663"/>
                          </a:solidFill>
                          <a:latin typeface="Aptos" pitchFamily="34" charset="0"/>
                          <a:ea typeface="Calibri" pitchFamily="34" charset="-122"/>
                          <a:cs typeface="Calibri" pitchFamily="34" charset="-120"/>
                        </a:rPr>
                        <a:t>Samuel differentiates on multi-vertical platform breadth and station-agnostic flexibility rather than competing head-on for any single contract.</a:t>
                      </a:r>
                      <a:endParaRPr lang="en-US" sz="900" dirty="0">
                        <a:latin typeface="Calibri" charset="0"/>
                        <a:ea typeface="Calibri" charset="0"/>
                        <a:cs typeface="Calibri" charset="0"/>
                      </a:endParaRPr>
                    </a:p>
                  </a:txBody>
                  <a:tcPr marL="76200" marR="76200" marT="50800" marB="50800" anchor="ctr">
                    <a:lnL w="6350" cap="flat" cmpd="sng" algn="ctr">
                      <a:solidFill>
                        <a:srgbClr val="D7E2F0"/>
                      </a:solidFill>
                      <a:prstDash val="solid"/>
                      <a:round/>
                      <a:headEnd type="none" w="med" len="med"/>
                      <a:tailEnd type="none" w="med" len="med"/>
                    </a:lnL>
                    <a:lnR w="6350" cap="flat" cmpd="sng" algn="ctr">
                      <a:solidFill>
                        <a:srgbClr val="D7E2F0"/>
                      </a:solidFill>
                      <a:prstDash val="solid"/>
                      <a:round/>
                      <a:headEnd type="none" w="med" len="med"/>
                      <a:tailEnd type="none" w="med" len="med"/>
                    </a:lnR>
                    <a:lnT w="6350" cap="flat" cmpd="sng" algn="ctr">
                      <a:solidFill>
                        <a:srgbClr val="D7E2F0"/>
                      </a:solidFill>
                      <a:prstDash val="solid"/>
                      <a:round/>
                      <a:headEnd type="none" w="med" len="med"/>
                      <a:tailEnd type="none" w="med" len="med"/>
                    </a:lnT>
                    <a:lnB w="6350" cap="flat" cmpd="sng" algn="ctr">
                      <a:solidFill>
                        <a:srgbClr val="D7E2F0"/>
                      </a:solidFill>
                      <a:prstDash val="solid"/>
                      <a:round/>
                      <a:headEnd type="none" w="med" len="med"/>
                      <a:tailEnd type="none" w="med" len="med"/>
                    </a:lnB>
                    <a:solidFill>
                      <a:srgbClr val="FFFFFF"/>
                    </a:solidFill>
                  </a:tcPr>
                </a:tc>
              </a:tr>
            </a:tbl>
          </a:graphicData>
        </a:graphic>
      </p:graphicFrame>
      <p:sp>
        <p:nvSpPr>
          <p:cNvPr id="5" name="Text 2"/>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ORGANISATION</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Team &amp; Scientific Advisory Approach</a:t>
            </a:r>
            <a:endParaRPr lang="en-US" sz="2700" dirty="0"/>
          </a:p>
        </p:txBody>
      </p:sp>
      <p:sp>
        <p:nvSpPr>
          <p:cNvPr id="4" name="Text 2"/>
          <p:cNvSpPr/>
          <p:nvPr/>
        </p:nvSpPr>
        <p:spPr>
          <a:xfrm>
            <a:off x="457200" y="1371600"/>
            <a:ext cx="10817352" cy="457200"/>
          </a:xfrm>
          <a:prstGeom prst="rect">
            <a:avLst/>
          </a:prstGeom>
          <a:noFill/>
          <a:ln/>
        </p:spPr>
        <p:txBody>
          <a:bodyPr wrap="square" lIns="0" tIns="0" rIns="0" bIns="0" rtlCol="0" anchor="ctr"/>
          <a:lstStyle/>
          <a:p>
            <a:pPr indent="0" marL="0">
              <a:lnSpc>
                <a:spcPct val="120000"/>
              </a:lnSpc>
              <a:buNone/>
            </a:pPr>
            <a:r>
              <a:rPr lang="en-US" sz="1150" dirty="0">
                <a:solidFill>
                  <a:srgbClr val="3D4663"/>
                </a:solidFill>
                <a:latin typeface="Aptos" pitchFamily="34" charset="0"/>
                <a:ea typeface="Calibri" pitchFamily="34" charset="-122"/>
                <a:cs typeface="Calibri" pitchFamily="34" charset="-120"/>
              </a:rPr>
              <a:t>Samuel Space is building a founding team and Scientific Advisory Board around the specific expertise this platform requires. Roles below reflect the Company's hiring plan and target advisory profile for the Series A period.</a:t>
            </a:r>
            <a:endParaRPr lang="en-US" sz="1150" dirty="0"/>
          </a:p>
        </p:txBody>
      </p:sp>
      <p:sp>
        <p:nvSpPr>
          <p:cNvPr id="5" name="Shape 3"/>
          <p:cNvSpPr/>
          <p:nvPr/>
        </p:nvSpPr>
        <p:spPr>
          <a:xfrm>
            <a:off x="457200" y="2011680"/>
            <a:ext cx="2553462" cy="1874520"/>
          </a:xfrm>
          <a:prstGeom prst="roundRect">
            <a:avLst>
              <a:gd name="adj" fmla="val 4390"/>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6" name="Shape 4"/>
          <p:cNvSpPr/>
          <p:nvPr/>
        </p:nvSpPr>
        <p:spPr>
          <a:xfrm>
            <a:off x="621792" y="2176272"/>
            <a:ext cx="438912" cy="438912"/>
          </a:xfrm>
          <a:prstGeom prst="ellipse">
            <a:avLst/>
          </a:prstGeom>
          <a:solidFill>
            <a:srgbClr val="0B1330"/>
          </a:solidFill>
          <a:ln w="12700">
            <a:solidFill>
              <a:srgbClr val="FFFFFF">
                <a:alpha val="0"/>
              </a:srgbClr>
            </a:solidFill>
            <a:prstDash val="solid"/>
          </a:ln>
        </p:spPr>
        <p:txBody>
          <a:bodyPr wrap="square"/>
          <a:p/>
        </p:txBody>
      </p:sp>
      <p:pic>
        <p:nvPicPr>
          <p:cNvPr id="7" name="Image 0" descr="/home/claude/samuel_deck/assets/icon_usertie_teal.png">    </p:cNvPr>
          <p:cNvPicPr>
            <a:picLocks noChangeAspect="1"/>
          </p:cNvPicPr>
          <p:nvPr/>
        </p:nvPicPr>
        <p:blipFill>
          <a:blip r:embed="rId1"/>
          <a:stretch>
            <a:fillRect/>
          </a:stretch>
        </p:blipFill>
        <p:spPr>
          <a:xfrm>
            <a:off x="727131" y="2281611"/>
            <a:ext cx="228234" cy="228234"/>
          </a:xfrm>
          <a:prstGeom prst="rect">
            <a:avLst/>
          </a:prstGeom>
        </p:spPr>
      </p:pic>
      <p:sp>
        <p:nvSpPr>
          <p:cNvPr id="8" name="Text 5"/>
          <p:cNvSpPr/>
          <p:nvPr/>
        </p:nvSpPr>
        <p:spPr>
          <a:xfrm>
            <a:off x="621792" y="2724912"/>
            <a:ext cx="2224278" cy="51206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300" b="1" dirty="0">
                <a:solidFill>
                  <a:srgbClr val="0B1330"/>
                </a:solidFill>
                <a:latin typeface="Aptos Display" pitchFamily="34" charset="0"/>
                <a:ea typeface="Cambria" pitchFamily="34" charset="-122"/>
                <a:cs typeface="Cambria" pitchFamily="34" charset="-120"/>
              </a:rPr>
              <a:t>Founder / Chief Executive Officer</a:t>
            </a:r>
            <a:endParaRPr lang="en-US" sz="1150" dirty="0"/>
          </a:p>
        </p:txBody>
      </p:sp>
      <p:sp>
        <p:nvSpPr>
          <p:cNvPr id="9" name="Text 6"/>
          <p:cNvSpPr/>
          <p:nvPr/>
        </p:nvSpPr>
        <p:spPr>
          <a:xfrm>
            <a:off x="621792" y="3218688"/>
            <a:ext cx="2224278" cy="59436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a:solidFill>
                  <a:srgbClr val="3D4663"/>
                </a:solidFill>
                <a:latin typeface="Aptos" pitchFamily="34" charset="0"/>
                <a:ea typeface="Calibri" pitchFamily="34" charset="-122"/>
                <a:cs typeface="Calibri" pitchFamily="34" charset="-120"/>
              </a:rPr>
              <a:t>Commercial space or biotech venture leadership; track record building regulated hardware or therapeutics businesses from seed to scale.</a:t>
            </a:r>
            <a:endParaRPr lang="en-US" sz="870" dirty="0"/>
          </a:p>
        </p:txBody>
      </p:sp>
      <p:sp>
        <p:nvSpPr>
          <p:cNvPr id="10" name="Shape 7"/>
          <p:cNvSpPr/>
          <p:nvPr/>
        </p:nvSpPr>
        <p:spPr>
          <a:xfrm>
            <a:off x="3211830" y="2011680"/>
            <a:ext cx="2553462" cy="1874520"/>
          </a:xfrm>
          <a:prstGeom prst="roundRect">
            <a:avLst>
              <a:gd name="adj" fmla="val 4390"/>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1" name="Shape 8"/>
          <p:cNvSpPr/>
          <p:nvPr/>
        </p:nvSpPr>
        <p:spPr>
          <a:xfrm>
            <a:off x="3376422" y="2176272"/>
            <a:ext cx="438912" cy="438912"/>
          </a:xfrm>
          <a:prstGeom prst="ellipse">
            <a:avLst/>
          </a:prstGeom>
          <a:solidFill>
            <a:srgbClr val="0B1330"/>
          </a:solidFill>
          <a:ln w="12700">
            <a:solidFill>
              <a:srgbClr val="FFFFFF">
                <a:alpha val="0"/>
              </a:srgbClr>
            </a:solidFill>
            <a:prstDash val="solid"/>
          </a:ln>
        </p:spPr>
        <p:txBody>
          <a:bodyPr wrap="square"/>
          <a:p/>
        </p:txBody>
      </p:sp>
      <p:pic>
        <p:nvPicPr>
          <p:cNvPr id="12" name="Image 1" descr="/home/claude/samuel_deck/assets/icon_flask_teal.png">    </p:cNvPr>
          <p:cNvPicPr>
            <a:picLocks noChangeAspect="1"/>
          </p:cNvPicPr>
          <p:nvPr/>
        </p:nvPicPr>
        <p:blipFill>
          <a:blip r:embed="rId2"/>
          <a:stretch>
            <a:fillRect/>
          </a:stretch>
        </p:blipFill>
        <p:spPr>
          <a:xfrm>
            <a:off x="3481761" y="2281611"/>
            <a:ext cx="228234" cy="228234"/>
          </a:xfrm>
          <a:prstGeom prst="rect">
            <a:avLst/>
          </a:prstGeom>
        </p:spPr>
      </p:pic>
      <p:sp>
        <p:nvSpPr>
          <p:cNvPr id="13" name="Text 9"/>
          <p:cNvSpPr/>
          <p:nvPr/>
        </p:nvSpPr>
        <p:spPr>
          <a:xfrm>
            <a:off x="3376422" y="2724912"/>
            <a:ext cx="2224278" cy="51206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300" b="1" dirty="0">
                <a:solidFill>
                  <a:srgbClr val="0B1330"/>
                </a:solidFill>
                <a:latin typeface="Aptos Display" pitchFamily="34" charset="0"/>
                <a:ea typeface="Cambria" pitchFamily="34" charset="-122"/>
                <a:cs typeface="Cambria" pitchFamily="34" charset="-120"/>
              </a:rPr>
              <a:t>Chief Scientific Officer</a:t>
            </a:r>
            <a:endParaRPr lang="en-US" sz="1150" dirty="0"/>
          </a:p>
        </p:txBody>
      </p:sp>
      <p:sp>
        <p:nvSpPr>
          <p:cNvPr id="14" name="Text 10"/>
          <p:cNvSpPr/>
          <p:nvPr/>
        </p:nvSpPr>
        <p:spPr>
          <a:xfrm>
            <a:off x="3376422" y="3218688"/>
            <a:ext cx="2224278" cy="59436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a:solidFill>
                  <a:srgbClr val="3D4663"/>
                </a:solidFill>
                <a:latin typeface="Aptos" pitchFamily="34" charset="0"/>
                <a:ea typeface="Calibri" pitchFamily="34" charset="-122"/>
                <a:cs typeface="Calibri" pitchFamily="34" charset="-120"/>
              </a:rPr>
              <a:t>PhD-level expertise in tissue engineering, stem cell biology, or regenerative medicine; prior peer-reviewed bioprinting research.</a:t>
            </a:r>
            <a:endParaRPr lang="en-US" sz="870" dirty="0"/>
          </a:p>
        </p:txBody>
      </p:sp>
      <p:sp>
        <p:nvSpPr>
          <p:cNvPr id="15" name="Shape 11"/>
          <p:cNvSpPr/>
          <p:nvPr/>
        </p:nvSpPr>
        <p:spPr>
          <a:xfrm>
            <a:off x="5966460" y="2011680"/>
            <a:ext cx="2553462" cy="1874520"/>
          </a:xfrm>
          <a:prstGeom prst="roundRect">
            <a:avLst>
              <a:gd name="adj" fmla="val 4390"/>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16" name="Shape 12"/>
          <p:cNvSpPr/>
          <p:nvPr/>
        </p:nvSpPr>
        <p:spPr>
          <a:xfrm>
            <a:off x="6131052" y="2176272"/>
            <a:ext cx="438912" cy="438912"/>
          </a:xfrm>
          <a:prstGeom prst="ellipse">
            <a:avLst/>
          </a:prstGeom>
          <a:solidFill>
            <a:srgbClr val="0B1330"/>
          </a:solidFill>
          <a:ln w="12700">
            <a:solidFill>
              <a:srgbClr val="FFFFFF">
                <a:alpha val="0"/>
              </a:srgbClr>
            </a:solidFill>
            <a:prstDash val="solid"/>
          </a:ln>
        </p:spPr>
        <p:txBody>
          <a:bodyPr wrap="square"/>
          <a:p/>
        </p:txBody>
      </p:sp>
      <p:pic>
        <p:nvPicPr>
          <p:cNvPr id="17" name="Image 2" descr="/home/claude/samuel_deck/assets/icon_cogs_teal.png">    </p:cNvPr>
          <p:cNvPicPr>
            <a:picLocks noChangeAspect="1"/>
          </p:cNvPicPr>
          <p:nvPr/>
        </p:nvPicPr>
        <p:blipFill>
          <a:blip r:embed="rId3"/>
          <a:stretch>
            <a:fillRect/>
          </a:stretch>
        </p:blipFill>
        <p:spPr>
          <a:xfrm>
            <a:off x="6236391" y="2281611"/>
            <a:ext cx="228234" cy="228234"/>
          </a:xfrm>
          <a:prstGeom prst="rect">
            <a:avLst/>
          </a:prstGeom>
        </p:spPr>
      </p:pic>
      <p:sp>
        <p:nvSpPr>
          <p:cNvPr id="18" name="Text 13"/>
          <p:cNvSpPr/>
          <p:nvPr/>
        </p:nvSpPr>
        <p:spPr>
          <a:xfrm>
            <a:off x="6131052" y="2724912"/>
            <a:ext cx="2224278" cy="51206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300" b="1" dirty="0">
                <a:solidFill>
                  <a:srgbClr val="0B1330"/>
                </a:solidFill>
                <a:latin typeface="Aptos Display" pitchFamily="34" charset="0"/>
                <a:ea typeface="Cambria" pitchFamily="34" charset="-122"/>
                <a:cs typeface="Cambria" pitchFamily="34" charset="-120"/>
              </a:rPr>
              <a:t>VP, Payload Engineering</a:t>
            </a:r>
            <a:endParaRPr lang="en-US" sz="1150" dirty="0"/>
          </a:p>
        </p:txBody>
      </p:sp>
      <p:sp>
        <p:nvSpPr>
          <p:cNvPr id="19" name="Text 14"/>
          <p:cNvSpPr/>
          <p:nvPr/>
        </p:nvSpPr>
        <p:spPr>
          <a:xfrm>
            <a:off x="6131052" y="3218688"/>
            <a:ext cx="2224278" cy="59436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a:solidFill>
                  <a:srgbClr val="3D4663"/>
                </a:solidFill>
                <a:latin typeface="Aptos" pitchFamily="34" charset="0"/>
                <a:ea typeface="Calibri" pitchFamily="34" charset="-122"/>
                <a:cs typeface="Calibri" pitchFamily="34" charset="-120"/>
              </a:rPr>
              <a:t>Aerospace hardware engineering background; experience flight-qualifying instrumentation for ISS or commercial LEO payloads.</a:t>
            </a:r>
            <a:endParaRPr lang="en-US" sz="870" dirty="0"/>
          </a:p>
        </p:txBody>
      </p:sp>
      <p:sp>
        <p:nvSpPr>
          <p:cNvPr id="20" name="Shape 15"/>
          <p:cNvSpPr/>
          <p:nvPr/>
        </p:nvSpPr>
        <p:spPr>
          <a:xfrm>
            <a:off x="8721090" y="2011680"/>
            <a:ext cx="2553462" cy="1874520"/>
          </a:xfrm>
          <a:prstGeom prst="roundRect">
            <a:avLst>
              <a:gd name="adj" fmla="val 4390"/>
            </a:avLst>
          </a:prstGeom>
          <a:solidFill>
            <a:srgbClr val="FFFFFF"/>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21" name="Shape 16"/>
          <p:cNvSpPr/>
          <p:nvPr/>
        </p:nvSpPr>
        <p:spPr>
          <a:xfrm>
            <a:off x="8885682" y="2176272"/>
            <a:ext cx="438912" cy="438912"/>
          </a:xfrm>
          <a:prstGeom prst="ellipse">
            <a:avLst/>
          </a:prstGeom>
          <a:solidFill>
            <a:srgbClr val="0B1330"/>
          </a:solidFill>
          <a:ln w="12700">
            <a:solidFill>
              <a:srgbClr val="FFFFFF">
                <a:alpha val="0"/>
              </a:srgbClr>
            </a:solidFill>
            <a:prstDash val="solid"/>
          </a:ln>
        </p:spPr>
        <p:txBody>
          <a:bodyPr wrap="square"/>
          <a:p/>
        </p:txBody>
      </p:sp>
      <p:pic>
        <p:nvPicPr>
          <p:cNvPr id="22" name="Image 3" descr="/home/claude/samuel_deck/assets/icon_balancescale_teal.png">    </p:cNvPr>
          <p:cNvPicPr>
            <a:picLocks noChangeAspect="1"/>
          </p:cNvPicPr>
          <p:nvPr/>
        </p:nvPicPr>
        <p:blipFill>
          <a:blip r:embed="rId4"/>
          <a:stretch>
            <a:fillRect/>
          </a:stretch>
        </p:blipFill>
        <p:spPr>
          <a:xfrm>
            <a:off x="8991021" y="2281611"/>
            <a:ext cx="228234" cy="228234"/>
          </a:xfrm>
          <a:prstGeom prst="rect">
            <a:avLst/>
          </a:prstGeom>
        </p:spPr>
      </p:pic>
      <p:sp>
        <p:nvSpPr>
          <p:cNvPr id="23" name="Text 17"/>
          <p:cNvSpPr/>
          <p:nvPr/>
        </p:nvSpPr>
        <p:spPr>
          <a:xfrm>
            <a:off x="8885682" y="2724912"/>
            <a:ext cx="2224278" cy="51206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300" b="1" dirty="0">
                <a:solidFill>
                  <a:srgbClr val="0B1330"/>
                </a:solidFill>
                <a:latin typeface="Aptos Display" pitchFamily="34" charset="0"/>
                <a:ea typeface="Cambria" pitchFamily="34" charset="-122"/>
                <a:cs typeface="Cambria" pitchFamily="34" charset="-120"/>
              </a:rPr>
              <a:t>Head of Regulatory Affairs</a:t>
            </a:r>
            <a:endParaRPr lang="en-US" sz="1150" dirty="0"/>
          </a:p>
        </p:txBody>
      </p:sp>
      <p:sp>
        <p:nvSpPr>
          <p:cNvPr id="24" name="Text 18"/>
          <p:cNvSpPr/>
          <p:nvPr/>
        </p:nvSpPr>
        <p:spPr>
          <a:xfrm>
            <a:off x="8885682" y="3218688"/>
            <a:ext cx="2224278" cy="59436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a:solidFill>
                  <a:srgbClr val="3D4663"/>
                </a:solidFill>
                <a:latin typeface="Aptos" pitchFamily="34" charset="0"/>
                <a:ea typeface="Calibri" pitchFamily="34" charset="-122"/>
                <a:cs typeface="Calibri" pitchFamily="34" charset="-120"/>
              </a:rPr>
              <a:t>FDA medical device / biologics regulatory pathway expertise; experience navigating 510(k) and PMA submissions.</a:t>
            </a:r>
            <a:endParaRPr lang="en-US" sz="870" dirty="0"/>
          </a:p>
        </p:txBody>
      </p:sp>
      <p:sp>
        <p:nvSpPr>
          <p:cNvPr id="25" name="Shape 19"/>
          <p:cNvSpPr/>
          <p:nvPr/>
        </p:nvSpPr>
        <p:spPr>
          <a:xfrm>
            <a:off x="457200" y="4114800"/>
            <a:ext cx="10817352" cy="2194560"/>
          </a:xfrm>
          <a:prstGeom prst="roundRect">
            <a:avLst>
              <a:gd name="adj" fmla="val 3750"/>
            </a:avLst>
          </a:prstGeom>
          <a:solidFill>
            <a:srgbClr val="ECF2F9"/>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26" name="Shape 20"/>
          <p:cNvSpPr/>
          <p:nvPr/>
        </p:nvSpPr>
        <p:spPr>
          <a:xfrm>
            <a:off x="713232" y="4352544"/>
            <a:ext cx="512064" cy="512064"/>
          </a:xfrm>
          <a:prstGeom prst="ellipse">
            <a:avLst/>
          </a:prstGeom>
          <a:solidFill>
            <a:srgbClr val="12C9AA"/>
          </a:solidFill>
          <a:ln w="12700">
            <a:solidFill>
              <a:srgbClr val="FFFFFF">
                <a:alpha val="0"/>
              </a:srgbClr>
            </a:solidFill>
            <a:prstDash val="solid"/>
          </a:ln>
        </p:spPr>
        <p:txBody>
          <a:bodyPr wrap="square"/>
          <a:p/>
        </p:txBody>
      </p:sp>
      <p:pic>
        <p:nvPicPr>
          <p:cNvPr id="27" name="Image 4" descr="/home/claude/samuel_deck/assets/icon_gradcap_navy.png">    </p:cNvPr>
          <p:cNvPicPr>
            <a:picLocks noChangeAspect="1"/>
          </p:cNvPicPr>
          <p:nvPr/>
        </p:nvPicPr>
        <p:blipFill>
          <a:blip r:embed="rId5"/>
          <a:stretch>
            <a:fillRect/>
          </a:stretch>
        </p:blipFill>
        <p:spPr>
          <a:xfrm>
            <a:off x="836127" y="4475439"/>
            <a:ext cx="266273" cy="266273"/>
          </a:xfrm>
          <a:prstGeom prst="rect">
            <a:avLst/>
          </a:prstGeom>
        </p:spPr>
      </p:pic>
      <p:sp>
        <p:nvSpPr>
          <p:cNvPr id="28" name="Text 21"/>
          <p:cNvSpPr/>
          <p:nvPr/>
        </p:nvSpPr>
        <p:spPr>
          <a:xfrm>
            <a:off x="1408176" y="4334256"/>
            <a:ext cx="9601200" cy="329184"/>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500" b="1" dirty="0">
                <a:solidFill>
                  <a:srgbClr val="0B1330"/>
                </a:solidFill>
                <a:latin typeface="Aptos Display" pitchFamily="34" charset="0"/>
                <a:ea typeface="Cambria" pitchFamily="34" charset="-122"/>
                <a:cs typeface="Cambria" pitchFamily="34" charset="-120"/>
              </a:rPr>
              <a:t>Scientific Advisory Board — In Formation</a:t>
            </a:r>
            <a:endParaRPr lang="en-US" sz="1500" dirty="0"/>
          </a:p>
        </p:txBody>
      </p:sp>
      <p:sp>
        <p:nvSpPr>
          <p:cNvPr id="29" name="Text 22"/>
          <p:cNvSpPr/>
          <p:nvPr/>
        </p:nvSpPr>
        <p:spPr>
          <a:xfrm>
            <a:off x="731520" y="4754880"/>
            <a:ext cx="10241280" cy="1417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50" dirty="0">
                <a:solidFill>
                  <a:srgbClr val="3D4663"/>
                </a:solidFill>
                <a:latin typeface="Aptos" pitchFamily="34" charset="0"/>
                <a:ea typeface="Calibri" pitchFamily="34" charset="-122"/>
                <a:cs typeface="Calibri" pitchFamily="34" charset="-120"/>
              </a:rPr>
              <a:t>Samuel is actively recruiting an SAB spanning the disciplines proven essential by the field's existing leaders: stem-cell and cardiac tissue biology (in the tradition of Harvard's bioengineering research community), microgravity payload design (as demonstrated by Redwire's BFF engineering team), and protein-based biomanufacturing (as practiced by LambdaVision and Space Tango). Target SAB appointments will be announced as the round closes.</a:t>
            </a:r>
            <a:endParaRPr lang="en-US" sz="1080" dirty="0"/>
          </a:p>
        </p:txBody>
      </p:sp>
      <p:sp>
        <p:nvSpPr>
          <p:cNvPr id="30" name="Text 23"/>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p:bgPr>
    </p:bg>
    <p:spTree>
      <p:nvGrpSpPr>
        <p:cNvPr id="1" name=""/>
        <p:cNvGrpSpPr/>
        <p:nvPr/>
      </p:nvGrpSpPr>
      <p:grpSpPr>
        <a:xfrm>
          <a:off x="0" y="0"/>
          <a:ext cx="0" cy="0"/>
          <a:chOff x="0" y="0"/>
          <a:chExt cx="0" cy="0"/>
        </a:xfrm>
      </p:grpSpPr>
      <p:pic>
        <p:nvPicPr>
          <p:cNvPr id="2" name="Image 0" descr="/home/claude/samuel_deck/assets/orbit_hero.png">    </p:cNvPr>
          <p:cNvPicPr>
            <a:picLocks noChangeAspect="1"/>
          </p:cNvPicPr>
          <p:nvPr/>
        </p:nvPicPr>
        <p:blipFill>
          <a:blip r:embed="rId1"/>
          <a:stretch>
            <a:fillRect/>
          </a:stretch>
        </p:blipFill>
        <p:spPr>
          <a:xfrm flipH="1">
            <a:off x="7985455" y="0"/>
            <a:ext cx="4206240" cy="6858000"/>
          </a:xfrm>
          <a:prstGeom prst="rect">
            <a:avLst/>
          </a:prstGeom>
        </p:spPr>
      </p:pic>
      <p:sp>
        <p:nvSpPr>
          <p:cNvPr id="3" name="Text 0"/>
          <p:cNvSpPr/>
          <p:nvPr/>
        </p:nvSpPr>
        <p:spPr>
          <a:xfrm>
            <a:off x="804672" y="1828800"/>
            <a:ext cx="676656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200" b="1" spc="220" kern="0" dirty="0">
                <a:solidFill>
                  <a:srgbClr val="0A8F78"/>
                </a:solidFill>
                <a:latin typeface="Aptos" pitchFamily="34" charset="0"/>
                <a:ea typeface="Calibri" pitchFamily="34" charset="-122"/>
                <a:cs typeface="Calibri" pitchFamily="34" charset="-120"/>
              </a:rPr>
              <a:t>THE OPPORTUNITY</a:t>
            </a:r>
            <a:endParaRPr lang="en-US" sz="1150" dirty="0"/>
          </a:p>
        </p:txBody>
      </p:sp>
      <p:sp>
        <p:nvSpPr>
          <p:cNvPr id="4" name="Text 1"/>
          <p:cNvSpPr/>
          <p:nvPr/>
        </p:nvSpPr>
        <p:spPr>
          <a:xfrm>
            <a:off x="804672" y="1847088"/>
            <a:ext cx="6766560" cy="155448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3500" b="1" dirty="0">
                <a:solidFill>
                  <a:srgbClr val="0B1330"/>
                </a:solidFill>
                <a:latin typeface="Aptos Display" pitchFamily="34" charset="0"/>
                <a:ea typeface="Cambria" pitchFamily="34" charset="-122"/>
                <a:cs typeface="Cambria" pitchFamily="34" charset="-120"/>
              </a:rPr>
              <a:t>Every organ printed in orbit</a:t>
            </a:r>
            <a:endParaRPr lang="en-US" sz="3000" dirty="0"/>
          </a:p>
          <a:p>
            <a:pPr indent="0" marL="0">
              <a:lnSpc>
                <a:spcPct val="102000"/>
              </a:lnSpc>
              <a:spcBef>
                <a:spcPts val="0"/>
              </a:spcBef>
              <a:spcAft>
                <a:spcPts val="0"/>
              </a:spcAft>
              <a:buNone/>
            </a:pPr>
            <a:r>
              <a:rPr lang="en-US" sz="3500" b="1" dirty="0">
                <a:solidFill>
                  <a:srgbClr val="0B1330"/>
                </a:solidFill>
                <a:latin typeface="Aptos Display" pitchFamily="34" charset="0"/>
                <a:ea typeface="Cambria" pitchFamily="34" charset="-122"/>
                <a:cs typeface="Cambria" pitchFamily="34" charset="-120"/>
              </a:rPr>
              <a:t>is a life that didn't have to wait.</a:t>
            </a:r>
            <a:endParaRPr lang="en-US" sz="3000" dirty="0"/>
          </a:p>
        </p:txBody>
      </p:sp>
      <p:sp>
        <p:nvSpPr>
          <p:cNvPr id="5" name="Text 2"/>
          <p:cNvSpPr/>
          <p:nvPr/>
        </p:nvSpPr>
        <p:spPr>
          <a:xfrm>
            <a:off x="822960" y="3611880"/>
            <a:ext cx="6492240" cy="9601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500" dirty="0">
                <a:solidFill>
                  <a:srgbClr val="3D4663"/>
                </a:solidFill>
                <a:latin typeface="Aptos" pitchFamily="34" charset="0"/>
                <a:ea typeface="Calibri" pitchFamily="34" charset="-122"/>
                <a:cs typeface="Calibri" pitchFamily="34" charset="-120"/>
              </a:rPr>
              <a:t>Samuel Space stands at the intersection of two converging trends: a mature, validated microgravity bioprinting science base, and the arrival of commercial space stations built for exactly this kind of work. The science already works. What's needed now is a company built to commercialise it.</a:t>
            </a:r>
            <a:endParaRPr lang="en-US" sz="1250" dirty="0"/>
          </a:p>
        </p:txBody>
      </p:sp>
      <p:sp>
        <p:nvSpPr>
          <p:cNvPr id="6" name="Shape 3"/>
          <p:cNvSpPr/>
          <p:nvPr/>
        </p:nvSpPr>
        <p:spPr>
          <a:xfrm>
            <a:off x="822960" y="4937760"/>
            <a:ext cx="3474720" cy="0"/>
          </a:xfrm>
          <a:prstGeom prst="line">
            <a:avLst/>
          </a:prstGeom>
          <a:noFill/>
          <a:ln w="19050">
            <a:solidFill>
              <a:srgbClr val="0A8F78"/>
            </a:solidFill>
            <a:prstDash val="solid"/>
          </a:ln>
        </p:spPr>
        <p:txBody>
          <a:bodyPr wrap="square"/>
          <a:p/>
        </p:txBody>
      </p:sp>
      <p:sp>
        <p:nvSpPr>
          <p:cNvPr id="7" name="Text 4"/>
          <p:cNvSpPr/>
          <p:nvPr/>
        </p:nvSpPr>
        <p:spPr>
          <a:xfrm>
            <a:off x="822960" y="5102352"/>
            <a:ext cx="5943600" cy="54864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dirty="0">
                <a:solidFill>
                  <a:srgbClr val="64739A"/>
                </a:solidFill>
                <a:latin typeface="Aptos" pitchFamily="34" charset="0"/>
                <a:ea typeface="Calibri" pitchFamily="34" charset="-122"/>
                <a:cs typeface="Calibri" pitchFamily="34" charset="-120"/>
              </a:rPr>
              <a:t>Samuel Space Organ and Tissue Engineering</a:t>
            </a:r>
            <a:endParaRPr lang="en-US" sz="1150" dirty="0"/>
          </a:p>
          <a:p>
            <a:pPr indent="0" marL="0">
              <a:lnSpc>
                <a:spcPct val="102000"/>
              </a:lnSpc>
              <a:spcBef>
                <a:spcPts val="0"/>
              </a:spcBef>
              <a:spcAft>
                <a:spcPts val="0"/>
              </a:spcAft>
              <a:buNone/>
            </a:pPr>
            <a:r>
              <a:rPr lang="en-US" sz="1100" dirty="0">
                <a:solidFill>
                  <a:srgbClr val="64739A"/>
                </a:solidFill>
                <a:latin typeface="Aptos" pitchFamily="34" charset="0"/>
                <a:ea typeface="Calibri" pitchFamily="34" charset="-122"/>
                <a:cs typeface="Calibri" pitchFamily="34" charset="-120"/>
              </a:rPr>
              <a:t>investors@samuelspace.com (placeholder)</a:t>
            </a:r>
            <a:endParaRPr lang="en-US" sz="1150" dirty="0"/>
          </a:p>
        </p:txBody>
      </p:sp>
      <p:sp>
        <p:nvSpPr>
          <p:cNvPr id="8" name="Text 5"/>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57200" y="320040"/>
            <a:ext cx="105156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spc="220" kern="0" dirty="0">
                <a:solidFill>
                  <a:srgbClr val="0A8F78"/>
                </a:solidFill>
                <a:latin typeface="Aptos" pitchFamily="34" charset="0"/>
                <a:ea typeface="Calibri" pitchFamily="34" charset="-122"/>
                <a:cs typeface="Calibri" pitchFamily="34" charset="-120"/>
              </a:rPr>
              <a:t>APPENDIX</a:t>
            </a:r>
            <a:endParaRPr lang="en-US" sz="1100" dirty="0"/>
          </a:p>
        </p:txBody>
      </p:sp>
      <p:sp>
        <p:nvSpPr>
          <p:cNvPr id="3" name="Text 1"/>
          <p:cNvSpPr/>
          <p:nvPr/>
        </p:nvSpPr>
        <p:spPr>
          <a:xfrm>
            <a:off x="457200" y="621792"/>
            <a:ext cx="10972800" cy="713232"/>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2800" b="1" dirty="0">
                <a:solidFill>
                  <a:srgbClr val="0B1330"/>
                </a:solidFill>
                <a:latin typeface="Aptos Display" pitchFamily="34" charset="0"/>
                <a:ea typeface="Cambria" pitchFamily="34" charset="-122"/>
                <a:cs typeface="Cambria" pitchFamily="34" charset="-120"/>
              </a:rPr>
              <a:t>Sources &amp; References</a:t>
            </a:r>
            <a:endParaRPr lang="en-US" sz="2700" dirty="0"/>
          </a:p>
        </p:txBody>
      </p:sp>
      <p:sp>
        <p:nvSpPr>
          <p:cNvPr id="4" name="Text 2"/>
          <p:cNvSpPr/>
          <p:nvPr/>
        </p:nvSpPr>
        <p:spPr>
          <a:xfrm>
            <a:off x="457200" y="1417320"/>
            <a:ext cx="521208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dirty="0">
                <a:solidFill>
                  <a:srgbClr val="0A8F78"/>
                </a:solidFill>
                <a:latin typeface="Aptos" pitchFamily="34" charset="0"/>
                <a:ea typeface="Calibri" pitchFamily="34" charset="-122"/>
                <a:cs typeface="Calibri" pitchFamily="34" charset="-120"/>
              </a:rPr>
              <a:t>Bioprinting Science &amp; Technology</a:t>
            </a:r>
            <a:endParaRPr lang="en-US" sz="1150" dirty="0"/>
          </a:p>
        </p:txBody>
      </p:sp>
      <p:sp>
        <p:nvSpPr>
          <p:cNvPr id="5" name="Text 3"/>
          <p:cNvSpPr/>
          <p:nvPr/>
        </p:nvSpPr>
        <p:spPr>
          <a:xfrm>
            <a:off x="457200" y="1755648"/>
            <a:ext cx="5212080" cy="4480560"/>
          </a:xfrm>
          <a:prstGeom prst="rect">
            <a:avLst/>
          </a:prstGeom>
          <a:noFill/>
          <a:ln/>
        </p:spPr>
        <p:txBody>
          <a:bodyPr wrap="square" lIns="25400" tIns="25400" rIns="25400" bIns="25400" rtlCol="0" anchor="t"/>
          <a:lstStyle/>
          <a:p>
            <a:pPr marL="342900" indent="-342900">
              <a:lnSpc>
                <a:spcPct val="102000"/>
              </a:lnSpc>
              <a:spcBef>
                <a:spcPts val="0"/>
              </a:spcBef>
              <a:spcAft>
                <a:spcPts val="0"/>
              </a:spcAft>
              <a:buSzPct val="100000"/>
              <a:buChar char="•"/>
            </a:pPr>
            <a:r>
              <a:rPr lang="en-US" sz="919" dirty="0">
                <a:solidFill>
                  <a:srgbClr val="3D4663"/>
                </a:solidFill>
                <a:latin typeface="Aptos" pitchFamily="34" charset="0"/>
                <a:ea typeface="Calibri" pitchFamily="34" charset="-122"/>
                <a:cs typeface="Calibri" pitchFamily="34" charset="-120"/>
              </a:rPr>
              <a:t>NASA — "3D Bioprinting" research overview, iss-research program page</a:t>
            </a:r>
            <a:endParaRPr lang="en-US" sz="930" dirty="0"/>
          </a:p>
          <a:p>
            <a:pPr marL="342900" indent="-342900">
              <a:lnSpc>
                <a:spcPct val="102000"/>
              </a:lnSpc>
              <a:spcBef>
                <a:spcPts val="0"/>
              </a:spcBef>
              <a:spcAft>
                <a:spcPts val="0"/>
              </a:spcAft>
              <a:buSzPct val="100000"/>
              <a:buChar char="•"/>
            </a:pPr>
            <a:r>
              <a:rPr lang="en-US" sz="919" dirty="0">
                <a:solidFill>
                  <a:srgbClr val="3D4663"/>
                </a:solidFill>
                <a:latin typeface="Aptos" pitchFamily="34" charset="0"/>
                <a:ea typeface="Calibri" pitchFamily="34" charset="-122"/>
                <a:cs typeface="Calibri" pitchFamily="34" charset="-120"/>
              </a:rPr>
              <a:t>NASA — BioFabrication Facility mission page, Redwire Corporation</a:t>
            </a:r>
            <a:endParaRPr lang="en-US" sz="930" dirty="0"/>
          </a:p>
          <a:p>
            <a:pPr marL="342900" indent="-342900">
              <a:lnSpc>
                <a:spcPct val="102000"/>
              </a:lnSpc>
              <a:spcBef>
                <a:spcPts val="0"/>
              </a:spcBef>
              <a:spcAft>
                <a:spcPts val="0"/>
              </a:spcAft>
              <a:buSzPct val="100000"/>
              <a:buChar char="•"/>
            </a:pPr>
            <a:r>
              <a:rPr lang="en-US" sz="919" dirty="0">
                <a:solidFill>
                  <a:srgbClr val="3D4663"/>
                </a:solidFill>
                <a:latin typeface="Aptos" pitchFamily="34" charset="0"/>
                <a:ea typeface="Calibri" pitchFamily="34" charset="-122"/>
                <a:cs typeface="Calibri" pitchFamily="34" charset="-120"/>
              </a:rPr>
              <a:t>Redwire Corporation — Newsroom: BFF-Meniscus first human knee meniscus printed in orbit, Sept 2023</a:t>
            </a:r>
            <a:endParaRPr lang="en-US" sz="930" dirty="0"/>
          </a:p>
          <a:p>
            <a:pPr marL="342900" indent="-342900">
              <a:lnSpc>
                <a:spcPct val="102000"/>
              </a:lnSpc>
              <a:spcBef>
                <a:spcPts val="0"/>
              </a:spcBef>
              <a:spcAft>
                <a:spcPts val="0"/>
              </a:spcAft>
              <a:buSzPct val="100000"/>
              <a:buChar char="•"/>
            </a:pPr>
            <a:r>
              <a:rPr lang="en-US" sz="919" dirty="0">
                <a:solidFill>
                  <a:srgbClr val="3D4663"/>
                </a:solidFill>
                <a:latin typeface="Aptos" pitchFamily="34" charset="0"/>
                <a:ea typeface="Calibri" pitchFamily="34" charset="-122"/>
                <a:cs typeface="Calibri" pitchFamily="34" charset="-120"/>
              </a:rPr>
              <a:t>Redwire Corporation — BFF-Cardiac investigation announcements and ISS return coverage, 2024</a:t>
            </a:r>
            <a:endParaRPr lang="en-US" sz="930" dirty="0"/>
          </a:p>
          <a:p>
            <a:pPr marL="342900" indent="-342900">
              <a:lnSpc>
                <a:spcPct val="102000"/>
              </a:lnSpc>
              <a:spcBef>
                <a:spcPts val="0"/>
              </a:spcBef>
              <a:spcAft>
                <a:spcPts val="0"/>
              </a:spcAft>
              <a:buSzPct val="100000"/>
              <a:buChar char="•"/>
            </a:pPr>
            <a:r>
              <a:rPr lang="en-US" sz="919" dirty="0">
                <a:solidFill>
                  <a:srgbClr val="3D4663"/>
                </a:solidFill>
                <a:latin typeface="Aptos" pitchFamily="34" charset="0"/>
                <a:ea typeface="Calibri" pitchFamily="34" charset="-122"/>
                <a:cs typeface="Calibri" pitchFamily="34" charset="-120"/>
              </a:rPr>
              <a:t>Redwire Corporation — NASA IDIQ contract award coverage, Sept 2025</a:t>
            </a:r>
            <a:endParaRPr lang="en-US" sz="930" dirty="0"/>
          </a:p>
          <a:p>
            <a:pPr marL="342900" indent="-342900">
              <a:lnSpc>
                <a:spcPct val="102000"/>
              </a:lnSpc>
              <a:spcBef>
                <a:spcPts val="0"/>
              </a:spcBef>
              <a:spcAft>
                <a:spcPts val="0"/>
              </a:spcAft>
              <a:buSzPct val="100000"/>
              <a:buChar char="•"/>
            </a:pPr>
            <a:r>
              <a:rPr lang="en-US" sz="919" dirty="0">
                <a:solidFill>
                  <a:srgbClr val="3D4663"/>
                </a:solidFill>
                <a:latin typeface="Aptos" pitchFamily="34" charset="0"/>
                <a:ea typeface="Calibri" pitchFamily="34" charset="-122"/>
                <a:cs typeface="Calibri" pitchFamily="34" charset="-120"/>
              </a:rPr>
              <a:t>ESA / DLR — Bioprint FirstAid investigation overview, Cosmic Kiss mission materials</a:t>
            </a:r>
            <a:endParaRPr lang="en-US" sz="930" dirty="0"/>
          </a:p>
          <a:p>
            <a:pPr marL="342900" indent="-342900">
              <a:lnSpc>
                <a:spcPct val="102000"/>
              </a:lnSpc>
              <a:spcBef>
                <a:spcPts val="0"/>
              </a:spcBef>
              <a:spcAft>
                <a:spcPts val="0"/>
              </a:spcAft>
              <a:buSzPct val="100000"/>
              <a:buChar char="•"/>
            </a:pPr>
            <a:r>
              <a:rPr lang="en-US" sz="919" dirty="0">
                <a:solidFill>
                  <a:srgbClr val="3D4663"/>
                </a:solidFill>
                <a:latin typeface="Aptos" pitchFamily="34" charset="0"/>
                <a:ea typeface="Calibri" pitchFamily="34" charset="-122"/>
                <a:cs typeface="Calibri" pitchFamily="34" charset="-120"/>
              </a:rPr>
              <a:t>LambdaVision Inc. — Press releases: Space Tango partnership, NASA InSPA Phase 2 award, seed financing, 2025–2026</a:t>
            </a:r>
            <a:endParaRPr lang="en-US" sz="930" dirty="0"/>
          </a:p>
        </p:txBody>
      </p:sp>
      <p:sp>
        <p:nvSpPr>
          <p:cNvPr id="6" name="Text 4"/>
          <p:cNvSpPr/>
          <p:nvPr/>
        </p:nvSpPr>
        <p:spPr>
          <a:xfrm>
            <a:off x="5989320" y="1417320"/>
            <a:ext cx="521208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100" b="1" dirty="0">
                <a:solidFill>
                  <a:srgbClr val="0A8F78"/>
                </a:solidFill>
                <a:latin typeface="Aptos" pitchFamily="34" charset="0"/>
                <a:ea typeface="Calibri" pitchFamily="34" charset="-122"/>
                <a:cs typeface="Calibri" pitchFamily="34" charset="-120"/>
              </a:rPr>
              <a:t>Market, Regulatory &amp; Industry Data</a:t>
            </a:r>
            <a:endParaRPr lang="en-US" sz="1150" dirty="0"/>
          </a:p>
        </p:txBody>
      </p:sp>
      <p:sp>
        <p:nvSpPr>
          <p:cNvPr id="7" name="Text 5"/>
          <p:cNvSpPr/>
          <p:nvPr/>
        </p:nvSpPr>
        <p:spPr>
          <a:xfrm>
            <a:off x="5989320" y="1755648"/>
            <a:ext cx="5212080" cy="4480560"/>
          </a:xfrm>
          <a:prstGeom prst="rect">
            <a:avLst/>
          </a:prstGeom>
          <a:noFill/>
          <a:ln/>
        </p:spPr>
        <p:txBody>
          <a:bodyPr wrap="square" lIns="25400" tIns="25400" rIns="25400" bIns="25400" rtlCol="0" anchor="t"/>
          <a:lstStyle/>
          <a:p>
            <a:pPr marL="342900" indent="-342900">
              <a:lnSpc>
                <a:spcPct val="102000"/>
              </a:lnSpc>
              <a:spcBef>
                <a:spcPts val="0"/>
              </a:spcBef>
              <a:spcAft>
                <a:spcPts val="0"/>
              </a:spcAft>
              <a:buSzPct val="100000"/>
              <a:buChar char="•"/>
            </a:pPr>
            <a:r>
              <a:rPr lang="en-US" sz="919" dirty="0">
                <a:solidFill>
                  <a:srgbClr val="3D4663"/>
                </a:solidFill>
                <a:latin typeface="Aptos" pitchFamily="34" charset="0"/>
                <a:ea typeface="Calibri" pitchFamily="34" charset="-122"/>
                <a:cs typeface="Calibri" pitchFamily="34" charset="-120"/>
              </a:rPr>
              <a:t>ROSCOSMOS — 3D MBP / Organ.Aut magnetic bioprinter mission summaries, 2018–2020</a:t>
            </a:r>
            <a:endParaRPr lang="en-US" sz="930" dirty="0"/>
          </a:p>
          <a:p>
            <a:pPr marL="342900" indent="-342900">
              <a:lnSpc>
                <a:spcPct val="102000"/>
              </a:lnSpc>
              <a:spcBef>
                <a:spcPts val="0"/>
              </a:spcBef>
              <a:spcAft>
                <a:spcPts val="0"/>
              </a:spcAft>
              <a:buSzPct val="100000"/>
              <a:buChar char="•"/>
            </a:pPr>
            <a:r>
              <a:rPr lang="en-US" sz="919" dirty="0">
                <a:solidFill>
                  <a:srgbClr val="3D4663"/>
                </a:solidFill>
                <a:latin typeface="Aptos" pitchFamily="34" charset="0"/>
                <a:ea typeface="Calibri" pitchFamily="34" charset="-122"/>
                <a:cs typeface="Calibri" pitchFamily="34" charset="-120"/>
              </a:rPr>
              <a:t>American Heart Association — 2025 Heart Disease &amp; Stroke Statistics Update</a:t>
            </a:r>
            <a:endParaRPr lang="en-US" sz="930" dirty="0"/>
          </a:p>
          <a:p>
            <a:pPr marL="342900" indent="-342900">
              <a:lnSpc>
                <a:spcPct val="102000"/>
              </a:lnSpc>
              <a:spcBef>
                <a:spcPts val="0"/>
              </a:spcBef>
              <a:spcAft>
                <a:spcPts val="0"/>
              </a:spcAft>
              <a:buSzPct val="100000"/>
              <a:buChar char="•"/>
            </a:pPr>
            <a:r>
              <a:rPr lang="en-US" sz="919" dirty="0">
                <a:solidFill>
                  <a:srgbClr val="3D4663"/>
                </a:solidFill>
                <a:latin typeface="Aptos" pitchFamily="34" charset="0"/>
                <a:ea typeface="Calibri" pitchFamily="34" charset="-122"/>
                <a:cs typeface="Calibri" pitchFamily="34" charset="-120"/>
              </a:rPr>
              <a:t>OPTN / organdonor.gov (HRSA) — U.S. transplant waiting list data, 2025</a:t>
            </a:r>
            <a:endParaRPr lang="en-US" sz="930" dirty="0"/>
          </a:p>
          <a:p>
            <a:pPr marL="342900" indent="-342900">
              <a:lnSpc>
                <a:spcPct val="102000"/>
              </a:lnSpc>
              <a:spcBef>
                <a:spcPts val="0"/>
              </a:spcBef>
              <a:spcAft>
                <a:spcPts val="0"/>
              </a:spcAft>
              <a:buSzPct val="100000"/>
              <a:buChar char="•"/>
            </a:pPr>
            <a:r>
              <a:rPr lang="en-US" sz="919" dirty="0">
                <a:solidFill>
                  <a:srgbClr val="3D4663"/>
                </a:solidFill>
                <a:latin typeface="Aptos" pitchFamily="34" charset="0"/>
                <a:ea typeface="Calibri" pitchFamily="34" charset="-122"/>
                <a:cs typeface="Calibri" pitchFamily="34" charset="-120"/>
              </a:rPr>
              <a:t>World Health Organization — Global Observatory on Donation and Transplantation</a:t>
            </a:r>
            <a:endParaRPr lang="en-US" sz="930" dirty="0"/>
          </a:p>
          <a:p>
            <a:pPr marL="342900" indent="-342900">
              <a:lnSpc>
                <a:spcPct val="102000"/>
              </a:lnSpc>
              <a:spcBef>
                <a:spcPts val="0"/>
              </a:spcBef>
              <a:spcAft>
                <a:spcPts val="0"/>
              </a:spcAft>
              <a:buSzPct val="100000"/>
              <a:buChar char="•"/>
            </a:pPr>
            <a:r>
              <a:rPr lang="en-US" sz="919" dirty="0">
                <a:solidFill>
                  <a:srgbClr val="3D4663"/>
                </a:solidFill>
                <a:latin typeface="Aptos" pitchFamily="34" charset="0"/>
                <a:ea typeface="Calibri" pitchFamily="34" charset="-122"/>
                <a:cs typeface="Calibri" pitchFamily="34" charset="-120"/>
              </a:rPr>
              <a:t>Mordor Intelligence — 3D Bioprinting Market Report, updated January 2026</a:t>
            </a:r>
            <a:endParaRPr lang="en-US" sz="930" dirty="0"/>
          </a:p>
          <a:p>
            <a:pPr marL="342900" indent="-342900">
              <a:lnSpc>
                <a:spcPct val="102000"/>
              </a:lnSpc>
              <a:spcBef>
                <a:spcPts val="0"/>
              </a:spcBef>
              <a:spcAft>
                <a:spcPts val="0"/>
              </a:spcAft>
              <a:buSzPct val="100000"/>
              <a:buChar char="•"/>
            </a:pPr>
            <a:r>
              <a:rPr lang="en-US" sz="919" dirty="0">
                <a:solidFill>
                  <a:srgbClr val="3D4663"/>
                </a:solidFill>
                <a:latin typeface="Aptos" pitchFamily="34" charset="0"/>
                <a:ea typeface="Calibri" pitchFamily="34" charset="-122"/>
                <a:cs typeface="Calibri" pitchFamily="34" charset="-120"/>
              </a:rPr>
              <a:t>U.S. FDA — Symvess (acellular tissue-engineered vessel) clearance announcement, Dec 2024</a:t>
            </a:r>
            <a:endParaRPr lang="en-US" sz="930" dirty="0"/>
          </a:p>
          <a:p>
            <a:pPr marL="342900" indent="-342900">
              <a:lnSpc>
                <a:spcPct val="102000"/>
              </a:lnSpc>
              <a:spcBef>
                <a:spcPts val="0"/>
              </a:spcBef>
              <a:spcAft>
                <a:spcPts val="0"/>
              </a:spcAft>
              <a:buSzPct val="100000"/>
              <a:buChar char="•"/>
            </a:pPr>
            <a:r>
              <a:rPr lang="en-US" sz="919" dirty="0">
                <a:solidFill>
                  <a:srgbClr val="3D4663"/>
                </a:solidFill>
                <a:latin typeface="Aptos" pitchFamily="34" charset="0"/>
                <a:ea typeface="Calibri" pitchFamily="34" charset="-122"/>
                <a:cs typeface="Calibri" pitchFamily="34" charset="-120"/>
              </a:rPr>
              <a:t>NASA Commercial LEO Destinations (CLD) program — Starlab, Axiom, Orbital Reef, Vast program pages</a:t>
            </a:r>
            <a:endParaRPr lang="en-US" sz="930" dirty="0"/>
          </a:p>
        </p:txBody>
      </p:sp>
      <p:sp>
        <p:nvSpPr>
          <p:cNvPr id="8" name="Shape 6"/>
          <p:cNvSpPr/>
          <p:nvPr/>
        </p:nvSpPr>
        <p:spPr>
          <a:xfrm>
            <a:off x="457200" y="5074920"/>
            <a:ext cx="10817352" cy="1207008"/>
          </a:xfrm>
          <a:prstGeom prst="roundRect">
            <a:avLst>
              <a:gd name="adj" fmla="val 6818"/>
            </a:avLst>
          </a:prstGeom>
          <a:solidFill>
            <a:srgbClr val="ECF2F9"/>
          </a:solidFill>
          <a:ln w="12700">
            <a:solidFill>
              <a:srgbClr val="DBE4F0">
                <a:alpha val="0"/>
              </a:srgbClr>
            </a:solidFill>
            <a:prstDash val="solid"/>
          </a:ln>
          <a:effectLst>
            <a:outerShdw sx="100000" sy="100000" kx="0" ky="0" algn="bl" rotWithShape="0" blurRad="127000" dist="38100" dir="2700000">
              <a:srgbClr val="0B1330">
                <a:alpha val="14000"/>
              </a:srgbClr>
            </a:outerShdw>
          </a:effectLst>
        </p:spPr>
        <p:txBody>
          <a:bodyPr wrap="square"/>
          <a:p/>
        </p:txBody>
      </p:sp>
      <p:sp>
        <p:nvSpPr>
          <p:cNvPr id="9" name="Shape 7"/>
          <p:cNvSpPr/>
          <p:nvPr/>
        </p:nvSpPr>
        <p:spPr>
          <a:xfrm>
            <a:off x="676656" y="5285232"/>
            <a:ext cx="457200" cy="457200"/>
          </a:xfrm>
          <a:prstGeom prst="ellipse">
            <a:avLst/>
          </a:prstGeom>
          <a:solidFill>
            <a:srgbClr val="12C9AA"/>
          </a:solidFill>
          <a:ln w="12700">
            <a:solidFill>
              <a:srgbClr val="FFFFFF">
                <a:alpha val="0"/>
              </a:srgbClr>
            </a:solidFill>
            <a:prstDash val="solid"/>
          </a:ln>
        </p:spPr>
        <p:txBody>
          <a:bodyPr wrap="square"/>
          <a:p/>
        </p:txBody>
      </p:sp>
      <p:pic>
        <p:nvPicPr>
          <p:cNvPr id="10" name="Image 0" descr="/home/claude/samuel_deck/assets/icon_clipboardlist_navy.png">    </p:cNvPr>
          <p:cNvPicPr>
            <a:picLocks noChangeAspect="1"/>
          </p:cNvPicPr>
          <p:nvPr/>
        </p:nvPicPr>
        <p:blipFill>
          <a:blip r:embed="rId1"/>
          <a:stretch>
            <a:fillRect/>
          </a:stretch>
        </p:blipFill>
        <p:spPr>
          <a:xfrm>
            <a:off x="786384" y="5394960"/>
            <a:ext cx="237744" cy="237744"/>
          </a:xfrm>
          <a:prstGeom prst="rect">
            <a:avLst/>
          </a:prstGeom>
        </p:spPr>
      </p:pic>
      <p:sp>
        <p:nvSpPr>
          <p:cNvPr id="11" name="Text 8"/>
          <p:cNvSpPr/>
          <p:nvPr/>
        </p:nvSpPr>
        <p:spPr>
          <a:xfrm>
            <a:off x="1335024" y="5212080"/>
            <a:ext cx="9601200" cy="2743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350" b="1" dirty="0">
                <a:solidFill>
                  <a:srgbClr val="0B1330"/>
                </a:solidFill>
                <a:latin typeface="Aptos Display" pitchFamily="34" charset="0"/>
                <a:ea typeface="Cambria" pitchFamily="34" charset="-122"/>
                <a:cs typeface="Cambria" pitchFamily="34" charset="-120"/>
              </a:rPr>
              <a:t>A Note on Methodology</a:t>
            </a:r>
            <a:endParaRPr lang="en-US" sz="1300" dirty="0"/>
          </a:p>
        </p:txBody>
      </p:sp>
      <p:sp>
        <p:nvSpPr>
          <p:cNvPr id="12" name="Text 9"/>
          <p:cNvSpPr/>
          <p:nvPr/>
        </p:nvSpPr>
        <p:spPr>
          <a:xfrm>
            <a:off x="1335024" y="5486400"/>
            <a:ext cx="9601200" cy="731520"/>
          </a:xfrm>
          <a:prstGeom prst="rect">
            <a:avLst/>
          </a:prstGeom>
          <a:noFill/>
          <a:ln/>
        </p:spPr>
        <p:txBody>
          <a:bodyPr wrap="square" lIns="25400" tIns="25400" rIns="25400" bIns="25400" rtlCol="0" anchor="ctr"/>
          <a:lstStyle/>
          <a:p>
            <a:pPr indent="0" marL="0">
              <a:lnSpc>
                <a:spcPct val="102000"/>
              </a:lnSpc>
              <a:spcBef>
                <a:spcPts val="0"/>
              </a:spcBef>
              <a:spcAft>
                <a:spcPts val="0"/>
              </a:spcAft>
              <a:buNone/>
            </a:pPr>
            <a:r>
              <a:rPr lang="en-US" sz="1000" dirty="0">
                <a:solidFill>
                  <a:srgbClr val="3D4663"/>
                </a:solidFill>
                <a:latin typeface="Aptos" pitchFamily="34" charset="0"/>
                <a:ea typeface="Calibri" pitchFamily="34" charset="-122"/>
                <a:cs typeface="Calibri" pitchFamily="34" charset="-120"/>
              </a:rPr>
              <a:t>All third-party scientific milestones, dates, and figures in this presentation are drawn from the public sources listed above and were current as of the citation date shown. Samuel Space Organ and Tissue Engineering is an independent platform company; references to NASA, Redwire, LambdaVision, ROSCOSMOS, and ESA/DLR describe industry validation of the underlying science, not partnerships, endorsements, or affiliations with Samuel Space.</a:t>
            </a:r>
            <a:endParaRPr lang="en-US" sz="970" dirty="0"/>
          </a:p>
        </p:txBody>
      </p:sp>
      <p:sp>
        <p:nvSpPr>
          <p:cNvPr id="13" name="Text 10"/>
          <p:cNvSpPr/>
          <p:nvPr/>
        </p:nvSpPr>
        <p:spPr>
          <a:xfrm>
            <a:off x="11441887" y="6473952"/>
            <a:ext cx="457200" cy="256032"/>
          </a:xfrm>
          <a:prstGeom prst="rect">
            <a:avLst/>
          </a:prstGeom>
          <a:noFill/>
          <a:ln/>
        </p:spPr>
        <p:txBody>
          <a:bodyPr wrap="square" lIns="25400" tIns="25400" rIns="25400" bIns="25400" rtlCol="0" anchor="ctr"/>
          <a:lstStyle/>
          <a:p>
            <a:pPr algn="r" indent="0" marL="0">
              <a:lnSpc>
                <a:spcPct val="102000"/>
              </a:lnSpc>
              <a:spcBef>
                <a:spcPts val="0"/>
              </a:spcBef>
              <a:spcAft>
                <a:spcPts val="0"/>
              </a:spcAft>
              <a:buNone/>
            </a:pPr>
            <a:r>
              <a:rPr lang="en-US" sz="900" dirty="0">
                <a:solidFill>
                  <a:srgbClr val="64739A"/>
                </a:solidFill>
                <a:latin typeface="Aptos" pitchFamily="34" charset="0"/>
                <a:ea typeface="Calibri" pitchFamily="34" charset="-122"/>
                <a:cs typeface="Calibri"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Samuel Space Organ and Tissue Engineering - Investor Presentation 2026</dc:title>
  <dc:subject>PptxGenJS Presentation</dc:subject>
  <dc:creator>Samuel Space Organ and Tissue Engineering</dc:creator>
  <cp:lastModifiedBy>Samuel Space Organ and Tissue Engineering</cp:lastModifiedBy>
  <cp:revision>1</cp:revision>
  <dcterms:created xsi:type="dcterms:W3CDTF">2026-06-20T02:47:07Z</dcterms:created>
  <dcterms:modified xsi:type="dcterms:W3CDTF">2026-06-20T02:47:07Z</dcterms:modified>
</cp:coreProperties>
</file>