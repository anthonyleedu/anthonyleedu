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10-1.jpg" ContentType="image/jpg"/>
  <Override PartName="/ppt/media/image-10-2.jpg" ContentType="image/jpg"/>
  <Override PartName="/ppt/media/image-10-3.jpg" ContentType="image/jpg"/>
  <Override PartName="/ppt/media/image-10-4.jpg" ContentType="image/jpg"/>
  <Override PartName="/ppt/media/image-10-5.jpg" ContentType="image/jpg"/>
  <Override PartName="/ppt/media/image-10-6.jpg" ContentType="image/jpg"/>
  <Override PartName="/ppt/media/image-11-1.jpg" ContentType="image/jpg"/>
  <Override PartName="/ppt/media/image-12-1.jpg" ContentType="image/jpg"/>
  <Override PartName="/ppt/media/image-13-1.jpg" ContentType="image/jpg"/>
  <Override PartName="/ppt/media/image-13-2.jpg" ContentType="image/jpg"/>
  <Override PartName="/ppt/media/image-14-1.jpg" ContentType="image/jpg"/>
  <Override PartName="/ppt/media/image-16-1.jpg" ContentType="image/jpg"/>
  <Override PartName="/ppt/media/image-2-1.jpg" ContentType="image/jpg"/>
  <Override PartName="/ppt/media/image-2-2.jpg" ContentType="image/jpg"/>
  <Override PartName="/ppt/media/image-3-1.jpg" ContentType="image/jpg"/>
  <Override PartName="/ppt/media/image-3-2.jpg" ContentType="image/jpg"/>
  <Override PartName="/ppt/media/image-3-3.jpg" ContentType="image/jpg"/>
  <Override PartName="/ppt/media/image-3-4.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media/image-4-7.jpg" ContentType="image/jpg"/>
  <Override PartName="/ppt/media/image-5-1.jpg" ContentType="image/jpg"/>
  <Override PartName="/ppt/media/image-5-2.jpg" ContentType="image/jpg"/>
  <Override PartName="/ppt/media/image-5-3.jpg" ContentType="image/jpg"/>
  <Override PartName="/ppt/media/image-5-4.jpg" ContentType="image/jpg"/>
  <Override PartName="/ppt/media/image-6-1.jpg" ContentType="image/jpg"/>
  <Override PartName="/ppt/media/image-6-2.jpg" ContentType="image/jpg"/>
  <Override PartName="/ppt/media/image-6-3.jpg" ContentType="image/jpg"/>
  <Override PartName="/ppt/media/image-7-1.jpg" ContentType="image/jpg"/>
  <Override PartName="/ppt/media/image-7-2.jpg" ContentType="image/jpg"/>
  <Override PartName="/ppt/media/image-7-3.jpg" ContentType="image/jpg"/>
  <Override PartName="/ppt/media/image-8-1.jpg" ContentType="image/jpg"/>
  <Override PartName="/ppt/media/image-8-2.jpg" ContentType="image/jpg"/>
  <Override PartName="/ppt/media/image-9-1.jpg" ContentType="image/jpg"/>
  <Override PartName="/ppt/media/image-9-2.jpg" ContentType="image/jpg"/>
  <Override PartName="/ppt/media/image-9-3.jpg" ContentType="image/jpg"/>
  <Override PartName="/ppt/media/image-9-4.jpg" ContentType="image/jpg"/>
  <Override PartName="/ppt/media/image-9-5.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Electric energy market</c:v>
                </c:pt>
              </c:strCache>
            </c:strRef>
          </c:tx>
          <c:spPr>
            <a:solidFill>
              <a:srgbClr val="007BCB"/>
            </a:solidFill>
            <a:effectLst/>
          </c:spPr>
          <c:invertIfNegative val="0"/>
          <c:dLbls>
            <c:numFmt formatCode="&quot;$&quot;0&quot;T&quot;" sourceLinked="0"/>
            <c:txPr>
              <a:bodyPr/>
              <a:lstStyle/>
              <a:p>
                <a:pPr>
                  <a:defRPr b="0" i="0" strike="noStrike" sz="1200" u="none">
                    <a:solidFill>
                      <a:srgbClr val="10222F"/>
                    </a:solidFill>
                    <a:latin typeface="Garamond"/>
                  </a:defRPr>
                </a:pPr>
              </a:p>
            </c:txPr>
            <c:showLegendKey val="0"/>
            <c:showVal val="1"/>
            <c:showCatName val="0"/>
            <c:showSerName val="0"/>
            <c:showPercent val="0"/>
            <c:showBubbleSize val="0"/>
            <c:showLeaderLines val="0"/>
          </c:dLbls>
          <c:cat>
            <c:strRef>
              <c:f>Sheet1!$A$2:$A$3</c:f>
              <c:strCache>
                <c:ptCount val="2"/>
                <c:pt idx="0">
                  <c:v>2025</c:v>
                </c:pt>
                <c:pt idx="1">
                  <c:v>2035</c:v>
                </c:pt>
              </c:strCache>
            </c:strRef>
          </c:cat>
          <c:val>
            <c:numRef>
              <c:f>Sheet1!$B$2:$B$3</c:f>
              <c:numCache>
                <c:formatCode>General</c:formatCode>
                <c:ptCount val="2"/>
                <c:pt idx="0">
                  <c:v>2</c:v>
                </c:pt>
                <c:pt idx="1">
                  <c:v>4</c:v>
                </c:pt>
              </c:numCache>
            </c:numRef>
          </c:val>
        </c:ser>
        <c:dLbls>
          <c:numFmt formatCode="&quot;$&quot;0&quot;T&quot;" sourceLinked="0"/>
          <c:txPr>
            <a:bodyPr/>
            <a:lstStyle/>
            <a:p>
              <a:pPr>
                <a:defRPr b="1" i="0" strike="noStrike" sz="1100" u="none">
                  <a:solidFill>
                    <a:srgbClr val="10222F"/>
                  </a:solidFill>
                  <a:latin typeface="Garamond"/>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C6B76"/>
                </a:solidFill>
                <a:latin typeface="Garamond"/>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chart" Target="../charts/chart1.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 Id="rId14" Type="http://schemas.openxmlformats.org/officeDocument/2006/relationships/image" Target="../media/image-1-1.jpg"/><Relationship Id="rId15"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title_b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assets/logo_white.png">    </p:cNvPr>
          <p:cNvPicPr>
            <a:picLocks noChangeAspect="1"/>
          </p:cNvPicPr>
          <p:nvPr/>
        </p:nvPicPr>
        <p:blipFill>
          <a:blip r:embed="rId2"/>
          <a:stretch>
            <a:fillRect/>
          </a:stretch>
        </p:blipFill>
        <p:spPr>
          <a:xfrm>
            <a:off x="822960" y="685800"/>
            <a:ext cx="2514600" cy="704088"/>
          </a:xfrm>
          <a:prstGeom prst="rect">
            <a:avLst/>
          </a:prstGeom>
        </p:spPr>
      </p:pic>
      <p:sp>
        <p:nvSpPr>
          <p:cNvPr id="4" name="Text 0"/>
          <p:cNvSpPr/>
          <p:nvPr/>
        </p:nvSpPr>
        <p:spPr>
          <a:xfrm>
            <a:off x="822960" y="2606040"/>
            <a:ext cx="5486400" cy="292608"/>
          </a:xfrm>
          <a:prstGeom prst="rect">
            <a:avLst/>
          </a:prstGeom>
          <a:noFill/>
          <a:ln/>
        </p:spPr>
        <p:txBody>
          <a:bodyPr wrap="square" lIns="0" tIns="0" rIns="0" bIns="0" rtlCol="0" anchor="ctr"/>
          <a:lstStyle/>
          <a:p>
            <a:pPr indent="0" marL="0">
              <a:buNone/>
            </a:pPr>
            <a:r>
              <a:rPr lang="en-US" sz="1200" b="1" spc="350" kern="0" dirty="0">
                <a:solidFill>
                  <a:srgbClr val="6FBCE8"/>
                </a:solidFill>
                <a:latin typeface="Garamond" pitchFamily="34" charset="0"/>
                <a:ea typeface="Garamond" pitchFamily="34" charset="-122"/>
                <a:cs typeface="Garamond" pitchFamily="34" charset="-120"/>
              </a:rPr>
              <a:t>COMPANY &amp; PRODUCT PRESENTATION</a:t>
            </a:r>
            <a:endParaRPr lang="en-US" sz="1200" dirty="0"/>
          </a:p>
        </p:txBody>
      </p:sp>
      <p:sp>
        <p:nvSpPr>
          <p:cNvPr id="5" name="Text 1"/>
          <p:cNvSpPr/>
          <p:nvPr/>
        </p:nvSpPr>
        <p:spPr>
          <a:xfrm>
            <a:off x="822960" y="2926080"/>
            <a:ext cx="10241280" cy="868680"/>
          </a:xfrm>
          <a:prstGeom prst="rect">
            <a:avLst/>
          </a:prstGeom>
          <a:noFill/>
          <a:ln/>
        </p:spPr>
        <p:txBody>
          <a:bodyPr wrap="square" lIns="0" tIns="0" rIns="0" bIns="0" rtlCol="0" anchor="ctr"/>
          <a:lstStyle/>
          <a:p>
            <a:pPr indent="0" marL="0">
              <a:buNone/>
            </a:pPr>
            <a:r>
              <a:rPr lang="en-US" sz="4600" b="1" dirty="0">
                <a:solidFill>
                  <a:srgbClr val="FFFFFF"/>
                </a:solidFill>
                <a:latin typeface="Garamond" pitchFamily="34" charset="0"/>
                <a:ea typeface="Garamond" pitchFamily="34" charset="-122"/>
                <a:cs typeface="Garamond" pitchFamily="34" charset="-120"/>
              </a:rPr>
              <a:t>Heliospace Corporation</a:t>
            </a:r>
            <a:endParaRPr lang="en-US" sz="4600" dirty="0"/>
          </a:p>
        </p:txBody>
      </p:sp>
      <p:sp>
        <p:nvSpPr>
          <p:cNvPr id="6" name="Text 2"/>
          <p:cNvSpPr/>
          <p:nvPr/>
        </p:nvSpPr>
        <p:spPr>
          <a:xfrm>
            <a:off x="822960" y="3886200"/>
            <a:ext cx="8138160" cy="777240"/>
          </a:xfrm>
          <a:prstGeom prst="rect">
            <a:avLst/>
          </a:prstGeom>
          <a:noFill/>
          <a:ln/>
        </p:spPr>
        <p:txBody>
          <a:bodyPr wrap="square" lIns="0" tIns="0" rIns="0" bIns="0" rtlCol="0" anchor="ctr"/>
          <a:lstStyle/>
          <a:p>
            <a:pPr indent="0" marL="0">
              <a:buNone/>
            </a:pPr>
            <a:r>
              <a:rPr lang="en-US" sz="1700" dirty="0">
                <a:solidFill>
                  <a:srgbClr val="DCE8F1"/>
                </a:solidFill>
                <a:latin typeface="Garamond" pitchFamily="34" charset="0"/>
                <a:ea typeface="Garamond" pitchFamily="34" charset="-122"/>
                <a:cs typeface="Garamond" pitchFamily="34" charset="-120"/>
              </a:rPr>
              <a:t>Flight proven deployable antennas, booms, and mechanisms for the expanding space economy</a:t>
            </a:r>
            <a:endParaRPr lang="en-US" sz="1700" dirty="0"/>
          </a:p>
        </p:txBody>
      </p:sp>
      <p:sp>
        <p:nvSpPr>
          <p:cNvPr id="7" name="Text 3"/>
          <p:cNvSpPr/>
          <p:nvPr/>
        </p:nvSpPr>
        <p:spPr>
          <a:xfrm>
            <a:off x="822960" y="4846320"/>
            <a:ext cx="6858000" cy="274320"/>
          </a:xfrm>
          <a:prstGeom prst="rect">
            <a:avLst/>
          </a:prstGeom>
          <a:noFill/>
          <a:ln/>
        </p:spPr>
        <p:txBody>
          <a:bodyPr wrap="square" lIns="0" tIns="0" rIns="0" bIns="0" rtlCol="0" anchor="ctr"/>
          <a:lstStyle/>
          <a:p>
            <a:pPr indent="0" marL="0">
              <a:buNone/>
            </a:pPr>
            <a:r>
              <a:rPr lang="en-US" sz="1100" spc="250" kern="0" dirty="0">
                <a:solidFill>
                  <a:srgbClr val="9FC5DE"/>
                </a:solidFill>
                <a:latin typeface="Garamond" pitchFamily="34" charset="0"/>
                <a:ea typeface="Garamond" pitchFamily="34" charset="-122"/>
                <a:cs typeface="Garamond" pitchFamily="34" charset="-120"/>
              </a:rPr>
              <a:t>NEW SPACE VISION   ×   REAL SPACE EXPERIENCE</a:t>
            </a:r>
            <a:endParaRPr lang="en-US" sz="1100" dirty="0"/>
          </a:p>
        </p:txBody>
      </p:sp>
      <p:sp>
        <p:nvSpPr>
          <p:cNvPr id="8" name="Text 4"/>
          <p:cNvSpPr/>
          <p:nvPr/>
        </p:nvSpPr>
        <p:spPr>
          <a:xfrm>
            <a:off x="822960" y="6172200"/>
            <a:ext cx="8229600" cy="274320"/>
          </a:xfrm>
          <a:prstGeom prst="rect">
            <a:avLst/>
          </a:prstGeom>
          <a:noFill/>
          <a:ln/>
        </p:spPr>
        <p:txBody>
          <a:bodyPr wrap="square" lIns="0" tIns="0" rIns="0" bIns="0" rtlCol="0" anchor="ctr"/>
          <a:lstStyle/>
          <a:p>
            <a:pPr indent="0" marL="0">
              <a:buNone/>
            </a:pPr>
            <a:r>
              <a:rPr lang="en-US" sz="1050" dirty="0">
                <a:solidFill>
                  <a:srgbClr val="B9C7D2"/>
                </a:solidFill>
                <a:latin typeface="Garamond" pitchFamily="34" charset="0"/>
                <a:ea typeface="Garamond" pitchFamily="34" charset="-122"/>
                <a:cs typeface="Garamond" pitchFamily="34" charset="-120"/>
              </a:rPr>
              <a:t>August 2026    |    Berkeley, California    |    Proprietary and Confidential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COMPANY OVERVIEW</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Heliospace at a Glance</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2</a:t>
            </a:r>
            <a:endParaRPr lang="en-US" sz="850" dirty="0"/>
          </a:p>
        </p:txBody>
      </p:sp>
      <p:sp>
        <p:nvSpPr>
          <p:cNvPr id="7" name="Text 4"/>
          <p:cNvSpPr/>
          <p:nvPr/>
        </p:nvSpPr>
        <p:spPr>
          <a:xfrm>
            <a:off x="822960" y="1417320"/>
            <a:ext cx="5440680" cy="1828800"/>
          </a:xfrm>
          <a:prstGeom prst="rect">
            <a:avLst/>
          </a:prstGeom>
          <a:noFill/>
          <a:ln/>
        </p:spPr>
        <p:txBody>
          <a:bodyPr wrap="square" lIns="0" tIns="0" rIns="0" bIns="0" rtlCol="0" anchor="t"/>
          <a:lstStyle/>
          <a:p>
            <a:pPr indent="0" marL="0">
              <a:lnSpc>
                <a:spcPct val="108000"/>
              </a:lnSpc>
              <a:buNone/>
            </a:pPr>
            <a:r>
              <a:rPr lang="en-US" sz="1350" dirty="0">
                <a:solidFill>
                  <a:srgbClr val="1E2A33"/>
                </a:solidFill>
                <a:latin typeface="Garamond" pitchFamily="34" charset="0"/>
                <a:ea typeface="Garamond" pitchFamily="34" charset="-122"/>
                <a:cs typeface="Garamond" pitchFamily="34" charset="-120"/>
              </a:rPr>
              <a:t>Helio is pioneering a new class of energy infrastructure: space based power systems, known as power plants in space, that capture solar energy beyond Earth's atmosphere and beam it safely and efficiently to the surface. Our vision is to establish orbital energy platforms as a foundational layer of the global power grid, delivering uninterrupted, carbon free electricity at scale and reshaping how nations power cities, industries, and critical systems.</a:t>
            </a:r>
            <a:endParaRPr lang="en-US" sz="1350" dirty="0"/>
          </a:p>
        </p:txBody>
      </p:sp>
      <p:sp>
        <p:nvSpPr>
          <p:cNvPr id="8" name="Text 5"/>
          <p:cNvSpPr/>
          <p:nvPr/>
        </p:nvSpPr>
        <p:spPr>
          <a:xfrm>
            <a:off x="822960" y="3310128"/>
            <a:ext cx="5440680" cy="1188720"/>
          </a:xfrm>
          <a:prstGeom prst="rect">
            <a:avLst/>
          </a:prstGeom>
          <a:noFill/>
          <a:ln/>
        </p:spPr>
        <p:txBody>
          <a:bodyPr wrap="square" lIns="0" tIns="0" rIns="0" bIns="0" rtlCol="0" anchor="t"/>
          <a:lstStyle/>
          <a:p>
            <a:pPr indent="0" marL="0">
              <a:lnSpc>
                <a:spcPct val="108000"/>
              </a:lnSpc>
              <a:buNone/>
            </a:pPr>
            <a:r>
              <a:rPr lang="en-US" sz="1350" dirty="0">
                <a:solidFill>
                  <a:srgbClr val="1E2A33"/>
                </a:solidFill>
                <a:latin typeface="Garamond" pitchFamily="34" charset="0"/>
                <a:ea typeface="Garamond" pitchFamily="34" charset="-122"/>
                <a:cs typeface="Garamond" pitchFamily="34" charset="-120"/>
              </a:rPr>
              <a:t>Since being founded in 2018, Helio has specialized in delivering cutting edge aerospace hardware, systems engineering, and mission services. From small scale projects to flagship space missions, we support NASA, private companies, universities, and global space agencies to achieve success in space.</a:t>
            </a:r>
            <a:endParaRPr lang="en-US" sz="1350" dirty="0"/>
          </a:p>
        </p:txBody>
      </p:sp>
      <p:sp>
        <p:nvSpPr>
          <p:cNvPr id="9" name="Text 6"/>
          <p:cNvSpPr/>
          <p:nvPr/>
        </p:nvSpPr>
        <p:spPr>
          <a:xfrm>
            <a:off x="6537960" y="4846320"/>
            <a:ext cx="2331720" cy="438912"/>
          </a:xfrm>
          <a:prstGeom prst="rect">
            <a:avLst/>
          </a:prstGeom>
          <a:noFill/>
          <a:ln/>
        </p:spPr>
        <p:txBody>
          <a:bodyPr wrap="square" lIns="0" tIns="0" rIns="0" bIns="0" rtlCol="0" anchor="ctr"/>
          <a:lstStyle/>
          <a:p>
            <a:pPr indent="0" marL="0">
              <a:buNone/>
            </a:pPr>
            <a:r>
              <a:rPr lang="en-US" sz="2800" b="1" dirty="0">
                <a:solidFill>
                  <a:srgbClr val="007BCB"/>
                </a:solidFill>
                <a:latin typeface="Garamond" pitchFamily="34" charset="0"/>
                <a:ea typeface="Garamond" pitchFamily="34" charset="-122"/>
                <a:cs typeface="Garamond" pitchFamily="34" charset="-120"/>
              </a:rPr>
              <a:t>40+</a:t>
            </a:r>
            <a:endParaRPr lang="en-US" sz="2800" dirty="0"/>
          </a:p>
        </p:txBody>
      </p:sp>
      <p:sp>
        <p:nvSpPr>
          <p:cNvPr id="10" name="Text 7"/>
          <p:cNvSpPr/>
          <p:nvPr/>
        </p:nvSpPr>
        <p:spPr>
          <a:xfrm>
            <a:off x="6537960" y="5285232"/>
            <a:ext cx="2331720" cy="256032"/>
          </a:xfrm>
          <a:prstGeom prst="rect">
            <a:avLst/>
          </a:prstGeom>
          <a:noFill/>
          <a:ln/>
        </p:spPr>
        <p:txBody>
          <a:bodyPr wrap="square" lIns="0" tIns="0" rIns="0" bIns="0" rtlCol="0" anchor="t"/>
          <a:lstStyle/>
          <a:p>
            <a:pPr indent="0" marL="0">
              <a:buNone/>
            </a:pPr>
            <a:r>
              <a:rPr lang="en-US" sz="1050" dirty="0">
                <a:solidFill>
                  <a:srgbClr val="5C6B76"/>
                </a:solidFill>
                <a:latin typeface="Garamond" pitchFamily="34" charset="0"/>
                <a:ea typeface="Garamond" pitchFamily="34" charset="-122"/>
                <a:cs typeface="Garamond" pitchFamily="34" charset="-120"/>
              </a:rPr>
              <a:t>space flight missions supported</a:t>
            </a:r>
            <a:endParaRPr lang="en-US" sz="1050" dirty="0"/>
          </a:p>
        </p:txBody>
      </p:sp>
      <p:sp>
        <p:nvSpPr>
          <p:cNvPr id="11" name="Text 8"/>
          <p:cNvSpPr/>
          <p:nvPr/>
        </p:nvSpPr>
        <p:spPr>
          <a:xfrm>
            <a:off x="9052560" y="4846320"/>
            <a:ext cx="2331720" cy="438912"/>
          </a:xfrm>
          <a:prstGeom prst="rect">
            <a:avLst/>
          </a:prstGeom>
          <a:noFill/>
          <a:ln/>
        </p:spPr>
        <p:txBody>
          <a:bodyPr wrap="square" lIns="0" tIns="0" rIns="0" bIns="0" rtlCol="0" anchor="ctr"/>
          <a:lstStyle/>
          <a:p>
            <a:pPr indent="0" marL="0">
              <a:buNone/>
            </a:pPr>
            <a:r>
              <a:rPr lang="en-US" sz="2800" b="1" dirty="0">
                <a:solidFill>
                  <a:srgbClr val="007BCB"/>
                </a:solidFill>
                <a:latin typeface="Garamond" pitchFamily="34" charset="0"/>
                <a:ea typeface="Garamond" pitchFamily="34" charset="-122"/>
                <a:cs typeface="Garamond" pitchFamily="34" charset="-120"/>
              </a:rPr>
              <a:t>125+</a:t>
            </a:r>
            <a:endParaRPr lang="en-US" sz="2800" dirty="0"/>
          </a:p>
        </p:txBody>
      </p:sp>
      <p:sp>
        <p:nvSpPr>
          <p:cNvPr id="12" name="Text 9"/>
          <p:cNvSpPr/>
          <p:nvPr/>
        </p:nvSpPr>
        <p:spPr>
          <a:xfrm>
            <a:off x="9052560" y="5285232"/>
            <a:ext cx="2331720" cy="256032"/>
          </a:xfrm>
          <a:prstGeom prst="rect">
            <a:avLst/>
          </a:prstGeom>
          <a:noFill/>
          <a:ln/>
        </p:spPr>
        <p:txBody>
          <a:bodyPr wrap="square" lIns="0" tIns="0" rIns="0" bIns="0" rtlCol="0" anchor="t"/>
          <a:lstStyle/>
          <a:p>
            <a:pPr indent="0" marL="0">
              <a:buNone/>
            </a:pPr>
            <a:r>
              <a:rPr lang="en-US" sz="1050" dirty="0">
                <a:solidFill>
                  <a:srgbClr val="5C6B76"/>
                </a:solidFill>
                <a:latin typeface="Garamond" pitchFamily="34" charset="0"/>
                <a:ea typeface="Garamond" pitchFamily="34" charset="-122"/>
                <a:cs typeface="Garamond" pitchFamily="34" charset="-120"/>
              </a:rPr>
              <a:t>instruments and systems built</a:t>
            </a:r>
            <a:endParaRPr lang="en-US" sz="1050" dirty="0"/>
          </a:p>
        </p:txBody>
      </p:sp>
      <p:sp>
        <p:nvSpPr>
          <p:cNvPr id="13" name="Text 10"/>
          <p:cNvSpPr/>
          <p:nvPr/>
        </p:nvSpPr>
        <p:spPr>
          <a:xfrm>
            <a:off x="6537960" y="5623560"/>
            <a:ext cx="2331720" cy="438912"/>
          </a:xfrm>
          <a:prstGeom prst="rect">
            <a:avLst/>
          </a:prstGeom>
          <a:noFill/>
          <a:ln/>
        </p:spPr>
        <p:txBody>
          <a:bodyPr wrap="square" lIns="0" tIns="0" rIns="0" bIns="0" rtlCol="0" anchor="ctr"/>
          <a:lstStyle/>
          <a:p>
            <a:pPr indent="0" marL="0">
              <a:buNone/>
            </a:pPr>
            <a:r>
              <a:rPr lang="en-US" sz="2800" b="1" dirty="0">
                <a:solidFill>
                  <a:srgbClr val="007BCB"/>
                </a:solidFill>
                <a:latin typeface="Garamond" pitchFamily="34" charset="0"/>
                <a:ea typeface="Garamond" pitchFamily="34" charset="-122"/>
                <a:cs typeface="Garamond" pitchFamily="34" charset="-120"/>
              </a:rPr>
              <a:t>30+</a:t>
            </a:r>
            <a:endParaRPr lang="en-US" sz="2800" dirty="0"/>
          </a:p>
        </p:txBody>
      </p:sp>
      <p:sp>
        <p:nvSpPr>
          <p:cNvPr id="14" name="Text 11"/>
          <p:cNvSpPr/>
          <p:nvPr/>
        </p:nvSpPr>
        <p:spPr>
          <a:xfrm>
            <a:off x="6537960" y="6062472"/>
            <a:ext cx="2331720" cy="256032"/>
          </a:xfrm>
          <a:prstGeom prst="rect">
            <a:avLst/>
          </a:prstGeom>
          <a:noFill/>
          <a:ln/>
        </p:spPr>
        <p:txBody>
          <a:bodyPr wrap="square" lIns="0" tIns="0" rIns="0" bIns="0" rtlCol="0" anchor="t"/>
          <a:lstStyle/>
          <a:p>
            <a:pPr indent="0" marL="0">
              <a:buNone/>
            </a:pPr>
            <a:r>
              <a:rPr lang="en-US" sz="1050" dirty="0">
                <a:solidFill>
                  <a:srgbClr val="5C6B76"/>
                </a:solidFill>
                <a:latin typeface="Garamond" pitchFamily="34" charset="0"/>
                <a:ea typeface="Garamond" pitchFamily="34" charset="-122"/>
                <a:cs typeface="Garamond" pitchFamily="34" charset="-120"/>
              </a:rPr>
              <a:t>engineers on the team</a:t>
            </a:r>
            <a:endParaRPr lang="en-US" sz="1050" dirty="0"/>
          </a:p>
        </p:txBody>
      </p:sp>
      <p:sp>
        <p:nvSpPr>
          <p:cNvPr id="15" name="Text 12"/>
          <p:cNvSpPr/>
          <p:nvPr/>
        </p:nvSpPr>
        <p:spPr>
          <a:xfrm>
            <a:off x="9052560" y="5623560"/>
            <a:ext cx="2331720" cy="438912"/>
          </a:xfrm>
          <a:prstGeom prst="rect">
            <a:avLst/>
          </a:prstGeom>
          <a:noFill/>
          <a:ln/>
        </p:spPr>
        <p:txBody>
          <a:bodyPr wrap="square" lIns="0" tIns="0" rIns="0" bIns="0" rtlCol="0" anchor="ctr"/>
          <a:lstStyle/>
          <a:p>
            <a:pPr indent="0" marL="0">
              <a:buNone/>
            </a:pPr>
            <a:r>
              <a:rPr lang="en-US" sz="2800" b="1" dirty="0">
                <a:solidFill>
                  <a:srgbClr val="007BCB"/>
                </a:solidFill>
                <a:latin typeface="Garamond" pitchFamily="34" charset="0"/>
                <a:ea typeface="Garamond" pitchFamily="34" charset="-122"/>
                <a:cs typeface="Garamond" pitchFamily="34" charset="-120"/>
              </a:rPr>
              <a:t>$50M</a:t>
            </a:r>
            <a:endParaRPr lang="en-US" sz="2800" dirty="0"/>
          </a:p>
        </p:txBody>
      </p:sp>
      <p:sp>
        <p:nvSpPr>
          <p:cNvPr id="16" name="Text 13"/>
          <p:cNvSpPr/>
          <p:nvPr/>
        </p:nvSpPr>
        <p:spPr>
          <a:xfrm>
            <a:off x="9052560" y="6062472"/>
            <a:ext cx="2331720" cy="256032"/>
          </a:xfrm>
          <a:prstGeom prst="rect">
            <a:avLst/>
          </a:prstGeom>
          <a:noFill/>
          <a:ln/>
        </p:spPr>
        <p:txBody>
          <a:bodyPr wrap="square" lIns="0" tIns="0" rIns="0" bIns="0" rtlCol="0" anchor="t"/>
          <a:lstStyle/>
          <a:p>
            <a:pPr indent="0" marL="0">
              <a:buNone/>
            </a:pPr>
            <a:r>
              <a:rPr lang="en-US" sz="1050" dirty="0">
                <a:solidFill>
                  <a:srgbClr val="5C6B76"/>
                </a:solidFill>
                <a:latin typeface="Garamond" pitchFamily="34" charset="0"/>
                <a:ea typeface="Garamond" pitchFamily="34" charset="-122"/>
                <a:cs typeface="Garamond" pitchFamily="34" charset="-120"/>
              </a:rPr>
              <a:t>in revenue, 2018 to 2025</a:t>
            </a:r>
            <a:endParaRPr lang="en-US" sz="1050" dirty="0"/>
          </a:p>
        </p:txBody>
      </p:sp>
      <p:pic>
        <p:nvPicPr>
          <p:cNvPr id="17" name="Image 1" descr="assets/s2_hero.jpg">    </p:cNvPr>
          <p:cNvPicPr>
            <a:picLocks noChangeAspect="1"/>
          </p:cNvPicPr>
          <p:nvPr/>
        </p:nvPicPr>
        <p:blipFill>
          <a:blip r:embed="rId2"/>
          <a:stretch>
            <a:fillRect/>
          </a:stretch>
        </p:blipFill>
        <p:spPr>
          <a:xfrm>
            <a:off x="7018020" y="1417320"/>
            <a:ext cx="3867912" cy="2886282"/>
          </a:xfrm>
          <a:prstGeom prst="rect">
            <a:avLst/>
          </a:prstGeom>
        </p:spPr>
      </p:pic>
      <p:sp>
        <p:nvSpPr>
          <p:cNvPr id="18" name="Shape 14"/>
          <p:cNvSpPr/>
          <p:nvPr/>
        </p:nvSpPr>
        <p:spPr>
          <a:xfrm>
            <a:off x="7018020" y="1417320"/>
            <a:ext cx="3867912" cy="2886282"/>
          </a:xfrm>
          <a:prstGeom prst="rect">
            <a:avLst/>
          </a:prstGeom>
          <a:ln w="12700">
            <a:solidFill>
              <a:srgbClr val="C6D2DA"/>
            </a:solidFill>
            <a:prstDash val="solid"/>
          </a:ln>
        </p:spPr>
        <p:txBody>
          <a:bodyPr/>
          <a:p/>
        </p:txBody>
      </p:sp>
      <p:sp>
        <p:nvSpPr>
          <p:cNvPr id="19" name="Text 15"/>
          <p:cNvSpPr/>
          <p:nvPr/>
        </p:nvSpPr>
        <p:spPr>
          <a:xfrm>
            <a:off x="6537960" y="4370832"/>
            <a:ext cx="4828032" cy="384048"/>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Europa Clipper with Heliospace built REASON radar antennas deployed. Image credit: NASA.</a:t>
            </a:r>
            <a:endParaRPr lang="en-US" sz="950" dirty="0"/>
          </a:p>
        </p:txBody>
      </p:sp>
      <p:sp>
        <p:nvSpPr>
          <p:cNvPr id="20" name="Text 5"/>
          <p:cNvSpPr/>
          <p:nvPr/>
        </p:nvSpPr>
        <p:spPr>
          <a:xfrm>
            <a:off x="822960" y="4553712"/>
            <a:ext cx="5440680" cy="1600200"/>
          </a:xfrm>
          <a:prstGeom prst="rect">
            <a:avLst/>
          </a:prstGeom>
          <a:noFill/>
          <a:ln/>
        </p:spPr>
        <p:txBody>
          <a:bodyPr wrap="square" lIns="0" tIns="0" rIns="0" bIns="0" rtlCol="0" anchor="t"/>
          <a:lstStyle/>
          <a:p>
            <a:pPr indent="0" marL="0">
              <a:lnSpc>
                <a:spcPct val="108000"/>
              </a:lnSpc>
              <a:buNone/>
            </a:pPr>
            <a:r>
              <a:rPr lang="en-US" sz="1350" dirty="0">
                <a:solidFill>
                  <a:srgbClr val="1E2A33"/>
                </a:solidFill>
                <a:latin typeface="Garamond" pitchFamily="34" charset="0"/>
                <a:ea typeface="Garamond" pitchFamily="34" charset="-122"/>
                <a:cs typeface="Garamond" pitchFamily="34" charset="-120"/>
              </a:rPr>
              <a:t>We are proud to be a trusted partner to over a dozen space agencies, organizations, and companies across the globe. Our products can be found operating from the Sun to Jupiter. From NASA and the European Space Agency to emerging private aerospace firms and academic institutions, we collaborate with some of the most innovative and forward thinking players in the space industry.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CAPABILITIES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What We Do</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3</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indent="0" marL="0">
              <a:buNone/>
            </a:pPr>
            <a:r>
              <a:rPr lang="en-US" sz="1300" dirty="0">
                <a:solidFill>
                  <a:srgbClr val="5C6B76"/>
                </a:solidFill>
                <a:latin typeface="Garamond" pitchFamily="34" charset="0"/>
                <a:ea typeface="Garamond" pitchFamily="34" charset="-122"/>
                <a:cs typeface="Garamond" pitchFamily="34" charset="-120"/>
              </a:rPr>
              <a:t>Five product and revenue areas supported by a single Berkeley facility and quality system, from initial design through on orbit operations.</a:t>
            </a:r>
            <a:endParaRPr lang="en-US" sz="1300" dirty="0"/>
          </a:p>
        </p:txBody>
      </p:sp>
      <p:sp>
        <p:nvSpPr>
          <p:cNvPr id="8" name="Shape 4"/>
          <p:cNvSpPr/>
          <p:nvPr/>
        </p:nvSpPr>
        <p:spPr>
          <a:xfrm>
            <a:off x="822960" y="1874519"/>
            <a:ext cx="3392424" cy="2057400"/>
          </a:xfrm>
          <a:prstGeom prst="roundRect">
            <a:avLst>
              <a:gd name="adj" fmla="val 1724"/>
            </a:avLst>
          </a:prstGeom>
          <a:solidFill>
            <a:srgbClr val="F3F7FA"/>
          </a:solidFill>
          <a:ln/>
        </p:spPr>
        <p:txBody>
          <a:bodyPr/>
          <a:p/>
        </p:txBody>
      </p:sp>
      <p:sp>
        <p:nvSpPr>
          <p:cNvPr id="9" name="Text 12"/>
          <p:cNvSpPr/>
          <p:nvPr/>
        </p:nvSpPr>
        <p:spPr>
          <a:xfrm>
            <a:off x="987552" y="2020823"/>
            <a:ext cx="3063240" cy="566928"/>
          </a:xfrm>
          <a:prstGeom prst="rect">
            <a:avLst/>
          </a:prstGeom>
          <a:noFill/>
          <a:ln/>
        </p:spPr>
        <p:txBody>
          <a:bodyPr wrap="square" lIns="0" tIns="0" rIns="0" bIns="0" rtlCol="0" anchor="ctr"/>
          <a:lstStyle/>
          <a:p>
            <a:pPr indent="0" marL="0">
              <a:buNone/>
            </a:pPr>
            <a:r>
              <a:rPr lang="en-US" sz="1550" b="1" dirty="0">
                <a:solidFill>
                  <a:srgbClr val="10222F"/>
                </a:solidFill>
                <a:latin typeface="Garamond" pitchFamily="34" charset="0"/>
                <a:ea typeface="Garamond" pitchFamily="34" charset="-122"/>
                <a:cs typeface="Garamond" pitchFamily="34" charset="-120"/>
              </a:rPr>
              <a:t>Space Qualified Hardware</a:t>
            </a:r>
            <a:endParaRPr lang="en-US" sz="1550" dirty="0"/>
          </a:p>
        </p:txBody>
      </p:sp>
      <p:sp>
        <p:nvSpPr>
          <p:cNvPr id="10" name="Text 13"/>
          <p:cNvSpPr/>
          <p:nvPr/>
        </p:nvSpPr>
        <p:spPr>
          <a:xfrm>
            <a:off x="987552" y="2660903"/>
            <a:ext cx="3063240" cy="114300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Deployable antennas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Sensors and scientific instruments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Mechanical systems and structures for spacecraft</a:t>
            </a:r>
            <a:endParaRPr lang="en-US" sz="1100" dirty="0"/>
          </a:p>
        </p:txBody>
      </p:sp>
      <p:sp>
        <p:nvSpPr>
          <p:cNvPr id="11" name="Shape 4"/>
          <p:cNvSpPr/>
          <p:nvPr/>
        </p:nvSpPr>
        <p:spPr>
          <a:xfrm>
            <a:off x="4398264" y="1874519"/>
            <a:ext cx="3392424" cy="2057400"/>
          </a:xfrm>
          <a:prstGeom prst="roundRect">
            <a:avLst>
              <a:gd name="adj" fmla="val 1724"/>
            </a:avLst>
          </a:prstGeom>
          <a:solidFill>
            <a:srgbClr val="F3F7FA"/>
          </a:solidFill>
          <a:ln/>
        </p:spPr>
        <p:txBody>
          <a:bodyPr/>
          <a:p/>
        </p:txBody>
      </p:sp>
      <p:sp>
        <p:nvSpPr>
          <p:cNvPr id="12" name="Text 12"/>
          <p:cNvSpPr/>
          <p:nvPr/>
        </p:nvSpPr>
        <p:spPr>
          <a:xfrm>
            <a:off x="4562856" y="2020823"/>
            <a:ext cx="3063240" cy="566928"/>
          </a:xfrm>
          <a:prstGeom prst="rect">
            <a:avLst/>
          </a:prstGeom>
          <a:noFill/>
          <a:ln/>
        </p:spPr>
        <p:txBody>
          <a:bodyPr wrap="square" lIns="0" tIns="0" rIns="0" bIns="0" rtlCol="0" anchor="ctr"/>
          <a:lstStyle/>
          <a:p>
            <a:pPr indent="0" marL="0">
              <a:buNone/>
            </a:pPr>
            <a:r>
              <a:rPr lang="en-US" sz="1550" b="1" dirty="0">
                <a:solidFill>
                  <a:srgbClr val="10222F"/>
                </a:solidFill>
                <a:latin typeface="Garamond" pitchFamily="34" charset="0"/>
                <a:ea typeface="Garamond" pitchFamily="34" charset="-122"/>
                <a:cs typeface="Garamond" pitchFamily="34" charset="-120"/>
              </a:rPr>
              <a:t>Mission Systems and Engineering Services</a:t>
            </a:r>
            <a:endParaRPr lang="en-US" sz="1550" dirty="0"/>
          </a:p>
        </p:txBody>
      </p:sp>
      <p:sp>
        <p:nvSpPr>
          <p:cNvPr id="13" name="Text 13"/>
          <p:cNvSpPr/>
          <p:nvPr/>
        </p:nvSpPr>
        <p:spPr>
          <a:xfrm>
            <a:off x="4562856" y="2660903"/>
            <a:ext cx="3063240" cy="114300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Spacecraft system design</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Integration and testing</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Engineering support for government and commercial space missions</a:t>
            </a:r>
            <a:endParaRPr lang="en-US" sz="1100" dirty="0"/>
          </a:p>
        </p:txBody>
      </p:sp>
      <p:sp>
        <p:nvSpPr>
          <p:cNvPr id="14" name="Shape 4"/>
          <p:cNvSpPr/>
          <p:nvPr/>
        </p:nvSpPr>
        <p:spPr>
          <a:xfrm>
            <a:off x="7973568" y="1874519"/>
            <a:ext cx="3392424" cy="2057400"/>
          </a:xfrm>
          <a:prstGeom prst="roundRect">
            <a:avLst>
              <a:gd name="adj" fmla="val 1724"/>
            </a:avLst>
          </a:prstGeom>
          <a:solidFill>
            <a:srgbClr val="F3F7FA"/>
          </a:solidFill>
          <a:ln/>
        </p:spPr>
        <p:txBody>
          <a:bodyPr/>
          <a:p/>
        </p:txBody>
      </p:sp>
      <p:sp>
        <p:nvSpPr>
          <p:cNvPr id="15" name="Text 12"/>
          <p:cNvSpPr/>
          <p:nvPr/>
        </p:nvSpPr>
        <p:spPr>
          <a:xfrm>
            <a:off x="8138160" y="2020823"/>
            <a:ext cx="3063240" cy="566928"/>
          </a:xfrm>
          <a:prstGeom prst="rect">
            <a:avLst/>
          </a:prstGeom>
          <a:noFill/>
          <a:ln/>
        </p:spPr>
        <p:txBody>
          <a:bodyPr wrap="square" lIns="0" tIns="0" rIns="0" bIns="0" rtlCol="0" anchor="ctr"/>
          <a:lstStyle/>
          <a:p>
            <a:pPr indent="0" marL="0">
              <a:buNone/>
            </a:pPr>
            <a:r>
              <a:rPr lang="en-US" sz="1550" b="1" dirty="0">
                <a:solidFill>
                  <a:srgbClr val="10222F"/>
                </a:solidFill>
                <a:latin typeface="Garamond" pitchFamily="34" charset="0"/>
                <a:ea typeface="Garamond" pitchFamily="34" charset="-122"/>
                <a:cs typeface="Garamond" pitchFamily="34" charset="-120"/>
              </a:rPr>
              <a:t>Deployable Space Systems</a:t>
            </a:r>
            <a:endParaRPr lang="en-US" sz="1550" dirty="0"/>
          </a:p>
        </p:txBody>
      </p:sp>
      <p:sp>
        <p:nvSpPr>
          <p:cNvPr id="16" name="Text 13"/>
          <p:cNvSpPr/>
          <p:nvPr/>
        </p:nvSpPr>
        <p:spPr>
          <a:xfrm>
            <a:off x="8138160" y="2660903"/>
            <a:ext cx="3063240" cy="114300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Large deployable antennas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Solar arrays and other expandable structures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Components for satellites, lunar missions, and deep space missions</a:t>
            </a:r>
            <a:endParaRPr lang="en-US" sz="1100" dirty="0"/>
          </a:p>
        </p:txBody>
      </p:sp>
      <p:sp>
        <p:nvSpPr>
          <p:cNvPr id="17" name="Shape 4"/>
          <p:cNvSpPr/>
          <p:nvPr/>
        </p:nvSpPr>
        <p:spPr>
          <a:xfrm>
            <a:off x="822960" y="4114800"/>
            <a:ext cx="5175504" cy="2057400"/>
          </a:xfrm>
          <a:prstGeom prst="roundRect">
            <a:avLst>
              <a:gd name="adj" fmla="val 1724"/>
            </a:avLst>
          </a:prstGeom>
          <a:solidFill>
            <a:srgbClr val="F3F7FA"/>
          </a:solidFill>
          <a:ln/>
        </p:spPr>
        <p:txBody>
          <a:bodyPr/>
          <a:p/>
        </p:txBody>
      </p:sp>
      <p:sp>
        <p:nvSpPr>
          <p:cNvPr id="18" name="Text 12"/>
          <p:cNvSpPr/>
          <p:nvPr/>
        </p:nvSpPr>
        <p:spPr>
          <a:xfrm>
            <a:off x="987552" y="4261104"/>
            <a:ext cx="4846320" cy="566928"/>
          </a:xfrm>
          <a:prstGeom prst="rect">
            <a:avLst/>
          </a:prstGeom>
          <a:noFill/>
          <a:ln/>
        </p:spPr>
        <p:txBody>
          <a:bodyPr wrap="square" lIns="0" tIns="0" rIns="0" bIns="0" rtlCol="0" anchor="ctr"/>
          <a:lstStyle/>
          <a:p>
            <a:pPr indent="0" marL="0">
              <a:buNone/>
            </a:pPr>
            <a:r>
              <a:rPr lang="en-US" sz="1550" b="1" dirty="0">
                <a:solidFill>
                  <a:srgbClr val="10222F"/>
                </a:solidFill>
                <a:latin typeface="Garamond" pitchFamily="34" charset="0"/>
                <a:ea typeface="Garamond" pitchFamily="34" charset="-122"/>
                <a:cs typeface="Garamond" pitchFamily="34" charset="-120"/>
              </a:rPr>
              <a:t>Space Based Solar Power Technology</a:t>
            </a:r>
            <a:endParaRPr lang="en-US" sz="1550" dirty="0"/>
          </a:p>
        </p:txBody>
      </p:sp>
      <p:sp>
        <p:nvSpPr>
          <p:cNvPr id="19" name="Text 13"/>
          <p:cNvSpPr/>
          <p:nvPr/>
        </p:nvSpPr>
        <p:spPr>
          <a:xfrm>
            <a:off x="987552" y="4901184"/>
            <a:ext cx="4846320" cy="114300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Orbital solar power platforms, power plants in space</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Wireless energy transmission systems intended to beam solar energy from orbit to Earth</a:t>
            </a:r>
            <a:endParaRPr lang="en-US" sz="1100" dirty="0"/>
          </a:p>
        </p:txBody>
      </p:sp>
      <p:sp>
        <p:nvSpPr>
          <p:cNvPr id="20" name="Shape 4"/>
          <p:cNvSpPr/>
          <p:nvPr/>
        </p:nvSpPr>
        <p:spPr>
          <a:xfrm>
            <a:off x="6190488" y="4114800"/>
            <a:ext cx="5175504" cy="2057400"/>
          </a:xfrm>
          <a:prstGeom prst="roundRect">
            <a:avLst>
              <a:gd name="adj" fmla="val 1724"/>
            </a:avLst>
          </a:prstGeom>
          <a:solidFill>
            <a:srgbClr val="F3F7FA"/>
          </a:solidFill>
          <a:ln/>
        </p:spPr>
        <p:txBody>
          <a:bodyPr/>
          <a:p/>
        </p:txBody>
      </p:sp>
      <p:sp>
        <p:nvSpPr>
          <p:cNvPr id="21" name="Text 12"/>
          <p:cNvSpPr/>
          <p:nvPr/>
        </p:nvSpPr>
        <p:spPr>
          <a:xfrm>
            <a:off x="6355080" y="4261104"/>
            <a:ext cx="4846320" cy="566928"/>
          </a:xfrm>
          <a:prstGeom prst="rect">
            <a:avLst/>
          </a:prstGeom>
          <a:noFill/>
          <a:ln/>
        </p:spPr>
        <p:txBody>
          <a:bodyPr wrap="square" lIns="0" tIns="0" rIns="0" bIns="0" rtlCol="0" anchor="ctr"/>
          <a:lstStyle/>
          <a:p>
            <a:pPr indent="0" marL="0">
              <a:buNone/>
            </a:pPr>
            <a:r>
              <a:rPr lang="en-US" sz="1550" b="1" dirty="0">
                <a:solidFill>
                  <a:srgbClr val="10222F"/>
                </a:solidFill>
                <a:latin typeface="Garamond" pitchFamily="34" charset="0"/>
                <a:ea typeface="Garamond" pitchFamily="34" charset="-122"/>
                <a:cs typeface="Garamond" pitchFamily="34" charset="-120"/>
              </a:rPr>
              <a:t>Future Manufacturing and Licensing</a:t>
            </a:r>
            <a:endParaRPr lang="en-US" sz="1550" dirty="0"/>
          </a:p>
        </p:txBody>
      </p:sp>
      <p:sp>
        <p:nvSpPr>
          <p:cNvPr id="22" name="Text 13"/>
          <p:cNvSpPr/>
          <p:nvPr/>
        </p:nvSpPr>
        <p:spPr>
          <a:xfrm>
            <a:off x="6355080" y="4901184"/>
            <a:ext cx="4846320" cy="114300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Mass production of space qualified hardware</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Licensing of proprietary space technologies</a:t>
            </a:r>
            <a:endParaRPr lang="en-US" sz="1100" dirty="0"/>
          </a:p>
        </p:txBody>
      </p:sp>
      <p:sp>
        <p:nvSpPr>
          <p:cNvPr id="23" name="Text 5"/>
          <p:cNvSpPr/>
          <p:nvPr/>
        </p:nvSpPr>
        <p:spPr>
          <a:xfrm>
            <a:off x="822960" y="6254496"/>
            <a:ext cx="10543032" cy="237744"/>
          </a:xfrm>
          <a:prstGeom prst="rect">
            <a:avLst/>
          </a:prstGeom>
          <a:noFill/>
          <a:ln/>
        </p:spPr>
        <p:txBody>
          <a:bodyPr wrap="square" lIns="0" tIns="0" rIns="0" bIns="0" rtlCol="0" anchor="ctr"/>
          <a:lstStyle/>
          <a:p>
            <a:pPr indent="0" marL="0">
              <a:buNone/>
            </a:pPr>
            <a:r>
              <a:rPr lang="en-US" sz="900" i="1" dirty="0">
                <a:solidFill>
                  <a:srgbClr val="5C6B76"/>
                </a:solidFill>
                <a:latin typeface="Garamond" pitchFamily="34" charset="0"/>
                <a:ea typeface="Garamond" pitchFamily="34" charset="-122"/>
                <a:cs typeface="Garamond" pitchFamily="34" charset="-120"/>
              </a:rPr>
              <a:t>Heritage examples: hardware for missions such as NASA's Europa Clipper, James Webb Space Telescope program support, solar science missions, and lunar related systems.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FLIGHT HERITAGE</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At Jupiter, the Sun, and the Moon</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4</a:t>
            </a:r>
            <a:endParaRPr lang="en-US" sz="850" dirty="0"/>
          </a:p>
        </p:txBody>
      </p:sp>
      <p:pic>
        <p:nvPicPr>
          <p:cNvPr id="7" name="Image 1" descr="assets/s4_europa.jpg">    </p:cNvPr>
          <p:cNvPicPr>
            <a:picLocks noChangeAspect="1"/>
          </p:cNvPicPr>
          <p:nvPr/>
        </p:nvPicPr>
        <p:blipFill>
          <a:blip r:embed="rId2"/>
          <a:stretch>
            <a:fillRect/>
          </a:stretch>
        </p:blipFill>
        <p:spPr>
          <a:xfrm>
            <a:off x="822960" y="1417320"/>
            <a:ext cx="3419856" cy="1764792"/>
          </a:xfrm>
          <a:prstGeom prst="rect">
            <a:avLst/>
          </a:prstGeom>
        </p:spPr>
      </p:pic>
      <p:sp>
        <p:nvSpPr>
          <p:cNvPr id="8" name="Shape 4"/>
          <p:cNvSpPr/>
          <p:nvPr/>
        </p:nvSpPr>
        <p:spPr>
          <a:xfrm>
            <a:off x="822960" y="1417320"/>
            <a:ext cx="3419856" cy="1764792"/>
          </a:xfrm>
          <a:prstGeom prst="rect">
            <a:avLst/>
          </a:prstGeom>
          <a:ln w="12700">
            <a:solidFill>
              <a:srgbClr val="C6D2DA"/>
            </a:solidFill>
            <a:prstDash val="solid"/>
          </a:ln>
        </p:spPr>
        <p:txBody>
          <a:bodyPr/>
          <a:p/>
        </p:txBody>
      </p:sp>
      <p:sp>
        <p:nvSpPr>
          <p:cNvPr id="9" name="Text 5"/>
          <p:cNvSpPr/>
          <p:nvPr/>
        </p:nvSpPr>
        <p:spPr>
          <a:xfrm>
            <a:off x="822960" y="3246120"/>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Europa Clipper, REASON (NASA/JPL)</a:t>
            </a:r>
            <a:endParaRPr lang="en-US" sz="1150" dirty="0"/>
          </a:p>
        </p:txBody>
      </p:sp>
      <p:sp>
        <p:nvSpPr>
          <p:cNvPr id="10" name="Text 6"/>
          <p:cNvSpPr/>
          <p:nvPr/>
        </p:nvSpPr>
        <p:spPr>
          <a:xfrm>
            <a:off x="822960" y="3474720"/>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Two 17.6 m radar dipoles, deployed and operating en route to Europa.</a:t>
            </a:r>
            <a:endParaRPr lang="en-US" sz="950" dirty="0"/>
          </a:p>
        </p:txBody>
      </p:sp>
      <p:pic>
        <p:nvPicPr>
          <p:cNvPr id="11" name="Image 2" descr="assets/s4_solo.jpg">    </p:cNvPr>
          <p:cNvPicPr>
            <a:picLocks noChangeAspect="1"/>
          </p:cNvPicPr>
          <p:nvPr/>
        </p:nvPicPr>
        <p:blipFill>
          <a:blip r:embed="rId3"/>
          <a:stretch>
            <a:fillRect/>
          </a:stretch>
        </p:blipFill>
        <p:spPr>
          <a:xfrm>
            <a:off x="4370832" y="1417320"/>
            <a:ext cx="3419856" cy="1764792"/>
          </a:xfrm>
          <a:prstGeom prst="rect">
            <a:avLst/>
          </a:prstGeom>
        </p:spPr>
      </p:pic>
      <p:sp>
        <p:nvSpPr>
          <p:cNvPr id="12" name="Shape 7"/>
          <p:cNvSpPr/>
          <p:nvPr/>
        </p:nvSpPr>
        <p:spPr>
          <a:xfrm>
            <a:off x="4370832" y="1417320"/>
            <a:ext cx="3419856" cy="1764792"/>
          </a:xfrm>
          <a:prstGeom prst="rect">
            <a:avLst/>
          </a:prstGeom>
          <a:ln w="12700">
            <a:solidFill>
              <a:srgbClr val="C6D2DA"/>
            </a:solidFill>
            <a:prstDash val="solid"/>
          </a:ln>
        </p:spPr>
        <p:txBody>
          <a:bodyPr/>
          <a:p/>
        </p:txBody>
      </p:sp>
      <p:sp>
        <p:nvSpPr>
          <p:cNvPr id="13" name="Text 8"/>
          <p:cNvSpPr/>
          <p:nvPr/>
        </p:nvSpPr>
        <p:spPr>
          <a:xfrm>
            <a:off x="4370832" y="3246120"/>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Solar Orbiter, RPW (ESA)</a:t>
            </a:r>
            <a:endParaRPr lang="en-US" sz="1150" dirty="0"/>
          </a:p>
        </p:txBody>
      </p:sp>
      <p:sp>
        <p:nvSpPr>
          <p:cNvPr id="14" name="Text 9"/>
          <p:cNvSpPr/>
          <p:nvPr/>
        </p:nvSpPr>
        <p:spPr>
          <a:xfrm>
            <a:off x="4370832" y="3474720"/>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Three 6.5 m antennas performing nominally near the Sun.</a:t>
            </a:r>
            <a:endParaRPr lang="en-US" sz="950" dirty="0"/>
          </a:p>
        </p:txBody>
      </p:sp>
      <p:pic>
        <p:nvPicPr>
          <p:cNvPr id="15" name="Image 3" descr="assets/s4_sunrise.jpg">    </p:cNvPr>
          <p:cNvPicPr>
            <a:picLocks noChangeAspect="1"/>
          </p:cNvPicPr>
          <p:nvPr/>
        </p:nvPicPr>
        <p:blipFill>
          <a:blip r:embed="rId4"/>
          <a:stretch>
            <a:fillRect/>
          </a:stretch>
        </p:blipFill>
        <p:spPr>
          <a:xfrm>
            <a:off x="7918704" y="1417320"/>
            <a:ext cx="3419856" cy="1764792"/>
          </a:xfrm>
          <a:prstGeom prst="rect">
            <a:avLst/>
          </a:prstGeom>
        </p:spPr>
      </p:pic>
      <p:sp>
        <p:nvSpPr>
          <p:cNvPr id="16" name="Shape 10"/>
          <p:cNvSpPr/>
          <p:nvPr/>
        </p:nvSpPr>
        <p:spPr>
          <a:xfrm>
            <a:off x="7918704" y="1417320"/>
            <a:ext cx="3419856" cy="1764792"/>
          </a:xfrm>
          <a:prstGeom prst="rect">
            <a:avLst/>
          </a:prstGeom>
          <a:ln w="12700">
            <a:solidFill>
              <a:srgbClr val="C6D2DA"/>
            </a:solidFill>
            <a:prstDash val="solid"/>
          </a:ln>
        </p:spPr>
        <p:txBody>
          <a:bodyPr/>
          <a:p/>
        </p:txBody>
      </p:sp>
      <p:sp>
        <p:nvSpPr>
          <p:cNvPr id="17" name="Text 11"/>
          <p:cNvSpPr/>
          <p:nvPr/>
        </p:nvSpPr>
        <p:spPr>
          <a:xfrm>
            <a:off x="7918704" y="3246120"/>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SunRISE (NASA/JPL)</a:t>
            </a:r>
            <a:endParaRPr lang="en-US" sz="1150" dirty="0"/>
          </a:p>
        </p:txBody>
      </p:sp>
      <p:sp>
        <p:nvSpPr>
          <p:cNvPr id="18" name="Text 12"/>
          <p:cNvSpPr/>
          <p:nvPr/>
        </p:nvSpPr>
        <p:spPr>
          <a:xfrm>
            <a:off x="7918704" y="3474720"/>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28 CubeSat compatible monopoles delivered at production volume.</a:t>
            </a:r>
            <a:endParaRPr lang="en-US" sz="950" dirty="0"/>
          </a:p>
        </p:txBody>
      </p:sp>
      <p:pic>
        <p:nvPicPr>
          <p:cNvPr id="19" name="Image 4" descr="assets/s4_jwst.jpg">    </p:cNvPr>
          <p:cNvPicPr>
            <a:picLocks noChangeAspect="1"/>
          </p:cNvPicPr>
          <p:nvPr/>
        </p:nvPicPr>
        <p:blipFill>
          <a:blip r:embed="rId5"/>
          <a:stretch>
            <a:fillRect/>
          </a:stretch>
        </p:blipFill>
        <p:spPr>
          <a:xfrm>
            <a:off x="822960" y="3941064"/>
            <a:ext cx="3419856" cy="1764792"/>
          </a:xfrm>
          <a:prstGeom prst="rect">
            <a:avLst/>
          </a:prstGeom>
        </p:spPr>
      </p:pic>
      <p:sp>
        <p:nvSpPr>
          <p:cNvPr id="20" name="Shape 13"/>
          <p:cNvSpPr/>
          <p:nvPr/>
        </p:nvSpPr>
        <p:spPr>
          <a:xfrm>
            <a:off x="822960" y="3941064"/>
            <a:ext cx="3419856" cy="1764792"/>
          </a:xfrm>
          <a:prstGeom prst="rect">
            <a:avLst/>
          </a:prstGeom>
          <a:ln w="12700">
            <a:solidFill>
              <a:srgbClr val="C6D2DA"/>
            </a:solidFill>
            <a:prstDash val="solid"/>
          </a:ln>
        </p:spPr>
        <p:txBody>
          <a:bodyPr/>
          <a:p/>
        </p:txBody>
      </p:sp>
      <p:sp>
        <p:nvSpPr>
          <p:cNvPr id="21" name="Text 14"/>
          <p:cNvSpPr/>
          <p:nvPr/>
        </p:nvSpPr>
        <p:spPr>
          <a:xfrm>
            <a:off x="822960" y="5769864"/>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James Webb Space Telescope</a:t>
            </a:r>
            <a:endParaRPr lang="en-US" sz="1150" dirty="0"/>
          </a:p>
        </p:txBody>
      </p:sp>
      <p:sp>
        <p:nvSpPr>
          <p:cNvPr id="22" name="Text 15"/>
          <p:cNvSpPr/>
          <p:nvPr/>
        </p:nvSpPr>
        <p:spPr>
          <a:xfrm>
            <a:off x="822960" y="5998464"/>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Systems engineering, integration, and test support through commissioning.</a:t>
            </a:r>
            <a:endParaRPr lang="en-US" sz="950" dirty="0"/>
          </a:p>
        </p:txBody>
      </p:sp>
      <p:pic>
        <p:nvPicPr>
          <p:cNvPr id="23" name="Image 5" descr="assets/s4_bg1.jpg">    </p:cNvPr>
          <p:cNvPicPr>
            <a:picLocks noChangeAspect="1"/>
          </p:cNvPicPr>
          <p:nvPr/>
        </p:nvPicPr>
        <p:blipFill>
          <a:blip r:embed="rId6"/>
          <a:stretch>
            <a:fillRect/>
          </a:stretch>
        </p:blipFill>
        <p:spPr>
          <a:xfrm>
            <a:off x="4370832" y="3941064"/>
            <a:ext cx="3419856" cy="1764792"/>
          </a:xfrm>
          <a:prstGeom prst="rect">
            <a:avLst/>
          </a:prstGeom>
        </p:spPr>
      </p:pic>
      <p:sp>
        <p:nvSpPr>
          <p:cNvPr id="24" name="Shape 16"/>
          <p:cNvSpPr/>
          <p:nvPr/>
        </p:nvSpPr>
        <p:spPr>
          <a:xfrm>
            <a:off x="4370832" y="3941064"/>
            <a:ext cx="3419856" cy="1764792"/>
          </a:xfrm>
          <a:prstGeom prst="rect">
            <a:avLst/>
          </a:prstGeom>
          <a:ln w="12700">
            <a:solidFill>
              <a:srgbClr val="C6D2DA"/>
            </a:solidFill>
            <a:prstDash val="solid"/>
          </a:ln>
        </p:spPr>
        <p:txBody>
          <a:bodyPr/>
          <a:p/>
        </p:txBody>
      </p:sp>
      <p:sp>
        <p:nvSpPr>
          <p:cNvPr id="25" name="Text 17"/>
          <p:cNvSpPr/>
          <p:nvPr/>
        </p:nvSpPr>
        <p:spPr>
          <a:xfrm>
            <a:off x="4370832" y="5769864"/>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Blue Ghost Mission 1 (Firefly / SwRI)</a:t>
            </a:r>
            <a:endParaRPr lang="en-US" sz="1150" dirty="0"/>
          </a:p>
        </p:txBody>
      </p:sp>
      <p:sp>
        <p:nvSpPr>
          <p:cNvPr id="26" name="Text 18"/>
          <p:cNvSpPr/>
          <p:nvPr/>
        </p:nvSpPr>
        <p:spPr>
          <a:xfrm>
            <a:off x="4370832" y="5998464"/>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LMS lunar science payload delivered under the NASA CLPS program.</a:t>
            </a:r>
            <a:endParaRPr lang="en-US" sz="950" dirty="0"/>
          </a:p>
        </p:txBody>
      </p:sp>
      <p:pic>
        <p:nvPicPr>
          <p:cNvPr id="27" name="Image 6" descr="assets/s4_im1.jpg">    </p:cNvPr>
          <p:cNvPicPr>
            <a:picLocks noChangeAspect="1"/>
          </p:cNvPicPr>
          <p:nvPr/>
        </p:nvPicPr>
        <p:blipFill>
          <a:blip r:embed="rId7"/>
          <a:stretch>
            <a:fillRect/>
          </a:stretch>
        </p:blipFill>
        <p:spPr>
          <a:xfrm>
            <a:off x="7918704" y="3941064"/>
            <a:ext cx="3419856" cy="1764792"/>
          </a:xfrm>
          <a:prstGeom prst="rect">
            <a:avLst/>
          </a:prstGeom>
        </p:spPr>
      </p:pic>
      <p:sp>
        <p:nvSpPr>
          <p:cNvPr id="28" name="Shape 19"/>
          <p:cNvSpPr/>
          <p:nvPr/>
        </p:nvSpPr>
        <p:spPr>
          <a:xfrm>
            <a:off x="7918704" y="3941064"/>
            <a:ext cx="3419856" cy="1764792"/>
          </a:xfrm>
          <a:prstGeom prst="rect">
            <a:avLst/>
          </a:prstGeom>
          <a:ln w="12700">
            <a:solidFill>
              <a:srgbClr val="C6D2DA"/>
            </a:solidFill>
            <a:prstDash val="solid"/>
          </a:ln>
        </p:spPr>
        <p:txBody>
          <a:bodyPr/>
          <a:p/>
        </p:txBody>
      </p:sp>
      <p:sp>
        <p:nvSpPr>
          <p:cNvPr id="29" name="Text 20"/>
          <p:cNvSpPr/>
          <p:nvPr/>
        </p:nvSpPr>
        <p:spPr>
          <a:xfrm>
            <a:off x="7918704" y="5769864"/>
            <a:ext cx="3419856" cy="219456"/>
          </a:xfrm>
          <a:prstGeom prst="rect">
            <a:avLst/>
          </a:prstGeom>
          <a:noFill/>
          <a:ln/>
        </p:spPr>
        <p:txBody>
          <a:bodyPr wrap="square" lIns="0" tIns="0" rIns="0" bIns="0" rtlCol="0" anchor="ctr"/>
          <a:lstStyle/>
          <a:p>
            <a:pPr indent="0" marL="0">
              <a:buNone/>
            </a:pPr>
            <a:r>
              <a:rPr lang="en-US" sz="1150" b="1" dirty="0">
                <a:solidFill>
                  <a:srgbClr val="10222F"/>
                </a:solidFill>
                <a:latin typeface="Garamond" pitchFamily="34" charset="0"/>
                <a:ea typeface="Garamond" pitchFamily="34" charset="-122"/>
                <a:cs typeface="Garamond" pitchFamily="34" charset="-120"/>
              </a:rPr>
              <a:t>IM-1 (Intuitive Machines / NASA)</a:t>
            </a:r>
            <a:endParaRPr lang="en-US" sz="1150" dirty="0"/>
          </a:p>
        </p:txBody>
      </p:sp>
      <p:sp>
        <p:nvSpPr>
          <p:cNvPr id="30" name="Text 21"/>
          <p:cNvSpPr/>
          <p:nvPr/>
        </p:nvSpPr>
        <p:spPr>
          <a:xfrm>
            <a:off x="7918704" y="5998464"/>
            <a:ext cx="3419856" cy="411480"/>
          </a:xfrm>
          <a:prstGeom prst="rect">
            <a:avLst/>
          </a:prstGeom>
          <a:noFill/>
          <a:ln/>
        </p:spPr>
        <p:txBody>
          <a:bodyPr wrap="square" lIns="0" tIns="0" rIns="0" bIns="0" rtlCol="0" anchor="t"/>
          <a:lstStyle/>
          <a:p>
            <a:pPr indent="0" marL="0">
              <a:buNone/>
            </a:pPr>
            <a:r>
              <a:rPr lang="en-US" sz="950" dirty="0">
                <a:solidFill>
                  <a:srgbClr val="5C6B76"/>
                </a:solidFill>
                <a:latin typeface="Garamond" pitchFamily="34" charset="0"/>
                <a:ea typeface="Garamond" pitchFamily="34" charset="-122"/>
                <a:cs typeface="Garamond" pitchFamily="34" charset="-120"/>
              </a:rPr>
              <a:t>ROLSES antennas flown on the first commercial US lunar landing.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The SABER Deployable Boom Product Line</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5</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indent="0" marL="0">
              <a:buNone/>
            </a:pPr>
            <a:r>
              <a:rPr lang="en-US" sz="1300" dirty="0">
                <a:solidFill>
                  <a:srgbClr val="5C6B76"/>
                </a:solidFill>
                <a:latin typeface="Garamond" pitchFamily="34" charset="0"/>
                <a:ea typeface="Garamond" pitchFamily="34" charset="-122"/>
                <a:cs typeface="Garamond" pitchFamily="34" charset="-120"/>
              </a:rPr>
              <a:t>Mission unique heritage, productized: standardized mechanisms with published interfaces, short lead times, and configurations from monopole to dipole to custom geometries.</a:t>
            </a:r>
            <a:endParaRPr lang="en-US" sz="1300" dirty="0"/>
          </a:p>
        </p:txBody>
      </p:sp>
      <p:sp>
        <p:nvSpPr>
          <p:cNvPr id="8" name="Shape 5"/>
          <p:cNvSpPr/>
          <p:nvPr/>
        </p:nvSpPr>
        <p:spPr>
          <a:xfrm>
            <a:off x="822960" y="1828800"/>
            <a:ext cx="5175504" cy="2788920"/>
          </a:xfrm>
          <a:prstGeom prst="roundRect">
            <a:avLst>
              <a:gd name="adj" fmla="val 1639"/>
            </a:avLst>
          </a:prstGeom>
          <a:solidFill>
            <a:srgbClr val="F3F7FA"/>
          </a:solidFill>
          <a:ln/>
        </p:spPr>
        <p:txBody>
          <a:bodyPr/>
          <a:p/>
        </p:txBody>
      </p:sp>
      <p:sp>
        <p:nvSpPr>
          <p:cNvPr id="9" name="Text 6"/>
          <p:cNvSpPr/>
          <p:nvPr/>
        </p:nvSpPr>
        <p:spPr>
          <a:xfrm>
            <a:off x="987552" y="1956816"/>
            <a:ext cx="2743200" cy="320040"/>
          </a:xfrm>
          <a:prstGeom prst="rect">
            <a:avLst/>
          </a:prstGeom>
          <a:noFill/>
          <a:ln/>
        </p:spPr>
        <p:txBody>
          <a:bodyPr wrap="square" lIns="0" tIns="0" rIns="0" bIns="0" rtlCol="0" anchor="ctr"/>
          <a:lstStyle/>
          <a:p>
            <a:pPr indent="0" marL="0">
              <a:buNone/>
            </a:pPr>
            <a:r>
              <a:rPr lang="en-US" sz="1650" b="1" dirty="0">
                <a:solidFill>
                  <a:srgbClr val="10222F"/>
                </a:solidFill>
                <a:latin typeface="Garamond" pitchFamily="34" charset="0"/>
                <a:ea typeface="Garamond" pitchFamily="34" charset="-122"/>
                <a:cs typeface="Garamond" pitchFamily="34" charset="-120"/>
              </a:rPr>
              <a:t>Model SB1</a:t>
            </a:r>
            <a:endParaRPr lang="en-US" sz="1650" dirty="0"/>
          </a:p>
        </p:txBody>
      </p:sp>
      <p:pic>
        <p:nvPicPr>
          <p:cNvPr id="10" name="Image 1" descr="assets/s5_sb1.jpg">    </p:cNvPr>
          <p:cNvPicPr>
            <a:picLocks noChangeAspect="1"/>
          </p:cNvPicPr>
          <p:nvPr/>
        </p:nvPicPr>
        <p:blipFill>
          <a:blip r:embed="rId2"/>
          <a:stretch>
            <a:fillRect/>
          </a:stretch>
        </p:blipFill>
        <p:spPr>
          <a:xfrm>
            <a:off x="960120" y="2377440"/>
            <a:ext cx="2377440" cy="1700784"/>
          </a:xfrm>
          <a:prstGeom prst="rect">
            <a:avLst/>
          </a:prstGeom>
        </p:spPr>
      </p:pic>
      <p:sp>
        <p:nvSpPr>
          <p:cNvPr id="11" name="Shape 7"/>
          <p:cNvSpPr/>
          <p:nvPr/>
        </p:nvSpPr>
        <p:spPr>
          <a:xfrm>
            <a:off x="960120" y="2377440"/>
            <a:ext cx="2377440" cy="1700784"/>
          </a:xfrm>
          <a:prstGeom prst="rect">
            <a:avLst/>
          </a:prstGeom>
          <a:ln w="12700">
            <a:solidFill>
              <a:srgbClr val="C6D2DA"/>
            </a:solidFill>
            <a:prstDash val="solid"/>
          </a:ln>
        </p:spPr>
        <p:txBody>
          <a:bodyPr/>
          <a:p/>
        </p:txBody>
      </p:sp>
      <p:sp>
        <p:nvSpPr>
          <p:cNvPr id="12" name="Text 8"/>
          <p:cNvSpPr/>
          <p:nvPr/>
        </p:nvSpPr>
        <p:spPr>
          <a:xfrm>
            <a:off x="3520440" y="2395728"/>
            <a:ext cx="2377440" cy="2103120"/>
          </a:xfrm>
          <a:prstGeom prst="rect">
            <a:avLst/>
          </a:prstGeom>
          <a:noFill/>
          <a:ln/>
        </p:spPr>
        <p:txBody>
          <a:bodyPr wrap="square" lIns="0" tIns="0" rIns="0" bIns="0" rtlCol="0" anchor="t"/>
          <a:lstStyle/>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Deploys 1.0 m to 10.0 m</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Up to 30:1 stow ratio</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3.5 to 5.0 kg class mass</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MAVEN, Solar Orbiter, and Europa Clipper heritage</a:t>
            </a:r>
            <a:endParaRPr lang="en-US" sz="1100" dirty="0"/>
          </a:p>
        </p:txBody>
      </p:sp>
      <p:sp>
        <p:nvSpPr>
          <p:cNvPr id="13" name="Text 9"/>
          <p:cNvSpPr/>
          <p:nvPr/>
        </p:nvSpPr>
        <p:spPr>
          <a:xfrm>
            <a:off x="960120" y="4133088"/>
            <a:ext cx="246888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SB1 class flight mechanisms</a:t>
            </a:r>
            <a:endParaRPr lang="en-US" sz="950" dirty="0"/>
          </a:p>
        </p:txBody>
      </p:sp>
      <p:sp>
        <p:nvSpPr>
          <p:cNvPr id="14" name="Shape 10"/>
          <p:cNvSpPr/>
          <p:nvPr/>
        </p:nvSpPr>
        <p:spPr>
          <a:xfrm>
            <a:off x="6190488" y="1828800"/>
            <a:ext cx="5175504" cy="2788920"/>
          </a:xfrm>
          <a:prstGeom prst="roundRect">
            <a:avLst>
              <a:gd name="adj" fmla="val 1639"/>
            </a:avLst>
          </a:prstGeom>
          <a:solidFill>
            <a:srgbClr val="F3F7FA"/>
          </a:solidFill>
          <a:ln/>
        </p:spPr>
        <p:txBody>
          <a:bodyPr/>
          <a:p/>
        </p:txBody>
      </p:sp>
      <p:sp>
        <p:nvSpPr>
          <p:cNvPr id="15" name="Text 11"/>
          <p:cNvSpPr/>
          <p:nvPr/>
        </p:nvSpPr>
        <p:spPr>
          <a:xfrm>
            <a:off x="6355080" y="1956816"/>
            <a:ext cx="2743200" cy="320040"/>
          </a:xfrm>
          <a:prstGeom prst="rect">
            <a:avLst/>
          </a:prstGeom>
          <a:noFill/>
          <a:ln/>
        </p:spPr>
        <p:txBody>
          <a:bodyPr wrap="square" lIns="0" tIns="0" rIns="0" bIns="0" rtlCol="0" anchor="ctr"/>
          <a:lstStyle/>
          <a:p>
            <a:pPr indent="0" marL="0">
              <a:buNone/>
            </a:pPr>
            <a:r>
              <a:rPr lang="en-US" sz="1650" b="1" dirty="0">
                <a:solidFill>
                  <a:srgbClr val="10222F"/>
                </a:solidFill>
                <a:latin typeface="Garamond" pitchFamily="34" charset="0"/>
                <a:ea typeface="Garamond" pitchFamily="34" charset="-122"/>
                <a:cs typeface="Garamond" pitchFamily="34" charset="-120"/>
              </a:rPr>
              <a:t>Model SB2</a:t>
            </a:r>
            <a:endParaRPr lang="en-US" sz="1650" dirty="0"/>
          </a:p>
        </p:txBody>
      </p:sp>
      <p:pic>
        <p:nvPicPr>
          <p:cNvPr id="16" name="Image 2" descr="assets/s5_sb2.jpg">    </p:cNvPr>
          <p:cNvPicPr>
            <a:picLocks noChangeAspect="1"/>
          </p:cNvPicPr>
          <p:nvPr/>
        </p:nvPicPr>
        <p:blipFill>
          <a:blip r:embed="rId3"/>
          <a:stretch>
            <a:fillRect/>
          </a:stretch>
        </p:blipFill>
        <p:spPr>
          <a:xfrm>
            <a:off x="6327648" y="2377440"/>
            <a:ext cx="2377440" cy="1700784"/>
          </a:xfrm>
          <a:prstGeom prst="rect">
            <a:avLst/>
          </a:prstGeom>
        </p:spPr>
      </p:pic>
      <p:sp>
        <p:nvSpPr>
          <p:cNvPr id="17" name="Shape 12"/>
          <p:cNvSpPr/>
          <p:nvPr/>
        </p:nvSpPr>
        <p:spPr>
          <a:xfrm>
            <a:off x="6327648" y="2377440"/>
            <a:ext cx="2377440" cy="1700784"/>
          </a:xfrm>
          <a:prstGeom prst="rect">
            <a:avLst/>
          </a:prstGeom>
          <a:ln w="12700">
            <a:solidFill>
              <a:srgbClr val="C6D2DA"/>
            </a:solidFill>
            <a:prstDash val="solid"/>
          </a:ln>
        </p:spPr>
        <p:txBody>
          <a:bodyPr/>
          <a:p/>
        </p:txBody>
      </p:sp>
      <p:sp>
        <p:nvSpPr>
          <p:cNvPr id="18" name="Text 13"/>
          <p:cNvSpPr/>
          <p:nvPr/>
        </p:nvSpPr>
        <p:spPr>
          <a:xfrm>
            <a:off x="8887968" y="2395728"/>
            <a:ext cx="2377440" cy="2103120"/>
          </a:xfrm>
          <a:prstGeom prst="rect">
            <a:avLst/>
          </a:prstGeom>
          <a:noFill/>
          <a:ln/>
        </p:spPr>
        <p:txBody>
          <a:bodyPr wrap="square" lIns="0" tIns="0" rIns="0" bIns="0" rtlCol="0" anchor="t"/>
          <a:lstStyle/>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Deploys 1.0 m to 6.0 m</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Up to 50:1 stow ratio</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200 g class mass</a:t>
            </a:r>
            <a:endParaRPr lang="en-US" sz="1100" dirty="0"/>
          </a:p>
          <a:p>
            <a:pPr algn="l" marL="127000" indent="-127000">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Rated -200 C to +200 C</a:t>
            </a:r>
            <a:endParaRPr lang="en-US" sz="1100" dirty="0"/>
          </a:p>
        </p:txBody>
      </p:sp>
      <p:sp>
        <p:nvSpPr>
          <p:cNvPr id="19" name="Text 14"/>
          <p:cNvSpPr/>
          <p:nvPr/>
        </p:nvSpPr>
        <p:spPr>
          <a:xfrm>
            <a:off x="6327648" y="4133088"/>
            <a:ext cx="246888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SB2 mechanism render</a:t>
            </a:r>
            <a:endParaRPr lang="en-US" sz="950" dirty="0"/>
          </a:p>
        </p:txBody>
      </p:sp>
      <p:pic>
        <p:nvPicPr>
          <p:cNvPr id="20" name="Image 3" descr="assets/s5_strip.jpg">    </p:cNvPr>
          <p:cNvPicPr>
            <a:picLocks noChangeAspect="1"/>
          </p:cNvPicPr>
          <p:nvPr/>
        </p:nvPicPr>
        <p:blipFill>
          <a:blip r:embed="rId4"/>
          <a:stretch>
            <a:fillRect/>
          </a:stretch>
        </p:blipFill>
        <p:spPr>
          <a:xfrm>
            <a:off x="822960" y="4828032"/>
            <a:ext cx="10543032" cy="1371600"/>
          </a:xfrm>
          <a:prstGeom prst="rect">
            <a:avLst/>
          </a:prstGeom>
        </p:spPr>
      </p:pic>
      <p:sp>
        <p:nvSpPr>
          <p:cNvPr id="21" name="Shape 15"/>
          <p:cNvSpPr/>
          <p:nvPr/>
        </p:nvSpPr>
        <p:spPr>
          <a:xfrm>
            <a:off x="822960" y="4828032"/>
            <a:ext cx="10543032" cy="1371600"/>
          </a:xfrm>
          <a:prstGeom prst="rect">
            <a:avLst/>
          </a:prstGeom>
          <a:ln w="12700">
            <a:solidFill>
              <a:srgbClr val="C6D2DA"/>
            </a:solidFill>
            <a:prstDash val="solid"/>
          </a:ln>
        </p:spPr>
        <p:txBody>
          <a:bodyPr/>
          <a:p/>
        </p:txBody>
      </p:sp>
      <p:sp>
        <p:nvSpPr>
          <p:cNvPr id="22" name="Text 16"/>
          <p:cNvSpPr/>
          <p:nvPr/>
        </p:nvSpPr>
        <p:spPr>
          <a:xfrm>
            <a:off x="822960" y="6236208"/>
            <a:ext cx="1042416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Europa Clipper REASON high frequency antenna configuration: 58 ft (17.6 m) tip to tip deployed length.</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PRODUCT DETAIL</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Model SB1: The Flight Proven Workhorse</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6</a:t>
            </a:r>
            <a:endParaRPr lang="en-US" sz="850" dirty="0"/>
          </a:p>
        </p:txBody>
      </p:sp>
      <p:sp>
        <p:nvSpPr>
          <p:cNvPr id="7" name="Text 4"/>
          <p:cNvSpPr/>
          <p:nvPr/>
        </p:nvSpPr>
        <p:spPr>
          <a:xfrm>
            <a:off x="822960" y="1371600"/>
            <a:ext cx="5806440" cy="685800"/>
          </a:xfrm>
          <a:prstGeom prst="rect">
            <a:avLst/>
          </a:prstGeom>
          <a:noFill/>
          <a:ln/>
        </p:spPr>
        <p:txBody>
          <a:bodyPr wrap="square" lIns="0" tIns="0" rIns="0" bIns="0" rtlCol="0" anchor="t"/>
          <a:lstStyle/>
          <a:p>
            <a:pPr indent="0" marL="0">
              <a:lnSpc>
                <a:spcPct val="105000"/>
              </a:lnSpc>
              <a:buNone/>
            </a:pPr>
            <a:r>
              <a:rPr lang="en-US" sz="1250" dirty="0">
                <a:solidFill>
                  <a:srgbClr val="1E2A33"/>
                </a:solidFill>
                <a:latin typeface="Garamond" pitchFamily="34" charset="0"/>
                <a:ea typeface="Garamond" pitchFamily="34" charset="-122"/>
                <a:cs typeface="Garamond" pitchFamily="34" charset="-120"/>
              </a:rPr>
              <a:t>A low mass, compact, high reliability boom for antennas, sensors, and deployed hardware, with well controlled deployment to precise lengths of up to 10.0 m.</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5806440" cy="914400"/>
        </p:xfrm>
        <a:graphic>
          <a:graphicData uri="http://schemas.openxmlformats.org/drawingml/2006/table">
            <a:tbl>
              <a:tblPr/>
              <a:tblGrid>
                <a:gridCol w="1965960"/>
                <a:gridCol w="3840480"/>
              </a:tblGrid>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Deployed length</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3.3 to 32.8 ft (1.0 to 10.0 m), selectable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Mass</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7.7 lb (3.5 kg) at 4.0 m; 11.0 lb (5.0 kg) at 10.0 m</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Stowed envelope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4.2 x 5.3 x 13.6 in (11 x 13 x 35 cm)</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Deploy power</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25 W (+28 V at 0.9 A) for 30 s, typical</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Deployment control</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About 0.5 m/s; length precision of +/- 0.25 in</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Thermal, post deploy</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-135 C to +120 C</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Structure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Stowed first mode above 200 Hz</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r h="429768">
                <a:tc>
                  <a:txBody>
                    <a:bodyPr/>
                    <a:lstStyle/>
                    <a:p>
                      <a:pPr indent="0" marL="0">
                        <a:buNone/>
                      </a:pPr>
                      <a:r>
                        <a:rPr lang="en-US" sz="1050" b="1" dirty="0">
                          <a:solidFill>
                            <a:srgbClr val="10222F"/>
                          </a:solidFill>
                          <a:latin typeface="Garamond" pitchFamily="34" charset="0"/>
                          <a:ea typeface="Garamond" pitchFamily="34" charset="-122"/>
                          <a:cs typeface="Garamond" pitchFamily="34" charset="-120"/>
                        </a:rPr>
                        <a:t>Random vibration</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indent="0" marL="0">
                        <a:buNone/>
                      </a:pPr>
                      <a:r>
                        <a:rPr lang="en-US" sz="1050" dirty="0">
                          <a:solidFill>
                            <a:srgbClr val="1E2A33"/>
                          </a:solidFill>
                          <a:latin typeface="Garamond" pitchFamily="34" charset="0"/>
                          <a:ea typeface="Garamond" pitchFamily="34" charset="-122"/>
                          <a:cs typeface="Garamond" pitchFamily="34" charset="-120"/>
                        </a:rPr>
                        <a:t>GSFC-STD-7000B protoflight levels</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r>
            </a:tbl>
          </a:graphicData>
        </a:graphic>
      </p:graphicFrame>
      <p:pic>
        <p:nvPicPr>
          <p:cNvPr id="9" name="Image 1" descr="assets/s6_test.jpg">    </p:cNvPr>
          <p:cNvPicPr>
            <a:picLocks noChangeAspect="1"/>
          </p:cNvPicPr>
          <p:nvPr/>
        </p:nvPicPr>
        <p:blipFill>
          <a:blip r:embed="rId2"/>
          <a:stretch>
            <a:fillRect/>
          </a:stretch>
        </p:blipFill>
        <p:spPr>
          <a:xfrm>
            <a:off x="6995160" y="1417320"/>
            <a:ext cx="4114800" cy="2103120"/>
          </a:xfrm>
          <a:prstGeom prst="rect">
            <a:avLst/>
          </a:prstGeom>
        </p:spPr>
      </p:pic>
      <p:sp>
        <p:nvSpPr>
          <p:cNvPr id="10" name="Shape 5"/>
          <p:cNvSpPr/>
          <p:nvPr/>
        </p:nvSpPr>
        <p:spPr>
          <a:xfrm>
            <a:off x="6995160" y="1417320"/>
            <a:ext cx="4114800" cy="2103120"/>
          </a:xfrm>
          <a:prstGeom prst="rect">
            <a:avLst/>
          </a:prstGeom>
          <a:ln w="12700">
            <a:solidFill>
              <a:srgbClr val="C6D2DA"/>
            </a:solidFill>
            <a:prstDash val="solid"/>
          </a:ln>
        </p:spPr>
        <p:txBody>
          <a:bodyPr/>
          <a:p/>
        </p:txBody>
      </p:sp>
      <p:sp>
        <p:nvSpPr>
          <p:cNvPr id="11" name="Text 6"/>
          <p:cNvSpPr/>
          <p:nvPr/>
        </p:nvSpPr>
        <p:spPr>
          <a:xfrm>
            <a:off x="6995160" y="3547872"/>
            <a:ext cx="411480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Controlled deployment testing at the Berkeley facility.</a:t>
            </a:r>
            <a:endParaRPr lang="en-US" sz="950" dirty="0"/>
          </a:p>
        </p:txBody>
      </p:sp>
      <p:pic>
        <p:nvPicPr>
          <p:cNvPr id="12" name="Image 2" descr="assets/s6_array.jpg">    </p:cNvPr>
          <p:cNvPicPr>
            <a:picLocks noChangeAspect="1"/>
          </p:cNvPicPr>
          <p:nvPr/>
        </p:nvPicPr>
        <p:blipFill>
          <a:blip r:embed="rId3"/>
          <a:stretch>
            <a:fillRect/>
          </a:stretch>
        </p:blipFill>
        <p:spPr>
          <a:xfrm>
            <a:off x="6995160" y="3913632"/>
            <a:ext cx="4114800" cy="2103120"/>
          </a:xfrm>
          <a:prstGeom prst="rect">
            <a:avLst/>
          </a:prstGeom>
        </p:spPr>
      </p:pic>
      <p:sp>
        <p:nvSpPr>
          <p:cNvPr id="13" name="Shape 7"/>
          <p:cNvSpPr/>
          <p:nvPr/>
        </p:nvSpPr>
        <p:spPr>
          <a:xfrm>
            <a:off x="6995160" y="3913632"/>
            <a:ext cx="4114800" cy="2103120"/>
          </a:xfrm>
          <a:prstGeom prst="rect">
            <a:avLst/>
          </a:prstGeom>
          <a:ln w="12700">
            <a:solidFill>
              <a:srgbClr val="C6D2DA"/>
            </a:solidFill>
            <a:prstDash val="solid"/>
          </a:ln>
        </p:spPr>
        <p:txBody>
          <a:bodyPr/>
          <a:p/>
        </p:txBody>
      </p:sp>
      <p:sp>
        <p:nvSpPr>
          <p:cNvPr id="14" name="Text 8"/>
          <p:cNvSpPr/>
          <p:nvPr/>
        </p:nvSpPr>
        <p:spPr>
          <a:xfrm>
            <a:off x="6995160" y="6044184"/>
            <a:ext cx="411480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SB1 class mechanism integrated on a flight solar array.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PRODUCT DETAIL</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Model SB2: SABER for Small Platforms</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7</a:t>
            </a:r>
            <a:endParaRPr lang="en-US" sz="850" dirty="0"/>
          </a:p>
        </p:txBody>
      </p:sp>
      <p:sp>
        <p:nvSpPr>
          <p:cNvPr id="7" name="Text 4"/>
          <p:cNvSpPr/>
          <p:nvPr/>
        </p:nvSpPr>
        <p:spPr>
          <a:xfrm>
            <a:off x="822960" y="1371600"/>
            <a:ext cx="6400800" cy="548640"/>
          </a:xfrm>
          <a:prstGeom prst="rect">
            <a:avLst/>
          </a:prstGeom>
          <a:noFill/>
          <a:ln/>
        </p:spPr>
        <p:txBody>
          <a:bodyPr wrap="square" lIns="0" tIns="0" rIns="0" bIns="0" rtlCol="0" anchor="t"/>
          <a:lstStyle/>
          <a:p>
            <a:pPr indent="0" marL="0">
              <a:lnSpc>
                <a:spcPct val="105000"/>
              </a:lnSpc>
              <a:buNone/>
            </a:pPr>
            <a:r>
              <a:rPr lang="en-US" sz="1250" dirty="0">
                <a:solidFill>
                  <a:srgbClr val="1E2A33"/>
                </a:solidFill>
                <a:latin typeface="Garamond" pitchFamily="34" charset="0"/>
                <a:ea typeface="Garamond" pitchFamily="34" charset="-122"/>
                <a:cs typeface="Garamond" pitchFamily="34" charset="-120"/>
              </a:rPr>
              <a:t>A 200 gram class deployable boom that brings full SABER capability to CubeSats, lunar payloads, and mass constrained platforms.</a:t>
            </a:r>
            <a:endParaRPr lang="en-US" sz="1250" dirty="0"/>
          </a:p>
        </p:txBody>
      </p:sp>
      <p:sp>
        <p:nvSpPr>
          <p:cNvPr id="8" name="Text 5"/>
          <p:cNvSpPr/>
          <p:nvPr/>
        </p:nvSpPr>
        <p:spPr>
          <a:xfrm>
            <a:off x="822960" y="2057400"/>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Deployed length</a:t>
            </a:r>
            <a:endParaRPr lang="en-US" sz="1050" dirty="0"/>
          </a:p>
        </p:txBody>
      </p:sp>
      <p:sp>
        <p:nvSpPr>
          <p:cNvPr id="9" name="Text 6"/>
          <p:cNvSpPr/>
          <p:nvPr/>
        </p:nvSpPr>
        <p:spPr>
          <a:xfrm>
            <a:off x="822960" y="2276856"/>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Up to 19.7 ft (6.0 m)</a:t>
            </a:r>
            <a:endParaRPr lang="en-US" sz="1250" dirty="0"/>
          </a:p>
        </p:txBody>
      </p:sp>
      <p:sp>
        <p:nvSpPr>
          <p:cNvPr id="10" name="Text 7"/>
          <p:cNvSpPr/>
          <p:nvPr/>
        </p:nvSpPr>
        <p:spPr>
          <a:xfrm>
            <a:off x="4069080" y="2057400"/>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Mass</a:t>
            </a:r>
            <a:endParaRPr lang="en-US" sz="1050" dirty="0"/>
          </a:p>
        </p:txBody>
      </p:sp>
      <p:sp>
        <p:nvSpPr>
          <p:cNvPr id="11" name="Text 8"/>
          <p:cNvSpPr/>
          <p:nvPr/>
        </p:nvSpPr>
        <p:spPr>
          <a:xfrm>
            <a:off x="4069080" y="2276856"/>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0.44 lb (200 g)</a:t>
            </a:r>
            <a:endParaRPr lang="en-US" sz="1250" dirty="0"/>
          </a:p>
        </p:txBody>
      </p:sp>
      <p:sp>
        <p:nvSpPr>
          <p:cNvPr id="12" name="Text 9"/>
          <p:cNvSpPr/>
          <p:nvPr/>
        </p:nvSpPr>
        <p:spPr>
          <a:xfrm>
            <a:off x="822960" y="2715768"/>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Stowed envelope</a:t>
            </a:r>
            <a:endParaRPr lang="en-US" sz="1050" dirty="0"/>
          </a:p>
        </p:txBody>
      </p:sp>
      <p:sp>
        <p:nvSpPr>
          <p:cNvPr id="13" name="Text 10"/>
          <p:cNvSpPr/>
          <p:nvPr/>
        </p:nvSpPr>
        <p:spPr>
          <a:xfrm>
            <a:off x="822960" y="2935224"/>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1.4 x 1.8 x 3.2 in</a:t>
            </a:r>
            <a:endParaRPr lang="en-US" sz="1250" dirty="0"/>
          </a:p>
        </p:txBody>
      </p:sp>
      <p:sp>
        <p:nvSpPr>
          <p:cNvPr id="14" name="Text 11"/>
          <p:cNvSpPr/>
          <p:nvPr/>
        </p:nvSpPr>
        <p:spPr>
          <a:xfrm>
            <a:off x="4069080" y="2715768"/>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Stow ratio</a:t>
            </a:r>
            <a:endParaRPr lang="en-US" sz="1050" dirty="0"/>
          </a:p>
        </p:txBody>
      </p:sp>
      <p:sp>
        <p:nvSpPr>
          <p:cNvPr id="15" name="Text 12"/>
          <p:cNvSpPr/>
          <p:nvPr/>
        </p:nvSpPr>
        <p:spPr>
          <a:xfrm>
            <a:off x="4069080" y="2935224"/>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Up to 50:1</a:t>
            </a:r>
            <a:endParaRPr lang="en-US" sz="1250" dirty="0"/>
          </a:p>
        </p:txBody>
      </p:sp>
      <p:sp>
        <p:nvSpPr>
          <p:cNvPr id="16" name="Text 13"/>
          <p:cNvSpPr/>
          <p:nvPr/>
        </p:nvSpPr>
        <p:spPr>
          <a:xfrm>
            <a:off x="822960" y="3374136"/>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Thermal capability</a:t>
            </a:r>
            <a:endParaRPr lang="en-US" sz="1050" dirty="0"/>
          </a:p>
        </p:txBody>
      </p:sp>
      <p:sp>
        <p:nvSpPr>
          <p:cNvPr id="17" name="Text 14"/>
          <p:cNvSpPr/>
          <p:nvPr/>
        </p:nvSpPr>
        <p:spPr>
          <a:xfrm>
            <a:off x="822960" y="3593592"/>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-200 C to +200 C</a:t>
            </a:r>
            <a:endParaRPr lang="en-US" sz="1250" dirty="0"/>
          </a:p>
        </p:txBody>
      </p:sp>
      <p:sp>
        <p:nvSpPr>
          <p:cNvPr id="18" name="Text 15"/>
          <p:cNvSpPr/>
          <p:nvPr/>
        </p:nvSpPr>
        <p:spPr>
          <a:xfrm>
            <a:off x="4069080" y="3374136"/>
            <a:ext cx="3108960" cy="219456"/>
          </a:xfrm>
          <a:prstGeom prst="rect">
            <a:avLst/>
          </a:prstGeom>
          <a:noFill/>
          <a:ln/>
        </p:spPr>
        <p:txBody>
          <a:bodyPr wrap="square" lIns="0" tIns="0" rIns="0" bIns="0" rtlCol="0" anchor="ctr"/>
          <a:lstStyle/>
          <a:p>
            <a:pPr indent="0" marL="0">
              <a:buNone/>
            </a:pPr>
            <a:r>
              <a:rPr lang="en-US" sz="1050" b="1" dirty="0">
                <a:solidFill>
                  <a:srgbClr val="007BCB"/>
                </a:solidFill>
                <a:latin typeface="Garamond" pitchFamily="34" charset="0"/>
                <a:ea typeface="Garamond" pitchFamily="34" charset="-122"/>
                <a:cs typeface="Garamond" pitchFamily="34" charset="-120"/>
              </a:rPr>
              <a:t>Deploy power</a:t>
            </a:r>
            <a:endParaRPr lang="en-US" sz="1050" dirty="0"/>
          </a:p>
        </p:txBody>
      </p:sp>
      <p:sp>
        <p:nvSpPr>
          <p:cNvPr id="19" name="Text 16"/>
          <p:cNvSpPr/>
          <p:nvPr/>
        </p:nvSpPr>
        <p:spPr>
          <a:xfrm>
            <a:off x="4069080" y="3593592"/>
            <a:ext cx="3108960" cy="256032"/>
          </a:xfrm>
          <a:prstGeom prst="rect">
            <a:avLst/>
          </a:prstGeom>
          <a:noFill/>
          <a:ln/>
        </p:spPr>
        <p:txBody>
          <a:bodyPr wrap="square" lIns="0" tIns="0" rIns="0" bIns="0" rtlCol="0" anchor="ctr"/>
          <a:lstStyle/>
          <a:p>
            <a:pPr indent="0" marL="0">
              <a:buNone/>
            </a:pPr>
            <a:r>
              <a:rPr lang="en-US" sz="1250" dirty="0">
                <a:solidFill>
                  <a:srgbClr val="1E2A33"/>
                </a:solidFill>
                <a:latin typeface="Garamond" pitchFamily="34" charset="0"/>
                <a:ea typeface="Garamond" pitchFamily="34" charset="-122"/>
                <a:cs typeface="Garamond" pitchFamily="34" charset="-120"/>
              </a:rPr>
              <a:t>134 W pulse, under 10 ms</a:t>
            </a:r>
            <a:endParaRPr lang="en-US" sz="1250" dirty="0"/>
          </a:p>
        </p:txBody>
      </p:sp>
      <p:sp>
        <p:nvSpPr>
          <p:cNvPr id="20" name="Shape 17"/>
          <p:cNvSpPr/>
          <p:nvPr/>
        </p:nvSpPr>
        <p:spPr>
          <a:xfrm>
            <a:off x="822960" y="4160520"/>
            <a:ext cx="6400800" cy="2057400"/>
          </a:xfrm>
          <a:prstGeom prst="roundRect">
            <a:avLst>
              <a:gd name="adj" fmla="val 2222"/>
            </a:avLst>
          </a:prstGeom>
          <a:solidFill>
            <a:srgbClr val="F3F7FA"/>
          </a:solidFill>
          <a:ln/>
        </p:spPr>
        <p:txBody>
          <a:bodyPr/>
          <a:p/>
        </p:txBody>
      </p:sp>
      <p:sp>
        <p:nvSpPr>
          <p:cNvPr id="21" name="Text 18"/>
          <p:cNvSpPr/>
          <p:nvPr/>
        </p:nvSpPr>
        <p:spPr>
          <a:xfrm>
            <a:off x="1005840" y="4315968"/>
            <a:ext cx="6035040" cy="274320"/>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Proprietary release mechanism</a:t>
            </a:r>
            <a:endParaRPr lang="en-US" sz="1350" dirty="0"/>
          </a:p>
        </p:txBody>
      </p:sp>
      <p:sp>
        <p:nvSpPr>
          <p:cNvPr id="22" name="Text 19"/>
          <p:cNvSpPr/>
          <p:nvPr/>
        </p:nvSpPr>
        <p:spPr>
          <a:xfrm>
            <a:off x="1005840" y="4663440"/>
            <a:ext cx="6035040" cy="1463040"/>
          </a:xfrm>
          <a:prstGeom prst="rect">
            <a:avLst/>
          </a:prstGeom>
          <a:noFill/>
          <a:ln/>
        </p:spPr>
        <p:txBody>
          <a:bodyPr wrap="square" lIns="0" tIns="0" rIns="0" bIns="0" rtlCol="0" anchor="t"/>
          <a:lstStyle/>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Melt wire design with redundant actuation mechanisms and circuits</a:t>
            </a:r>
            <a:endParaRPr lang="en-US" sz="1100" dirty="0"/>
          </a:p>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Re usable, non explosive release; no ordnance handling</a:t>
            </a:r>
            <a:endParaRPr lang="en-US" sz="1100" dirty="0"/>
          </a:p>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Operates above 150 C, beyond the 90 to 120 C limit of SMA actuators</a:t>
            </a:r>
            <a:endParaRPr lang="en-US" sz="1100" dirty="0"/>
          </a:p>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Roughly one third the stowed length of comparable devices, at lower cost and shorter lead times</a:t>
            </a:r>
            <a:endParaRPr lang="en-US" sz="1100" dirty="0"/>
          </a:p>
        </p:txBody>
      </p:sp>
      <p:pic>
        <p:nvPicPr>
          <p:cNvPr id="23" name="Image 1" descr="assets/s7_render.jpg">    </p:cNvPr>
          <p:cNvPicPr>
            <a:picLocks noChangeAspect="1"/>
          </p:cNvPicPr>
          <p:nvPr/>
        </p:nvPicPr>
        <p:blipFill>
          <a:blip r:embed="rId2"/>
          <a:stretch>
            <a:fillRect/>
          </a:stretch>
        </p:blipFill>
        <p:spPr>
          <a:xfrm>
            <a:off x="7635240" y="1417320"/>
            <a:ext cx="3200400" cy="2926080"/>
          </a:xfrm>
          <a:prstGeom prst="rect">
            <a:avLst/>
          </a:prstGeom>
        </p:spPr>
      </p:pic>
      <p:sp>
        <p:nvSpPr>
          <p:cNvPr id="24" name="Shape 20"/>
          <p:cNvSpPr/>
          <p:nvPr/>
        </p:nvSpPr>
        <p:spPr>
          <a:xfrm>
            <a:off x="7635240" y="1417320"/>
            <a:ext cx="3200400" cy="2926080"/>
          </a:xfrm>
          <a:prstGeom prst="rect">
            <a:avLst/>
          </a:prstGeom>
          <a:ln w="12700">
            <a:solidFill>
              <a:srgbClr val="C6D2DA"/>
            </a:solidFill>
            <a:prstDash val="solid"/>
          </a:ln>
        </p:spPr>
        <p:txBody>
          <a:bodyPr/>
          <a:p/>
        </p:txBody>
      </p:sp>
      <p:sp>
        <p:nvSpPr>
          <p:cNvPr id="25" name="Text 21"/>
          <p:cNvSpPr/>
          <p:nvPr/>
        </p:nvSpPr>
        <p:spPr>
          <a:xfrm>
            <a:off x="7635240" y="4370832"/>
            <a:ext cx="320040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Deployable element shown in red.</a:t>
            </a:r>
            <a:endParaRPr lang="en-US" sz="950" dirty="0"/>
          </a:p>
        </p:txBody>
      </p:sp>
      <p:pic>
        <p:nvPicPr>
          <p:cNvPr id="26" name="Image 2" descr="assets/s7_dims.jpg">    </p:cNvPr>
          <p:cNvPicPr>
            <a:picLocks noChangeAspect="1"/>
          </p:cNvPicPr>
          <p:nvPr/>
        </p:nvPicPr>
        <p:blipFill>
          <a:blip r:embed="rId3"/>
          <a:stretch>
            <a:fillRect/>
          </a:stretch>
        </p:blipFill>
        <p:spPr>
          <a:xfrm>
            <a:off x="7635240" y="4754880"/>
            <a:ext cx="3200400" cy="1828800"/>
          </a:xfrm>
          <a:prstGeom prst="rect">
            <a:avLst/>
          </a:prstGeom>
        </p:spPr>
      </p:pic>
      <p:sp>
        <p:nvSpPr>
          <p:cNvPr id="27" name="Shape 22"/>
          <p:cNvSpPr/>
          <p:nvPr/>
        </p:nvSpPr>
        <p:spPr>
          <a:xfrm>
            <a:off x="7635240" y="4754880"/>
            <a:ext cx="3200400" cy="1828800"/>
          </a:xfrm>
          <a:prstGeom prst="rect">
            <a:avLst/>
          </a:prstGeom>
          <a:ln w="12700">
            <a:solidFill>
              <a:srgbClr val="C6D2DA"/>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Deployable Antenna Systems</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8</a:t>
            </a:r>
            <a:endParaRPr lang="en-US" sz="850" dirty="0"/>
          </a:p>
        </p:txBody>
      </p:sp>
      <p:sp>
        <p:nvSpPr>
          <p:cNvPr id="7" name="Text 4"/>
          <p:cNvSpPr/>
          <p:nvPr/>
        </p:nvSpPr>
        <p:spPr>
          <a:xfrm>
            <a:off x="822960" y="1353312"/>
            <a:ext cx="10424160" cy="548640"/>
          </a:xfrm>
          <a:prstGeom prst="rect">
            <a:avLst/>
          </a:prstGeom>
          <a:noFill/>
          <a:ln/>
        </p:spPr>
        <p:txBody>
          <a:bodyPr wrap="square" lIns="0" tIns="0" rIns="0" bIns="0" rtlCol="0" anchor="t"/>
          <a:lstStyle/>
          <a:p>
            <a:pPr indent="0" marL="0">
              <a:buNone/>
            </a:pPr>
            <a:r>
              <a:rPr lang="en-US" sz="1300" dirty="0">
                <a:solidFill>
                  <a:srgbClr val="5C6B76"/>
                </a:solidFill>
                <a:latin typeface="Garamond" pitchFamily="34" charset="0"/>
                <a:ea typeface="Garamond" pitchFamily="34" charset="-122"/>
                <a:cs typeface="Garamond" pitchFamily="34" charset="-120"/>
              </a:rPr>
              <a:t>Stacer based flight antennas for sensitive receivers, transmitters, and radars, configurable as monopoles, dipoles, folded dipoles, and custom arrays with tip mounted instruments.</a:t>
            </a:r>
            <a:endParaRPr lang="en-US" sz="1300" dirty="0"/>
          </a:p>
        </p:txBody>
      </p:sp>
      <p:sp>
        <p:nvSpPr>
          <p:cNvPr id="8" name="Text 5"/>
          <p:cNvSpPr/>
          <p:nvPr/>
        </p:nvSpPr>
        <p:spPr>
          <a:xfrm>
            <a:off x="822960" y="2121408"/>
            <a:ext cx="5394960" cy="274320"/>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Configurations and options</a:t>
            </a:r>
            <a:endParaRPr lang="en-US" sz="1350" dirty="0"/>
          </a:p>
        </p:txBody>
      </p:sp>
      <p:sp>
        <p:nvSpPr>
          <p:cNvPr id="9" name="Text 6"/>
          <p:cNvSpPr/>
          <p:nvPr/>
        </p:nvSpPr>
        <p:spPr>
          <a:xfrm>
            <a:off x="822960" y="2450592"/>
            <a:ext cx="5394960" cy="1691640"/>
          </a:xfrm>
          <a:prstGeom prst="rect">
            <a:avLst/>
          </a:prstGeom>
          <a:noFill/>
          <a:ln/>
        </p:spPr>
        <p:txBody>
          <a:bodyPr wrap="square" lIns="0" tIns="0" rIns="0" bIns="0" rtlCol="0" anchor="t"/>
          <a:lstStyle/>
          <a:p>
            <a:pPr algn="l" marL="127000" indent="-127000">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Element lengths of 1 m to 10 m in BeCu or Elgiloy</a:t>
            </a:r>
            <a:endParaRPr lang="en-US" sz="1150" dirty="0"/>
          </a:p>
          <a:p>
            <a:pPr algn="l" marL="127000" indent="-127000">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Monopole, dipole, folded dipole, and custom geometries</a:t>
            </a:r>
            <a:endParaRPr lang="en-US" sz="1150" dirty="0"/>
          </a:p>
          <a:p>
            <a:pPr algn="l" marL="127000" indent="-127000">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Grounded, isolated, or driven antenna elements</a:t>
            </a:r>
            <a:endParaRPr lang="en-US" sz="1150" dirty="0"/>
          </a:p>
          <a:p>
            <a:pPr algn="l" marL="127000" indent="-127000">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Sensors and instruments integrated at the boom tip</a:t>
            </a:r>
            <a:endParaRPr lang="en-US" sz="1150" dirty="0"/>
          </a:p>
          <a:p>
            <a:pPr algn="l" marL="127000" indent="-127000">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Delivered fully qualified to mission requirements</a:t>
            </a:r>
            <a:endParaRPr lang="en-US" sz="1150" dirty="0"/>
          </a:p>
        </p:txBody>
      </p:sp>
      <p:sp>
        <p:nvSpPr>
          <p:cNvPr id="10" name="Shape 7"/>
          <p:cNvSpPr/>
          <p:nvPr/>
        </p:nvSpPr>
        <p:spPr>
          <a:xfrm>
            <a:off x="822960" y="4343400"/>
            <a:ext cx="5394960" cy="1828800"/>
          </a:xfrm>
          <a:prstGeom prst="roundRect">
            <a:avLst>
              <a:gd name="adj" fmla="val 2500"/>
            </a:avLst>
          </a:prstGeom>
          <a:solidFill>
            <a:srgbClr val="F3F7FA"/>
          </a:solidFill>
          <a:ln/>
        </p:spPr>
        <p:txBody>
          <a:bodyPr/>
          <a:p/>
        </p:txBody>
      </p:sp>
      <p:sp>
        <p:nvSpPr>
          <p:cNvPr id="11" name="Text 8"/>
          <p:cNvSpPr/>
          <p:nvPr/>
        </p:nvSpPr>
        <p:spPr>
          <a:xfrm>
            <a:off x="987552" y="4480560"/>
            <a:ext cx="5120640" cy="274320"/>
          </a:xfrm>
          <a:prstGeom prst="rect">
            <a:avLst/>
          </a:prstGeom>
          <a:noFill/>
          <a:ln/>
        </p:spPr>
        <p:txBody>
          <a:bodyPr wrap="square" lIns="0" tIns="0" rIns="0" bIns="0" rtlCol="0" anchor="ctr"/>
          <a:lstStyle/>
          <a:p>
            <a:pPr indent="0" marL="0">
              <a:buNone/>
            </a:pPr>
            <a:r>
              <a:rPr lang="en-US" sz="1250" b="1" dirty="0">
                <a:solidFill>
                  <a:srgbClr val="10222F"/>
                </a:solidFill>
                <a:latin typeface="Garamond" pitchFamily="34" charset="0"/>
                <a:ea typeface="Garamond" pitchFamily="34" charset="-122"/>
                <a:cs typeface="Garamond" pitchFamily="34" charset="-120"/>
              </a:rPr>
              <a:t>Example: 18 m tip to tip dipole (REASON HF class)</a:t>
            </a:r>
            <a:endParaRPr lang="en-US" sz="1250" dirty="0"/>
          </a:p>
        </p:txBody>
      </p:sp>
      <p:sp>
        <p:nvSpPr>
          <p:cNvPr id="12" name="Text 9"/>
          <p:cNvSpPr/>
          <p:nvPr/>
        </p:nvSpPr>
        <p:spPr>
          <a:xfrm>
            <a:off x="987552" y="4828032"/>
            <a:ext cx="5074920" cy="1234440"/>
          </a:xfrm>
          <a:prstGeom prst="rect">
            <a:avLst/>
          </a:prstGeom>
          <a:noFill/>
          <a:ln/>
        </p:spPr>
        <p:txBody>
          <a:bodyPr wrap="square" lIns="0" tIns="0" rIns="0" bIns="0" rtlCol="0" anchor="t"/>
          <a:lstStyle/>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Dipole mass under 11.3 kg; 20 x 30 x 10 cm stowed per side</a:t>
            </a:r>
            <a:endParaRPr lang="en-US" sz="1100" dirty="0"/>
          </a:p>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Self powered deployment with non explosive actuation</a:t>
            </a:r>
            <a:endParaRPr lang="en-US" sz="1100" dirty="0"/>
          </a:p>
          <a:p>
            <a:pPr algn="l" marL="127000" indent="-127000">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Hundreds of successful operational Stacer deployments</a:t>
            </a:r>
            <a:endParaRPr lang="en-US" sz="1100" dirty="0"/>
          </a:p>
        </p:txBody>
      </p:sp>
      <p:pic>
        <p:nvPicPr>
          <p:cNvPr id="13" name="Image 1" descr="assets/s8a_dipole.jpg">    </p:cNvPr>
          <p:cNvPicPr>
            <a:picLocks noChangeAspect="1"/>
          </p:cNvPicPr>
          <p:nvPr/>
        </p:nvPicPr>
        <p:blipFill>
          <a:blip r:embed="rId2"/>
          <a:stretch>
            <a:fillRect/>
          </a:stretch>
        </p:blipFill>
        <p:spPr>
          <a:xfrm>
            <a:off x="6492240" y="2121408"/>
            <a:ext cx="4873752" cy="1609344"/>
          </a:xfrm>
          <a:prstGeom prst="rect">
            <a:avLst/>
          </a:prstGeom>
        </p:spPr>
      </p:pic>
      <p:sp>
        <p:nvSpPr>
          <p:cNvPr id="14" name="Shape 10"/>
          <p:cNvSpPr/>
          <p:nvPr/>
        </p:nvSpPr>
        <p:spPr>
          <a:xfrm>
            <a:off x="6492240" y="2121408"/>
            <a:ext cx="4873752" cy="1609344"/>
          </a:xfrm>
          <a:prstGeom prst="rect">
            <a:avLst/>
          </a:prstGeom>
          <a:ln w="12700">
            <a:solidFill>
              <a:srgbClr val="C6D2DA"/>
            </a:solidFill>
            <a:prstDash val="solid"/>
          </a:ln>
        </p:spPr>
        <p:txBody>
          <a:bodyPr/>
          <a:p/>
        </p:txBody>
      </p:sp>
      <p:sp>
        <p:nvSpPr>
          <p:cNvPr id="15" name="Text 11"/>
          <p:cNvSpPr/>
          <p:nvPr/>
        </p:nvSpPr>
        <p:spPr>
          <a:xfrm>
            <a:off x="6492240" y="3758184"/>
            <a:ext cx="4846320"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18 m class dipole with central mechanism, shown deployed.</a:t>
            </a:r>
            <a:endParaRPr lang="en-US" sz="950" dirty="0"/>
          </a:p>
        </p:txBody>
      </p:sp>
      <p:sp>
        <p:nvSpPr>
          <p:cNvPr id="16" name="Text 12"/>
          <p:cNvSpPr/>
          <p:nvPr/>
        </p:nvSpPr>
        <p:spPr>
          <a:xfrm>
            <a:off x="6492240" y="4133088"/>
            <a:ext cx="4846320" cy="274320"/>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Flight heritage</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92240" y="4462272"/>
          <a:ext cx="4873752" cy="914400"/>
        </p:xfrm>
        <a:graphic>
          <a:graphicData uri="http://schemas.openxmlformats.org/drawingml/2006/table">
            <a:tbl>
              <a:tblPr/>
              <a:tblGrid>
                <a:gridCol w="1874520"/>
                <a:gridCol w="2999232"/>
              </a:tblGrid>
              <a:tr h="566928">
                <a:tc>
                  <a:txBody>
                    <a:bodyPr/>
                    <a:lstStyle/>
                    <a:p>
                      <a:pPr indent="0" marL="0">
                        <a:buNone/>
                      </a:pPr>
                      <a:r>
                        <a:rPr lang="en-US" sz="950" b="1" dirty="0">
                          <a:solidFill>
                            <a:srgbClr val="10222F"/>
                          </a:solidFill>
                          <a:latin typeface="Garamond" pitchFamily="34" charset="0"/>
                          <a:ea typeface="Garamond" pitchFamily="34" charset="-122"/>
                          <a:cs typeface="Garamond" pitchFamily="34" charset="-120"/>
                        </a:rPr>
                        <a:t>Solar Orbiter RPW (ESA)</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950" dirty="0">
                          <a:solidFill>
                            <a:srgbClr val="1E2A33"/>
                          </a:solidFill>
                          <a:latin typeface="Garamond" pitchFamily="34" charset="0"/>
                          <a:ea typeface="Garamond" pitchFamily="34" charset="-122"/>
                          <a:cs typeface="Garamond" pitchFamily="34" charset="-120"/>
                        </a:rPr>
                        <a:t>Three 6.5 m antennas, DC to 20 MHz</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r h="566928">
                <a:tc>
                  <a:txBody>
                    <a:bodyPr/>
                    <a:lstStyle/>
                    <a:p>
                      <a:pPr indent="0" marL="0">
                        <a:buNone/>
                      </a:pPr>
                      <a:r>
                        <a:rPr lang="en-US" sz="950" b="1" dirty="0">
                          <a:solidFill>
                            <a:srgbClr val="10222F"/>
                          </a:solidFill>
                          <a:latin typeface="Garamond" pitchFamily="34" charset="0"/>
                          <a:ea typeface="Garamond" pitchFamily="34" charset="-122"/>
                          <a:cs typeface="Garamond" pitchFamily="34" charset="-120"/>
                        </a:rPr>
                        <a:t>Europa Clipper REASON</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indent="0" marL="0">
                        <a:buNone/>
                      </a:pPr>
                      <a:r>
                        <a:rPr lang="en-US" sz="950" dirty="0">
                          <a:solidFill>
                            <a:srgbClr val="1E2A33"/>
                          </a:solidFill>
                          <a:latin typeface="Garamond" pitchFamily="34" charset="0"/>
                          <a:ea typeface="Garamond" pitchFamily="34" charset="-122"/>
                          <a:cs typeface="Garamond" pitchFamily="34" charset="-120"/>
                        </a:rPr>
                        <a:t>Two 18 m dipoles; four 2.5 m folded dipoles</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0222F"/>
                          </a:solidFill>
                          <a:latin typeface="Garamond" pitchFamily="34" charset="0"/>
                          <a:ea typeface="Garamond" pitchFamily="34" charset="-122"/>
                          <a:cs typeface="Garamond" pitchFamily="34" charset="-120"/>
                        </a:rPr>
                        <a:t>SunRISE (NASA/JPL)</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indent="0" marL="0">
                        <a:buNone/>
                      </a:pPr>
                      <a:r>
                        <a:rPr lang="en-US" sz="950" dirty="0">
                          <a:solidFill>
                            <a:srgbClr val="1E2A33"/>
                          </a:solidFill>
                          <a:latin typeface="Garamond" pitchFamily="34" charset="0"/>
                          <a:ea typeface="Garamond" pitchFamily="34" charset="-122"/>
                          <a:cs typeface="Garamond" pitchFamily="34" charset="-120"/>
                        </a:rPr>
                        <a:t>28 monopoles for a CubeSat constellation</a:t>
                      </a:r>
                      <a:endParaRPr lang="en-US" sz="950" dirty="0">
                        <a:latin typeface="Garamond" charset="0"/>
                        <a:ea typeface="Garamond" charset="0"/>
                        <a:cs typeface="Garamond" charset="0"/>
                      </a:endParaRPr>
                    </a:p>
                  </a:txBody>
                  <a:tcPr marL="45720" marR="45720" marT="45720" marB="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Sensors, Mechanisms, and Instruments</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9</a:t>
            </a:r>
            <a:endParaRPr lang="en-US" sz="850" dirty="0"/>
          </a:p>
        </p:txBody>
      </p:sp>
      <p:sp>
        <p:nvSpPr>
          <p:cNvPr id="7" name="Text 4"/>
          <p:cNvSpPr/>
          <p:nvPr/>
        </p:nvSpPr>
        <p:spPr>
          <a:xfrm>
            <a:off x="822960" y="1353312"/>
            <a:ext cx="10424160" cy="548640"/>
          </a:xfrm>
          <a:prstGeom prst="rect">
            <a:avLst/>
          </a:prstGeom>
          <a:noFill/>
          <a:ln/>
        </p:spPr>
        <p:txBody>
          <a:bodyPr wrap="square" lIns="0" tIns="0" rIns="0" bIns="0" rtlCol="0" anchor="t"/>
          <a:lstStyle/>
          <a:p>
            <a:pPr indent="0" marL="0">
              <a:buNone/>
            </a:pPr>
            <a:r>
              <a:rPr lang="en-US" sz="1300" dirty="0">
                <a:solidFill>
                  <a:srgbClr val="5C6B76"/>
                </a:solidFill>
                <a:latin typeface="Garamond" pitchFamily="34" charset="0"/>
                <a:ea typeface="Garamond" pitchFamily="34" charset="-122"/>
                <a:cs typeface="Garamond" pitchFamily="34" charset="-120"/>
              </a:rPr>
              <a:t>Beyond booms and antennas, Heliospace delivers the surrounding flight hardware: payload sensors, release and retention mechanisms, instrument structures, and extreme environment thermal protection.</a:t>
            </a:r>
            <a:endParaRPr lang="en-US" sz="1300" dirty="0"/>
          </a:p>
        </p:txBody>
      </p:sp>
      <p:sp>
        <p:nvSpPr>
          <p:cNvPr id="8" name="Shape 5"/>
          <p:cNvSpPr/>
          <p:nvPr/>
        </p:nvSpPr>
        <p:spPr>
          <a:xfrm>
            <a:off x="822960" y="1938528"/>
            <a:ext cx="5175504" cy="2084832"/>
          </a:xfrm>
          <a:prstGeom prst="roundRect">
            <a:avLst>
              <a:gd name="adj" fmla="val 2193"/>
            </a:avLst>
          </a:prstGeom>
          <a:solidFill>
            <a:srgbClr val="F3F7FA"/>
          </a:solidFill>
          <a:ln/>
        </p:spPr>
        <p:txBody>
          <a:bodyPr/>
          <a:p/>
        </p:txBody>
      </p:sp>
      <p:pic>
        <p:nvPicPr>
          <p:cNvPr id="9" name="Image 1" descr="assets/s9_lms.jpg">    </p:cNvPr>
          <p:cNvPicPr>
            <a:picLocks noChangeAspect="1"/>
          </p:cNvPicPr>
          <p:nvPr/>
        </p:nvPicPr>
        <p:blipFill>
          <a:blip r:embed="rId2"/>
          <a:stretch>
            <a:fillRect/>
          </a:stretch>
        </p:blipFill>
        <p:spPr>
          <a:xfrm>
            <a:off x="960120" y="2084832"/>
            <a:ext cx="1792224" cy="1792224"/>
          </a:xfrm>
          <a:prstGeom prst="rect">
            <a:avLst/>
          </a:prstGeom>
        </p:spPr>
      </p:pic>
      <p:sp>
        <p:nvSpPr>
          <p:cNvPr id="10" name="Shape 6"/>
          <p:cNvSpPr/>
          <p:nvPr/>
        </p:nvSpPr>
        <p:spPr>
          <a:xfrm>
            <a:off x="960120" y="2084832"/>
            <a:ext cx="1792224" cy="1792224"/>
          </a:xfrm>
          <a:prstGeom prst="rect">
            <a:avLst/>
          </a:prstGeom>
          <a:ln w="12700">
            <a:solidFill>
              <a:srgbClr val="C6D2DA"/>
            </a:solidFill>
            <a:prstDash val="solid"/>
          </a:ln>
        </p:spPr>
        <p:txBody>
          <a:bodyPr/>
          <a:p/>
        </p:txBody>
      </p:sp>
      <p:sp>
        <p:nvSpPr>
          <p:cNvPr id="11" name="Text 7"/>
          <p:cNvSpPr/>
          <p:nvPr/>
        </p:nvSpPr>
        <p:spPr>
          <a:xfrm>
            <a:off x="2907792" y="2084832"/>
            <a:ext cx="2971800" cy="292608"/>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Lunar and suborbital payloads</a:t>
            </a:r>
            <a:endParaRPr lang="en-US" sz="1350" dirty="0"/>
          </a:p>
        </p:txBody>
      </p:sp>
      <p:sp>
        <p:nvSpPr>
          <p:cNvPr id="12" name="Text 8"/>
          <p:cNvSpPr/>
          <p:nvPr/>
        </p:nvSpPr>
        <p:spPr>
          <a:xfrm>
            <a:off x="2907792" y="2414016"/>
            <a:ext cx="2971800" cy="1508760"/>
          </a:xfrm>
          <a:prstGeom prst="rect">
            <a:avLst/>
          </a:prstGeom>
          <a:noFill/>
          <a:ln/>
        </p:spPr>
        <p:txBody>
          <a:bodyPr wrap="square" lIns="0" tIns="0" rIns="0" bIns="0" rtlCol="0" anchor="t"/>
          <a:lstStyle/>
          <a:p>
            <a:pPr indent="0" marL="0">
              <a:lnSpc>
                <a:spcPct val="103000"/>
              </a:lnSpc>
              <a:buNone/>
            </a:pPr>
            <a:r>
              <a:rPr lang="en-US" sz="1050" dirty="0">
                <a:solidFill>
                  <a:srgbClr val="1E2A33"/>
                </a:solidFill>
                <a:latin typeface="Garamond" pitchFamily="34" charset="0"/>
                <a:ea typeface="Garamond" pitchFamily="34" charset="-122"/>
                <a:cs typeface="Garamond" pitchFamily="34" charset="-120"/>
              </a:rPr>
              <a:t>Electric field sensor packages and launch mortars for the LMS instrument, ROLSES lunar antennas, and 7 m quad boom packages for the SEED sounding rocket program.</a:t>
            </a:r>
            <a:endParaRPr lang="en-US" sz="1050" dirty="0"/>
          </a:p>
        </p:txBody>
      </p:sp>
      <p:sp>
        <p:nvSpPr>
          <p:cNvPr id="13" name="Shape 9"/>
          <p:cNvSpPr/>
          <p:nvPr/>
        </p:nvSpPr>
        <p:spPr>
          <a:xfrm>
            <a:off x="6190488" y="1938528"/>
            <a:ext cx="5175504" cy="2084832"/>
          </a:xfrm>
          <a:prstGeom prst="roundRect">
            <a:avLst>
              <a:gd name="adj" fmla="val 2193"/>
            </a:avLst>
          </a:prstGeom>
          <a:solidFill>
            <a:srgbClr val="F3F7FA"/>
          </a:solidFill>
          <a:ln/>
        </p:spPr>
        <p:txBody>
          <a:bodyPr/>
          <a:p/>
        </p:txBody>
      </p:sp>
      <p:pic>
        <p:nvPicPr>
          <p:cNvPr id="14" name="Image 2" descr="assets/s9_msr.jpg">    </p:cNvPr>
          <p:cNvPicPr>
            <a:picLocks noChangeAspect="1"/>
          </p:cNvPicPr>
          <p:nvPr/>
        </p:nvPicPr>
        <p:blipFill>
          <a:blip r:embed="rId3"/>
          <a:stretch>
            <a:fillRect/>
          </a:stretch>
        </p:blipFill>
        <p:spPr>
          <a:xfrm>
            <a:off x="6327648" y="2084832"/>
            <a:ext cx="1792224" cy="1792224"/>
          </a:xfrm>
          <a:prstGeom prst="rect">
            <a:avLst/>
          </a:prstGeom>
        </p:spPr>
      </p:pic>
      <p:sp>
        <p:nvSpPr>
          <p:cNvPr id="15" name="Shape 10"/>
          <p:cNvSpPr/>
          <p:nvPr/>
        </p:nvSpPr>
        <p:spPr>
          <a:xfrm>
            <a:off x="6327648" y="2084832"/>
            <a:ext cx="1792224" cy="1792224"/>
          </a:xfrm>
          <a:prstGeom prst="rect">
            <a:avLst/>
          </a:prstGeom>
          <a:ln w="12700">
            <a:solidFill>
              <a:srgbClr val="C6D2DA"/>
            </a:solidFill>
            <a:prstDash val="solid"/>
          </a:ln>
        </p:spPr>
        <p:txBody>
          <a:bodyPr/>
          <a:p/>
        </p:txBody>
      </p:sp>
      <p:sp>
        <p:nvSpPr>
          <p:cNvPr id="16" name="Text 11"/>
          <p:cNvSpPr/>
          <p:nvPr/>
        </p:nvSpPr>
        <p:spPr>
          <a:xfrm>
            <a:off x="8275320" y="2084832"/>
            <a:ext cx="2971800" cy="292608"/>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Release mechanisms</a:t>
            </a:r>
            <a:endParaRPr lang="en-US" sz="1350" dirty="0"/>
          </a:p>
        </p:txBody>
      </p:sp>
      <p:sp>
        <p:nvSpPr>
          <p:cNvPr id="17" name="Text 12"/>
          <p:cNvSpPr/>
          <p:nvPr/>
        </p:nvSpPr>
        <p:spPr>
          <a:xfrm>
            <a:off x="8275320" y="2414016"/>
            <a:ext cx="2971800" cy="1508760"/>
          </a:xfrm>
          <a:prstGeom prst="rect">
            <a:avLst/>
          </a:prstGeom>
          <a:noFill/>
          <a:ln/>
        </p:spPr>
        <p:txBody>
          <a:bodyPr wrap="square" lIns="0" tIns="0" rIns="0" bIns="0" rtlCol="0" anchor="t"/>
          <a:lstStyle/>
          <a:p>
            <a:pPr indent="0" marL="0">
              <a:lnSpc>
                <a:spcPct val="103000"/>
              </a:lnSpc>
              <a:buNone/>
            </a:pPr>
            <a:r>
              <a:rPr lang="en-US" sz="1050" dirty="0">
                <a:solidFill>
                  <a:srgbClr val="1E2A33"/>
                </a:solidFill>
                <a:latin typeface="Garamond" pitchFamily="34" charset="0"/>
                <a:ea typeface="Garamond" pitchFamily="34" charset="-122"/>
                <a:cs typeface="Garamond" pitchFamily="34" charset="-120"/>
              </a:rPr>
              <a:t>Precision retention, release, and handling mechanisms developed for Mars Sample Return concepts, alongside the proprietary SABER melt wire release.</a:t>
            </a:r>
            <a:endParaRPr lang="en-US" sz="1050" dirty="0"/>
          </a:p>
        </p:txBody>
      </p:sp>
      <p:sp>
        <p:nvSpPr>
          <p:cNvPr id="18" name="Shape 13"/>
          <p:cNvSpPr/>
          <p:nvPr/>
        </p:nvSpPr>
        <p:spPr>
          <a:xfrm>
            <a:off x="822960" y="4151376"/>
            <a:ext cx="5175504" cy="2084832"/>
          </a:xfrm>
          <a:prstGeom prst="roundRect">
            <a:avLst>
              <a:gd name="adj" fmla="val 2193"/>
            </a:avLst>
          </a:prstGeom>
          <a:solidFill>
            <a:srgbClr val="F3F7FA"/>
          </a:solidFill>
          <a:ln/>
        </p:spPr>
        <p:txBody>
          <a:bodyPr/>
          <a:p/>
        </p:txBody>
      </p:sp>
      <p:pic>
        <p:nvPicPr>
          <p:cNvPr id="19" name="Image 3" descr="assets/s9_gaps.jpg">    </p:cNvPr>
          <p:cNvPicPr>
            <a:picLocks noChangeAspect="1"/>
          </p:cNvPicPr>
          <p:nvPr/>
        </p:nvPicPr>
        <p:blipFill>
          <a:blip r:embed="rId4"/>
          <a:stretch>
            <a:fillRect/>
          </a:stretch>
        </p:blipFill>
        <p:spPr>
          <a:xfrm>
            <a:off x="960120" y="4297680"/>
            <a:ext cx="1792224" cy="1792224"/>
          </a:xfrm>
          <a:prstGeom prst="rect">
            <a:avLst/>
          </a:prstGeom>
        </p:spPr>
      </p:pic>
      <p:sp>
        <p:nvSpPr>
          <p:cNvPr id="20" name="Shape 14"/>
          <p:cNvSpPr/>
          <p:nvPr/>
        </p:nvSpPr>
        <p:spPr>
          <a:xfrm>
            <a:off x="960120" y="4297680"/>
            <a:ext cx="1792224" cy="1792224"/>
          </a:xfrm>
          <a:prstGeom prst="rect">
            <a:avLst/>
          </a:prstGeom>
          <a:ln w="12700">
            <a:solidFill>
              <a:srgbClr val="C6D2DA"/>
            </a:solidFill>
            <a:prstDash val="solid"/>
          </a:ln>
        </p:spPr>
        <p:txBody>
          <a:bodyPr/>
          <a:p/>
        </p:txBody>
      </p:sp>
      <p:sp>
        <p:nvSpPr>
          <p:cNvPr id="21" name="Text 15"/>
          <p:cNvSpPr/>
          <p:nvPr/>
        </p:nvSpPr>
        <p:spPr>
          <a:xfrm>
            <a:off x="2907792" y="4297680"/>
            <a:ext cx="2971800" cy="292608"/>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Instruments and structures</a:t>
            </a:r>
            <a:endParaRPr lang="en-US" sz="1350" dirty="0"/>
          </a:p>
        </p:txBody>
      </p:sp>
      <p:sp>
        <p:nvSpPr>
          <p:cNvPr id="22" name="Text 16"/>
          <p:cNvSpPr/>
          <p:nvPr/>
        </p:nvSpPr>
        <p:spPr>
          <a:xfrm>
            <a:off x="2907792" y="4626864"/>
            <a:ext cx="2971800" cy="1508760"/>
          </a:xfrm>
          <a:prstGeom prst="rect">
            <a:avLst/>
          </a:prstGeom>
          <a:noFill/>
          <a:ln/>
        </p:spPr>
        <p:txBody>
          <a:bodyPr wrap="square" lIns="0" tIns="0" rIns="0" bIns="0" rtlCol="0" anchor="t"/>
          <a:lstStyle/>
          <a:p>
            <a:pPr indent="0" marL="0">
              <a:lnSpc>
                <a:spcPct val="103000"/>
              </a:lnSpc>
              <a:buNone/>
            </a:pPr>
            <a:r>
              <a:rPr lang="en-US" sz="1050" dirty="0">
                <a:solidFill>
                  <a:srgbClr val="1E2A33"/>
                </a:solidFill>
                <a:latin typeface="Garamond" pitchFamily="34" charset="0"/>
                <a:ea typeface="Garamond" pitchFamily="34" charset="-122"/>
                <a:cs typeface="Garamond" pitchFamily="34" charset="-120"/>
              </a:rPr>
              <a:t>COSI gamma ray instrument cryostat and shield, the GAPS antimatter detector gondola, and UVEX ultraviolet telescope structure concepts.</a:t>
            </a:r>
            <a:endParaRPr lang="en-US" sz="1050" dirty="0"/>
          </a:p>
        </p:txBody>
      </p:sp>
      <p:sp>
        <p:nvSpPr>
          <p:cNvPr id="23" name="Shape 17"/>
          <p:cNvSpPr/>
          <p:nvPr/>
        </p:nvSpPr>
        <p:spPr>
          <a:xfrm>
            <a:off x="6190488" y="4151376"/>
            <a:ext cx="5175504" cy="2084832"/>
          </a:xfrm>
          <a:prstGeom prst="roundRect">
            <a:avLst>
              <a:gd name="adj" fmla="val 2193"/>
            </a:avLst>
          </a:prstGeom>
          <a:solidFill>
            <a:srgbClr val="F3F7FA"/>
          </a:solidFill>
          <a:ln/>
        </p:spPr>
        <p:txBody>
          <a:bodyPr/>
          <a:p/>
        </p:txBody>
      </p:sp>
      <p:pic>
        <p:nvPicPr>
          <p:cNvPr id="24" name="Image 4" descr="assets/s9_solo.jpg">    </p:cNvPr>
          <p:cNvPicPr>
            <a:picLocks noChangeAspect="1"/>
          </p:cNvPicPr>
          <p:nvPr/>
        </p:nvPicPr>
        <p:blipFill>
          <a:blip r:embed="rId5"/>
          <a:stretch>
            <a:fillRect/>
          </a:stretch>
        </p:blipFill>
        <p:spPr>
          <a:xfrm>
            <a:off x="6327648" y="4297680"/>
            <a:ext cx="1792224" cy="1792224"/>
          </a:xfrm>
          <a:prstGeom prst="rect">
            <a:avLst/>
          </a:prstGeom>
        </p:spPr>
      </p:pic>
      <p:sp>
        <p:nvSpPr>
          <p:cNvPr id="25" name="Shape 18"/>
          <p:cNvSpPr/>
          <p:nvPr/>
        </p:nvSpPr>
        <p:spPr>
          <a:xfrm>
            <a:off x="6327648" y="4297680"/>
            <a:ext cx="1792224" cy="1792224"/>
          </a:xfrm>
          <a:prstGeom prst="rect">
            <a:avLst/>
          </a:prstGeom>
          <a:ln w="12700">
            <a:solidFill>
              <a:srgbClr val="C6D2DA"/>
            </a:solidFill>
            <a:prstDash val="solid"/>
          </a:ln>
        </p:spPr>
        <p:txBody>
          <a:bodyPr/>
          <a:p/>
        </p:txBody>
      </p:sp>
      <p:sp>
        <p:nvSpPr>
          <p:cNvPr id="26" name="Text 19"/>
          <p:cNvSpPr/>
          <p:nvPr/>
        </p:nvSpPr>
        <p:spPr>
          <a:xfrm>
            <a:off x="8275320" y="4297680"/>
            <a:ext cx="2971800" cy="292608"/>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Extreme environments</a:t>
            </a:r>
            <a:endParaRPr lang="en-US" sz="1350" dirty="0"/>
          </a:p>
        </p:txBody>
      </p:sp>
      <p:sp>
        <p:nvSpPr>
          <p:cNvPr id="27" name="Text 20"/>
          <p:cNvSpPr/>
          <p:nvPr/>
        </p:nvSpPr>
        <p:spPr>
          <a:xfrm>
            <a:off x="8275320" y="4626864"/>
            <a:ext cx="2971800" cy="1508760"/>
          </a:xfrm>
          <a:prstGeom prst="rect">
            <a:avLst/>
          </a:prstGeom>
          <a:noFill/>
          <a:ln/>
        </p:spPr>
        <p:txBody>
          <a:bodyPr wrap="square" lIns="0" tIns="0" rIns="0" bIns="0" rtlCol="0" anchor="t"/>
          <a:lstStyle/>
          <a:p>
            <a:pPr indent="0" marL="0">
              <a:lnSpc>
                <a:spcPct val="103000"/>
              </a:lnSpc>
              <a:buNone/>
            </a:pPr>
            <a:r>
              <a:rPr lang="en-US" sz="1050" dirty="0">
                <a:solidFill>
                  <a:srgbClr val="1E2A33"/>
                </a:solidFill>
                <a:latin typeface="Garamond" pitchFamily="34" charset="0"/>
                <a:ea typeface="Garamond" pitchFamily="34" charset="-122"/>
                <a:cs typeface="Garamond" pitchFamily="34" charset="-120"/>
              </a:rPr>
              <a:t>All niobium multilayer insulation and thermal design protecting Solar Orbiter antennas that reach nearly 500 C in a 15 sun environment.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FACILITIES AND LOCATION</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Purpose Built Production in Berkeley</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10</a:t>
            </a:r>
            <a:endParaRPr lang="en-US" sz="850" dirty="0"/>
          </a:p>
        </p:txBody>
      </p:sp>
      <p:pic>
        <p:nvPicPr>
          <p:cNvPr id="7" name="Image 1" descr="assets/s8_bldg.jpg">    </p:cNvPr>
          <p:cNvPicPr>
            <a:picLocks noChangeAspect="1"/>
          </p:cNvPicPr>
          <p:nvPr/>
        </p:nvPicPr>
        <p:blipFill>
          <a:blip r:embed="rId2"/>
          <a:stretch>
            <a:fillRect/>
          </a:stretch>
        </p:blipFill>
        <p:spPr>
          <a:xfrm>
            <a:off x="822960" y="1417320"/>
            <a:ext cx="6583680" cy="2880360"/>
          </a:xfrm>
          <a:prstGeom prst="rect">
            <a:avLst/>
          </a:prstGeom>
        </p:spPr>
      </p:pic>
      <p:sp>
        <p:nvSpPr>
          <p:cNvPr id="8" name="Shape 4"/>
          <p:cNvSpPr/>
          <p:nvPr/>
        </p:nvSpPr>
        <p:spPr>
          <a:xfrm>
            <a:off x="822960" y="1417320"/>
            <a:ext cx="6583680" cy="2880360"/>
          </a:xfrm>
          <a:prstGeom prst="rect">
            <a:avLst/>
          </a:prstGeom>
          <a:ln w="12700">
            <a:solidFill>
              <a:srgbClr val="C6D2DA"/>
            </a:solidFill>
            <a:prstDash val="solid"/>
          </a:ln>
        </p:spPr>
        <p:txBody>
          <a:bodyPr/>
          <a:p/>
        </p:txBody>
      </p:sp>
      <p:pic>
        <p:nvPicPr>
          <p:cNvPr id="9" name="Image 2" descr="assets/s8_bay.jpg">    </p:cNvPr>
          <p:cNvPicPr>
            <a:picLocks noChangeAspect="1"/>
          </p:cNvPicPr>
          <p:nvPr/>
        </p:nvPicPr>
        <p:blipFill>
          <a:blip r:embed="rId3"/>
          <a:stretch>
            <a:fillRect/>
          </a:stretch>
        </p:blipFill>
        <p:spPr>
          <a:xfrm>
            <a:off x="822960" y="4480560"/>
            <a:ext cx="2130552" cy="1691640"/>
          </a:xfrm>
          <a:prstGeom prst="rect">
            <a:avLst/>
          </a:prstGeom>
        </p:spPr>
      </p:pic>
      <p:sp>
        <p:nvSpPr>
          <p:cNvPr id="10" name="Shape 5"/>
          <p:cNvSpPr/>
          <p:nvPr/>
        </p:nvSpPr>
        <p:spPr>
          <a:xfrm>
            <a:off x="822960" y="4480560"/>
            <a:ext cx="2130552" cy="1691640"/>
          </a:xfrm>
          <a:prstGeom prst="rect">
            <a:avLst/>
          </a:prstGeom>
          <a:ln w="12700">
            <a:solidFill>
              <a:srgbClr val="C6D2DA"/>
            </a:solidFill>
            <a:prstDash val="solid"/>
          </a:ln>
        </p:spPr>
        <p:txBody>
          <a:bodyPr/>
          <a:p/>
        </p:txBody>
      </p:sp>
      <p:sp>
        <p:nvSpPr>
          <p:cNvPr id="11" name="Text 6"/>
          <p:cNvSpPr/>
          <p:nvPr/>
        </p:nvSpPr>
        <p:spPr>
          <a:xfrm>
            <a:off x="822960" y="6199632"/>
            <a:ext cx="2130552"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High bay assembly</a:t>
            </a:r>
            <a:endParaRPr lang="en-US" sz="950" dirty="0"/>
          </a:p>
        </p:txBody>
      </p:sp>
      <p:pic>
        <p:nvPicPr>
          <p:cNvPr id="12" name="Image 3" descr="assets/s8_tvac.jpg">    </p:cNvPr>
          <p:cNvPicPr>
            <a:picLocks noChangeAspect="1"/>
          </p:cNvPicPr>
          <p:nvPr/>
        </p:nvPicPr>
        <p:blipFill>
          <a:blip r:embed="rId4"/>
          <a:stretch>
            <a:fillRect/>
          </a:stretch>
        </p:blipFill>
        <p:spPr>
          <a:xfrm>
            <a:off x="3054096" y="4480560"/>
            <a:ext cx="2130552" cy="1691640"/>
          </a:xfrm>
          <a:prstGeom prst="rect">
            <a:avLst/>
          </a:prstGeom>
        </p:spPr>
      </p:pic>
      <p:sp>
        <p:nvSpPr>
          <p:cNvPr id="13" name="Shape 7"/>
          <p:cNvSpPr/>
          <p:nvPr/>
        </p:nvSpPr>
        <p:spPr>
          <a:xfrm>
            <a:off x="3054096" y="4480560"/>
            <a:ext cx="2130552" cy="1691640"/>
          </a:xfrm>
          <a:prstGeom prst="rect">
            <a:avLst/>
          </a:prstGeom>
          <a:ln w="12700">
            <a:solidFill>
              <a:srgbClr val="C6D2DA"/>
            </a:solidFill>
            <a:prstDash val="solid"/>
          </a:ln>
        </p:spPr>
        <p:txBody>
          <a:bodyPr/>
          <a:p/>
        </p:txBody>
      </p:sp>
      <p:sp>
        <p:nvSpPr>
          <p:cNvPr id="14" name="Text 8"/>
          <p:cNvSpPr/>
          <p:nvPr/>
        </p:nvSpPr>
        <p:spPr>
          <a:xfrm>
            <a:off x="3054096" y="6199632"/>
            <a:ext cx="2130552"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Thermal vacuum</a:t>
            </a:r>
            <a:endParaRPr lang="en-US" sz="950" dirty="0"/>
          </a:p>
        </p:txBody>
      </p:sp>
      <p:pic>
        <p:nvPicPr>
          <p:cNvPr id="15" name="Image 4" descr="assets/s8_clean.jpg">    </p:cNvPr>
          <p:cNvPicPr>
            <a:picLocks noChangeAspect="1"/>
          </p:cNvPicPr>
          <p:nvPr/>
        </p:nvPicPr>
        <p:blipFill>
          <a:blip r:embed="rId5"/>
          <a:stretch>
            <a:fillRect/>
          </a:stretch>
        </p:blipFill>
        <p:spPr>
          <a:xfrm>
            <a:off x="5285232" y="4480560"/>
            <a:ext cx="2130552" cy="1691640"/>
          </a:xfrm>
          <a:prstGeom prst="rect">
            <a:avLst/>
          </a:prstGeom>
        </p:spPr>
      </p:pic>
      <p:sp>
        <p:nvSpPr>
          <p:cNvPr id="16" name="Shape 9"/>
          <p:cNvSpPr/>
          <p:nvPr/>
        </p:nvSpPr>
        <p:spPr>
          <a:xfrm>
            <a:off x="5285232" y="4480560"/>
            <a:ext cx="2130552" cy="1691640"/>
          </a:xfrm>
          <a:prstGeom prst="rect">
            <a:avLst/>
          </a:prstGeom>
          <a:ln w="12700">
            <a:solidFill>
              <a:srgbClr val="C6D2DA"/>
            </a:solidFill>
            <a:prstDash val="solid"/>
          </a:ln>
        </p:spPr>
        <p:txBody>
          <a:bodyPr/>
          <a:p/>
        </p:txBody>
      </p:sp>
      <p:sp>
        <p:nvSpPr>
          <p:cNvPr id="17" name="Text 10"/>
          <p:cNvSpPr/>
          <p:nvPr/>
        </p:nvSpPr>
        <p:spPr>
          <a:xfrm>
            <a:off x="5285232" y="6199632"/>
            <a:ext cx="2130552"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Cleanroom</a:t>
            </a:r>
            <a:endParaRPr lang="en-US" sz="950" dirty="0"/>
          </a:p>
        </p:txBody>
      </p:sp>
      <p:sp>
        <p:nvSpPr>
          <p:cNvPr id="18" name="Text 11"/>
          <p:cNvSpPr/>
          <p:nvPr/>
        </p:nvSpPr>
        <p:spPr>
          <a:xfrm>
            <a:off x="7726680" y="1371600"/>
            <a:ext cx="3657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20,000 square feet</a:t>
            </a:r>
            <a:endParaRPr lang="en-US" sz="2200" dirty="0"/>
          </a:p>
        </p:txBody>
      </p:sp>
      <p:sp>
        <p:nvSpPr>
          <p:cNvPr id="19" name="Text 12"/>
          <p:cNvSpPr/>
          <p:nvPr/>
        </p:nvSpPr>
        <p:spPr>
          <a:xfrm>
            <a:off x="7726680" y="1773936"/>
            <a:ext cx="3639312" cy="566928"/>
          </a:xfrm>
          <a:prstGeom prst="rect">
            <a:avLst/>
          </a:prstGeom>
          <a:noFill/>
          <a:ln/>
        </p:spPr>
        <p:txBody>
          <a:bodyPr wrap="square" lIns="0" tIns="0" rIns="0" bIns="0" rtlCol="0" anchor="t"/>
          <a:lstStyle/>
          <a:p>
            <a:pPr indent="0" marL="0">
              <a:buNone/>
            </a:pPr>
            <a:r>
              <a:rPr lang="en-US" sz="1050" dirty="0">
                <a:solidFill>
                  <a:srgbClr val="5C6B76"/>
                </a:solidFill>
                <a:latin typeface="Garamond" pitchFamily="34" charset="0"/>
                <a:ea typeface="Garamond" pitchFamily="34" charset="-122"/>
                <a:cs typeface="Garamond" pitchFamily="34" charset="-120"/>
              </a:rPr>
              <a:t>of production capacity: high bay assembly and test, cleanroom, thermal vacuum chamber, and machine shop.</a:t>
            </a:r>
            <a:endParaRPr lang="en-US" sz="1050" dirty="0"/>
          </a:p>
        </p:txBody>
      </p:sp>
      <p:pic>
        <p:nvPicPr>
          <p:cNvPr id="20" name="Image 5" descr="assets/s8_map.jpg">    </p:cNvPr>
          <p:cNvPicPr>
            <a:picLocks noChangeAspect="1"/>
          </p:cNvPicPr>
          <p:nvPr/>
        </p:nvPicPr>
        <p:blipFill>
          <a:blip r:embed="rId6"/>
          <a:stretch>
            <a:fillRect/>
          </a:stretch>
        </p:blipFill>
        <p:spPr>
          <a:xfrm>
            <a:off x="7726680" y="2450592"/>
            <a:ext cx="3639312" cy="2331720"/>
          </a:xfrm>
          <a:prstGeom prst="rect">
            <a:avLst/>
          </a:prstGeom>
        </p:spPr>
      </p:pic>
      <p:sp>
        <p:nvSpPr>
          <p:cNvPr id="21" name="Shape 13"/>
          <p:cNvSpPr/>
          <p:nvPr/>
        </p:nvSpPr>
        <p:spPr>
          <a:xfrm>
            <a:off x="7726680" y="2450592"/>
            <a:ext cx="3639312" cy="2331720"/>
          </a:xfrm>
          <a:prstGeom prst="rect">
            <a:avLst/>
          </a:prstGeom>
          <a:ln w="12700">
            <a:solidFill>
              <a:srgbClr val="C6D2DA"/>
            </a:solidFill>
            <a:prstDash val="solid"/>
          </a:ln>
        </p:spPr>
        <p:txBody>
          <a:bodyPr/>
          <a:p/>
        </p:txBody>
      </p:sp>
      <p:sp>
        <p:nvSpPr>
          <p:cNvPr id="22" name="Shape 14"/>
          <p:cNvSpPr/>
          <p:nvPr/>
        </p:nvSpPr>
        <p:spPr>
          <a:xfrm>
            <a:off x="7726680" y="4937760"/>
            <a:ext cx="3639312" cy="1298448"/>
          </a:xfrm>
          <a:prstGeom prst="roundRect">
            <a:avLst>
              <a:gd name="adj" fmla="val 3521"/>
            </a:avLst>
          </a:prstGeom>
          <a:solidFill>
            <a:srgbClr val="F3F7FA"/>
          </a:solidFill>
          <a:ln/>
        </p:spPr>
        <p:txBody>
          <a:bodyPr/>
          <a:p/>
        </p:txBody>
      </p:sp>
      <p:sp>
        <p:nvSpPr>
          <p:cNvPr id="23" name="Text 15"/>
          <p:cNvSpPr/>
          <p:nvPr/>
        </p:nvSpPr>
        <p:spPr>
          <a:xfrm>
            <a:off x="7882128" y="5056632"/>
            <a:ext cx="3364992" cy="1097280"/>
          </a:xfrm>
          <a:prstGeom prst="rect">
            <a:avLst/>
          </a:prstGeom>
          <a:noFill/>
          <a:ln/>
        </p:spPr>
        <p:txBody>
          <a:bodyPr wrap="square" lIns="0" tIns="0" rIns="0" bIns="0" rtlCol="0" anchor="t"/>
          <a:lstStyle/>
          <a:p>
            <a:pPr indent="0" marL="0">
              <a:spcAft>
                <a:spcPts val="200"/>
              </a:spcAft>
              <a:buNone/>
            </a:pPr>
            <a:r>
              <a:rPr lang="en-US" sz="1100" b="1" dirty="0">
                <a:solidFill>
                  <a:srgbClr val="1E2A33"/>
                </a:solidFill>
                <a:latin typeface="Garamond" pitchFamily="34" charset="0"/>
                <a:ea typeface="Garamond" pitchFamily="34" charset="-122"/>
                <a:cs typeface="Garamond" pitchFamily="34" charset="-120"/>
              </a:rPr>
              <a:t>Heliospace Corporation</a:t>
            </a:r>
            <a:endParaRPr lang="en-US" sz="1100" dirty="0"/>
          </a:p>
          <a:p>
            <a:pPr indent="0" marL="0">
              <a:spcAft>
                <a:spcPts val="200"/>
              </a:spcAft>
              <a:buNone/>
            </a:pPr>
            <a:r>
              <a:rPr lang="en-US" sz="1100" dirty="0">
                <a:solidFill>
                  <a:srgbClr val="1E2A33"/>
                </a:solidFill>
                <a:latin typeface="Garamond" pitchFamily="34" charset="0"/>
                <a:ea typeface="Garamond" pitchFamily="34" charset="-122"/>
                <a:cs typeface="Garamond" pitchFamily="34" charset="-120"/>
              </a:rPr>
              <a:t>2448 Sixth Street, Berkeley, CA 94710</a:t>
            </a:r>
            <a:endParaRPr lang="en-US" sz="1100" dirty="0"/>
          </a:p>
          <a:p>
            <a:pPr indent="0" marL="0">
              <a:spcAft>
                <a:spcPts val="200"/>
              </a:spcAft>
              <a:buNone/>
            </a:pPr>
            <a:endParaRPr lang="en-US" sz="1100" dirty="0"/>
          </a:p>
          <a:p>
            <a:pPr indent="0" marL="0">
              <a:spcAft>
                <a:spcPts val="200"/>
              </a:spcAft>
              <a:buNone/>
            </a:pPr>
            <a:r>
              <a:rPr lang="en-US" sz="950" dirty="0">
                <a:solidFill>
                  <a:srgbClr val="5C6B76"/>
                </a:solidFill>
                <a:latin typeface="Garamond" pitchFamily="34" charset="0"/>
                <a:ea typeface="Garamond" pitchFamily="34" charset="-122"/>
                <a:cs typeface="Garamond" pitchFamily="34" charset="-120"/>
              </a:rPr>
              <a:t>San Francisco Bay Area: near NASA Ames, UC Berkeley, and the West Coast supply base.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MARKET OPPORTUNITY</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A Structurally Expanding Market</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11</a:t>
            </a:r>
            <a:endParaRPr lang="en-US" sz="850" dirty="0"/>
          </a:p>
        </p:txBody>
      </p:sp>
      <p:sp>
        <p:nvSpPr>
          <p:cNvPr id="7" name="Text 4"/>
          <p:cNvSpPr/>
          <p:nvPr/>
        </p:nvSpPr>
        <p:spPr>
          <a:xfrm>
            <a:off x="822960" y="1463040"/>
            <a:ext cx="5852160" cy="274320"/>
          </a:xfrm>
          <a:prstGeom prst="rect">
            <a:avLst/>
          </a:prstGeom>
          <a:noFill/>
          <a:ln/>
        </p:spPr>
        <p:txBody>
          <a:bodyPr wrap="square" lIns="0" tIns="0" rIns="0" bIns="0" rtlCol="0" anchor="ctr"/>
          <a:lstStyle/>
          <a:p>
            <a:pPr indent="0" marL="0">
              <a:buNone/>
            </a:pPr>
            <a:r>
              <a:rPr lang="en-US" sz="1300" b="1" dirty="0">
                <a:solidFill>
                  <a:srgbClr val="10222F"/>
                </a:solidFill>
                <a:latin typeface="Garamond" pitchFamily="34" charset="0"/>
                <a:ea typeface="Garamond" pitchFamily="34" charset="-122"/>
                <a:cs typeface="Garamond" pitchFamily="34" charset="-120"/>
              </a:rPr>
              <a:t>Global electric energy market, USD trillions</a:t>
            </a:r>
            <a:endParaRPr lang="en-US" sz="1300" dirty="0"/>
          </a:p>
        </p:txBody>
      </p:sp>
      <p:graphicFrame>
        <p:nvGraphicFramePr>
          <p:cNvPr id="8" name="Chart 0" descr=""/>
          <p:cNvGraphicFramePr/>
          <p:nvPr/>
        </p:nvGraphicFramePr>
        <p:xfrm>
          <a:off x="822960" y="1828800"/>
          <a:ext cx="5852160" cy="39776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822960" y="5943600"/>
            <a:ext cx="5852160" cy="274320"/>
          </a:xfrm>
          <a:prstGeom prst="rect">
            <a:avLst/>
          </a:prstGeom>
          <a:noFill/>
          <a:ln/>
        </p:spPr>
        <p:txBody>
          <a:bodyPr wrap="square" lIns="0" tIns="0" rIns="0" bIns="0" rtlCol="0" anchor="ctr"/>
          <a:lstStyle/>
          <a:p>
            <a:pPr indent="0" marL="0">
              <a:buNone/>
            </a:pPr>
            <a:r>
              <a:rPr lang="en-US" sz="900" i="1" dirty="0">
                <a:solidFill>
                  <a:srgbClr val="5C6B76"/>
                </a:solidFill>
                <a:latin typeface="Garamond" pitchFamily="34" charset="0"/>
                <a:ea typeface="Garamond" pitchFamily="34" charset="-122"/>
                <a:cs typeface="Garamond" pitchFamily="34" charset="-120"/>
              </a:rPr>
              <a:t>Source: Helio Corporation Investor Presentation, 2026.</a:t>
            </a:r>
            <a:endParaRPr lang="en-US" sz="900" dirty="0"/>
          </a:p>
        </p:txBody>
      </p:sp>
      <p:sp>
        <p:nvSpPr>
          <p:cNvPr id="10" name="Text 5"/>
          <p:cNvSpPr/>
          <p:nvPr/>
        </p:nvSpPr>
        <p:spPr>
          <a:xfrm>
            <a:off x="7178040" y="1773936"/>
            <a:ext cx="4160520" cy="219456"/>
          </a:xfrm>
          <a:prstGeom prst="rect">
            <a:avLst/>
          </a:prstGeom>
          <a:noFill/>
          <a:ln/>
        </p:spPr>
        <p:txBody>
          <a:bodyPr wrap="square" lIns="0" tIns="0" rIns="0" bIns="0" rtlCol="0" anchor="ctr"/>
          <a:lstStyle/>
          <a:p>
            <a:pPr indent="0" marL="0">
              <a:buNone/>
            </a:pPr>
            <a:r>
              <a:rPr lang="en-US" sz="900" i="1" dirty="0">
                <a:solidFill>
                  <a:srgbClr val="5C6B76"/>
                </a:solidFill>
                <a:latin typeface="Garamond" pitchFamily="34" charset="0"/>
                <a:ea typeface="Garamond" pitchFamily="34" charset="-122"/>
                <a:cs typeface="Garamond" pitchFamily="34" charset="-120"/>
              </a:rPr>
              <a:t>Average projected market size per year, 2025 to 2030</a:t>
            </a:r>
            <a:endParaRPr lang="en-US" sz="900" dirty="0"/>
          </a:p>
        </p:txBody>
      </p:sp>
      <p:sp>
        <p:nvSpPr>
          <p:cNvPr id="11" name="Text 11"/>
          <p:cNvSpPr/>
          <p:nvPr/>
        </p:nvSpPr>
        <p:spPr>
          <a:xfrm>
            <a:off x="7178040" y="2148840"/>
            <a:ext cx="1371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$2.8T</a:t>
            </a:r>
            <a:endParaRPr lang="en-US" sz="2200" dirty="0"/>
          </a:p>
        </p:txBody>
      </p:sp>
      <p:sp>
        <p:nvSpPr>
          <p:cNvPr id="12" name="Text 5"/>
          <p:cNvSpPr/>
          <p:nvPr/>
        </p:nvSpPr>
        <p:spPr>
          <a:xfrm>
            <a:off x="8641080" y="2203704"/>
            <a:ext cx="2724912" cy="54864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Space based power generation</a:t>
            </a:r>
            <a:endParaRPr lang="en-US" sz="1150" dirty="0"/>
          </a:p>
        </p:txBody>
      </p:sp>
      <p:sp>
        <p:nvSpPr>
          <p:cNvPr id="13" name="Text 11"/>
          <p:cNvSpPr/>
          <p:nvPr/>
        </p:nvSpPr>
        <p:spPr>
          <a:xfrm>
            <a:off x="7178040" y="2807208"/>
            <a:ext cx="1371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$5.2B</a:t>
            </a:r>
            <a:endParaRPr lang="en-US" sz="2200" dirty="0"/>
          </a:p>
        </p:txBody>
      </p:sp>
      <p:sp>
        <p:nvSpPr>
          <p:cNvPr id="14" name="Text 5"/>
          <p:cNvSpPr/>
          <p:nvPr/>
        </p:nvSpPr>
        <p:spPr>
          <a:xfrm>
            <a:off x="8641080" y="2862072"/>
            <a:ext cx="2724912" cy="54864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Space domain awareness</a:t>
            </a:r>
            <a:endParaRPr lang="en-US" sz="1150" dirty="0"/>
          </a:p>
        </p:txBody>
      </p:sp>
      <p:sp>
        <p:nvSpPr>
          <p:cNvPr id="15" name="Text 11"/>
          <p:cNvSpPr/>
          <p:nvPr/>
        </p:nvSpPr>
        <p:spPr>
          <a:xfrm>
            <a:off x="7178040" y="3465576"/>
            <a:ext cx="1371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$2.3B</a:t>
            </a:r>
            <a:endParaRPr lang="en-US" sz="2200" dirty="0"/>
          </a:p>
        </p:txBody>
      </p:sp>
      <p:sp>
        <p:nvSpPr>
          <p:cNvPr id="16" name="Text 5"/>
          <p:cNvSpPr/>
          <p:nvPr/>
        </p:nvSpPr>
        <p:spPr>
          <a:xfrm>
            <a:off x="8641080" y="3520440"/>
            <a:ext cx="2724912" cy="54864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Science and technology</a:t>
            </a:r>
            <a:endParaRPr lang="en-US" sz="1150" dirty="0"/>
          </a:p>
        </p:txBody>
      </p:sp>
      <p:sp>
        <p:nvSpPr>
          <p:cNvPr id="17" name="Text 11"/>
          <p:cNvSpPr/>
          <p:nvPr/>
        </p:nvSpPr>
        <p:spPr>
          <a:xfrm>
            <a:off x="7178040" y="4123944"/>
            <a:ext cx="1371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$1.5B</a:t>
            </a:r>
            <a:endParaRPr lang="en-US" sz="2200" dirty="0"/>
          </a:p>
        </p:txBody>
      </p:sp>
      <p:sp>
        <p:nvSpPr>
          <p:cNvPr id="18" name="Text 5"/>
          <p:cNvSpPr/>
          <p:nvPr/>
        </p:nvSpPr>
        <p:spPr>
          <a:xfrm>
            <a:off x="8641080" y="4178808"/>
            <a:ext cx="2724912" cy="54864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In orbit services</a:t>
            </a:r>
            <a:endParaRPr lang="en-US" sz="1150" dirty="0"/>
          </a:p>
        </p:txBody>
      </p:sp>
      <p:sp>
        <p:nvSpPr>
          <p:cNvPr id="19" name="Text 11"/>
          <p:cNvSpPr/>
          <p:nvPr/>
        </p:nvSpPr>
        <p:spPr>
          <a:xfrm>
            <a:off x="7178040" y="4782312"/>
            <a:ext cx="1371600" cy="384048"/>
          </a:xfrm>
          <a:prstGeom prst="rect">
            <a:avLst/>
          </a:prstGeom>
          <a:noFill/>
          <a:ln/>
        </p:spPr>
        <p:txBody>
          <a:bodyPr wrap="square" lIns="0" tIns="0" rIns="0" bIns="0" rtlCol="0" anchor="ctr"/>
          <a:lstStyle/>
          <a:p>
            <a:pPr indent="0" marL="0">
              <a:buNone/>
            </a:pPr>
            <a:r>
              <a:rPr lang="en-US" sz="2200" b="1" dirty="0">
                <a:solidFill>
                  <a:srgbClr val="007BCB"/>
                </a:solidFill>
                <a:latin typeface="Garamond" pitchFamily="34" charset="0"/>
                <a:ea typeface="Garamond" pitchFamily="34" charset="-122"/>
                <a:cs typeface="Garamond" pitchFamily="34" charset="-120"/>
              </a:rPr>
              <a:t>$750M</a:t>
            </a:r>
            <a:endParaRPr lang="en-US" sz="2200" dirty="0"/>
          </a:p>
        </p:txBody>
      </p:sp>
      <p:sp>
        <p:nvSpPr>
          <p:cNvPr id="20" name="Text 5"/>
          <p:cNvSpPr/>
          <p:nvPr/>
        </p:nvSpPr>
        <p:spPr>
          <a:xfrm>
            <a:off x="8641080" y="4837176"/>
            <a:ext cx="2724912" cy="54864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Earth observation</a:t>
            </a:r>
            <a:endParaRPr lang="en-US" sz="1150" dirty="0"/>
          </a:p>
        </p:txBody>
      </p:sp>
      <p:sp>
        <p:nvSpPr>
          <p:cNvPr id="21" name="Text 5"/>
          <p:cNvSpPr/>
          <p:nvPr/>
        </p:nvSpPr>
        <p:spPr>
          <a:xfrm>
            <a:off x="7178040" y="5504688"/>
            <a:ext cx="4160520" cy="27432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The space industry is projected to be in the trillions by 2040.</a:t>
            </a:r>
            <a:endParaRPr lang="en-US" sz="1150" dirty="0"/>
          </a:p>
        </p:txBody>
      </p:sp>
      <p:sp>
        <p:nvSpPr>
          <p:cNvPr id="22" name="Text 5"/>
          <p:cNvSpPr/>
          <p:nvPr/>
        </p:nvSpPr>
        <p:spPr>
          <a:xfrm>
            <a:off x="7178040" y="5870448"/>
            <a:ext cx="4160520" cy="457200"/>
          </a:xfrm>
          <a:prstGeom prst="rect">
            <a:avLst/>
          </a:prstGeom>
          <a:noFill/>
          <a:ln/>
        </p:spPr>
        <p:txBody>
          <a:bodyPr wrap="square" lIns="0" tIns="0" rIns="0" bIns="0" rtlCol="0" anchor="ctr"/>
          <a:lstStyle/>
          <a:p>
            <a:pPr indent="0" marL="0">
              <a:buNone/>
            </a:pPr>
            <a:r>
              <a:rPr lang="en-US" sz="900" i="1" dirty="0">
                <a:solidFill>
                  <a:srgbClr val="5C6B76"/>
                </a:solidFill>
                <a:latin typeface="Garamond" pitchFamily="34" charset="0"/>
                <a:ea typeface="Garamond" pitchFamily="34" charset="-122"/>
                <a:cs typeface="Garamond" pitchFamily="34" charset="-120"/>
              </a:rPr>
              <a:t>Sources: Analysys Mason, Northern Sky Research Q4 2022, and Enerdata (segment averages); Morgan Stanley and Citi forecasts, 2021 to 2022; Helio Corporation Investor Presentation,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COMPETITIVE POSITION</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Why Customers Choose Heliospace</a:t>
            </a:r>
            <a:endParaRPr lang="en-US" sz="2900" dirty="0"/>
          </a:p>
        </p:txBody>
      </p:sp>
      <p:pic>
        <p:nvPicPr>
          <p:cNvPr id="4" name="Image 0" descr="assets/logo_dark.jpg">    </p:cNvPr>
          <p:cNvPicPr>
            <a:picLocks noChangeAspect="1"/>
          </p:cNvPicPr>
          <p:nvPr/>
        </p:nvPicPr>
        <p:blipFill>
          <a:blip r:embed="rId1"/>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12</a:t>
            </a:r>
            <a:endParaRPr lang="en-US" sz="850" dirty="0"/>
          </a:p>
        </p:txBody>
      </p:sp>
      <p:sp>
        <p:nvSpPr>
          <p:cNvPr id="30" name="Shape 4"/>
          <p:cNvSpPr/>
          <p:nvPr/>
        </p:nvSpPr>
        <p:spPr>
          <a:xfrm>
            <a:off x="822960" y="1444752"/>
            <a:ext cx="347472" cy="347472"/>
          </a:xfrm>
          <a:prstGeom prst="ellipse">
            <a:avLst/>
          </a:prstGeom>
          <a:solidFill>
            <a:srgbClr val="007BCB"/>
          </a:solidFill>
          <a:ln/>
        </p:spPr>
        <p:txBody>
          <a:bodyPr/>
          <a:p/>
        </p:txBody>
      </p:sp>
      <p:sp>
        <p:nvSpPr>
          <p:cNvPr id="31" name="Text 5"/>
          <p:cNvSpPr/>
          <p:nvPr/>
        </p:nvSpPr>
        <p:spPr>
          <a:xfrm>
            <a:off x="822960"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1</a:t>
            </a:r>
            <a:endParaRPr lang="en-US" sz="1400" dirty="0"/>
          </a:p>
        </p:txBody>
      </p:sp>
      <p:sp>
        <p:nvSpPr>
          <p:cNvPr id="32" name="Text 6"/>
          <p:cNvSpPr/>
          <p:nvPr/>
        </p:nvSpPr>
        <p:spPr>
          <a:xfrm>
            <a:off x="1325880" y="1417320"/>
            <a:ext cx="4617720" cy="274320"/>
          </a:xfrm>
          <a:prstGeom prst="rect">
            <a:avLst/>
          </a:prstGeom>
          <a:noFill/>
          <a:ln/>
        </p:spPr>
        <p:txBody>
          <a:bodyPr wrap="square" lIns="0" tIns="0" rIns="0" bIns="0" rtlCol="0" anchor="ctr"/>
          <a:lstStyle/>
          <a:p>
            <a:pPr indent="0" marL="0">
              <a:buNone/>
            </a:pPr>
            <a:r>
              <a:rPr lang="en-US" sz="1450" b="1" dirty="0">
                <a:solidFill>
                  <a:srgbClr val="10222F"/>
                </a:solidFill>
                <a:latin typeface="Garamond" pitchFamily="34" charset="0"/>
                <a:ea typeface="Garamond" pitchFamily="34" charset="-122"/>
                <a:cs typeface="Garamond" pitchFamily="34" charset="-120"/>
              </a:rPr>
              <a:t>Proven space heritage</a:t>
            </a:r>
            <a:endParaRPr lang="en-US" sz="1450" dirty="0"/>
          </a:p>
        </p:txBody>
      </p:sp>
      <p:sp>
        <p:nvSpPr>
          <p:cNvPr id="33" name="Text 7"/>
          <p:cNvSpPr/>
          <p:nvPr/>
        </p:nvSpPr>
        <p:spPr>
          <a:xfrm>
            <a:off x="1325880" y="1700784"/>
            <a:ext cx="4617720" cy="1280160"/>
          </a:xfrm>
          <a:prstGeom prst="rect">
            <a:avLst/>
          </a:prstGeom>
          <a:noFill/>
          <a:ln/>
        </p:spPr>
        <p:txBody>
          <a:bodyPr wrap="square" lIns="0" tIns="0" rIns="0" bIns="0" rtlCol="0" anchor="t"/>
          <a:lstStyle/>
          <a:p>
            <a:pPr indent="0" marL="0">
              <a:lnSpc>
                <a:spcPct val="103000"/>
              </a:lnSpc>
              <a:buNone/>
            </a:pPr>
            <a:r>
              <a:rPr lang="en-US" sz="1100" dirty="0">
                <a:solidFill>
                  <a:srgbClr val="1E2A33"/>
                </a:solidFill>
                <a:latin typeface="Garamond" pitchFamily="34" charset="0"/>
                <a:ea typeface="Garamond" pitchFamily="34" charset="-122"/>
                <a:cs typeface="Garamond" pitchFamily="34" charset="-120"/>
              </a:rPr>
              <a:t>Helio has supported more than 40 space flight missions and built and deployed more than 125 instruments and systems, giving customers confidence that its hardware can survive demanding space environments. Its technology has been used on major missions, including NASA's Europa Clipper and support activities related to the James Webb Space Telescope.</a:t>
            </a:r>
            <a:endParaRPr lang="en-US" sz="1100" dirty="0"/>
          </a:p>
        </p:txBody>
      </p:sp>
      <p:sp>
        <p:nvSpPr>
          <p:cNvPr id="34" name="Shape 4"/>
          <p:cNvSpPr/>
          <p:nvPr/>
        </p:nvSpPr>
        <p:spPr>
          <a:xfrm>
            <a:off x="822960" y="3154680"/>
            <a:ext cx="347472" cy="347472"/>
          </a:xfrm>
          <a:prstGeom prst="ellipse">
            <a:avLst/>
          </a:prstGeom>
          <a:solidFill>
            <a:srgbClr val="007BCB"/>
          </a:solidFill>
          <a:ln/>
        </p:spPr>
        <p:txBody>
          <a:bodyPr/>
          <a:p/>
        </p:txBody>
      </p:sp>
      <p:sp>
        <p:nvSpPr>
          <p:cNvPr id="35" name="Text 5"/>
          <p:cNvSpPr/>
          <p:nvPr/>
        </p:nvSpPr>
        <p:spPr>
          <a:xfrm>
            <a:off x="822960" y="31546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2</a:t>
            </a:r>
            <a:endParaRPr lang="en-US" sz="1400" dirty="0"/>
          </a:p>
        </p:txBody>
      </p:sp>
      <p:sp>
        <p:nvSpPr>
          <p:cNvPr id="36" name="Text 6"/>
          <p:cNvSpPr/>
          <p:nvPr/>
        </p:nvSpPr>
        <p:spPr>
          <a:xfrm>
            <a:off x="1325880" y="3127248"/>
            <a:ext cx="4617720" cy="274320"/>
          </a:xfrm>
          <a:prstGeom prst="rect">
            <a:avLst/>
          </a:prstGeom>
          <a:noFill/>
          <a:ln/>
        </p:spPr>
        <p:txBody>
          <a:bodyPr wrap="square" lIns="0" tIns="0" rIns="0" bIns="0" rtlCol="0" anchor="ctr"/>
          <a:lstStyle/>
          <a:p>
            <a:pPr indent="0" marL="0">
              <a:buNone/>
            </a:pPr>
            <a:r>
              <a:rPr lang="en-US" sz="1450" b="1" dirty="0">
                <a:solidFill>
                  <a:srgbClr val="10222F"/>
                </a:solidFill>
                <a:latin typeface="Garamond" pitchFamily="34" charset="0"/>
                <a:ea typeface="Garamond" pitchFamily="34" charset="-122"/>
                <a:cs typeface="Garamond" pitchFamily="34" charset="-120"/>
              </a:rPr>
              <a:t>Specialized engineering expertise</a:t>
            </a:r>
            <a:endParaRPr lang="en-US" sz="1450" dirty="0"/>
          </a:p>
        </p:txBody>
      </p:sp>
      <p:sp>
        <p:nvSpPr>
          <p:cNvPr id="37" name="Text 7"/>
          <p:cNvSpPr/>
          <p:nvPr/>
        </p:nvSpPr>
        <p:spPr>
          <a:xfrm>
            <a:off x="1325880" y="3410712"/>
            <a:ext cx="4617720" cy="1280160"/>
          </a:xfrm>
          <a:prstGeom prst="rect">
            <a:avLst/>
          </a:prstGeom>
          <a:noFill/>
          <a:ln/>
        </p:spPr>
        <p:txBody>
          <a:bodyPr wrap="square" lIns="0" tIns="0" rIns="0" bIns="0" rtlCol="0" anchor="t"/>
          <a:lstStyle/>
          <a:p>
            <a:pPr indent="0" marL="0">
              <a:lnSpc>
                <a:spcPct val="103000"/>
              </a:lnSpc>
              <a:buNone/>
            </a:pPr>
            <a:r>
              <a:rPr lang="en-US" sz="1100" dirty="0">
                <a:solidFill>
                  <a:srgbClr val="1E2A33"/>
                </a:solidFill>
                <a:latin typeface="Garamond" pitchFamily="34" charset="0"/>
                <a:ea typeface="Garamond" pitchFamily="34" charset="-122"/>
                <a:cs typeface="Garamond" pitchFamily="34" charset="-120"/>
              </a:rPr>
              <a:t>Space missions often require custom solutions rather than off the shelf products. Helio focuses on deployable antennas, sensors, large deployable structures, spacecraft mechanisms, and systems engineering and design. Customers choose Helio because these components must work reliably in extreme conditions where repair is impossible.</a:t>
            </a:r>
            <a:endParaRPr lang="en-US" sz="1100" dirty="0"/>
          </a:p>
        </p:txBody>
      </p:sp>
      <p:sp>
        <p:nvSpPr>
          <p:cNvPr id="38" name="Shape 4"/>
          <p:cNvSpPr/>
          <p:nvPr/>
        </p:nvSpPr>
        <p:spPr>
          <a:xfrm>
            <a:off x="822960" y="4864608"/>
            <a:ext cx="347472" cy="347472"/>
          </a:xfrm>
          <a:prstGeom prst="ellipse">
            <a:avLst/>
          </a:prstGeom>
          <a:solidFill>
            <a:srgbClr val="007BCB"/>
          </a:solidFill>
          <a:ln/>
        </p:spPr>
        <p:txBody>
          <a:bodyPr/>
          <a:p/>
        </p:txBody>
      </p:sp>
      <p:sp>
        <p:nvSpPr>
          <p:cNvPr id="39" name="Text 5"/>
          <p:cNvSpPr/>
          <p:nvPr/>
        </p:nvSpPr>
        <p:spPr>
          <a:xfrm>
            <a:off x="822960" y="486460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3</a:t>
            </a:r>
            <a:endParaRPr lang="en-US" sz="1400" dirty="0"/>
          </a:p>
        </p:txBody>
      </p:sp>
      <p:sp>
        <p:nvSpPr>
          <p:cNvPr id="40" name="Text 6"/>
          <p:cNvSpPr/>
          <p:nvPr/>
        </p:nvSpPr>
        <p:spPr>
          <a:xfrm>
            <a:off x="1325880" y="4837176"/>
            <a:ext cx="4617720" cy="274320"/>
          </a:xfrm>
          <a:prstGeom prst="rect">
            <a:avLst/>
          </a:prstGeom>
          <a:noFill/>
          <a:ln/>
        </p:spPr>
        <p:txBody>
          <a:bodyPr wrap="square" lIns="0" tIns="0" rIns="0" bIns="0" rtlCol="0" anchor="ctr"/>
          <a:lstStyle/>
          <a:p>
            <a:pPr indent="0" marL="0">
              <a:buNone/>
            </a:pPr>
            <a:r>
              <a:rPr lang="en-US" sz="1450" b="1" dirty="0">
                <a:solidFill>
                  <a:srgbClr val="10222F"/>
                </a:solidFill>
                <a:latin typeface="Garamond" pitchFamily="34" charset="0"/>
                <a:ea typeface="Garamond" pitchFamily="34" charset="-122"/>
                <a:cs typeface="Garamond" pitchFamily="34" charset="-120"/>
              </a:rPr>
              <a:t>Lower mission risk</a:t>
            </a:r>
            <a:endParaRPr lang="en-US" sz="1450" dirty="0"/>
          </a:p>
        </p:txBody>
      </p:sp>
      <p:sp>
        <p:nvSpPr>
          <p:cNvPr id="41" name="Text 7"/>
          <p:cNvSpPr/>
          <p:nvPr/>
        </p:nvSpPr>
        <p:spPr>
          <a:xfrm>
            <a:off x="1325880" y="5120640"/>
            <a:ext cx="4617720" cy="1005840"/>
          </a:xfrm>
          <a:prstGeom prst="rect">
            <a:avLst/>
          </a:prstGeom>
          <a:noFill/>
          <a:ln/>
        </p:spPr>
        <p:txBody>
          <a:bodyPr wrap="square" lIns="0" tIns="0" rIns="0" bIns="0" rtlCol="0" anchor="t"/>
          <a:lstStyle/>
          <a:p>
            <a:pPr indent="0" marL="0">
              <a:lnSpc>
                <a:spcPct val="103000"/>
              </a:lnSpc>
              <a:buNone/>
            </a:pPr>
            <a:r>
              <a:rPr lang="en-US" sz="1100" dirty="0">
                <a:solidFill>
                  <a:srgbClr val="1E2A33"/>
                </a:solidFill>
                <a:latin typeface="Garamond" pitchFamily="34" charset="0"/>
                <a:ea typeface="Garamond" pitchFamily="34" charset="-122"/>
                <a:cs typeface="Garamond" pitchFamily="34" charset="-120"/>
              </a:rPr>
              <a:t>Space agencies and aerospace companies value suppliers with previous successful missions because failures in space are extremely expensive. Helio positions itself as a problem solver for difficult space hardware challenges, helping customers reduce technical risk.</a:t>
            </a:r>
            <a:endParaRPr lang="en-US" sz="1100" dirty="0"/>
          </a:p>
        </p:txBody>
      </p:sp>
      <p:sp>
        <p:nvSpPr>
          <p:cNvPr id="42" name="Shape 4"/>
          <p:cNvSpPr/>
          <p:nvPr/>
        </p:nvSpPr>
        <p:spPr>
          <a:xfrm>
            <a:off x="6217920" y="1444752"/>
            <a:ext cx="347472" cy="347472"/>
          </a:xfrm>
          <a:prstGeom prst="ellipse">
            <a:avLst/>
          </a:prstGeom>
          <a:solidFill>
            <a:srgbClr val="007BCB"/>
          </a:solidFill>
          <a:ln/>
        </p:spPr>
        <p:txBody>
          <a:bodyPr/>
          <a:p/>
        </p:txBody>
      </p:sp>
      <p:sp>
        <p:nvSpPr>
          <p:cNvPr id="43" name="Text 5"/>
          <p:cNvSpPr/>
          <p:nvPr/>
        </p:nvSpPr>
        <p:spPr>
          <a:xfrm>
            <a:off x="6217920" y="14447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4</a:t>
            </a:r>
            <a:endParaRPr lang="en-US" sz="1400" dirty="0"/>
          </a:p>
        </p:txBody>
      </p:sp>
      <p:sp>
        <p:nvSpPr>
          <p:cNvPr id="44" name="Text 6"/>
          <p:cNvSpPr/>
          <p:nvPr/>
        </p:nvSpPr>
        <p:spPr>
          <a:xfrm>
            <a:off x="6720840" y="1417320"/>
            <a:ext cx="4617720" cy="274320"/>
          </a:xfrm>
          <a:prstGeom prst="rect">
            <a:avLst/>
          </a:prstGeom>
          <a:noFill/>
          <a:ln/>
        </p:spPr>
        <p:txBody>
          <a:bodyPr wrap="square" lIns="0" tIns="0" rIns="0" bIns="0" rtlCol="0" anchor="ctr"/>
          <a:lstStyle/>
          <a:p>
            <a:pPr indent="0" marL="0">
              <a:buNone/>
            </a:pPr>
            <a:r>
              <a:rPr lang="en-US" sz="1450" b="1" dirty="0">
                <a:solidFill>
                  <a:srgbClr val="10222F"/>
                </a:solidFill>
                <a:latin typeface="Garamond" pitchFamily="34" charset="0"/>
                <a:ea typeface="Garamond" pitchFamily="34" charset="-122"/>
                <a:cs typeface="Garamond" pitchFamily="34" charset="-120"/>
              </a:rPr>
              <a:t>Innovation and future technology</a:t>
            </a:r>
            <a:endParaRPr lang="en-US" sz="1450" dirty="0"/>
          </a:p>
        </p:txBody>
      </p:sp>
      <p:sp>
        <p:nvSpPr>
          <p:cNvPr id="45" name="Text 7"/>
          <p:cNvSpPr/>
          <p:nvPr/>
        </p:nvSpPr>
        <p:spPr>
          <a:xfrm>
            <a:off x="6720840" y="1700784"/>
            <a:ext cx="4617720" cy="1234440"/>
          </a:xfrm>
          <a:prstGeom prst="rect">
            <a:avLst/>
          </a:prstGeom>
          <a:noFill/>
          <a:ln/>
        </p:spPr>
        <p:txBody>
          <a:bodyPr wrap="square" lIns="0" tIns="0" rIns="0" bIns="0" rtlCol="0" anchor="t"/>
          <a:lstStyle/>
          <a:p>
            <a:pPr indent="0" marL="0">
              <a:lnSpc>
                <a:spcPct val="103000"/>
              </a:lnSpc>
              <a:buNone/>
            </a:pPr>
            <a:r>
              <a:rPr lang="en-US" sz="1100" dirty="0">
                <a:solidFill>
                  <a:srgbClr val="1E2A33"/>
                </a:solidFill>
                <a:latin typeface="Garamond" pitchFamily="34" charset="0"/>
                <a:ea typeface="Garamond" pitchFamily="34" charset="-122"/>
                <a:cs typeface="Garamond" pitchFamily="34" charset="-120"/>
              </a:rPr>
              <a:t>Beyond current space hardware, Helio is developing space based solar power systems designed to collect solar energy in orbit and transmit power to Earth. Customers and partners interested in future space infrastructure value Helio's combination of existing engineering capability and long term energy technology goals.</a:t>
            </a:r>
            <a:endParaRPr lang="en-US" sz="1100" dirty="0"/>
          </a:p>
        </p:txBody>
      </p:sp>
      <p:sp>
        <p:nvSpPr>
          <p:cNvPr id="46" name="Shape 4"/>
          <p:cNvSpPr/>
          <p:nvPr/>
        </p:nvSpPr>
        <p:spPr>
          <a:xfrm>
            <a:off x="6217920" y="3099816"/>
            <a:ext cx="347472" cy="347472"/>
          </a:xfrm>
          <a:prstGeom prst="ellipse">
            <a:avLst/>
          </a:prstGeom>
          <a:solidFill>
            <a:srgbClr val="007BCB"/>
          </a:solidFill>
          <a:ln/>
        </p:spPr>
        <p:txBody>
          <a:bodyPr/>
          <a:p/>
        </p:txBody>
      </p:sp>
      <p:sp>
        <p:nvSpPr>
          <p:cNvPr id="47" name="Text 5"/>
          <p:cNvSpPr/>
          <p:nvPr/>
        </p:nvSpPr>
        <p:spPr>
          <a:xfrm>
            <a:off x="6217920" y="309981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Garamond" pitchFamily="34" charset="0"/>
                <a:ea typeface="Garamond" pitchFamily="34" charset="-122"/>
                <a:cs typeface="Garamond" pitchFamily="34" charset="-120"/>
              </a:rPr>
              <a:t>5</a:t>
            </a:r>
            <a:endParaRPr lang="en-US" sz="1400" dirty="0"/>
          </a:p>
        </p:txBody>
      </p:sp>
      <p:sp>
        <p:nvSpPr>
          <p:cNvPr id="48" name="Text 6"/>
          <p:cNvSpPr/>
          <p:nvPr/>
        </p:nvSpPr>
        <p:spPr>
          <a:xfrm>
            <a:off x="6720840" y="3072384"/>
            <a:ext cx="4617720" cy="548640"/>
          </a:xfrm>
          <a:prstGeom prst="rect">
            <a:avLst/>
          </a:prstGeom>
          <a:noFill/>
          <a:ln/>
        </p:spPr>
        <p:txBody>
          <a:bodyPr wrap="square" lIns="0" tIns="0" rIns="0" bIns="0" rtlCol="0" anchor="ctr"/>
          <a:lstStyle/>
          <a:p>
            <a:pPr indent="0" marL="0">
              <a:buNone/>
            </a:pPr>
            <a:r>
              <a:rPr lang="en-US" sz="1450" b="1" dirty="0">
                <a:solidFill>
                  <a:srgbClr val="10222F"/>
                </a:solidFill>
                <a:latin typeface="Garamond" pitchFamily="34" charset="0"/>
                <a:ea typeface="Garamond" pitchFamily="34" charset="-122"/>
                <a:cs typeface="Garamond" pitchFamily="34" charset="-120"/>
              </a:rPr>
              <a:t>Flexible partner for government and commercial customers</a:t>
            </a:r>
            <a:endParaRPr lang="en-US" sz="1450" dirty="0"/>
          </a:p>
        </p:txBody>
      </p:sp>
      <p:sp>
        <p:nvSpPr>
          <p:cNvPr id="49" name="Text 7"/>
          <p:cNvSpPr/>
          <p:nvPr/>
        </p:nvSpPr>
        <p:spPr>
          <a:xfrm>
            <a:off x="6720840" y="3657600"/>
            <a:ext cx="4617720" cy="777240"/>
          </a:xfrm>
          <a:prstGeom prst="rect">
            <a:avLst/>
          </a:prstGeom>
          <a:noFill/>
          <a:ln/>
        </p:spPr>
        <p:txBody>
          <a:bodyPr wrap="square" lIns="0" tIns="0" rIns="0" bIns="0" rtlCol="0" anchor="t"/>
          <a:lstStyle/>
          <a:p>
            <a:pPr indent="0" marL="0">
              <a:lnSpc>
                <a:spcPct val="103000"/>
              </a:lnSpc>
              <a:buNone/>
            </a:pPr>
            <a:r>
              <a:rPr lang="en-US" sz="1100" dirty="0">
                <a:solidFill>
                  <a:srgbClr val="1E2A33"/>
                </a:solidFill>
                <a:latin typeface="Garamond" pitchFamily="34" charset="0"/>
                <a:ea typeface="Garamond" pitchFamily="34" charset="-122"/>
                <a:cs typeface="Garamond" pitchFamily="34" charset="-120"/>
              </a:rPr>
              <a:t>Helio works with government agencies, private aerospace companies, universities, and research organizations, providing customized systems rather than only standardized products.</a:t>
            </a:r>
            <a:endParaRPr lang="en-US" sz="1100" dirty="0"/>
          </a:p>
        </p:txBody>
      </p:sp>
      <p:sp>
        <p:nvSpPr>
          <p:cNvPr id="50" name="Shape 20"/>
          <p:cNvSpPr/>
          <p:nvPr/>
        </p:nvSpPr>
        <p:spPr>
          <a:xfrm>
            <a:off x="6217920" y="4663440"/>
            <a:ext cx="5148072" cy="1325880"/>
          </a:xfrm>
          <a:prstGeom prst="roundRect">
            <a:avLst>
              <a:gd name="adj" fmla="val 3704"/>
            </a:avLst>
          </a:prstGeom>
          <a:solidFill>
            <a:srgbClr val="EDF3F8"/>
          </a:solidFill>
          <a:ln w="9525">
            <a:solidFill>
              <a:srgbClr val="C6D2DA"/>
            </a:solidFill>
            <a:prstDash val="solid"/>
          </a:ln>
        </p:spPr>
        <p:txBody>
          <a:bodyPr/>
          <a:p/>
        </p:txBody>
      </p:sp>
      <p:sp>
        <p:nvSpPr>
          <p:cNvPr id="51" name="Text 21"/>
          <p:cNvSpPr/>
          <p:nvPr/>
        </p:nvSpPr>
        <p:spPr>
          <a:xfrm>
            <a:off x="6400800" y="4791456"/>
            <a:ext cx="4754880" cy="256032"/>
          </a:xfrm>
          <a:prstGeom prst="rect">
            <a:avLst/>
          </a:prstGeom>
          <a:noFill/>
          <a:ln/>
        </p:spPr>
        <p:txBody>
          <a:bodyPr wrap="square" lIns="0" tIns="0" rIns="0" bIns="0" rtlCol="0" anchor="ctr"/>
          <a:lstStyle/>
          <a:p>
            <a:pPr indent="0" marL="0">
              <a:buNone/>
            </a:pPr>
            <a:r>
              <a:rPr lang="en-US" sz="1250" b="1" dirty="0">
                <a:solidFill>
                  <a:srgbClr val="10222F"/>
                </a:solidFill>
                <a:latin typeface="Garamond" pitchFamily="34" charset="0"/>
                <a:ea typeface="Garamond" pitchFamily="34" charset="-122"/>
                <a:cs typeface="Garamond" pitchFamily="34" charset="-120"/>
              </a:rPr>
              <a:t>In summary</a:t>
            </a:r>
            <a:endParaRPr lang="en-US" sz="1250" dirty="0"/>
          </a:p>
        </p:txBody>
      </p:sp>
      <p:sp>
        <p:nvSpPr>
          <p:cNvPr id="52" name="Text 22"/>
          <p:cNvSpPr/>
          <p:nvPr/>
        </p:nvSpPr>
        <p:spPr>
          <a:xfrm>
            <a:off x="6400800" y="5084064"/>
            <a:ext cx="4754880" cy="822960"/>
          </a:xfrm>
          <a:prstGeom prst="rect">
            <a:avLst/>
          </a:prstGeom>
          <a:noFill/>
          <a:ln/>
        </p:spPr>
        <p:txBody>
          <a:bodyPr wrap="square" lIns="0" tIns="0" rIns="0" bIns="0" rtlCol="0" anchor="t"/>
          <a:lstStyle/>
          <a:p>
            <a:pPr indent="0" marL="0">
              <a:lnSpc>
                <a:spcPct val="102000"/>
              </a:lnSpc>
              <a:buNone/>
            </a:pPr>
            <a:r>
              <a:rPr lang="en-US" sz="1050" dirty="0">
                <a:solidFill>
                  <a:srgbClr val="1E2A33"/>
                </a:solidFill>
                <a:latin typeface="Garamond" pitchFamily="34" charset="0"/>
                <a:ea typeface="Garamond" pitchFamily="34" charset="-122"/>
                <a:cs typeface="Garamond" pitchFamily="34" charset="-120"/>
              </a:rPr>
              <a:t>Customers choose Helio because it offers proven space qualified hardware, specialized engineering skills, mission reliability, and a pathway toward next generation space infrastructure.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CLIENT BASE</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Customers Who Validate the Technology</a:t>
            </a:r>
            <a:endParaRPr lang="en-US" sz="2900" dirty="0"/>
          </a:p>
        </p:txBody>
      </p:sp>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13</a:t>
            </a:r>
            <a:endParaRPr lang="en-US" sz="850" dirty="0"/>
          </a:p>
        </p:txBody>
      </p:sp>
      <p:sp>
        <p:nvSpPr>
          <p:cNvPr id="7" name="Text 4"/>
          <p:cNvSpPr/>
          <p:nvPr/>
        </p:nvSpPr>
        <p:spPr>
          <a:xfrm>
            <a:off x="822960" y="1463040"/>
            <a:ext cx="6217920" cy="256032"/>
          </a:xfrm>
          <a:prstGeom prst="rect">
            <a:avLst/>
          </a:prstGeom>
          <a:noFill/>
          <a:ln/>
        </p:spPr>
        <p:txBody>
          <a:bodyPr wrap="square" lIns="0" tIns="0" rIns="0" bIns="0" rtlCol="0" anchor="ctr"/>
          <a:lstStyle/>
          <a:p>
            <a:pPr indent="0" marL="0">
              <a:buNone/>
            </a:pPr>
            <a:r>
              <a:rPr lang="en-US" sz="1350" b="1" dirty="0">
                <a:solidFill>
                  <a:srgbClr val="007BCB"/>
                </a:solidFill>
                <a:latin typeface="Garamond" pitchFamily="34" charset="0"/>
                <a:ea typeface="Garamond" pitchFamily="34" charset="-122"/>
                <a:cs typeface="Garamond" pitchFamily="34" charset="-120"/>
              </a:rPr>
              <a:t>Space agencies and programs</a:t>
            </a:r>
            <a:endParaRPr lang="en-US" sz="1350" dirty="0"/>
          </a:p>
        </p:txBody>
      </p:sp>
      <p:sp>
        <p:nvSpPr>
          <p:cNvPr id="8" name="Text 5"/>
          <p:cNvSpPr/>
          <p:nvPr/>
        </p:nvSpPr>
        <p:spPr>
          <a:xfrm>
            <a:off x="822960" y="1737360"/>
            <a:ext cx="6263640" cy="50292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NASA, NASA JPL, NASA Goddard Space Flight Center, CNES, and the NASA SBIR and STTR America's Seed Fund</a:t>
            </a:r>
            <a:endParaRPr lang="en-US" sz="1150" dirty="0"/>
          </a:p>
        </p:txBody>
      </p:sp>
      <p:sp>
        <p:nvSpPr>
          <p:cNvPr id="9" name="Text 6"/>
          <p:cNvSpPr/>
          <p:nvPr/>
        </p:nvSpPr>
        <p:spPr>
          <a:xfrm>
            <a:off x="822960" y="2359152"/>
            <a:ext cx="6217920" cy="256032"/>
          </a:xfrm>
          <a:prstGeom prst="rect">
            <a:avLst/>
          </a:prstGeom>
          <a:noFill/>
          <a:ln/>
        </p:spPr>
        <p:txBody>
          <a:bodyPr wrap="square" lIns="0" tIns="0" rIns="0" bIns="0" rtlCol="0" anchor="ctr"/>
          <a:lstStyle/>
          <a:p>
            <a:pPr indent="0" marL="0">
              <a:buNone/>
            </a:pPr>
            <a:r>
              <a:rPr lang="en-US" sz="1350" b="1" dirty="0">
                <a:solidFill>
                  <a:srgbClr val="007BCB"/>
                </a:solidFill>
                <a:latin typeface="Garamond" pitchFamily="34" charset="0"/>
                <a:ea typeface="Garamond" pitchFamily="34" charset="-122"/>
                <a:cs typeface="Garamond" pitchFamily="34" charset="-120"/>
              </a:rPr>
              <a:t>Commercial aerospace</a:t>
            </a:r>
            <a:endParaRPr lang="en-US" sz="1350" dirty="0"/>
          </a:p>
        </p:txBody>
      </p:sp>
      <p:sp>
        <p:nvSpPr>
          <p:cNvPr id="10" name="Text 7"/>
          <p:cNvSpPr/>
          <p:nvPr/>
        </p:nvSpPr>
        <p:spPr>
          <a:xfrm>
            <a:off x="822960" y="2633472"/>
            <a:ext cx="6263640" cy="50292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Firefly Aerospace, Intuitive Machines, Honeybee Robotics, Blue Origin, Aerodyne, and ASES</a:t>
            </a:r>
            <a:endParaRPr lang="en-US" sz="1150" dirty="0"/>
          </a:p>
        </p:txBody>
      </p:sp>
      <p:sp>
        <p:nvSpPr>
          <p:cNvPr id="11" name="Text 8"/>
          <p:cNvSpPr/>
          <p:nvPr/>
        </p:nvSpPr>
        <p:spPr>
          <a:xfrm>
            <a:off x="822960" y="3255264"/>
            <a:ext cx="6217920" cy="256032"/>
          </a:xfrm>
          <a:prstGeom prst="rect">
            <a:avLst/>
          </a:prstGeom>
          <a:noFill/>
          <a:ln/>
        </p:spPr>
        <p:txBody>
          <a:bodyPr wrap="square" lIns="0" tIns="0" rIns="0" bIns="0" rtlCol="0" anchor="ctr"/>
          <a:lstStyle/>
          <a:p>
            <a:pPr indent="0" marL="0">
              <a:buNone/>
            </a:pPr>
            <a:r>
              <a:rPr lang="en-US" sz="1350" b="1" dirty="0">
                <a:solidFill>
                  <a:srgbClr val="007BCB"/>
                </a:solidFill>
                <a:latin typeface="Garamond" pitchFamily="34" charset="0"/>
                <a:ea typeface="Garamond" pitchFamily="34" charset="-122"/>
                <a:cs typeface="Garamond" pitchFamily="34" charset="-120"/>
              </a:rPr>
              <a:t>Research institutions and universities</a:t>
            </a:r>
            <a:endParaRPr lang="en-US" sz="1350" dirty="0"/>
          </a:p>
        </p:txBody>
      </p:sp>
      <p:sp>
        <p:nvSpPr>
          <p:cNvPr id="12" name="Text 9"/>
          <p:cNvSpPr/>
          <p:nvPr/>
        </p:nvSpPr>
        <p:spPr>
          <a:xfrm>
            <a:off x="822960" y="3529584"/>
            <a:ext cx="6263640" cy="50292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Southwest Research Institute, UC Berkeley, Columbia University, and Embry-Riddle Aeronautical University</a:t>
            </a:r>
            <a:endParaRPr lang="en-US" sz="1150" dirty="0"/>
          </a:p>
        </p:txBody>
      </p:sp>
      <p:sp>
        <p:nvSpPr>
          <p:cNvPr id="13" name="Text 10"/>
          <p:cNvSpPr/>
          <p:nvPr/>
        </p:nvSpPr>
        <p:spPr>
          <a:xfrm>
            <a:off x="822960" y="4151376"/>
            <a:ext cx="6217920" cy="256032"/>
          </a:xfrm>
          <a:prstGeom prst="rect">
            <a:avLst/>
          </a:prstGeom>
          <a:noFill/>
          <a:ln/>
        </p:spPr>
        <p:txBody>
          <a:bodyPr wrap="square" lIns="0" tIns="0" rIns="0" bIns="0" rtlCol="0" anchor="ctr"/>
          <a:lstStyle/>
          <a:p>
            <a:pPr indent="0" marL="0">
              <a:buNone/>
            </a:pPr>
            <a:r>
              <a:rPr lang="en-US" sz="1350" b="1" dirty="0">
                <a:solidFill>
                  <a:srgbClr val="007BCB"/>
                </a:solidFill>
                <a:latin typeface="Garamond" pitchFamily="34" charset="0"/>
                <a:ea typeface="Garamond" pitchFamily="34" charset="-122"/>
                <a:cs typeface="Garamond" pitchFamily="34" charset="-120"/>
              </a:rPr>
              <a:t>Science and philanthropic initiatives</a:t>
            </a:r>
            <a:endParaRPr lang="en-US" sz="1350" dirty="0"/>
          </a:p>
        </p:txBody>
      </p:sp>
      <p:sp>
        <p:nvSpPr>
          <p:cNvPr id="14" name="Text 11"/>
          <p:cNvSpPr/>
          <p:nvPr/>
        </p:nvSpPr>
        <p:spPr>
          <a:xfrm>
            <a:off x="822960" y="4425696"/>
            <a:ext cx="6263640" cy="50292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Breakthrough Listen and Earth Guard</a:t>
            </a:r>
            <a:endParaRPr lang="en-US" sz="1150" dirty="0"/>
          </a:p>
        </p:txBody>
      </p:sp>
      <p:sp>
        <p:nvSpPr>
          <p:cNvPr id="15" name="Text 12"/>
          <p:cNvSpPr/>
          <p:nvPr/>
        </p:nvSpPr>
        <p:spPr>
          <a:xfrm>
            <a:off x="822960" y="5074920"/>
            <a:ext cx="3657600" cy="274320"/>
          </a:xfrm>
          <a:prstGeom prst="rect">
            <a:avLst/>
          </a:prstGeom>
          <a:noFill/>
          <a:ln/>
        </p:spPr>
        <p:txBody>
          <a:bodyPr wrap="square" lIns="0" tIns="0" rIns="0" bIns="0" rtlCol="0" anchor="ctr"/>
          <a:lstStyle/>
          <a:p>
            <a:pPr indent="0" marL="0">
              <a:buNone/>
            </a:pPr>
            <a:r>
              <a:rPr lang="en-US" sz="1350" b="1" dirty="0">
                <a:solidFill>
                  <a:srgbClr val="10222F"/>
                </a:solidFill>
                <a:latin typeface="Garamond" pitchFamily="34" charset="0"/>
                <a:ea typeface="Garamond" pitchFamily="34" charset="-122"/>
                <a:cs typeface="Garamond" pitchFamily="34" charset="-120"/>
              </a:rPr>
              <a:t>Why they stay</a:t>
            </a:r>
            <a:endParaRPr lang="en-US" sz="1350" dirty="0"/>
          </a:p>
        </p:txBody>
      </p:sp>
      <p:sp>
        <p:nvSpPr>
          <p:cNvPr id="16" name="Text 13"/>
          <p:cNvSpPr/>
          <p:nvPr/>
        </p:nvSpPr>
        <p:spPr>
          <a:xfrm>
            <a:off x="822960" y="5394960"/>
            <a:ext cx="6217920" cy="1005840"/>
          </a:xfrm>
          <a:prstGeom prst="rect">
            <a:avLst/>
          </a:prstGeom>
          <a:noFill/>
          <a:ln/>
        </p:spPr>
        <p:txBody>
          <a:bodyPr wrap="square" lIns="0" tIns="0" rIns="0" bIns="0" rtlCol="0" anchor="t"/>
          <a:lstStyle/>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Supplier of record on marquee missions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On schedule delivery for launch critical payloads</a:t>
            </a:r>
            <a:endParaRPr lang="en-US" sz="1100" dirty="0"/>
          </a:p>
          <a:p>
            <a:pPr algn="l" marL="127000" indent="-127000">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Repeat awards across programs and platforms</a:t>
            </a:r>
            <a:endParaRPr lang="en-US" sz="1100" dirty="0"/>
          </a:p>
        </p:txBody>
      </p:sp>
      <p:sp>
        <p:nvSpPr>
          <p:cNvPr id="19" name="Text 15"/>
          <p:cNvSpPr/>
          <p:nvPr/>
        </p:nvSpPr>
        <p:spPr>
          <a:xfrm>
            <a:off x="7360920" y="4160520"/>
            <a:ext cx="4005072" cy="274320"/>
          </a:xfrm>
          <a:prstGeom prst="rect">
            <a:avLst/>
          </a:prstGeom>
          <a:noFill/>
          <a:ln/>
        </p:spPr>
        <p:txBody>
          <a:bodyPr wrap="square" lIns="0" tIns="0" rIns="0" bIns="0" rtlCol="0" anchor="ctr"/>
          <a:lstStyle/>
          <a:p>
            <a:pPr indent="0" marL="0">
              <a:buNone/>
            </a:pPr>
            <a:r>
              <a:rPr lang="en-US" sz="950" i="1" dirty="0">
                <a:solidFill>
                  <a:srgbClr val="5C6B76"/>
                </a:solidFill>
                <a:latin typeface="Garamond" pitchFamily="34" charset="0"/>
                <a:ea typeface="Garamond" pitchFamily="34" charset="-122"/>
                <a:cs typeface="Garamond" pitchFamily="34" charset="-120"/>
              </a:rPr>
              <a:t>Flight hardware assembly at the Berkeley facility.</a:t>
            </a:r>
            <a:endParaRPr lang="en-US" sz="950" dirty="0"/>
          </a:p>
        </p:txBody>
      </p:sp>
      <p:sp>
        <p:nvSpPr>
          <p:cNvPr id="20" name="Shape 16"/>
          <p:cNvSpPr/>
          <p:nvPr/>
        </p:nvSpPr>
        <p:spPr>
          <a:xfrm>
            <a:off x="7360920" y="4617720"/>
            <a:ext cx="4005072" cy="1554480"/>
          </a:xfrm>
          <a:prstGeom prst="roundRect">
            <a:avLst>
              <a:gd name="adj" fmla="val 2941"/>
            </a:avLst>
          </a:prstGeom>
          <a:solidFill>
            <a:srgbClr val="F3F7FA"/>
          </a:solidFill>
          <a:ln/>
        </p:spPr>
        <p:txBody>
          <a:bodyPr/>
          <a:p/>
        </p:txBody>
      </p:sp>
      <p:sp>
        <p:nvSpPr>
          <p:cNvPr id="21" name="Text 17"/>
          <p:cNvSpPr/>
          <p:nvPr/>
        </p:nvSpPr>
        <p:spPr>
          <a:xfrm>
            <a:off x="7589520" y="4828032"/>
            <a:ext cx="1188720" cy="502920"/>
          </a:xfrm>
          <a:prstGeom prst="rect">
            <a:avLst/>
          </a:prstGeom>
          <a:noFill/>
          <a:ln/>
        </p:spPr>
        <p:txBody>
          <a:bodyPr wrap="square" lIns="0" tIns="0" rIns="0" bIns="0" rtlCol="0" anchor="ctr"/>
          <a:lstStyle/>
          <a:p>
            <a:pPr indent="0" marL="0">
              <a:buNone/>
            </a:pPr>
            <a:r>
              <a:rPr lang="en-US" sz="3000" b="1" dirty="0">
                <a:solidFill>
                  <a:srgbClr val="007BCB"/>
                </a:solidFill>
                <a:latin typeface="Garamond" pitchFamily="34" charset="0"/>
                <a:ea typeface="Garamond" pitchFamily="34" charset="-122"/>
                <a:cs typeface="Garamond" pitchFamily="34" charset="-120"/>
              </a:rPr>
              <a:t>5+</a:t>
            </a:r>
            <a:endParaRPr lang="en-US" sz="3000" dirty="0"/>
          </a:p>
        </p:txBody>
      </p:sp>
      <p:sp>
        <p:nvSpPr>
          <p:cNvPr id="22" name="Text 18"/>
          <p:cNvSpPr/>
          <p:nvPr/>
        </p:nvSpPr>
        <p:spPr>
          <a:xfrm>
            <a:off x="8732520" y="4864608"/>
            <a:ext cx="2514600" cy="1097280"/>
          </a:xfrm>
          <a:prstGeom prst="rect">
            <a:avLst/>
          </a:prstGeom>
          <a:noFill/>
          <a:ln/>
        </p:spPr>
        <p:txBody>
          <a:bodyPr wrap="square" lIns="0" tIns="0" rIns="0" bIns="0" rtlCol="0" anchor="t"/>
          <a:lstStyle/>
          <a:p>
            <a:pPr indent="0" marL="0">
              <a:buNone/>
            </a:pPr>
            <a:r>
              <a:rPr lang="en-US" sz="1150" dirty="0">
                <a:solidFill>
                  <a:srgbClr val="1E2A33"/>
                </a:solidFill>
                <a:latin typeface="Garamond" pitchFamily="34" charset="0"/>
                <a:ea typeface="Garamond" pitchFamily="34" charset="-122"/>
                <a:cs typeface="Garamond" pitchFamily="34" charset="-120"/>
              </a:rPr>
              <a:t>active space missions with Helio hardware, plus two more launching through 2026 and beyond</a:t>
            </a:r>
            <a:endParaRPr lang="en-US" sz="1150" dirty="0"/>
          </a:p>
        </p:txBody>
      </p:sp>
      <p:pic>
        <p:nvPicPr>
          <p:cNvPr id="32" name="Picture 31" descr="image.jpg"/>
          <p:cNvPicPr>
            <a:picLocks noChangeAspect="1"/>
          </p:cNvPicPr>
          <p:nvPr/>
        </p:nvPicPr>
        <p:blipFill>
          <a:blip r:embed="rId2"/>
          <a:stretch>
            <a:fillRect/>
          </a:stretch>
        </p:blipFill>
        <p:spPr>
          <a:xfrm>
            <a:off x="7360920" y="1463040"/>
            <a:ext cx="4005072" cy="2670048"/>
          </a:xfrm>
          <a:prstGeom prst="rect">
            <a:avLst/>
          </a:prstGeom>
        </p:spPr>
      </p:pic>
      <p:pic>
        <p:nvPicPr>
          <p:cNvPr id="33" name="Image 0" descr="assets/logo_dark.jpg">    </p:cNvPr>
          <p:cNvPicPr>
            <a:picLocks noChangeAspect="1"/>
          </p:cNvPicPr>
          <p:nvPr/>
        </p:nvPicPr>
        <p:blipFill>
          <a:blip r:embed="rId15"/>
          <a:stretch>
            <a:fillRect/>
          </a:stretch>
        </p:blipFill>
        <p:spPr>
          <a:xfrm>
            <a:off x="10058400" y="475488"/>
            <a:ext cx="1325880" cy="37490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22960" y="457200"/>
            <a:ext cx="7772400" cy="274320"/>
          </a:xfrm>
          <a:prstGeom prst="rect">
            <a:avLst/>
          </a:prstGeom>
          <a:noFill/>
          <a:ln/>
        </p:spPr>
        <p:txBody>
          <a:bodyPr wrap="square" lIns="0" tIns="0" rIns="0" bIns="0" rtlCol="0" anchor="ctr"/>
          <a:lstStyle/>
          <a:p>
            <a:pPr indent="0" marL="0">
              <a:buNone/>
            </a:pPr>
            <a:r>
              <a:rPr lang="en-US" sz="1100" b="1" spc="300" kern="0" dirty="0">
                <a:solidFill>
                  <a:srgbClr val="007BCB"/>
                </a:solidFill>
                <a:latin typeface="Garamond" pitchFamily="34" charset="0"/>
                <a:ea typeface="Garamond" pitchFamily="34" charset="-122"/>
                <a:cs typeface="Garamond" pitchFamily="34" charset="-120"/>
              </a:rPr>
              <a:t>CLIENT BASE</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indent="0" marL="0">
              <a:buNone/>
            </a:pPr>
            <a:r>
              <a:rPr lang="en-US" sz="2900" b="1" dirty="0">
                <a:solidFill>
                  <a:srgbClr val="10222F"/>
                </a:solidFill>
                <a:latin typeface="Garamond" pitchFamily="34" charset="0"/>
                <a:ea typeface="Garamond" pitchFamily="34" charset="-122"/>
                <a:cs typeface="Garamond" pitchFamily="34" charset="-120"/>
              </a:rPr>
              <a:t>Clients and Partners</a:t>
            </a:r>
            <a:endParaRPr lang="en-US" sz="2900" dirty="0"/>
          </a:p>
        </p:txBody>
      </p:sp>
      <p:pic>
        <p:nvPicPr>
          <p:cNvPr id="4" name="Image 0" descr="assets/logo_dark.jpg">    </p:cNvPr>
          <p:cNvPicPr>
            <a:picLocks noChangeAspect="1"/>
          </p:cNvPicPr>
          <p:nvPr/>
        </p:nvPicPr>
        <p:blipFill>
          <a:blip r:embed="rId2"/>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indent="0" marL="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algn="r" indent="0" marL="0">
              <a:buNone/>
            </a:pPr>
            <a:r>
              <a:rPr lang="en-US" sz="850" dirty="0">
                <a:solidFill>
                  <a:srgbClr val="5C6B76"/>
                </a:solidFill>
                <a:latin typeface="Garamond" pitchFamily="34" charset="0"/>
                <a:ea typeface="Garamond" pitchFamily="34" charset="-122"/>
                <a:cs typeface="Garamond" pitchFamily="34" charset="-120"/>
              </a:rPr>
              <a:t>14</a:t>
            </a:r>
            <a:endParaRPr lang="en-US" sz="850" dirty="0"/>
          </a:p>
        </p:txBody>
      </p:sp>
      <p:pic>
        <p:nvPicPr>
          <p:cNvPr id="7" name="Picture 6" descr="partners_wall.png"/>
          <p:cNvPicPr>
            <a:picLocks noChangeAspect="1"/>
          </p:cNvPicPr>
          <p:nvPr/>
        </p:nvPicPr>
        <p:blipFill>
          <a:blip r:embed="rId3"/>
          <a:stretch>
            <a:fillRect/>
          </a:stretch>
        </p:blipFill>
        <p:spPr>
          <a:xfrm>
            <a:off x="1249527" y="1691640"/>
            <a:ext cx="9692640" cy="45159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close_b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assets/logo_white.png">    </p:cNvPr>
          <p:cNvPicPr>
            <a:picLocks noChangeAspect="1"/>
          </p:cNvPicPr>
          <p:nvPr/>
        </p:nvPicPr>
        <p:blipFill>
          <a:blip r:embed="rId2"/>
          <a:stretch>
            <a:fillRect/>
          </a:stretch>
        </p:blipFill>
        <p:spPr>
          <a:xfrm>
            <a:off x="822960" y="731520"/>
            <a:ext cx="2377440" cy="665683"/>
          </a:xfrm>
          <a:prstGeom prst="rect">
            <a:avLst/>
          </a:prstGeom>
        </p:spPr>
      </p:pic>
      <p:sp>
        <p:nvSpPr>
          <p:cNvPr id="4" name="Text 0"/>
          <p:cNvSpPr/>
          <p:nvPr/>
        </p:nvSpPr>
        <p:spPr>
          <a:xfrm>
            <a:off x="822960" y="2331720"/>
            <a:ext cx="5486400" cy="292608"/>
          </a:xfrm>
          <a:prstGeom prst="rect">
            <a:avLst/>
          </a:prstGeom>
          <a:noFill/>
          <a:ln/>
        </p:spPr>
        <p:txBody>
          <a:bodyPr wrap="square" lIns="0" tIns="0" rIns="0" bIns="0" rtlCol="0" anchor="ctr"/>
          <a:lstStyle/>
          <a:p>
            <a:pPr indent="0" marL="0">
              <a:buNone/>
            </a:pPr>
            <a:r>
              <a:rPr lang="en-US" sz="1200" b="1" spc="350" kern="0" dirty="0">
                <a:solidFill>
                  <a:srgbClr val="6FBCE8"/>
                </a:solidFill>
                <a:latin typeface="Garamond" pitchFamily="34" charset="0"/>
                <a:ea typeface="Garamond" pitchFamily="34" charset="-122"/>
                <a:cs typeface="Garamond" pitchFamily="34" charset="-120"/>
              </a:rPr>
              <a:t>THANK YOU</a:t>
            </a:r>
            <a:endParaRPr lang="en-US" sz="1200" dirty="0"/>
          </a:p>
        </p:txBody>
      </p:sp>
      <p:sp>
        <p:nvSpPr>
          <p:cNvPr id="5" name="Text 1"/>
          <p:cNvSpPr/>
          <p:nvPr/>
        </p:nvSpPr>
        <p:spPr>
          <a:xfrm>
            <a:off x="822960" y="2651760"/>
            <a:ext cx="9144000" cy="685800"/>
          </a:xfrm>
          <a:prstGeom prst="rect">
            <a:avLst/>
          </a:prstGeom>
          <a:noFill/>
          <a:ln/>
        </p:spPr>
        <p:txBody>
          <a:bodyPr wrap="square" lIns="0" tIns="0" rIns="0" bIns="0" rtlCol="0" anchor="ctr"/>
          <a:lstStyle/>
          <a:p>
            <a:pPr indent="0" marL="0">
              <a:buNone/>
            </a:pPr>
            <a:r>
              <a:rPr lang="en-US" sz="3600" b="1" dirty="0">
                <a:solidFill>
                  <a:srgbClr val="FFFFFF"/>
                </a:solidFill>
                <a:latin typeface="Garamond" pitchFamily="34" charset="0"/>
                <a:ea typeface="Garamond" pitchFamily="34" charset="-122"/>
                <a:cs typeface="Garamond" pitchFamily="34" charset="-120"/>
              </a:rPr>
              <a:t>Questions and Discussion</a:t>
            </a:r>
            <a:endParaRPr lang="en-US" sz="3600" dirty="0"/>
          </a:p>
        </p:txBody>
      </p:sp>
      <p:sp>
        <p:nvSpPr>
          <p:cNvPr id="6" name="Shape 2"/>
          <p:cNvSpPr/>
          <p:nvPr/>
        </p:nvSpPr>
        <p:spPr>
          <a:xfrm>
            <a:off x="822960" y="3657600"/>
            <a:ext cx="5577840" cy="1783080"/>
          </a:xfrm>
          <a:prstGeom prst="roundRect">
            <a:avLst>
              <a:gd name="adj" fmla="val 2400"/>
            </a:avLst>
          </a:prstGeom>
          <a:solidFill>
            <a:srgbClr val="0E2233">
              <a:alpha val="82000"/>
            </a:srgbClr>
          </a:solidFill>
          <a:ln w="9525">
            <a:solidFill>
              <a:srgbClr val="3C5A72"/>
            </a:solidFill>
            <a:prstDash val="solid"/>
          </a:ln>
        </p:spPr>
        <p:txBody>
          <a:bodyPr/>
          <a:p/>
        </p:txBody>
      </p:sp>
      <p:sp>
        <p:nvSpPr>
          <p:cNvPr id="7" name="Text 3"/>
          <p:cNvSpPr/>
          <p:nvPr/>
        </p:nvSpPr>
        <p:spPr>
          <a:xfrm>
            <a:off x="1097280" y="3931920"/>
            <a:ext cx="5120640" cy="1371600"/>
          </a:xfrm>
          <a:prstGeom prst="rect">
            <a:avLst/>
          </a:prstGeom>
          <a:noFill/>
          <a:ln/>
        </p:spPr>
        <p:txBody>
          <a:bodyPr wrap="square" lIns="0" tIns="0" rIns="0" bIns="0" rtlCol="0" anchor="t"/>
          <a:lstStyle/>
          <a:p>
            <a:pPr indent="0" marL="0">
              <a:spcAft>
                <a:spcPts val="500"/>
              </a:spcAft>
              <a:buNone/>
            </a:pPr>
            <a:r>
              <a:rPr lang="en-US" sz="2200" b="1" dirty="0">
                <a:solidFill>
                  <a:srgbClr val="FFFFFF"/>
                </a:solidFill>
                <a:latin typeface="Garamond" pitchFamily="34" charset="0"/>
                <a:ea typeface="Garamond" pitchFamily="34" charset="-122"/>
                <a:cs typeface="Garamond" pitchFamily="34" charset="-120"/>
              </a:rPr>
              <a:t>Rocky Chen</a:t>
            </a:r>
            <a:endParaRPr lang="en-US" sz="1700" dirty="0"/>
          </a:p>
          <a:p>
            <a:pPr indent="0" marL="0">
              <a:spcAft>
                <a:spcPts val="500"/>
              </a:spcAft>
              <a:buNone/>
            </a:pPr>
            <a:r>
              <a:rPr lang="en-US" sz="1500" dirty="0">
                <a:solidFill>
                  <a:srgbClr val="AFC7D8"/>
                </a:solidFill>
                <a:latin typeface="Garamond" pitchFamily="34" charset="0"/>
                <a:ea typeface="Garamond" pitchFamily="34" charset="-122"/>
                <a:cs typeface="Garamond" pitchFamily="34" charset="-120"/>
              </a:rPr>
              <a:t>Exclusive Sales Distributor in China</a:t>
            </a:r>
            <a:endParaRPr lang="en-US" sz="1700" dirty="0"/>
          </a:p>
          <a:p>
            <a:pPr indent="0" marL="0">
              <a:spcAft>
                <a:spcPts val="500"/>
              </a:spcAft>
              <a:buNone/>
            </a:pPr>
            <a:r>
              <a:rPr lang="en-US" sz="1500" dirty="0">
                <a:solidFill>
                  <a:srgbClr val="AFC7D8"/>
                </a:solidFill>
                <a:latin typeface="Garamond" pitchFamily="34" charset="0"/>
                <a:ea typeface="Garamond" pitchFamily="34" charset="-122"/>
                <a:cs typeface="Garamond" pitchFamily="34" charset="-120"/>
              </a:rPr>
              <a:t>rocky@helio.space   |   19921169641</a:t>
            </a:r>
            <a:endParaRPr lang="en-US" sz="1700" dirty="0"/>
          </a:p>
        </p:txBody>
      </p:sp>
      <p:sp>
        <p:nvSpPr>
          <p:cNvPr id="8" name="Text 4"/>
          <p:cNvSpPr/>
          <p:nvPr/>
        </p:nvSpPr>
        <p:spPr>
          <a:xfrm>
            <a:off x="9509760" y="6473952"/>
            <a:ext cx="1874520" cy="237744"/>
          </a:xfrm>
          <a:prstGeom prst="rect">
            <a:avLst/>
          </a:prstGeom>
          <a:noFill/>
          <a:ln/>
        </p:spPr>
        <p:txBody>
          <a:bodyPr wrap="square" lIns="0" tIns="0" rIns="0" bIns="0" rtlCol="0" anchor="ctr"/>
          <a:lstStyle/>
          <a:p>
            <a:pPr algn="r" indent="0" marL="0">
              <a:buNone/>
            </a:pPr>
            <a:r>
              <a:rPr lang="en-US" sz="900" dirty="0">
                <a:solidFill>
                  <a:srgbClr val="9DB2C0"/>
                </a:solidFill>
                <a:latin typeface="Garamond" pitchFamily="34" charset="0"/>
                <a:ea typeface="Garamond" pitchFamily="34" charset="-122"/>
                <a:cs typeface="Garamond" pitchFamily="34" charset="-120"/>
              </a:rPr>
              <a:t>Proprietary and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2026-08-07T08:46:16Z</dcterms:created>
  <dcterms:modified xsi:type="dcterms:W3CDTF">2026-08-07T08:46:16Z</dcterms:modified>
</cp:coreProperties>
</file>