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1-1.jpg" ContentType="image/jpg"/>
  <Override PartName="/ppt/media/image-10-1.jpg" ContentType="image/jpg"/>
  <Override PartName="/ppt/media/image-10-2.jpg" ContentType="image/jpg"/>
  <Override PartName="/ppt/media/image-10-3.jpg" ContentType="image/jpg"/>
  <Override PartName="/ppt/media/image-10-4.jpg" ContentType="image/jpg"/>
  <Override PartName="/ppt/media/image-10-5.jpg" ContentType="image/jpg"/>
  <Override PartName="/ppt/media/image-10-6.jpg" ContentType="image/jpg"/>
  <Override PartName="/ppt/media/image-11-1.jpg" ContentType="image/jpg"/>
  <Override PartName="/ppt/media/image-12-1.jpg" ContentType="image/jpg"/>
  <Override PartName="/ppt/media/image-13-1.jpg" ContentType="image/jpg"/>
  <Override PartName="/ppt/media/image-13-2.jpg" ContentType="image/jpg"/>
  <Override PartName="/ppt/media/image-14-1.jpg" ContentType="image/jpg"/>
  <Override PartName="/ppt/media/image-14-2.jpg" ContentType="image/jpg"/>
  <Override PartName="/ppt/media/image-16-1.jpg" ContentType="image/jpg"/>
  <Override PartName="/ppt/media/image-2-1.jpg" ContentType="image/jpg"/>
  <Override PartName="/ppt/media/image-2-2.jpg" ContentType="image/jpg"/>
  <Override PartName="/ppt/media/image-3-1.jpg" ContentType="image/jpg"/>
  <Override PartName="/ppt/media/image-3-2.jpg" ContentType="image/jpg"/>
  <Override PartName="/ppt/media/image-3-3.jpg" ContentType="image/jpg"/>
  <Override PartName="/ppt/media/image-3-4.jpg" ContentType="image/jpg"/>
  <Override PartName="/ppt/media/image-4-1.jpg" ContentType="image/jpg"/>
  <Override PartName="/ppt/media/image-4-2.jpg" ContentType="image/jpg"/>
  <Override PartName="/ppt/media/image-4-3.jpg" ContentType="image/jpg"/>
  <Override PartName="/ppt/media/image-4-4.jpg" ContentType="image/jpg"/>
  <Override PartName="/ppt/media/image-4-5.jpg" ContentType="image/jpg"/>
  <Override PartName="/ppt/media/image-4-6.jpg" ContentType="image/jpg"/>
  <Override PartName="/ppt/media/image-4-7.jpg" ContentType="image/jpg"/>
  <Override PartName="/ppt/media/image-5-1.jpg" ContentType="image/jpg"/>
  <Override PartName="/ppt/media/image-5-2.jpg" ContentType="image/jpg"/>
  <Override PartName="/ppt/media/image-5-3.jpg" ContentType="image/jpg"/>
  <Override PartName="/ppt/media/image-5-4.jpg" ContentType="image/jpg"/>
  <Override PartName="/ppt/media/image-6-1.jpg" ContentType="image/jpg"/>
  <Override PartName="/ppt/media/image-6-2.jpg" ContentType="image/jpg"/>
  <Override PartName="/ppt/media/image-6-3.jpg" ContentType="image/jpg"/>
  <Override PartName="/ppt/media/image-7-1.jpg" ContentType="image/jpg"/>
  <Override PartName="/ppt/media/image-7-2.jpg" ContentType="image/jpg"/>
  <Override PartName="/ppt/media/image-7-3.jpg" ContentType="image/jpg"/>
  <Override PartName="/ppt/media/image-8-1.jpg" ContentType="image/jpg"/>
  <Override PartName="/ppt/media/image-8-2.jpg" ContentType="image/jpg"/>
  <Override PartName="/ppt/media/image-9-1.jpg" ContentType="image/jpg"/>
  <Override PartName="/ppt/media/image-9-2.jpg" ContentType="image/jpg"/>
  <Override PartName="/ppt/media/image-9-3.jpg" ContentType="image/jpg"/>
  <Override PartName="/ppt/media/image-9-4.jpg" ContentType="image/jpg"/>
  <Override PartName="/ppt/media/image-9-5.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Space economy</c:v>
                </c:pt>
              </c:strCache>
            </c:strRef>
          </c:tx>
          <c:spPr>
            <a:solidFill>
              <a:srgbClr val="007BCB"/>
            </a:solidFill>
            <a:effectLst/>
          </c:spPr>
          <c:invertIfNegative val="0"/>
          <c:dLbls>
            <c:numFmt formatCode="&quot;$&quot;#,##0" sourceLinked="0"/>
            <c:txPr>
              <a:bodyPr/>
              <a:lstStyle/>
              <a:p>
                <a:pPr>
                  <a:defRPr b="0" i="0" strike="noStrike" sz="1200" u="none">
                    <a:solidFill>
                      <a:srgbClr val="10222F"/>
                    </a:solidFill>
                    <a:latin typeface="Garamond"/>
                  </a:defRPr>
                </a:pPr>
              </a:p>
            </c:txPr>
            <c:showLegendKey val="0"/>
            <c:showVal val="1"/>
            <c:showCatName val="0"/>
            <c:showSerName val="0"/>
            <c:showPercent val="0"/>
            <c:showBubbleSize val="0"/>
            <c:showLeaderLines val="0"/>
          </c:dLbls>
          <c:cat>
            <c:strRef>
              <c:f>Sheet1!$A$2:$A$3</c:f>
              <c:strCache>
                <c:ptCount val="2"/>
                <c:pt idx="0">
                  <c:v>2023</c:v>
                </c:pt>
                <c:pt idx="1">
                  <c:v>2035E</c:v>
                </c:pt>
              </c:strCache>
            </c:strRef>
          </c:cat>
          <c:val>
            <c:numRef>
              <c:f>Sheet1!$B$2:$B$3</c:f>
              <c:numCache>
                <c:formatCode>General</c:formatCode>
                <c:ptCount val="2"/>
                <c:pt idx="0">
                  <c:v>630</c:v>
                </c:pt>
                <c:pt idx="1">
                  <c:v>1800</c:v>
                </c:pt>
              </c:numCache>
            </c:numRef>
          </c:val>
        </c:ser>
        <c:dLbls>
          <c:numFmt formatCode="#,##0" sourceLinked="0"/>
          <c:txPr>
            <a:bodyPr/>
            <a:lstStyle/>
            <a:p>
              <a:pPr>
                <a:defRPr b="1" i="0" strike="noStrike" sz="1100" u="none">
                  <a:solidFill>
                    <a:srgbClr val="10222F"/>
                  </a:solidFill>
                  <a:latin typeface="Garamond"/>
                </a:defRPr>
              </a:pPr>
            </a:p>
          </c:txPr>
          <c:dLblPos val="outEnd"/>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5C6B76"/>
                </a:solidFill>
                <a:latin typeface="Garamond"/>
              </a:defRPr>
            </a:pPr>
            <a:endParaRPr lang="en-US"/>
          </a:p>
        </c:txPr>
        <c:crossAx val="2094734552"/>
        <c:crosses val="autoZero"/>
        <c:auto val="1"/>
        <c:lblAlgn val="ctr"/>
        <c:noMultiLvlLbl val="1"/>
      </c:catAx>
      <c:valAx>
        <c:axId val="2094734552"/>
        <c:scaling>
          <c:orientation val="minMax"/>
          <c:max val="2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chart" Target="../charts/chart1.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3.png"/><Relationship Id="rId8" Type="http://schemas.openxmlformats.org/officeDocument/2006/relationships/image" Target="../media/image4.png"/><Relationship Id="rId9" Type="http://schemas.openxmlformats.org/officeDocument/2006/relationships/image" Target="../media/image5.png"/><Relationship Id="rId10" Type="http://schemas.openxmlformats.org/officeDocument/2006/relationships/image" Target="../media/image6.png"/><Relationship Id="rId11" Type="http://schemas.openxmlformats.org/officeDocument/2006/relationships/image" Target="../media/image7.png"/><Relationship Id="rId12" Type="http://schemas.openxmlformats.org/officeDocument/2006/relationships/image" Target="../media/image8.png"/><Relationship Id="rId1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assets/title_bg.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assets/logo_white.png">    </p:cNvPr>
          <p:cNvPicPr>
            <a:picLocks noChangeAspect="1"/>
          </p:cNvPicPr>
          <p:nvPr/>
        </p:nvPicPr>
        <p:blipFill>
          <a:blip r:embed="rId2"/>
          <a:stretch>
            <a:fillRect/>
          </a:stretch>
        </p:blipFill>
        <p:spPr>
          <a:xfrm>
            <a:off x="822960" y="685800"/>
            <a:ext cx="2514600" cy="704088"/>
          </a:xfrm>
          <a:prstGeom prst="rect">
            <a:avLst/>
          </a:prstGeom>
        </p:spPr>
      </p:pic>
      <p:sp>
        <p:nvSpPr>
          <p:cNvPr id="4" name="Text 0"/>
          <p:cNvSpPr/>
          <p:nvPr/>
        </p:nvSpPr>
        <p:spPr>
          <a:xfrm>
            <a:off x="822960" y="2606040"/>
            <a:ext cx="5486400" cy="292608"/>
          </a:xfrm>
          <a:prstGeom prst="rect">
            <a:avLst/>
          </a:prstGeom>
          <a:noFill/>
          <a:ln/>
        </p:spPr>
        <p:txBody>
          <a:bodyPr wrap="square" lIns="0" tIns="0" rIns="0" bIns="0" rtlCol="0" anchor="ctr"/>
          <a:lstStyle/>
          <a:p>
            <a:pPr indent="0" marL="0">
              <a:buNone/>
            </a:pPr>
            <a:r>
              <a:rPr lang="en-US" sz="1200" b="1" spc="350" kern="0" dirty="0">
                <a:solidFill>
                  <a:srgbClr val="6FBCE8"/>
                </a:solidFill>
                <a:latin typeface="Garamond" pitchFamily="34" charset="0"/>
                <a:ea typeface="Garamond" pitchFamily="34" charset="-122"/>
                <a:cs typeface="Garamond" pitchFamily="34" charset="-120"/>
              </a:rPr>
              <a:t>COMPANY &amp; PRODUCT PRESENTATION</a:t>
            </a:r>
            <a:endParaRPr lang="en-US" sz="1200" dirty="0"/>
          </a:p>
        </p:txBody>
      </p:sp>
      <p:sp>
        <p:nvSpPr>
          <p:cNvPr id="5" name="Text 1"/>
          <p:cNvSpPr/>
          <p:nvPr/>
        </p:nvSpPr>
        <p:spPr>
          <a:xfrm>
            <a:off x="822960" y="2926080"/>
            <a:ext cx="10241280" cy="868680"/>
          </a:xfrm>
          <a:prstGeom prst="rect">
            <a:avLst/>
          </a:prstGeom>
          <a:noFill/>
          <a:ln/>
        </p:spPr>
        <p:txBody>
          <a:bodyPr wrap="square" lIns="0" tIns="0" rIns="0" bIns="0" rtlCol="0" anchor="ctr"/>
          <a:lstStyle/>
          <a:p>
            <a:pPr indent="0" marL="0">
              <a:buNone/>
            </a:pPr>
            <a:r>
              <a:rPr lang="en-US" sz="4600" b="1" dirty="0">
                <a:solidFill>
                  <a:srgbClr val="FFFFFF"/>
                </a:solidFill>
                <a:latin typeface="Garamond" pitchFamily="34" charset="0"/>
                <a:ea typeface="Garamond" pitchFamily="34" charset="-122"/>
                <a:cs typeface="Garamond" pitchFamily="34" charset="-120"/>
              </a:rPr>
              <a:t>Heliospace Corporation</a:t>
            </a:r>
            <a:endParaRPr lang="en-US" sz="4600" dirty="0"/>
          </a:p>
        </p:txBody>
      </p:sp>
      <p:sp>
        <p:nvSpPr>
          <p:cNvPr id="6" name="Text 2"/>
          <p:cNvSpPr/>
          <p:nvPr/>
        </p:nvSpPr>
        <p:spPr>
          <a:xfrm>
            <a:off x="822960" y="3886200"/>
            <a:ext cx="8138160" cy="777240"/>
          </a:xfrm>
          <a:prstGeom prst="rect">
            <a:avLst/>
          </a:prstGeom>
          <a:noFill/>
          <a:ln/>
        </p:spPr>
        <p:txBody>
          <a:bodyPr wrap="square" lIns="0" tIns="0" rIns="0" bIns="0" rtlCol="0" anchor="ctr"/>
          <a:lstStyle/>
          <a:p>
            <a:pPr indent="0" marL="0">
              <a:buNone/>
            </a:pPr>
            <a:r>
              <a:rPr lang="en-US" sz="1700" dirty="0">
                <a:solidFill>
                  <a:srgbClr val="DCE8F1"/>
                </a:solidFill>
                <a:latin typeface="Garamond" pitchFamily="34" charset="0"/>
                <a:ea typeface="Garamond" pitchFamily="34" charset="-122"/>
                <a:cs typeface="Garamond" pitchFamily="34" charset="-120"/>
              </a:rPr>
              <a:t>Flight proven deployable antennas, booms, and mechanisms for the expanding space economy</a:t>
            </a:r>
            <a:endParaRPr lang="en-US" sz="1700" dirty="0"/>
          </a:p>
        </p:txBody>
      </p:sp>
      <p:sp>
        <p:nvSpPr>
          <p:cNvPr id="7" name="Text 3"/>
          <p:cNvSpPr/>
          <p:nvPr/>
        </p:nvSpPr>
        <p:spPr>
          <a:xfrm>
            <a:off x="822960" y="4846320"/>
            <a:ext cx="6858000" cy="274320"/>
          </a:xfrm>
          <a:prstGeom prst="rect">
            <a:avLst/>
          </a:prstGeom>
          <a:noFill/>
          <a:ln/>
        </p:spPr>
        <p:txBody>
          <a:bodyPr wrap="square" lIns="0" tIns="0" rIns="0" bIns="0" rtlCol="0" anchor="ctr"/>
          <a:lstStyle/>
          <a:p>
            <a:pPr indent="0" marL="0">
              <a:buNone/>
            </a:pPr>
            <a:r>
              <a:rPr lang="en-US" sz="1100" spc="250" kern="0" dirty="0">
                <a:solidFill>
                  <a:srgbClr val="9FC5DE"/>
                </a:solidFill>
                <a:latin typeface="Garamond" pitchFamily="34" charset="0"/>
                <a:ea typeface="Garamond" pitchFamily="34" charset="-122"/>
                <a:cs typeface="Garamond" pitchFamily="34" charset="-120"/>
              </a:rPr>
              <a:t>NEW SPACE VISION   ×   REAL SPACE EXPERIENCE</a:t>
            </a:r>
            <a:endParaRPr lang="en-US" sz="1100" dirty="0"/>
          </a:p>
        </p:txBody>
      </p:sp>
      <p:sp>
        <p:nvSpPr>
          <p:cNvPr id="8" name="Text 4"/>
          <p:cNvSpPr/>
          <p:nvPr/>
        </p:nvSpPr>
        <p:spPr>
          <a:xfrm>
            <a:off x="822960" y="6172200"/>
            <a:ext cx="8229600" cy="274320"/>
          </a:xfrm>
          <a:prstGeom prst="rect">
            <a:avLst/>
          </a:prstGeom>
          <a:noFill/>
          <a:ln/>
        </p:spPr>
        <p:txBody>
          <a:bodyPr wrap="square" lIns="0" tIns="0" rIns="0" bIns="0" rtlCol="0" anchor="ctr"/>
          <a:lstStyle/>
          <a:p>
            <a:pPr indent="0" marL="0">
              <a:buNone/>
            </a:pPr>
            <a:r>
              <a:rPr lang="en-US" sz="1050" dirty="0">
                <a:solidFill>
                  <a:srgbClr val="B9C7D2"/>
                </a:solidFill>
                <a:latin typeface="Garamond" pitchFamily="34" charset="0"/>
                <a:ea typeface="Garamond" pitchFamily="34" charset="-122"/>
                <a:cs typeface="Garamond" pitchFamily="34" charset="-120"/>
              </a:rPr>
              <a:t>August 2026    |    Berkeley, California    |    Proprietary and Confidential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COMPANY OVERVIEW</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Heliospace at a Glance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2</a:t>
            </a:r>
            <a:endParaRPr lang="en-US" sz="850" dirty="0"/>
          </a:p>
        </p:txBody>
      </p:sp>
      <p:sp>
        <p:nvSpPr>
          <p:cNvPr id="7" name="Text 4"/>
          <p:cNvSpPr/>
          <p:nvPr/>
        </p:nvSpPr>
        <p:spPr>
          <a:xfrm>
            <a:off x="822960" y="1417320"/>
            <a:ext cx="5440680" cy="1828800"/>
          </a:xfrm>
          <a:prstGeom prst="rect">
            <a:avLst/>
          </a:prstGeom>
          <a:noFill/>
          <a:ln/>
        </p:spPr>
        <p:txBody>
          <a:bodyPr wrap="square" lIns="0" tIns="0" rIns="0" bIns="0" rtlCol="0" anchor="t"/>
          <a:lstStyle/>
          <a:p>
            <a:pPr indent="0" marL="0">
              <a:lnSpc>
                <a:spcPct val="108000"/>
              </a:lnSpc>
              <a:buNone/>
            </a:pPr>
            <a:r>
              <a:rPr lang="en-US" sz="1350" dirty="0">
                <a:solidFill>
                  <a:srgbClr val="1E2A33"/>
                </a:solidFill>
                <a:latin typeface="Garamond" pitchFamily="34" charset="0"/>
                <a:ea typeface="Garamond" pitchFamily="34" charset="-122"/>
                <a:cs typeface="Garamond" pitchFamily="34" charset="-120"/>
              </a:rPr>
              <a:t>Helio is pioneering a new class of energy infrastructure: space based power systems, known as power plants in space, that capture solar energy beyond Earth's atmosphere and beam it safely and efficiently to the surface. Our vision is to establish orbital energy platforms as a foundational layer of the global power grid, delivering uninterrupted, carbon free electricity at scale and reshaping how nations power cities, industries, and critical systems.</a:t>
            </a:r>
            <a:endParaRPr lang="en-US" sz="1350" dirty="0"/>
          </a:p>
        </p:txBody>
      </p:sp>
      <p:sp>
        <p:nvSpPr>
          <p:cNvPr id="8" name="Text 5"/>
          <p:cNvSpPr/>
          <p:nvPr/>
        </p:nvSpPr>
        <p:spPr>
          <a:xfrm>
            <a:off x="822960" y="3310128"/>
            <a:ext cx="5440680" cy="1188720"/>
          </a:xfrm>
          <a:prstGeom prst="rect">
            <a:avLst/>
          </a:prstGeom>
          <a:noFill/>
          <a:ln/>
        </p:spPr>
        <p:txBody>
          <a:bodyPr wrap="square" lIns="0" tIns="0" rIns="0" bIns="0" rtlCol="0" anchor="t"/>
          <a:lstStyle/>
          <a:p>
            <a:pPr indent="0" marL="0">
              <a:lnSpc>
                <a:spcPct val="108000"/>
              </a:lnSpc>
              <a:buNone/>
            </a:pPr>
            <a:r>
              <a:rPr lang="en-US" sz="1350" dirty="0">
                <a:solidFill>
                  <a:srgbClr val="1E2A33"/>
                </a:solidFill>
                <a:latin typeface="Garamond" pitchFamily="34" charset="0"/>
                <a:ea typeface="Garamond" pitchFamily="34" charset="-122"/>
                <a:cs typeface="Garamond" pitchFamily="34" charset="-120"/>
              </a:rPr>
              <a:t>Since being founded in 2018, Helio has specialized in delivering cutting edge aerospace hardware, systems engineering, and mission services. From small scale projects to flagship space missions, we support NASA, private companies, universities, and global space agencies to achieve success in space.</a:t>
            </a:r>
            <a:endParaRPr lang="en-US" sz="1350" dirty="0"/>
          </a:p>
        </p:txBody>
      </p:sp>
      <p:sp>
        <p:nvSpPr>
          <p:cNvPr id="9" name="Text 6"/>
          <p:cNvSpPr/>
          <p:nvPr/>
        </p:nvSpPr>
        <p:spPr>
          <a:xfrm>
            <a:off x="6537960" y="4846320"/>
            <a:ext cx="2331720" cy="438912"/>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40+</a:t>
            </a:r>
            <a:endParaRPr lang="en-US" sz="2800" dirty="0"/>
          </a:p>
        </p:txBody>
      </p:sp>
      <p:sp>
        <p:nvSpPr>
          <p:cNvPr id="10" name="Text 7"/>
          <p:cNvSpPr/>
          <p:nvPr/>
        </p:nvSpPr>
        <p:spPr>
          <a:xfrm>
            <a:off x="6537960" y="5285232"/>
            <a:ext cx="2331720" cy="256032"/>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space flight missions supported</a:t>
            </a:r>
            <a:endParaRPr lang="en-US" sz="1050" dirty="0"/>
          </a:p>
        </p:txBody>
      </p:sp>
      <p:sp>
        <p:nvSpPr>
          <p:cNvPr id="11" name="Text 8"/>
          <p:cNvSpPr/>
          <p:nvPr/>
        </p:nvSpPr>
        <p:spPr>
          <a:xfrm>
            <a:off x="9052560" y="4846320"/>
            <a:ext cx="2331720" cy="438912"/>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125+</a:t>
            </a:r>
            <a:endParaRPr lang="en-US" sz="2800" dirty="0"/>
          </a:p>
        </p:txBody>
      </p:sp>
      <p:sp>
        <p:nvSpPr>
          <p:cNvPr id="12" name="Text 9"/>
          <p:cNvSpPr/>
          <p:nvPr/>
        </p:nvSpPr>
        <p:spPr>
          <a:xfrm>
            <a:off x="9052560" y="5285232"/>
            <a:ext cx="2331720" cy="256032"/>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instruments and systems built</a:t>
            </a:r>
            <a:endParaRPr lang="en-US" sz="1050" dirty="0"/>
          </a:p>
        </p:txBody>
      </p:sp>
      <p:sp>
        <p:nvSpPr>
          <p:cNvPr id="13" name="Text 10"/>
          <p:cNvSpPr/>
          <p:nvPr/>
        </p:nvSpPr>
        <p:spPr>
          <a:xfrm>
            <a:off x="6537960" y="5623560"/>
            <a:ext cx="2331720" cy="438912"/>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30+</a:t>
            </a:r>
            <a:endParaRPr lang="en-US" sz="2800" dirty="0"/>
          </a:p>
        </p:txBody>
      </p:sp>
      <p:sp>
        <p:nvSpPr>
          <p:cNvPr id="14" name="Text 11"/>
          <p:cNvSpPr/>
          <p:nvPr/>
        </p:nvSpPr>
        <p:spPr>
          <a:xfrm>
            <a:off x="6537960" y="6062472"/>
            <a:ext cx="2331720" cy="256032"/>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engineers on the team</a:t>
            </a:r>
            <a:endParaRPr lang="en-US" sz="1050" dirty="0"/>
          </a:p>
        </p:txBody>
      </p:sp>
      <p:sp>
        <p:nvSpPr>
          <p:cNvPr id="15" name="Text 12"/>
          <p:cNvSpPr/>
          <p:nvPr/>
        </p:nvSpPr>
        <p:spPr>
          <a:xfrm>
            <a:off x="9052560" y="5623560"/>
            <a:ext cx="2331720" cy="438912"/>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$45M</a:t>
            </a:r>
            <a:endParaRPr lang="en-US" sz="2800" dirty="0"/>
          </a:p>
        </p:txBody>
      </p:sp>
      <p:sp>
        <p:nvSpPr>
          <p:cNvPr id="16" name="Text 13"/>
          <p:cNvSpPr/>
          <p:nvPr/>
        </p:nvSpPr>
        <p:spPr>
          <a:xfrm>
            <a:off x="9052560" y="6062472"/>
            <a:ext cx="2331720" cy="256032"/>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delivered in contracts</a:t>
            </a:r>
            <a:endParaRPr lang="en-US" sz="1050" dirty="0"/>
          </a:p>
        </p:txBody>
      </p:sp>
      <p:pic>
        <p:nvPicPr>
          <p:cNvPr id="17" name="Image 1" descr="assets/s2_hero.jpg">    </p:cNvPr>
          <p:cNvPicPr>
            <a:picLocks noChangeAspect="1"/>
          </p:cNvPicPr>
          <p:nvPr/>
        </p:nvPicPr>
        <p:blipFill>
          <a:blip r:embed="rId2"/>
          <a:stretch>
            <a:fillRect/>
          </a:stretch>
        </p:blipFill>
        <p:spPr>
          <a:xfrm>
            <a:off x="7018020" y="1417320"/>
            <a:ext cx="3867912" cy="2886282"/>
          </a:xfrm>
          <a:prstGeom prst="rect">
            <a:avLst/>
          </a:prstGeom>
        </p:spPr>
      </p:pic>
      <p:sp>
        <p:nvSpPr>
          <p:cNvPr id="18" name="Shape 14"/>
          <p:cNvSpPr/>
          <p:nvPr/>
        </p:nvSpPr>
        <p:spPr>
          <a:xfrm>
            <a:off x="7018020" y="1417320"/>
            <a:ext cx="3867912" cy="2886282"/>
          </a:xfrm>
          <a:prstGeom prst="rect">
            <a:avLst/>
          </a:prstGeom>
          <a:ln w="12700">
            <a:solidFill>
              <a:srgbClr val="C6D2DA"/>
            </a:solidFill>
            <a:prstDash val="solid"/>
          </a:ln>
        </p:spPr>
        <p:txBody>
          <a:bodyPr/>
          <a:p/>
        </p:txBody>
      </p:sp>
      <p:sp>
        <p:nvSpPr>
          <p:cNvPr id="19" name="Text 15"/>
          <p:cNvSpPr/>
          <p:nvPr/>
        </p:nvSpPr>
        <p:spPr>
          <a:xfrm>
            <a:off x="6537960" y="4370832"/>
            <a:ext cx="4828032" cy="384048"/>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Europa Clipper with Heliospace built REASON radar antennas deployed. Image credit: NASA.</a:t>
            </a:r>
            <a:endParaRPr lang="en-US" sz="950" dirty="0"/>
          </a:p>
        </p:txBody>
      </p:sp>
      <p:sp>
        <p:nvSpPr>
          <p:cNvPr id="20" name="Text 5"/>
          <p:cNvSpPr/>
          <p:nvPr/>
        </p:nvSpPr>
        <p:spPr>
          <a:xfrm>
            <a:off x="822960" y="4553712"/>
            <a:ext cx="5440680" cy="1600200"/>
          </a:xfrm>
          <a:prstGeom prst="rect">
            <a:avLst/>
          </a:prstGeom>
          <a:noFill/>
          <a:ln/>
        </p:spPr>
        <p:txBody>
          <a:bodyPr wrap="square" lIns="0" tIns="0" rIns="0" bIns="0" rtlCol="0" anchor="t"/>
          <a:lstStyle/>
          <a:p>
            <a:pPr indent="0" marL="0">
              <a:lnSpc>
                <a:spcPct val="108000"/>
              </a:lnSpc>
              <a:buNone/>
            </a:pPr>
            <a:r>
              <a:rPr lang="en-US" sz="1350" dirty="0">
                <a:solidFill>
                  <a:srgbClr val="1E2A33"/>
                </a:solidFill>
                <a:latin typeface="Garamond" pitchFamily="34" charset="0"/>
                <a:ea typeface="Garamond" pitchFamily="34" charset="-122"/>
                <a:cs typeface="Garamond" pitchFamily="34" charset="-120"/>
              </a:rPr>
              <a:t>We are proud to be a trusted partner to over a dozen space agencies, organizations, and companies across the globe. Our products can be found operating from the Sun to Jupiter. From NASA and the European Space Agency to emerging private aerospace firms and academic institutions, we collaborate with some of the most innovative and forward thinking players in the space industry.</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CAPABILITIES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What We Do</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3</a:t>
            </a:r>
            <a:endParaRPr lang="en-US" sz="850" dirty="0"/>
          </a:p>
        </p:txBody>
      </p:sp>
      <p:sp>
        <p:nvSpPr>
          <p:cNvPr id="7" name="Text 4"/>
          <p:cNvSpPr/>
          <p:nvPr/>
        </p:nvSpPr>
        <p:spPr>
          <a:xfrm>
            <a:off x="822960" y="1353312"/>
            <a:ext cx="10424160" cy="320040"/>
          </a:xfrm>
          <a:prstGeom prst="rect">
            <a:avLst/>
          </a:prstGeom>
          <a:noFill/>
          <a:ln/>
        </p:spPr>
        <p:txBody>
          <a:bodyPr wrap="square" lIns="0" tIns="0" rIns="0" bIns="0" rtlCol="0" anchor="ctr"/>
          <a:lstStyle/>
          <a:p>
            <a:pPr indent="0" marL="0">
              <a:buNone/>
            </a:pPr>
            <a:r>
              <a:rPr lang="en-US" sz="1300" dirty="0">
                <a:solidFill>
                  <a:srgbClr val="5C6B76"/>
                </a:solidFill>
                <a:latin typeface="Garamond" pitchFamily="34" charset="0"/>
                <a:ea typeface="Garamond" pitchFamily="34" charset="-122"/>
                <a:cs typeface="Garamond" pitchFamily="34" charset="-120"/>
              </a:rPr>
              <a:t>Five product and revenue areas supported by a single Berkeley facility and quality system, from initial design through on orbit operations.</a:t>
            </a:r>
            <a:endParaRPr lang="en-US" sz="1300" dirty="0"/>
          </a:p>
        </p:txBody>
      </p:sp>
      <p:sp>
        <p:nvSpPr>
          <p:cNvPr id="8" name="Shape 4"/>
          <p:cNvSpPr/>
          <p:nvPr/>
        </p:nvSpPr>
        <p:spPr>
          <a:xfrm>
            <a:off x="822960" y="1874519"/>
            <a:ext cx="3392424" cy="2057400"/>
          </a:xfrm>
          <a:prstGeom prst="roundRect">
            <a:avLst>
              <a:gd name="adj" fmla="val 1724"/>
            </a:avLst>
          </a:prstGeom>
          <a:solidFill>
            <a:srgbClr val="F3F7FA"/>
          </a:solidFill>
          <a:ln/>
        </p:spPr>
        <p:txBody>
          <a:bodyPr/>
          <a:p/>
        </p:txBody>
      </p:sp>
      <p:sp>
        <p:nvSpPr>
          <p:cNvPr id="9" name="Text 12"/>
          <p:cNvSpPr/>
          <p:nvPr/>
        </p:nvSpPr>
        <p:spPr>
          <a:xfrm>
            <a:off x="987552" y="2020823"/>
            <a:ext cx="306324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Space Qualified Hardware</a:t>
            </a:r>
            <a:endParaRPr lang="en-US" sz="1550" dirty="0"/>
          </a:p>
        </p:txBody>
      </p:sp>
      <p:sp>
        <p:nvSpPr>
          <p:cNvPr id="10" name="Text 13"/>
          <p:cNvSpPr/>
          <p:nvPr/>
        </p:nvSpPr>
        <p:spPr>
          <a:xfrm>
            <a:off x="987552" y="2660903"/>
            <a:ext cx="306324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Deployable antennas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Sensors and scientific instruments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Mechanical systems and structures for spacecraft</a:t>
            </a:r>
            <a:endParaRPr lang="en-US" sz="1100" dirty="0"/>
          </a:p>
        </p:txBody>
      </p:sp>
      <p:sp>
        <p:nvSpPr>
          <p:cNvPr id="11" name="Shape 4"/>
          <p:cNvSpPr/>
          <p:nvPr/>
        </p:nvSpPr>
        <p:spPr>
          <a:xfrm>
            <a:off x="4398264" y="1874519"/>
            <a:ext cx="3392424" cy="2057400"/>
          </a:xfrm>
          <a:prstGeom prst="roundRect">
            <a:avLst>
              <a:gd name="adj" fmla="val 1724"/>
            </a:avLst>
          </a:prstGeom>
          <a:solidFill>
            <a:srgbClr val="F3F7FA"/>
          </a:solidFill>
          <a:ln/>
        </p:spPr>
        <p:txBody>
          <a:bodyPr/>
          <a:p/>
        </p:txBody>
      </p:sp>
      <p:sp>
        <p:nvSpPr>
          <p:cNvPr id="12" name="Text 12"/>
          <p:cNvSpPr/>
          <p:nvPr/>
        </p:nvSpPr>
        <p:spPr>
          <a:xfrm>
            <a:off x="4562856" y="2020823"/>
            <a:ext cx="306324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Mission Systems and Engineering Services</a:t>
            </a:r>
            <a:endParaRPr lang="en-US" sz="1550" dirty="0"/>
          </a:p>
        </p:txBody>
      </p:sp>
      <p:sp>
        <p:nvSpPr>
          <p:cNvPr id="13" name="Text 13"/>
          <p:cNvSpPr/>
          <p:nvPr/>
        </p:nvSpPr>
        <p:spPr>
          <a:xfrm>
            <a:off x="4562856" y="2660903"/>
            <a:ext cx="306324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Spacecraft system design</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Integration and testing</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Engineering support for government and commercial space missions</a:t>
            </a:r>
            <a:endParaRPr lang="en-US" sz="1100" dirty="0"/>
          </a:p>
        </p:txBody>
      </p:sp>
      <p:sp>
        <p:nvSpPr>
          <p:cNvPr id="14" name="Shape 4"/>
          <p:cNvSpPr/>
          <p:nvPr/>
        </p:nvSpPr>
        <p:spPr>
          <a:xfrm>
            <a:off x="7973568" y="1874519"/>
            <a:ext cx="3392424" cy="2057400"/>
          </a:xfrm>
          <a:prstGeom prst="roundRect">
            <a:avLst>
              <a:gd name="adj" fmla="val 1724"/>
            </a:avLst>
          </a:prstGeom>
          <a:solidFill>
            <a:srgbClr val="F3F7FA"/>
          </a:solidFill>
          <a:ln/>
        </p:spPr>
        <p:txBody>
          <a:bodyPr/>
          <a:p/>
        </p:txBody>
      </p:sp>
      <p:sp>
        <p:nvSpPr>
          <p:cNvPr id="15" name="Text 12"/>
          <p:cNvSpPr/>
          <p:nvPr/>
        </p:nvSpPr>
        <p:spPr>
          <a:xfrm>
            <a:off x="8138160" y="2020823"/>
            <a:ext cx="306324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Deployable Space Systems</a:t>
            </a:r>
            <a:endParaRPr lang="en-US" sz="1550" dirty="0"/>
          </a:p>
        </p:txBody>
      </p:sp>
      <p:sp>
        <p:nvSpPr>
          <p:cNvPr id="16" name="Text 13"/>
          <p:cNvSpPr/>
          <p:nvPr/>
        </p:nvSpPr>
        <p:spPr>
          <a:xfrm>
            <a:off x="8138160" y="2660903"/>
            <a:ext cx="306324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Large deployable antennas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Solar arrays and other expandable structures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Components for satellites, lunar missions, and deep space missions</a:t>
            </a:r>
            <a:endParaRPr lang="en-US" sz="1100" dirty="0"/>
          </a:p>
        </p:txBody>
      </p:sp>
      <p:sp>
        <p:nvSpPr>
          <p:cNvPr id="17" name="Shape 4"/>
          <p:cNvSpPr/>
          <p:nvPr/>
        </p:nvSpPr>
        <p:spPr>
          <a:xfrm>
            <a:off x="822960" y="4114800"/>
            <a:ext cx="5175504" cy="2057400"/>
          </a:xfrm>
          <a:prstGeom prst="roundRect">
            <a:avLst>
              <a:gd name="adj" fmla="val 1724"/>
            </a:avLst>
          </a:prstGeom>
          <a:solidFill>
            <a:srgbClr val="F3F7FA"/>
          </a:solidFill>
          <a:ln/>
        </p:spPr>
        <p:txBody>
          <a:bodyPr/>
          <a:p/>
        </p:txBody>
      </p:sp>
      <p:sp>
        <p:nvSpPr>
          <p:cNvPr id="18" name="Text 12"/>
          <p:cNvSpPr/>
          <p:nvPr/>
        </p:nvSpPr>
        <p:spPr>
          <a:xfrm>
            <a:off x="987552" y="4261104"/>
            <a:ext cx="484632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Space Based Solar Power Technology</a:t>
            </a:r>
            <a:endParaRPr lang="en-US" sz="1550" dirty="0"/>
          </a:p>
        </p:txBody>
      </p:sp>
      <p:sp>
        <p:nvSpPr>
          <p:cNvPr id="19" name="Text 13"/>
          <p:cNvSpPr/>
          <p:nvPr/>
        </p:nvSpPr>
        <p:spPr>
          <a:xfrm>
            <a:off x="987552" y="4901184"/>
            <a:ext cx="484632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Orbital solar power platforms, power plants in space</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Wireless energy transmission systems intended to beam solar energy from orbit to Earth</a:t>
            </a:r>
            <a:endParaRPr lang="en-US" sz="1100" dirty="0"/>
          </a:p>
        </p:txBody>
      </p:sp>
      <p:sp>
        <p:nvSpPr>
          <p:cNvPr id="20" name="Shape 4"/>
          <p:cNvSpPr/>
          <p:nvPr/>
        </p:nvSpPr>
        <p:spPr>
          <a:xfrm>
            <a:off x="6190488" y="4114800"/>
            <a:ext cx="5175504" cy="2057400"/>
          </a:xfrm>
          <a:prstGeom prst="roundRect">
            <a:avLst>
              <a:gd name="adj" fmla="val 1724"/>
            </a:avLst>
          </a:prstGeom>
          <a:solidFill>
            <a:srgbClr val="F3F7FA"/>
          </a:solidFill>
          <a:ln/>
        </p:spPr>
        <p:txBody>
          <a:bodyPr/>
          <a:p/>
        </p:txBody>
      </p:sp>
      <p:sp>
        <p:nvSpPr>
          <p:cNvPr id="21" name="Text 12"/>
          <p:cNvSpPr/>
          <p:nvPr/>
        </p:nvSpPr>
        <p:spPr>
          <a:xfrm>
            <a:off x="6355080" y="4261104"/>
            <a:ext cx="484632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Future Manufacturing and Licensing</a:t>
            </a:r>
            <a:endParaRPr lang="en-US" sz="1550" dirty="0"/>
          </a:p>
        </p:txBody>
      </p:sp>
      <p:sp>
        <p:nvSpPr>
          <p:cNvPr id="22" name="Text 13"/>
          <p:cNvSpPr/>
          <p:nvPr/>
        </p:nvSpPr>
        <p:spPr>
          <a:xfrm>
            <a:off x="6355080" y="4901184"/>
            <a:ext cx="484632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Mass production of space qualified hardware</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Licensing of proprietary space technologies</a:t>
            </a:r>
            <a:endParaRPr lang="en-US" sz="1100" dirty="0"/>
          </a:p>
        </p:txBody>
      </p:sp>
      <p:sp>
        <p:nvSpPr>
          <p:cNvPr id="23" name="Text 5"/>
          <p:cNvSpPr/>
          <p:nvPr/>
        </p:nvSpPr>
        <p:spPr>
          <a:xfrm>
            <a:off x="822960" y="6254496"/>
            <a:ext cx="10543032" cy="237744"/>
          </a:xfrm>
          <a:prstGeom prst="rect">
            <a:avLst/>
          </a:prstGeom>
          <a:noFill/>
          <a:ln/>
        </p:spPr>
        <p:txBody>
          <a:bodyPr wrap="square" lIns="0" tIns="0" rIns="0" bIns="0" rtlCol="0" anchor="ctr"/>
          <a:lstStyle/>
          <a:p>
            <a:pPr indent="0" marL="0">
              <a:buNone/>
            </a:pPr>
            <a:r>
              <a:rPr lang="en-US" sz="900" i="1" dirty="0">
                <a:solidFill>
                  <a:srgbClr val="5C6B76"/>
                </a:solidFill>
                <a:latin typeface="Garamond" pitchFamily="34" charset="0"/>
                <a:ea typeface="Garamond" pitchFamily="34" charset="-122"/>
                <a:cs typeface="Garamond" pitchFamily="34" charset="-120"/>
              </a:rPr>
              <a:t>Heritage examples: hardware for missions such as NASA's Europa Clipper, James Webb Space Telescope program support, solar science missions, and lunar related systems.</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FLIGHT HERITAGE</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At Jupiter, the Sun, and the Moon</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4</a:t>
            </a:r>
            <a:endParaRPr lang="en-US" sz="850" dirty="0"/>
          </a:p>
        </p:txBody>
      </p:sp>
      <p:pic>
        <p:nvPicPr>
          <p:cNvPr id="7" name="Image 1" descr="assets/s4_europa.jpg">    </p:cNvPr>
          <p:cNvPicPr>
            <a:picLocks noChangeAspect="1"/>
          </p:cNvPicPr>
          <p:nvPr/>
        </p:nvPicPr>
        <p:blipFill>
          <a:blip r:embed="rId2"/>
          <a:stretch>
            <a:fillRect/>
          </a:stretch>
        </p:blipFill>
        <p:spPr>
          <a:xfrm>
            <a:off x="822960" y="1417320"/>
            <a:ext cx="3419856" cy="1764792"/>
          </a:xfrm>
          <a:prstGeom prst="rect">
            <a:avLst/>
          </a:prstGeom>
        </p:spPr>
      </p:pic>
      <p:sp>
        <p:nvSpPr>
          <p:cNvPr id="8" name="Shape 4"/>
          <p:cNvSpPr/>
          <p:nvPr/>
        </p:nvSpPr>
        <p:spPr>
          <a:xfrm>
            <a:off x="822960" y="1417320"/>
            <a:ext cx="3419856" cy="1764792"/>
          </a:xfrm>
          <a:prstGeom prst="rect">
            <a:avLst/>
          </a:prstGeom>
          <a:ln w="12700">
            <a:solidFill>
              <a:srgbClr val="C6D2DA"/>
            </a:solidFill>
            <a:prstDash val="solid"/>
          </a:ln>
        </p:spPr>
        <p:txBody>
          <a:bodyPr/>
          <a:p/>
        </p:txBody>
      </p:sp>
      <p:sp>
        <p:nvSpPr>
          <p:cNvPr id="9" name="Text 5"/>
          <p:cNvSpPr/>
          <p:nvPr/>
        </p:nvSpPr>
        <p:spPr>
          <a:xfrm>
            <a:off x="822960" y="3246120"/>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Europa Clipper, REASON (NASA/JPL)</a:t>
            </a:r>
            <a:endParaRPr lang="en-US" sz="1150" dirty="0"/>
          </a:p>
        </p:txBody>
      </p:sp>
      <p:sp>
        <p:nvSpPr>
          <p:cNvPr id="10" name="Text 6"/>
          <p:cNvSpPr/>
          <p:nvPr/>
        </p:nvSpPr>
        <p:spPr>
          <a:xfrm>
            <a:off x="822960" y="3474720"/>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Two 17.6 m radar dipoles, deployed and operating en route to Europa.</a:t>
            </a:r>
            <a:endParaRPr lang="en-US" sz="950" dirty="0"/>
          </a:p>
        </p:txBody>
      </p:sp>
      <p:pic>
        <p:nvPicPr>
          <p:cNvPr id="11" name="Image 2" descr="assets/s4_solo.jpg">    </p:cNvPr>
          <p:cNvPicPr>
            <a:picLocks noChangeAspect="1"/>
          </p:cNvPicPr>
          <p:nvPr/>
        </p:nvPicPr>
        <p:blipFill>
          <a:blip r:embed="rId3"/>
          <a:stretch>
            <a:fillRect/>
          </a:stretch>
        </p:blipFill>
        <p:spPr>
          <a:xfrm>
            <a:off x="4370832" y="1417320"/>
            <a:ext cx="3419856" cy="1764792"/>
          </a:xfrm>
          <a:prstGeom prst="rect">
            <a:avLst/>
          </a:prstGeom>
        </p:spPr>
      </p:pic>
      <p:sp>
        <p:nvSpPr>
          <p:cNvPr id="12" name="Shape 7"/>
          <p:cNvSpPr/>
          <p:nvPr/>
        </p:nvSpPr>
        <p:spPr>
          <a:xfrm>
            <a:off x="4370832" y="1417320"/>
            <a:ext cx="3419856" cy="1764792"/>
          </a:xfrm>
          <a:prstGeom prst="rect">
            <a:avLst/>
          </a:prstGeom>
          <a:ln w="12700">
            <a:solidFill>
              <a:srgbClr val="C6D2DA"/>
            </a:solidFill>
            <a:prstDash val="solid"/>
          </a:ln>
        </p:spPr>
        <p:txBody>
          <a:bodyPr/>
          <a:p/>
        </p:txBody>
      </p:sp>
      <p:sp>
        <p:nvSpPr>
          <p:cNvPr id="13" name="Text 8"/>
          <p:cNvSpPr/>
          <p:nvPr/>
        </p:nvSpPr>
        <p:spPr>
          <a:xfrm>
            <a:off x="4370832" y="3246120"/>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Solar Orbiter, RPW (ESA)</a:t>
            </a:r>
            <a:endParaRPr lang="en-US" sz="1150" dirty="0"/>
          </a:p>
        </p:txBody>
      </p:sp>
      <p:sp>
        <p:nvSpPr>
          <p:cNvPr id="14" name="Text 9"/>
          <p:cNvSpPr/>
          <p:nvPr/>
        </p:nvSpPr>
        <p:spPr>
          <a:xfrm>
            <a:off x="4370832" y="3474720"/>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Three 6.5 m antennas performing nominally near the Sun.</a:t>
            </a:r>
            <a:endParaRPr lang="en-US" sz="950" dirty="0"/>
          </a:p>
        </p:txBody>
      </p:sp>
      <p:pic>
        <p:nvPicPr>
          <p:cNvPr id="15" name="Image 3" descr="assets/s4_sunrise.jpg">    </p:cNvPr>
          <p:cNvPicPr>
            <a:picLocks noChangeAspect="1"/>
          </p:cNvPicPr>
          <p:nvPr/>
        </p:nvPicPr>
        <p:blipFill>
          <a:blip r:embed="rId4"/>
          <a:stretch>
            <a:fillRect/>
          </a:stretch>
        </p:blipFill>
        <p:spPr>
          <a:xfrm>
            <a:off x="7918704" y="1417320"/>
            <a:ext cx="3419856" cy="1764792"/>
          </a:xfrm>
          <a:prstGeom prst="rect">
            <a:avLst/>
          </a:prstGeom>
        </p:spPr>
      </p:pic>
      <p:sp>
        <p:nvSpPr>
          <p:cNvPr id="16" name="Shape 10"/>
          <p:cNvSpPr/>
          <p:nvPr/>
        </p:nvSpPr>
        <p:spPr>
          <a:xfrm>
            <a:off x="7918704" y="1417320"/>
            <a:ext cx="3419856" cy="1764792"/>
          </a:xfrm>
          <a:prstGeom prst="rect">
            <a:avLst/>
          </a:prstGeom>
          <a:ln w="12700">
            <a:solidFill>
              <a:srgbClr val="C6D2DA"/>
            </a:solidFill>
            <a:prstDash val="solid"/>
          </a:ln>
        </p:spPr>
        <p:txBody>
          <a:bodyPr/>
          <a:p/>
        </p:txBody>
      </p:sp>
      <p:sp>
        <p:nvSpPr>
          <p:cNvPr id="17" name="Text 11"/>
          <p:cNvSpPr/>
          <p:nvPr/>
        </p:nvSpPr>
        <p:spPr>
          <a:xfrm>
            <a:off x="7918704" y="3246120"/>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SunRISE (NASA/JPL)</a:t>
            </a:r>
            <a:endParaRPr lang="en-US" sz="1150" dirty="0"/>
          </a:p>
        </p:txBody>
      </p:sp>
      <p:sp>
        <p:nvSpPr>
          <p:cNvPr id="18" name="Text 12"/>
          <p:cNvSpPr/>
          <p:nvPr/>
        </p:nvSpPr>
        <p:spPr>
          <a:xfrm>
            <a:off x="7918704" y="3474720"/>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28 CubeSat compatible monopoles delivered at production volume.</a:t>
            </a:r>
            <a:endParaRPr lang="en-US" sz="950" dirty="0"/>
          </a:p>
        </p:txBody>
      </p:sp>
      <p:pic>
        <p:nvPicPr>
          <p:cNvPr id="19" name="Image 4" descr="assets/s4_jwst.jpg">    </p:cNvPr>
          <p:cNvPicPr>
            <a:picLocks noChangeAspect="1"/>
          </p:cNvPicPr>
          <p:nvPr/>
        </p:nvPicPr>
        <p:blipFill>
          <a:blip r:embed="rId5"/>
          <a:stretch>
            <a:fillRect/>
          </a:stretch>
        </p:blipFill>
        <p:spPr>
          <a:xfrm>
            <a:off x="822960" y="3941064"/>
            <a:ext cx="3419856" cy="1764792"/>
          </a:xfrm>
          <a:prstGeom prst="rect">
            <a:avLst/>
          </a:prstGeom>
        </p:spPr>
      </p:pic>
      <p:sp>
        <p:nvSpPr>
          <p:cNvPr id="20" name="Shape 13"/>
          <p:cNvSpPr/>
          <p:nvPr/>
        </p:nvSpPr>
        <p:spPr>
          <a:xfrm>
            <a:off x="822960" y="3941064"/>
            <a:ext cx="3419856" cy="1764792"/>
          </a:xfrm>
          <a:prstGeom prst="rect">
            <a:avLst/>
          </a:prstGeom>
          <a:ln w="12700">
            <a:solidFill>
              <a:srgbClr val="C6D2DA"/>
            </a:solidFill>
            <a:prstDash val="solid"/>
          </a:ln>
        </p:spPr>
        <p:txBody>
          <a:bodyPr/>
          <a:p/>
        </p:txBody>
      </p:sp>
      <p:sp>
        <p:nvSpPr>
          <p:cNvPr id="21" name="Text 14"/>
          <p:cNvSpPr/>
          <p:nvPr/>
        </p:nvSpPr>
        <p:spPr>
          <a:xfrm>
            <a:off x="822960" y="5769864"/>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James Webb Space Telescope</a:t>
            </a:r>
            <a:endParaRPr lang="en-US" sz="1150" dirty="0"/>
          </a:p>
        </p:txBody>
      </p:sp>
      <p:sp>
        <p:nvSpPr>
          <p:cNvPr id="22" name="Text 15"/>
          <p:cNvSpPr/>
          <p:nvPr/>
        </p:nvSpPr>
        <p:spPr>
          <a:xfrm>
            <a:off x="822960" y="5998464"/>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Systems engineering, integration, and test support through commissioning.</a:t>
            </a:r>
            <a:endParaRPr lang="en-US" sz="950" dirty="0"/>
          </a:p>
        </p:txBody>
      </p:sp>
      <p:pic>
        <p:nvPicPr>
          <p:cNvPr id="23" name="Image 5" descr="assets/s4_bg1.jpg">    </p:cNvPr>
          <p:cNvPicPr>
            <a:picLocks noChangeAspect="1"/>
          </p:cNvPicPr>
          <p:nvPr/>
        </p:nvPicPr>
        <p:blipFill>
          <a:blip r:embed="rId6"/>
          <a:stretch>
            <a:fillRect/>
          </a:stretch>
        </p:blipFill>
        <p:spPr>
          <a:xfrm>
            <a:off x="4370832" y="3941064"/>
            <a:ext cx="3419856" cy="1764792"/>
          </a:xfrm>
          <a:prstGeom prst="rect">
            <a:avLst/>
          </a:prstGeom>
        </p:spPr>
      </p:pic>
      <p:sp>
        <p:nvSpPr>
          <p:cNvPr id="24" name="Shape 16"/>
          <p:cNvSpPr/>
          <p:nvPr/>
        </p:nvSpPr>
        <p:spPr>
          <a:xfrm>
            <a:off x="4370832" y="3941064"/>
            <a:ext cx="3419856" cy="1764792"/>
          </a:xfrm>
          <a:prstGeom prst="rect">
            <a:avLst/>
          </a:prstGeom>
          <a:ln w="12700">
            <a:solidFill>
              <a:srgbClr val="C6D2DA"/>
            </a:solidFill>
            <a:prstDash val="solid"/>
          </a:ln>
        </p:spPr>
        <p:txBody>
          <a:bodyPr/>
          <a:p/>
        </p:txBody>
      </p:sp>
      <p:sp>
        <p:nvSpPr>
          <p:cNvPr id="25" name="Text 17"/>
          <p:cNvSpPr/>
          <p:nvPr/>
        </p:nvSpPr>
        <p:spPr>
          <a:xfrm>
            <a:off x="4370832" y="5769864"/>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Blue Ghost Mission 1 (Firefly / SwRI)</a:t>
            </a:r>
            <a:endParaRPr lang="en-US" sz="1150" dirty="0"/>
          </a:p>
        </p:txBody>
      </p:sp>
      <p:sp>
        <p:nvSpPr>
          <p:cNvPr id="26" name="Text 18"/>
          <p:cNvSpPr/>
          <p:nvPr/>
        </p:nvSpPr>
        <p:spPr>
          <a:xfrm>
            <a:off x="4370832" y="5998464"/>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LMS lunar science payload delivered under the NASA CLPS program.</a:t>
            </a:r>
            <a:endParaRPr lang="en-US" sz="950" dirty="0"/>
          </a:p>
        </p:txBody>
      </p:sp>
      <p:pic>
        <p:nvPicPr>
          <p:cNvPr id="27" name="Image 6" descr="assets/s4_im1.jpg">    </p:cNvPr>
          <p:cNvPicPr>
            <a:picLocks noChangeAspect="1"/>
          </p:cNvPicPr>
          <p:nvPr/>
        </p:nvPicPr>
        <p:blipFill>
          <a:blip r:embed="rId7"/>
          <a:stretch>
            <a:fillRect/>
          </a:stretch>
        </p:blipFill>
        <p:spPr>
          <a:xfrm>
            <a:off x="7918704" y="3941064"/>
            <a:ext cx="3419856" cy="1764792"/>
          </a:xfrm>
          <a:prstGeom prst="rect">
            <a:avLst/>
          </a:prstGeom>
        </p:spPr>
      </p:pic>
      <p:sp>
        <p:nvSpPr>
          <p:cNvPr id="28" name="Shape 19"/>
          <p:cNvSpPr/>
          <p:nvPr/>
        </p:nvSpPr>
        <p:spPr>
          <a:xfrm>
            <a:off x="7918704" y="3941064"/>
            <a:ext cx="3419856" cy="1764792"/>
          </a:xfrm>
          <a:prstGeom prst="rect">
            <a:avLst/>
          </a:prstGeom>
          <a:ln w="12700">
            <a:solidFill>
              <a:srgbClr val="C6D2DA"/>
            </a:solidFill>
            <a:prstDash val="solid"/>
          </a:ln>
        </p:spPr>
        <p:txBody>
          <a:bodyPr/>
          <a:p/>
        </p:txBody>
      </p:sp>
      <p:sp>
        <p:nvSpPr>
          <p:cNvPr id="29" name="Text 20"/>
          <p:cNvSpPr/>
          <p:nvPr/>
        </p:nvSpPr>
        <p:spPr>
          <a:xfrm>
            <a:off x="7918704" y="5769864"/>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IM-1 (Intuitive Machines / NASA)</a:t>
            </a:r>
            <a:endParaRPr lang="en-US" sz="1150" dirty="0"/>
          </a:p>
        </p:txBody>
      </p:sp>
      <p:sp>
        <p:nvSpPr>
          <p:cNvPr id="30" name="Text 21"/>
          <p:cNvSpPr/>
          <p:nvPr/>
        </p:nvSpPr>
        <p:spPr>
          <a:xfrm>
            <a:off x="7918704" y="5998464"/>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ROLSES antennas flown on the first commercial US lunar landing.</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The SABER Deployable Boom Product Line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5</a:t>
            </a:r>
            <a:endParaRPr lang="en-US" sz="850" dirty="0"/>
          </a:p>
        </p:txBody>
      </p:sp>
      <p:sp>
        <p:nvSpPr>
          <p:cNvPr id="7" name="Text 4"/>
          <p:cNvSpPr/>
          <p:nvPr/>
        </p:nvSpPr>
        <p:spPr>
          <a:xfrm>
            <a:off x="822960" y="1353312"/>
            <a:ext cx="10424160" cy="320040"/>
          </a:xfrm>
          <a:prstGeom prst="rect">
            <a:avLst/>
          </a:prstGeom>
          <a:noFill/>
          <a:ln/>
        </p:spPr>
        <p:txBody>
          <a:bodyPr wrap="square" lIns="0" tIns="0" rIns="0" bIns="0" rtlCol="0" anchor="ctr"/>
          <a:lstStyle/>
          <a:p>
            <a:pPr indent="0" marL="0">
              <a:buNone/>
            </a:pPr>
            <a:r>
              <a:rPr lang="en-US" sz="1300" dirty="0">
                <a:solidFill>
                  <a:srgbClr val="5C6B76"/>
                </a:solidFill>
                <a:latin typeface="Garamond" pitchFamily="34" charset="0"/>
                <a:ea typeface="Garamond" pitchFamily="34" charset="-122"/>
                <a:cs typeface="Garamond" pitchFamily="34" charset="-120"/>
              </a:rPr>
              <a:t>Mission unique heritage, productized: standardized mechanisms with published interfaces, short lead times, and configurations from monopole to dipole to custom geometries.</a:t>
            </a:r>
            <a:endParaRPr lang="en-US" sz="1300" dirty="0"/>
          </a:p>
        </p:txBody>
      </p:sp>
      <p:sp>
        <p:nvSpPr>
          <p:cNvPr id="8" name="Shape 5"/>
          <p:cNvSpPr/>
          <p:nvPr/>
        </p:nvSpPr>
        <p:spPr>
          <a:xfrm>
            <a:off x="822960" y="1828800"/>
            <a:ext cx="5175504" cy="2788920"/>
          </a:xfrm>
          <a:prstGeom prst="roundRect">
            <a:avLst>
              <a:gd name="adj" fmla="val 1639"/>
            </a:avLst>
          </a:prstGeom>
          <a:solidFill>
            <a:srgbClr val="F3F7FA"/>
          </a:solidFill>
          <a:ln/>
        </p:spPr>
        <p:txBody>
          <a:bodyPr/>
          <a:p/>
        </p:txBody>
      </p:sp>
      <p:sp>
        <p:nvSpPr>
          <p:cNvPr id="9" name="Text 6"/>
          <p:cNvSpPr/>
          <p:nvPr/>
        </p:nvSpPr>
        <p:spPr>
          <a:xfrm>
            <a:off x="987552" y="1956816"/>
            <a:ext cx="2743200" cy="320040"/>
          </a:xfrm>
          <a:prstGeom prst="rect">
            <a:avLst/>
          </a:prstGeom>
          <a:noFill/>
          <a:ln/>
        </p:spPr>
        <p:txBody>
          <a:bodyPr wrap="square" lIns="0" tIns="0" rIns="0" bIns="0" rtlCol="0" anchor="ctr"/>
          <a:lstStyle/>
          <a:p>
            <a:pPr indent="0" marL="0">
              <a:buNone/>
            </a:pPr>
            <a:r>
              <a:rPr lang="en-US" sz="1650" b="1" dirty="0">
                <a:solidFill>
                  <a:srgbClr val="10222F"/>
                </a:solidFill>
                <a:latin typeface="Garamond" pitchFamily="34" charset="0"/>
                <a:ea typeface="Garamond" pitchFamily="34" charset="-122"/>
                <a:cs typeface="Garamond" pitchFamily="34" charset="-120"/>
              </a:rPr>
              <a:t>Model SB1</a:t>
            </a:r>
            <a:endParaRPr lang="en-US" sz="1650" dirty="0"/>
          </a:p>
        </p:txBody>
      </p:sp>
      <p:pic>
        <p:nvPicPr>
          <p:cNvPr id="10" name="Image 1" descr="assets/s5_sb1.jpg">    </p:cNvPr>
          <p:cNvPicPr>
            <a:picLocks noChangeAspect="1"/>
          </p:cNvPicPr>
          <p:nvPr/>
        </p:nvPicPr>
        <p:blipFill>
          <a:blip r:embed="rId2"/>
          <a:stretch>
            <a:fillRect/>
          </a:stretch>
        </p:blipFill>
        <p:spPr>
          <a:xfrm>
            <a:off x="960120" y="2377440"/>
            <a:ext cx="2377440" cy="1700784"/>
          </a:xfrm>
          <a:prstGeom prst="rect">
            <a:avLst/>
          </a:prstGeom>
        </p:spPr>
      </p:pic>
      <p:sp>
        <p:nvSpPr>
          <p:cNvPr id="11" name="Shape 7"/>
          <p:cNvSpPr/>
          <p:nvPr/>
        </p:nvSpPr>
        <p:spPr>
          <a:xfrm>
            <a:off x="960120" y="2377440"/>
            <a:ext cx="2377440" cy="1700784"/>
          </a:xfrm>
          <a:prstGeom prst="rect">
            <a:avLst/>
          </a:prstGeom>
          <a:ln w="12700">
            <a:solidFill>
              <a:srgbClr val="C6D2DA"/>
            </a:solidFill>
            <a:prstDash val="solid"/>
          </a:ln>
        </p:spPr>
        <p:txBody>
          <a:bodyPr/>
          <a:p/>
        </p:txBody>
      </p:sp>
      <p:sp>
        <p:nvSpPr>
          <p:cNvPr id="12" name="Text 8"/>
          <p:cNvSpPr/>
          <p:nvPr/>
        </p:nvSpPr>
        <p:spPr>
          <a:xfrm>
            <a:off x="3520440" y="2395728"/>
            <a:ext cx="2377440" cy="2103120"/>
          </a:xfrm>
          <a:prstGeom prst="rect">
            <a:avLst/>
          </a:prstGeom>
          <a:noFill/>
          <a:ln/>
        </p:spPr>
        <p:txBody>
          <a:bodyPr wrap="square" lIns="0" tIns="0" rIns="0" bIns="0" rtlCol="0" anchor="t"/>
          <a:lstStyle/>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Deploys 1.0 m to 10.0 m</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Up to 30:1 stow ratio</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3.5 to 5.0 kg class mass</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MAVEN, Solar Orbiter, and Europa Clipper heritage</a:t>
            </a:r>
            <a:endParaRPr lang="en-US" sz="1100" dirty="0"/>
          </a:p>
        </p:txBody>
      </p:sp>
      <p:sp>
        <p:nvSpPr>
          <p:cNvPr id="13" name="Text 9"/>
          <p:cNvSpPr/>
          <p:nvPr/>
        </p:nvSpPr>
        <p:spPr>
          <a:xfrm>
            <a:off x="960120" y="4133088"/>
            <a:ext cx="246888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SB1 class flight mechanisms</a:t>
            </a:r>
            <a:endParaRPr lang="en-US" sz="950" dirty="0"/>
          </a:p>
        </p:txBody>
      </p:sp>
      <p:sp>
        <p:nvSpPr>
          <p:cNvPr id="14" name="Shape 10"/>
          <p:cNvSpPr/>
          <p:nvPr/>
        </p:nvSpPr>
        <p:spPr>
          <a:xfrm>
            <a:off x="6190488" y="1828800"/>
            <a:ext cx="5175504" cy="2788920"/>
          </a:xfrm>
          <a:prstGeom prst="roundRect">
            <a:avLst>
              <a:gd name="adj" fmla="val 1639"/>
            </a:avLst>
          </a:prstGeom>
          <a:solidFill>
            <a:srgbClr val="F3F7FA"/>
          </a:solidFill>
          <a:ln/>
        </p:spPr>
        <p:txBody>
          <a:bodyPr/>
          <a:p/>
        </p:txBody>
      </p:sp>
      <p:sp>
        <p:nvSpPr>
          <p:cNvPr id="15" name="Text 11"/>
          <p:cNvSpPr/>
          <p:nvPr/>
        </p:nvSpPr>
        <p:spPr>
          <a:xfrm>
            <a:off x="6355080" y="1956816"/>
            <a:ext cx="2743200" cy="320040"/>
          </a:xfrm>
          <a:prstGeom prst="rect">
            <a:avLst/>
          </a:prstGeom>
          <a:noFill/>
          <a:ln/>
        </p:spPr>
        <p:txBody>
          <a:bodyPr wrap="square" lIns="0" tIns="0" rIns="0" bIns="0" rtlCol="0" anchor="ctr"/>
          <a:lstStyle/>
          <a:p>
            <a:pPr indent="0" marL="0">
              <a:buNone/>
            </a:pPr>
            <a:r>
              <a:rPr lang="en-US" sz="1650" b="1" dirty="0">
                <a:solidFill>
                  <a:srgbClr val="10222F"/>
                </a:solidFill>
                <a:latin typeface="Garamond" pitchFamily="34" charset="0"/>
                <a:ea typeface="Garamond" pitchFamily="34" charset="-122"/>
                <a:cs typeface="Garamond" pitchFamily="34" charset="-120"/>
              </a:rPr>
              <a:t>Model SB2</a:t>
            </a:r>
            <a:endParaRPr lang="en-US" sz="1650" dirty="0"/>
          </a:p>
        </p:txBody>
      </p:sp>
      <p:pic>
        <p:nvPicPr>
          <p:cNvPr id="16" name="Image 2" descr="assets/s5_sb2.jpg">    </p:cNvPr>
          <p:cNvPicPr>
            <a:picLocks noChangeAspect="1"/>
          </p:cNvPicPr>
          <p:nvPr/>
        </p:nvPicPr>
        <p:blipFill>
          <a:blip r:embed="rId3"/>
          <a:stretch>
            <a:fillRect/>
          </a:stretch>
        </p:blipFill>
        <p:spPr>
          <a:xfrm>
            <a:off x="6327648" y="2377440"/>
            <a:ext cx="2377440" cy="1700784"/>
          </a:xfrm>
          <a:prstGeom prst="rect">
            <a:avLst/>
          </a:prstGeom>
        </p:spPr>
      </p:pic>
      <p:sp>
        <p:nvSpPr>
          <p:cNvPr id="17" name="Shape 12"/>
          <p:cNvSpPr/>
          <p:nvPr/>
        </p:nvSpPr>
        <p:spPr>
          <a:xfrm>
            <a:off x="6327648" y="2377440"/>
            <a:ext cx="2377440" cy="1700784"/>
          </a:xfrm>
          <a:prstGeom prst="rect">
            <a:avLst/>
          </a:prstGeom>
          <a:ln w="12700">
            <a:solidFill>
              <a:srgbClr val="C6D2DA"/>
            </a:solidFill>
            <a:prstDash val="solid"/>
          </a:ln>
        </p:spPr>
        <p:txBody>
          <a:bodyPr/>
          <a:p/>
        </p:txBody>
      </p:sp>
      <p:sp>
        <p:nvSpPr>
          <p:cNvPr id="18" name="Text 13"/>
          <p:cNvSpPr/>
          <p:nvPr/>
        </p:nvSpPr>
        <p:spPr>
          <a:xfrm>
            <a:off x="8887968" y="2395728"/>
            <a:ext cx="2377440" cy="2103120"/>
          </a:xfrm>
          <a:prstGeom prst="rect">
            <a:avLst/>
          </a:prstGeom>
          <a:noFill/>
          <a:ln/>
        </p:spPr>
        <p:txBody>
          <a:bodyPr wrap="square" lIns="0" tIns="0" rIns="0" bIns="0" rtlCol="0" anchor="t"/>
          <a:lstStyle/>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Deploys 1.0 m to 6.0 m</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Up to 50:1 stow ratio</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200 g class mass</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Rated -200 C to +200 C</a:t>
            </a:r>
            <a:endParaRPr lang="en-US" sz="1100" dirty="0"/>
          </a:p>
        </p:txBody>
      </p:sp>
      <p:sp>
        <p:nvSpPr>
          <p:cNvPr id="19" name="Text 14"/>
          <p:cNvSpPr/>
          <p:nvPr/>
        </p:nvSpPr>
        <p:spPr>
          <a:xfrm>
            <a:off x="6327648" y="4133088"/>
            <a:ext cx="246888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SB2 mechanism render</a:t>
            </a:r>
            <a:endParaRPr lang="en-US" sz="950" dirty="0"/>
          </a:p>
        </p:txBody>
      </p:sp>
      <p:pic>
        <p:nvPicPr>
          <p:cNvPr id="20" name="Image 3" descr="assets/s5_strip.jpg">    </p:cNvPr>
          <p:cNvPicPr>
            <a:picLocks noChangeAspect="1"/>
          </p:cNvPicPr>
          <p:nvPr/>
        </p:nvPicPr>
        <p:blipFill>
          <a:blip r:embed="rId4"/>
          <a:stretch>
            <a:fillRect/>
          </a:stretch>
        </p:blipFill>
        <p:spPr>
          <a:xfrm>
            <a:off x="822960" y="4828032"/>
            <a:ext cx="10543032" cy="1371600"/>
          </a:xfrm>
          <a:prstGeom prst="rect">
            <a:avLst/>
          </a:prstGeom>
        </p:spPr>
      </p:pic>
      <p:sp>
        <p:nvSpPr>
          <p:cNvPr id="21" name="Shape 15"/>
          <p:cNvSpPr/>
          <p:nvPr/>
        </p:nvSpPr>
        <p:spPr>
          <a:xfrm>
            <a:off x="822960" y="4828032"/>
            <a:ext cx="10543032" cy="1371600"/>
          </a:xfrm>
          <a:prstGeom prst="rect">
            <a:avLst/>
          </a:prstGeom>
          <a:ln w="12700">
            <a:solidFill>
              <a:srgbClr val="C6D2DA"/>
            </a:solidFill>
            <a:prstDash val="solid"/>
          </a:ln>
        </p:spPr>
        <p:txBody>
          <a:bodyPr/>
          <a:p/>
        </p:txBody>
      </p:sp>
      <p:sp>
        <p:nvSpPr>
          <p:cNvPr id="22" name="Text 16"/>
          <p:cNvSpPr/>
          <p:nvPr/>
        </p:nvSpPr>
        <p:spPr>
          <a:xfrm>
            <a:off x="822960" y="6236208"/>
            <a:ext cx="1042416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Europa Clipper REASON high frequency antenna configuration: 58 ft (17.6 m) tip to tip deployed length.</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 DETAIL</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Model SB1: The Flight Proven Workhorse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6</a:t>
            </a:r>
            <a:endParaRPr lang="en-US" sz="850" dirty="0"/>
          </a:p>
        </p:txBody>
      </p:sp>
      <p:sp>
        <p:nvSpPr>
          <p:cNvPr id="7" name="Text 4"/>
          <p:cNvSpPr/>
          <p:nvPr/>
        </p:nvSpPr>
        <p:spPr>
          <a:xfrm>
            <a:off x="822960" y="1371600"/>
            <a:ext cx="5806440" cy="685800"/>
          </a:xfrm>
          <a:prstGeom prst="rect">
            <a:avLst/>
          </a:prstGeom>
          <a:noFill/>
          <a:ln/>
        </p:spPr>
        <p:txBody>
          <a:bodyPr wrap="square" lIns="0" tIns="0" rIns="0" bIns="0" rtlCol="0" anchor="t"/>
          <a:lstStyle/>
          <a:p>
            <a:pPr indent="0" marL="0">
              <a:lnSpc>
                <a:spcPct val="105000"/>
              </a:lnSpc>
              <a:buNone/>
            </a:pPr>
            <a:r>
              <a:rPr lang="en-US" sz="1250" dirty="0">
                <a:solidFill>
                  <a:srgbClr val="1E2A33"/>
                </a:solidFill>
                <a:latin typeface="Garamond" pitchFamily="34" charset="0"/>
                <a:ea typeface="Garamond" pitchFamily="34" charset="-122"/>
                <a:cs typeface="Garamond" pitchFamily="34" charset="-120"/>
              </a:rPr>
              <a:t>A low mass, compact, high reliability boom for antennas, sensors, and deployed hardware, with well controlled deployment to precise lengths of up to 10.0 m.</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2960" y="2148840"/>
          <a:ext cx="5806440" cy="914400"/>
        </p:xfrm>
        <a:graphic>
          <a:graphicData uri="http://schemas.openxmlformats.org/drawingml/2006/table">
            <a:tbl>
              <a:tblPr/>
              <a:tblGrid>
                <a:gridCol w="1965960"/>
                <a:gridCol w="3840480"/>
              </a:tblGrid>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Deployed length</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3.3 to 32.8 ft (1.0 to 10.0 m), selectable</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Mass</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7.7 lb (3.5 kg) at 4.0 m; 11.0 lb (5.0 kg) at 10.0 m</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Stowed envelope</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4.2 x 5.3 x 13.6 in (11 x 13 x 35 cm)</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Deploy power</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25 W (+28 V at 0.9 A) for 30 s, typical</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Deployment control</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About 0.5 m/s; length precision of +/- 0.25 in</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Thermal, post deploy</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-135 C to +120 C</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Structure</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Stowed first mode above 200 Hz</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Random vibration</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GSFC-STD-7000B protoflight levels</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bl>
          </a:graphicData>
        </a:graphic>
      </p:graphicFrame>
      <p:pic>
        <p:nvPicPr>
          <p:cNvPr id="9" name="Image 1" descr="assets/s6_test.jpg">    </p:cNvPr>
          <p:cNvPicPr>
            <a:picLocks noChangeAspect="1"/>
          </p:cNvPicPr>
          <p:nvPr/>
        </p:nvPicPr>
        <p:blipFill>
          <a:blip r:embed="rId2"/>
          <a:stretch>
            <a:fillRect/>
          </a:stretch>
        </p:blipFill>
        <p:spPr>
          <a:xfrm>
            <a:off x="6995160" y="1417320"/>
            <a:ext cx="4114800" cy="2103120"/>
          </a:xfrm>
          <a:prstGeom prst="rect">
            <a:avLst/>
          </a:prstGeom>
        </p:spPr>
      </p:pic>
      <p:sp>
        <p:nvSpPr>
          <p:cNvPr id="10" name="Shape 5"/>
          <p:cNvSpPr/>
          <p:nvPr/>
        </p:nvSpPr>
        <p:spPr>
          <a:xfrm>
            <a:off x="6995160" y="1417320"/>
            <a:ext cx="4114800" cy="2103120"/>
          </a:xfrm>
          <a:prstGeom prst="rect">
            <a:avLst/>
          </a:prstGeom>
          <a:ln w="12700">
            <a:solidFill>
              <a:srgbClr val="C6D2DA"/>
            </a:solidFill>
            <a:prstDash val="solid"/>
          </a:ln>
        </p:spPr>
        <p:txBody>
          <a:bodyPr/>
          <a:p/>
        </p:txBody>
      </p:sp>
      <p:sp>
        <p:nvSpPr>
          <p:cNvPr id="11" name="Text 6"/>
          <p:cNvSpPr/>
          <p:nvPr/>
        </p:nvSpPr>
        <p:spPr>
          <a:xfrm>
            <a:off x="6995160" y="3547872"/>
            <a:ext cx="411480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Controlled deployment testing at the Berkeley facility.</a:t>
            </a:r>
            <a:endParaRPr lang="en-US" sz="950" dirty="0"/>
          </a:p>
        </p:txBody>
      </p:sp>
      <p:pic>
        <p:nvPicPr>
          <p:cNvPr id="12" name="Image 2" descr="assets/s6_array.jpg">    </p:cNvPr>
          <p:cNvPicPr>
            <a:picLocks noChangeAspect="1"/>
          </p:cNvPicPr>
          <p:nvPr/>
        </p:nvPicPr>
        <p:blipFill>
          <a:blip r:embed="rId3"/>
          <a:stretch>
            <a:fillRect/>
          </a:stretch>
        </p:blipFill>
        <p:spPr>
          <a:xfrm>
            <a:off x="6995160" y="3913632"/>
            <a:ext cx="4114800" cy="2103120"/>
          </a:xfrm>
          <a:prstGeom prst="rect">
            <a:avLst/>
          </a:prstGeom>
        </p:spPr>
      </p:pic>
      <p:sp>
        <p:nvSpPr>
          <p:cNvPr id="13" name="Shape 7"/>
          <p:cNvSpPr/>
          <p:nvPr/>
        </p:nvSpPr>
        <p:spPr>
          <a:xfrm>
            <a:off x="6995160" y="3913632"/>
            <a:ext cx="4114800" cy="2103120"/>
          </a:xfrm>
          <a:prstGeom prst="rect">
            <a:avLst/>
          </a:prstGeom>
          <a:ln w="12700">
            <a:solidFill>
              <a:srgbClr val="C6D2DA"/>
            </a:solidFill>
            <a:prstDash val="solid"/>
          </a:ln>
        </p:spPr>
        <p:txBody>
          <a:bodyPr/>
          <a:p/>
        </p:txBody>
      </p:sp>
      <p:sp>
        <p:nvSpPr>
          <p:cNvPr id="14" name="Text 8"/>
          <p:cNvSpPr/>
          <p:nvPr/>
        </p:nvSpPr>
        <p:spPr>
          <a:xfrm>
            <a:off x="6995160" y="6044184"/>
            <a:ext cx="411480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SB1 class mechanism integrated on a flight solar array.</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 DETAIL</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Model SB2: SABER for Small Platforms</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7</a:t>
            </a:r>
            <a:endParaRPr lang="en-US" sz="850" dirty="0"/>
          </a:p>
        </p:txBody>
      </p:sp>
      <p:sp>
        <p:nvSpPr>
          <p:cNvPr id="7" name="Text 4"/>
          <p:cNvSpPr/>
          <p:nvPr/>
        </p:nvSpPr>
        <p:spPr>
          <a:xfrm>
            <a:off x="822960" y="1371600"/>
            <a:ext cx="6400800" cy="548640"/>
          </a:xfrm>
          <a:prstGeom prst="rect">
            <a:avLst/>
          </a:prstGeom>
          <a:noFill/>
          <a:ln/>
        </p:spPr>
        <p:txBody>
          <a:bodyPr wrap="square" lIns="0" tIns="0" rIns="0" bIns="0" rtlCol="0" anchor="t"/>
          <a:lstStyle/>
          <a:p>
            <a:pPr indent="0" marL="0">
              <a:lnSpc>
                <a:spcPct val="105000"/>
              </a:lnSpc>
              <a:buNone/>
            </a:pPr>
            <a:r>
              <a:rPr lang="en-US" sz="1250" dirty="0">
                <a:solidFill>
                  <a:srgbClr val="1E2A33"/>
                </a:solidFill>
                <a:latin typeface="Garamond" pitchFamily="34" charset="0"/>
                <a:ea typeface="Garamond" pitchFamily="34" charset="-122"/>
                <a:cs typeface="Garamond" pitchFamily="34" charset="-120"/>
              </a:rPr>
              <a:t>A 200 gram class deployable boom that brings full SABER capability to CubeSats, lunar payloads, and mass constrained platforms.</a:t>
            </a:r>
            <a:endParaRPr lang="en-US" sz="1250" dirty="0"/>
          </a:p>
        </p:txBody>
      </p:sp>
      <p:sp>
        <p:nvSpPr>
          <p:cNvPr id="8" name="Text 5"/>
          <p:cNvSpPr/>
          <p:nvPr/>
        </p:nvSpPr>
        <p:spPr>
          <a:xfrm>
            <a:off x="822960" y="2057400"/>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Deployed length</a:t>
            </a:r>
            <a:endParaRPr lang="en-US" sz="1050" dirty="0"/>
          </a:p>
        </p:txBody>
      </p:sp>
      <p:sp>
        <p:nvSpPr>
          <p:cNvPr id="9" name="Text 6"/>
          <p:cNvSpPr/>
          <p:nvPr/>
        </p:nvSpPr>
        <p:spPr>
          <a:xfrm>
            <a:off x="822960" y="2276856"/>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Up to 19.7 ft (6.0 m)</a:t>
            </a:r>
            <a:endParaRPr lang="en-US" sz="1250" dirty="0"/>
          </a:p>
        </p:txBody>
      </p:sp>
      <p:sp>
        <p:nvSpPr>
          <p:cNvPr id="10" name="Text 7"/>
          <p:cNvSpPr/>
          <p:nvPr/>
        </p:nvSpPr>
        <p:spPr>
          <a:xfrm>
            <a:off x="4069080" y="2057400"/>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Mass</a:t>
            </a:r>
            <a:endParaRPr lang="en-US" sz="1050" dirty="0"/>
          </a:p>
        </p:txBody>
      </p:sp>
      <p:sp>
        <p:nvSpPr>
          <p:cNvPr id="11" name="Text 8"/>
          <p:cNvSpPr/>
          <p:nvPr/>
        </p:nvSpPr>
        <p:spPr>
          <a:xfrm>
            <a:off x="4069080" y="2276856"/>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0.44 lb (200 g)</a:t>
            </a:r>
            <a:endParaRPr lang="en-US" sz="1250" dirty="0"/>
          </a:p>
        </p:txBody>
      </p:sp>
      <p:sp>
        <p:nvSpPr>
          <p:cNvPr id="12" name="Text 9"/>
          <p:cNvSpPr/>
          <p:nvPr/>
        </p:nvSpPr>
        <p:spPr>
          <a:xfrm>
            <a:off x="822960" y="2715768"/>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Stowed envelope</a:t>
            </a:r>
            <a:endParaRPr lang="en-US" sz="1050" dirty="0"/>
          </a:p>
        </p:txBody>
      </p:sp>
      <p:sp>
        <p:nvSpPr>
          <p:cNvPr id="13" name="Text 10"/>
          <p:cNvSpPr/>
          <p:nvPr/>
        </p:nvSpPr>
        <p:spPr>
          <a:xfrm>
            <a:off x="822960" y="2935224"/>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1.4 x 1.8 x 3.2 in</a:t>
            </a:r>
            <a:endParaRPr lang="en-US" sz="1250" dirty="0"/>
          </a:p>
        </p:txBody>
      </p:sp>
      <p:sp>
        <p:nvSpPr>
          <p:cNvPr id="14" name="Text 11"/>
          <p:cNvSpPr/>
          <p:nvPr/>
        </p:nvSpPr>
        <p:spPr>
          <a:xfrm>
            <a:off x="4069080" y="2715768"/>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Stow ratio</a:t>
            </a:r>
            <a:endParaRPr lang="en-US" sz="1050" dirty="0"/>
          </a:p>
        </p:txBody>
      </p:sp>
      <p:sp>
        <p:nvSpPr>
          <p:cNvPr id="15" name="Text 12"/>
          <p:cNvSpPr/>
          <p:nvPr/>
        </p:nvSpPr>
        <p:spPr>
          <a:xfrm>
            <a:off x="4069080" y="2935224"/>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Up to 50:1</a:t>
            </a:r>
            <a:endParaRPr lang="en-US" sz="1250" dirty="0"/>
          </a:p>
        </p:txBody>
      </p:sp>
      <p:sp>
        <p:nvSpPr>
          <p:cNvPr id="16" name="Text 13"/>
          <p:cNvSpPr/>
          <p:nvPr/>
        </p:nvSpPr>
        <p:spPr>
          <a:xfrm>
            <a:off x="822960" y="3374136"/>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Thermal capability</a:t>
            </a:r>
            <a:endParaRPr lang="en-US" sz="1050" dirty="0"/>
          </a:p>
        </p:txBody>
      </p:sp>
      <p:sp>
        <p:nvSpPr>
          <p:cNvPr id="17" name="Text 14"/>
          <p:cNvSpPr/>
          <p:nvPr/>
        </p:nvSpPr>
        <p:spPr>
          <a:xfrm>
            <a:off x="822960" y="3593592"/>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-200 C to +200 C</a:t>
            </a:r>
            <a:endParaRPr lang="en-US" sz="1250" dirty="0"/>
          </a:p>
        </p:txBody>
      </p:sp>
      <p:sp>
        <p:nvSpPr>
          <p:cNvPr id="18" name="Text 15"/>
          <p:cNvSpPr/>
          <p:nvPr/>
        </p:nvSpPr>
        <p:spPr>
          <a:xfrm>
            <a:off x="4069080" y="3374136"/>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Deploy power</a:t>
            </a:r>
            <a:endParaRPr lang="en-US" sz="1050" dirty="0"/>
          </a:p>
        </p:txBody>
      </p:sp>
      <p:sp>
        <p:nvSpPr>
          <p:cNvPr id="19" name="Text 16"/>
          <p:cNvSpPr/>
          <p:nvPr/>
        </p:nvSpPr>
        <p:spPr>
          <a:xfrm>
            <a:off x="4069080" y="3593592"/>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134 W pulse, under 10 ms</a:t>
            </a:r>
            <a:endParaRPr lang="en-US" sz="1250" dirty="0"/>
          </a:p>
        </p:txBody>
      </p:sp>
      <p:sp>
        <p:nvSpPr>
          <p:cNvPr id="20" name="Shape 17"/>
          <p:cNvSpPr/>
          <p:nvPr/>
        </p:nvSpPr>
        <p:spPr>
          <a:xfrm>
            <a:off x="822960" y="4160520"/>
            <a:ext cx="6400800" cy="2057400"/>
          </a:xfrm>
          <a:prstGeom prst="roundRect">
            <a:avLst>
              <a:gd name="adj" fmla="val 2222"/>
            </a:avLst>
          </a:prstGeom>
          <a:solidFill>
            <a:srgbClr val="F3F7FA"/>
          </a:solidFill>
          <a:ln/>
        </p:spPr>
        <p:txBody>
          <a:bodyPr/>
          <a:p/>
        </p:txBody>
      </p:sp>
      <p:sp>
        <p:nvSpPr>
          <p:cNvPr id="21" name="Text 18"/>
          <p:cNvSpPr/>
          <p:nvPr/>
        </p:nvSpPr>
        <p:spPr>
          <a:xfrm>
            <a:off x="1005840" y="4315968"/>
            <a:ext cx="603504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Proprietary release mechanism</a:t>
            </a:r>
            <a:endParaRPr lang="en-US" sz="1350" dirty="0"/>
          </a:p>
        </p:txBody>
      </p:sp>
      <p:sp>
        <p:nvSpPr>
          <p:cNvPr id="22" name="Text 19"/>
          <p:cNvSpPr/>
          <p:nvPr/>
        </p:nvSpPr>
        <p:spPr>
          <a:xfrm>
            <a:off x="1005840" y="4663440"/>
            <a:ext cx="6035040" cy="1463040"/>
          </a:xfrm>
          <a:prstGeom prst="rect">
            <a:avLst/>
          </a:prstGeom>
          <a:noFill/>
          <a:ln/>
        </p:spPr>
        <p:txBody>
          <a:bodyPr wrap="square" lIns="0" tIns="0" rIns="0" bIns="0" rtlCol="0" anchor="t"/>
          <a:lstStyle/>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Melt wire design with redundant actuation mechanisms and circuits</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Re usable, non explosive release; no ordnance handling</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Operates above 150 C, beyond the 90 to 120 C limit of SMA actuators</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Roughly one third the stowed length of comparable devices, at lower cost and shorter lead times</a:t>
            </a:r>
            <a:endParaRPr lang="en-US" sz="1100" dirty="0"/>
          </a:p>
        </p:txBody>
      </p:sp>
      <p:pic>
        <p:nvPicPr>
          <p:cNvPr id="23" name="Image 1" descr="assets/s7_render.jpg">    </p:cNvPr>
          <p:cNvPicPr>
            <a:picLocks noChangeAspect="1"/>
          </p:cNvPicPr>
          <p:nvPr/>
        </p:nvPicPr>
        <p:blipFill>
          <a:blip r:embed="rId2"/>
          <a:stretch>
            <a:fillRect/>
          </a:stretch>
        </p:blipFill>
        <p:spPr>
          <a:xfrm>
            <a:off x="7635240" y="1417320"/>
            <a:ext cx="3200400" cy="2926080"/>
          </a:xfrm>
          <a:prstGeom prst="rect">
            <a:avLst/>
          </a:prstGeom>
        </p:spPr>
      </p:pic>
      <p:sp>
        <p:nvSpPr>
          <p:cNvPr id="24" name="Shape 20"/>
          <p:cNvSpPr/>
          <p:nvPr/>
        </p:nvSpPr>
        <p:spPr>
          <a:xfrm>
            <a:off x="7635240" y="1417320"/>
            <a:ext cx="3200400" cy="2926080"/>
          </a:xfrm>
          <a:prstGeom prst="rect">
            <a:avLst/>
          </a:prstGeom>
          <a:ln w="12700">
            <a:solidFill>
              <a:srgbClr val="C6D2DA"/>
            </a:solidFill>
            <a:prstDash val="solid"/>
          </a:ln>
        </p:spPr>
        <p:txBody>
          <a:bodyPr/>
          <a:p/>
        </p:txBody>
      </p:sp>
      <p:sp>
        <p:nvSpPr>
          <p:cNvPr id="25" name="Text 21"/>
          <p:cNvSpPr/>
          <p:nvPr/>
        </p:nvSpPr>
        <p:spPr>
          <a:xfrm>
            <a:off x="7635240" y="4370832"/>
            <a:ext cx="320040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Deployable element shown in red.</a:t>
            </a:r>
            <a:endParaRPr lang="en-US" sz="950" dirty="0"/>
          </a:p>
        </p:txBody>
      </p:sp>
      <p:pic>
        <p:nvPicPr>
          <p:cNvPr id="26" name="Image 2" descr="assets/s7_dims.jpg">    </p:cNvPr>
          <p:cNvPicPr>
            <a:picLocks noChangeAspect="1"/>
          </p:cNvPicPr>
          <p:nvPr/>
        </p:nvPicPr>
        <p:blipFill>
          <a:blip r:embed="rId3"/>
          <a:stretch>
            <a:fillRect/>
          </a:stretch>
        </p:blipFill>
        <p:spPr>
          <a:xfrm>
            <a:off x="7635240" y="4754880"/>
            <a:ext cx="3200400" cy="1828800"/>
          </a:xfrm>
          <a:prstGeom prst="rect">
            <a:avLst/>
          </a:prstGeom>
        </p:spPr>
      </p:pic>
      <p:sp>
        <p:nvSpPr>
          <p:cNvPr id="27" name="Shape 22"/>
          <p:cNvSpPr/>
          <p:nvPr/>
        </p:nvSpPr>
        <p:spPr>
          <a:xfrm>
            <a:off x="7635240" y="4754880"/>
            <a:ext cx="3200400" cy="1828800"/>
          </a:xfrm>
          <a:prstGeom prst="rect">
            <a:avLst/>
          </a:prstGeom>
          <a:ln w="12700">
            <a:solidFill>
              <a:srgbClr val="C6D2DA"/>
            </a:solidFill>
            <a:prstDash val="solid"/>
          </a:ln>
        </p:spPr>
        <p:txBody>
          <a:body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Deployable Antenna Systems</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8</a:t>
            </a:r>
            <a:endParaRPr lang="en-US" sz="850" dirty="0"/>
          </a:p>
        </p:txBody>
      </p:sp>
      <p:sp>
        <p:nvSpPr>
          <p:cNvPr id="7" name="Text 4"/>
          <p:cNvSpPr/>
          <p:nvPr/>
        </p:nvSpPr>
        <p:spPr>
          <a:xfrm>
            <a:off x="822960" y="1353312"/>
            <a:ext cx="10424160" cy="548640"/>
          </a:xfrm>
          <a:prstGeom prst="rect">
            <a:avLst/>
          </a:prstGeom>
          <a:noFill/>
          <a:ln/>
        </p:spPr>
        <p:txBody>
          <a:bodyPr wrap="square" lIns="0" tIns="0" rIns="0" bIns="0" rtlCol="0" anchor="t"/>
          <a:lstStyle/>
          <a:p>
            <a:pPr indent="0" marL="0">
              <a:buNone/>
            </a:pPr>
            <a:r>
              <a:rPr lang="en-US" sz="1300" dirty="0">
                <a:solidFill>
                  <a:srgbClr val="5C6B76"/>
                </a:solidFill>
                <a:latin typeface="Garamond" pitchFamily="34" charset="0"/>
                <a:ea typeface="Garamond" pitchFamily="34" charset="-122"/>
                <a:cs typeface="Garamond" pitchFamily="34" charset="-120"/>
              </a:rPr>
              <a:t>Stacer based flight antennas for sensitive receivers, transmitters, and radars, configurable as monopoles, dipoles, folded dipoles, and custom arrays with tip mounted instruments.</a:t>
            </a:r>
            <a:endParaRPr lang="en-US" sz="1300" dirty="0"/>
          </a:p>
        </p:txBody>
      </p:sp>
      <p:sp>
        <p:nvSpPr>
          <p:cNvPr id="8" name="Text 5"/>
          <p:cNvSpPr/>
          <p:nvPr/>
        </p:nvSpPr>
        <p:spPr>
          <a:xfrm>
            <a:off x="822960" y="2121408"/>
            <a:ext cx="539496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Configurations and options</a:t>
            </a:r>
            <a:endParaRPr lang="en-US" sz="1350" dirty="0"/>
          </a:p>
        </p:txBody>
      </p:sp>
      <p:sp>
        <p:nvSpPr>
          <p:cNvPr id="9" name="Text 6"/>
          <p:cNvSpPr/>
          <p:nvPr/>
        </p:nvSpPr>
        <p:spPr>
          <a:xfrm>
            <a:off x="822960" y="2450592"/>
            <a:ext cx="5394960" cy="1691640"/>
          </a:xfrm>
          <a:prstGeom prst="rect">
            <a:avLst/>
          </a:prstGeom>
          <a:noFill/>
          <a:ln/>
        </p:spPr>
        <p:txBody>
          <a:bodyPr wrap="square" lIns="0" tIns="0" rIns="0" bIns="0" rtlCol="0" anchor="t"/>
          <a:lstStyle/>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Element lengths of 1 m to 10 m in BeCu or Elgiloy</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Monopole, dipole, folded dipole, and custom geometries</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Grounded, isolated, or driven antenna elements</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Sensors and instruments integrated at the boom tip</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Delivered fully qualified to mission requirements</a:t>
            </a:r>
            <a:endParaRPr lang="en-US" sz="1150" dirty="0"/>
          </a:p>
        </p:txBody>
      </p:sp>
      <p:sp>
        <p:nvSpPr>
          <p:cNvPr id="10" name="Shape 7"/>
          <p:cNvSpPr/>
          <p:nvPr/>
        </p:nvSpPr>
        <p:spPr>
          <a:xfrm>
            <a:off x="822960" y="4343400"/>
            <a:ext cx="5394960" cy="1828800"/>
          </a:xfrm>
          <a:prstGeom prst="roundRect">
            <a:avLst>
              <a:gd name="adj" fmla="val 2500"/>
            </a:avLst>
          </a:prstGeom>
          <a:solidFill>
            <a:srgbClr val="F3F7FA"/>
          </a:solidFill>
          <a:ln/>
        </p:spPr>
        <p:txBody>
          <a:bodyPr/>
          <a:p/>
        </p:txBody>
      </p:sp>
      <p:sp>
        <p:nvSpPr>
          <p:cNvPr id="11" name="Text 8"/>
          <p:cNvSpPr/>
          <p:nvPr/>
        </p:nvSpPr>
        <p:spPr>
          <a:xfrm>
            <a:off x="987552" y="4480560"/>
            <a:ext cx="5120640" cy="274320"/>
          </a:xfrm>
          <a:prstGeom prst="rect">
            <a:avLst/>
          </a:prstGeom>
          <a:noFill/>
          <a:ln/>
        </p:spPr>
        <p:txBody>
          <a:bodyPr wrap="square" lIns="0" tIns="0" rIns="0" bIns="0" rtlCol="0" anchor="ctr"/>
          <a:lstStyle/>
          <a:p>
            <a:pPr indent="0" marL="0">
              <a:buNone/>
            </a:pPr>
            <a:r>
              <a:rPr lang="en-US" sz="1250" b="1" dirty="0">
                <a:solidFill>
                  <a:srgbClr val="10222F"/>
                </a:solidFill>
                <a:latin typeface="Garamond" pitchFamily="34" charset="0"/>
                <a:ea typeface="Garamond" pitchFamily="34" charset="-122"/>
                <a:cs typeface="Garamond" pitchFamily="34" charset="-120"/>
              </a:rPr>
              <a:t>Example: 18 m tip to tip dipole (REASON HF class)</a:t>
            </a:r>
            <a:endParaRPr lang="en-US" sz="1250" dirty="0"/>
          </a:p>
        </p:txBody>
      </p:sp>
      <p:sp>
        <p:nvSpPr>
          <p:cNvPr id="12" name="Text 9"/>
          <p:cNvSpPr/>
          <p:nvPr/>
        </p:nvSpPr>
        <p:spPr>
          <a:xfrm>
            <a:off x="987552" y="4828032"/>
            <a:ext cx="5074920" cy="1234440"/>
          </a:xfrm>
          <a:prstGeom prst="rect">
            <a:avLst/>
          </a:prstGeom>
          <a:noFill/>
          <a:ln/>
        </p:spPr>
        <p:txBody>
          <a:bodyPr wrap="square" lIns="0" tIns="0" rIns="0" bIns="0" rtlCol="0" anchor="t"/>
          <a:lstStyle/>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Dipole mass under 11.3 kg; 20 x 30 x 10 cm stowed per side</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Self powered deployment with non explosive actuation</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Hundreds of successful operational Stacer deployments</a:t>
            </a:r>
            <a:endParaRPr lang="en-US" sz="1100" dirty="0"/>
          </a:p>
        </p:txBody>
      </p:sp>
      <p:pic>
        <p:nvPicPr>
          <p:cNvPr id="13" name="Image 1" descr="assets/s8a_dipole.jpg">    </p:cNvPr>
          <p:cNvPicPr>
            <a:picLocks noChangeAspect="1"/>
          </p:cNvPicPr>
          <p:nvPr/>
        </p:nvPicPr>
        <p:blipFill>
          <a:blip r:embed="rId2"/>
          <a:stretch>
            <a:fillRect/>
          </a:stretch>
        </p:blipFill>
        <p:spPr>
          <a:xfrm>
            <a:off x="6492240" y="2121408"/>
            <a:ext cx="4873752" cy="1609344"/>
          </a:xfrm>
          <a:prstGeom prst="rect">
            <a:avLst/>
          </a:prstGeom>
        </p:spPr>
      </p:pic>
      <p:sp>
        <p:nvSpPr>
          <p:cNvPr id="14" name="Shape 10"/>
          <p:cNvSpPr/>
          <p:nvPr/>
        </p:nvSpPr>
        <p:spPr>
          <a:xfrm>
            <a:off x="6492240" y="2121408"/>
            <a:ext cx="4873752" cy="1609344"/>
          </a:xfrm>
          <a:prstGeom prst="rect">
            <a:avLst/>
          </a:prstGeom>
          <a:ln w="12700">
            <a:solidFill>
              <a:srgbClr val="C6D2DA"/>
            </a:solidFill>
            <a:prstDash val="solid"/>
          </a:ln>
        </p:spPr>
        <p:txBody>
          <a:bodyPr/>
          <a:p/>
        </p:txBody>
      </p:sp>
      <p:sp>
        <p:nvSpPr>
          <p:cNvPr id="15" name="Text 11"/>
          <p:cNvSpPr/>
          <p:nvPr/>
        </p:nvSpPr>
        <p:spPr>
          <a:xfrm>
            <a:off x="6492240" y="3758184"/>
            <a:ext cx="484632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18 m class dipole with central mechanism, shown deployed.</a:t>
            </a:r>
            <a:endParaRPr lang="en-US" sz="950" dirty="0"/>
          </a:p>
        </p:txBody>
      </p:sp>
      <p:sp>
        <p:nvSpPr>
          <p:cNvPr id="16" name="Text 12"/>
          <p:cNvSpPr/>
          <p:nvPr/>
        </p:nvSpPr>
        <p:spPr>
          <a:xfrm>
            <a:off x="6492240" y="4133088"/>
            <a:ext cx="484632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Flight heritage</a:t>
            </a:r>
            <a:endParaRPr lang="en-US" sz="13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92240" y="4462272"/>
          <a:ext cx="4873752" cy="914400"/>
        </p:xfrm>
        <a:graphic>
          <a:graphicData uri="http://schemas.openxmlformats.org/drawingml/2006/table">
            <a:tbl>
              <a:tblPr/>
              <a:tblGrid>
                <a:gridCol w="1874520"/>
                <a:gridCol w="2999232"/>
              </a:tblGrid>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Solar Orbiter RPW (ESA)</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Three 6.5 m antennas, DC to 20 MHz</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Europa Clipper REASON</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Two 18 m dipoles; four 2.5 m folded dipoles</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SunRISE (NASA/JPL)</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28 monopoles for a CubeSat constellation</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Sensors, Mechanisms, and Instruments</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9</a:t>
            </a:r>
            <a:endParaRPr lang="en-US" sz="850" dirty="0"/>
          </a:p>
        </p:txBody>
      </p:sp>
      <p:sp>
        <p:nvSpPr>
          <p:cNvPr id="7" name="Text 4"/>
          <p:cNvSpPr/>
          <p:nvPr/>
        </p:nvSpPr>
        <p:spPr>
          <a:xfrm>
            <a:off x="822960" y="1353312"/>
            <a:ext cx="10424160" cy="548640"/>
          </a:xfrm>
          <a:prstGeom prst="rect">
            <a:avLst/>
          </a:prstGeom>
          <a:noFill/>
          <a:ln/>
        </p:spPr>
        <p:txBody>
          <a:bodyPr wrap="square" lIns="0" tIns="0" rIns="0" bIns="0" rtlCol="0" anchor="t"/>
          <a:lstStyle/>
          <a:p>
            <a:pPr indent="0" marL="0">
              <a:buNone/>
            </a:pPr>
            <a:r>
              <a:rPr lang="en-US" sz="1300" dirty="0">
                <a:solidFill>
                  <a:srgbClr val="5C6B76"/>
                </a:solidFill>
                <a:latin typeface="Garamond" pitchFamily="34" charset="0"/>
                <a:ea typeface="Garamond" pitchFamily="34" charset="-122"/>
                <a:cs typeface="Garamond" pitchFamily="34" charset="-120"/>
              </a:rPr>
              <a:t>Beyond booms and antennas, Heliospace delivers the surrounding flight hardware: payload sensors, release and retention mechanisms, instrument structures, and extreme environment thermal protection.</a:t>
            </a:r>
            <a:endParaRPr lang="en-US" sz="1300" dirty="0"/>
          </a:p>
        </p:txBody>
      </p:sp>
      <p:sp>
        <p:nvSpPr>
          <p:cNvPr id="8" name="Shape 5"/>
          <p:cNvSpPr/>
          <p:nvPr/>
        </p:nvSpPr>
        <p:spPr>
          <a:xfrm>
            <a:off x="822960" y="1938528"/>
            <a:ext cx="5175504" cy="2084832"/>
          </a:xfrm>
          <a:prstGeom prst="roundRect">
            <a:avLst>
              <a:gd name="adj" fmla="val 2193"/>
            </a:avLst>
          </a:prstGeom>
          <a:solidFill>
            <a:srgbClr val="F3F7FA"/>
          </a:solidFill>
          <a:ln/>
        </p:spPr>
        <p:txBody>
          <a:bodyPr/>
          <a:p/>
        </p:txBody>
      </p:sp>
      <p:pic>
        <p:nvPicPr>
          <p:cNvPr id="9" name="Image 1" descr="assets/s9_lms.jpg">    </p:cNvPr>
          <p:cNvPicPr>
            <a:picLocks noChangeAspect="1"/>
          </p:cNvPicPr>
          <p:nvPr/>
        </p:nvPicPr>
        <p:blipFill>
          <a:blip r:embed="rId2"/>
          <a:stretch>
            <a:fillRect/>
          </a:stretch>
        </p:blipFill>
        <p:spPr>
          <a:xfrm>
            <a:off x="960120" y="2084832"/>
            <a:ext cx="1792224" cy="1792224"/>
          </a:xfrm>
          <a:prstGeom prst="rect">
            <a:avLst/>
          </a:prstGeom>
        </p:spPr>
      </p:pic>
      <p:sp>
        <p:nvSpPr>
          <p:cNvPr id="10" name="Shape 6"/>
          <p:cNvSpPr/>
          <p:nvPr/>
        </p:nvSpPr>
        <p:spPr>
          <a:xfrm>
            <a:off x="960120" y="2084832"/>
            <a:ext cx="1792224" cy="1792224"/>
          </a:xfrm>
          <a:prstGeom prst="rect">
            <a:avLst/>
          </a:prstGeom>
          <a:ln w="12700">
            <a:solidFill>
              <a:srgbClr val="C6D2DA"/>
            </a:solidFill>
            <a:prstDash val="solid"/>
          </a:ln>
        </p:spPr>
        <p:txBody>
          <a:bodyPr/>
          <a:p/>
        </p:txBody>
      </p:sp>
      <p:sp>
        <p:nvSpPr>
          <p:cNvPr id="11" name="Text 7"/>
          <p:cNvSpPr/>
          <p:nvPr/>
        </p:nvSpPr>
        <p:spPr>
          <a:xfrm>
            <a:off x="2907792" y="2084832"/>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Lunar and suborbital payloads</a:t>
            </a:r>
            <a:endParaRPr lang="en-US" sz="1350" dirty="0"/>
          </a:p>
        </p:txBody>
      </p:sp>
      <p:sp>
        <p:nvSpPr>
          <p:cNvPr id="12" name="Text 8"/>
          <p:cNvSpPr/>
          <p:nvPr/>
        </p:nvSpPr>
        <p:spPr>
          <a:xfrm>
            <a:off x="2907792" y="2414016"/>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Electric field sensor packages and launch mortars for the LMS instrument, ROLSES lunar antennas, and 7 m quad boom packages for the SEED sounding rocket program.</a:t>
            </a:r>
            <a:endParaRPr lang="en-US" sz="1050" dirty="0"/>
          </a:p>
        </p:txBody>
      </p:sp>
      <p:sp>
        <p:nvSpPr>
          <p:cNvPr id="13" name="Shape 9"/>
          <p:cNvSpPr/>
          <p:nvPr/>
        </p:nvSpPr>
        <p:spPr>
          <a:xfrm>
            <a:off x="6190488" y="1938528"/>
            <a:ext cx="5175504" cy="2084832"/>
          </a:xfrm>
          <a:prstGeom prst="roundRect">
            <a:avLst>
              <a:gd name="adj" fmla="val 2193"/>
            </a:avLst>
          </a:prstGeom>
          <a:solidFill>
            <a:srgbClr val="F3F7FA"/>
          </a:solidFill>
          <a:ln/>
        </p:spPr>
        <p:txBody>
          <a:bodyPr/>
          <a:p/>
        </p:txBody>
      </p:sp>
      <p:pic>
        <p:nvPicPr>
          <p:cNvPr id="14" name="Image 2" descr="assets/s9_msr.jpg">    </p:cNvPr>
          <p:cNvPicPr>
            <a:picLocks noChangeAspect="1"/>
          </p:cNvPicPr>
          <p:nvPr/>
        </p:nvPicPr>
        <p:blipFill>
          <a:blip r:embed="rId3"/>
          <a:stretch>
            <a:fillRect/>
          </a:stretch>
        </p:blipFill>
        <p:spPr>
          <a:xfrm>
            <a:off x="6327648" y="2084832"/>
            <a:ext cx="1792224" cy="1792224"/>
          </a:xfrm>
          <a:prstGeom prst="rect">
            <a:avLst/>
          </a:prstGeom>
        </p:spPr>
      </p:pic>
      <p:sp>
        <p:nvSpPr>
          <p:cNvPr id="15" name="Shape 10"/>
          <p:cNvSpPr/>
          <p:nvPr/>
        </p:nvSpPr>
        <p:spPr>
          <a:xfrm>
            <a:off x="6327648" y="2084832"/>
            <a:ext cx="1792224" cy="1792224"/>
          </a:xfrm>
          <a:prstGeom prst="rect">
            <a:avLst/>
          </a:prstGeom>
          <a:ln w="12700">
            <a:solidFill>
              <a:srgbClr val="C6D2DA"/>
            </a:solidFill>
            <a:prstDash val="solid"/>
          </a:ln>
        </p:spPr>
        <p:txBody>
          <a:bodyPr/>
          <a:p/>
        </p:txBody>
      </p:sp>
      <p:sp>
        <p:nvSpPr>
          <p:cNvPr id="16" name="Text 11"/>
          <p:cNvSpPr/>
          <p:nvPr/>
        </p:nvSpPr>
        <p:spPr>
          <a:xfrm>
            <a:off x="8275320" y="2084832"/>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Release mechanisms</a:t>
            </a:r>
            <a:endParaRPr lang="en-US" sz="1350" dirty="0"/>
          </a:p>
        </p:txBody>
      </p:sp>
      <p:sp>
        <p:nvSpPr>
          <p:cNvPr id="17" name="Text 12"/>
          <p:cNvSpPr/>
          <p:nvPr/>
        </p:nvSpPr>
        <p:spPr>
          <a:xfrm>
            <a:off x="8275320" y="2414016"/>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Precision retention, release, and handling mechanisms developed for Mars Sample Return concepts, alongside the proprietary SABER melt wire release.</a:t>
            </a:r>
            <a:endParaRPr lang="en-US" sz="1050" dirty="0"/>
          </a:p>
        </p:txBody>
      </p:sp>
      <p:sp>
        <p:nvSpPr>
          <p:cNvPr id="18" name="Shape 13"/>
          <p:cNvSpPr/>
          <p:nvPr/>
        </p:nvSpPr>
        <p:spPr>
          <a:xfrm>
            <a:off x="822960" y="4151376"/>
            <a:ext cx="5175504" cy="2084832"/>
          </a:xfrm>
          <a:prstGeom prst="roundRect">
            <a:avLst>
              <a:gd name="adj" fmla="val 2193"/>
            </a:avLst>
          </a:prstGeom>
          <a:solidFill>
            <a:srgbClr val="F3F7FA"/>
          </a:solidFill>
          <a:ln/>
        </p:spPr>
        <p:txBody>
          <a:bodyPr/>
          <a:p/>
        </p:txBody>
      </p:sp>
      <p:pic>
        <p:nvPicPr>
          <p:cNvPr id="19" name="Image 3" descr="assets/s9_gaps.jpg">    </p:cNvPr>
          <p:cNvPicPr>
            <a:picLocks noChangeAspect="1"/>
          </p:cNvPicPr>
          <p:nvPr/>
        </p:nvPicPr>
        <p:blipFill>
          <a:blip r:embed="rId4"/>
          <a:stretch>
            <a:fillRect/>
          </a:stretch>
        </p:blipFill>
        <p:spPr>
          <a:xfrm>
            <a:off x="960120" y="4297680"/>
            <a:ext cx="1792224" cy="1792224"/>
          </a:xfrm>
          <a:prstGeom prst="rect">
            <a:avLst/>
          </a:prstGeom>
        </p:spPr>
      </p:pic>
      <p:sp>
        <p:nvSpPr>
          <p:cNvPr id="20" name="Shape 14"/>
          <p:cNvSpPr/>
          <p:nvPr/>
        </p:nvSpPr>
        <p:spPr>
          <a:xfrm>
            <a:off x="960120" y="4297680"/>
            <a:ext cx="1792224" cy="1792224"/>
          </a:xfrm>
          <a:prstGeom prst="rect">
            <a:avLst/>
          </a:prstGeom>
          <a:ln w="12700">
            <a:solidFill>
              <a:srgbClr val="C6D2DA"/>
            </a:solidFill>
            <a:prstDash val="solid"/>
          </a:ln>
        </p:spPr>
        <p:txBody>
          <a:bodyPr/>
          <a:p/>
        </p:txBody>
      </p:sp>
      <p:sp>
        <p:nvSpPr>
          <p:cNvPr id="21" name="Text 15"/>
          <p:cNvSpPr/>
          <p:nvPr/>
        </p:nvSpPr>
        <p:spPr>
          <a:xfrm>
            <a:off x="2907792" y="4297680"/>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Instruments and structures</a:t>
            </a:r>
            <a:endParaRPr lang="en-US" sz="1350" dirty="0"/>
          </a:p>
        </p:txBody>
      </p:sp>
      <p:sp>
        <p:nvSpPr>
          <p:cNvPr id="22" name="Text 16"/>
          <p:cNvSpPr/>
          <p:nvPr/>
        </p:nvSpPr>
        <p:spPr>
          <a:xfrm>
            <a:off x="2907792" y="4626864"/>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COSI gamma ray instrument cryostat and shield, the GAPS antimatter detector gondola, and UVEX ultraviolet telescope structure concepts.</a:t>
            </a:r>
            <a:endParaRPr lang="en-US" sz="1050" dirty="0"/>
          </a:p>
        </p:txBody>
      </p:sp>
      <p:sp>
        <p:nvSpPr>
          <p:cNvPr id="23" name="Shape 17"/>
          <p:cNvSpPr/>
          <p:nvPr/>
        </p:nvSpPr>
        <p:spPr>
          <a:xfrm>
            <a:off x="6190488" y="4151376"/>
            <a:ext cx="5175504" cy="2084832"/>
          </a:xfrm>
          <a:prstGeom prst="roundRect">
            <a:avLst>
              <a:gd name="adj" fmla="val 2193"/>
            </a:avLst>
          </a:prstGeom>
          <a:solidFill>
            <a:srgbClr val="F3F7FA"/>
          </a:solidFill>
          <a:ln/>
        </p:spPr>
        <p:txBody>
          <a:bodyPr/>
          <a:p/>
        </p:txBody>
      </p:sp>
      <p:pic>
        <p:nvPicPr>
          <p:cNvPr id="24" name="Image 4" descr="assets/s9_solo.jpg">    </p:cNvPr>
          <p:cNvPicPr>
            <a:picLocks noChangeAspect="1"/>
          </p:cNvPicPr>
          <p:nvPr/>
        </p:nvPicPr>
        <p:blipFill>
          <a:blip r:embed="rId5"/>
          <a:stretch>
            <a:fillRect/>
          </a:stretch>
        </p:blipFill>
        <p:spPr>
          <a:xfrm>
            <a:off x="6327648" y="4297680"/>
            <a:ext cx="1792224" cy="1792224"/>
          </a:xfrm>
          <a:prstGeom prst="rect">
            <a:avLst/>
          </a:prstGeom>
        </p:spPr>
      </p:pic>
      <p:sp>
        <p:nvSpPr>
          <p:cNvPr id="25" name="Shape 18"/>
          <p:cNvSpPr/>
          <p:nvPr/>
        </p:nvSpPr>
        <p:spPr>
          <a:xfrm>
            <a:off x="6327648" y="4297680"/>
            <a:ext cx="1792224" cy="1792224"/>
          </a:xfrm>
          <a:prstGeom prst="rect">
            <a:avLst/>
          </a:prstGeom>
          <a:ln w="12700">
            <a:solidFill>
              <a:srgbClr val="C6D2DA"/>
            </a:solidFill>
            <a:prstDash val="solid"/>
          </a:ln>
        </p:spPr>
        <p:txBody>
          <a:bodyPr/>
          <a:p/>
        </p:txBody>
      </p:sp>
      <p:sp>
        <p:nvSpPr>
          <p:cNvPr id="26" name="Text 19"/>
          <p:cNvSpPr/>
          <p:nvPr/>
        </p:nvSpPr>
        <p:spPr>
          <a:xfrm>
            <a:off x="8275320" y="4297680"/>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Extreme environments</a:t>
            </a:r>
            <a:endParaRPr lang="en-US" sz="1350" dirty="0"/>
          </a:p>
        </p:txBody>
      </p:sp>
      <p:sp>
        <p:nvSpPr>
          <p:cNvPr id="27" name="Text 20"/>
          <p:cNvSpPr/>
          <p:nvPr/>
        </p:nvSpPr>
        <p:spPr>
          <a:xfrm>
            <a:off x="8275320" y="4626864"/>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All niobium multilayer insulation and thermal design protecting Solar Orbiter antennas that reach nearly 500 C in a 15 sun environment.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FACILITIES AND LOCATION</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Purpose Built Production in Berkeley</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10</a:t>
            </a:r>
            <a:endParaRPr lang="en-US" sz="850" dirty="0"/>
          </a:p>
        </p:txBody>
      </p:sp>
      <p:pic>
        <p:nvPicPr>
          <p:cNvPr id="7" name="Image 1" descr="assets/s8_bldg.jpg">    </p:cNvPr>
          <p:cNvPicPr>
            <a:picLocks noChangeAspect="1"/>
          </p:cNvPicPr>
          <p:nvPr/>
        </p:nvPicPr>
        <p:blipFill>
          <a:blip r:embed="rId2"/>
          <a:stretch>
            <a:fillRect/>
          </a:stretch>
        </p:blipFill>
        <p:spPr>
          <a:xfrm>
            <a:off x="822960" y="1417320"/>
            <a:ext cx="6583680" cy="2880360"/>
          </a:xfrm>
          <a:prstGeom prst="rect">
            <a:avLst/>
          </a:prstGeom>
        </p:spPr>
      </p:pic>
      <p:sp>
        <p:nvSpPr>
          <p:cNvPr id="8" name="Shape 4"/>
          <p:cNvSpPr/>
          <p:nvPr/>
        </p:nvSpPr>
        <p:spPr>
          <a:xfrm>
            <a:off x="822960" y="1417320"/>
            <a:ext cx="6583680" cy="2880360"/>
          </a:xfrm>
          <a:prstGeom prst="rect">
            <a:avLst/>
          </a:prstGeom>
          <a:ln w="12700">
            <a:solidFill>
              <a:srgbClr val="C6D2DA"/>
            </a:solidFill>
            <a:prstDash val="solid"/>
          </a:ln>
        </p:spPr>
        <p:txBody>
          <a:bodyPr/>
          <a:p/>
        </p:txBody>
      </p:sp>
      <p:pic>
        <p:nvPicPr>
          <p:cNvPr id="9" name="Image 2" descr="assets/s8_bay.jpg">    </p:cNvPr>
          <p:cNvPicPr>
            <a:picLocks noChangeAspect="1"/>
          </p:cNvPicPr>
          <p:nvPr/>
        </p:nvPicPr>
        <p:blipFill>
          <a:blip r:embed="rId3"/>
          <a:stretch>
            <a:fillRect/>
          </a:stretch>
        </p:blipFill>
        <p:spPr>
          <a:xfrm>
            <a:off x="822960" y="4480560"/>
            <a:ext cx="2130552" cy="1691640"/>
          </a:xfrm>
          <a:prstGeom prst="rect">
            <a:avLst/>
          </a:prstGeom>
        </p:spPr>
      </p:pic>
      <p:sp>
        <p:nvSpPr>
          <p:cNvPr id="10" name="Shape 5"/>
          <p:cNvSpPr/>
          <p:nvPr/>
        </p:nvSpPr>
        <p:spPr>
          <a:xfrm>
            <a:off x="822960" y="4480560"/>
            <a:ext cx="2130552" cy="1691640"/>
          </a:xfrm>
          <a:prstGeom prst="rect">
            <a:avLst/>
          </a:prstGeom>
          <a:ln w="12700">
            <a:solidFill>
              <a:srgbClr val="C6D2DA"/>
            </a:solidFill>
            <a:prstDash val="solid"/>
          </a:ln>
        </p:spPr>
        <p:txBody>
          <a:bodyPr/>
          <a:p/>
        </p:txBody>
      </p:sp>
      <p:sp>
        <p:nvSpPr>
          <p:cNvPr id="11" name="Text 6"/>
          <p:cNvSpPr/>
          <p:nvPr/>
        </p:nvSpPr>
        <p:spPr>
          <a:xfrm>
            <a:off x="822960" y="6199632"/>
            <a:ext cx="213055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High bay assembly</a:t>
            </a:r>
            <a:endParaRPr lang="en-US" sz="950" dirty="0"/>
          </a:p>
        </p:txBody>
      </p:sp>
      <p:pic>
        <p:nvPicPr>
          <p:cNvPr id="12" name="Image 3" descr="assets/s8_tvac.jpg">    </p:cNvPr>
          <p:cNvPicPr>
            <a:picLocks noChangeAspect="1"/>
          </p:cNvPicPr>
          <p:nvPr/>
        </p:nvPicPr>
        <p:blipFill>
          <a:blip r:embed="rId4"/>
          <a:stretch>
            <a:fillRect/>
          </a:stretch>
        </p:blipFill>
        <p:spPr>
          <a:xfrm>
            <a:off x="3054096" y="4480560"/>
            <a:ext cx="2130552" cy="1691640"/>
          </a:xfrm>
          <a:prstGeom prst="rect">
            <a:avLst/>
          </a:prstGeom>
        </p:spPr>
      </p:pic>
      <p:sp>
        <p:nvSpPr>
          <p:cNvPr id="13" name="Shape 7"/>
          <p:cNvSpPr/>
          <p:nvPr/>
        </p:nvSpPr>
        <p:spPr>
          <a:xfrm>
            <a:off x="3054096" y="4480560"/>
            <a:ext cx="2130552" cy="1691640"/>
          </a:xfrm>
          <a:prstGeom prst="rect">
            <a:avLst/>
          </a:prstGeom>
          <a:ln w="12700">
            <a:solidFill>
              <a:srgbClr val="C6D2DA"/>
            </a:solidFill>
            <a:prstDash val="solid"/>
          </a:ln>
        </p:spPr>
        <p:txBody>
          <a:bodyPr/>
          <a:p/>
        </p:txBody>
      </p:sp>
      <p:sp>
        <p:nvSpPr>
          <p:cNvPr id="14" name="Text 8"/>
          <p:cNvSpPr/>
          <p:nvPr/>
        </p:nvSpPr>
        <p:spPr>
          <a:xfrm>
            <a:off x="3054096" y="6199632"/>
            <a:ext cx="213055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Thermal vacuum</a:t>
            </a:r>
            <a:endParaRPr lang="en-US" sz="950" dirty="0"/>
          </a:p>
        </p:txBody>
      </p:sp>
      <p:pic>
        <p:nvPicPr>
          <p:cNvPr id="15" name="Image 4" descr="assets/s8_clean.jpg">    </p:cNvPr>
          <p:cNvPicPr>
            <a:picLocks noChangeAspect="1"/>
          </p:cNvPicPr>
          <p:nvPr/>
        </p:nvPicPr>
        <p:blipFill>
          <a:blip r:embed="rId5"/>
          <a:stretch>
            <a:fillRect/>
          </a:stretch>
        </p:blipFill>
        <p:spPr>
          <a:xfrm>
            <a:off x="5285232" y="4480560"/>
            <a:ext cx="2130552" cy="1691640"/>
          </a:xfrm>
          <a:prstGeom prst="rect">
            <a:avLst/>
          </a:prstGeom>
        </p:spPr>
      </p:pic>
      <p:sp>
        <p:nvSpPr>
          <p:cNvPr id="16" name="Shape 9"/>
          <p:cNvSpPr/>
          <p:nvPr/>
        </p:nvSpPr>
        <p:spPr>
          <a:xfrm>
            <a:off x="5285232" y="4480560"/>
            <a:ext cx="2130552" cy="1691640"/>
          </a:xfrm>
          <a:prstGeom prst="rect">
            <a:avLst/>
          </a:prstGeom>
          <a:ln w="12700">
            <a:solidFill>
              <a:srgbClr val="C6D2DA"/>
            </a:solidFill>
            <a:prstDash val="solid"/>
          </a:ln>
        </p:spPr>
        <p:txBody>
          <a:bodyPr/>
          <a:p/>
        </p:txBody>
      </p:sp>
      <p:sp>
        <p:nvSpPr>
          <p:cNvPr id="17" name="Text 10"/>
          <p:cNvSpPr/>
          <p:nvPr/>
        </p:nvSpPr>
        <p:spPr>
          <a:xfrm>
            <a:off x="5285232" y="6199632"/>
            <a:ext cx="213055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Cleanroom</a:t>
            </a:r>
            <a:endParaRPr lang="en-US" sz="950" dirty="0"/>
          </a:p>
        </p:txBody>
      </p:sp>
      <p:sp>
        <p:nvSpPr>
          <p:cNvPr id="18" name="Text 11"/>
          <p:cNvSpPr/>
          <p:nvPr/>
        </p:nvSpPr>
        <p:spPr>
          <a:xfrm>
            <a:off x="7726680" y="1371600"/>
            <a:ext cx="3657600" cy="384048"/>
          </a:xfrm>
          <a:prstGeom prst="rect">
            <a:avLst/>
          </a:prstGeom>
          <a:noFill/>
          <a:ln/>
        </p:spPr>
        <p:txBody>
          <a:bodyPr wrap="square" lIns="0" tIns="0" rIns="0" bIns="0" rtlCol="0" anchor="ctr"/>
          <a:lstStyle/>
          <a:p>
            <a:pPr indent="0" marL="0">
              <a:buNone/>
            </a:pPr>
            <a:r>
              <a:rPr lang="en-US" sz="2200" b="1" dirty="0">
                <a:solidFill>
                  <a:srgbClr val="007BCB"/>
                </a:solidFill>
                <a:latin typeface="Garamond" pitchFamily="34" charset="0"/>
                <a:ea typeface="Garamond" pitchFamily="34" charset="-122"/>
                <a:cs typeface="Garamond" pitchFamily="34" charset="-120"/>
              </a:rPr>
              <a:t>20,000 square feet</a:t>
            </a:r>
            <a:endParaRPr lang="en-US" sz="2200" dirty="0"/>
          </a:p>
        </p:txBody>
      </p:sp>
      <p:sp>
        <p:nvSpPr>
          <p:cNvPr id="19" name="Text 12"/>
          <p:cNvSpPr/>
          <p:nvPr/>
        </p:nvSpPr>
        <p:spPr>
          <a:xfrm>
            <a:off x="7726680" y="1773936"/>
            <a:ext cx="3639312" cy="566928"/>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of production capacity: high bay assembly and test, cleanroom, thermal vacuum chamber, and machine shop.</a:t>
            </a:r>
            <a:endParaRPr lang="en-US" sz="1050" dirty="0"/>
          </a:p>
        </p:txBody>
      </p:sp>
      <p:pic>
        <p:nvPicPr>
          <p:cNvPr id="20" name="Image 5" descr="assets/s8_map.jpg">    </p:cNvPr>
          <p:cNvPicPr>
            <a:picLocks noChangeAspect="1"/>
          </p:cNvPicPr>
          <p:nvPr/>
        </p:nvPicPr>
        <p:blipFill>
          <a:blip r:embed="rId6"/>
          <a:stretch>
            <a:fillRect/>
          </a:stretch>
        </p:blipFill>
        <p:spPr>
          <a:xfrm>
            <a:off x="7726680" y="2450592"/>
            <a:ext cx="3639312" cy="2331720"/>
          </a:xfrm>
          <a:prstGeom prst="rect">
            <a:avLst/>
          </a:prstGeom>
        </p:spPr>
      </p:pic>
      <p:sp>
        <p:nvSpPr>
          <p:cNvPr id="21" name="Shape 13"/>
          <p:cNvSpPr/>
          <p:nvPr/>
        </p:nvSpPr>
        <p:spPr>
          <a:xfrm>
            <a:off x="7726680" y="2450592"/>
            <a:ext cx="3639312" cy="2331720"/>
          </a:xfrm>
          <a:prstGeom prst="rect">
            <a:avLst/>
          </a:prstGeom>
          <a:ln w="12700">
            <a:solidFill>
              <a:srgbClr val="C6D2DA"/>
            </a:solidFill>
            <a:prstDash val="solid"/>
          </a:ln>
        </p:spPr>
        <p:txBody>
          <a:bodyPr/>
          <a:p/>
        </p:txBody>
      </p:sp>
      <p:sp>
        <p:nvSpPr>
          <p:cNvPr id="22" name="Shape 14"/>
          <p:cNvSpPr/>
          <p:nvPr/>
        </p:nvSpPr>
        <p:spPr>
          <a:xfrm>
            <a:off x="7726680" y="4937760"/>
            <a:ext cx="3639312" cy="1298448"/>
          </a:xfrm>
          <a:prstGeom prst="roundRect">
            <a:avLst>
              <a:gd name="adj" fmla="val 3521"/>
            </a:avLst>
          </a:prstGeom>
          <a:solidFill>
            <a:srgbClr val="F3F7FA"/>
          </a:solidFill>
          <a:ln/>
        </p:spPr>
        <p:txBody>
          <a:bodyPr/>
          <a:p/>
        </p:txBody>
      </p:sp>
      <p:sp>
        <p:nvSpPr>
          <p:cNvPr id="23" name="Text 15"/>
          <p:cNvSpPr/>
          <p:nvPr/>
        </p:nvSpPr>
        <p:spPr>
          <a:xfrm>
            <a:off x="7882128" y="5056632"/>
            <a:ext cx="3364992" cy="1097280"/>
          </a:xfrm>
          <a:prstGeom prst="rect">
            <a:avLst/>
          </a:prstGeom>
          <a:noFill/>
          <a:ln/>
        </p:spPr>
        <p:txBody>
          <a:bodyPr wrap="square" lIns="0" tIns="0" rIns="0" bIns="0" rtlCol="0" anchor="t"/>
          <a:lstStyle/>
          <a:p>
            <a:pPr indent="0" marL="0">
              <a:spcAft>
                <a:spcPts val="200"/>
              </a:spcAft>
              <a:buNone/>
            </a:pPr>
            <a:r>
              <a:rPr lang="en-US" sz="1100" b="1" dirty="0">
                <a:solidFill>
                  <a:srgbClr val="1E2A33"/>
                </a:solidFill>
                <a:latin typeface="Garamond" pitchFamily="34" charset="0"/>
                <a:ea typeface="Garamond" pitchFamily="34" charset="-122"/>
                <a:cs typeface="Garamond" pitchFamily="34" charset="-120"/>
              </a:rPr>
              <a:t>Heliospace Corporation</a:t>
            </a:r>
            <a:endParaRPr lang="en-US" sz="1100" dirty="0"/>
          </a:p>
          <a:p>
            <a:pPr indent="0" marL="0">
              <a:spcAft>
                <a:spcPts val="200"/>
              </a:spcAft>
              <a:buNone/>
            </a:pPr>
            <a:r>
              <a:rPr lang="en-US" sz="1100" dirty="0">
                <a:solidFill>
                  <a:srgbClr val="1E2A33"/>
                </a:solidFill>
                <a:latin typeface="Garamond" pitchFamily="34" charset="0"/>
                <a:ea typeface="Garamond" pitchFamily="34" charset="-122"/>
                <a:cs typeface="Garamond" pitchFamily="34" charset="-120"/>
              </a:rPr>
              <a:t>2448 Sixth Street, Berkeley, CA 94710</a:t>
            </a:r>
            <a:endParaRPr lang="en-US" sz="1100" dirty="0"/>
          </a:p>
          <a:p>
            <a:pPr indent="0" marL="0">
              <a:spcAft>
                <a:spcPts val="200"/>
              </a:spcAft>
              <a:buNone/>
            </a:pPr>
            <a:endParaRPr lang="en-US" sz="1100" dirty="0"/>
          </a:p>
          <a:p>
            <a:pPr indent="0" marL="0">
              <a:spcAft>
                <a:spcPts val="200"/>
              </a:spcAft>
              <a:buNone/>
            </a:pPr>
            <a:r>
              <a:rPr lang="en-US" sz="950" dirty="0">
                <a:solidFill>
                  <a:srgbClr val="5C6B76"/>
                </a:solidFill>
                <a:latin typeface="Garamond" pitchFamily="34" charset="0"/>
                <a:ea typeface="Garamond" pitchFamily="34" charset="-122"/>
                <a:cs typeface="Garamond" pitchFamily="34" charset="-120"/>
              </a:rPr>
              <a:t>San Francisco Bay Area: near NASA Ames, UC Berkeley, and the West Coast supply base.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MARKET OPPORTUNITY</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A Structurally Expanding Market</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11</a:t>
            </a:r>
            <a:endParaRPr lang="en-US" sz="850" dirty="0"/>
          </a:p>
        </p:txBody>
      </p:sp>
      <p:sp>
        <p:nvSpPr>
          <p:cNvPr id="7" name="Text 4"/>
          <p:cNvSpPr/>
          <p:nvPr/>
        </p:nvSpPr>
        <p:spPr>
          <a:xfrm>
            <a:off x="822960" y="1463040"/>
            <a:ext cx="5852160" cy="274320"/>
          </a:xfrm>
          <a:prstGeom prst="rect">
            <a:avLst/>
          </a:prstGeom>
          <a:noFill/>
          <a:ln/>
        </p:spPr>
        <p:txBody>
          <a:bodyPr wrap="square" lIns="0" tIns="0" rIns="0" bIns="0" rtlCol="0" anchor="ctr"/>
          <a:lstStyle/>
          <a:p>
            <a:pPr indent="0" marL="0">
              <a:buNone/>
            </a:pPr>
            <a:r>
              <a:rPr lang="en-US" sz="1300" b="1" dirty="0">
                <a:solidFill>
                  <a:srgbClr val="10222F"/>
                </a:solidFill>
                <a:latin typeface="Garamond" pitchFamily="34" charset="0"/>
                <a:ea typeface="Garamond" pitchFamily="34" charset="-122"/>
                <a:cs typeface="Garamond" pitchFamily="34" charset="-120"/>
              </a:rPr>
              <a:t>Global space economy, USD billions</a:t>
            </a:r>
            <a:endParaRPr lang="en-US" sz="1300" dirty="0"/>
          </a:p>
        </p:txBody>
      </p:sp>
      <p:graphicFrame>
        <p:nvGraphicFramePr>
          <p:cNvPr id="8" name="Chart 0" descr=""/>
          <p:cNvGraphicFramePr/>
          <p:nvPr/>
        </p:nvGraphicFramePr>
        <p:xfrm>
          <a:off x="822960" y="1828800"/>
          <a:ext cx="5852160" cy="3977640"/>
        </p:xfrm>
        <a:graphic xmlns:a="http://schemas.openxmlformats.org/drawingml/2006/main">
          <a:graphicData uri="http://schemas.openxmlformats.org/drawingml/2006/chart">
            <c:chart xmlns:c="http://schemas.openxmlformats.org/drawingml/2006/chart" r:id="rId2"/>
          </a:graphicData>
        </a:graphic>
      </p:graphicFrame>
      <p:sp>
        <p:nvSpPr>
          <p:cNvPr id="9" name="Text 5"/>
          <p:cNvSpPr/>
          <p:nvPr/>
        </p:nvSpPr>
        <p:spPr>
          <a:xfrm>
            <a:off x="822960" y="5943600"/>
            <a:ext cx="5852160" cy="274320"/>
          </a:xfrm>
          <a:prstGeom prst="rect">
            <a:avLst/>
          </a:prstGeom>
          <a:noFill/>
          <a:ln/>
        </p:spPr>
        <p:txBody>
          <a:bodyPr wrap="square" lIns="0" tIns="0" rIns="0" bIns="0" rtlCol="0" anchor="ctr"/>
          <a:lstStyle/>
          <a:p>
            <a:pPr indent="0" marL="0">
              <a:buNone/>
            </a:pPr>
            <a:r>
              <a:rPr lang="en-US" sz="900" i="1" dirty="0">
                <a:solidFill>
                  <a:srgbClr val="5C6B76"/>
                </a:solidFill>
                <a:latin typeface="Garamond" pitchFamily="34" charset="0"/>
                <a:ea typeface="Garamond" pitchFamily="34" charset="-122"/>
                <a:cs typeface="Garamond" pitchFamily="34" charset="-120"/>
              </a:rPr>
              <a:t>Source: World Economic Forum and McKinsey, Space: The $1.8 Trillion Opportunity, 2024.</a:t>
            </a:r>
            <a:endParaRPr lang="en-US" sz="900" dirty="0"/>
          </a:p>
        </p:txBody>
      </p:sp>
      <p:sp>
        <p:nvSpPr>
          <p:cNvPr id="12" name="Text 8"/>
          <p:cNvSpPr/>
          <p:nvPr/>
        </p:nvSpPr>
        <p:spPr>
          <a:xfrm>
            <a:off x="7178040" y="1481328"/>
            <a:ext cx="416052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Addressable market, top down</a:t>
            </a:r>
            <a:endParaRPr lang="en-US" sz="1350" dirty="0"/>
          </a:p>
        </p:txBody>
      </p:sp>
      <p:sp>
        <p:nvSpPr>
          <p:cNvPr id="13" name="Shape 4"/>
          <p:cNvSpPr/>
          <p:nvPr/>
        </p:nvSpPr>
        <p:spPr>
          <a:xfrm>
            <a:off x="7178040" y="1847088"/>
            <a:ext cx="4160520" cy="1097280"/>
          </a:xfrm>
          <a:prstGeom prst="roundRect">
            <a:avLst>
              <a:gd name="adj" fmla="val 1724"/>
            </a:avLst>
          </a:prstGeom>
          <a:solidFill>
            <a:srgbClr val="F3F7FA"/>
          </a:solidFill>
          <a:ln/>
        </p:spPr>
        <p:txBody>
          <a:bodyPr/>
          <a:p/>
        </p:txBody>
      </p:sp>
      <p:sp>
        <p:nvSpPr>
          <p:cNvPr id="14" name="Text 5"/>
          <p:cNvSpPr/>
          <p:nvPr/>
        </p:nvSpPr>
        <p:spPr>
          <a:xfrm>
            <a:off x="7315200" y="1938528"/>
            <a:ext cx="3886200" cy="329184"/>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TAM: TOTAL SPACE ECONOMY</a:t>
            </a:r>
            <a:endParaRPr lang="en-US" sz="1050" dirty="0"/>
          </a:p>
        </p:txBody>
      </p:sp>
      <p:sp>
        <p:nvSpPr>
          <p:cNvPr id="15" name="Text 12"/>
          <p:cNvSpPr/>
          <p:nvPr/>
        </p:nvSpPr>
        <p:spPr>
          <a:xfrm>
            <a:off x="7315200" y="2194560"/>
            <a:ext cx="3886200" cy="274320"/>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$1.8 trillion by 2035E</a:t>
            </a:r>
            <a:endParaRPr lang="en-US" sz="1550" dirty="0"/>
          </a:p>
        </p:txBody>
      </p:sp>
      <p:sp>
        <p:nvSpPr>
          <p:cNvPr id="16" name="Text 6"/>
          <p:cNvSpPr/>
          <p:nvPr/>
        </p:nvSpPr>
        <p:spPr>
          <a:xfrm>
            <a:off x="7315200" y="2487168"/>
            <a:ext cx="3886200" cy="402336"/>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Global space economy forecast (World Economic Forum and McKinsey, 2024)</a:t>
            </a:r>
            <a:endParaRPr lang="en-US" sz="950" dirty="0"/>
          </a:p>
        </p:txBody>
      </p:sp>
      <p:sp>
        <p:nvSpPr>
          <p:cNvPr id="17" name="Shape 4"/>
          <p:cNvSpPr/>
          <p:nvPr/>
        </p:nvSpPr>
        <p:spPr>
          <a:xfrm>
            <a:off x="7178040" y="3054096"/>
            <a:ext cx="3840480" cy="1097280"/>
          </a:xfrm>
          <a:prstGeom prst="roundRect">
            <a:avLst>
              <a:gd name="adj" fmla="val 1724"/>
            </a:avLst>
          </a:prstGeom>
          <a:solidFill>
            <a:srgbClr val="F3F7FA"/>
          </a:solidFill>
          <a:ln/>
        </p:spPr>
        <p:txBody>
          <a:bodyPr/>
          <a:p/>
        </p:txBody>
      </p:sp>
      <p:sp>
        <p:nvSpPr>
          <p:cNvPr id="18" name="Text 5"/>
          <p:cNvSpPr/>
          <p:nvPr/>
        </p:nvSpPr>
        <p:spPr>
          <a:xfrm>
            <a:off x="7315200" y="3145536"/>
            <a:ext cx="3566160" cy="329184"/>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SAM: SATELLITE MANUFACTURING</a:t>
            </a:r>
            <a:endParaRPr lang="en-US" sz="1050" dirty="0"/>
          </a:p>
        </p:txBody>
      </p:sp>
      <p:sp>
        <p:nvSpPr>
          <p:cNvPr id="19" name="Text 12"/>
          <p:cNvSpPr/>
          <p:nvPr/>
        </p:nvSpPr>
        <p:spPr>
          <a:xfrm>
            <a:off x="7315200" y="3401568"/>
            <a:ext cx="3566160" cy="274320"/>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$20.4 billion in 2025</a:t>
            </a:r>
            <a:endParaRPr lang="en-US" sz="1550" dirty="0"/>
          </a:p>
        </p:txBody>
      </p:sp>
      <p:sp>
        <p:nvSpPr>
          <p:cNvPr id="20" name="Text 6"/>
          <p:cNvSpPr/>
          <p:nvPr/>
        </p:nvSpPr>
        <p:spPr>
          <a:xfrm>
            <a:off x="7315200" y="3694176"/>
            <a:ext cx="3566160" cy="402336"/>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Global commercial satellite manufacturing revenue (SIA and BryceTech, 2026)</a:t>
            </a:r>
            <a:endParaRPr lang="en-US" sz="950" dirty="0"/>
          </a:p>
        </p:txBody>
      </p:sp>
      <p:sp>
        <p:nvSpPr>
          <p:cNvPr id="21" name="Shape 4"/>
          <p:cNvSpPr/>
          <p:nvPr/>
        </p:nvSpPr>
        <p:spPr>
          <a:xfrm>
            <a:off x="7178040" y="4261104"/>
            <a:ext cx="3520440" cy="1481328"/>
          </a:xfrm>
          <a:prstGeom prst="roundRect">
            <a:avLst>
              <a:gd name="adj" fmla="val 1724"/>
            </a:avLst>
          </a:prstGeom>
          <a:solidFill>
            <a:srgbClr val="F3F7FA"/>
          </a:solidFill>
          <a:ln/>
        </p:spPr>
        <p:txBody>
          <a:bodyPr/>
          <a:p/>
        </p:txBody>
      </p:sp>
      <p:sp>
        <p:nvSpPr>
          <p:cNvPr id="22" name="Text 5"/>
          <p:cNvSpPr/>
          <p:nvPr/>
        </p:nvSpPr>
        <p:spPr>
          <a:xfrm>
            <a:off x="7315200" y="4352544"/>
            <a:ext cx="3246120" cy="329184"/>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SOM: DEPLOYABLE BOOMS, ANTENNAS, AND MECHANISMS</a:t>
            </a:r>
            <a:endParaRPr lang="en-US" sz="1050" dirty="0"/>
          </a:p>
        </p:txBody>
      </p:sp>
      <p:sp>
        <p:nvSpPr>
          <p:cNvPr id="23" name="Text 12"/>
          <p:cNvSpPr/>
          <p:nvPr/>
        </p:nvSpPr>
        <p:spPr>
          <a:xfrm>
            <a:off x="7315200" y="4718304"/>
            <a:ext cx="3246120" cy="512064"/>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16,900 small satellites, 2026 to 2035E</a:t>
            </a:r>
            <a:endParaRPr lang="en-US" sz="1550" dirty="0"/>
          </a:p>
        </p:txBody>
      </p:sp>
      <p:sp>
        <p:nvSpPr>
          <p:cNvPr id="24" name="Text 6"/>
          <p:cNvSpPr/>
          <p:nvPr/>
        </p:nvSpPr>
        <p:spPr>
          <a:xfrm>
            <a:off x="7315200" y="5248656"/>
            <a:ext cx="3246120" cy="45720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Forecast for launch (Novaspace). No independent estimate is published for this niche; it is presented qualitatively.</a:t>
            </a:r>
            <a:endParaRPr lang="en-US" sz="950" dirty="0"/>
          </a:p>
        </p:txBody>
      </p:sp>
      <p:sp>
        <p:nvSpPr>
          <p:cNvPr id="25" name="Text 5"/>
          <p:cNvSpPr/>
          <p:nvPr/>
        </p:nvSpPr>
        <p:spPr>
          <a:xfrm>
            <a:off x="7178040" y="5897880"/>
            <a:ext cx="4160520" cy="411480"/>
          </a:xfrm>
          <a:prstGeom prst="rect">
            <a:avLst/>
          </a:prstGeom>
          <a:noFill/>
          <a:ln/>
        </p:spPr>
        <p:txBody>
          <a:bodyPr wrap="square" lIns="0" tIns="0" rIns="0" bIns="0" rtlCol="0" anchor="ctr"/>
          <a:lstStyle/>
          <a:p>
            <a:pPr indent="0" marL="0">
              <a:buNone/>
            </a:pPr>
            <a:r>
              <a:rPr lang="en-US" sz="900" i="1" dirty="0">
                <a:solidFill>
                  <a:srgbClr val="5C6B76"/>
                </a:solidFill>
                <a:latin typeface="Garamond" pitchFamily="34" charset="0"/>
                <a:ea typeface="Garamond" pitchFamily="34" charset="-122"/>
                <a:cs typeface="Garamond" pitchFamily="34" charset="-120"/>
              </a:rPr>
              <a:t>Sources: World Economic Forum and McKinsey, 2024; SIA and BryceTech, State of the Satellite Industry Report, 2026; Novaspace, Satellites to be Built and Launched, 2025.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COMPETITIVE POSITION</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Why Customers Choose Heliospace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12</a:t>
            </a:r>
            <a:endParaRPr lang="en-US" sz="850" dirty="0"/>
          </a:p>
        </p:txBody>
      </p:sp>
      <p:sp>
        <p:nvSpPr>
          <p:cNvPr id="30" name="Shape 4"/>
          <p:cNvSpPr/>
          <p:nvPr/>
        </p:nvSpPr>
        <p:spPr>
          <a:xfrm>
            <a:off x="822960" y="1444752"/>
            <a:ext cx="347472" cy="347472"/>
          </a:xfrm>
          <a:prstGeom prst="ellipse">
            <a:avLst/>
          </a:prstGeom>
          <a:solidFill>
            <a:srgbClr val="007BCB"/>
          </a:solidFill>
          <a:ln/>
        </p:spPr>
        <p:txBody>
          <a:bodyPr/>
          <a:p/>
        </p:txBody>
      </p:sp>
      <p:sp>
        <p:nvSpPr>
          <p:cNvPr id="31" name="Text 5"/>
          <p:cNvSpPr/>
          <p:nvPr/>
        </p:nvSpPr>
        <p:spPr>
          <a:xfrm>
            <a:off x="822960" y="14447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1</a:t>
            </a:r>
            <a:endParaRPr lang="en-US" sz="1400" dirty="0"/>
          </a:p>
        </p:txBody>
      </p:sp>
      <p:sp>
        <p:nvSpPr>
          <p:cNvPr id="32" name="Text 6"/>
          <p:cNvSpPr/>
          <p:nvPr/>
        </p:nvSpPr>
        <p:spPr>
          <a:xfrm>
            <a:off x="1325880" y="1417320"/>
            <a:ext cx="461772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Proven space heritage</a:t>
            </a:r>
            <a:endParaRPr lang="en-US" sz="1450" dirty="0"/>
          </a:p>
        </p:txBody>
      </p:sp>
      <p:sp>
        <p:nvSpPr>
          <p:cNvPr id="33" name="Text 7"/>
          <p:cNvSpPr/>
          <p:nvPr/>
        </p:nvSpPr>
        <p:spPr>
          <a:xfrm>
            <a:off x="1325880" y="1700784"/>
            <a:ext cx="4617720" cy="128016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Helio has supported more than 40 space flight missions and built and deployed more than 125 instruments and systems, giving customers confidence that its hardware can survive demanding space environments. Its technology has been used on major missions, including NASA's Europa Clipper and support activities related to the James Webb Space Telescope.</a:t>
            </a:r>
            <a:endParaRPr lang="en-US" sz="1100" dirty="0"/>
          </a:p>
        </p:txBody>
      </p:sp>
      <p:sp>
        <p:nvSpPr>
          <p:cNvPr id="34" name="Shape 4"/>
          <p:cNvSpPr/>
          <p:nvPr/>
        </p:nvSpPr>
        <p:spPr>
          <a:xfrm>
            <a:off x="822960" y="3154680"/>
            <a:ext cx="347472" cy="347472"/>
          </a:xfrm>
          <a:prstGeom prst="ellipse">
            <a:avLst/>
          </a:prstGeom>
          <a:solidFill>
            <a:srgbClr val="007BCB"/>
          </a:solidFill>
          <a:ln/>
        </p:spPr>
        <p:txBody>
          <a:bodyPr/>
          <a:p/>
        </p:txBody>
      </p:sp>
      <p:sp>
        <p:nvSpPr>
          <p:cNvPr id="35" name="Text 5"/>
          <p:cNvSpPr/>
          <p:nvPr/>
        </p:nvSpPr>
        <p:spPr>
          <a:xfrm>
            <a:off x="822960" y="315468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2</a:t>
            </a:r>
            <a:endParaRPr lang="en-US" sz="1400" dirty="0"/>
          </a:p>
        </p:txBody>
      </p:sp>
      <p:sp>
        <p:nvSpPr>
          <p:cNvPr id="36" name="Text 6"/>
          <p:cNvSpPr/>
          <p:nvPr/>
        </p:nvSpPr>
        <p:spPr>
          <a:xfrm>
            <a:off x="1325880" y="3127248"/>
            <a:ext cx="461772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Specialized engineering expertise</a:t>
            </a:r>
            <a:endParaRPr lang="en-US" sz="1450" dirty="0"/>
          </a:p>
        </p:txBody>
      </p:sp>
      <p:sp>
        <p:nvSpPr>
          <p:cNvPr id="37" name="Text 7"/>
          <p:cNvSpPr/>
          <p:nvPr/>
        </p:nvSpPr>
        <p:spPr>
          <a:xfrm>
            <a:off x="1325880" y="3410712"/>
            <a:ext cx="4617720" cy="128016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Space missions often require custom solutions rather than off the shelf products. Helio focuses on deployable antennas, sensors, large deployable structures, spacecraft mechanisms, and systems engineering and design. Customers choose Helio because these components must work reliably in extreme conditions where repair is impossible.</a:t>
            </a:r>
            <a:endParaRPr lang="en-US" sz="1100" dirty="0"/>
          </a:p>
        </p:txBody>
      </p:sp>
      <p:sp>
        <p:nvSpPr>
          <p:cNvPr id="38" name="Shape 4"/>
          <p:cNvSpPr/>
          <p:nvPr/>
        </p:nvSpPr>
        <p:spPr>
          <a:xfrm>
            <a:off x="822960" y="4864608"/>
            <a:ext cx="347472" cy="347472"/>
          </a:xfrm>
          <a:prstGeom prst="ellipse">
            <a:avLst/>
          </a:prstGeom>
          <a:solidFill>
            <a:srgbClr val="007BCB"/>
          </a:solidFill>
          <a:ln/>
        </p:spPr>
        <p:txBody>
          <a:bodyPr/>
          <a:p/>
        </p:txBody>
      </p:sp>
      <p:sp>
        <p:nvSpPr>
          <p:cNvPr id="39" name="Text 5"/>
          <p:cNvSpPr/>
          <p:nvPr/>
        </p:nvSpPr>
        <p:spPr>
          <a:xfrm>
            <a:off x="822960" y="486460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3</a:t>
            </a:r>
            <a:endParaRPr lang="en-US" sz="1400" dirty="0"/>
          </a:p>
        </p:txBody>
      </p:sp>
      <p:sp>
        <p:nvSpPr>
          <p:cNvPr id="40" name="Text 6"/>
          <p:cNvSpPr/>
          <p:nvPr/>
        </p:nvSpPr>
        <p:spPr>
          <a:xfrm>
            <a:off x="1325880" y="4837176"/>
            <a:ext cx="461772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Lower mission risk</a:t>
            </a:r>
            <a:endParaRPr lang="en-US" sz="1450" dirty="0"/>
          </a:p>
        </p:txBody>
      </p:sp>
      <p:sp>
        <p:nvSpPr>
          <p:cNvPr id="41" name="Text 7"/>
          <p:cNvSpPr/>
          <p:nvPr/>
        </p:nvSpPr>
        <p:spPr>
          <a:xfrm>
            <a:off x="1325880" y="5120640"/>
            <a:ext cx="4617720" cy="100584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Space agencies and aerospace companies value suppliers with previous successful missions because failures in space are extremely expensive. Helio positions itself as a problem solver for difficult space hardware challenges, helping customers reduce technical risk.</a:t>
            </a:r>
            <a:endParaRPr lang="en-US" sz="1100" dirty="0"/>
          </a:p>
        </p:txBody>
      </p:sp>
      <p:sp>
        <p:nvSpPr>
          <p:cNvPr id="42" name="Shape 4"/>
          <p:cNvSpPr/>
          <p:nvPr/>
        </p:nvSpPr>
        <p:spPr>
          <a:xfrm>
            <a:off x="6217920" y="1444752"/>
            <a:ext cx="347472" cy="347472"/>
          </a:xfrm>
          <a:prstGeom prst="ellipse">
            <a:avLst/>
          </a:prstGeom>
          <a:solidFill>
            <a:srgbClr val="007BCB"/>
          </a:solidFill>
          <a:ln/>
        </p:spPr>
        <p:txBody>
          <a:bodyPr/>
          <a:p/>
        </p:txBody>
      </p:sp>
      <p:sp>
        <p:nvSpPr>
          <p:cNvPr id="43" name="Text 5"/>
          <p:cNvSpPr/>
          <p:nvPr/>
        </p:nvSpPr>
        <p:spPr>
          <a:xfrm>
            <a:off x="6217920" y="14447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4</a:t>
            </a:r>
            <a:endParaRPr lang="en-US" sz="1400" dirty="0"/>
          </a:p>
        </p:txBody>
      </p:sp>
      <p:sp>
        <p:nvSpPr>
          <p:cNvPr id="44" name="Text 6"/>
          <p:cNvSpPr/>
          <p:nvPr/>
        </p:nvSpPr>
        <p:spPr>
          <a:xfrm>
            <a:off x="6720840" y="1417320"/>
            <a:ext cx="461772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Innovation and future technology</a:t>
            </a:r>
            <a:endParaRPr lang="en-US" sz="1450" dirty="0"/>
          </a:p>
        </p:txBody>
      </p:sp>
      <p:sp>
        <p:nvSpPr>
          <p:cNvPr id="45" name="Text 7"/>
          <p:cNvSpPr/>
          <p:nvPr/>
        </p:nvSpPr>
        <p:spPr>
          <a:xfrm>
            <a:off x="6720840" y="1700784"/>
            <a:ext cx="4617720" cy="123444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Beyond current space hardware, Helio is developing space based solar power systems designed to collect solar energy in orbit and transmit power to Earth. Customers and partners interested in future space infrastructure value Helio's combination of existing engineering capability and long term energy technology goals.</a:t>
            </a:r>
            <a:endParaRPr lang="en-US" sz="1100" dirty="0"/>
          </a:p>
        </p:txBody>
      </p:sp>
      <p:sp>
        <p:nvSpPr>
          <p:cNvPr id="46" name="Shape 4"/>
          <p:cNvSpPr/>
          <p:nvPr/>
        </p:nvSpPr>
        <p:spPr>
          <a:xfrm>
            <a:off x="6217920" y="3099816"/>
            <a:ext cx="347472" cy="347472"/>
          </a:xfrm>
          <a:prstGeom prst="ellipse">
            <a:avLst/>
          </a:prstGeom>
          <a:solidFill>
            <a:srgbClr val="007BCB"/>
          </a:solidFill>
          <a:ln/>
        </p:spPr>
        <p:txBody>
          <a:bodyPr/>
          <a:p/>
        </p:txBody>
      </p:sp>
      <p:sp>
        <p:nvSpPr>
          <p:cNvPr id="47" name="Text 5"/>
          <p:cNvSpPr/>
          <p:nvPr/>
        </p:nvSpPr>
        <p:spPr>
          <a:xfrm>
            <a:off x="6217920" y="309981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5</a:t>
            </a:r>
            <a:endParaRPr lang="en-US" sz="1400" dirty="0"/>
          </a:p>
        </p:txBody>
      </p:sp>
      <p:sp>
        <p:nvSpPr>
          <p:cNvPr id="48" name="Text 6"/>
          <p:cNvSpPr/>
          <p:nvPr/>
        </p:nvSpPr>
        <p:spPr>
          <a:xfrm>
            <a:off x="6720840" y="3072384"/>
            <a:ext cx="4617720" cy="54864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Flexible partner for government and commercial customers</a:t>
            </a:r>
            <a:endParaRPr lang="en-US" sz="1450" dirty="0"/>
          </a:p>
        </p:txBody>
      </p:sp>
      <p:sp>
        <p:nvSpPr>
          <p:cNvPr id="49" name="Text 7"/>
          <p:cNvSpPr/>
          <p:nvPr/>
        </p:nvSpPr>
        <p:spPr>
          <a:xfrm>
            <a:off x="6720840" y="3657600"/>
            <a:ext cx="4617720" cy="77724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Helio works with government agencies, private aerospace companies, universities, and research organizations, providing customized systems rather than only standardized products.</a:t>
            </a:r>
            <a:endParaRPr lang="en-US" sz="1100" dirty="0"/>
          </a:p>
        </p:txBody>
      </p:sp>
      <p:sp>
        <p:nvSpPr>
          <p:cNvPr id="50" name="Shape 20"/>
          <p:cNvSpPr/>
          <p:nvPr/>
        </p:nvSpPr>
        <p:spPr>
          <a:xfrm>
            <a:off x="6217920" y="4663440"/>
            <a:ext cx="5148072" cy="1325880"/>
          </a:xfrm>
          <a:prstGeom prst="roundRect">
            <a:avLst>
              <a:gd name="adj" fmla="val 3704"/>
            </a:avLst>
          </a:prstGeom>
          <a:solidFill>
            <a:srgbClr val="EDF3F8"/>
          </a:solidFill>
          <a:ln w="9525">
            <a:solidFill>
              <a:srgbClr val="C6D2DA"/>
            </a:solidFill>
            <a:prstDash val="solid"/>
          </a:ln>
        </p:spPr>
        <p:txBody>
          <a:bodyPr/>
          <a:p/>
        </p:txBody>
      </p:sp>
      <p:sp>
        <p:nvSpPr>
          <p:cNvPr id="51" name="Text 21"/>
          <p:cNvSpPr/>
          <p:nvPr/>
        </p:nvSpPr>
        <p:spPr>
          <a:xfrm>
            <a:off x="6400800" y="4791456"/>
            <a:ext cx="4754880" cy="256032"/>
          </a:xfrm>
          <a:prstGeom prst="rect">
            <a:avLst/>
          </a:prstGeom>
          <a:noFill/>
          <a:ln/>
        </p:spPr>
        <p:txBody>
          <a:bodyPr wrap="square" lIns="0" tIns="0" rIns="0" bIns="0" rtlCol="0" anchor="ctr"/>
          <a:lstStyle/>
          <a:p>
            <a:pPr indent="0" marL="0">
              <a:buNone/>
            </a:pPr>
            <a:r>
              <a:rPr lang="en-US" sz="1250" b="1" dirty="0">
                <a:solidFill>
                  <a:srgbClr val="10222F"/>
                </a:solidFill>
                <a:latin typeface="Garamond" pitchFamily="34" charset="0"/>
                <a:ea typeface="Garamond" pitchFamily="34" charset="-122"/>
                <a:cs typeface="Garamond" pitchFamily="34" charset="-120"/>
              </a:rPr>
              <a:t>In summary</a:t>
            </a:r>
            <a:endParaRPr lang="en-US" sz="1250" dirty="0"/>
          </a:p>
        </p:txBody>
      </p:sp>
      <p:sp>
        <p:nvSpPr>
          <p:cNvPr id="52" name="Text 22"/>
          <p:cNvSpPr/>
          <p:nvPr/>
        </p:nvSpPr>
        <p:spPr>
          <a:xfrm>
            <a:off x="6400800" y="5084064"/>
            <a:ext cx="4754880" cy="822960"/>
          </a:xfrm>
          <a:prstGeom prst="rect">
            <a:avLst/>
          </a:prstGeom>
          <a:noFill/>
          <a:ln/>
        </p:spPr>
        <p:txBody>
          <a:bodyPr wrap="square" lIns="0" tIns="0" rIns="0" bIns="0" rtlCol="0" anchor="t"/>
          <a:lstStyle/>
          <a:p>
            <a:pPr indent="0" marL="0">
              <a:lnSpc>
                <a:spcPct val="102000"/>
              </a:lnSpc>
              <a:buNone/>
            </a:pPr>
            <a:r>
              <a:rPr lang="en-US" sz="1050" dirty="0">
                <a:solidFill>
                  <a:srgbClr val="1E2A33"/>
                </a:solidFill>
                <a:latin typeface="Garamond" pitchFamily="34" charset="0"/>
                <a:ea typeface="Garamond" pitchFamily="34" charset="-122"/>
                <a:cs typeface="Garamond" pitchFamily="34" charset="-120"/>
              </a:rPr>
              <a:t>Customers choose Helio because it offers proven space qualified hardware, specialized engineering skills, mission reliability, and a pathway toward next generation space infrastructure.</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CLIENT BASE</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Customers Who Validate the Technology</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13</a:t>
            </a:r>
            <a:endParaRPr lang="en-US" sz="850" dirty="0"/>
          </a:p>
        </p:txBody>
      </p:sp>
      <p:sp>
        <p:nvSpPr>
          <p:cNvPr id="7" name="Text 4"/>
          <p:cNvSpPr/>
          <p:nvPr/>
        </p:nvSpPr>
        <p:spPr>
          <a:xfrm>
            <a:off x="822960" y="1463040"/>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Space agencies and programs</a:t>
            </a:r>
            <a:endParaRPr lang="en-US" sz="1350" dirty="0"/>
          </a:p>
        </p:txBody>
      </p:sp>
      <p:sp>
        <p:nvSpPr>
          <p:cNvPr id="8" name="Text 5"/>
          <p:cNvSpPr/>
          <p:nvPr/>
        </p:nvSpPr>
        <p:spPr>
          <a:xfrm>
            <a:off x="822960" y="1737360"/>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NASA, NASA JPL, NASA Goddard Space Flight Center, CNES, and the NASA SBIR and STTR America's Seed Fund</a:t>
            </a:r>
            <a:endParaRPr lang="en-US" sz="1150" dirty="0"/>
          </a:p>
        </p:txBody>
      </p:sp>
      <p:sp>
        <p:nvSpPr>
          <p:cNvPr id="9" name="Text 6"/>
          <p:cNvSpPr/>
          <p:nvPr/>
        </p:nvSpPr>
        <p:spPr>
          <a:xfrm>
            <a:off x="822960" y="2359152"/>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Commercial aerospace</a:t>
            </a:r>
            <a:endParaRPr lang="en-US" sz="1350" dirty="0"/>
          </a:p>
        </p:txBody>
      </p:sp>
      <p:sp>
        <p:nvSpPr>
          <p:cNvPr id="10" name="Text 7"/>
          <p:cNvSpPr/>
          <p:nvPr/>
        </p:nvSpPr>
        <p:spPr>
          <a:xfrm>
            <a:off x="822960" y="2633472"/>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Firefly Aerospace, Intuitive Machines, Honeybee Robotics, Blue Origin, Aerodyne, and ASES</a:t>
            </a:r>
            <a:endParaRPr lang="en-US" sz="1150" dirty="0"/>
          </a:p>
        </p:txBody>
      </p:sp>
      <p:sp>
        <p:nvSpPr>
          <p:cNvPr id="11" name="Text 8"/>
          <p:cNvSpPr/>
          <p:nvPr/>
        </p:nvSpPr>
        <p:spPr>
          <a:xfrm>
            <a:off x="822960" y="3255264"/>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Research institutions and universities</a:t>
            </a:r>
            <a:endParaRPr lang="en-US" sz="1350" dirty="0"/>
          </a:p>
        </p:txBody>
      </p:sp>
      <p:sp>
        <p:nvSpPr>
          <p:cNvPr id="12" name="Text 9"/>
          <p:cNvSpPr/>
          <p:nvPr/>
        </p:nvSpPr>
        <p:spPr>
          <a:xfrm>
            <a:off x="822960" y="3529584"/>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Southwest Research Institute, UC Berkeley, Columbia University, and Embry-Riddle Aeronautical University</a:t>
            </a:r>
            <a:endParaRPr lang="en-US" sz="1150" dirty="0"/>
          </a:p>
        </p:txBody>
      </p:sp>
      <p:sp>
        <p:nvSpPr>
          <p:cNvPr id="13" name="Text 10"/>
          <p:cNvSpPr/>
          <p:nvPr/>
        </p:nvSpPr>
        <p:spPr>
          <a:xfrm>
            <a:off x="822960" y="4151376"/>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Science and philanthropic initiatives</a:t>
            </a:r>
            <a:endParaRPr lang="en-US" sz="1350" dirty="0"/>
          </a:p>
        </p:txBody>
      </p:sp>
      <p:sp>
        <p:nvSpPr>
          <p:cNvPr id="14" name="Text 11"/>
          <p:cNvSpPr/>
          <p:nvPr/>
        </p:nvSpPr>
        <p:spPr>
          <a:xfrm>
            <a:off x="822960" y="4425696"/>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Breakthrough Listen and Earth Guard</a:t>
            </a:r>
            <a:endParaRPr lang="en-US" sz="1150" dirty="0"/>
          </a:p>
        </p:txBody>
      </p:sp>
      <p:sp>
        <p:nvSpPr>
          <p:cNvPr id="15" name="Text 12"/>
          <p:cNvSpPr/>
          <p:nvPr/>
        </p:nvSpPr>
        <p:spPr>
          <a:xfrm>
            <a:off x="822960" y="5074920"/>
            <a:ext cx="365760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Why they stay</a:t>
            </a:r>
            <a:endParaRPr lang="en-US" sz="1350" dirty="0"/>
          </a:p>
        </p:txBody>
      </p:sp>
      <p:sp>
        <p:nvSpPr>
          <p:cNvPr id="16" name="Text 13"/>
          <p:cNvSpPr/>
          <p:nvPr/>
        </p:nvSpPr>
        <p:spPr>
          <a:xfrm>
            <a:off x="822960" y="5394960"/>
            <a:ext cx="6217920" cy="100584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Supplier of record on marquee missions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On schedule delivery for launch critical payloads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Repeat awards across programs and platforms</a:t>
            </a:r>
            <a:endParaRPr lang="en-US" sz="1100" dirty="0"/>
          </a:p>
        </p:txBody>
      </p:sp>
      <p:sp>
        <p:nvSpPr>
          <p:cNvPr id="19" name="Text 15"/>
          <p:cNvSpPr/>
          <p:nvPr/>
        </p:nvSpPr>
        <p:spPr>
          <a:xfrm>
            <a:off x="7360920" y="4160520"/>
            <a:ext cx="400507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Selected clients and partners.</a:t>
            </a:r>
            <a:endParaRPr lang="en-US" sz="950" dirty="0"/>
          </a:p>
        </p:txBody>
      </p:sp>
      <p:sp>
        <p:nvSpPr>
          <p:cNvPr id="20" name="Shape 16"/>
          <p:cNvSpPr/>
          <p:nvPr/>
        </p:nvSpPr>
        <p:spPr>
          <a:xfrm>
            <a:off x="9646920" y="4617720"/>
            <a:ext cx="1719072" cy="1554480"/>
          </a:xfrm>
          <a:prstGeom prst="roundRect">
            <a:avLst>
              <a:gd name="adj" fmla="val 2941"/>
            </a:avLst>
          </a:prstGeom>
          <a:solidFill>
            <a:srgbClr val="F3F7FA"/>
          </a:solidFill>
          <a:ln/>
        </p:spPr>
        <p:txBody>
          <a:bodyPr/>
          <a:p/>
        </p:txBody>
      </p:sp>
      <p:sp>
        <p:nvSpPr>
          <p:cNvPr id="21" name="Text 17"/>
          <p:cNvSpPr/>
          <p:nvPr/>
        </p:nvSpPr>
        <p:spPr>
          <a:xfrm>
            <a:off x="9802368" y="4736592"/>
            <a:ext cx="1417320" cy="457200"/>
          </a:xfrm>
          <a:prstGeom prst="rect">
            <a:avLst/>
          </a:prstGeom>
          <a:noFill/>
          <a:ln/>
        </p:spPr>
        <p:txBody>
          <a:bodyPr wrap="square" lIns="0" tIns="0" rIns="0" bIns="0" rtlCol="0" anchor="ctr"/>
          <a:lstStyle/>
          <a:p>
            <a:pPr indent="0" marL="0">
              <a:buNone/>
            </a:pPr>
            <a:r>
              <a:rPr lang="en-US" sz="3000" b="1" dirty="0">
                <a:solidFill>
                  <a:srgbClr val="007BCB"/>
                </a:solidFill>
                <a:latin typeface="Garamond" pitchFamily="34" charset="0"/>
                <a:ea typeface="Garamond" pitchFamily="34" charset="-122"/>
                <a:cs typeface="Garamond" pitchFamily="34" charset="-120"/>
              </a:rPr>
              <a:t>10+</a:t>
            </a:r>
            <a:endParaRPr lang="en-US" sz="3000" dirty="0"/>
          </a:p>
        </p:txBody>
      </p:sp>
      <p:sp>
        <p:nvSpPr>
          <p:cNvPr id="22" name="Text 18"/>
          <p:cNvSpPr/>
          <p:nvPr/>
        </p:nvSpPr>
        <p:spPr>
          <a:xfrm>
            <a:off x="9802368" y="5212080"/>
            <a:ext cx="1444752" cy="91440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missions supported across NASA, ESA, and commercial programs</a:t>
            </a:r>
            <a:endParaRPr lang="en-US" sz="1150" dirty="0"/>
          </a:p>
        </p:txBody>
      </p:sp>
      <p:pic>
        <p:nvPicPr>
          <p:cNvPr id="23" name="Picture 22" descr="nasa.png"/>
          <p:cNvPicPr>
            <a:picLocks noChangeAspect="1"/>
          </p:cNvPicPr>
          <p:nvPr/>
        </p:nvPicPr>
        <p:blipFill>
          <a:blip r:embed="rId5"/>
          <a:stretch>
            <a:fillRect/>
          </a:stretch>
        </p:blipFill>
        <p:spPr>
          <a:xfrm>
            <a:off x="7689546" y="1618488"/>
            <a:ext cx="677771" cy="566928"/>
          </a:xfrm>
          <a:prstGeom prst="rect">
            <a:avLst/>
          </a:prstGeom>
        </p:spPr>
      </p:pic>
      <p:pic>
        <p:nvPicPr>
          <p:cNvPr id="24" name="Picture 23" descr="jpl.png"/>
          <p:cNvPicPr>
            <a:picLocks noChangeAspect="1"/>
          </p:cNvPicPr>
          <p:nvPr/>
        </p:nvPicPr>
        <p:blipFill>
          <a:blip r:embed="rId6"/>
          <a:stretch>
            <a:fillRect/>
          </a:stretch>
        </p:blipFill>
        <p:spPr>
          <a:xfrm>
            <a:off x="8796528" y="1646834"/>
            <a:ext cx="1133856" cy="510235"/>
          </a:xfrm>
          <a:prstGeom prst="rect">
            <a:avLst/>
          </a:prstGeom>
        </p:spPr>
      </p:pic>
      <p:pic>
        <p:nvPicPr>
          <p:cNvPr id="25" name="Picture 24" descr="cnes.png"/>
          <p:cNvPicPr>
            <a:picLocks noChangeAspect="1"/>
          </p:cNvPicPr>
          <p:nvPr/>
        </p:nvPicPr>
        <p:blipFill>
          <a:blip r:embed="rId7"/>
          <a:stretch>
            <a:fillRect/>
          </a:stretch>
        </p:blipFill>
        <p:spPr>
          <a:xfrm>
            <a:off x="10362388" y="1618488"/>
            <a:ext cx="672183" cy="566928"/>
          </a:xfrm>
          <a:prstGeom prst="rect">
            <a:avLst/>
          </a:prstGeom>
        </p:spPr>
      </p:pic>
      <p:pic>
        <p:nvPicPr>
          <p:cNvPr id="26" name="Picture 25" descr="swri.png"/>
          <p:cNvPicPr>
            <a:picLocks noChangeAspect="1"/>
          </p:cNvPicPr>
          <p:nvPr/>
        </p:nvPicPr>
        <p:blipFill>
          <a:blip r:embed="rId8"/>
          <a:stretch>
            <a:fillRect/>
          </a:stretch>
        </p:blipFill>
        <p:spPr>
          <a:xfrm>
            <a:off x="7528201" y="2496312"/>
            <a:ext cx="1000461" cy="566928"/>
          </a:xfrm>
          <a:prstGeom prst="rect">
            <a:avLst/>
          </a:prstGeom>
        </p:spPr>
      </p:pic>
      <p:pic>
        <p:nvPicPr>
          <p:cNvPr id="27" name="Picture 26" descr="blueorigin.png"/>
          <p:cNvPicPr>
            <a:picLocks noChangeAspect="1"/>
          </p:cNvPicPr>
          <p:nvPr/>
        </p:nvPicPr>
        <p:blipFill>
          <a:blip r:embed="rId9"/>
          <a:stretch>
            <a:fillRect/>
          </a:stretch>
        </p:blipFill>
        <p:spPr>
          <a:xfrm>
            <a:off x="8796528" y="2673477"/>
            <a:ext cx="1133856" cy="212597"/>
          </a:xfrm>
          <a:prstGeom prst="rect">
            <a:avLst/>
          </a:prstGeom>
        </p:spPr>
      </p:pic>
      <p:pic>
        <p:nvPicPr>
          <p:cNvPr id="28" name="Picture 27" descr="intuitive.png"/>
          <p:cNvPicPr>
            <a:picLocks noChangeAspect="1"/>
          </p:cNvPicPr>
          <p:nvPr/>
        </p:nvPicPr>
        <p:blipFill>
          <a:blip r:embed="rId10"/>
          <a:stretch>
            <a:fillRect/>
          </a:stretch>
        </p:blipFill>
        <p:spPr>
          <a:xfrm>
            <a:off x="10131552" y="2571902"/>
            <a:ext cx="1133856" cy="415747"/>
          </a:xfrm>
          <a:prstGeom prst="rect">
            <a:avLst/>
          </a:prstGeom>
        </p:spPr>
      </p:pic>
      <p:pic>
        <p:nvPicPr>
          <p:cNvPr id="29" name="Picture 28" descr="berkeley.png"/>
          <p:cNvPicPr>
            <a:picLocks noChangeAspect="1"/>
          </p:cNvPicPr>
          <p:nvPr/>
        </p:nvPicPr>
        <p:blipFill>
          <a:blip r:embed="rId11"/>
          <a:stretch>
            <a:fillRect/>
          </a:stretch>
        </p:blipFill>
        <p:spPr>
          <a:xfrm>
            <a:off x="7461504" y="3479254"/>
            <a:ext cx="1133856" cy="356692"/>
          </a:xfrm>
          <a:prstGeom prst="rect">
            <a:avLst/>
          </a:prstGeom>
        </p:spPr>
      </p:pic>
      <p:pic>
        <p:nvPicPr>
          <p:cNvPr id="30" name="Picture 29" descr="columbia.png"/>
          <p:cNvPicPr>
            <a:picLocks noChangeAspect="1"/>
          </p:cNvPicPr>
          <p:nvPr/>
        </p:nvPicPr>
        <p:blipFill>
          <a:blip r:embed="rId12"/>
          <a:stretch>
            <a:fillRect/>
          </a:stretch>
        </p:blipFill>
        <p:spPr>
          <a:xfrm>
            <a:off x="9146103" y="3374136"/>
            <a:ext cx="434705" cy="566928"/>
          </a:xfrm>
          <a:prstGeom prst="rect">
            <a:avLst/>
          </a:prstGeom>
        </p:spPr>
      </p:pic>
      <p:pic>
        <p:nvPicPr>
          <p:cNvPr id="31" name="Picture 30" descr="breakthrough.png"/>
          <p:cNvPicPr>
            <a:picLocks noChangeAspect="1"/>
          </p:cNvPicPr>
          <p:nvPr/>
        </p:nvPicPr>
        <p:blipFill>
          <a:blip r:embed="rId13"/>
          <a:stretch>
            <a:fillRect/>
          </a:stretch>
        </p:blipFill>
        <p:spPr>
          <a:xfrm>
            <a:off x="10131552" y="3518821"/>
            <a:ext cx="1133856" cy="277558"/>
          </a:xfrm>
          <a:prstGeom prst="rect">
            <a:avLst/>
          </a:prstGeom>
        </p:spPr>
      </p:pic>
      <p:pic>
        <p:nvPicPr>
          <p:cNvPr id="32" name="Picture 31" descr="image.jpg"/>
          <p:cNvPicPr>
            <a:picLocks noChangeAspect="1"/>
          </p:cNvPicPr>
          <p:nvPr/>
        </p:nvPicPr>
        <p:blipFill>
          <a:blip r:embed="rId2"/>
          <a:stretch>
            <a:fillRect/>
          </a:stretch>
        </p:blipFill>
        <p:spPr>
          <a:xfrm>
            <a:off x="7360920" y="4663440"/>
            <a:ext cx="2148840" cy="1432560"/>
          </a:xfrm>
          <a:prstGeom prst="rect">
            <a:avLst/>
          </a:prstGeom>
        </p:spPr>
      </p:pic>
      <p:sp>
        <p:nvSpPr>
          <p:cNvPr id="33" name="Text 15"/>
          <p:cNvSpPr/>
          <p:nvPr/>
        </p:nvSpPr>
        <p:spPr>
          <a:xfrm>
            <a:off x="7360920" y="6236208"/>
            <a:ext cx="4005072" cy="201168"/>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Flight hardware assembly at the Berkeley facility.</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GROWTH STRATEGY</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From Heritage Programs to Product Scale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14</a:t>
            </a:r>
            <a:endParaRPr lang="en-US" sz="850" dirty="0"/>
          </a:p>
        </p:txBody>
      </p:sp>
      <p:sp>
        <p:nvSpPr>
          <p:cNvPr id="7" name="Shape 4"/>
          <p:cNvSpPr/>
          <p:nvPr/>
        </p:nvSpPr>
        <p:spPr>
          <a:xfrm>
            <a:off x="822960" y="1554480"/>
            <a:ext cx="2651760" cy="3246120"/>
          </a:xfrm>
          <a:prstGeom prst="roundRect">
            <a:avLst>
              <a:gd name="adj" fmla="val 1724"/>
            </a:avLst>
          </a:prstGeom>
          <a:solidFill>
            <a:srgbClr val="F3F7FA"/>
          </a:solidFill>
          <a:ln/>
        </p:spPr>
        <p:txBody>
          <a:bodyPr/>
          <a:p/>
        </p:txBody>
      </p:sp>
      <p:sp>
        <p:nvSpPr>
          <p:cNvPr id="8" name="Shape 5"/>
          <p:cNvSpPr/>
          <p:nvPr/>
        </p:nvSpPr>
        <p:spPr>
          <a:xfrm>
            <a:off x="1005840" y="1755648"/>
            <a:ext cx="384048" cy="384048"/>
          </a:xfrm>
          <a:prstGeom prst="ellipse">
            <a:avLst/>
          </a:prstGeom>
          <a:solidFill>
            <a:srgbClr val="007BCB"/>
          </a:solidFill>
          <a:ln/>
        </p:spPr>
        <p:txBody>
          <a:bodyPr/>
          <a:p/>
        </p:txBody>
      </p:sp>
      <p:sp>
        <p:nvSpPr>
          <p:cNvPr id="9" name="Text 6"/>
          <p:cNvSpPr/>
          <p:nvPr/>
        </p:nvSpPr>
        <p:spPr>
          <a:xfrm>
            <a:off x="1005840" y="17556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1</a:t>
            </a:r>
            <a:endParaRPr lang="en-US" sz="1500" dirty="0"/>
          </a:p>
        </p:txBody>
      </p:sp>
      <p:sp>
        <p:nvSpPr>
          <p:cNvPr id="10" name="Text 7"/>
          <p:cNvSpPr/>
          <p:nvPr/>
        </p:nvSpPr>
        <p:spPr>
          <a:xfrm>
            <a:off x="1005840" y="2286000"/>
            <a:ext cx="2331720" cy="29260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Productize</a:t>
            </a:r>
            <a:endParaRPr lang="en-US" sz="1550" dirty="0"/>
          </a:p>
        </p:txBody>
      </p:sp>
      <p:sp>
        <p:nvSpPr>
          <p:cNvPr id="11" name="Text 8"/>
          <p:cNvSpPr/>
          <p:nvPr/>
        </p:nvSpPr>
        <p:spPr>
          <a:xfrm>
            <a:off x="1005840" y="2633472"/>
            <a:ext cx="2331720" cy="201168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Convert mission unique heritage into the standard SABER catalog with published interfaces, catalog pricing, and lead times measured in weeks.</a:t>
            </a:r>
            <a:endParaRPr lang="en-US" sz="1100" dirty="0"/>
          </a:p>
        </p:txBody>
      </p:sp>
      <p:sp>
        <p:nvSpPr>
          <p:cNvPr id="12" name="Shape 9"/>
          <p:cNvSpPr/>
          <p:nvPr/>
        </p:nvSpPr>
        <p:spPr>
          <a:xfrm>
            <a:off x="3621024" y="1554480"/>
            <a:ext cx="2651760" cy="3246120"/>
          </a:xfrm>
          <a:prstGeom prst="roundRect">
            <a:avLst>
              <a:gd name="adj" fmla="val 1724"/>
            </a:avLst>
          </a:prstGeom>
          <a:solidFill>
            <a:srgbClr val="F3F7FA"/>
          </a:solidFill>
          <a:ln/>
        </p:spPr>
        <p:txBody>
          <a:bodyPr/>
          <a:p/>
        </p:txBody>
      </p:sp>
      <p:sp>
        <p:nvSpPr>
          <p:cNvPr id="13" name="Shape 10"/>
          <p:cNvSpPr/>
          <p:nvPr/>
        </p:nvSpPr>
        <p:spPr>
          <a:xfrm>
            <a:off x="3803904" y="1755648"/>
            <a:ext cx="384048" cy="384048"/>
          </a:xfrm>
          <a:prstGeom prst="ellipse">
            <a:avLst/>
          </a:prstGeom>
          <a:solidFill>
            <a:srgbClr val="007BCB"/>
          </a:solidFill>
          <a:ln/>
        </p:spPr>
        <p:txBody>
          <a:bodyPr/>
          <a:p/>
        </p:txBody>
      </p:sp>
      <p:sp>
        <p:nvSpPr>
          <p:cNvPr id="14" name="Text 11"/>
          <p:cNvSpPr/>
          <p:nvPr/>
        </p:nvSpPr>
        <p:spPr>
          <a:xfrm>
            <a:off x="3803904" y="17556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2</a:t>
            </a:r>
            <a:endParaRPr lang="en-US" sz="1500" dirty="0"/>
          </a:p>
        </p:txBody>
      </p:sp>
      <p:sp>
        <p:nvSpPr>
          <p:cNvPr id="15" name="Text 12"/>
          <p:cNvSpPr/>
          <p:nvPr/>
        </p:nvSpPr>
        <p:spPr>
          <a:xfrm>
            <a:off x="3803904" y="2286000"/>
            <a:ext cx="2331720" cy="29260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Scale production</a:t>
            </a:r>
            <a:endParaRPr lang="en-US" sz="1550" dirty="0"/>
          </a:p>
        </p:txBody>
      </p:sp>
      <p:sp>
        <p:nvSpPr>
          <p:cNvPr id="16" name="Text 13"/>
          <p:cNvSpPr/>
          <p:nvPr/>
        </p:nvSpPr>
        <p:spPr>
          <a:xfrm>
            <a:off x="3803904" y="2633472"/>
            <a:ext cx="2331720" cy="201168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Expand Berkeley capacity and the in house boom forming line to serve constellation class order volumes without sole source risk.</a:t>
            </a:r>
            <a:endParaRPr lang="en-US" sz="1100" dirty="0"/>
          </a:p>
        </p:txBody>
      </p:sp>
      <p:sp>
        <p:nvSpPr>
          <p:cNvPr id="17" name="Shape 14"/>
          <p:cNvSpPr/>
          <p:nvPr/>
        </p:nvSpPr>
        <p:spPr>
          <a:xfrm>
            <a:off x="6419088" y="1554480"/>
            <a:ext cx="2651760" cy="3246120"/>
          </a:xfrm>
          <a:prstGeom prst="roundRect">
            <a:avLst>
              <a:gd name="adj" fmla="val 1724"/>
            </a:avLst>
          </a:prstGeom>
          <a:solidFill>
            <a:srgbClr val="F3F7FA"/>
          </a:solidFill>
          <a:ln/>
        </p:spPr>
        <p:txBody>
          <a:bodyPr/>
          <a:p/>
        </p:txBody>
      </p:sp>
      <p:sp>
        <p:nvSpPr>
          <p:cNvPr id="18" name="Shape 15"/>
          <p:cNvSpPr/>
          <p:nvPr/>
        </p:nvSpPr>
        <p:spPr>
          <a:xfrm>
            <a:off x="6601968" y="1755648"/>
            <a:ext cx="384048" cy="384048"/>
          </a:xfrm>
          <a:prstGeom prst="ellipse">
            <a:avLst/>
          </a:prstGeom>
          <a:solidFill>
            <a:srgbClr val="007BCB"/>
          </a:solidFill>
          <a:ln/>
        </p:spPr>
        <p:txBody>
          <a:bodyPr/>
          <a:p/>
        </p:txBody>
      </p:sp>
      <p:sp>
        <p:nvSpPr>
          <p:cNvPr id="19" name="Text 16"/>
          <p:cNvSpPr/>
          <p:nvPr/>
        </p:nvSpPr>
        <p:spPr>
          <a:xfrm>
            <a:off x="6601968" y="17556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3</a:t>
            </a:r>
            <a:endParaRPr lang="en-US" sz="1500" dirty="0"/>
          </a:p>
        </p:txBody>
      </p:sp>
      <p:sp>
        <p:nvSpPr>
          <p:cNvPr id="20" name="Text 17"/>
          <p:cNvSpPr/>
          <p:nvPr/>
        </p:nvSpPr>
        <p:spPr>
          <a:xfrm>
            <a:off x="6601968" y="2286000"/>
            <a:ext cx="2331720" cy="29260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Expand markets</a:t>
            </a:r>
            <a:endParaRPr lang="en-US" sz="1550" dirty="0"/>
          </a:p>
        </p:txBody>
      </p:sp>
      <p:sp>
        <p:nvSpPr>
          <p:cNvPr id="21" name="Text 18"/>
          <p:cNvSpPr/>
          <p:nvPr/>
        </p:nvSpPr>
        <p:spPr>
          <a:xfrm>
            <a:off x="6601968" y="2633472"/>
            <a:ext cx="2331720" cy="201168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Grow beyond civil science into US defense and commercial constellation primes, and serve allied international customers in Europe, Japan, Canada, and Australia under US export licenses.</a:t>
            </a:r>
            <a:endParaRPr lang="en-US" sz="1100" dirty="0"/>
          </a:p>
        </p:txBody>
      </p:sp>
      <p:pic>
        <p:nvPicPr>
          <p:cNvPr id="22" name="Image 1" descr="assets/s12_prod.jpg">    </p:cNvPr>
          <p:cNvPicPr>
            <a:picLocks noChangeAspect="1"/>
          </p:cNvPicPr>
          <p:nvPr/>
        </p:nvPicPr>
        <p:blipFill>
          <a:blip r:embed="rId2"/>
          <a:stretch>
            <a:fillRect/>
          </a:stretch>
        </p:blipFill>
        <p:spPr>
          <a:xfrm>
            <a:off x="9189720" y="1554480"/>
            <a:ext cx="2176272" cy="3246120"/>
          </a:xfrm>
          <a:prstGeom prst="rect">
            <a:avLst/>
          </a:prstGeom>
        </p:spPr>
      </p:pic>
      <p:sp>
        <p:nvSpPr>
          <p:cNvPr id="23" name="Shape 19"/>
          <p:cNvSpPr/>
          <p:nvPr/>
        </p:nvSpPr>
        <p:spPr>
          <a:xfrm>
            <a:off x="9189720" y="1554480"/>
            <a:ext cx="2176272" cy="3246120"/>
          </a:xfrm>
          <a:prstGeom prst="rect">
            <a:avLst/>
          </a:prstGeom>
          <a:ln w="12700">
            <a:solidFill>
              <a:srgbClr val="C6D2DA"/>
            </a:solidFill>
            <a:prstDash val="solid"/>
          </a:ln>
        </p:spPr>
        <p:txBody>
          <a:bodyPr/>
          <a:p/>
        </p:txBody>
      </p:sp>
      <p:sp>
        <p:nvSpPr>
          <p:cNvPr id="24" name="Shape 20"/>
          <p:cNvSpPr/>
          <p:nvPr/>
        </p:nvSpPr>
        <p:spPr>
          <a:xfrm>
            <a:off x="822960" y="5029200"/>
            <a:ext cx="10543032" cy="1234440"/>
          </a:xfrm>
          <a:prstGeom prst="roundRect">
            <a:avLst>
              <a:gd name="adj" fmla="val 3704"/>
            </a:avLst>
          </a:prstGeom>
          <a:solidFill>
            <a:srgbClr val="EDF3F8"/>
          </a:solidFill>
          <a:ln w="9525">
            <a:solidFill>
              <a:srgbClr val="C6D2DA"/>
            </a:solidFill>
            <a:prstDash val="solid"/>
          </a:ln>
        </p:spPr>
        <p:txBody>
          <a:bodyPr/>
          <a:p/>
        </p:txBody>
      </p:sp>
      <p:sp>
        <p:nvSpPr>
          <p:cNvPr id="25" name="Text 21"/>
          <p:cNvSpPr/>
          <p:nvPr/>
        </p:nvSpPr>
        <p:spPr>
          <a:xfrm>
            <a:off x="1005840" y="5138928"/>
            <a:ext cx="3200400" cy="256032"/>
          </a:xfrm>
          <a:prstGeom prst="rect">
            <a:avLst/>
          </a:prstGeom>
          <a:noFill/>
          <a:ln/>
        </p:spPr>
        <p:txBody>
          <a:bodyPr wrap="square" lIns="0" tIns="0" rIns="0" bIns="0" rtlCol="0" anchor="ctr"/>
          <a:lstStyle/>
          <a:p>
            <a:pPr indent="0" marL="0">
              <a:buNone/>
            </a:pPr>
            <a:r>
              <a:rPr lang="en-US" sz="1250" b="1" dirty="0">
                <a:solidFill>
                  <a:srgbClr val="10222F"/>
                </a:solidFill>
                <a:latin typeface="Garamond" pitchFamily="34" charset="0"/>
                <a:ea typeface="Garamond" pitchFamily="34" charset="-122"/>
                <a:cs typeface="Garamond" pitchFamily="34" charset="-120"/>
              </a:rPr>
              <a:t>Export compliance</a:t>
            </a:r>
            <a:endParaRPr lang="en-US" sz="1250" dirty="0"/>
          </a:p>
        </p:txBody>
      </p:sp>
      <p:sp>
        <p:nvSpPr>
          <p:cNvPr id="26" name="Text 22"/>
          <p:cNvSpPr/>
          <p:nvPr/>
        </p:nvSpPr>
        <p:spPr>
          <a:xfrm>
            <a:off x="1005840" y="5413248"/>
            <a:ext cx="10149840" cy="777240"/>
          </a:xfrm>
          <a:prstGeom prst="rect">
            <a:avLst/>
          </a:prstGeom>
          <a:noFill/>
          <a:ln/>
        </p:spPr>
        <p:txBody>
          <a:bodyPr wrap="square" lIns="0" tIns="0" rIns="0" bIns="0" rtlCol="0" anchor="t"/>
          <a:lstStyle/>
          <a:p>
            <a:pPr indent="0" marL="0">
              <a:lnSpc>
                <a:spcPct val="102000"/>
              </a:lnSpc>
              <a:buNone/>
            </a:pPr>
            <a:r>
              <a:rPr lang="en-US" sz="1050" dirty="0">
                <a:solidFill>
                  <a:srgbClr val="1E2A33"/>
                </a:solidFill>
                <a:latin typeface="Garamond" pitchFamily="34" charset="0"/>
                <a:ea typeface="Garamond" pitchFamily="34" charset="-122"/>
                <a:cs typeface="Garamond" pitchFamily="34" charset="-120"/>
              </a:rPr>
              <a:t>Heliospace hardware and technical data are subject to US export controls under ITAR and the EAR. All international business is pursued only under required US Government authorizations, supported by an internal export compliance program.</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assets/close_bg.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assets/logo_white.png">    </p:cNvPr>
          <p:cNvPicPr>
            <a:picLocks noChangeAspect="1"/>
          </p:cNvPicPr>
          <p:nvPr/>
        </p:nvPicPr>
        <p:blipFill>
          <a:blip r:embed="rId2"/>
          <a:stretch>
            <a:fillRect/>
          </a:stretch>
        </p:blipFill>
        <p:spPr>
          <a:xfrm>
            <a:off x="822960" y="731520"/>
            <a:ext cx="2377440" cy="665683"/>
          </a:xfrm>
          <a:prstGeom prst="rect">
            <a:avLst/>
          </a:prstGeom>
        </p:spPr>
      </p:pic>
      <p:sp>
        <p:nvSpPr>
          <p:cNvPr id="4" name="Text 0"/>
          <p:cNvSpPr/>
          <p:nvPr/>
        </p:nvSpPr>
        <p:spPr>
          <a:xfrm>
            <a:off x="822960" y="2331720"/>
            <a:ext cx="5486400" cy="292608"/>
          </a:xfrm>
          <a:prstGeom prst="rect">
            <a:avLst/>
          </a:prstGeom>
          <a:noFill/>
          <a:ln/>
        </p:spPr>
        <p:txBody>
          <a:bodyPr wrap="square" lIns="0" tIns="0" rIns="0" bIns="0" rtlCol="0" anchor="ctr"/>
          <a:lstStyle/>
          <a:p>
            <a:pPr indent="0" marL="0">
              <a:buNone/>
            </a:pPr>
            <a:r>
              <a:rPr lang="en-US" sz="1200" b="1" spc="350" kern="0" dirty="0">
                <a:solidFill>
                  <a:srgbClr val="6FBCE8"/>
                </a:solidFill>
                <a:latin typeface="Garamond" pitchFamily="34" charset="0"/>
                <a:ea typeface="Garamond" pitchFamily="34" charset="-122"/>
                <a:cs typeface="Garamond" pitchFamily="34" charset="-120"/>
              </a:rPr>
              <a:t>THANK YOU</a:t>
            </a:r>
            <a:endParaRPr lang="en-US" sz="1200" dirty="0"/>
          </a:p>
        </p:txBody>
      </p:sp>
      <p:sp>
        <p:nvSpPr>
          <p:cNvPr id="5" name="Text 1"/>
          <p:cNvSpPr/>
          <p:nvPr/>
        </p:nvSpPr>
        <p:spPr>
          <a:xfrm>
            <a:off x="822960" y="2651760"/>
            <a:ext cx="9144000" cy="685800"/>
          </a:xfrm>
          <a:prstGeom prst="rect">
            <a:avLst/>
          </a:prstGeom>
          <a:noFill/>
          <a:ln/>
        </p:spPr>
        <p:txBody>
          <a:bodyPr wrap="square" lIns="0" tIns="0" rIns="0" bIns="0" rtlCol="0" anchor="ctr"/>
          <a:lstStyle/>
          <a:p>
            <a:pPr indent="0" marL="0">
              <a:buNone/>
            </a:pPr>
            <a:r>
              <a:rPr lang="en-US" sz="3600" b="1" dirty="0">
                <a:solidFill>
                  <a:srgbClr val="FFFFFF"/>
                </a:solidFill>
                <a:latin typeface="Garamond" pitchFamily="34" charset="0"/>
                <a:ea typeface="Garamond" pitchFamily="34" charset="-122"/>
                <a:cs typeface="Garamond" pitchFamily="34" charset="-120"/>
              </a:rPr>
              <a:t>Questions and Discussion</a:t>
            </a:r>
            <a:endParaRPr lang="en-US" sz="3600" dirty="0"/>
          </a:p>
        </p:txBody>
      </p:sp>
      <p:sp>
        <p:nvSpPr>
          <p:cNvPr id="6" name="Shape 2"/>
          <p:cNvSpPr/>
          <p:nvPr/>
        </p:nvSpPr>
        <p:spPr>
          <a:xfrm>
            <a:off x="822960" y="3657600"/>
            <a:ext cx="5577840" cy="1783080"/>
          </a:xfrm>
          <a:prstGeom prst="roundRect">
            <a:avLst>
              <a:gd name="adj" fmla="val 2400"/>
            </a:avLst>
          </a:prstGeom>
          <a:solidFill>
            <a:srgbClr val="0E2233">
              <a:alpha val="82000"/>
            </a:srgbClr>
          </a:solidFill>
          <a:ln w="9525">
            <a:solidFill>
              <a:srgbClr val="3C5A72"/>
            </a:solidFill>
            <a:prstDash val="solid"/>
          </a:ln>
        </p:spPr>
        <p:txBody>
          <a:bodyPr/>
          <a:p/>
        </p:txBody>
      </p:sp>
      <p:sp>
        <p:nvSpPr>
          <p:cNvPr id="7" name="Text 3"/>
          <p:cNvSpPr/>
          <p:nvPr/>
        </p:nvSpPr>
        <p:spPr>
          <a:xfrm>
            <a:off x="1097280" y="3931920"/>
            <a:ext cx="5120640" cy="1371600"/>
          </a:xfrm>
          <a:prstGeom prst="rect">
            <a:avLst/>
          </a:prstGeom>
          <a:noFill/>
          <a:ln/>
        </p:spPr>
        <p:txBody>
          <a:bodyPr wrap="square" lIns="0" tIns="0" rIns="0" bIns="0" rtlCol="0" anchor="t"/>
          <a:lstStyle/>
          <a:p>
            <a:pPr indent="0" marL="0">
              <a:spcAft>
                <a:spcPts val="500"/>
              </a:spcAft>
              <a:buNone/>
            </a:pPr>
            <a:r>
              <a:rPr lang="en-US" sz="2200" b="1" dirty="0">
                <a:solidFill>
                  <a:srgbClr val="FFFFFF"/>
                </a:solidFill>
                <a:latin typeface="Garamond" pitchFamily="34" charset="0"/>
                <a:ea typeface="Garamond" pitchFamily="34" charset="-122"/>
                <a:cs typeface="Garamond" pitchFamily="34" charset="-120"/>
              </a:rPr>
              <a:t>Rocky Chen</a:t>
            </a:r>
            <a:endParaRPr lang="en-US" sz="1700" dirty="0"/>
          </a:p>
          <a:p>
            <a:pPr indent="0" marL="0">
              <a:spcAft>
                <a:spcPts val="500"/>
              </a:spcAft>
              <a:buNone/>
            </a:pPr>
            <a:r>
              <a:rPr lang="en-US" sz="1500" dirty="0">
                <a:solidFill>
                  <a:srgbClr val="AFC7D8"/>
                </a:solidFill>
                <a:latin typeface="Garamond" pitchFamily="34" charset="0"/>
                <a:ea typeface="Garamond" pitchFamily="34" charset="-122"/>
                <a:cs typeface="Garamond" pitchFamily="34" charset="-120"/>
              </a:rPr>
              <a:t>Exclusive Sales Distributor in China</a:t>
            </a:r>
            <a:endParaRPr lang="en-US" sz="1700" dirty="0"/>
          </a:p>
          <a:p>
            <a:pPr indent="0" marL="0">
              <a:spcAft>
                <a:spcPts val="500"/>
              </a:spcAft>
              <a:buNone/>
            </a:pPr>
            <a:r>
              <a:rPr lang="en-US" sz="1500" dirty="0">
                <a:solidFill>
                  <a:srgbClr val="AFC7D8"/>
                </a:solidFill>
                <a:latin typeface="Garamond" pitchFamily="34" charset="0"/>
                <a:ea typeface="Garamond" pitchFamily="34" charset="-122"/>
                <a:cs typeface="Garamond" pitchFamily="34" charset="-120"/>
              </a:rPr>
              <a:t>rocky@helio.space   |   19921169641</a:t>
            </a:r>
            <a:endParaRPr lang="en-US" sz="1700" dirty="0"/>
          </a:p>
        </p:txBody>
      </p:sp>
      <p:sp>
        <p:nvSpPr>
          <p:cNvPr id="8" name="Text 4"/>
          <p:cNvSpPr/>
          <p:nvPr/>
        </p:nvSpPr>
        <p:spPr>
          <a:xfrm>
            <a:off x="9509760" y="6473952"/>
            <a:ext cx="1874520" cy="237744"/>
          </a:xfrm>
          <a:prstGeom prst="rect">
            <a:avLst/>
          </a:prstGeom>
          <a:noFill/>
          <a:ln/>
        </p:spPr>
        <p:txBody>
          <a:bodyPr wrap="square" lIns="0" tIns="0" rIns="0" bIns="0" rtlCol="0" anchor="ctr"/>
          <a:lstStyle/>
          <a:p>
            <a:pPr algn="r" indent="0" marL="0">
              <a:buNone/>
            </a:pPr>
            <a:r>
              <a:rPr lang="en-US" sz="900" dirty="0">
                <a:solidFill>
                  <a:srgbClr val="9DB2C0"/>
                </a:solidFill>
                <a:latin typeface="Garamond" pitchFamily="34" charset="0"/>
                <a:ea typeface="Garamond" pitchFamily="34" charset="-122"/>
                <a:cs typeface="Garamond" pitchFamily="34" charset="-120"/>
              </a:rPr>
              <a:t>Proprietary and Confidential</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2026-08-07T08:46:16Z</dcterms:created>
  <dcterms:modified xsi:type="dcterms:W3CDTF">2026-08-07T08:46:16Z</dcterms:modified>
</cp:coreProperties>
</file>