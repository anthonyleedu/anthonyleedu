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Space economy</c:v>
                </c:pt>
              </c:strCache>
            </c:strRef>
          </c:tx>
          <c:spPr>
            <a:solidFill>
              <a:srgbClr val="007BCB"/>
            </a:solidFill>
            <a:effectLst/>
          </c:spPr>
          <c:invertIfNegative val="0"/>
          <c:dLbls>
            <c:numFmt formatCode="&quot;$&quot;#,##0" sourceLinked="0"/>
            <c:txPr>
              <a:bodyPr/>
              <a:lstStyle/>
              <a:p>
                <a:pPr>
                  <a:defRPr b="0" i="0" strike="noStrike" sz="1200" u="none">
                    <a:solidFill>
                      <a:srgbClr val="10222F"/>
                    </a:solidFill>
                    <a:latin typeface="Garamond"/>
                  </a:defRPr>
                </a:pPr>
              </a:p>
            </c:txPr>
            <c:showLegendKey val="0"/>
            <c:showVal val="1"/>
            <c:showCatName val="0"/>
            <c:showSerName val="0"/>
            <c:showPercent val="0"/>
            <c:showBubbleSize val="0"/>
            <c:showLeaderLines val="0"/>
          </c:dLbls>
          <c:cat>
            <c:multiLvlStrRef>
              <c:f>Sheet1!$A$2:$A$4</c:f>
              <c:multiLvlStrCache>
                <c:ptCount val="3"/>
                <c:lvl>
                  <c:pt idx="0">
                    <c:v>2000</c:v>
                  </c:pt>
                  <c:pt idx="1">
                    <c:v>2023</c:v>
                  </c:pt>
                  <c:pt idx="2">
                    <c:v>2035E</c:v>
                  </c:pt>
                </c:lvl>
              </c:multiLvlStrCache>
            </c:multiLvlStrRef>
          </c:cat>
          <c:val>
            <c:numRef>
              <c:f>Sheet1!$B$2:$B$4</c:f>
              <c:numCache>
                <c:formatCode>General</c:formatCode>
                <c:ptCount val="3"/>
                <c:pt idx="0">
                  <c:v>130</c:v>
                </c:pt>
                <c:pt idx="1">
                  <c:v>630</c:v>
                </c:pt>
                <c:pt idx="2">
                  <c:v>1800</c:v>
                </c:pt>
              </c:numCache>
            </c:numRef>
          </c:val>
        </c:ser>
        <c:dLbls>
          <c:numFmt formatCode="&quot;$&quot;#,##0" sourceLinked="0"/>
          <c:txPr>
            <a:bodyPr/>
            <a:lstStyle/>
            <a:p>
              <a:pPr>
                <a:defRPr b="0" i="0" strike="noStrike" sz="1200" u="none">
                  <a:solidFill>
                    <a:srgbClr val="10222F"/>
                  </a:solidFill>
                  <a:latin typeface="Garamond"/>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C6B76"/>
                </a:solidFill>
                <a:latin typeface="Garamond"/>
              </a:defRPr>
            </a:pPr>
            <a:endParaRPr lang="en-US"/>
          </a:p>
        </c:txPr>
        <c:crossAx val="2094734552"/>
        <c:crosses val="autoZero"/>
        <c:auto val="1"/>
        <c:lblAlgn val="ctr"/>
        <c:noMultiLvlLbl val="1"/>
      </c:catAx>
      <c:valAx>
        <c:axId val="2094734552"/>
        <c:scaling>
          <c:orientation val="minMax"/>
          <c:max val="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007BCB"/>
            </a:solidFill>
            <a:effectLst/>
          </c:spPr>
          <c:invertIfNegative val="0"/>
          <c:dLbls>
            <c:numFmt formatCode="&quot;$&quot;0&quot;M&quot;" sourceLinked="0"/>
            <c:txPr>
              <a:bodyPr/>
              <a:lstStyle/>
              <a:p>
                <a:pPr>
                  <a:defRPr b="0" i="0" strike="noStrike" sz="1150" u="none">
                    <a:solidFill>
                      <a:srgbClr val="10222F"/>
                    </a:solidFill>
                    <a:latin typeface="Garamond"/>
                  </a:defRPr>
                </a:pPr>
              </a:p>
            </c:txPr>
            <c:showLegendKey val="0"/>
            <c:showVal val="1"/>
            <c:showCatName val="0"/>
            <c:showSerName val="0"/>
            <c:showPercent val="0"/>
            <c:showBubbleSize val="0"/>
            <c:showLeaderLines val="0"/>
          </c:dLbls>
          <c:cat>
            <c:multiLvlStrRef>
              <c:f>Sheet1!$A$2:$A$6</c:f>
              <c:multiLvlStrCache>
                <c:ptCount val="5"/>
                <c:lvl>
                  <c:pt idx="0">
                    <c:v>FY26</c:v>
                  </c:pt>
                  <c:pt idx="1">
                    <c:v>FY27</c:v>
                  </c:pt>
                  <c:pt idx="2">
                    <c:v>FY28</c:v>
                  </c:pt>
                  <c:pt idx="3">
                    <c:v>FY29</c:v>
                  </c:pt>
                  <c:pt idx="4">
                    <c:v>FY30</c:v>
                  </c:pt>
                </c:lvl>
              </c:multiLvlStrCache>
            </c:multiLvlStrRef>
          </c:cat>
          <c:val>
            <c:numRef>
              <c:f>Sheet1!$B$2:$B$6</c:f>
              <c:numCache>
                <c:formatCode>General</c:formatCode>
                <c:ptCount val="5"/>
                <c:pt idx="0">
                  <c:v>9</c:v>
                </c:pt>
                <c:pt idx="1">
                  <c:v>14</c:v>
                </c:pt>
                <c:pt idx="2">
                  <c:v>22</c:v>
                </c:pt>
                <c:pt idx="3">
                  <c:v>32</c:v>
                </c:pt>
                <c:pt idx="4">
                  <c:v>45</c:v>
                </c:pt>
              </c:numCache>
            </c:numRef>
          </c:val>
        </c:ser>
        <c:dLbls>
          <c:numFmt formatCode="&quot;$&quot;0&quot;M&quot;" sourceLinked="0"/>
          <c:txPr>
            <a:bodyPr/>
            <a:lstStyle/>
            <a:p>
              <a:pPr>
                <a:defRPr b="0" i="0" strike="noStrike" sz="1150" u="none">
                  <a:solidFill>
                    <a:srgbClr val="10222F"/>
                  </a:solidFill>
                  <a:latin typeface="Garamond"/>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C6B76"/>
                </a:solidFill>
                <a:latin typeface="Garamond"/>
              </a:defRPr>
            </a:pPr>
            <a:endParaRPr lang="en-US"/>
          </a:p>
        </c:txPr>
        <c:crossAx val="2094734552"/>
        <c:crosses val="autoZero"/>
        <c:auto val="1"/>
        <c:lblAlgn val="ctr"/>
        <c:noMultiLvlLbl val="1"/>
      </c:catAx>
      <c:valAx>
        <c:axId val="2094734552"/>
        <c:scaling>
          <c:orientation val="minMax"/>
          <c:max val="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1.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5-1.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titl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685800"/>
            <a:ext cx="2514600" cy="704088"/>
          </a:xfrm>
          <a:prstGeom prst="rect">
            <a:avLst/>
          </a:prstGeom>
        </p:spPr>
      </p:pic>
      <p:sp>
        <p:nvSpPr>
          <p:cNvPr id="4" name="Text 0"/>
          <p:cNvSpPr/>
          <p:nvPr/>
        </p:nvSpPr>
        <p:spPr>
          <a:xfrm>
            <a:off x="822960" y="260604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INVESTOR OVERVIEW</a:t>
            </a:r>
            <a:endParaRPr lang="en-US" sz="1200" dirty="0"/>
          </a:p>
        </p:txBody>
      </p:sp>
      <p:sp>
        <p:nvSpPr>
          <p:cNvPr id="5" name="Text 1"/>
          <p:cNvSpPr/>
          <p:nvPr/>
        </p:nvSpPr>
        <p:spPr>
          <a:xfrm>
            <a:off x="822960" y="2926080"/>
            <a:ext cx="10241280" cy="868680"/>
          </a:xfrm>
          <a:prstGeom prst="rect">
            <a:avLst/>
          </a:prstGeom>
          <a:noFill/>
          <a:ln/>
        </p:spPr>
        <p:txBody>
          <a:bodyPr wrap="square" lIns="0" tIns="0" rIns="0" bIns="0" rtlCol="0" anchor="ctr"/>
          <a:lstStyle/>
          <a:p>
            <a:pPr indent="0" marL="0">
              <a:buNone/>
            </a:pPr>
            <a:r>
              <a:rPr lang="en-US" sz="4600" b="1" dirty="0">
                <a:solidFill>
                  <a:srgbClr val="FFFFFF"/>
                </a:solidFill>
                <a:latin typeface="Garamond" pitchFamily="34" charset="0"/>
                <a:ea typeface="Garamond" pitchFamily="34" charset="-122"/>
                <a:cs typeface="Garamond" pitchFamily="34" charset="-120"/>
              </a:rPr>
              <a:t>Heliospace Corporation</a:t>
            </a:r>
            <a:endParaRPr lang="en-US" sz="4600" dirty="0"/>
          </a:p>
        </p:txBody>
      </p:sp>
      <p:sp>
        <p:nvSpPr>
          <p:cNvPr id="6" name="Text 2"/>
          <p:cNvSpPr/>
          <p:nvPr/>
        </p:nvSpPr>
        <p:spPr>
          <a:xfrm>
            <a:off x="822960" y="3886200"/>
            <a:ext cx="8138160" cy="777240"/>
          </a:xfrm>
          <a:prstGeom prst="rect">
            <a:avLst/>
          </a:prstGeom>
          <a:noFill/>
          <a:ln/>
        </p:spPr>
        <p:txBody>
          <a:bodyPr wrap="square" lIns="0" tIns="0" rIns="0" bIns="0" rtlCol="0" anchor="ctr"/>
          <a:lstStyle/>
          <a:p>
            <a:pPr indent="0" marL="0">
              <a:buNone/>
            </a:pPr>
            <a:r>
              <a:rPr lang="en-US" sz="1700" dirty="0">
                <a:solidFill>
                  <a:srgbClr val="DCE8F1"/>
                </a:solidFill>
                <a:latin typeface="Garamond" pitchFamily="34" charset="0"/>
                <a:ea typeface="Garamond" pitchFamily="34" charset="-122"/>
                <a:cs typeface="Garamond" pitchFamily="34" charset="-120"/>
              </a:rPr>
              <a:t>Flight proven deployable antennas, booms, and mechanisms for the expanding space economy</a:t>
            </a:r>
            <a:endParaRPr lang="en-US" sz="1700" dirty="0"/>
          </a:p>
        </p:txBody>
      </p:sp>
      <p:sp>
        <p:nvSpPr>
          <p:cNvPr id="7" name="Text 3"/>
          <p:cNvSpPr/>
          <p:nvPr/>
        </p:nvSpPr>
        <p:spPr>
          <a:xfrm>
            <a:off x="822960" y="4846320"/>
            <a:ext cx="6858000" cy="274320"/>
          </a:xfrm>
          <a:prstGeom prst="rect">
            <a:avLst/>
          </a:prstGeom>
          <a:noFill/>
          <a:ln/>
        </p:spPr>
        <p:txBody>
          <a:bodyPr wrap="square" lIns="0" tIns="0" rIns="0" bIns="0" rtlCol="0" anchor="ctr"/>
          <a:lstStyle/>
          <a:p>
            <a:pPr indent="0" marL="0">
              <a:buNone/>
            </a:pPr>
            <a:r>
              <a:rPr lang="en-US" sz="1100" spc="250" kern="0" dirty="0">
                <a:solidFill>
                  <a:srgbClr val="9FC5DE"/>
                </a:solidFill>
                <a:latin typeface="Garamond" pitchFamily="34" charset="0"/>
                <a:ea typeface="Garamond" pitchFamily="34" charset="-122"/>
                <a:cs typeface="Garamond" pitchFamily="34" charset="-120"/>
              </a:rPr>
              <a:t>NEW SPACE VISION   ×   REAL SPACE EXPERIENCE</a:t>
            </a:r>
            <a:endParaRPr lang="en-US" sz="1100" dirty="0"/>
          </a:p>
        </p:txBody>
      </p:sp>
      <p:sp>
        <p:nvSpPr>
          <p:cNvPr id="8" name="Text 4"/>
          <p:cNvSpPr/>
          <p:nvPr/>
        </p:nvSpPr>
        <p:spPr>
          <a:xfrm>
            <a:off x="822960" y="6172200"/>
            <a:ext cx="8229600" cy="274320"/>
          </a:xfrm>
          <a:prstGeom prst="rect">
            <a:avLst/>
          </a:prstGeom>
          <a:noFill/>
          <a:ln/>
        </p:spPr>
        <p:txBody>
          <a:bodyPr wrap="square" lIns="0" tIns="0" rIns="0" bIns="0" rtlCol="0" anchor="ctr"/>
          <a:lstStyle/>
          <a:p>
            <a:pPr indent="0" marL="0">
              <a:buNone/>
            </a:pPr>
            <a:r>
              <a:rPr lang="en-US" sz="1050" dirty="0">
                <a:solidFill>
                  <a:srgbClr val="B9C7D2"/>
                </a:solidFill>
                <a:latin typeface="Garamond" pitchFamily="34" charset="0"/>
                <a:ea typeface="Garamond" pitchFamily="34" charset="-122"/>
                <a:cs typeface="Garamond" pitchFamily="34" charset="-120"/>
              </a:rPr>
              <a:t>August 2026    |    Berkeley, California    |    Proprietary and Confidential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COMPANY OVERVIEW</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Heliospace at a Glance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2</a:t>
            </a:r>
            <a:endParaRPr lang="en-US" sz="850" dirty="0"/>
          </a:p>
        </p:txBody>
      </p:sp>
      <p:sp>
        <p:nvSpPr>
          <p:cNvPr id="7" name="Text 4"/>
          <p:cNvSpPr/>
          <p:nvPr/>
        </p:nvSpPr>
        <p:spPr>
          <a:xfrm>
            <a:off x="822960" y="1463040"/>
            <a:ext cx="5440680" cy="132588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Heliospace Corporation designs, develops, and delivers high reliability deployable mechanisms and space hardware for civil, commercial, and scientific missions. The team brings decades of experience building flight hardware for NASA and ESA programs, carrying designs from concept through qualification, delivery, and on orbit operations.</a:t>
            </a:r>
            <a:endParaRPr lang="en-US" sz="1350" dirty="0"/>
          </a:p>
        </p:txBody>
      </p:sp>
      <p:sp>
        <p:nvSpPr>
          <p:cNvPr id="8" name="Text 5"/>
          <p:cNvSpPr/>
          <p:nvPr/>
        </p:nvSpPr>
        <p:spPr>
          <a:xfrm>
            <a:off x="822960" y="2880360"/>
            <a:ext cx="5440680" cy="109728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The company's SABER deployable boom technology provides a low mass, compact solution for spaceborne antennas, sensors, and instrument booms, with a record of hundreds of successful operational deployments on some of the most demanding missions ever flown.</a:t>
            </a:r>
            <a:endParaRPr lang="en-US" sz="1350" dirty="0"/>
          </a:p>
        </p:txBody>
      </p:sp>
      <p:sp>
        <p:nvSpPr>
          <p:cNvPr id="9" name="Text 6"/>
          <p:cNvSpPr/>
          <p:nvPr/>
        </p:nvSpPr>
        <p:spPr>
          <a:xfrm>
            <a:off x="822960" y="416052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60+</a:t>
            </a:r>
            <a:endParaRPr lang="en-US" sz="2800" dirty="0"/>
          </a:p>
        </p:txBody>
      </p:sp>
      <p:sp>
        <p:nvSpPr>
          <p:cNvPr id="10" name="Text 7"/>
          <p:cNvSpPr/>
          <p:nvPr/>
        </p:nvSpPr>
        <p:spPr>
          <a:xfrm>
            <a:off x="822960" y="461772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engineer years of deployables experience</a:t>
            </a:r>
            <a:endParaRPr lang="en-US" sz="1050" dirty="0"/>
          </a:p>
        </p:txBody>
      </p:sp>
      <p:sp>
        <p:nvSpPr>
          <p:cNvPr id="11" name="Text 8"/>
          <p:cNvSpPr/>
          <p:nvPr/>
        </p:nvSpPr>
        <p:spPr>
          <a:xfrm>
            <a:off x="3611880" y="416052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100s</a:t>
            </a:r>
            <a:endParaRPr lang="en-US" sz="2800" dirty="0"/>
          </a:p>
        </p:txBody>
      </p:sp>
      <p:sp>
        <p:nvSpPr>
          <p:cNvPr id="12" name="Text 9"/>
          <p:cNvSpPr/>
          <p:nvPr/>
        </p:nvSpPr>
        <p:spPr>
          <a:xfrm>
            <a:off x="3611880" y="461772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of successful operational deployments</a:t>
            </a:r>
            <a:endParaRPr lang="en-US" sz="1050" dirty="0"/>
          </a:p>
        </p:txBody>
      </p:sp>
      <p:sp>
        <p:nvSpPr>
          <p:cNvPr id="13" name="Text 10"/>
          <p:cNvSpPr/>
          <p:nvPr/>
        </p:nvSpPr>
        <p:spPr>
          <a:xfrm>
            <a:off x="822960" y="521208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20,000</a:t>
            </a:r>
            <a:endParaRPr lang="en-US" sz="2800" dirty="0"/>
          </a:p>
        </p:txBody>
      </p:sp>
      <p:sp>
        <p:nvSpPr>
          <p:cNvPr id="14" name="Text 11"/>
          <p:cNvSpPr/>
          <p:nvPr/>
        </p:nvSpPr>
        <p:spPr>
          <a:xfrm>
            <a:off x="822960" y="566928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square feet of Berkeley production space</a:t>
            </a:r>
            <a:endParaRPr lang="en-US" sz="1050" dirty="0"/>
          </a:p>
        </p:txBody>
      </p:sp>
      <p:sp>
        <p:nvSpPr>
          <p:cNvPr id="15" name="Text 12"/>
          <p:cNvSpPr/>
          <p:nvPr/>
        </p:nvSpPr>
        <p:spPr>
          <a:xfrm>
            <a:off x="3611880" y="521208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$13M+</a:t>
            </a:r>
            <a:endParaRPr lang="en-US" sz="2800" dirty="0"/>
          </a:p>
        </p:txBody>
      </p:sp>
      <p:sp>
        <p:nvSpPr>
          <p:cNvPr id="16" name="Text 13"/>
          <p:cNvSpPr/>
          <p:nvPr/>
        </p:nvSpPr>
        <p:spPr>
          <a:xfrm>
            <a:off x="3611880" y="566928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in delivered and ongoing mission contracts</a:t>
            </a:r>
            <a:endParaRPr lang="en-US" sz="1050" dirty="0"/>
          </a:p>
        </p:txBody>
      </p:sp>
      <p:pic>
        <p:nvPicPr>
          <p:cNvPr id="17" name="Image 1" descr="assets/s2_hero.jpg">    </p:cNvPr>
          <p:cNvPicPr>
            <a:picLocks noChangeAspect="1"/>
          </p:cNvPicPr>
          <p:nvPr/>
        </p:nvPicPr>
        <p:blipFill>
          <a:blip r:embed="rId2"/>
          <a:stretch>
            <a:fillRect/>
          </a:stretch>
        </p:blipFill>
        <p:spPr>
          <a:xfrm>
            <a:off x="6537960" y="1463040"/>
            <a:ext cx="4828032" cy="3602736"/>
          </a:xfrm>
          <a:prstGeom prst="rect">
            <a:avLst/>
          </a:prstGeom>
        </p:spPr>
      </p:pic>
      <p:sp>
        <p:nvSpPr>
          <p:cNvPr id="18" name="Shape 14"/>
          <p:cNvSpPr/>
          <p:nvPr/>
        </p:nvSpPr>
        <p:spPr>
          <a:xfrm>
            <a:off x="6537960" y="1463040"/>
            <a:ext cx="4828032" cy="3602736"/>
          </a:xfrm>
          <a:prstGeom prst="rect">
            <a:avLst/>
          </a:prstGeom>
          <a:ln w="12700">
            <a:solidFill>
              <a:srgbClr val="C6D2DA"/>
            </a:solidFill>
            <a:prstDash val="solid"/>
          </a:ln>
        </p:spPr>
      </p:sp>
      <p:sp>
        <p:nvSpPr>
          <p:cNvPr id="19" name="Text 15"/>
          <p:cNvSpPr/>
          <p:nvPr/>
        </p:nvSpPr>
        <p:spPr>
          <a:xfrm>
            <a:off x="6537960" y="5138928"/>
            <a:ext cx="482803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with Heliospace built REASON radar antennas deployed. Image credit: NASA.</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CAPABILITIES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What We Do</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3</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Three integrated lines of business supported by a single Berkeley facility and quality system, from initial design through on orbit operations.</a:t>
            </a:r>
            <a:endParaRPr lang="en-US" sz="1300" dirty="0"/>
          </a:p>
        </p:txBody>
      </p:sp>
      <p:sp>
        <p:nvSpPr>
          <p:cNvPr id="8" name="Shape 5"/>
          <p:cNvSpPr/>
          <p:nvPr/>
        </p:nvSpPr>
        <p:spPr>
          <a:xfrm>
            <a:off x="822960" y="1874520"/>
            <a:ext cx="3392424" cy="4160520"/>
          </a:xfrm>
          <a:prstGeom prst="roundRect">
            <a:avLst>
              <a:gd name="adj" fmla="val 1348"/>
            </a:avLst>
          </a:prstGeom>
          <a:solidFill>
            <a:srgbClr val="F3F7FA"/>
          </a:solidFill>
          <a:ln/>
        </p:spPr>
      </p:sp>
      <p:pic>
        <p:nvPicPr>
          <p:cNvPr id="9" name="Image 1" descr="assets/s3_antennas.jpg">    </p:cNvPr>
          <p:cNvPicPr>
            <a:picLocks noChangeAspect="1"/>
          </p:cNvPicPr>
          <p:nvPr/>
        </p:nvPicPr>
        <p:blipFill>
          <a:blip r:embed="rId2"/>
          <a:stretch>
            <a:fillRect/>
          </a:stretch>
        </p:blipFill>
        <p:spPr>
          <a:xfrm>
            <a:off x="932688" y="1984248"/>
            <a:ext cx="3172968" cy="1883664"/>
          </a:xfrm>
          <a:prstGeom prst="rect">
            <a:avLst/>
          </a:prstGeom>
        </p:spPr>
      </p:pic>
      <p:sp>
        <p:nvSpPr>
          <p:cNvPr id="10" name="Shape 6"/>
          <p:cNvSpPr/>
          <p:nvPr/>
        </p:nvSpPr>
        <p:spPr>
          <a:xfrm>
            <a:off x="932688" y="1984248"/>
            <a:ext cx="3172968" cy="1883664"/>
          </a:xfrm>
          <a:prstGeom prst="rect">
            <a:avLst/>
          </a:prstGeom>
          <a:ln w="12700">
            <a:solidFill>
              <a:srgbClr val="C6D2DA"/>
            </a:solidFill>
            <a:prstDash val="solid"/>
          </a:ln>
        </p:spPr>
      </p:sp>
      <p:sp>
        <p:nvSpPr>
          <p:cNvPr id="11" name="Text 7"/>
          <p:cNvSpPr/>
          <p:nvPr/>
        </p:nvSpPr>
        <p:spPr>
          <a:xfrm>
            <a:off x="987552" y="4023360"/>
            <a:ext cx="3063240" cy="685800"/>
          </a:xfrm>
          <a:prstGeom prst="rect">
            <a:avLst/>
          </a:prstGeom>
          <a:noFill/>
          <a:ln/>
        </p:spPr>
        <p:txBody>
          <a:bodyPr wrap="square" lIns="0" tIns="0" rIns="0" bIns="0" rtlCol="0" anchor="t"/>
          <a:lstStyle/>
          <a:p>
            <a:pPr indent="0" marL="0">
              <a:buNone/>
            </a:pPr>
            <a:r>
              <a:rPr lang="en-US" sz="1500" b="1" dirty="0">
                <a:solidFill>
                  <a:srgbClr val="10222F"/>
                </a:solidFill>
                <a:latin typeface="Garamond" pitchFamily="34" charset="0"/>
                <a:ea typeface="Garamond" pitchFamily="34" charset="-122"/>
                <a:cs typeface="Garamond" pitchFamily="34" charset="-120"/>
              </a:rPr>
              <a:t>Deployable Antennas and Booms</a:t>
            </a:r>
            <a:endParaRPr lang="en-US" sz="1500" dirty="0"/>
          </a:p>
        </p:txBody>
      </p:sp>
      <p:sp>
        <p:nvSpPr>
          <p:cNvPr id="12" name="Text 8"/>
          <p:cNvSpPr/>
          <p:nvPr/>
        </p:nvSpPr>
        <p:spPr>
          <a:xfrm>
            <a:off x="987552" y="4736592"/>
            <a:ext cx="3063240" cy="118872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SABER and Stacer based monopoles, dipoles, and custom geometries from 1 m to 17.6 m tip to tip, delivered fully qualified for flight.</a:t>
            </a:r>
            <a:endParaRPr lang="en-US" sz="1150" dirty="0"/>
          </a:p>
        </p:txBody>
      </p:sp>
      <p:sp>
        <p:nvSpPr>
          <p:cNvPr id="13" name="Shape 9"/>
          <p:cNvSpPr/>
          <p:nvPr/>
        </p:nvSpPr>
        <p:spPr>
          <a:xfrm>
            <a:off x="4398264" y="1874520"/>
            <a:ext cx="3392424" cy="4160520"/>
          </a:xfrm>
          <a:prstGeom prst="roundRect">
            <a:avLst>
              <a:gd name="adj" fmla="val 1348"/>
            </a:avLst>
          </a:prstGeom>
          <a:solidFill>
            <a:srgbClr val="F3F7FA"/>
          </a:solidFill>
          <a:ln/>
        </p:spPr>
      </p:sp>
      <p:pic>
        <p:nvPicPr>
          <p:cNvPr id="14" name="Image 2" descr="assets/s3_mech.jpg">    </p:cNvPr>
          <p:cNvPicPr>
            <a:picLocks noChangeAspect="1"/>
          </p:cNvPicPr>
          <p:nvPr/>
        </p:nvPicPr>
        <p:blipFill>
          <a:blip r:embed="rId3"/>
          <a:stretch>
            <a:fillRect/>
          </a:stretch>
        </p:blipFill>
        <p:spPr>
          <a:xfrm>
            <a:off x="4507992" y="1984248"/>
            <a:ext cx="3172968" cy="1883664"/>
          </a:xfrm>
          <a:prstGeom prst="rect">
            <a:avLst/>
          </a:prstGeom>
        </p:spPr>
      </p:pic>
      <p:sp>
        <p:nvSpPr>
          <p:cNvPr id="15" name="Shape 10"/>
          <p:cNvSpPr/>
          <p:nvPr/>
        </p:nvSpPr>
        <p:spPr>
          <a:xfrm>
            <a:off x="4507992" y="1984248"/>
            <a:ext cx="3172968" cy="1883664"/>
          </a:xfrm>
          <a:prstGeom prst="rect">
            <a:avLst/>
          </a:prstGeom>
          <a:ln w="12700">
            <a:solidFill>
              <a:srgbClr val="C6D2DA"/>
            </a:solidFill>
            <a:prstDash val="solid"/>
          </a:ln>
        </p:spPr>
      </p:sp>
      <p:sp>
        <p:nvSpPr>
          <p:cNvPr id="16" name="Text 11"/>
          <p:cNvSpPr/>
          <p:nvPr/>
        </p:nvSpPr>
        <p:spPr>
          <a:xfrm>
            <a:off x="4562856" y="4023360"/>
            <a:ext cx="3063240" cy="685800"/>
          </a:xfrm>
          <a:prstGeom prst="rect">
            <a:avLst/>
          </a:prstGeom>
          <a:noFill/>
          <a:ln/>
        </p:spPr>
        <p:txBody>
          <a:bodyPr wrap="square" lIns="0" tIns="0" rIns="0" bIns="0" rtlCol="0" anchor="t"/>
          <a:lstStyle/>
          <a:p>
            <a:pPr indent="0" marL="0">
              <a:buNone/>
            </a:pPr>
            <a:r>
              <a:rPr lang="en-US" sz="1500" b="1" dirty="0">
                <a:solidFill>
                  <a:srgbClr val="10222F"/>
                </a:solidFill>
                <a:latin typeface="Garamond" pitchFamily="34" charset="0"/>
                <a:ea typeface="Garamond" pitchFamily="34" charset="-122"/>
                <a:cs typeface="Garamond" pitchFamily="34" charset="-120"/>
              </a:rPr>
              <a:t>Sensors and Flight Mechanisms</a:t>
            </a:r>
            <a:endParaRPr lang="en-US" sz="1500" dirty="0"/>
          </a:p>
        </p:txBody>
      </p:sp>
      <p:sp>
        <p:nvSpPr>
          <p:cNvPr id="17" name="Text 12"/>
          <p:cNvSpPr/>
          <p:nvPr/>
        </p:nvSpPr>
        <p:spPr>
          <a:xfrm>
            <a:off x="4562856" y="4736592"/>
            <a:ext cx="3063240" cy="118872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Release mechanisms, lunar payload sensors, magnetometer masts, and precision mechanisms for landers, orbiters, and instruments.</a:t>
            </a:r>
            <a:endParaRPr lang="en-US" sz="1150" dirty="0"/>
          </a:p>
        </p:txBody>
      </p:sp>
      <p:sp>
        <p:nvSpPr>
          <p:cNvPr id="18" name="Shape 13"/>
          <p:cNvSpPr/>
          <p:nvPr/>
        </p:nvSpPr>
        <p:spPr>
          <a:xfrm>
            <a:off x="7973568" y="1874520"/>
            <a:ext cx="3392424" cy="4160520"/>
          </a:xfrm>
          <a:prstGeom prst="roundRect">
            <a:avLst>
              <a:gd name="adj" fmla="val 1348"/>
            </a:avLst>
          </a:prstGeom>
          <a:solidFill>
            <a:srgbClr val="F3F7FA"/>
          </a:solidFill>
          <a:ln/>
        </p:spPr>
      </p:sp>
      <p:pic>
        <p:nvPicPr>
          <p:cNvPr id="19" name="Image 3" descr="assets/s3_seit.jpg">    </p:cNvPr>
          <p:cNvPicPr>
            <a:picLocks noChangeAspect="1"/>
          </p:cNvPicPr>
          <p:nvPr/>
        </p:nvPicPr>
        <p:blipFill>
          <a:blip r:embed="rId4"/>
          <a:stretch>
            <a:fillRect/>
          </a:stretch>
        </p:blipFill>
        <p:spPr>
          <a:xfrm>
            <a:off x="8083296" y="1984248"/>
            <a:ext cx="3172968" cy="1883664"/>
          </a:xfrm>
          <a:prstGeom prst="rect">
            <a:avLst/>
          </a:prstGeom>
        </p:spPr>
      </p:pic>
      <p:sp>
        <p:nvSpPr>
          <p:cNvPr id="20" name="Shape 14"/>
          <p:cNvSpPr/>
          <p:nvPr/>
        </p:nvSpPr>
        <p:spPr>
          <a:xfrm>
            <a:off x="8083296" y="1984248"/>
            <a:ext cx="3172968" cy="1883664"/>
          </a:xfrm>
          <a:prstGeom prst="rect">
            <a:avLst/>
          </a:prstGeom>
          <a:ln w="12700">
            <a:solidFill>
              <a:srgbClr val="C6D2DA"/>
            </a:solidFill>
            <a:prstDash val="solid"/>
          </a:ln>
        </p:spPr>
      </p:sp>
      <p:sp>
        <p:nvSpPr>
          <p:cNvPr id="21" name="Text 15"/>
          <p:cNvSpPr/>
          <p:nvPr/>
        </p:nvSpPr>
        <p:spPr>
          <a:xfrm>
            <a:off x="8138160" y="4023360"/>
            <a:ext cx="3063240" cy="685800"/>
          </a:xfrm>
          <a:prstGeom prst="rect">
            <a:avLst/>
          </a:prstGeom>
          <a:noFill/>
          <a:ln/>
        </p:spPr>
        <p:txBody>
          <a:bodyPr wrap="square" lIns="0" tIns="0" rIns="0" bIns="0" rtlCol="0" anchor="t"/>
          <a:lstStyle/>
          <a:p>
            <a:pPr indent="0" marL="0">
              <a:buNone/>
            </a:pPr>
            <a:r>
              <a:rPr lang="en-US" sz="1500" b="1" dirty="0">
                <a:solidFill>
                  <a:srgbClr val="10222F"/>
                </a:solidFill>
                <a:latin typeface="Garamond" pitchFamily="34" charset="0"/>
                <a:ea typeface="Garamond" pitchFamily="34" charset="-122"/>
                <a:cs typeface="Garamond" pitchFamily="34" charset="-120"/>
              </a:rPr>
              <a:t>Systems Engineering, Integration, and Test</a:t>
            </a:r>
            <a:endParaRPr lang="en-US" sz="1500" dirty="0"/>
          </a:p>
        </p:txBody>
      </p:sp>
      <p:sp>
        <p:nvSpPr>
          <p:cNvPr id="22" name="Text 16"/>
          <p:cNvSpPr/>
          <p:nvPr/>
        </p:nvSpPr>
        <p:spPr>
          <a:xfrm>
            <a:off x="8138160" y="4736592"/>
            <a:ext cx="3063240" cy="118872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Design, analysis, assembly, and environmental test services for complex space systems, from JWST to next generation observatories.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FLIGHT HERITAGE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At Jupiter, the Sun, and the Moon</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4</a:t>
            </a:r>
            <a:endParaRPr lang="en-US" sz="850" dirty="0"/>
          </a:p>
        </p:txBody>
      </p:sp>
      <p:pic>
        <p:nvPicPr>
          <p:cNvPr id="7" name="Image 1" descr="assets/s4_europa.jpg">    </p:cNvPr>
          <p:cNvPicPr>
            <a:picLocks noChangeAspect="1"/>
          </p:cNvPicPr>
          <p:nvPr/>
        </p:nvPicPr>
        <p:blipFill>
          <a:blip r:embed="rId2"/>
          <a:stretch>
            <a:fillRect/>
          </a:stretch>
        </p:blipFill>
        <p:spPr>
          <a:xfrm>
            <a:off x="822960" y="1417320"/>
            <a:ext cx="3419856" cy="1764792"/>
          </a:xfrm>
          <a:prstGeom prst="rect">
            <a:avLst/>
          </a:prstGeom>
        </p:spPr>
      </p:pic>
      <p:sp>
        <p:nvSpPr>
          <p:cNvPr id="8" name="Shape 4"/>
          <p:cNvSpPr/>
          <p:nvPr/>
        </p:nvSpPr>
        <p:spPr>
          <a:xfrm>
            <a:off x="822960" y="1417320"/>
            <a:ext cx="3419856" cy="1764792"/>
          </a:xfrm>
          <a:prstGeom prst="rect">
            <a:avLst/>
          </a:prstGeom>
          <a:ln w="12700">
            <a:solidFill>
              <a:srgbClr val="C6D2DA"/>
            </a:solidFill>
            <a:prstDash val="solid"/>
          </a:ln>
        </p:spPr>
      </p:sp>
      <p:sp>
        <p:nvSpPr>
          <p:cNvPr id="9" name="Text 5"/>
          <p:cNvSpPr/>
          <p:nvPr/>
        </p:nvSpPr>
        <p:spPr>
          <a:xfrm>
            <a:off x="822960"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Europa Clipper, REASON (NASA/JPL)</a:t>
            </a:r>
            <a:endParaRPr lang="en-US" sz="1150" dirty="0"/>
          </a:p>
        </p:txBody>
      </p:sp>
      <p:sp>
        <p:nvSpPr>
          <p:cNvPr id="10" name="Text 6"/>
          <p:cNvSpPr/>
          <p:nvPr/>
        </p:nvSpPr>
        <p:spPr>
          <a:xfrm>
            <a:off x="822960"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Two 17.6 m radar dipoles, deployed and operating en route to Europa.</a:t>
            </a:r>
            <a:endParaRPr lang="en-US" sz="950" dirty="0"/>
          </a:p>
        </p:txBody>
      </p:sp>
      <p:pic>
        <p:nvPicPr>
          <p:cNvPr id="11" name="Image 2" descr="assets/s4_solo.jpg">    </p:cNvPr>
          <p:cNvPicPr>
            <a:picLocks noChangeAspect="1"/>
          </p:cNvPicPr>
          <p:nvPr/>
        </p:nvPicPr>
        <p:blipFill>
          <a:blip r:embed="rId3"/>
          <a:stretch>
            <a:fillRect/>
          </a:stretch>
        </p:blipFill>
        <p:spPr>
          <a:xfrm>
            <a:off x="4370832" y="1417320"/>
            <a:ext cx="3419856" cy="1764792"/>
          </a:xfrm>
          <a:prstGeom prst="rect">
            <a:avLst/>
          </a:prstGeom>
        </p:spPr>
      </p:pic>
      <p:sp>
        <p:nvSpPr>
          <p:cNvPr id="12" name="Shape 7"/>
          <p:cNvSpPr/>
          <p:nvPr/>
        </p:nvSpPr>
        <p:spPr>
          <a:xfrm>
            <a:off x="4370832" y="1417320"/>
            <a:ext cx="3419856" cy="1764792"/>
          </a:xfrm>
          <a:prstGeom prst="rect">
            <a:avLst/>
          </a:prstGeom>
          <a:ln w="12700">
            <a:solidFill>
              <a:srgbClr val="C6D2DA"/>
            </a:solidFill>
            <a:prstDash val="solid"/>
          </a:ln>
        </p:spPr>
      </p:sp>
      <p:sp>
        <p:nvSpPr>
          <p:cNvPr id="13" name="Text 8"/>
          <p:cNvSpPr/>
          <p:nvPr/>
        </p:nvSpPr>
        <p:spPr>
          <a:xfrm>
            <a:off x="4370832"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Solar Orbiter, RPW (ESA)</a:t>
            </a:r>
            <a:endParaRPr lang="en-US" sz="1150" dirty="0"/>
          </a:p>
        </p:txBody>
      </p:sp>
      <p:sp>
        <p:nvSpPr>
          <p:cNvPr id="14" name="Text 9"/>
          <p:cNvSpPr/>
          <p:nvPr/>
        </p:nvSpPr>
        <p:spPr>
          <a:xfrm>
            <a:off x="4370832"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Three 6.5 m antennas performing nominally near the Sun.</a:t>
            </a:r>
            <a:endParaRPr lang="en-US" sz="950" dirty="0"/>
          </a:p>
        </p:txBody>
      </p:sp>
      <p:pic>
        <p:nvPicPr>
          <p:cNvPr id="15" name="Image 3" descr="assets/s4_sunrise.jpg">    </p:cNvPr>
          <p:cNvPicPr>
            <a:picLocks noChangeAspect="1"/>
          </p:cNvPicPr>
          <p:nvPr/>
        </p:nvPicPr>
        <p:blipFill>
          <a:blip r:embed="rId4"/>
          <a:stretch>
            <a:fillRect/>
          </a:stretch>
        </p:blipFill>
        <p:spPr>
          <a:xfrm>
            <a:off x="7918704" y="1417320"/>
            <a:ext cx="3419856" cy="1764792"/>
          </a:xfrm>
          <a:prstGeom prst="rect">
            <a:avLst/>
          </a:prstGeom>
        </p:spPr>
      </p:pic>
      <p:sp>
        <p:nvSpPr>
          <p:cNvPr id="16" name="Shape 10"/>
          <p:cNvSpPr/>
          <p:nvPr/>
        </p:nvSpPr>
        <p:spPr>
          <a:xfrm>
            <a:off x="7918704" y="1417320"/>
            <a:ext cx="3419856" cy="1764792"/>
          </a:xfrm>
          <a:prstGeom prst="rect">
            <a:avLst/>
          </a:prstGeom>
          <a:ln w="12700">
            <a:solidFill>
              <a:srgbClr val="C6D2DA"/>
            </a:solidFill>
            <a:prstDash val="solid"/>
          </a:ln>
        </p:spPr>
      </p:sp>
      <p:sp>
        <p:nvSpPr>
          <p:cNvPr id="17" name="Text 11"/>
          <p:cNvSpPr/>
          <p:nvPr/>
        </p:nvSpPr>
        <p:spPr>
          <a:xfrm>
            <a:off x="7918704"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SunRISE (NASA/JPL)</a:t>
            </a:r>
            <a:endParaRPr lang="en-US" sz="1150" dirty="0"/>
          </a:p>
        </p:txBody>
      </p:sp>
      <p:sp>
        <p:nvSpPr>
          <p:cNvPr id="18" name="Text 12"/>
          <p:cNvSpPr/>
          <p:nvPr/>
        </p:nvSpPr>
        <p:spPr>
          <a:xfrm>
            <a:off x="7918704"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28 CubeSat compatible monopoles delivered at production volume.</a:t>
            </a:r>
            <a:endParaRPr lang="en-US" sz="950" dirty="0"/>
          </a:p>
        </p:txBody>
      </p:sp>
      <p:pic>
        <p:nvPicPr>
          <p:cNvPr id="19" name="Image 4" descr="assets/s4_jwst.jpg">    </p:cNvPr>
          <p:cNvPicPr>
            <a:picLocks noChangeAspect="1"/>
          </p:cNvPicPr>
          <p:nvPr/>
        </p:nvPicPr>
        <p:blipFill>
          <a:blip r:embed="rId5"/>
          <a:stretch>
            <a:fillRect/>
          </a:stretch>
        </p:blipFill>
        <p:spPr>
          <a:xfrm>
            <a:off x="822960" y="3941064"/>
            <a:ext cx="3419856" cy="1764792"/>
          </a:xfrm>
          <a:prstGeom prst="rect">
            <a:avLst/>
          </a:prstGeom>
        </p:spPr>
      </p:pic>
      <p:sp>
        <p:nvSpPr>
          <p:cNvPr id="20" name="Shape 13"/>
          <p:cNvSpPr/>
          <p:nvPr/>
        </p:nvSpPr>
        <p:spPr>
          <a:xfrm>
            <a:off x="822960" y="3941064"/>
            <a:ext cx="3419856" cy="1764792"/>
          </a:xfrm>
          <a:prstGeom prst="rect">
            <a:avLst/>
          </a:prstGeom>
          <a:ln w="12700">
            <a:solidFill>
              <a:srgbClr val="C6D2DA"/>
            </a:solidFill>
            <a:prstDash val="solid"/>
          </a:ln>
        </p:spPr>
      </p:sp>
      <p:sp>
        <p:nvSpPr>
          <p:cNvPr id="21" name="Text 14"/>
          <p:cNvSpPr/>
          <p:nvPr/>
        </p:nvSpPr>
        <p:spPr>
          <a:xfrm>
            <a:off x="822960"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James Webb Space Telescope</a:t>
            </a:r>
            <a:endParaRPr lang="en-US" sz="1150" dirty="0"/>
          </a:p>
        </p:txBody>
      </p:sp>
      <p:sp>
        <p:nvSpPr>
          <p:cNvPr id="22" name="Text 15"/>
          <p:cNvSpPr/>
          <p:nvPr/>
        </p:nvSpPr>
        <p:spPr>
          <a:xfrm>
            <a:off x="822960"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Systems engineering, integration, and test support through commissioning.</a:t>
            </a:r>
            <a:endParaRPr lang="en-US" sz="950" dirty="0"/>
          </a:p>
        </p:txBody>
      </p:sp>
      <p:pic>
        <p:nvPicPr>
          <p:cNvPr id="23" name="Image 5" descr="assets/s4_bg1.jpg">    </p:cNvPr>
          <p:cNvPicPr>
            <a:picLocks noChangeAspect="1"/>
          </p:cNvPicPr>
          <p:nvPr/>
        </p:nvPicPr>
        <p:blipFill>
          <a:blip r:embed="rId6"/>
          <a:stretch>
            <a:fillRect/>
          </a:stretch>
        </p:blipFill>
        <p:spPr>
          <a:xfrm>
            <a:off x="4370832" y="3941064"/>
            <a:ext cx="3419856" cy="1764792"/>
          </a:xfrm>
          <a:prstGeom prst="rect">
            <a:avLst/>
          </a:prstGeom>
        </p:spPr>
      </p:pic>
      <p:sp>
        <p:nvSpPr>
          <p:cNvPr id="24" name="Shape 16"/>
          <p:cNvSpPr/>
          <p:nvPr/>
        </p:nvSpPr>
        <p:spPr>
          <a:xfrm>
            <a:off x="4370832" y="3941064"/>
            <a:ext cx="3419856" cy="1764792"/>
          </a:xfrm>
          <a:prstGeom prst="rect">
            <a:avLst/>
          </a:prstGeom>
          <a:ln w="12700">
            <a:solidFill>
              <a:srgbClr val="C6D2DA"/>
            </a:solidFill>
            <a:prstDash val="solid"/>
          </a:ln>
        </p:spPr>
      </p:sp>
      <p:sp>
        <p:nvSpPr>
          <p:cNvPr id="25" name="Text 17"/>
          <p:cNvSpPr/>
          <p:nvPr/>
        </p:nvSpPr>
        <p:spPr>
          <a:xfrm>
            <a:off x="4370832"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Blue Ghost Mission 1 (Firefly / SwRI)</a:t>
            </a:r>
            <a:endParaRPr lang="en-US" sz="1150" dirty="0"/>
          </a:p>
        </p:txBody>
      </p:sp>
      <p:sp>
        <p:nvSpPr>
          <p:cNvPr id="26" name="Text 18"/>
          <p:cNvSpPr/>
          <p:nvPr/>
        </p:nvSpPr>
        <p:spPr>
          <a:xfrm>
            <a:off x="4370832"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LMS lunar science payload delivered under the NASA CLPS program.</a:t>
            </a:r>
            <a:endParaRPr lang="en-US" sz="950" dirty="0"/>
          </a:p>
        </p:txBody>
      </p:sp>
      <p:pic>
        <p:nvPicPr>
          <p:cNvPr id="27" name="Image 6" descr="assets/s4_im1.jpg">    </p:cNvPr>
          <p:cNvPicPr>
            <a:picLocks noChangeAspect="1"/>
          </p:cNvPicPr>
          <p:nvPr/>
        </p:nvPicPr>
        <p:blipFill>
          <a:blip r:embed="rId7"/>
          <a:stretch>
            <a:fillRect/>
          </a:stretch>
        </p:blipFill>
        <p:spPr>
          <a:xfrm>
            <a:off x="7918704" y="3941064"/>
            <a:ext cx="3419856" cy="1764792"/>
          </a:xfrm>
          <a:prstGeom prst="rect">
            <a:avLst/>
          </a:prstGeom>
        </p:spPr>
      </p:pic>
      <p:sp>
        <p:nvSpPr>
          <p:cNvPr id="28" name="Shape 19"/>
          <p:cNvSpPr/>
          <p:nvPr/>
        </p:nvSpPr>
        <p:spPr>
          <a:xfrm>
            <a:off x="7918704" y="3941064"/>
            <a:ext cx="3419856" cy="1764792"/>
          </a:xfrm>
          <a:prstGeom prst="rect">
            <a:avLst/>
          </a:prstGeom>
          <a:ln w="12700">
            <a:solidFill>
              <a:srgbClr val="C6D2DA"/>
            </a:solidFill>
            <a:prstDash val="solid"/>
          </a:ln>
        </p:spPr>
      </p:sp>
      <p:sp>
        <p:nvSpPr>
          <p:cNvPr id="29" name="Text 20"/>
          <p:cNvSpPr/>
          <p:nvPr/>
        </p:nvSpPr>
        <p:spPr>
          <a:xfrm>
            <a:off x="7918704"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IM-1 (Intuitive Machines / NASA)</a:t>
            </a:r>
            <a:endParaRPr lang="en-US" sz="1150" dirty="0"/>
          </a:p>
        </p:txBody>
      </p:sp>
      <p:sp>
        <p:nvSpPr>
          <p:cNvPr id="30" name="Text 21"/>
          <p:cNvSpPr/>
          <p:nvPr/>
        </p:nvSpPr>
        <p:spPr>
          <a:xfrm>
            <a:off x="7918704"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ROLSES antennas flown on the first commercial US lunar landing.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The SABER Deployable Boom Product Line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Mission unique heritage, productized: standardized mechanisms with published interfaces, short lead times, and configurations from monopole to dipole to custom geometries.</a:t>
            </a:r>
            <a:endParaRPr lang="en-US" sz="1300" dirty="0"/>
          </a:p>
        </p:txBody>
      </p:sp>
      <p:sp>
        <p:nvSpPr>
          <p:cNvPr id="8" name="Shape 5"/>
          <p:cNvSpPr/>
          <p:nvPr/>
        </p:nvSpPr>
        <p:spPr>
          <a:xfrm>
            <a:off x="822960" y="1828800"/>
            <a:ext cx="5175504" cy="2788920"/>
          </a:xfrm>
          <a:prstGeom prst="roundRect">
            <a:avLst>
              <a:gd name="adj" fmla="val 1639"/>
            </a:avLst>
          </a:prstGeom>
          <a:solidFill>
            <a:srgbClr val="F3F7FA"/>
          </a:solidFill>
          <a:ln/>
        </p:spPr>
      </p:sp>
      <p:sp>
        <p:nvSpPr>
          <p:cNvPr id="9" name="Text 6"/>
          <p:cNvSpPr/>
          <p:nvPr/>
        </p:nvSpPr>
        <p:spPr>
          <a:xfrm>
            <a:off x="987552"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SB1</a:t>
            </a:r>
            <a:endParaRPr lang="en-US" sz="1650" dirty="0"/>
          </a:p>
        </p:txBody>
      </p:sp>
      <p:pic>
        <p:nvPicPr>
          <p:cNvPr id="10" name="Image 1" descr="assets/s5_sb1.jpg">    </p:cNvPr>
          <p:cNvPicPr>
            <a:picLocks noChangeAspect="1"/>
          </p:cNvPicPr>
          <p:nvPr/>
        </p:nvPicPr>
        <p:blipFill>
          <a:blip r:embed="rId2"/>
          <a:stretch>
            <a:fillRect/>
          </a:stretch>
        </p:blipFill>
        <p:spPr>
          <a:xfrm>
            <a:off x="960120" y="2377440"/>
            <a:ext cx="2377440" cy="1700784"/>
          </a:xfrm>
          <a:prstGeom prst="rect">
            <a:avLst/>
          </a:prstGeom>
        </p:spPr>
      </p:pic>
      <p:sp>
        <p:nvSpPr>
          <p:cNvPr id="11" name="Shape 7"/>
          <p:cNvSpPr/>
          <p:nvPr/>
        </p:nvSpPr>
        <p:spPr>
          <a:xfrm>
            <a:off x="960120" y="2377440"/>
            <a:ext cx="2377440" cy="1700784"/>
          </a:xfrm>
          <a:prstGeom prst="rect">
            <a:avLst/>
          </a:prstGeom>
          <a:ln w="12700">
            <a:solidFill>
              <a:srgbClr val="C6D2DA"/>
            </a:solidFill>
            <a:prstDash val="solid"/>
          </a:ln>
        </p:spPr>
      </p:sp>
      <p:sp>
        <p:nvSpPr>
          <p:cNvPr id="12" name="Text 8"/>
          <p:cNvSpPr/>
          <p:nvPr/>
        </p:nvSpPr>
        <p:spPr>
          <a:xfrm>
            <a:off x="3520440"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10.0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30:1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3.5 to 5.0 kg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MAVEN, Solar Orbiter, and Europa Clipper heritage</a:t>
            </a:r>
            <a:endParaRPr lang="en-US" sz="1100" dirty="0"/>
          </a:p>
        </p:txBody>
      </p:sp>
      <p:sp>
        <p:nvSpPr>
          <p:cNvPr id="13" name="Text 9"/>
          <p:cNvSpPr/>
          <p:nvPr/>
        </p:nvSpPr>
        <p:spPr>
          <a:xfrm>
            <a:off x="960120"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flight mechanisms</a:t>
            </a:r>
            <a:endParaRPr lang="en-US" sz="950" dirty="0"/>
          </a:p>
        </p:txBody>
      </p:sp>
      <p:sp>
        <p:nvSpPr>
          <p:cNvPr id="14" name="Shape 10"/>
          <p:cNvSpPr/>
          <p:nvPr/>
        </p:nvSpPr>
        <p:spPr>
          <a:xfrm>
            <a:off x="6190488" y="1828800"/>
            <a:ext cx="5175504" cy="2788920"/>
          </a:xfrm>
          <a:prstGeom prst="roundRect">
            <a:avLst>
              <a:gd name="adj" fmla="val 1639"/>
            </a:avLst>
          </a:prstGeom>
          <a:solidFill>
            <a:srgbClr val="F3F7FA"/>
          </a:solidFill>
          <a:ln/>
        </p:spPr>
      </p:sp>
      <p:sp>
        <p:nvSpPr>
          <p:cNvPr id="15" name="Text 11"/>
          <p:cNvSpPr/>
          <p:nvPr/>
        </p:nvSpPr>
        <p:spPr>
          <a:xfrm>
            <a:off x="6355080"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SB2</a:t>
            </a:r>
            <a:endParaRPr lang="en-US" sz="1650" dirty="0"/>
          </a:p>
        </p:txBody>
      </p:sp>
      <p:pic>
        <p:nvPicPr>
          <p:cNvPr id="16" name="Image 2" descr="assets/s5_sb2.jpg">    </p:cNvPr>
          <p:cNvPicPr>
            <a:picLocks noChangeAspect="1"/>
          </p:cNvPicPr>
          <p:nvPr/>
        </p:nvPicPr>
        <p:blipFill>
          <a:blip r:embed="rId3"/>
          <a:stretch>
            <a:fillRect/>
          </a:stretch>
        </p:blipFill>
        <p:spPr>
          <a:xfrm>
            <a:off x="6327648" y="2377440"/>
            <a:ext cx="2377440" cy="1700784"/>
          </a:xfrm>
          <a:prstGeom prst="rect">
            <a:avLst/>
          </a:prstGeom>
        </p:spPr>
      </p:pic>
      <p:sp>
        <p:nvSpPr>
          <p:cNvPr id="17" name="Shape 12"/>
          <p:cNvSpPr/>
          <p:nvPr/>
        </p:nvSpPr>
        <p:spPr>
          <a:xfrm>
            <a:off x="6327648" y="2377440"/>
            <a:ext cx="2377440" cy="1700784"/>
          </a:xfrm>
          <a:prstGeom prst="rect">
            <a:avLst/>
          </a:prstGeom>
          <a:ln w="12700">
            <a:solidFill>
              <a:srgbClr val="C6D2DA"/>
            </a:solidFill>
            <a:prstDash val="solid"/>
          </a:ln>
        </p:spPr>
      </p:sp>
      <p:sp>
        <p:nvSpPr>
          <p:cNvPr id="18" name="Text 13"/>
          <p:cNvSpPr/>
          <p:nvPr/>
        </p:nvSpPr>
        <p:spPr>
          <a:xfrm>
            <a:off x="8887968"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6.0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50:1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200 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Rated -200 C to +200 C</a:t>
            </a:r>
            <a:endParaRPr lang="en-US" sz="1100" dirty="0"/>
          </a:p>
        </p:txBody>
      </p:sp>
      <p:sp>
        <p:nvSpPr>
          <p:cNvPr id="19" name="Text 14"/>
          <p:cNvSpPr/>
          <p:nvPr/>
        </p:nvSpPr>
        <p:spPr>
          <a:xfrm>
            <a:off x="6327648"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SB2 mechanism render</a:t>
            </a:r>
            <a:endParaRPr lang="en-US" sz="950" dirty="0"/>
          </a:p>
        </p:txBody>
      </p:sp>
      <p:pic>
        <p:nvPicPr>
          <p:cNvPr id="20" name="Image 3" descr="assets/s5_strip.jpg">    </p:cNvPr>
          <p:cNvPicPr>
            <a:picLocks noChangeAspect="1"/>
          </p:cNvPicPr>
          <p:nvPr/>
        </p:nvPicPr>
        <p:blipFill>
          <a:blip r:embed="rId4"/>
          <a:stretch>
            <a:fillRect/>
          </a:stretch>
        </p:blipFill>
        <p:spPr>
          <a:xfrm>
            <a:off x="822960" y="4828032"/>
            <a:ext cx="10543032" cy="1371600"/>
          </a:xfrm>
          <a:prstGeom prst="rect">
            <a:avLst/>
          </a:prstGeom>
        </p:spPr>
      </p:pic>
      <p:sp>
        <p:nvSpPr>
          <p:cNvPr id="21" name="Shape 15"/>
          <p:cNvSpPr/>
          <p:nvPr/>
        </p:nvSpPr>
        <p:spPr>
          <a:xfrm>
            <a:off x="822960" y="4828032"/>
            <a:ext cx="10543032" cy="1371600"/>
          </a:xfrm>
          <a:prstGeom prst="rect">
            <a:avLst/>
          </a:prstGeom>
          <a:ln w="12700">
            <a:solidFill>
              <a:srgbClr val="C6D2DA"/>
            </a:solidFill>
            <a:prstDash val="solid"/>
          </a:ln>
        </p:spPr>
      </p:sp>
      <p:sp>
        <p:nvSpPr>
          <p:cNvPr id="22" name="Text 16"/>
          <p:cNvSpPr/>
          <p:nvPr/>
        </p:nvSpPr>
        <p:spPr>
          <a:xfrm>
            <a:off x="822960" y="6236208"/>
            <a:ext cx="1042416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REASON high frequency antenna configuration: 58 ft (17.6 m) tip to tip deployed length.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SB1: The Flight Proven Workhorse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6</a:t>
            </a:r>
            <a:endParaRPr lang="en-US" sz="850" dirty="0"/>
          </a:p>
        </p:txBody>
      </p:sp>
      <p:sp>
        <p:nvSpPr>
          <p:cNvPr id="7" name="Text 4"/>
          <p:cNvSpPr/>
          <p:nvPr/>
        </p:nvSpPr>
        <p:spPr>
          <a:xfrm>
            <a:off x="822960" y="1371600"/>
            <a:ext cx="5806440" cy="68580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low mass, compact, high reliability boom for antennas, sensors, and deployed hardware, with well controlled deployment to precise lengths of up to 10.0 m.</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2148840"/>
          <a:ext cx="5806440" cy="914400"/>
        </p:xfrm>
        <a:graphic>
          <a:graphicData uri="http://schemas.openxmlformats.org/drawingml/2006/table">
            <a:tbl>
              <a:tblPr/>
              <a:tblGrid>
                <a:gridCol w="1965960"/>
                <a:gridCol w="3840480"/>
              </a:tblGrid>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Deployed length</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3.3 to 32.8 ft (1.0 to 10.0 m), selectable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Mass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7.7 lb (3.5 kg) at 4.0 m; 11.0 lb (5.0 kg) at 10.0 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Stowed envelope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4.2 x 5.3 x 13.6 in (11 x 13 x 35 cm)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 power</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25 W (+28 V at 0.9 A) for 30 s, typical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Deployment control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About 0.5 m/s; length precision of +/- 0.25 in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Thermal, post deploy</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-135 C to +120 C</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Structure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Stowed first mode above 200 Hz</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Random vibration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GSFC-STD-7000B protoflight levels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pic>
        <p:nvPicPr>
          <p:cNvPr id="9" name="Image 1" descr="assets/s6_test.jpg">    </p:cNvPr>
          <p:cNvPicPr>
            <a:picLocks noChangeAspect="1"/>
          </p:cNvPicPr>
          <p:nvPr/>
        </p:nvPicPr>
        <p:blipFill>
          <a:blip r:embed="rId2"/>
          <a:stretch>
            <a:fillRect/>
          </a:stretch>
        </p:blipFill>
        <p:spPr>
          <a:xfrm>
            <a:off x="6995160" y="1417320"/>
            <a:ext cx="4114800" cy="2103120"/>
          </a:xfrm>
          <a:prstGeom prst="rect">
            <a:avLst/>
          </a:prstGeom>
        </p:spPr>
      </p:pic>
      <p:sp>
        <p:nvSpPr>
          <p:cNvPr id="10" name="Shape 5"/>
          <p:cNvSpPr/>
          <p:nvPr/>
        </p:nvSpPr>
        <p:spPr>
          <a:xfrm>
            <a:off x="6995160" y="1417320"/>
            <a:ext cx="4114800" cy="2103120"/>
          </a:xfrm>
          <a:prstGeom prst="rect">
            <a:avLst/>
          </a:prstGeom>
          <a:ln w="12700">
            <a:solidFill>
              <a:srgbClr val="C6D2DA"/>
            </a:solidFill>
            <a:prstDash val="solid"/>
          </a:ln>
        </p:spPr>
      </p:sp>
      <p:sp>
        <p:nvSpPr>
          <p:cNvPr id="11" name="Text 6"/>
          <p:cNvSpPr/>
          <p:nvPr/>
        </p:nvSpPr>
        <p:spPr>
          <a:xfrm>
            <a:off x="6995160" y="3547872"/>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Controlled deployment testing at the Berkeley facility.</a:t>
            </a:r>
            <a:endParaRPr lang="en-US" sz="950" dirty="0"/>
          </a:p>
        </p:txBody>
      </p:sp>
      <p:pic>
        <p:nvPicPr>
          <p:cNvPr id="12" name="Image 2" descr="assets/s6_array.jpg">    </p:cNvPr>
          <p:cNvPicPr>
            <a:picLocks noChangeAspect="1"/>
          </p:cNvPicPr>
          <p:nvPr/>
        </p:nvPicPr>
        <p:blipFill>
          <a:blip r:embed="rId3"/>
          <a:stretch>
            <a:fillRect/>
          </a:stretch>
        </p:blipFill>
        <p:spPr>
          <a:xfrm>
            <a:off x="6995160" y="3913632"/>
            <a:ext cx="4114800" cy="2103120"/>
          </a:xfrm>
          <a:prstGeom prst="rect">
            <a:avLst/>
          </a:prstGeom>
        </p:spPr>
      </p:pic>
      <p:sp>
        <p:nvSpPr>
          <p:cNvPr id="13" name="Shape 7"/>
          <p:cNvSpPr/>
          <p:nvPr/>
        </p:nvSpPr>
        <p:spPr>
          <a:xfrm>
            <a:off x="6995160" y="3913632"/>
            <a:ext cx="4114800" cy="2103120"/>
          </a:xfrm>
          <a:prstGeom prst="rect">
            <a:avLst/>
          </a:prstGeom>
          <a:ln w="12700">
            <a:solidFill>
              <a:srgbClr val="C6D2DA"/>
            </a:solidFill>
            <a:prstDash val="solid"/>
          </a:ln>
        </p:spPr>
      </p:sp>
      <p:sp>
        <p:nvSpPr>
          <p:cNvPr id="14" name="Text 8"/>
          <p:cNvSpPr/>
          <p:nvPr/>
        </p:nvSpPr>
        <p:spPr>
          <a:xfrm>
            <a:off x="6995160" y="6044184"/>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mechanism integrated on a flight solar array.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SB2: SABER for Small Platforms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7</a:t>
            </a:r>
            <a:endParaRPr lang="en-US" sz="850" dirty="0"/>
          </a:p>
        </p:txBody>
      </p:sp>
      <p:sp>
        <p:nvSpPr>
          <p:cNvPr id="7" name="Text 4"/>
          <p:cNvSpPr/>
          <p:nvPr/>
        </p:nvSpPr>
        <p:spPr>
          <a:xfrm>
            <a:off x="822960" y="1371600"/>
            <a:ext cx="6400800" cy="54864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200 gram class deployable boom that brings full SABER capability to CubeSats, lunar payloads, and mass constrained platforms.</a:t>
            </a:r>
            <a:endParaRPr lang="en-US" sz="1250" dirty="0"/>
          </a:p>
        </p:txBody>
      </p:sp>
      <p:sp>
        <p:nvSpPr>
          <p:cNvPr id="8" name="Text 5"/>
          <p:cNvSpPr/>
          <p:nvPr/>
        </p:nvSpPr>
        <p:spPr>
          <a:xfrm>
            <a:off x="82296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Deployed length</a:t>
            </a:r>
            <a:endParaRPr lang="en-US" sz="1050" dirty="0"/>
          </a:p>
        </p:txBody>
      </p:sp>
      <p:sp>
        <p:nvSpPr>
          <p:cNvPr id="9" name="Text 6"/>
          <p:cNvSpPr/>
          <p:nvPr/>
        </p:nvSpPr>
        <p:spPr>
          <a:xfrm>
            <a:off x="82296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19.7 ft (6.0 m)</a:t>
            </a:r>
            <a:endParaRPr lang="en-US" sz="1250" dirty="0"/>
          </a:p>
        </p:txBody>
      </p:sp>
      <p:sp>
        <p:nvSpPr>
          <p:cNvPr id="10" name="Text 7"/>
          <p:cNvSpPr/>
          <p:nvPr/>
        </p:nvSpPr>
        <p:spPr>
          <a:xfrm>
            <a:off x="406908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Mass</a:t>
            </a:r>
            <a:endParaRPr lang="en-US" sz="1050" dirty="0"/>
          </a:p>
        </p:txBody>
      </p:sp>
      <p:sp>
        <p:nvSpPr>
          <p:cNvPr id="11" name="Text 8"/>
          <p:cNvSpPr/>
          <p:nvPr/>
        </p:nvSpPr>
        <p:spPr>
          <a:xfrm>
            <a:off x="406908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0.44 lb (200 g)</a:t>
            </a:r>
            <a:endParaRPr lang="en-US" sz="1250" dirty="0"/>
          </a:p>
        </p:txBody>
      </p:sp>
      <p:sp>
        <p:nvSpPr>
          <p:cNvPr id="12" name="Text 9"/>
          <p:cNvSpPr/>
          <p:nvPr/>
        </p:nvSpPr>
        <p:spPr>
          <a:xfrm>
            <a:off x="82296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Stowed envelope</a:t>
            </a:r>
            <a:endParaRPr lang="en-US" sz="1050" dirty="0"/>
          </a:p>
        </p:txBody>
      </p:sp>
      <p:sp>
        <p:nvSpPr>
          <p:cNvPr id="13" name="Text 10"/>
          <p:cNvSpPr/>
          <p:nvPr/>
        </p:nvSpPr>
        <p:spPr>
          <a:xfrm>
            <a:off x="82296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1.4 x 1.8 x 3.2 in</a:t>
            </a:r>
            <a:endParaRPr lang="en-US" sz="1250" dirty="0"/>
          </a:p>
        </p:txBody>
      </p:sp>
      <p:sp>
        <p:nvSpPr>
          <p:cNvPr id="14" name="Text 11"/>
          <p:cNvSpPr/>
          <p:nvPr/>
        </p:nvSpPr>
        <p:spPr>
          <a:xfrm>
            <a:off x="406908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 ratio</a:t>
            </a:r>
            <a:endParaRPr lang="en-US" sz="1050" dirty="0"/>
          </a:p>
        </p:txBody>
      </p:sp>
      <p:sp>
        <p:nvSpPr>
          <p:cNvPr id="15" name="Text 12"/>
          <p:cNvSpPr/>
          <p:nvPr/>
        </p:nvSpPr>
        <p:spPr>
          <a:xfrm>
            <a:off x="406908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50:1</a:t>
            </a:r>
            <a:endParaRPr lang="en-US" sz="1250" dirty="0"/>
          </a:p>
        </p:txBody>
      </p:sp>
      <p:sp>
        <p:nvSpPr>
          <p:cNvPr id="16" name="Text 13"/>
          <p:cNvSpPr/>
          <p:nvPr/>
        </p:nvSpPr>
        <p:spPr>
          <a:xfrm>
            <a:off x="82296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Thermal capability</a:t>
            </a:r>
            <a:endParaRPr lang="en-US" sz="1050" dirty="0"/>
          </a:p>
        </p:txBody>
      </p:sp>
      <p:sp>
        <p:nvSpPr>
          <p:cNvPr id="17" name="Text 14"/>
          <p:cNvSpPr/>
          <p:nvPr/>
        </p:nvSpPr>
        <p:spPr>
          <a:xfrm>
            <a:off x="82296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-200 C to +200 C</a:t>
            </a:r>
            <a:endParaRPr lang="en-US" sz="1250" dirty="0"/>
          </a:p>
        </p:txBody>
      </p:sp>
      <p:sp>
        <p:nvSpPr>
          <p:cNvPr id="18" name="Text 15"/>
          <p:cNvSpPr/>
          <p:nvPr/>
        </p:nvSpPr>
        <p:spPr>
          <a:xfrm>
            <a:off x="406908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 power</a:t>
            </a:r>
            <a:endParaRPr lang="en-US" sz="1050" dirty="0"/>
          </a:p>
        </p:txBody>
      </p:sp>
      <p:sp>
        <p:nvSpPr>
          <p:cNvPr id="19" name="Text 16"/>
          <p:cNvSpPr/>
          <p:nvPr/>
        </p:nvSpPr>
        <p:spPr>
          <a:xfrm>
            <a:off x="406908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134 W pulse, under 10 ms</a:t>
            </a:r>
            <a:endParaRPr lang="en-US" sz="1250" dirty="0"/>
          </a:p>
        </p:txBody>
      </p:sp>
      <p:sp>
        <p:nvSpPr>
          <p:cNvPr id="20" name="Shape 17"/>
          <p:cNvSpPr/>
          <p:nvPr/>
        </p:nvSpPr>
        <p:spPr>
          <a:xfrm>
            <a:off x="822960" y="4160520"/>
            <a:ext cx="6400800" cy="2057400"/>
          </a:xfrm>
          <a:prstGeom prst="roundRect">
            <a:avLst>
              <a:gd name="adj" fmla="val 2222"/>
            </a:avLst>
          </a:prstGeom>
          <a:solidFill>
            <a:srgbClr val="F3F7FA"/>
          </a:solidFill>
          <a:ln/>
        </p:spPr>
      </p:sp>
      <p:sp>
        <p:nvSpPr>
          <p:cNvPr id="21" name="Text 18"/>
          <p:cNvSpPr/>
          <p:nvPr/>
        </p:nvSpPr>
        <p:spPr>
          <a:xfrm>
            <a:off x="1005840" y="4315968"/>
            <a:ext cx="603504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Proprietary release mechanism</a:t>
            </a:r>
            <a:endParaRPr lang="en-US" sz="1350" dirty="0"/>
          </a:p>
        </p:txBody>
      </p:sp>
      <p:sp>
        <p:nvSpPr>
          <p:cNvPr id="22" name="Text 19"/>
          <p:cNvSpPr/>
          <p:nvPr/>
        </p:nvSpPr>
        <p:spPr>
          <a:xfrm>
            <a:off x="1005840" y="4663440"/>
            <a:ext cx="6035040" cy="14630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Melt wire design with redundant actuation mechanisms and circuits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Re usable, non explosive release; no ordnance handling</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Operates above 150 C, beyond the 90 to 120 C limit of SMA actuators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Roughly one third the stowed length of comparable devices, at lower cost and shorter lead times</a:t>
            </a:r>
            <a:endParaRPr lang="en-US" sz="1100" dirty="0"/>
          </a:p>
        </p:txBody>
      </p:sp>
      <p:pic>
        <p:nvPicPr>
          <p:cNvPr id="23" name="Image 1" descr="assets/s7_render.jpg">    </p:cNvPr>
          <p:cNvPicPr>
            <a:picLocks noChangeAspect="1"/>
          </p:cNvPicPr>
          <p:nvPr/>
        </p:nvPicPr>
        <p:blipFill>
          <a:blip r:embed="rId2"/>
          <a:stretch>
            <a:fillRect/>
          </a:stretch>
        </p:blipFill>
        <p:spPr>
          <a:xfrm>
            <a:off x="7635240" y="1417320"/>
            <a:ext cx="3200400" cy="2926080"/>
          </a:xfrm>
          <a:prstGeom prst="rect">
            <a:avLst/>
          </a:prstGeom>
        </p:spPr>
      </p:pic>
      <p:sp>
        <p:nvSpPr>
          <p:cNvPr id="24" name="Shape 20"/>
          <p:cNvSpPr/>
          <p:nvPr/>
        </p:nvSpPr>
        <p:spPr>
          <a:xfrm>
            <a:off x="7635240" y="1417320"/>
            <a:ext cx="3200400" cy="2926080"/>
          </a:xfrm>
          <a:prstGeom prst="rect">
            <a:avLst/>
          </a:prstGeom>
          <a:ln w="12700">
            <a:solidFill>
              <a:srgbClr val="C6D2DA"/>
            </a:solidFill>
            <a:prstDash val="solid"/>
          </a:ln>
        </p:spPr>
      </p:sp>
      <p:sp>
        <p:nvSpPr>
          <p:cNvPr id="25" name="Text 21"/>
          <p:cNvSpPr/>
          <p:nvPr/>
        </p:nvSpPr>
        <p:spPr>
          <a:xfrm>
            <a:off x="7635240" y="4370832"/>
            <a:ext cx="32004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Deployable element shown in red.</a:t>
            </a:r>
            <a:endParaRPr lang="en-US" sz="950" dirty="0"/>
          </a:p>
        </p:txBody>
      </p:sp>
      <p:pic>
        <p:nvPicPr>
          <p:cNvPr id="26" name="Image 2" descr="assets/s7_dims.jpg">    </p:cNvPr>
          <p:cNvPicPr>
            <a:picLocks noChangeAspect="1"/>
          </p:cNvPicPr>
          <p:nvPr/>
        </p:nvPicPr>
        <p:blipFill>
          <a:blip r:embed="rId3"/>
          <a:stretch>
            <a:fillRect/>
          </a:stretch>
        </p:blipFill>
        <p:spPr>
          <a:xfrm>
            <a:off x="7635240" y="4754880"/>
            <a:ext cx="3200400" cy="1828800"/>
          </a:xfrm>
          <a:prstGeom prst="rect">
            <a:avLst/>
          </a:prstGeom>
        </p:spPr>
      </p:pic>
      <p:sp>
        <p:nvSpPr>
          <p:cNvPr id="27" name="Shape 22"/>
          <p:cNvSpPr/>
          <p:nvPr/>
        </p:nvSpPr>
        <p:spPr>
          <a:xfrm>
            <a:off x="7635240" y="4754880"/>
            <a:ext cx="3200400" cy="1828800"/>
          </a:xfrm>
          <a:prstGeom prst="rect">
            <a:avLst/>
          </a:prstGeom>
          <a:ln w="12700">
            <a:solidFill>
              <a:srgbClr val="C6D2DA"/>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Deployable Antenna Systems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8</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Stacer based flight antennas for sensitive receivers, transmitters, and radars, configurable as monopoles, dipoles, folded dipoles, and custom arrays with tip mounted instruments.</a:t>
            </a:r>
            <a:endParaRPr lang="en-US" sz="1300" dirty="0"/>
          </a:p>
        </p:txBody>
      </p:sp>
      <p:sp>
        <p:nvSpPr>
          <p:cNvPr id="8" name="Text 5"/>
          <p:cNvSpPr/>
          <p:nvPr/>
        </p:nvSpPr>
        <p:spPr>
          <a:xfrm>
            <a:off x="822960" y="2121408"/>
            <a:ext cx="539496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Configurations and options</a:t>
            </a:r>
            <a:endParaRPr lang="en-US" sz="1350" dirty="0"/>
          </a:p>
        </p:txBody>
      </p:sp>
      <p:sp>
        <p:nvSpPr>
          <p:cNvPr id="9" name="Text 6"/>
          <p:cNvSpPr/>
          <p:nvPr/>
        </p:nvSpPr>
        <p:spPr>
          <a:xfrm>
            <a:off x="822960" y="2450592"/>
            <a:ext cx="5394960" cy="169164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Element lengths of 1 m to 10 m in BeCu or Elgiloy</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Monopole, dipole, folded dipole, and custom geometries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Grounded, isolated, or driven antenna elements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Sensors and instruments integrated at the boom tip</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Delivered fully qualified to mission requirements</a:t>
            </a:r>
            <a:endParaRPr lang="en-US" sz="1150" dirty="0"/>
          </a:p>
        </p:txBody>
      </p:sp>
      <p:sp>
        <p:nvSpPr>
          <p:cNvPr id="10" name="Shape 7"/>
          <p:cNvSpPr/>
          <p:nvPr/>
        </p:nvSpPr>
        <p:spPr>
          <a:xfrm>
            <a:off x="822960" y="4343400"/>
            <a:ext cx="5394960" cy="1828800"/>
          </a:xfrm>
          <a:prstGeom prst="roundRect">
            <a:avLst>
              <a:gd name="adj" fmla="val 2500"/>
            </a:avLst>
          </a:prstGeom>
          <a:solidFill>
            <a:srgbClr val="F3F7FA"/>
          </a:solidFill>
          <a:ln/>
        </p:spPr>
      </p:sp>
      <p:sp>
        <p:nvSpPr>
          <p:cNvPr id="11" name="Text 8"/>
          <p:cNvSpPr/>
          <p:nvPr/>
        </p:nvSpPr>
        <p:spPr>
          <a:xfrm>
            <a:off x="987552" y="4480560"/>
            <a:ext cx="5120640" cy="274320"/>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Example: 18 m tip to tip dipole (REASON HF class)</a:t>
            </a:r>
            <a:endParaRPr lang="en-US" sz="1250" dirty="0"/>
          </a:p>
        </p:txBody>
      </p:sp>
      <p:sp>
        <p:nvSpPr>
          <p:cNvPr id="12" name="Text 9"/>
          <p:cNvSpPr/>
          <p:nvPr/>
        </p:nvSpPr>
        <p:spPr>
          <a:xfrm>
            <a:off x="987552" y="4828032"/>
            <a:ext cx="5074920" cy="12344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Dipole mass under 11.3 kg; 20 x 30 x 10 cm stowed per side</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Self powered deployment with non explosive actuation</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Stacer deployments</a:t>
            </a:r>
            <a:endParaRPr lang="en-US" sz="1100" dirty="0"/>
          </a:p>
        </p:txBody>
      </p:sp>
      <p:pic>
        <p:nvPicPr>
          <p:cNvPr id="13" name="Image 1" descr="assets/s8a_dipole.jpg">    </p:cNvPr>
          <p:cNvPicPr>
            <a:picLocks noChangeAspect="1"/>
          </p:cNvPicPr>
          <p:nvPr/>
        </p:nvPicPr>
        <p:blipFill>
          <a:blip r:embed="rId2"/>
          <a:stretch>
            <a:fillRect/>
          </a:stretch>
        </p:blipFill>
        <p:spPr>
          <a:xfrm>
            <a:off x="6492240" y="2121408"/>
            <a:ext cx="4873752" cy="1609344"/>
          </a:xfrm>
          <a:prstGeom prst="rect">
            <a:avLst/>
          </a:prstGeom>
        </p:spPr>
      </p:pic>
      <p:sp>
        <p:nvSpPr>
          <p:cNvPr id="14" name="Shape 10"/>
          <p:cNvSpPr/>
          <p:nvPr/>
        </p:nvSpPr>
        <p:spPr>
          <a:xfrm>
            <a:off x="6492240" y="2121408"/>
            <a:ext cx="4873752" cy="1609344"/>
          </a:xfrm>
          <a:prstGeom prst="rect">
            <a:avLst/>
          </a:prstGeom>
          <a:ln w="12700">
            <a:solidFill>
              <a:srgbClr val="C6D2DA"/>
            </a:solidFill>
            <a:prstDash val="solid"/>
          </a:ln>
        </p:spPr>
      </p:sp>
      <p:sp>
        <p:nvSpPr>
          <p:cNvPr id="15" name="Text 11"/>
          <p:cNvSpPr/>
          <p:nvPr/>
        </p:nvSpPr>
        <p:spPr>
          <a:xfrm>
            <a:off x="6492240" y="3758184"/>
            <a:ext cx="484632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18 m class dipole with central mechanism, shown deployed.</a:t>
            </a:r>
            <a:endParaRPr lang="en-US" sz="950" dirty="0"/>
          </a:p>
        </p:txBody>
      </p:sp>
      <p:sp>
        <p:nvSpPr>
          <p:cNvPr id="16" name="Text 12"/>
          <p:cNvSpPr/>
          <p:nvPr/>
        </p:nvSpPr>
        <p:spPr>
          <a:xfrm>
            <a:off x="6492240" y="4133088"/>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Flight heritage</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4462272"/>
          <a:ext cx="4873752" cy="914400"/>
        </p:xfrm>
        <a:graphic>
          <a:graphicData uri="http://schemas.openxmlformats.org/drawingml/2006/table">
            <a:tbl>
              <a:tblPr/>
              <a:tblGrid>
                <a:gridCol w="1874520"/>
                <a:gridCol w="2999232"/>
              </a:tblGrid>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Solar Orbiter RPW (ESA)</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Three 6.5 m antennas, DC to 20 MHz</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Europa Clipper REASON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Two 18 m dipoles; four 2.5 m folded dipoles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SunRISE (NASA/JPL)</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28 monopoles for a CubeSat constellation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Sensors, Mechanisms, and Instruments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9</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Beyond booms and antennas, Heliospace delivers the surrounding flight hardware: payload sensors, release and retention mechanisms, instrument structures, and extreme environment thermal protection.</a:t>
            </a:r>
            <a:endParaRPr lang="en-US" sz="1300" dirty="0"/>
          </a:p>
        </p:txBody>
      </p:sp>
      <p:sp>
        <p:nvSpPr>
          <p:cNvPr id="8" name="Shape 5"/>
          <p:cNvSpPr/>
          <p:nvPr/>
        </p:nvSpPr>
        <p:spPr>
          <a:xfrm>
            <a:off x="822960" y="1938528"/>
            <a:ext cx="5175504" cy="2084832"/>
          </a:xfrm>
          <a:prstGeom prst="roundRect">
            <a:avLst>
              <a:gd name="adj" fmla="val 2193"/>
            </a:avLst>
          </a:prstGeom>
          <a:solidFill>
            <a:srgbClr val="F3F7FA"/>
          </a:solidFill>
          <a:ln/>
        </p:spPr>
      </p:sp>
      <p:pic>
        <p:nvPicPr>
          <p:cNvPr id="9" name="Image 1" descr="assets/s9_lms.jpg">    </p:cNvPr>
          <p:cNvPicPr>
            <a:picLocks noChangeAspect="1"/>
          </p:cNvPicPr>
          <p:nvPr/>
        </p:nvPicPr>
        <p:blipFill>
          <a:blip r:embed="rId2"/>
          <a:stretch>
            <a:fillRect/>
          </a:stretch>
        </p:blipFill>
        <p:spPr>
          <a:xfrm>
            <a:off x="960120" y="2084832"/>
            <a:ext cx="1792224" cy="1792224"/>
          </a:xfrm>
          <a:prstGeom prst="rect">
            <a:avLst/>
          </a:prstGeom>
        </p:spPr>
      </p:pic>
      <p:sp>
        <p:nvSpPr>
          <p:cNvPr id="10" name="Shape 6"/>
          <p:cNvSpPr/>
          <p:nvPr/>
        </p:nvSpPr>
        <p:spPr>
          <a:xfrm>
            <a:off x="960120" y="2084832"/>
            <a:ext cx="1792224" cy="1792224"/>
          </a:xfrm>
          <a:prstGeom prst="rect">
            <a:avLst/>
          </a:prstGeom>
          <a:ln w="12700">
            <a:solidFill>
              <a:srgbClr val="C6D2DA"/>
            </a:solidFill>
            <a:prstDash val="solid"/>
          </a:ln>
        </p:spPr>
      </p:sp>
      <p:sp>
        <p:nvSpPr>
          <p:cNvPr id="11" name="Text 7"/>
          <p:cNvSpPr/>
          <p:nvPr/>
        </p:nvSpPr>
        <p:spPr>
          <a:xfrm>
            <a:off x="2907792"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Lunar and suborbital payloads</a:t>
            </a:r>
            <a:endParaRPr lang="en-US" sz="1350" dirty="0"/>
          </a:p>
        </p:txBody>
      </p:sp>
      <p:sp>
        <p:nvSpPr>
          <p:cNvPr id="12" name="Text 8"/>
          <p:cNvSpPr/>
          <p:nvPr/>
        </p:nvSpPr>
        <p:spPr>
          <a:xfrm>
            <a:off x="2907792"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Electric field sensor packages and launch mortars for the LMS instrument, ROLSES lunar antennas, and 7 m quad boom packages for the SEED sounding rocket program.</a:t>
            </a:r>
            <a:endParaRPr lang="en-US" sz="1050" dirty="0"/>
          </a:p>
        </p:txBody>
      </p:sp>
      <p:sp>
        <p:nvSpPr>
          <p:cNvPr id="13" name="Shape 9"/>
          <p:cNvSpPr/>
          <p:nvPr/>
        </p:nvSpPr>
        <p:spPr>
          <a:xfrm>
            <a:off x="6190488" y="1938528"/>
            <a:ext cx="5175504" cy="2084832"/>
          </a:xfrm>
          <a:prstGeom prst="roundRect">
            <a:avLst>
              <a:gd name="adj" fmla="val 2193"/>
            </a:avLst>
          </a:prstGeom>
          <a:solidFill>
            <a:srgbClr val="F3F7FA"/>
          </a:solidFill>
          <a:ln/>
        </p:spPr>
      </p:sp>
      <p:pic>
        <p:nvPicPr>
          <p:cNvPr id="14" name="Image 2" descr="assets/s9_msr.jpg">    </p:cNvPr>
          <p:cNvPicPr>
            <a:picLocks noChangeAspect="1"/>
          </p:cNvPicPr>
          <p:nvPr/>
        </p:nvPicPr>
        <p:blipFill>
          <a:blip r:embed="rId3"/>
          <a:stretch>
            <a:fillRect/>
          </a:stretch>
        </p:blipFill>
        <p:spPr>
          <a:xfrm>
            <a:off x="6327648" y="2084832"/>
            <a:ext cx="1792224" cy="1792224"/>
          </a:xfrm>
          <a:prstGeom prst="rect">
            <a:avLst/>
          </a:prstGeom>
        </p:spPr>
      </p:pic>
      <p:sp>
        <p:nvSpPr>
          <p:cNvPr id="15" name="Shape 10"/>
          <p:cNvSpPr/>
          <p:nvPr/>
        </p:nvSpPr>
        <p:spPr>
          <a:xfrm>
            <a:off x="6327648" y="2084832"/>
            <a:ext cx="1792224" cy="1792224"/>
          </a:xfrm>
          <a:prstGeom prst="rect">
            <a:avLst/>
          </a:prstGeom>
          <a:ln w="12700">
            <a:solidFill>
              <a:srgbClr val="C6D2DA"/>
            </a:solidFill>
            <a:prstDash val="solid"/>
          </a:ln>
        </p:spPr>
      </p:sp>
      <p:sp>
        <p:nvSpPr>
          <p:cNvPr id="16" name="Text 11"/>
          <p:cNvSpPr/>
          <p:nvPr/>
        </p:nvSpPr>
        <p:spPr>
          <a:xfrm>
            <a:off x="8275320"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mechanisms</a:t>
            </a:r>
            <a:endParaRPr lang="en-US" sz="1350" dirty="0"/>
          </a:p>
        </p:txBody>
      </p:sp>
      <p:sp>
        <p:nvSpPr>
          <p:cNvPr id="17" name="Text 12"/>
          <p:cNvSpPr/>
          <p:nvPr/>
        </p:nvSpPr>
        <p:spPr>
          <a:xfrm>
            <a:off x="8275320"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Precision retention, release, and handling mechanisms developed for Mars Sample Return concepts, alongside the proprietary SABER melt wire release.</a:t>
            </a:r>
            <a:endParaRPr lang="en-US" sz="1050" dirty="0"/>
          </a:p>
        </p:txBody>
      </p:sp>
      <p:sp>
        <p:nvSpPr>
          <p:cNvPr id="18" name="Shape 13"/>
          <p:cNvSpPr/>
          <p:nvPr/>
        </p:nvSpPr>
        <p:spPr>
          <a:xfrm>
            <a:off x="822960" y="4151376"/>
            <a:ext cx="5175504" cy="2084832"/>
          </a:xfrm>
          <a:prstGeom prst="roundRect">
            <a:avLst>
              <a:gd name="adj" fmla="val 2193"/>
            </a:avLst>
          </a:prstGeom>
          <a:solidFill>
            <a:srgbClr val="F3F7FA"/>
          </a:solidFill>
          <a:ln/>
        </p:spPr>
      </p:sp>
      <p:pic>
        <p:nvPicPr>
          <p:cNvPr id="19" name="Image 3" descr="assets/s9_gaps.jpg">    </p:cNvPr>
          <p:cNvPicPr>
            <a:picLocks noChangeAspect="1"/>
          </p:cNvPicPr>
          <p:nvPr/>
        </p:nvPicPr>
        <p:blipFill>
          <a:blip r:embed="rId4"/>
          <a:stretch>
            <a:fillRect/>
          </a:stretch>
        </p:blipFill>
        <p:spPr>
          <a:xfrm>
            <a:off x="960120" y="4297680"/>
            <a:ext cx="1792224" cy="1792224"/>
          </a:xfrm>
          <a:prstGeom prst="rect">
            <a:avLst/>
          </a:prstGeom>
        </p:spPr>
      </p:pic>
      <p:sp>
        <p:nvSpPr>
          <p:cNvPr id="20" name="Shape 14"/>
          <p:cNvSpPr/>
          <p:nvPr/>
        </p:nvSpPr>
        <p:spPr>
          <a:xfrm>
            <a:off x="960120" y="4297680"/>
            <a:ext cx="1792224" cy="1792224"/>
          </a:xfrm>
          <a:prstGeom prst="rect">
            <a:avLst/>
          </a:prstGeom>
          <a:ln w="12700">
            <a:solidFill>
              <a:srgbClr val="C6D2DA"/>
            </a:solidFill>
            <a:prstDash val="solid"/>
          </a:ln>
        </p:spPr>
      </p:sp>
      <p:sp>
        <p:nvSpPr>
          <p:cNvPr id="21" name="Text 15"/>
          <p:cNvSpPr/>
          <p:nvPr/>
        </p:nvSpPr>
        <p:spPr>
          <a:xfrm>
            <a:off x="2907792"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Instruments and structures</a:t>
            </a:r>
            <a:endParaRPr lang="en-US" sz="1350" dirty="0"/>
          </a:p>
        </p:txBody>
      </p:sp>
      <p:sp>
        <p:nvSpPr>
          <p:cNvPr id="22" name="Text 16"/>
          <p:cNvSpPr/>
          <p:nvPr/>
        </p:nvSpPr>
        <p:spPr>
          <a:xfrm>
            <a:off x="2907792"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COSI gamma ray instrument cryostat and shield, the GAPS antimatter detector gondola, and UVEX ultraviolet telescope structure concepts.</a:t>
            </a:r>
            <a:endParaRPr lang="en-US" sz="1050" dirty="0"/>
          </a:p>
        </p:txBody>
      </p:sp>
      <p:sp>
        <p:nvSpPr>
          <p:cNvPr id="23" name="Shape 17"/>
          <p:cNvSpPr/>
          <p:nvPr/>
        </p:nvSpPr>
        <p:spPr>
          <a:xfrm>
            <a:off x="6190488" y="4151376"/>
            <a:ext cx="5175504" cy="2084832"/>
          </a:xfrm>
          <a:prstGeom prst="roundRect">
            <a:avLst>
              <a:gd name="adj" fmla="val 2193"/>
            </a:avLst>
          </a:prstGeom>
          <a:solidFill>
            <a:srgbClr val="F3F7FA"/>
          </a:solidFill>
          <a:ln/>
        </p:spPr>
      </p:sp>
      <p:pic>
        <p:nvPicPr>
          <p:cNvPr id="24" name="Image 4" descr="assets/s9_solo.jpg">    </p:cNvPr>
          <p:cNvPicPr>
            <a:picLocks noChangeAspect="1"/>
          </p:cNvPicPr>
          <p:nvPr/>
        </p:nvPicPr>
        <p:blipFill>
          <a:blip r:embed="rId5"/>
          <a:stretch>
            <a:fillRect/>
          </a:stretch>
        </p:blipFill>
        <p:spPr>
          <a:xfrm>
            <a:off x="6327648" y="4297680"/>
            <a:ext cx="1792224" cy="1792224"/>
          </a:xfrm>
          <a:prstGeom prst="rect">
            <a:avLst/>
          </a:prstGeom>
        </p:spPr>
      </p:pic>
      <p:sp>
        <p:nvSpPr>
          <p:cNvPr id="25" name="Shape 18"/>
          <p:cNvSpPr/>
          <p:nvPr/>
        </p:nvSpPr>
        <p:spPr>
          <a:xfrm>
            <a:off x="6327648" y="4297680"/>
            <a:ext cx="1792224" cy="1792224"/>
          </a:xfrm>
          <a:prstGeom prst="rect">
            <a:avLst/>
          </a:prstGeom>
          <a:ln w="12700">
            <a:solidFill>
              <a:srgbClr val="C6D2DA"/>
            </a:solidFill>
            <a:prstDash val="solid"/>
          </a:ln>
        </p:spPr>
      </p:sp>
      <p:sp>
        <p:nvSpPr>
          <p:cNvPr id="26" name="Text 19"/>
          <p:cNvSpPr/>
          <p:nvPr/>
        </p:nvSpPr>
        <p:spPr>
          <a:xfrm>
            <a:off x="8275320"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Extreme environments</a:t>
            </a:r>
            <a:endParaRPr lang="en-US" sz="1350" dirty="0"/>
          </a:p>
        </p:txBody>
      </p:sp>
      <p:sp>
        <p:nvSpPr>
          <p:cNvPr id="27" name="Text 20"/>
          <p:cNvSpPr/>
          <p:nvPr/>
        </p:nvSpPr>
        <p:spPr>
          <a:xfrm>
            <a:off x="8275320"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All niobium multilayer insulation and thermal design protecting Solar Orbiter antennas that reach nearly 500 C in a 15 sun environment.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FACILITIES AND LOCATION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Purpose Built Production in Berkeley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10</a:t>
            </a:r>
            <a:endParaRPr lang="en-US" sz="850" dirty="0"/>
          </a:p>
        </p:txBody>
      </p:sp>
      <p:pic>
        <p:nvPicPr>
          <p:cNvPr id="7" name="Image 1" descr="assets/s8_bldg.jpg">    </p:cNvPr>
          <p:cNvPicPr>
            <a:picLocks noChangeAspect="1"/>
          </p:cNvPicPr>
          <p:nvPr/>
        </p:nvPicPr>
        <p:blipFill>
          <a:blip r:embed="rId2"/>
          <a:stretch>
            <a:fillRect/>
          </a:stretch>
        </p:blipFill>
        <p:spPr>
          <a:xfrm>
            <a:off x="822960" y="1417320"/>
            <a:ext cx="6583680" cy="2880360"/>
          </a:xfrm>
          <a:prstGeom prst="rect">
            <a:avLst/>
          </a:prstGeom>
        </p:spPr>
      </p:pic>
      <p:sp>
        <p:nvSpPr>
          <p:cNvPr id="8" name="Shape 4"/>
          <p:cNvSpPr/>
          <p:nvPr/>
        </p:nvSpPr>
        <p:spPr>
          <a:xfrm>
            <a:off x="822960" y="1417320"/>
            <a:ext cx="6583680" cy="2880360"/>
          </a:xfrm>
          <a:prstGeom prst="rect">
            <a:avLst/>
          </a:prstGeom>
          <a:ln w="12700">
            <a:solidFill>
              <a:srgbClr val="C6D2DA"/>
            </a:solidFill>
            <a:prstDash val="solid"/>
          </a:ln>
        </p:spPr>
      </p:sp>
      <p:pic>
        <p:nvPicPr>
          <p:cNvPr id="9" name="Image 2" descr="assets/s8_bay.jpg">    </p:cNvPr>
          <p:cNvPicPr>
            <a:picLocks noChangeAspect="1"/>
          </p:cNvPicPr>
          <p:nvPr/>
        </p:nvPicPr>
        <p:blipFill>
          <a:blip r:embed="rId3"/>
          <a:stretch>
            <a:fillRect/>
          </a:stretch>
        </p:blipFill>
        <p:spPr>
          <a:xfrm>
            <a:off x="822960" y="4480560"/>
            <a:ext cx="2130552" cy="1691640"/>
          </a:xfrm>
          <a:prstGeom prst="rect">
            <a:avLst/>
          </a:prstGeom>
        </p:spPr>
      </p:pic>
      <p:sp>
        <p:nvSpPr>
          <p:cNvPr id="10" name="Shape 5"/>
          <p:cNvSpPr/>
          <p:nvPr/>
        </p:nvSpPr>
        <p:spPr>
          <a:xfrm>
            <a:off x="822960" y="4480560"/>
            <a:ext cx="2130552" cy="1691640"/>
          </a:xfrm>
          <a:prstGeom prst="rect">
            <a:avLst/>
          </a:prstGeom>
          <a:ln w="12700">
            <a:solidFill>
              <a:srgbClr val="C6D2DA"/>
            </a:solidFill>
            <a:prstDash val="solid"/>
          </a:ln>
        </p:spPr>
      </p:sp>
      <p:sp>
        <p:nvSpPr>
          <p:cNvPr id="11" name="Text 6"/>
          <p:cNvSpPr/>
          <p:nvPr/>
        </p:nvSpPr>
        <p:spPr>
          <a:xfrm>
            <a:off x="822960"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High bay assembly</a:t>
            </a:r>
            <a:endParaRPr lang="en-US" sz="950" dirty="0"/>
          </a:p>
        </p:txBody>
      </p:sp>
      <p:pic>
        <p:nvPicPr>
          <p:cNvPr id="12" name="Image 3" descr="assets/s8_tvac.jpg">    </p:cNvPr>
          <p:cNvPicPr>
            <a:picLocks noChangeAspect="1"/>
          </p:cNvPicPr>
          <p:nvPr/>
        </p:nvPicPr>
        <p:blipFill>
          <a:blip r:embed="rId4"/>
          <a:stretch>
            <a:fillRect/>
          </a:stretch>
        </p:blipFill>
        <p:spPr>
          <a:xfrm>
            <a:off x="3054096" y="4480560"/>
            <a:ext cx="2130552" cy="1691640"/>
          </a:xfrm>
          <a:prstGeom prst="rect">
            <a:avLst/>
          </a:prstGeom>
        </p:spPr>
      </p:pic>
      <p:sp>
        <p:nvSpPr>
          <p:cNvPr id="13" name="Shape 7"/>
          <p:cNvSpPr/>
          <p:nvPr/>
        </p:nvSpPr>
        <p:spPr>
          <a:xfrm>
            <a:off x="3054096" y="4480560"/>
            <a:ext cx="2130552" cy="1691640"/>
          </a:xfrm>
          <a:prstGeom prst="rect">
            <a:avLst/>
          </a:prstGeom>
          <a:ln w="12700">
            <a:solidFill>
              <a:srgbClr val="C6D2DA"/>
            </a:solidFill>
            <a:prstDash val="solid"/>
          </a:ln>
        </p:spPr>
      </p:sp>
      <p:sp>
        <p:nvSpPr>
          <p:cNvPr id="14" name="Text 8"/>
          <p:cNvSpPr/>
          <p:nvPr/>
        </p:nvSpPr>
        <p:spPr>
          <a:xfrm>
            <a:off x="3054096"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Thermal vacuum</a:t>
            </a:r>
            <a:endParaRPr lang="en-US" sz="950" dirty="0"/>
          </a:p>
        </p:txBody>
      </p:sp>
      <p:pic>
        <p:nvPicPr>
          <p:cNvPr id="15" name="Image 4" descr="assets/s8_clean.jpg">    </p:cNvPr>
          <p:cNvPicPr>
            <a:picLocks noChangeAspect="1"/>
          </p:cNvPicPr>
          <p:nvPr/>
        </p:nvPicPr>
        <p:blipFill>
          <a:blip r:embed="rId5"/>
          <a:stretch>
            <a:fillRect/>
          </a:stretch>
        </p:blipFill>
        <p:spPr>
          <a:xfrm>
            <a:off x="5285232" y="4480560"/>
            <a:ext cx="2130552" cy="1691640"/>
          </a:xfrm>
          <a:prstGeom prst="rect">
            <a:avLst/>
          </a:prstGeom>
        </p:spPr>
      </p:pic>
      <p:sp>
        <p:nvSpPr>
          <p:cNvPr id="16" name="Shape 9"/>
          <p:cNvSpPr/>
          <p:nvPr/>
        </p:nvSpPr>
        <p:spPr>
          <a:xfrm>
            <a:off x="5285232" y="4480560"/>
            <a:ext cx="2130552" cy="1691640"/>
          </a:xfrm>
          <a:prstGeom prst="rect">
            <a:avLst/>
          </a:prstGeom>
          <a:ln w="12700">
            <a:solidFill>
              <a:srgbClr val="C6D2DA"/>
            </a:solidFill>
            <a:prstDash val="solid"/>
          </a:ln>
        </p:spPr>
      </p:sp>
      <p:sp>
        <p:nvSpPr>
          <p:cNvPr id="17" name="Text 10"/>
          <p:cNvSpPr/>
          <p:nvPr/>
        </p:nvSpPr>
        <p:spPr>
          <a:xfrm>
            <a:off x="5285232"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Cleanroom</a:t>
            </a:r>
            <a:endParaRPr lang="en-US" sz="950" dirty="0"/>
          </a:p>
        </p:txBody>
      </p:sp>
      <p:sp>
        <p:nvSpPr>
          <p:cNvPr id="18" name="Text 11"/>
          <p:cNvSpPr/>
          <p:nvPr/>
        </p:nvSpPr>
        <p:spPr>
          <a:xfrm>
            <a:off x="7726680" y="1371600"/>
            <a:ext cx="3657600" cy="384048"/>
          </a:xfrm>
          <a:prstGeom prst="rect">
            <a:avLst/>
          </a:prstGeom>
          <a:noFill/>
          <a:ln/>
        </p:spPr>
        <p:txBody>
          <a:bodyPr wrap="square" lIns="0" tIns="0" rIns="0" bIns="0" rtlCol="0" anchor="ctr"/>
          <a:lstStyle/>
          <a:p>
            <a:pPr indent="0" marL="0">
              <a:buNone/>
            </a:pPr>
            <a:r>
              <a:rPr lang="en-US" sz="2200" b="1" dirty="0">
                <a:solidFill>
                  <a:srgbClr val="007BCB"/>
                </a:solidFill>
                <a:latin typeface="Garamond" pitchFamily="34" charset="0"/>
                <a:ea typeface="Garamond" pitchFamily="34" charset="-122"/>
                <a:cs typeface="Garamond" pitchFamily="34" charset="-120"/>
              </a:rPr>
              <a:t>20,000 square feet</a:t>
            </a:r>
            <a:endParaRPr lang="en-US" sz="2200" dirty="0"/>
          </a:p>
        </p:txBody>
      </p:sp>
      <p:sp>
        <p:nvSpPr>
          <p:cNvPr id="19" name="Text 12"/>
          <p:cNvSpPr/>
          <p:nvPr/>
        </p:nvSpPr>
        <p:spPr>
          <a:xfrm>
            <a:off x="7726680" y="1773936"/>
            <a:ext cx="3639312" cy="566928"/>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of production capacity: high bay assembly and test, cleanroom, thermal vacuum chamber, and machine shop.</a:t>
            </a:r>
            <a:endParaRPr lang="en-US" sz="1050" dirty="0"/>
          </a:p>
        </p:txBody>
      </p:sp>
      <p:pic>
        <p:nvPicPr>
          <p:cNvPr id="20" name="Image 5" descr="assets/s8_map.jpg">    </p:cNvPr>
          <p:cNvPicPr>
            <a:picLocks noChangeAspect="1"/>
          </p:cNvPicPr>
          <p:nvPr/>
        </p:nvPicPr>
        <p:blipFill>
          <a:blip r:embed="rId6"/>
          <a:stretch>
            <a:fillRect/>
          </a:stretch>
        </p:blipFill>
        <p:spPr>
          <a:xfrm>
            <a:off x="7726680" y="2450592"/>
            <a:ext cx="3639312" cy="2331720"/>
          </a:xfrm>
          <a:prstGeom prst="rect">
            <a:avLst/>
          </a:prstGeom>
        </p:spPr>
      </p:pic>
      <p:sp>
        <p:nvSpPr>
          <p:cNvPr id="21" name="Shape 13"/>
          <p:cNvSpPr/>
          <p:nvPr/>
        </p:nvSpPr>
        <p:spPr>
          <a:xfrm>
            <a:off x="7726680" y="2450592"/>
            <a:ext cx="3639312" cy="2331720"/>
          </a:xfrm>
          <a:prstGeom prst="rect">
            <a:avLst/>
          </a:prstGeom>
          <a:ln w="12700">
            <a:solidFill>
              <a:srgbClr val="C6D2DA"/>
            </a:solidFill>
            <a:prstDash val="solid"/>
          </a:ln>
        </p:spPr>
      </p:sp>
      <p:sp>
        <p:nvSpPr>
          <p:cNvPr id="22" name="Shape 14"/>
          <p:cNvSpPr/>
          <p:nvPr/>
        </p:nvSpPr>
        <p:spPr>
          <a:xfrm>
            <a:off x="7726680" y="4937760"/>
            <a:ext cx="3639312" cy="1298448"/>
          </a:xfrm>
          <a:prstGeom prst="roundRect">
            <a:avLst>
              <a:gd name="adj" fmla="val 3521"/>
            </a:avLst>
          </a:prstGeom>
          <a:solidFill>
            <a:srgbClr val="F3F7FA"/>
          </a:solidFill>
          <a:ln/>
        </p:spPr>
      </p:sp>
      <p:sp>
        <p:nvSpPr>
          <p:cNvPr id="23" name="Text 15"/>
          <p:cNvSpPr/>
          <p:nvPr/>
        </p:nvSpPr>
        <p:spPr>
          <a:xfrm>
            <a:off x="7882128" y="5056632"/>
            <a:ext cx="3364992" cy="1097280"/>
          </a:xfrm>
          <a:prstGeom prst="rect">
            <a:avLst/>
          </a:prstGeom>
          <a:noFill/>
          <a:ln/>
        </p:spPr>
        <p:txBody>
          <a:bodyPr wrap="square" lIns="0" tIns="0" rIns="0" bIns="0" rtlCol="0" anchor="t"/>
          <a:lstStyle/>
          <a:p>
            <a:pPr indent="0" marL="0">
              <a:spcAft>
                <a:spcPts val="200"/>
              </a:spcAft>
              <a:buNone/>
            </a:pPr>
            <a:r>
              <a:rPr lang="en-US" sz="1100" b="1" dirty="0">
                <a:solidFill>
                  <a:srgbClr val="1E2A33"/>
                </a:solidFill>
                <a:latin typeface="Garamond" pitchFamily="34" charset="0"/>
                <a:ea typeface="Garamond" pitchFamily="34" charset="-122"/>
                <a:cs typeface="Garamond" pitchFamily="34" charset="-120"/>
              </a:rPr>
              <a:t>Heliospace Corporation</a:t>
            </a:r>
            <a:endParaRPr lang="en-US" sz="1100" dirty="0"/>
          </a:p>
          <a:p>
            <a:pPr indent="0" marL="0">
              <a:spcAft>
                <a:spcPts val="200"/>
              </a:spcAft>
              <a:buNone/>
            </a:pPr>
            <a:r>
              <a:rPr lang="en-US" sz="1100" dirty="0">
                <a:solidFill>
                  <a:srgbClr val="1E2A33"/>
                </a:solidFill>
                <a:latin typeface="Garamond" pitchFamily="34" charset="0"/>
                <a:ea typeface="Garamond" pitchFamily="34" charset="-122"/>
                <a:cs typeface="Garamond" pitchFamily="34" charset="-120"/>
              </a:rPr>
              <a:t>2448 Sixth Street, Berkeley, CA 94710</a:t>
            </a:r>
            <a:endParaRPr lang="en-US" sz="1100" dirty="0"/>
          </a:p>
          <a:p>
            <a:pPr indent="0" marL="0">
              <a:spcAft>
                <a:spcPts val="200"/>
              </a:spcAft>
              <a:buNone/>
            </a:pPr>
            <a:endParaRPr lang="en-US" sz="1100" dirty="0"/>
          </a:p>
          <a:p>
            <a:pPr indent="0" marL="0">
              <a:spcAft>
                <a:spcPts val="200"/>
              </a:spcAft>
              <a:buNone/>
            </a:pPr>
            <a:r>
              <a:rPr lang="en-US" sz="950" dirty="0">
                <a:solidFill>
                  <a:srgbClr val="5C6B76"/>
                </a:solidFill>
                <a:latin typeface="Garamond" pitchFamily="34" charset="0"/>
                <a:ea typeface="Garamond" pitchFamily="34" charset="-122"/>
                <a:cs typeface="Garamond" pitchFamily="34" charset="-120"/>
              </a:rPr>
              <a:t>San Francisco Bay Area: near NASA Ames, UC Berkeley, and the West Coast supply base.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MARKET OPPORTUNITY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Structurally Expanding Market</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11</a:t>
            </a:r>
            <a:endParaRPr lang="en-US" sz="850" dirty="0"/>
          </a:p>
        </p:txBody>
      </p:sp>
      <p:sp>
        <p:nvSpPr>
          <p:cNvPr id="7" name="Text 4"/>
          <p:cNvSpPr/>
          <p:nvPr/>
        </p:nvSpPr>
        <p:spPr>
          <a:xfrm>
            <a:off x="822960" y="1463040"/>
            <a:ext cx="5852160" cy="274320"/>
          </a:xfrm>
          <a:prstGeom prst="rect">
            <a:avLst/>
          </a:prstGeom>
          <a:noFill/>
          <a:ln/>
        </p:spPr>
        <p:txBody>
          <a:bodyPr wrap="square" lIns="0" tIns="0" rIns="0" bIns="0" rtlCol="0" anchor="ctr"/>
          <a:lstStyle/>
          <a:p>
            <a:pPr indent="0" marL="0">
              <a:buNone/>
            </a:pPr>
            <a:r>
              <a:rPr lang="en-US" sz="1300" b="1" dirty="0">
                <a:solidFill>
                  <a:srgbClr val="10222F"/>
                </a:solidFill>
                <a:latin typeface="Garamond" pitchFamily="34" charset="0"/>
                <a:ea typeface="Garamond" pitchFamily="34" charset="-122"/>
                <a:cs typeface="Garamond" pitchFamily="34" charset="-120"/>
              </a:rPr>
              <a:t>Global space economy, USD billions</a:t>
            </a:r>
            <a:endParaRPr lang="en-US" sz="1300" dirty="0"/>
          </a:p>
        </p:txBody>
      </p:sp>
      <p:graphicFrame>
        <p:nvGraphicFramePr>
          <p:cNvPr id="8" name="Chart 0" descr=""/>
          <p:cNvGraphicFramePr/>
          <p:nvPr/>
        </p:nvGraphicFramePr>
        <p:xfrm>
          <a:off x="822960" y="1828800"/>
          <a:ext cx="5852160" cy="397764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 y="5943600"/>
            <a:ext cx="5852160" cy="27432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World Economic Forum and McKinsey, Space: The $1.8 Trillion Opportunity, 2024.</a:t>
            </a:r>
            <a:endParaRPr lang="en-US" sz="900" dirty="0"/>
          </a:p>
        </p:txBody>
      </p:sp>
      <p:sp>
        <p:nvSpPr>
          <p:cNvPr id="10" name="Text 6"/>
          <p:cNvSpPr/>
          <p:nvPr/>
        </p:nvSpPr>
        <p:spPr>
          <a:xfrm>
            <a:off x="7178040" y="1554480"/>
            <a:ext cx="4114800" cy="548640"/>
          </a:xfrm>
          <a:prstGeom prst="rect">
            <a:avLst/>
          </a:prstGeom>
          <a:noFill/>
          <a:ln/>
        </p:spPr>
        <p:txBody>
          <a:bodyPr wrap="square" lIns="0" tIns="0" rIns="0" bIns="0" rtlCol="0" anchor="ctr"/>
          <a:lstStyle/>
          <a:p>
            <a:pPr indent="0" marL="0">
              <a:buNone/>
            </a:pPr>
            <a:r>
              <a:rPr lang="en-US" sz="3400" b="1" dirty="0">
                <a:solidFill>
                  <a:srgbClr val="007BCB"/>
                </a:solidFill>
                <a:latin typeface="Garamond" pitchFamily="34" charset="0"/>
                <a:ea typeface="Garamond" pitchFamily="34" charset="-122"/>
                <a:cs typeface="Garamond" pitchFamily="34" charset="-120"/>
              </a:rPr>
              <a:t>16,900</a:t>
            </a:r>
            <a:endParaRPr lang="en-US" sz="3400" dirty="0"/>
          </a:p>
        </p:txBody>
      </p:sp>
      <p:sp>
        <p:nvSpPr>
          <p:cNvPr id="11" name="Text 7"/>
          <p:cNvSpPr/>
          <p:nvPr/>
        </p:nvSpPr>
        <p:spPr>
          <a:xfrm>
            <a:off x="7178040" y="2121408"/>
            <a:ext cx="4069080" cy="502920"/>
          </a:xfrm>
          <a:prstGeom prst="rect">
            <a:avLst/>
          </a:prstGeom>
          <a:noFill/>
          <a:ln/>
        </p:spPr>
        <p:txBody>
          <a:bodyPr wrap="square" lIns="0" tIns="0" rIns="0" bIns="0" rtlCol="0" anchor="t"/>
          <a:lstStyle/>
          <a:p>
            <a:pPr indent="0" marL="0">
              <a:buNone/>
            </a:pPr>
            <a:r>
              <a:rPr lang="en-US" sz="1100" dirty="0">
                <a:solidFill>
                  <a:srgbClr val="5C6B76"/>
                </a:solidFill>
                <a:latin typeface="Garamond" pitchFamily="34" charset="0"/>
                <a:ea typeface="Garamond" pitchFamily="34" charset="-122"/>
                <a:cs typeface="Garamond" pitchFamily="34" charset="-120"/>
              </a:rPr>
              <a:t>small satellites forecast for launch between 2026 and 2035 (Novaspace)</a:t>
            </a:r>
            <a:endParaRPr lang="en-US" sz="1100" dirty="0"/>
          </a:p>
        </p:txBody>
      </p:sp>
      <p:sp>
        <p:nvSpPr>
          <p:cNvPr id="12" name="Text 8"/>
          <p:cNvSpPr/>
          <p:nvPr/>
        </p:nvSpPr>
        <p:spPr>
          <a:xfrm>
            <a:off x="7178040" y="2880360"/>
            <a:ext cx="41148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Deployables on every platform</a:t>
            </a:r>
            <a:endParaRPr lang="en-US" sz="1350" dirty="0"/>
          </a:p>
        </p:txBody>
      </p:sp>
      <p:sp>
        <p:nvSpPr>
          <p:cNvPr id="13" name="Text 9"/>
          <p:cNvSpPr/>
          <p:nvPr/>
        </p:nvSpPr>
        <p:spPr>
          <a:xfrm>
            <a:off x="7178040" y="3182112"/>
            <a:ext cx="4160520" cy="96012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Antennas, sensor booms, and masts must stow small and deploy reliably. Every spacecraft class, from CubeSats to flagship observatories, is an addressable socket for SABER mechanisms.</a:t>
            </a:r>
            <a:endParaRPr lang="en-US" sz="1150" dirty="0"/>
          </a:p>
        </p:txBody>
      </p:sp>
      <p:sp>
        <p:nvSpPr>
          <p:cNvPr id="14" name="Text 10"/>
          <p:cNvSpPr/>
          <p:nvPr/>
        </p:nvSpPr>
        <p:spPr>
          <a:xfrm>
            <a:off x="7178040" y="4343400"/>
            <a:ext cx="41148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Recurring lunar demand</a:t>
            </a:r>
            <a:endParaRPr lang="en-US" sz="1350" dirty="0"/>
          </a:p>
        </p:txBody>
      </p:sp>
      <p:sp>
        <p:nvSpPr>
          <p:cNvPr id="15" name="Text 11"/>
          <p:cNvSpPr/>
          <p:nvPr/>
        </p:nvSpPr>
        <p:spPr>
          <a:xfrm>
            <a:off x="7178040" y="4645152"/>
            <a:ext cx="4160520" cy="100584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NASA CLPS and commercial lunar programs are creating a repeat purchase market for payload sensors and deployables, with Heliospace hardware already flown on the first landings.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COMPETITIVE POSITION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Why Customers Choose Heliospace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12</a:t>
            </a:r>
            <a:endParaRPr lang="en-US" sz="850" dirty="0"/>
          </a:p>
        </p:txBody>
      </p:sp>
      <p:sp>
        <p:nvSpPr>
          <p:cNvPr id="7" name="Shape 4"/>
          <p:cNvSpPr/>
          <p:nvPr/>
        </p:nvSpPr>
        <p:spPr>
          <a:xfrm>
            <a:off x="822960" y="1508760"/>
            <a:ext cx="347472" cy="347472"/>
          </a:xfrm>
          <a:prstGeom prst="ellipse">
            <a:avLst/>
          </a:prstGeom>
          <a:solidFill>
            <a:srgbClr val="007BCB"/>
          </a:solidFill>
          <a:ln/>
        </p:spPr>
      </p:sp>
      <p:sp>
        <p:nvSpPr>
          <p:cNvPr id="8" name="Text 5"/>
          <p:cNvSpPr/>
          <p:nvPr/>
        </p:nvSpPr>
        <p:spPr>
          <a:xfrm>
            <a:off x="822960" y="150876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1</a:t>
            </a:r>
            <a:endParaRPr lang="en-US" sz="1400" dirty="0"/>
          </a:p>
        </p:txBody>
      </p:sp>
      <p:sp>
        <p:nvSpPr>
          <p:cNvPr id="9" name="Text 6"/>
          <p:cNvSpPr/>
          <p:nvPr/>
        </p:nvSpPr>
        <p:spPr>
          <a:xfrm>
            <a:off x="1325880" y="1481328"/>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Flight proven heritage</a:t>
            </a:r>
            <a:endParaRPr lang="en-US" sz="1450" dirty="0"/>
          </a:p>
        </p:txBody>
      </p:sp>
      <p:sp>
        <p:nvSpPr>
          <p:cNvPr id="10" name="Text 7"/>
          <p:cNvSpPr/>
          <p:nvPr/>
        </p:nvSpPr>
        <p:spPr>
          <a:xfrm>
            <a:off x="1325880" y="1764792"/>
            <a:ext cx="5166360" cy="86868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Hardware operating today across the solar system, with a qualification pedigree that new entrants cannot shortcut.</a:t>
            </a:r>
            <a:endParaRPr lang="en-US" sz="1100" dirty="0"/>
          </a:p>
        </p:txBody>
      </p:sp>
      <p:sp>
        <p:nvSpPr>
          <p:cNvPr id="11" name="Shape 8"/>
          <p:cNvSpPr/>
          <p:nvPr/>
        </p:nvSpPr>
        <p:spPr>
          <a:xfrm>
            <a:off x="822960" y="2715768"/>
            <a:ext cx="347472" cy="347472"/>
          </a:xfrm>
          <a:prstGeom prst="ellipse">
            <a:avLst/>
          </a:prstGeom>
          <a:solidFill>
            <a:srgbClr val="007BCB"/>
          </a:solidFill>
          <a:ln/>
        </p:spPr>
      </p:sp>
      <p:sp>
        <p:nvSpPr>
          <p:cNvPr id="12" name="Text 9"/>
          <p:cNvSpPr/>
          <p:nvPr/>
        </p:nvSpPr>
        <p:spPr>
          <a:xfrm>
            <a:off x="822960" y="271576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2</a:t>
            </a:r>
            <a:endParaRPr lang="en-US" sz="1400" dirty="0"/>
          </a:p>
        </p:txBody>
      </p:sp>
      <p:sp>
        <p:nvSpPr>
          <p:cNvPr id="13" name="Text 10"/>
          <p:cNvSpPr/>
          <p:nvPr/>
        </p:nvSpPr>
        <p:spPr>
          <a:xfrm>
            <a:off x="1325880" y="2688336"/>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Vertical integration</a:t>
            </a:r>
            <a:endParaRPr lang="en-US" sz="1450" dirty="0"/>
          </a:p>
        </p:txBody>
      </p:sp>
      <p:sp>
        <p:nvSpPr>
          <p:cNvPr id="14" name="Text 11"/>
          <p:cNvSpPr/>
          <p:nvPr/>
        </p:nvSpPr>
        <p:spPr>
          <a:xfrm>
            <a:off x="1325880" y="2971800"/>
            <a:ext cx="5166360" cy="86868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A NASA SBIR funded, in house boom forming capability removes sole source supplier risk, cuts tooling lead times from months to days, and enables geometries competitors cannot produce.</a:t>
            </a:r>
            <a:endParaRPr lang="en-US" sz="1100" dirty="0"/>
          </a:p>
        </p:txBody>
      </p:sp>
      <p:sp>
        <p:nvSpPr>
          <p:cNvPr id="15" name="Shape 12"/>
          <p:cNvSpPr/>
          <p:nvPr/>
        </p:nvSpPr>
        <p:spPr>
          <a:xfrm>
            <a:off x="822960" y="3922776"/>
            <a:ext cx="347472" cy="347472"/>
          </a:xfrm>
          <a:prstGeom prst="ellipse">
            <a:avLst/>
          </a:prstGeom>
          <a:solidFill>
            <a:srgbClr val="007BCB"/>
          </a:solidFill>
          <a:ln/>
        </p:spPr>
      </p:sp>
      <p:sp>
        <p:nvSpPr>
          <p:cNvPr id="16" name="Text 13"/>
          <p:cNvSpPr/>
          <p:nvPr/>
        </p:nvSpPr>
        <p:spPr>
          <a:xfrm>
            <a:off x="822960" y="3922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3</a:t>
            </a:r>
            <a:endParaRPr lang="en-US" sz="1400" dirty="0"/>
          </a:p>
        </p:txBody>
      </p:sp>
      <p:sp>
        <p:nvSpPr>
          <p:cNvPr id="17" name="Text 14"/>
          <p:cNvSpPr/>
          <p:nvPr/>
        </p:nvSpPr>
        <p:spPr>
          <a:xfrm>
            <a:off x="1325880" y="3895344"/>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Speed and cost</a:t>
            </a:r>
            <a:endParaRPr lang="en-US" sz="1450" dirty="0"/>
          </a:p>
        </p:txBody>
      </p:sp>
      <p:sp>
        <p:nvSpPr>
          <p:cNvPr id="18" name="Text 15"/>
          <p:cNvSpPr/>
          <p:nvPr/>
        </p:nvSpPr>
        <p:spPr>
          <a:xfrm>
            <a:off x="1325880" y="4178808"/>
            <a:ext cx="5166360" cy="86868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Lean development on purchase order and time and materials contracts, with record time deliveries for launch critical lunar payloads.</a:t>
            </a:r>
            <a:endParaRPr lang="en-US" sz="1100" dirty="0"/>
          </a:p>
        </p:txBody>
      </p:sp>
      <p:sp>
        <p:nvSpPr>
          <p:cNvPr id="19" name="Shape 16"/>
          <p:cNvSpPr/>
          <p:nvPr/>
        </p:nvSpPr>
        <p:spPr>
          <a:xfrm>
            <a:off x="822960" y="5129784"/>
            <a:ext cx="347472" cy="347472"/>
          </a:xfrm>
          <a:prstGeom prst="ellipse">
            <a:avLst/>
          </a:prstGeom>
          <a:solidFill>
            <a:srgbClr val="007BCB"/>
          </a:solidFill>
          <a:ln/>
        </p:spPr>
      </p:sp>
      <p:sp>
        <p:nvSpPr>
          <p:cNvPr id="20" name="Text 17"/>
          <p:cNvSpPr/>
          <p:nvPr/>
        </p:nvSpPr>
        <p:spPr>
          <a:xfrm>
            <a:off x="822960" y="512978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4</a:t>
            </a:r>
            <a:endParaRPr lang="en-US" sz="1400" dirty="0"/>
          </a:p>
        </p:txBody>
      </p:sp>
      <p:sp>
        <p:nvSpPr>
          <p:cNvPr id="21" name="Text 18"/>
          <p:cNvSpPr/>
          <p:nvPr/>
        </p:nvSpPr>
        <p:spPr>
          <a:xfrm>
            <a:off x="1325880" y="5102352"/>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Performance edge</a:t>
            </a:r>
            <a:endParaRPr lang="en-US" sz="1450" dirty="0"/>
          </a:p>
        </p:txBody>
      </p:sp>
      <p:sp>
        <p:nvSpPr>
          <p:cNvPr id="22" name="Text 19"/>
          <p:cNvSpPr/>
          <p:nvPr/>
        </p:nvSpPr>
        <p:spPr>
          <a:xfrm>
            <a:off x="1325880" y="5385816"/>
            <a:ext cx="5166360" cy="86868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Wider thermal range, redundant non explosive release, and stowage ratios of up to 50:1.</a:t>
            </a:r>
            <a:endParaRPr lang="en-US" sz="1100" dirty="0"/>
          </a:p>
        </p:txBody>
      </p:sp>
      <p:sp>
        <p:nvSpPr>
          <p:cNvPr id="23" name="Text 20"/>
          <p:cNvSpPr/>
          <p:nvPr/>
        </p:nvSpPr>
        <p:spPr>
          <a:xfrm>
            <a:off x="7040880" y="1508760"/>
            <a:ext cx="429768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 versus typical SMA devices</a:t>
            </a:r>
            <a:endParaRPr lang="en-US" sz="13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040880" y="1874520"/>
          <a:ext cx="4315968" cy="914400"/>
        </p:xfrm>
        <a:graphic>
          <a:graphicData uri="http://schemas.openxmlformats.org/drawingml/2006/table">
            <a:tbl>
              <a:tblPr/>
              <a:tblGrid>
                <a:gridCol w="1481328"/>
                <a:gridCol w="1417320"/>
                <a:gridCol w="1417320"/>
              </a:tblGrid>
              <a:tr h="566928">
                <a:tc>
                  <a:txBody>
                    <a:bodyPr/>
                    <a:lstStyle/>
                    <a:p>
                      <a:pPr indent="0" marL="0">
                        <a:buNone/>
                      </a:pP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c>
                  <a:txBody>
                    <a:bodyPr/>
                    <a:lstStyle/>
                    <a:p>
                      <a:pPr indent="0" marL="0">
                        <a:buNone/>
                      </a:pPr>
                      <a:r>
                        <a:rPr lang="en-US" sz="950" b="1" dirty="0">
                          <a:solidFill>
                            <a:srgbClr val="FFFFFF"/>
                          </a:solidFill>
                          <a:latin typeface="Garamond" pitchFamily="34" charset="0"/>
                          <a:ea typeface="Garamond" pitchFamily="34" charset="-122"/>
                          <a:cs typeface="Garamond" pitchFamily="34" charset="-120"/>
                        </a:rPr>
                        <a:t>Heliospace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c>
                  <a:txBody>
                    <a:bodyPr/>
                    <a:lstStyle/>
                    <a:p>
                      <a:pPr indent="0" marL="0">
                        <a:buNone/>
                      </a:pPr>
                      <a:r>
                        <a:rPr lang="en-US" sz="950" b="1" dirty="0">
                          <a:solidFill>
                            <a:srgbClr val="FFFFFF"/>
                          </a:solidFill>
                          <a:latin typeface="Garamond" pitchFamily="34" charset="0"/>
                          <a:ea typeface="Garamond" pitchFamily="34" charset="-122"/>
                          <a:cs typeface="Garamond" pitchFamily="34" charset="-120"/>
                        </a:rPr>
                        <a:t>Typical SMA HDRM</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Pre deploy temperature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Above 150 C</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90 to 120 C</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Stowed length</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About one third of comparable devices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About 3x axial height</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Redundancy</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Redundant circuits and actuation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Not redundant at this size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Reuse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Re usable, non explosive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Single use or custom</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sp>
        <p:nvSpPr>
          <p:cNvPr id="25" name="Text 21"/>
          <p:cNvSpPr/>
          <p:nvPr/>
        </p:nvSpPr>
        <p:spPr>
          <a:xfrm>
            <a:off x="7040880" y="4846320"/>
            <a:ext cx="4297680" cy="256032"/>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Heliospace SB2 development program comparison.</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CLIENT BASE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Customers Who Validate the Technology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13</a:t>
            </a:r>
            <a:endParaRPr lang="en-US" sz="850" dirty="0"/>
          </a:p>
        </p:txBody>
      </p:sp>
      <p:sp>
        <p:nvSpPr>
          <p:cNvPr id="7" name="Text 4"/>
          <p:cNvSpPr/>
          <p:nvPr/>
        </p:nvSpPr>
        <p:spPr>
          <a:xfrm>
            <a:off x="822960" y="1463040"/>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Civil space science</a:t>
            </a:r>
            <a:endParaRPr lang="en-US" sz="1350" dirty="0"/>
          </a:p>
        </p:txBody>
      </p:sp>
      <p:sp>
        <p:nvSpPr>
          <p:cNvPr id="8" name="Text 5"/>
          <p:cNvSpPr/>
          <p:nvPr/>
        </p:nvSpPr>
        <p:spPr>
          <a:xfrm>
            <a:off x="822960" y="1737360"/>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JPL, NASA Goddard, Caltech, UC Berkeley Space Sciences Laboratory</a:t>
            </a:r>
            <a:endParaRPr lang="en-US" sz="1150" dirty="0"/>
          </a:p>
        </p:txBody>
      </p:sp>
      <p:sp>
        <p:nvSpPr>
          <p:cNvPr id="9" name="Text 6"/>
          <p:cNvSpPr/>
          <p:nvPr/>
        </p:nvSpPr>
        <p:spPr>
          <a:xfrm>
            <a:off x="822960" y="2359152"/>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lunar</a:t>
            </a:r>
            <a:endParaRPr lang="en-US" sz="1350" dirty="0"/>
          </a:p>
        </p:txBody>
      </p:sp>
      <p:sp>
        <p:nvSpPr>
          <p:cNvPr id="10" name="Text 7"/>
          <p:cNvSpPr/>
          <p:nvPr/>
        </p:nvSpPr>
        <p:spPr>
          <a:xfrm>
            <a:off x="822960" y="2633472"/>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Firefly Aerospace, Intuitive Machines, SwRI, Draper and iSpace mission teams</a:t>
            </a:r>
            <a:endParaRPr lang="en-US" sz="1150" dirty="0"/>
          </a:p>
        </p:txBody>
      </p:sp>
      <p:sp>
        <p:nvSpPr>
          <p:cNvPr id="11" name="Text 8"/>
          <p:cNvSpPr/>
          <p:nvPr/>
        </p:nvSpPr>
        <p:spPr>
          <a:xfrm>
            <a:off x="822960" y="3255264"/>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Flagship programs</a:t>
            </a:r>
            <a:endParaRPr lang="en-US" sz="1350" dirty="0"/>
          </a:p>
        </p:txBody>
      </p:sp>
      <p:sp>
        <p:nvSpPr>
          <p:cNvPr id="12" name="Text 9"/>
          <p:cNvSpPr/>
          <p:nvPr/>
        </p:nvSpPr>
        <p:spPr>
          <a:xfrm>
            <a:off x="822960" y="3529584"/>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James Webb Space Telescope support; Mars Sample Return concept studies</a:t>
            </a:r>
            <a:endParaRPr lang="en-US" sz="1150" dirty="0"/>
          </a:p>
        </p:txBody>
      </p:sp>
      <p:sp>
        <p:nvSpPr>
          <p:cNvPr id="13" name="Text 10"/>
          <p:cNvSpPr/>
          <p:nvPr/>
        </p:nvSpPr>
        <p:spPr>
          <a:xfrm>
            <a:off x="822960" y="4151376"/>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and philanthropic</a:t>
            </a:r>
            <a:endParaRPr lang="en-US" sz="1350" dirty="0"/>
          </a:p>
        </p:txBody>
      </p:sp>
      <p:sp>
        <p:nvSpPr>
          <p:cNvPr id="14" name="Text 11"/>
          <p:cNvSpPr/>
          <p:nvPr/>
        </p:nvSpPr>
        <p:spPr>
          <a:xfrm>
            <a:off x="822960" y="4425696"/>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Honeybee Robotics and Blue Origin lander work; Breakthrough Foundation farside mission</a:t>
            </a:r>
            <a:endParaRPr lang="en-US" sz="1150" dirty="0"/>
          </a:p>
        </p:txBody>
      </p:sp>
      <p:sp>
        <p:nvSpPr>
          <p:cNvPr id="15" name="Text 12"/>
          <p:cNvSpPr/>
          <p:nvPr/>
        </p:nvSpPr>
        <p:spPr>
          <a:xfrm>
            <a:off x="822960" y="5074920"/>
            <a:ext cx="36576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Why they stay</a:t>
            </a:r>
            <a:endParaRPr lang="en-US" sz="1350" dirty="0"/>
          </a:p>
        </p:txBody>
      </p:sp>
      <p:sp>
        <p:nvSpPr>
          <p:cNvPr id="16" name="Text 13"/>
          <p:cNvSpPr/>
          <p:nvPr/>
        </p:nvSpPr>
        <p:spPr>
          <a:xfrm>
            <a:off x="822960" y="5394960"/>
            <a:ext cx="6217920" cy="10058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Supplier of record on marquee missions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On schedule delivery for launch critical payloads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Repeat awards across programs and platforms</a:t>
            </a:r>
            <a:endParaRPr lang="en-US" sz="1100" dirty="0"/>
          </a:p>
        </p:txBody>
      </p:sp>
      <p:pic>
        <p:nvPicPr>
          <p:cNvPr id="17" name="Image 1" descr="assets/s11_team.jpg">    </p:cNvPr>
          <p:cNvPicPr>
            <a:picLocks noChangeAspect="1"/>
          </p:cNvPicPr>
          <p:nvPr/>
        </p:nvPicPr>
        <p:blipFill>
          <a:blip r:embed="rId2"/>
          <a:stretch>
            <a:fillRect/>
          </a:stretch>
        </p:blipFill>
        <p:spPr>
          <a:xfrm>
            <a:off x="7360920" y="1463040"/>
            <a:ext cx="4005072" cy="2670048"/>
          </a:xfrm>
          <a:prstGeom prst="rect">
            <a:avLst/>
          </a:prstGeom>
        </p:spPr>
      </p:pic>
      <p:sp>
        <p:nvSpPr>
          <p:cNvPr id="18" name="Shape 14"/>
          <p:cNvSpPr/>
          <p:nvPr/>
        </p:nvSpPr>
        <p:spPr>
          <a:xfrm>
            <a:off x="7360920" y="1463040"/>
            <a:ext cx="4005072" cy="2670048"/>
          </a:xfrm>
          <a:prstGeom prst="rect">
            <a:avLst/>
          </a:prstGeom>
          <a:ln w="12700">
            <a:solidFill>
              <a:srgbClr val="C6D2DA"/>
            </a:solidFill>
            <a:prstDash val="solid"/>
          </a:ln>
        </p:spPr>
      </p:sp>
      <p:sp>
        <p:nvSpPr>
          <p:cNvPr id="19" name="Text 15"/>
          <p:cNvSpPr/>
          <p:nvPr/>
        </p:nvSpPr>
        <p:spPr>
          <a:xfrm>
            <a:off x="7360920" y="4160520"/>
            <a:ext cx="400507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Flight hardware assembly at the Berkeley facility.</a:t>
            </a:r>
            <a:endParaRPr lang="en-US" sz="950" dirty="0"/>
          </a:p>
        </p:txBody>
      </p:sp>
      <p:sp>
        <p:nvSpPr>
          <p:cNvPr id="20" name="Shape 16"/>
          <p:cNvSpPr/>
          <p:nvPr/>
        </p:nvSpPr>
        <p:spPr>
          <a:xfrm>
            <a:off x="7360920" y="4617720"/>
            <a:ext cx="4005072" cy="1554480"/>
          </a:xfrm>
          <a:prstGeom prst="roundRect">
            <a:avLst>
              <a:gd name="adj" fmla="val 2941"/>
            </a:avLst>
          </a:prstGeom>
          <a:solidFill>
            <a:srgbClr val="F3F7FA"/>
          </a:solidFill>
          <a:ln/>
        </p:spPr>
      </p:sp>
      <p:sp>
        <p:nvSpPr>
          <p:cNvPr id="21" name="Text 17"/>
          <p:cNvSpPr/>
          <p:nvPr/>
        </p:nvSpPr>
        <p:spPr>
          <a:xfrm>
            <a:off x="7589520" y="4828032"/>
            <a:ext cx="1188720" cy="502920"/>
          </a:xfrm>
          <a:prstGeom prst="rect">
            <a:avLst/>
          </a:prstGeom>
          <a:noFill/>
          <a:ln/>
        </p:spPr>
        <p:txBody>
          <a:bodyPr wrap="square" lIns="0" tIns="0" rIns="0" bIns="0" rtlCol="0" anchor="ctr"/>
          <a:lstStyle/>
          <a:p>
            <a:pPr indent="0" marL="0">
              <a:buNone/>
            </a:pPr>
            <a:r>
              <a:rPr lang="en-US" sz="3000" b="1" dirty="0">
                <a:solidFill>
                  <a:srgbClr val="007BCB"/>
                </a:solidFill>
                <a:latin typeface="Garamond" pitchFamily="34" charset="0"/>
                <a:ea typeface="Garamond" pitchFamily="34" charset="-122"/>
                <a:cs typeface="Garamond" pitchFamily="34" charset="-120"/>
              </a:rPr>
              <a:t>10+</a:t>
            </a:r>
            <a:endParaRPr lang="en-US" sz="3000" dirty="0"/>
          </a:p>
        </p:txBody>
      </p:sp>
      <p:sp>
        <p:nvSpPr>
          <p:cNvPr id="22" name="Text 18"/>
          <p:cNvSpPr/>
          <p:nvPr/>
        </p:nvSpPr>
        <p:spPr>
          <a:xfrm>
            <a:off x="8732520" y="4864608"/>
            <a:ext cx="2514600" cy="109728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missions supported across NASA, ESA, and commercial programs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GROWTH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From Heritage Programs to Product Scale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14</a:t>
            </a:r>
            <a:endParaRPr lang="en-US" sz="850" dirty="0"/>
          </a:p>
        </p:txBody>
      </p:sp>
      <p:sp>
        <p:nvSpPr>
          <p:cNvPr id="7" name="Shape 4"/>
          <p:cNvSpPr/>
          <p:nvPr/>
        </p:nvSpPr>
        <p:spPr>
          <a:xfrm>
            <a:off x="822960" y="1554480"/>
            <a:ext cx="2651760" cy="3246120"/>
          </a:xfrm>
          <a:prstGeom prst="roundRect">
            <a:avLst>
              <a:gd name="adj" fmla="val 1724"/>
            </a:avLst>
          </a:prstGeom>
          <a:solidFill>
            <a:srgbClr val="F3F7FA"/>
          </a:solidFill>
          <a:ln/>
        </p:spPr>
      </p:sp>
      <p:sp>
        <p:nvSpPr>
          <p:cNvPr id="8" name="Shape 5"/>
          <p:cNvSpPr/>
          <p:nvPr/>
        </p:nvSpPr>
        <p:spPr>
          <a:xfrm>
            <a:off x="1005840" y="1755648"/>
            <a:ext cx="384048" cy="384048"/>
          </a:xfrm>
          <a:prstGeom prst="ellipse">
            <a:avLst/>
          </a:prstGeom>
          <a:solidFill>
            <a:srgbClr val="007BCB"/>
          </a:solidFill>
          <a:ln/>
        </p:spPr>
      </p:sp>
      <p:sp>
        <p:nvSpPr>
          <p:cNvPr id="9" name="Text 6"/>
          <p:cNvSpPr/>
          <p:nvPr/>
        </p:nvSpPr>
        <p:spPr>
          <a:xfrm>
            <a:off x="1005840"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0" name="Text 7"/>
          <p:cNvSpPr/>
          <p:nvPr/>
        </p:nvSpPr>
        <p:spPr>
          <a:xfrm>
            <a:off x="1005840"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Productize</a:t>
            </a:r>
            <a:endParaRPr lang="en-US" sz="1550" dirty="0"/>
          </a:p>
        </p:txBody>
      </p:sp>
      <p:sp>
        <p:nvSpPr>
          <p:cNvPr id="11" name="Text 8"/>
          <p:cNvSpPr/>
          <p:nvPr/>
        </p:nvSpPr>
        <p:spPr>
          <a:xfrm>
            <a:off x="1005840"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Convert mission unique heritage into the standard SABER catalog with published interfaces, catalog pricing, and lead times measured in weeks.</a:t>
            </a:r>
            <a:endParaRPr lang="en-US" sz="1100" dirty="0"/>
          </a:p>
        </p:txBody>
      </p:sp>
      <p:sp>
        <p:nvSpPr>
          <p:cNvPr id="12" name="Shape 9"/>
          <p:cNvSpPr/>
          <p:nvPr/>
        </p:nvSpPr>
        <p:spPr>
          <a:xfrm>
            <a:off x="3621024" y="1554480"/>
            <a:ext cx="2651760" cy="3246120"/>
          </a:xfrm>
          <a:prstGeom prst="roundRect">
            <a:avLst>
              <a:gd name="adj" fmla="val 1724"/>
            </a:avLst>
          </a:prstGeom>
          <a:solidFill>
            <a:srgbClr val="F3F7FA"/>
          </a:solidFill>
          <a:ln/>
        </p:spPr>
      </p:sp>
      <p:sp>
        <p:nvSpPr>
          <p:cNvPr id="13" name="Shape 10"/>
          <p:cNvSpPr/>
          <p:nvPr/>
        </p:nvSpPr>
        <p:spPr>
          <a:xfrm>
            <a:off x="3803904" y="1755648"/>
            <a:ext cx="384048" cy="384048"/>
          </a:xfrm>
          <a:prstGeom prst="ellipse">
            <a:avLst/>
          </a:prstGeom>
          <a:solidFill>
            <a:srgbClr val="007BCB"/>
          </a:solidFill>
          <a:ln/>
        </p:spPr>
      </p:sp>
      <p:sp>
        <p:nvSpPr>
          <p:cNvPr id="14" name="Text 11"/>
          <p:cNvSpPr/>
          <p:nvPr/>
        </p:nvSpPr>
        <p:spPr>
          <a:xfrm>
            <a:off x="3803904"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5" name="Text 12"/>
          <p:cNvSpPr/>
          <p:nvPr/>
        </p:nvSpPr>
        <p:spPr>
          <a:xfrm>
            <a:off x="3803904"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Scale production</a:t>
            </a:r>
            <a:endParaRPr lang="en-US" sz="1550" dirty="0"/>
          </a:p>
        </p:txBody>
      </p:sp>
      <p:sp>
        <p:nvSpPr>
          <p:cNvPr id="16" name="Text 13"/>
          <p:cNvSpPr/>
          <p:nvPr/>
        </p:nvSpPr>
        <p:spPr>
          <a:xfrm>
            <a:off x="3803904"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Expand Berkeley capacity and the in house boom forming line to serve constellation class order volumes without sole source risk.</a:t>
            </a:r>
            <a:endParaRPr lang="en-US" sz="1100" dirty="0"/>
          </a:p>
        </p:txBody>
      </p:sp>
      <p:sp>
        <p:nvSpPr>
          <p:cNvPr id="17" name="Shape 14"/>
          <p:cNvSpPr/>
          <p:nvPr/>
        </p:nvSpPr>
        <p:spPr>
          <a:xfrm>
            <a:off x="6419088" y="1554480"/>
            <a:ext cx="2651760" cy="3246120"/>
          </a:xfrm>
          <a:prstGeom prst="roundRect">
            <a:avLst>
              <a:gd name="adj" fmla="val 1724"/>
            </a:avLst>
          </a:prstGeom>
          <a:solidFill>
            <a:srgbClr val="F3F7FA"/>
          </a:solidFill>
          <a:ln/>
        </p:spPr>
      </p:sp>
      <p:sp>
        <p:nvSpPr>
          <p:cNvPr id="18" name="Shape 15"/>
          <p:cNvSpPr/>
          <p:nvPr/>
        </p:nvSpPr>
        <p:spPr>
          <a:xfrm>
            <a:off x="6601968" y="1755648"/>
            <a:ext cx="384048" cy="384048"/>
          </a:xfrm>
          <a:prstGeom prst="ellipse">
            <a:avLst/>
          </a:prstGeom>
          <a:solidFill>
            <a:srgbClr val="007BCB"/>
          </a:solidFill>
          <a:ln/>
        </p:spPr>
      </p:sp>
      <p:sp>
        <p:nvSpPr>
          <p:cNvPr id="19" name="Text 16"/>
          <p:cNvSpPr/>
          <p:nvPr/>
        </p:nvSpPr>
        <p:spPr>
          <a:xfrm>
            <a:off x="6601968"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3</a:t>
            </a:r>
            <a:endParaRPr lang="en-US" sz="1500" dirty="0"/>
          </a:p>
        </p:txBody>
      </p:sp>
      <p:sp>
        <p:nvSpPr>
          <p:cNvPr id="20" name="Text 17"/>
          <p:cNvSpPr/>
          <p:nvPr/>
        </p:nvSpPr>
        <p:spPr>
          <a:xfrm>
            <a:off x="6601968"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Expand markets</a:t>
            </a:r>
            <a:endParaRPr lang="en-US" sz="1550" dirty="0"/>
          </a:p>
        </p:txBody>
      </p:sp>
      <p:sp>
        <p:nvSpPr>
          <p:cNvPr id="21" name="Text 18"/>
          <p:cNvSpPr/>
          <p:nvPr/>
        </p:nvSpPr>
        <p:spPr>
          <a:xfrm>
            <a:off x="6601968"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Grow beyond civil science into US defense and commercial constellation primes, and serve allied international customers in Europe, Japan, Canada, and Australia under US export licenses.</a:t>
            </a:r>
            <a:endParaRPr lang="en-US" sz="1100" dirty="0"/>
          </a:p>
        </p:txBody>
      </p:sp>
      <p:pic>
        <p:nvPicPr>
          <p:cNvPr id="22" name="Image 1" descr="assets/s12_prod.jpg">    </p:cNvPr>
          <p:cNvPicPr>
            <a:picLocks noChangeAspect="1"/>
          </p:cNvPicPr>
          <p:nvPr/>
        </p:nvPicPr>
        <p:blipFill>
          <a:blip r:embed="rId2"/>
          <a:stretch>
            <a:fillRect/>
          </a:stretch>
        </p:blipFill>
        <p:spPr>
          <a:xfrm>
            <a:off x="9189720" y="1554480"/>
            <a:ext cx="2176272" cy="3246120"/>
          </a:xfrm>
          <a:prstGeom prst="rect">
            <a:avLst/>
          </a:prstGeom>
        </p:spPr>
      </p:pic>
      <p:sp>
        <p:nvSpPr>
          <p:cNvPr id="23" name="Shape 19"/>
          <p:cNvSpPr/>
          <p:nvPr/>
        </p:nvSpPr>
        <p:spPr>
          <a:xfrm>
            <a:off x="9189720" y="1554480"/>
            <a:ext cx="2176272" cy="3246120"/>
          </a:xfrm>
          <a:prstGeom prst="rect">
            <a:avLst/>
          </a:prstGeom>
          <a:ln w="12700">
            <a:solidFill>
              <a:srgbClr val="C6D2DA"/>
            </a:solidFill>
            <a:prstDash val="solid"/>
          </a:ln>
        </p:spPr>
      </p:sp>
      <p:sp>
        <p:nvSpPr>
          <p:cNvPr id="24" name="Shape 20"/>
          <p:cNvSpPr/>
          <p:nvPr/>
        </p:nvSpPr>
        <p:spPr>
          <a:xfrm>
            <a:off x="822960" y="5029200"/>
            <a:ext cx="10543032" cy="1234440"/>
          </a:xfrm>
          <a:prstGeom prst="roundRect">
            <a:avLst>
              <a:gd name="adj" fmla="val 3704"/>
            </a:avLst>
          </a:prstGeom>
          <a:solidFill>
            <a:srgbClr val="EDF3F8"/>
          </a:solidFill>
          <a:ln w="9525">
            <a:solidFill>
              <a:srgbClr val="C6D2DA"/>
            </a:solidFill>
            <a:prstDash val="solid"/>
          </a:ln>
        </p:spPr>
      </p:sp>
      <p:sp>
        <p:nvSpPr>
          <p:cNvPr id="25" name="Text 21"/>
          <p:cNvSpPr/>
          <p:nvPr/>
        </p:nvSpPr>
        <p:spPr>
          <a:xfrm>
            <a:off x="1005840" y="5138928"/>
            <a:ext cx="320040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Export compliance</a:t>
            </a:r>
            <a:endParaRPr lang="en-US" sz="1250" dirty="0"/>
          </a:p>
        </p:txBody>
      </p:sp>
      <p:sp>
        <p:nvSpPr>
          <p:cNvPr id="26" name="Text 22"/>
          <p:cNvSpPr/>
          <p:nvPr/>
        </p:nvSpPr>
        <p:spPr>
          <a:xfrm>
            <a:off x="1005840" y="5413248"/>
            <a:ext cx="10149840" cy="77724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Heliospace hardware and technical data are subject to US export controls under ITAR and the EAR. All international business is pursued only under required US Government authorizations, supported by an internal export compliance program. Markets subject to US arms embargoes, including China, are outside the company's addressable strategy.</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FINANCIAL OUTLOOK</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Illustrative Five Year Revenue Scenario</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15</a:t>
            </a:r>
            <a:endParaRPr lang="en-US" sz="850" dirty="0"/>
          </a:p>
        </p:txBody>
      </p:sp>
      <p:sp>
        <p:nvSpPr>
          <p:cNvPr id="7" name="Text 4"/>
          <p:cNvSpPr/>
          <p:nvPr/>
        </p:nvSpPr>
        <p:spPr>
          <a:xfrm>
            <a:off x="822960" y="1463040"/>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Anchors</a:t>
            </a:r>
            <a:endParaRPr lang="en-US" sz="1350" dirty="0"/>
          </a:p>
        </p:txBody>
      </p:sp>
      <p:sp>
        <p:nvSpPr>
          <p:cNvPr id="8" name="Text 5"/>
          <p:cNvSpPr/>
          <p:nvPr/>
        </p:nvSpPr>
        <p:spPr>
          <a:xfrm>
            <a:off x="822960" y="1783080"/>
            <a:ext cx="4892040" cy="114300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$11.8M REASON contract delivered, 2017 to 2024</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$1.5M+ in ongoing CLPS lunar contracts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Growing SABER catalog quote pipeline</a:t>
            </a:r>
            <a:endParaRPr lang="en-US" sz="1150" dirty="0"/>
          </a:p>
        </p:txBody>
      </p:sp>
      <p:sp>
        <p:nvSpPr>
          <p:cNvPr id="9" name="Text 6"/>
          <p:cNvSpPr/>
          <p:nvPr/>
        </p:nvSpPr>
        <p:spPr>
          <a:xfrm>
            <a:off x="822960" y="3063240"/>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Scenario drivers</a:t>
            </a:r>
            <a:endParaRPr lang="en-US" sz="1350" dirty="0"/>
          </a:p>
        </p:txBody>
      </p:sp>
      <p:sp>
        <p:nvSpPr>
          <p:cNvPr id="10" name="Text 7"/>
          <p:cNvSpPr/>
          <p:nvPr/>
        </p:nvSpPr>
        <p:spPr>
          <a:xfrm>
            <a:off x="822960" y="3383280"/>
            <a:ext cx="4892040" cy="146304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Catalog product sales at higher volume and margin than one off engineering programs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Recurring lunar payload demand under NASA CLPS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Existing facility capacity supports the ramp with limited capital expenditure</a:t>
            </a:r>
            <a:endParaRPr lang="en-US" sz="1150" dirty="0"/>
          </a:p>
        </p:txBody>
      </p:sp>
      <p:sp>
        <p:nvSpPr>
          <p:cNvPr id="11" name="Shape 8"/>
          <p:cNvSpPr/>
          <p:nvPr/>
        </p:nvSpPr>
        <p:spPr>
          <a:xfrm>
            <a:off x="822960" y="5074920"/>
            <a:ext cx="4892040" cy="1188720"/>
          </a:xfrm>
          <a:prstGeom prst="roundRect">
            <a:avLst>
              <a:gd name="adj" fmla="val 3846"/>
            </a:avLst>
          </a:prstGeom>
          <a:solidFill>
            <a:srgbClr val="EDF3F8"/>
          </a:solidFill>
          <a:ln w="9525">
            <a:solidFill>
              <a:srgbClr val="C6D2DA"/>
            </a:solidFill>
            <a:prstDash val="solid"/>
          </a:ln>
        </p:spPr>
      </p:sp>
      <p:sp>
        <p:nvSpPr>
          <p:cNvPr id="12" name="Text 9"/>
          <p:cNvSpPr/>
          <p:nvPr/>
        </p:nvSpPr>
        <p:spPr>
          <a:xfrm>
            <a:off x="987552" y="5212080"/>
            <a:ext cx="4572000" cy="960120"/>
          </a:xfrm>
          <a:prstGeom prst="rect">
            <a:avLst/>
          </a:prstGeom>
          <a:noFill/>
          <a:ln/>
        </p:spPr>
        <p:txBody>
          <a:bodyPr wrap="square" lIns="0" tIns="0" rIns="0" bIns="0" rtlCol="0" anchor="t"/>
          <a:lstStyle/>
          <a:p>
            <a:pPr indent="0" marL="0">
              <a:buNone/>
            </a:pPr>
            <a:r>
              <a:rPr lang="en-US" sz="1050" i="1" dirty="0">
                <a:solidFill>
                  <a:srgbClr val="5C6B76"/>
                </a:solidFill>
                <a:latin typeface="Garamond" pitchFamily="34" charset="0"/>
                <a:ea typeface="Garamond" pitchFamily="34" charset="-122"/>
                <a:cs typeface="Garamond" pitchFamily="34" charset="-120"/>
              </a:rPr>
              <a:t>The chart presents an illustrative planning scenario for discussion. It is not guidance, and it should be replaced with the management financial plan before any investor distribution.</a:t>
            </a:r>
            <a:endParaRPr lang="en-US" sz="1050" dirty="0"/>
          </a:p>
        </p:txBody>
      </p:sp>
      <p:sp>
        <p:nvSpPr>
          <p:cNvPr id="13" name="Text 10"/>
          <p:cNvSpPr/>
          <p:nvPr/>
        </p:nvSpPr>
        <p:spPr>
          <a:xfrm>
            <a:off x="6172200" y="1463040"/>
            <a:ext cx="5212080" cy="274320"/>
          </a:xfrm>
          <a:prstGeom prst="rect">
            <a:avLst/>
          </a:prstGeom>
          <a:noFill/>
          <a:ln/>
        </p:spPr>
        <p:txBody>
          <a:bodyPr wrap="square" lIns="0" tIns="0" rIns="0" bIns="0" rtlCol="0" anchor="ctr"/>
          <a:lstStyle/>
          <a:p>
            <a:pPr indent="0" marL="0">
              <a:buNone/>
            </a:pPr>
            <a:r>
              <a:rPr lang="en-US" sz="1300" b="1" dirty="0">
                <a:solidFill>
                  <a:srgbClr val="10222F"/>
                </a:solidFill>
                <a:latin typeface="Garamond" pitchFamily="34" charset="0"/>
                <a:ea typeface="Garamond" pitchFamily="34" charset="-122"/>
                <a:cs typeface="Garamond" pitchFamily="34" charset="-120"/>
              </a:rPr>
              <a:t>Revenue scenario, USD millions</a:t>
            </a:r>
            <a:endParaRPr lang="en-US" sz="1300" dirty="0"/>
          </a:p>
        </p:txBody>
      </p:sp>
      <p:graphicFrame>
        <p:nvGraphicFramePr>
          <p:cNvPr id="14" name="Chart 0" descr=""/>
          <p:cNvGraphicFramePr/>
          <p:nvPr/>
        </p:nvGraphicFramePr>
        <p:xfrm>
          <a:off x="6172200" y="1828800"/>
          <a:ext cx="5212080" cy="4114800"/>
        </p:xfrm>
        <a:graphic xmlns:a="http://schemas.openxmlformats.org/drawingml/2006/main">
          <a:graphicData uri="http://schemas.openxmlformats.org/drawingml/2006/chart">
            <c:chart xmlns:c="http://schemas.openxmlformats.org/drawingml/2006/chart" r:id="rId2"/>
          </a:graphicData>
        </a:graphic>
      </p:graphicFrame>
      <p:sp>
        <p:nvSpPr>
          <p:cNvPr id="15" name="Text 11"/>
          <p:cNvSpPr/>
          <p:nvPr/>
        </p:nvSpPr>
        <p:spPr>
          <a:xfrm>
            <a:off x="6172200" y="5989320"/>
            <a:ext cx="5120640" cy="256032"/>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Illustrative only; not guidance.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assets/clos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731520"/>
            <a:ext cx="2377440" cy="665683"/>
          </a:xfrm>
          <a:prstGeom prst="rect">
            <a:avLst/>
          </a:prstGeom>
        </p:spPr>
      </p:pic>
      <p:sp>
        <p:nvSpPr>
          <p:cNvPr id="4" name="Text 0"/>
          <p:cNvSpPr/>
          <p:nvPr/>
        </p:nvSpPr>
        <p:spPr>
          <a:xfrm>
            <a:off x="822960" y="233172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THANK YOU</a:t>
            </a:r>
            <a:endParaRPr lang="en-US" sz="1200" dirty="0"/>
          </a:p>
        </p:txBody>
      </p:sp>
      <p:sp>
        <p:nvSpPr>
          <p:cNvPr id="5" name="Text 1"/>
          <p:cNvSpPr/>
          <p:nvPr/>
        </p:nvSpPr>
        <p:spPr>
          <a:xfrm>
            <a:off x="822960" y="2651760"/>
            <a:ext cx="9144000" cy="685800"/>
          </a:xfrm>
          <a:prstGeom prst="rect">
            <a:avLst/>
          </a:prstGeom>
          <a:noFill/>
          <a:ln/>
        </p:spPr>
        <p:txBody>
          <a:bodyPr wrap="square" lIns="0" tIns="0" rIns="0" bIns="0" rtlCol="0" anchor="ctr"/>
          <a:lstStyle/>
          <a:p>
            <a:pPr indent="0" marL="0">
              <a:buNone/>
            </a:pPr>
            <a:r>
              <a:rPr lang="en-US" sz="3600" b="1" dirty="0">
                <a:solidFill>
                  <a:srgbClr val="FFFFFF"/>
                </a:solidFill>
                <a:latin typeface="Garamond" pitchFamily="34" charset="0"/>
                <a:ea typeface="Garamond" pitchFamily="34" charset="-122"/>
                <a:cs typeface="Garamond" pitchFamily="34" charset="-120"/>
              </a:rPr>
              <a:t>Questions and Discussion</a:t>
            </a:r>
            <a:endParaRPr lang="en-US" sz="3600" dirty="0"/>
          </a:p>
        </p:txBody>
      </p:sp>
      <p:sp>
        <p:nvSpPr>
          <p:cNvPr id="6" name="Shape 2"/>
          <p:cNvSpPr/>
          <p:nvPr/>
        </p:nvSpPr>
        <p:spPr>
          <a:xfrm>
            <a:off x="822960" y="3657600"/>
            <a:ext cx="5577840" cy="2286000"/>
          </a:xfrm>
          <a:prstGeom prst="roundRect">
            <a:avLst>
              <a:gd name="adj" fmla="val 2400"/>
            </a:avLst>
          </a:prstGeom>
          <a:solidFill>
            <a:srgbClr val="0E2233">
              <a:alpha val="82000"/>
            </a:srgbClr>
          </a:solidFill>
          <a:ln w="9525">
            <a:solidFill>
              <a:srgbClr val="3C5A72"/>
            </a:solidFill>
            <a:prstDash val="solid"/>
          </a:ln>
        </p:spPr>
      </p:sp>
      <p:sp>
        <p:nvSpPr>
          <p:cNvPr id="7" name="Text 3"/>
          <p:cNvSpPr/>
          <p:nvPr/>
        </p:nvSpPr>
        <p:spPr>
          <a:xfrm>
            <a:off x="1097280" y="3886200"/>
            <a:ext cx="5120640" cy="1874520"/>
          </a:xfrm>
          <a:prstGeom prst="rect">
            <a:avLst/>
          </a:prstGeom>
          <a:noFill/>
          <a:ln/>
        </p:spPr>
        <p:txBody>
          <a:bodyPr wrap="square" lIns="0" tIns="0" rIns="0" bIns="0" rtlCol="0" anchor="t"/>
          <a:lstStyle/>
          <a:p>
            <a:pPr indent="0" marL="0">
              <a:spcAft>
                <a:spcPts val="500"/>
              </a:spcAft>
              <a:buNone/>
            </a:pPr>
            <a:r>
              <a:rPr lang="en-US" sz="1700" b="1" dirty="0">
                <a:solidFill>
                  <a:srgbClr val="FFFFFF"/>
                </a:solidFill>
                <a:latin typeface="Garamond" pitchFamily="34" charset="0"/>
                <a:ea typeface="Garamond" pitchFamily="34" charset="-122"/>
                <a:cs typeface="Garamond" pitchFamily="34" charset="-120"/>
              </a:rPr>
              <a:t>Rocky Chen</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[Title], Heliospace Corporation</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[direct email]   |   [direct phone]</a:t>
            </a:r>
            <a:endParaRPr lang="en-US" sz="1700" dirty="0"/>
          </a:p>
          <a:p>
            <a:pPr indent="0" marL="0">
              <a:spcAft>
                <a:spcPts val="500"/>
              </a:spcAft>
              <a:buNone/>
            </a:pPr>
            <a:endParaRPr lang="en-US" sz="1700" dirty="0"/>
          </a:p>
          <a:p>
            <a:pPr indent="0" marL="0">
              <a:spcAft>
                <a:spcPts val="500"/>
              </a:spcAft>
              <a:buNone/>
            </a:pPr>
            <a:r>
              <a:rPr lang="en-US" sz="1100" dirty="0">
                <a:solidFill>
                  <a:srgbClr val="DCE8F1"/>
                </a:solidFill>
                <a:latin typeface="Garamond" pitchFamily="34" charset="0"/>
                <a:ea typeface="Garamond" pitchFamily="34" charset="-122"/>
                <a:cs typeface="Garamond" pitchFamily="34" charset="-120"/>
              </a:rPr>
              <a:t>info@helio.space   |   (510) 545-2666   |   www.helio.space</a:t>
            </a:r>
            <a:endParaRPr lang="en-US" sz="1700" dirty="0"/>
          </a:p>
          <a:p>
            <a:pPr indent="0" marL="0">
              <a:spcAft>
                <a:spcPts val="500"/>
              </a:spcAft>
              <a:buNone/>
            </a:pPr>
            <a:r>
              <a:rPr lang="en-US" sz="1100" dirty="0">
                <a:solidFill>
                  <a:srgbClr val="DCE8F1"/>
                </a:solidFill>
                <a:latin typeface="Garamond" pitchFamily="34" charset="0"/>
                <a:ea typeface="Garamond" pitchFamily="34" charset="-122"/>
                <a:cs typeface="Garamond" pitchFamily="34" charset="-120"/>
              </a:rPr>
              <a:t>2448 Sixth Street, Berkeley, CA 94710</a:t>
            </a:r>
            <a:endParaRPr lang="en-US" sz="1700" dirty="0"/>
          </a:p>
        </p:txBody>
      </p:sp>
      <p:sp>
        <p:nvSpPr>
          <p:cNvPr id="8" name="Text 4"/>
          <p:cNvSpPr/>
          <p:nvPr/>
        </p:nvSpPr>
        <p:spPr>
          <a:xfrm>
            <a:off x="9509760" y="6473952"/>
            <a:ext cx="1874520" cy="237744"/>
          </a:xfrm>
          <a:prstGeom prst="rect">
            <a:avLst/>
          </a:prstGeom>
          <a:noFill/>
          <a:ln/>
        </p:spPr>
        <p:txBody>
          <a:bodyPr wrap="square" lIns="0" tIns="0" rIns="0" bIns="0" rtlCol="0" anchor="ctr"/>
          <a:lstStyle/>
          <a:p>
            <a:pPr algn="r" indent="0" marL="0">
              <a:buNone/>
            </a:pPr>
            <a:r>
              <a:rPr lang="en-US" sz="900" dirty="0">
                <a:solidFill>
                  <a:srgbClr val="9DB2C0"/>
                </a:solidFill>
                <a:latin typeface="Garamond" pitchFamily="34" charset="0"/>
                <a:ea typeface="Garamond" pitchFamily="34" charset="-122"/>
                <a:cs typeface="Garamond" pitchFamily="34" charset="-120"/>
              </a:rPr>
              <a:t>Proprietary and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2026-08-07T08:46:16Z</dcterms:created>
  <dcterms:modified xsi:type="dcterms:W3CDTF">2026-08-07T08:46:16Z</dcterms:modified>
</cp:coreProperties>
</file>