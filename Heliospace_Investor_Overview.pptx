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media/image-1-1.jpg" ContentType="image/jpg"/>
  <Override PartName="/ppt/media/image-10-1.jpg" ContentType="image/jpg"/>
  <Override PartName="/ppt/media/image-10-2.jpg" ContentType="image/jpg"/>
  <Override PartName="/ppt/media/image-10-3.jpg" ContentType="image/jpg"/>
  <Override PartName="/ppt/media/image-10-4.jpg" ContentType="image/jpg"/>
  <Override PartName="/ppt/media/image-10-5.jpg" ContentType="image/jpg"/>
  <Override PartName="/ppt/media/image-10-6.jpg" ContentType="image/jpg"/>
  <Override PartName="/ppt/media/image-11-1.jpg" ContentType="image/jpg"/>
  <Override PartName="/ppt/media/image-12-1.jpg" ContentType="image/jpg"/>
  <Override PartName="/ppt/media/image-13-1.jpg" ContentType="image/jpg"/>
  <Override PartName="/ppt/media/image-13-2.jpg" ContentType="image/jpg"/>
  <Override PartName="/ppt/media/image-14-1.jpg" ContentType="image/jpg"/>
  <Override PartName="/ppt/media/image-14-2.jpg" ContentType="image/jpg"/>
  <Override PartName="/ppt/media/image-15-1.jpg" ContentType="image/jpg"/>
  <Override PartName="/ppt/media/image-16-1.jpg" ContentType="image/jpg"/>
  <Override PartName="/ppt/media/image-2-1.jpg" ContentType="image/jpg"/>
  <Override PartName="/ppt/media/image-2-2.jpg" ContentType="image/jpg"/>
  <Override PartName="/ppt/media/image-3-1.jpg" ContentType="image/jpg"/>
  <Override PartName="/ppt/media/image-3-2.jpg" ContentType="image/jpg"/>
  <Override PartName="/ppt/media/image-3-3.jpg" ContentType="image/jpg"/>
  <Override PartName="/ppt/media/image-3-4.jpg" ContentType="image/jpg"/>
  <Override PartName="/ppt/media/image-4-1.jpg" ContentType="image/jpg"/>
  <Override PartName="/ppt/media/image-4-2.jpg" ContentType="image/jpg"/>
  <Override PartName="/ppt/media/image-4-3.jpg" ContentType="image/jpg"/>
  <Override PartName="/ppt/media/image-4-4.jpg" ContentType="image/jpg"/>
  <Override PartName="/ppt/media/image-4-5.jpg" ContentType="image/jpg"/>
  <Override PartName="/ppt/media/image-4-6.jpg" ContentType="image/jpg"/>
  <Override PartName="/ppt/media/image-4-7.jpg" ContentType="image/jpg"/>
  <Override PartName="/ppt/media/image-5-1.jpg" ContentType="image/jpg"/>
  <Override PartName="/ppt/media/image-5-2.jpg" ContentType="image/jpg"/>
  <Override PartName="/ppt/media/image-5-3.jpg" ContentType="image/jpg"/>
  <Override PartName="/ppt/media/image-5-4.jpg" ContentType="image/jpg"/>
  <Override PartName="/ppt/media/image-6-1.jpg" ContentType="image/jpg"/>
  <Override PartName="/ppt/media/image-6-2.jpg" ContentType="image/jpg"/>
  <Override PartName="/ppt/media/image-6-3.jpg" ContentType="image/jpg"/>
  <Override PartName="/ppt/media/image-7-1.jpg" ContentType="image/jpg"/>
  <Override PartName="/ppt/media/image-7-2.jpg" ContentType="image/jpg"/>
  <Override PartName="/ppt/media/image-7-3.jpg" ContentType="image/jpg"/>
  <Override PartName="/ppt/media/image-8-1.jpg" ContentType="image/jpg"/>
  <Override PartName="/ppt/media/image-8-2.jpg" ContentType="image/jpg"/>
  <Override PartName="/ppt/media/image-9-1.jpg" ContentType="image/jpg"/>
  <Override PartName="/ppt/media/image-9-2.jpg" ContentType="image/jpg"/>
  <Override PartName="/ppt/media/image-9-3.jpg" ContentType="image/jpg"/>
  <Override PartName="/ppt/media/image-9-4.jpg" ContentType="image/jpg"/>
  <Override PartName="/ppt/media/image-9-5.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2" r:id="rId23"/>
    <p:sldId id="273" r:id="rId24"/>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7.xml"/><Relationship Id="rId17" Type="http://schemas.openxmlformats.org/officeDocument/2006/relationships/slide" Target="slides/slide18.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 Id="rId23" Type="http://schemas.openxmlformats.org/officeDocument/2006/relationships/slide" Target="slides/slide15.xml"/><Relationship Id="rId24" Type="http://schemas.openxmlformats.org/officeDocument/2006/relationships/slide" Target="slides/slide1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Space economy</c:v>
                </c:pt>
              </c:strCache>
            </c:strRef>
          </c:tx>
          <c:spPr>
            <a:solidFill>
              <a:srgbClr val="007BCB"/>
            </a:solidFill>
            <a:effectLst/>
          </c:spPr>
          <c:invertIfNegative val="0"/>
          <c:dLbls>
            <c:numFmt formatCode="&quot;$&quot;#,##0" sourceLinked="0"/>
            <c:txPr>
              <a:bodyPr/>
              <a:lstStyle/>
              <a:p>
                <a:pPr>
                  <a:defRPr b="0" i="0" strike="noStrike" sz="1200" u="none">
                    <a:solidFill>
                      <a:srgbClr val="10222F"/>
                    </a:solidFill>
                    <a:latin typeface="Garamond"/>
                  </a:defRPr>
                </a:pPr>
              </a:p>
            </c:txPr>
            <c:showLegendKey val="0"/>
            <c:showVal val="1"/>
            <c:showCatName val="0"/>
            <c:showSerName val="0"/>
            <c:showPercent val="0"/>
            <c:showBubbleSize val="0"/>
            <c:showLeaderLines val="0"/>
          </c:dLbls>
          <c:cat>
            <c:multiLvlStrRef>
              <c:f>Sheet1!$A$2:$A$4</c:f>
              <c:multiLvlStrCache>
                <c:ptCount val="3"/>
                <c:lvl>
                  <c:pt idx="0">
                    <c:v>2000</c:v>
                  </c:pt>
                  <c:pt idx="1">
                    <c:v>2023</c:v>
                  </c:pt>
                  <c:pt idx="2">
                    <c:v>2035E</c:v>
                  </c:pt>
                </c:lvl>
              </c:multiLvlStrCache>
            </c:multiLvlStrRef>
          </c:cat>
          <c:val>
            <c:numRef>
              <c:f>Sheet1!$B$2:$B$4</c:f>
              <c:numCache>
                <c:formatCode>General</c:formatCode>
                <c:ptCount val="3"/>
                <c:pt idx="0">
                  <c:v>130</c:v>
                </c:pt>
                <c:pt idx="1">
                  <c:v>630</c:v>
                </c:pt>
                <c:pt idx="2">
                  <c:v>1800</c:v>
                </c:pt>
              </c:numCache>
            </c:numRef>
          </c:val>
        </c:ser>
        <c:dLbls>
          <c:numFmt formatCode="&quot;$&quot;#,##0" sourceLinked="0"/>
          <c:txPr>
            <a:bodyPr/>
            <a:lstStyle/>
            <a:p>
              <a:pPr>
                <a:defRPr b="0" i="0" strike="noStrike" sz="1200" u="none">
                  <a:solidFill>
                    <a:srgbClr val="10222F"/>
                  </a:solidFill>
                  <a:latin typeface="Garamond"/>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50" b="0" i="0" u="none" strike="noStrike">
                <a:solidFill>
                  <a:srgbClr val="5C6B76"/>
                </a:solidFill>
                <a:latin typeface="Garamond"/>
              </a:defRPr>
            </a:pPr>
            <a:endParaRPr lang="en-US"/>
          </a:p>
        </c:txPr>
        <c:crossAx val="2094734552"/>
        <c:crosses val="autoZero"/>
        <c:auto val="1"/>
        <c:lblAlgn val="ctr"/>
        <c:noMultiLvlLbl val="1"/>
      </c:catAx>
      <c:valAx>
        <c:axId val="2094734552"/>
        <c:scaling>
          <c:orientation val="minMax"/>
          <c:max val="200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Revenue</c:v>
                </c:pt>
              </c:strCache>
            </c:strRef>
          </c:tx>
          <c:spPr>
            <a:solidFill>
              <a:srgbClr val="007BCB"/>
            </a:solidFill>
            <a:effectLst/>
          </c:spPr>
          <c:invertIfNegative val="0"/>
          <c:dLbls>
            <c:numFmt formatCode="&quot;$&quot;0&quot;M&quot;" sourceLinked="0"/>
            <c:txPr>
              <a:bodyPr/>
              <a:lstStyle/>
              <a:p>
                <a:pPr>
                  <a:defRPr b="0" i="0" strike="noStrike" sz="1150" u="none">
                    <a:solidFill>
                      <a:srgbClr val="10222F"/>
                    </a:solidFill>
                    <a:latin typeface="Garamond"/>
                  </a:defRPr>
                </a:pPr>
              </a:p>
            </c:txPr>
            <c:showLegendKey val="0"/>
            <c:showVal val="1"/>
            <c:showCatName val="0"/>
            <c:showSerName val="0"/>
            <c:showPercent val="0"/>
            <c:showBubbleSize val="0"/>
            <c:showLeaderLines val="0"/>
          </c:dLbls>
          <c:cat>
            <c:multiLvlStrRef>
              <c:f>Sheet1!$A$2:$A$6</c:f>
              <c:multiLvlStrCache>
                <c:ptCount val="5"/>
                <c:lvl>
                  <c:pt idx="0">
                    <c:v>FY26</c:v>
                  </c:pt>
                  <c:pt idx="1">
                    <c:v>FY27</c:v>
                  </c:pt>
                  <c:pt idx="2">
                    <c:v>FY28</c:v>
                  </c:pt>
                  <c:pt idx="3">
                    <c:v>FY29</c:v>
                  </c:pt>
                  <c:pt idx="4">
                    <c:v>FY30</c:v>
                  </c:pt>
                </c:lvl>
              </c:multiLvlStrCache>
            </c:multiLvlStrRef>
          </c:cat>
          <c:val>
            <c:numRef>
              <c:f>Sheet1!$B$2:$B$6</c:f>
              <c:numCache>
                <c:formatCode>General</c:formatCode>
                <c:ptCount val="5"/>
                <c:pt idx="0">
                  <c:v>9</c:v>
                </c:pt>
                <c:pt idx="1">
                  <c:v>14</c:v>
                </c:pt>
                <c:pt idx="2">
                  <c:v>22</c:v>
                </c:pt>
                <c:pt idx="3">
                  <c:v>32</c:v>
                </c:pt>
                <c:pt idx="4">
                  <c:v>45</c:v>
                </c:pt>
              </c:numCache>
            </c:numRef>
          </c:val>
        </c:ser>
        <c:dLbls>
          <c:numFmt formatCode="&quot;$&quot;0&quot;M&quot;" sourceLinked="0"/>
          <c:txPr>
            <a:bodyPr/>
            <a:lstStyle/>
            <a:p>
              <a:pPr>
                <a:defRPr b="0" i="0" strike="noStrike" sz="1150" u="none">
                  <a:solidFill>
                    <a:srgbClr val="10222F"/>
                  </a:solidFill>
                  <a:latin typeface="Garamond"/>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50" b="0" i="0" u="none" strike="noStrike">
                <a:solidFill>
                  <a:srgbClr val="5C6B76"/>
                </a:solidFill>
                <a:latin typeface="Garamond"/>
              </a:defRPr>
            </a:pPr>
            <a:endParaRPr lang="en-US"/>
          </a:p>
        </c:txPr>
        <c:crossAx val="2094734552"/>
        <c:crosses val="autoZero"/>
        <c:auto val="1"/>
        <c:lblAlgn val="ctr"/>
        <c:noMultiLvlLbl val="1"/>
      </c:catAx>
      <c:valAx>
        <c:axId val="2094734552"/>
        <c:scaling>
          <c:orientation val="minMax"/>
          <c:max val="5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jp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image" Target="../media/image-3-4.jp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image" Target="../media/image-4-3.jpg"/><Relationship Id="rId4" Type="http://schemas.openxmlformats.org/officeDocument/2006/relationships/image" Target="../media/image-4-4.jpg"/><Relationship Id="rId5" Type="http://schemas.openxmlformats.org/officeDocument/2006/relationships/image" Target="../media/image-4-5.jpg"/><Relationship Id="rId6" Type="http://schemas.openxmlformats.org/officeDocument/2006/relationships/image" Target="../media/image-4-6.jpg"/><Relationship Id="rId7" Type="http://schemas.openxmlformats.org/officeDocument/2006/relationships/image" Target="../media/image-4-7.jpg"/><Relationship Id="rId8" Type="http://schemas.openxmlformats.org/officeDocument/2006/relationships/slideLayout" Target="../slideLayouts/slideLayout1.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image" Target="../media/image-5-4.jp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jpg"/><Relationship Id="rId3" Type="http://schemas.openxmlformats.org/officeDocument/2006/relationships/image" Target="../media/image-6-3.jp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image" Target="../media/image-7-3.jp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image" Target="../media/image-9-5.jp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image" Target="../media/image-10-4.jpg"/><Relationship Id="rId5" Type="http://schemas.openxmlformats.org/officeDocument/2006/relationships/image" Target="../media/image-10-5.jpg"/><Relationship Id="rId6" Type="http://schemas.openxmlformats.org/officeDocument/2006/relationships/image" Target="../media/image-10-6.jp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chart" Target="../charts/chart1.xm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jp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jpg"/></Relationships>
</file>

<file path=ppt/slides/_rels/slide17.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chart" Target="../charts/chart2.xml"/><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assets/title_bg.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assets/logo_white.png">    </p:cNvPr>
          <p:cNvPicPr>
            <a:picLocks noChangeAspect="1"/>
          </p:cNvPicPr>
          <p:nvPr/>
        </p:nvPicPr>
        <p:blipFill>
          <a:blip r:embed="rId2"/>
          <a:stretch>
            <a:fillRect/>
          </a:stretch>
        </p:blipFill>
        <p:spPr>
          <a:xfrm>
            <a:off x="822960" y="685800"/>
            <a:ext cx="2514600" cy="704088"/>
          </a:xfrm>
          <a:prstGeom prst="rect">
            <a:avLst/>
          </a:prstGeom>
        </p:spPr>
      </p:pic>
      <p:sp>
        <p:nvSpPr>
          <p:cNvPr id="4" name="Text 0"/>
          <p:cNvSpPr/>
          <p:nvPr/>
        </p:nvSpPr>
        <p:spPr>
          <a:xfrm>
            <a:off x="822960" y="2606040"/>
            <a:ext cx="5486400" cy="292608"/>
          </a:xfrm>
          <a:prstGeom prst="rect">
            <a:avLst/>
          </a:prstGeom>
          <a:noFill/>
          <a:ln/>
        </p:spPr>
        <p:txBody>
          <a:bodyPr wrap="square" lIns="0" tIns="0" rIns="0" bIns="0" rtlCol="0" anchor="ctr"/>
          <a:lstStyle/>
          <a:p>
            <a:pPr indent="0" marL="0">
              <a:buNone/>
            </a:pPr>
            <a:r>
              <a:rPr lang="en-US" sz="1200" b="1" spc="350" kern="0" dirty="0">
                <a:solidFill>
                  <a:srgbClr val="6FBCE8"/>
                </a:solidFill>
                <a:latin typeface="Garamond" pitchFamily="34" charset="0"/>
                <a:ea typeface="Garamond" pitchFamily="34" charset="-122"/>
                <a:cs typeface="Garamond" pitchFamily="34" charset="-120"/>
              </a:rPr>
              <a:t>INVESTOR OVERVIEW</a:t>
            </a:r>
            <a:endParaRPr lang="en-US" sz="1200" dirty="0"/>
          </a:p>
        </p:txBody>
      </p:sp>
      <p:sp>
        <p:nvSpPr>
          <p:cNvPr id="5" name="Text 1"/>
          <p:cNvSpPr/>
          <p:nvPr/>
        </p:nvSpPr>
        <p:spPr>
          <a:xfrm>
            <a:off x="822960" y="2926080"/>
            <a:ext cx="10241280" cy="868680"/>
          </a:xfrm>
          <a:prstGeom prst="rect">
            <a:avLst/>
          </a:prstGeom>
          <a:noFill/>
          <a:ln/>
        </p:spPr>
        <p:txBody>
          <a:bodyPr wrap="square" lIns="0" tIns="0" rIns="0" bIns="0" rtlCol="0" anchor="ctr"/>
          <a:lstStyle/>
          <a:p>
            <a:pPr indent="0" marL="0">
              <a:buNone/>
            </a:pPr>
            <a:r>
              <a:rPr lang="en-US" sz="4600" b="1" dirty="0">
                <a:solidFill>
                  <a:srgbClr val="FFFFFF"/>
                </a:solidFill>
                <a:latin typeface="Garamond" pitchFamily="34" charset="0"/>
                <a:ea typeface="Garamond" pitchFamily="34" charset="-122"/>
                <a:cs typeface="Garamond" pitchFamily="34" charset="-120"/>
              </a:rPr>
              <a:t>Heliospace Corporation</a:t>
            </a:r>
            <a:endParaRPr lang="en-US" sz="4600" dirty="0"/>
          </a:p>
        </p:txBody>
      </p:sp>
      <p:sp>
        <p:nvSpPr>
          <p:cNvPr id="6" name="Text 2"/>
          <p:cNvSpPr/>
          <p:nvPr/>
        </p:nvSpPr>
        <p:spPr>
          <a:xfrm>
            <a:off x="822960" y="3886200"/>
            <a:ext cx="8138160" cy="777240"/>
          </a:xfrm>
          <a:prstGeom prst="rect">
            <a:avLst/>
          </a:prstGeom>
          <a:noFill/>
          <a:ln/>
        </p:spPr>
        <p:txBody>
          <a:bodyPr wrap="square" lIns="0" tIns="0" rIns="0" bIns="0" rtlCol="0" anchor="ctr"/>
          <a:lstStyle/>
          <a:p>
            <a:pPr indent="0" marL="0">
              <a:buNone/>
            </a:pPr>
            <a:r>
              <a:rPr lang="en-US" sz="1700" dirty="0">
                <a:solidFill>
                  <a:srgbClr val="DCE8F1"/>
                </a:solidFill>
                <a:latin typeface="Garamond" pitchFamily="34" charset="0"/>
                <a:ea typeface="Garamond" pitchFamily="34" charset="-122"/>
                <a:cs typeface="Garamond" pitchFamily="34" charset="-120"/>
              </a:rPr>
              <a:t>Flight proven deployable antennas, booms, and mechanisms for the expanding space economy</a:t>
            </a:r>
            <a:endParaRPr lang="en-US" sz="1700" dirty="0"/>
          </a:p>
        </p:txBody>
      </p:sp>
      <p:sp>
        <p:nvSpPr>
          <p:cNvPr id="7" name="Text 3"/>
          <p:cNvSpPr/>
          <p:nvPr/>
        </p:nvSpPr>
        <p:spPr>
          <a:xfrm>
            <a:off x="822960" y="4846320"/>
            <a:ext cx="6858000" cy="274320"/>
          </a:xfrm>
          <a:prstGeom prst="rect">
            <a:avLst/>
          </a:prstGeom>
          <a:noFill/>
          <a:ln/>
        </p:spPr>
        <p:txBody>
          <a:bodyPr wrap="square" lIns="0" tIns="0" rIns="0" bIns="0" rtlCol="0" anchor="ctr"/>
          <a:lstStyle/>
          <a:p>
            <a:pPr indent="0" marL="0">
              <a:buNone/>
            </a:pPr>
            <a:r>
              <a:rPr lang="en-US" sz="1100" spc="250" kern="0" dirty="0">
                <a:solidFill>
                  <a:srgbClr val="9FC5DE"/>
                </a:solidFill>
                <a:latin typeface="Garamond" pitchFamily="34" charset="0"/>
                <a:ea typeface="Garamond" pitchFamily="34" charset="-122"/>
                <a:cs typeface="Garamond" pitchFamily="34" charset="-120"/>
              </a:rPr>
              <a:t>NEW SPACE VISION   ×   REAL SPACE EXPERIENCE</a:t>
            </a:r>
            <a:endParaRPr lang="en-US" sz="1100" dirty="0"/>
          </a:p>
        </p:txBody>
      </p:sp>
      <p:sp>
        <p:nvSpPr>
          <p:cNvPr id="8" name="Text 4"/>
          <p:cNvSpPr/>
          <p:nvPr/>
        </p:nvSpPr>
        <p:spPr>
          <a:xfrm>
            <a:off x="822960" y="6172200"/>
            <a:ext cx="8229600" cy="274320"/>
          </a:xfrm>
          <a:prstGeom prst="rect">
            <a:avLst/>
          </a:prstGeom>
          <a:noFill/>
          <a:ln/>
        </p:spPr>
        <p:txBody>
          <a:bodyPr wrap="square" lIns="0" tIns="0" rIns="0" bIns="0" rtlCol="0" anchor="ctr"/>
          <a:lstStyle/>
          <a:p>
            <a:pPr indent="0" marL="0">
              <a:buNone/>
            </a:pPr>
            <a:r>
              <a:rPr lang="en-US" sz="1050" dirty="0">
                <a:solidFill>
                  <a:srgbClr val="B9C7D2"/>
                </a:solidFill>
                <a:latin typeface="Garamond" pitchFamily="34" charset="0"/>
                <a:ea typeface="Garamond" pitchFamily="34" charset="-122"/>
                <a:cs typeface="Garamond" pitchFamily="34" charset="-120"/>
              </a:rPr>
              <a:t>August 2026    |    Berkeley, California    |    Proprietary and Confidential</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COMPANY OVERVIEW</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Heliospace at a Glance</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2</a:t>
            </a:r>
            <a:endParaRPr lang="en-US" sz="850" dirty="0"/>
          </a:p>
        </p:txBody>
      </p:sp>
      <p:sp>
        <p:nvSpPr>
          <p:cNvPr id="7" name="Text 4"/>
          <p:cNvSpPr/>
          <p:nvPr/>
        </p:nvSpPr>
        <p:spPr>
          <a:xfrm>
            <a:off x="822960" y="1463040"/>
            <a:ext cx="5440680" cy="1325880"/>
          </a:xfrm>
          <a:prstGeom prst="rect">
            <a:avLst/>
          </a:prstGeom>
          <a:noFill/>
          <a:ln/>
        </p:spPr>
        <p:txBody>
          <a:bodyPr wrap="square" lIns="0" tIns="0" rIns="0" bIns="0" rtlCol="0" anchor="t"/>
          <a:lstStyle/>
          <a:p>
            <a:pPr indent="0" marL="0">
              <a:lnSpc>
                <a:spcPct val="108000"/>
              </a:lnSpc>
              <a:buNone/>
            </a:pPr>
            <a:r>
              <a:rPr lang="en-US" sz="1350" dirty="0">
                <a:solidFill>
                  <a:srgbClr val="1E2A33"/>
                </a:solidFill>
                <a:latin typeface="Garamond" pitchFamily="34" charset="0"/>
                <a:ea typeface="Garamond" pitchFamily="34" charset="-122"/>
                <a:cs typeface="Garamond" pitchFamily="34" charset="-120"/>
              </a:rPr>
              <a:t>Heliospace Corporation designs, develops, and delivers high reliability deployable mechanisms and space hardware for civil, commercial, and scientific missions. The team brings decades of experience building flight hardware for NASA and ESA programs, carrying designs from concept through qualification, delivery, and on orbit operations.</a:t>
            </a:r>
            <a:endParaRPr lang="en-US" sz="1350" dirty="0"/>
          </a:p>
        </p:txBody>
      </p:sp>
      <p:sp>
        <p:nvSpPr>
          <p:cNvPr id="8" name="Text 5"/>
          <p:cNvSpPr/>
          <p:nvPr/>
        </p:nvSpPr>
        <p:spPr>
          <a:xfrm>
            <a:off x="822960" y="2880360"/>
            <a:ext cx="5440680" cy="1097280"/>
          </a:xfrm>
          <a:prstGeom prst="rect">
            <a:avLst/>
          </a:prstGeom>
          <a:noFill/>
          <a:ln/>
        </p:spPr>
        <p:txBody>
          <a:bodyPr wrap="square" lIns="0" tIns="0" rIns="0" bIns="0" rtlCol="0" anchor="t"/>
          <a:lstStyle/>
          <a:p>
            <a:pPr indent="0" marL="0">
              <a:lnSpc>
                <a:spcPct val="108000"/>
              </a:lnSpc>
              <a:buNone/>
            </a:pPr>
            <a:r>
              <a:rPr lang="en-US" sz="1350" dirty="0">
                <a:solidFill>
                  <a:srgbClr val="1E2A33"/>
                </a:solidFill>
                <a:latin typeface="Garamond" pitchFamily="34" charset="0"/>
                <a:ea typeface="Garamond" pitchFamily="34" charset="-122"/>
                <a:cs typeface="Garamond" pitchFamily="34" charset="-120"/>
              </a:rPr>
              <a:t>The company's SABER deployable boom technology provides a low mass, compact solution for spaceborne antennas, sensors, and instrument booms, with a record of hundreds of successful operational deployments on some of the most demanding missions ever flown.</a:t>
            </a:r>
            <a:endParaRPr lang="en-US" sz="1350" dirty="0"/>
          </a:p>
        </p:txBody>
      </p:sp>
      <p:sp>
        <p:nvSpPr>
          <p:cNvPr id="9" name="Text 6"/>
          <p:cNvSpPr/>
          <p:nvPr/>
        </p:nvSpPr>
        <p:spPr>
          <a:xfrm>
            <a:off x="822960" y="4160520"/>
            <a:ext cx="2651760" cy="457200"/>
          </a:xfrm>
          <a:prstGeom prst="rect">
            <a:avLst/>
          </a:prstGeom>
          <a:noFill/>
          <a:ln/>
        </p:spPr>
        <p:txBody>
          <a:bodyPr wrap="square" lIns="0" tIns="0" rIns="0" bIns="0" rtlCol="0" anchor="ctr"/>
          <a:lstStyle/>
          <a:p>
            <a:pPr indent="0" marL="0">
              <a:buNone/>
            </a:pPr>
            <a:r>
              <a:rPr lang="en-US" sz="2800" b="1" dirty="0">
                <a:solidFill>
                  <a:srgbClr val="007BCB"/>
                </a:solidFill>
                <a:latin typeface="Garamond" pitchFamily="34" charset="0"/>
                <a:ea typeface="Garamond" pitchFamily="34" charset="-122"/>
                <a:cs typeface="Garamond" pitchFamily="34" charset="-120"/>
              </a:rPr>
              <a:t>60+</a:t>
            </a:r>
            <a:endParaRPr lang="en-US" sz="2800" dirty="0"/>
          </a:p>
        </p:txBody>
      </p:sp>
      <p:sp>
        <p:nvSpPr>
          <p:cNvPr id="10" name="Text 7"/>
          <p:cNvSpPr/>
          <p:nvPr/>
        </p:nvSpPr>
        <p:spPr>
          <a:xfrm>
            <a:off x="822960" y="4617720"/>
            <a:ext cx="2560320" cy="502920"/>
          </a:xfrm>
          <a:prstGeom prst="rect">
            <a:avLst/>
          </a:prstGeom>
          <a:noFill/>
          <a:ln/>
        </p:spPr>
        <p:txBody>
          <a:bodyPr wrap="square" lIns="0" tIns="0" rIns="0" bIns="0" rtlCol="0" anchor="t"/>
          <a:lstStyle/>
          <a:p>
            <a:pPr indent="0" marL="0">
              <a:buNone/>
            </a:pPr>
            <a:r>
              <a:rPr lang="en-US" sz="1050" dirty="0">
                <a:solidFill>
                  <a:srgbClr val="5C6B76"/>
                </a:solidFill>
                <a:latin typeface="Garamond" pitchFamily="34" charset="0"/>
                <a:ea typeface="Garamond" pitchFamily="34" charset="-122"/>
                <a:cs typeface="Garamond" pitchFamily="34" charset="-120"/>
              </a:rPr>
              <a:t>engineer years of deployables experience</a:t>
            </a:r>
            <a:endParaRPr lang="en-US" sz="1050" dirty="0"/>
          </a:p>
        </p:txBody>
      </p:sp>
      <p:sp>
        <p:nvSpPr>
          <p:cNvPr id="11" name="Text 8"/>
          <p:cNvSpPr/>
          <p:nvPr/>
        </p:nvSpPr>
        <p:spPr>
          <a:xfrm>
            <a:off x="3611880" y="4160520"/>
            <a:ext cx="2651760" cy="457200"/>
          </a:xfrm>
          <a:prstGeom prst="rect">
            <a:avLst/>
          </a:prstGeom>
          <a:noFill/>
          <a:ln/>
        </p:spPr>
        <p:txBody>
          <a:bodyPr wrap="square" lIns="0" tIns="0" rIns="0" bIns="0" rtlCol="0" anchor="ctr"/>
          <a:lstStyle/>
          <a:p>
            <a:pPr indent="0" marL="0">
              <a:buNone/>
            </a:pPr>
            <a:r>
              <a:rPr lang="en-US" sz="2800" b="1" dirty="0">
                <a:solidFill>
                  <a:srgbClr val="007BCB"/>
                </a:solidFill>
                <a:latin typeface="Garamond" pitchFamily="34" charset="0"/>
                <a:ea typeface="Garamond" pitchFamily="34" charset="-122"/>
                <a:cs typeface="Garamond" pitchFamily="34" charset="-120"/>
              </a:rPr>
              <a:t>100s</a:t>
            </a:r>
            <a:endParaRPr lang="en-US" sz="2800" dirty="0"/>
          </a:p>
        </p:txBody>
      </p:sp>
      <p:sp>
        <p:nvSpPr>
          <p:cNvPr id="12" name="Text 9"/>
          <p:cNvSpPr/>
          <p:nvPr/>
        </p:nvSpPr>
        <p:spPr>
          <a:xfrm>
            <a:off x="3611880" y="4617720"/>
            <a:ext cx="2560320" cy="502920"/>
          </a:xfrm>
          <a:prstGeom prst="rect">
            <a:avLst/>
          </a:prstGeom>
          <a:noFill/>
          <a:ln/>
        </p:spPr>
        <p:txBody>
          <a:bodyPr wrap="square" lIns="0" tIns="0" rIns="0" bIns="0" rtlCol="0" anchor="t"/>
          <a:lstStyle/>
          <a:p>
            <a:pPr indent="0" marL="0">
              <a:buNone/>
            </a:pPr>
            <a:r>
              <a:rPr lang="en-US" sz="1050" dirty="0">
                <a:solidFill>
                  <a:srgbClr val="5C6B76"/>
                </a:solidFill>
                <a:latin typeface="Garamond" pitchFamily="34" charset="0"/>
                <a:ea typeface="Garamond" pitchFamily="34" charset="-122"/>
                <a:cs typeface="Garamond" pitchFamily="34" charset="-120"/>
              </a:rPr>
              <a:t>of successful operational deployments</a:t>
            </a:r>
            <a:endParaRPr lang="en-US" sz="1050" dirty="0"/>
          </a:p>
        </p:txBody>
      </p:sp>
      <p:sp>
        <p:nvSpPr>
          <p:cNvPr id="13" name="Text 10"/>
          <p:cNvSpPr/>
          <p:nvPr/>
        </p:nvSpPr>
        <p:spPr>
          <a:xfrm>
            <a:off x="822960" y="5212080"/>
            <a:ext cx="2651760" cy="457200"/>
          </a:xfrm>
          <a:prstGeom prst="rect">
            <a:avLst/>
          </a:prstGeom>
          <a:noFill/>
          <a:ln/>
        </p:spPr>
        <p:txBody>
          <a:bodyPr wrap="square" lIns="0" tIns="0" rIns="0" bIns="0" rtlCol="0" anchor="ctr"/>
          <a:lstStyle/>
          <a:p>
            <a:pPr indent="0" marL="0">
              <a:buNone/>
            </a:pPr>
            <a:r>
              <a:rPr lang="en-US" sz="2800" b="1" dirty="0">
                <a:solidFill>
                  <a:srgbClr val="007BCB"/>
                </a:solidFill>
                <a:latin typeface="Garamond" pitchFamily="34" charset="0"/>
                <a:ea typeface="Garamond" pitchFamily="34" charset="-122"/>
                <a:cs typeface="Garamond" pitchFamily="34" charset="-120"/>
              </a:rPr>
              <a:t>20,000</a:t>
            </a:r>
            <a:endParaRPr lang="en-US" sz="2800" dirty="0"/>
          </a:p>
        </p:txBody>
      </p:sp>
      <p:sp>
        <p:nvSpPr>
          <p:cNvPr id="14" name="Text 11"/>
          <p:cNvSpPr/>
          <p:nvPr/>
        </p:nvSpPr>
        <p:spPr>
          <a:xfrm>
            <a:off x="822960" y="5669280"/>
            <a:ext cx="2560320" cy="502920"/>
          </a:xfrm>
          <a:prstGeom prst="rect">
            <a:avLst/>
          </a:prstGeom>
          <a:noFill/>
          <a:ln/>
        </p:spPr>
        <p:txBody>
          <a:bodyPr wrap="square" lIns="0" tIns="0" rIns="0" bIns="0" rtlCol="0" anchor="t"/>
          <a:lstStyle/>
          <a:p>
            <a:pPr indent="0" marL="0">
              <a:buNone/>
            </a:pPr>
            <a:r>
              <a:rPr lang="en-US" sz="1050" dirty="0">
                <a:solidFill>
                  <a:srgbClr val="5C6B76"/>
                </a:solidFill>
                <a:latin typeface="Garamond" pitchFamily="34" charset="0"/>
                <a:ea typeface="Garamond" pitchFamily="34" charset="-122"/>
                <a:cs typeface="Garamond" pitchFamily="34" charset="-120"/>
              </a:rPr>
              <a:t>square feet of Berkeley production space</a:t>
            </a:r>
            <a:endParaRPr lang="en-US" sz="1050" dirty="0"/>
          </a:p>
        </p:txBody>
      </p:sp>
      <p:sp>
        <p:nvSpPr>
          <p:cNvPr id="15" name="Text 12"/>
          <p:cNvSpPr/>
          <p:nvPr/>
        </p:nvSpPr>
        <p:spPr>
          <a:xfrm>
            <a:off x="3611880" y="5212080"/>
            <a:ext cx="2651760" cy="457200"/>
          </a:xfrm>
          <a:prstGeom prst="rect">
            <a:avLst/>
          </a:prstGeom>
          <a:noFill/>
          <a:ln/>
        </p:spPr>
        <p:txBody>
          <a:bodyPr wrap="square" lIns="0" tIns="0" rIns="0" bIns="0" rtlCol="0" anchor="ctr"/>
          <a:lstStyle/>
          <a:p>
            <a:pPr indent="0" marL="0">
              <a:buNone/>
            </a:pPr>
            <a:r>
              <a:rPr lang="en-US" sz="2800" b="1" dirty="0">
                <a:solidFill>
                  <a:srgbClr val="007BCB"/>
                </a:solidFill>
                <a:latin typeface="Garamond" pitchFamily="34" charset="0"/>
                <a:ea typeface="Garamond" pitchFamily="34" charset="-122"/>
                <a:cs typeface="Garamond" pitchFamily="34" charset="-120"/>
              </a:rPr>
              <a:t>$13M+</a:t>
            </a:r>
            <a:endParaRPr lang="en-US" sz="2800" dirty="0"/>
          </a:p>
        </p:txBody>
      </p:sp>
      <p:sp>
        <p:nvSpPr>
          <p:cNvPr id="16" name="Text 13"/>
          <p:cNvSpPr/>
          <p:nvPr/>
        </p:nvSpPr>
        <p:spPr>
          <a:xfrm>
            <a:off x="3611880" y="5669280"/>
            <a:ext cx="2560320" cy="502920"/>
          </a:xfrm>
          <a:prstGeom prst="rect">
            <a:avLst/>
          </a:prstGeom>
          <a:noFill/>
          <a:ln/>
        </p:spPr>
        <p:txBody>
          <a:bodyPr wrap="square" lIns="0" tIns="0" rIns="0" bIns="0" rtlCol="0" anchor="t"/>
          <a:lstStyle/>
          <a:p>
            <a:pPr indent="0" marL="0">
              <a:buNone/>
            </a:pPr>
            <a:r>
              <a:rPr lang="en-US" sz="1050" dirty="0">
                <a:solidFill>
                  <a:srgbClr val="5C6B76"/>
                </a:solidFill>
                <a:latin typeface="Garamond" pitchFamily="34" charset="0"/>
                <a:ea typeface="Garamond" pitchFamily="34" charset="-122"/>
                <a:cs typeface="Garamond" pitchFamily="34" charset="-120"/>
              </a:rPr>
              <a:t>in delivered and ongoing mission contracts</a:t>
            </a:r>
            <a:endParaRPr lang="en-US" sz="1050" dirty="0"/>
          </a:p>
        </p:txBody>
      </p:sp>
      <p:pic>
        <p:nvPicPr>
          <p:cNvPr id="17" name="Image 1" descr="assets/s2_hero.jpg">    </p:cNvPr>
          <p:cNvPicPr>
            <a:picLocks noChangeAspect="1"/>
          </p:cNvPicPr>
          <p:nvPr/>
        </p:nvPicPr>
        <p:blipFill>
          <a:blip r:embed="rId2"/>
          <a:stretch>
            <a:fillRect/>
          </a:stretch>
        </p:blipFill>
        <p:spPr>
          <a:xfrm>
            <a:off x="6537960" y="1463040"/>
            <a:ext cx="4828032" cy="3602736"/>
          </a:xfrm>
          <a:prstGeom prst="rect">
            <a:avLst/>
          </a:prstGeom>
        </p:spPr>
      </p:pic>
      <p:sp>
        <p:nvSpPr>
          <p:cNvPr id="18" name="Shape 14"/>
          <p:cNvSpPr/>
          <p:nvPr/>
        </p:nvSpPr>
        <p:spPr>
          <a:xfrm>
            <a:off x="6537960" y="1463040"/>
            <a:ext cx="4828032" cy="3602736"/>
          </a:xfrm>
          <a:prstGeom prst="rect">
            <a:avLst/>
          </a:prstGeom>
          <a:ln w="12700">
            <a:solidFill>
              <a:srgbClr val="C6D2DA"/>
            </a:solidFill>
            <a:prstDash val="solid"/>
          </a:ln>
        </p:spPr>
      </p:sp>
      <p:sp>
        <p:nvSpPr>
          <p:cNvPr id="19" name="Text 15"/>
          <p:cNvSpPr/>
          <p:nvPr/>
        </p:nvSpPr>
        <p:spPr>
          <a:xfrm>
            <a:off x="6537960" y="5138928"/>
            <a:ext cx="4828032"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Europa Clipper with Heliospace built REASON radar antennas deployed. Image credit: NASA.</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CAPABILITIES</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What We Do</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3</a:t>
            </a:r>
            <a:endParaRPr lang="en-US" sz="850" dirty="0"/>
          </a:p>
        </p:txBody>
      </p:sp>
      <p:sp>
        <p:nvSpPr>
          <p:cNvPr id="7" name="Text 4"/>
          <p:cNvSpPr/>
          <p:nvPr/>
        </p:nvSpPr>
        <p:spPr>
          <a:xfrm>
            <a:off x="822960" y="1353312"/>
            <a:ext cx="10424160" cy="320040"/>
          </a:xfrm>
          <a:prstGeom prst="rect">
            <a:avLst/>
          </a:prstGeom>
          <a:noFill/>
          <a:ln/>
        </p:spPr>
        <p:txBody>
          <a:bodyPr wrap="square" lIns="0" tIns="0" rIns="0" bIns="0" rtlCol="0" anchor="ctr"/>
          <a:lstStyle/>
          <a:p>
            <a:pPr indent="0" marL="0">
              <a:buNone/>
            </a:pPr>
            <a:r>
              <a:rPr lang="en-US" sz="1300" dirty="0">
                <a:solidFill>
                  <a:srgbClr val="5C6B76"/>
                </a:solidFill>
                <a:latin typeface="Garamond" pitchFamily="34" charset="0"/>
                <a:ea typeface="Garamond" pitchFamily="34" charset="-122"/>
                <a:cs typeface="Garamond" pitchFamily="34" charset="-120"/>
              </a:rPr>
              <a:t>Three integrated lines of business supported by a single Berkeley facility and quality system, from initial design through on orbit operations.</a:t>
            </a:r>
            <a:endParaRPr lang="en-US" sz="1300" dirty="0"/>
          </a:p>
        </p:txBody>
      </p:sp>
      <p:sp>
        <p:nvSpPr>
          <p:cNvPr id="8" name="Shape 5"/>
          <p:cNvSpPr/>
          <p:nvPr/>
        </p:nvSpPr>
        <p:spPr>
          <a:xfrm>
            <a:off x="822960" y="1874520"/>
            <a:ext cx="3392424" cy="4160520"/>
          </a:xfrm>
          <a:prstGeom prst="roundRect">
            <a:avLst>
              <a:gd name="adj" fmla="val 1348"/>
            </a:avLst>
          </a:prstGeom>
          <a:solidFill>
            <a:srgbClr val="F3F7FA"/>
          </a:solidFill>
          <a:ln/>
        </p:spPr>
      </p:sp>
      <p:pic>
        <p:nvPicPr>
          <p:cNvPr id="9" name="Image 1" descr="assets/s3_antennas.jpg">    </p:cNvPr>
          <p:cNvPicPr>
            <a:picLocks noChangeAspect="1"/>
          </p:cNvPicPr>
          <p:nvPr/>
        </p:nvPicPr>
        <p:blipFill>
          <a:blip r:embed="rId2"/>
          <a:stretch>
            <a:fillRect/>
          </a:stretch>
        </p:blipFill>
        <p:spPr>
          <a:xfrm>
            <a:off x="932688" y="1984248"/>
            <a:ext cx="3172968" cy="1883664"/>
          </a:xfrm>
          <a:prstGeom prst="rect">
            <a:avLst/>
          </a:prstGeom>
        </p:spPr>
      </p:pic>
      <p:sp>
        <p:nvSpPr>
          <p:cNvPr id="10" name="Shape 6"/>
          <p:cNvSpPr/>
          <p:nvPr/>
        </p:nvSpPr>
        <p:spPr>
          <a:xfrm>
            <a:off x="932688" y="1984248"/>
            <a:ext cx="3172968" cy="1883664"/>
          </a:xfrm>
          <a:prstGeom prst="rect">
            <a:avLst/>
          </a:prstGeom>
          <a:ln w="12700">
            <a:solidFill>
              <a:srgbClr val="C6D2DA"/>
            </a:solidFill>
            <a:prstDash val="solid"/>
          </a:ln>
        </p:spPr>
      </p:sp>
      <p:sp>
        <p:nvSpPr>
          <p:cNvPr id="11" name="Text 7"/>
          <p:cNvSpPr/>
          <p:nvPr/>
        </p:nvSpPr>
        <p:spPr>
          <a:xfrm>
            <a:off x="987552" y="4023360"/>
            <a:ext cx="3063240" cy="685800"/>
          </a:xfrm>
          <a:prstGeom prst="rect">
            <a:avLst/>
          </a:prstGeom>
          <a:noFill/>
          <a:ln/>
        </p:spPr>
        <p:txBody>
          <a:bodyPr wrap="square" lIns="0" tIns="0" rIns="0" bIns="0" rtlCol="0" anchor="t"/>
          <a:lstStyle/>
          <a:p>
            <a:pPr indent="0" marL="0">
              <a:buNone/>
            </a:pPr>
            <a:r>
              <a:rPr lang="en-US" sz="1500" b="1" dirty="0">
                <a:solidFill>
                  <a:srgbClr val="10222F"/>
                </a:solidFill>
                <a:latin typeface="Garamond" pitchFamily="34" charset="0"/>
                <a:ea typeface="Garamond" pitchFamily="34" charset="-122"/>
                <a:cs typeface="Garamond" pitchFamily="34" charset="-120"/>
              </a:rPr>
              <a:t>Deployable Antennas and Booms</a:t>
            </a:r>
            <a:endParaRPr lang="en-US" sz="1500" dirty="0"/>
          </a:p>
        </p:txBody>
      </p:sp>
      <p:sp>
        <p:nvSpPr>
          <p:cNvPr id="12" name="Text 8"/>
          <p:cNvSpPr/>
          <p:nvPr/>
        </p:nvSpPr>
        <p:spPr>
          <a:xfrm>
            <a:off x="987552" y="4736592"/>
            <a:ext cx="3063240" cy="1188720"/>
          </a:xfrm>
          <a:prstGeom prst="rect">
            <a:avLst/>
          </a:prstGeom>
          <a:noFill/>
          <a:ln/>
        </p:spPr>
        <p:txBody>
          <a:bodyPr wrap="square" lIns="0" tIns="0" rIns="0" bIns="0" rtlCol="0" anchor="t"/>
          <a:lstStyle/>
          <a:p>
            <a:pPr indent="0" marL="0">
              <a:lnSpc>
                <a:spcPct val="105000"/>
              </a:lnSpc>
              <a:buNone/>
            </a:pPr>
            <a:r>
              <a:rPr lang="en-US" sz="1150" dirty="0">
                <a:solidFill>
                  <a:srgbClr val="1E2A33"/>
                </a:solidFill>
                <a:latin typeface="Garamond" pitchFamily="34" charset="0"/>
                <a:ea typeface="Garamond" pitchFamily="34" charset="-122"/>
                <a:cs typeface="Garamond" pitchFamily="34" charset="-120"/>
              </a:rPr>
              <a:t>SABER and Stacer based monopoles, dipoles, and custom geometries from 1 m to 17.6 m tip to tip, delivered fully qualified for flight.</a:t>
            </a:r>
            <a:endParaRPr lang="en-US" sz="1150" dirty="0"/>
          </a:p>
        </p:txBody>
      </p:sp>
      <p:sp>
        <p:nvSpPr>
          <p:cNvPr id="13" name="Shape 9"/>
          <p:cNvSpPr/>
          <p:nvPr/>
        </p:nvSpPr>
        <p:spPr>
          <a:xfrm>
            <a:off x="4398264" y="1874520"/>
            <a:ext cx="3392424" cy="4160520"/>
          </a:xfrm>
          <a:prstGeom prst="roundRect">
            <a:avLst>
              <a:gd name="adj" fmla="val 1348"/>
            </a:avLst>
          </a:prstGeom>
          <a:solidFill>
            <a:srgbClr val="F3F7FA"/>
          </a:solidFill>
          <a:ln/>
        </p:spPr>
      </p:sp>
      <p:pic>
        <p:nvPicPr>
          <p:cNvPr id="14" name="Image 2" descr="assets/s3_mech.jpg">    </p:cNvPr>
          <p:cNvPicPr>
            <a:picLocks noChangeAspect="1"/>
          </p:cNvPicPr>
          <p:nvPr/>
        </p:nvPicPr>
        <p:blipFill>
          <a:blip r:embed="rId3"/>
          <a:stretch>
            <a:fillRect/>
          </a:stretch>
        </p:blipFill>
        <p:spPr>
          <a:xfrm>
            <a:off x="4507992" y="1984248"/>
            <a:ext cx="3172968" cy="1883664"/>
          </a:xfrm>
          <a:prstGeom prst="rect">
            <a:avLst/>
          </a:prstGeom>
        </p:spPr>
      </p:pic>
      <p:sp>
        <p:nvSpPr>
          <p:cNvPr id="15" name="Shape 10"/>
          <p:cNvSpPr/>
          <p:nvPr/>
        </p:nvSpPr>
        <p:spPr>
          <a:xfrm>
            <a:off x="4507992" y="1984248"/>
            <a:ext cx="3172968" cy="1883664"/>
          </a:xfrm>
          <a:prstGeom prst="rect">
            <a:avLst/>
          </a:prstGeom>
          <a:ln w="12700">
            <a:solidFill>
              <a:srgbClr val="C6D2DA"/>
            </a:solidFill>
            <a:prstDash val="solid"/>
          </a:ln>
        </p:spPr>
      </p:sp>
      <p:sp>
        <p:nvSpPr>
          <p:cNvPr id="16" name="Text 11"/>
          <p:cNvSpPr/>
          <p:nvPr/>
        </p:nvSpPr>
        <p:spPr>
          <a:xfrm>
            <a:off x="4562856" y="4023360"/>
            <a:ext cx="3063240" cy="685800"/>
          </a:xfrm>
          <a:prstGeom prst="rect">
            <a:avLst/>
          </a:prstGeom>
          <a:noFill/>
          <a:ln/>
        </p:spPr>
        <p:txBody>
          <a:bodyPr wrap="square" lIns="0" tIns="0" rIns="0" bIns="0" rtlCol="0" anchor="t"/>
          <a:lstStyle/>
          <a:p>
            <a:pPr indent="0" marL="0">
              <a:buNone/>
            </a:pPr>
            <a:r>
              <a:rPr lang="en-US" sz="1500" b="1" dirty="0">
                <a:solidFill>
                  <a:srgbClr val="10222F"/>
                </a:solidFill>
                <a:latin typeface="Garamond" pitchFamily="34" charset="0"/>
                <a:ea typeface="Garamond" pitchFamily="34" charset="-122"/>
                <a:cs typeface="Garamond" pitchFamily="34" charset="-120"/>
              </a:rPr>
              <a:t>Sensors and Flight Mechanisms</a:t>
            </a:r>
            <a:endParaRPr lang="en-US" sz="1500" dirty="0"/>
          </a:p>
        </p:txBody>
      </p:sp>
      <p:sp>
        <p:nvSpPr>
          <p:cNvPr id="17" name="Text 12"/>
          <p:cNvSpPr/>
          <p:nvPr/>
        </p:nvSpPr>
        <p:spPr>
          <a:xfrm>
            <a:off x="4562856" y="4736592"/>
            <a:ext cx="3063240" cy="1188720"/>
          </a:xfrm>
          <a:prstGeom prst="rect">
            <a:avLst/>
          </a:prstGeom>
          <a:noFill/>
          <a:ln/>
        </p:spPr>
        <p:txBody>
          <a:bodyPr wrap="square" lIns="0" tIns="0" rIns="0" bIns="0" rtlCol="0" anchor="t"/>
          <a:lstStyle/>
          <a:p>
            <a:pPr indent="0" marL="0">
              <a:lnSpc>
                <a:spcPct val="105000"/>
              </a:lnSpc>
              <a:buNone/>
            </a:pPr>
            <a:r>
              <a:rPr lang="en-US" sz="1150" dirty="0">
                <a:solidFill>
                  <a:srgbClr val="1E2A33"/>
                </a:solidFill>
                <a:latin typeface="Garamond" pitchFamily="34" charset="0"/>
                <a:ea typeface="Garamond" pitchFamily="34" charset="-122"/>
                <a:cs typeface="Garamond" pitchFamily="34" charset="-120"/>
              </a:rPr>
              <a:t>Release mechanisms, lunar payload sensors, magnetometer masts, and precision mechanisms for landers, orbiters, and instruments.</a:t>
            </a:r>
            <a:endParaRPr lang="en-US" sz="1150" dirty="0"/>
          </a:p>
        </p:txBody>
      </p:sp>
      <p:sp>
        <p:nvSpPr>
          <p:cNvPr id="18" name="Shape 13"/>
          <p:cNvSpPr/>
          <p:nvPr/>
        </p:nvSpPr>
        <p:spPr>
          <a:xfrm>
            <a:off x="7973568" y="1874520"/>
            <a:ext cx="3392424" cy="4160520"/>
          </a:xfrm>
          <a:prstGeom prst="roundRect">
            <a:avLst>
              <a:gd name="adj" fmla="val 1348"/>
            </a:avLst>
          </a:prstGeom>
          <a:solidFill>
            <a:srgbClr val="F3F7FA"/>
          </a:solidFill>
          <a:ln/>
        </p:spPr>
      </p:sp>
      <p:pic>
        <p:nvPicPr>
          <p:cNvPr id="19" name="Image 3" descr="assets/s3_seit.jpg">    </p:cNvPr>
          <p:cNvPicPr>
            <a:picLocks noChangeAspect="1"/>
          </p:cNvPicPr>
          <p:nvPr/>
        </p:nvPicPr>
        <p:blipFill>
          <a:blip r:embed="rId4"/>
          <a:stretch>
            <a:fillRect/>
          </a:stretch>
        </p:blipFill>
        <p:spPr>
          <a:xfrm>
            <a:off x="8083296" y="1984248"/>
            <a:ext cx="3172968" cy="1883664"/>
          </a:xfrm>
          <a:prstGeom prst="rect">
            <a:avLst/>
          </a:prstGeom>
        </p:spPr>
      </p:pic>
      <p:sp>
        <p:nvSpPr>
          <p:cNvPr id="20" name="Shape 14"/>
          <p:cNvSpPr/>
          <p:nvPr/>
        </p:nvSpPr>
        <p:spPr>
          <a:xfrm>
            <a:off x="8083296" y="1984248"/>
            <a:ext cx="3172968" cy="1883664"/>
          </a:xfrm>
          <a:prstGeom prst="rect">
            <a:avLst/>
          </a:prstGeom>
          <a:ln w="12700">
            <a:solidFill>
              <a:srgbClr val="C6D2DA"/>
            </a:solidFill>
            <a:prstDash val="solid"/>
          </a:ln>
        </p:spPr>
      </p:sp>
      <p:sp>
        <p:nvSpPr>
          <p:cNvPr id="21" name="Text 15"/>
          <p:cNvSpPr/>
          <p:nvPr/>
        </p:nvSpPr>
        <p:spPr>
          <a:xfrm>
            <a:off x="8138160" y="4023360"/>
            <a:ext cx="3063240" cy="685800"/>
          </a:xfrm>
          <a:prstGeom prst="rect">
            <a:avLst/>
          </a:prstGeom>
          <a:noFill/>
          <a:ln/>
        </p:spPr>
        <p:txBody>
          <a:bodyPr wrap="square" lIns="0" tIns="0" rIns="0" bIns="0" rtlCol="0" anchor="t"/>
          <a:lstStyle/>
          <a:p>
            <a:pPr indent="0" marL="0">
              <a:buNone/>
            </a:pPr>
            <a:r>
              <a:rPr lang="en-US" sz="1500" b="1" dirty="0">
                <a:solidFill>
                  <a:srgbClr val="10222F"/>
                </a:solidFill>
                <a:latin typeface="Garamond" pitchFamily="34" charset="0"/>
                <a:ea typeface="Garamond" pitchFamily="34" charset="-122"/>
                <a:cs typeface="Garamond" pitchFamily="34" charset="-120"/>
              </a:rPr>
              <a:t>Systems Engineering, Integration, and Test</a:t>
            </a:r>
            <a:endParaRPr lang="en-US" sz="1500" dirty="0"/>
          </a:p>
        </p:txBody>
      </p:sp>
      <p:sp>
        <p:nvSpPr>
          <p:cNvPr id="22" name="Text 16"/>
          <p:cNvSpPr/>
          <p:nvPr/>
        </p:nvSpPr>
        <p:spPr>
          <a:xfrm>
            <a:off x="8138160" y="4736592"/>
            <a:ext cx="3063240" cy="1188720"/>
          </a:xfrm>
          <a:prstGeom prst="rect">
            <a:avLst/>
          </a:prstGeom>
          <a:noFill/>
          <a:ln/>
        </p:spPr>
        <p:txBody>
          <a:bodyPr wrap="square" lIns="0" tIns="0" rIns="0" bIns="0" rtlCol="0" anchor="t"/>
          <a:lstStyle/>
          <a:p>
            <a:pPr indent="0" marL="0">
              <a:lnSpc>
                <a:spcPct val="105000"/>
              </a:lnSpc>
              <a:buNone/>
            </a:pPr>
            <a:r>
              <a:rPr lang="en-US" sz="1150" dirty="0">
                <a:solidFill>
                  <a:srgbClr val="1E2A33"/>
                </a:solidFill>
                <a:latin typeface="Garamond" pitchFamily="34" charset="0"/>
                <a:ea typeface="Garamond" pitchFamily="34" charset="-122"/>
                <a:cs typeface="Garamond" pitchFamily="34" charset="-120"/>
              </a:rPr>
              <a:t>Design, analysis, assembly, and environmental test services for complex space systems, from JWST to next generation observatories.</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FLIGHT HERITAGE</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At Jupiter, the Sun, and the Moon</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4</a:t>
            </a:r>
            <a:endParaRPr lang="en-US" sz="850" dirty="0"/>
          </a:p>
        </p:txBody>
      </p:sp>
      <p:pic>
        <p:nvPicPr>
          <p:cNvPr id="7" name="Image 1" descr="assets/s4_europa.jpg">    </p:cNvPr>
          <p:cNvPicPr>
            <a:picLocks noChangeAspect="1"/>
          </p:cNvPicPr>
          <p:nvPr/>
        </p:nvPicPr>
        <p:blipFill>
          <a:blip r:embed="rId2"/>
          <a:stretch>
            <a:fillRect/>
          </a:stretch>
        </p:blipFill>
        <p:spPr>
          <a:xfrm>
            <a:off x="822960" y="1417320"/>
            <a:ext cx="3419856" cy="1764792"/>
          </a:xfrm>
          <a:prstGeom prst="rect">
            <a:avLst/>
          </a:prstGeom>
        </p:spPr>
      </p:pic>
      <p:sp>
        <p:nvSpPr>
          <p:cNvPr id="8" name="Shape 4"/>
          <p:cNvSpPr/>
          <p:nvPr/>
        </p:nvSpPr>
        <p:spPr>
          <a:xfrm>
            <a:off x="822960" y="1417320"/>
            <a:ext cx="3419856" cy="1764792"/>
          </a:xfrm>
          <a:prstGeom prst="rect">
            <a:avLst/>
          </a:prstGeom>
          <a:ln w="12700">
            <a:solidFill>
              <a:srgbClr val="C6D2DA"/>
            </a:solidFill>
            <a:prstDash val="solid"/>
          </a:ln>
        </p:spPr>
      </p:sp>
      <p:sp>
        <p:nvSpPr>
          <p:cNvPr id="9" name="Text 5"/>
          <p:cNvSpPr/>
          <p:nvPr/>
        </p:nvSpPr>
        <p:spPr>
          <a:xfrm>
            <a:off x="822960" y="3246120"/>
            <a:ext cx="3419856" cy="219456"/>
          </a:xfrm>
          <a:prstGeom prst="rect">
            <a:avLst/>
          </a:prstGeom>
          <a:noFill/>
          <a:ln/>
        </p:spPr>
        <p:txBody>
          <a:bodyPr wrap="square" lIns="0" tIns="0" rIns="0" bIns="0" rtlCol="0" anchor="ctr"/>
          <a:lstStyle/>
          <a:p>
            <a:pPr indent="0" marL="0">
              <a:buNone/>
            </a:pPr>
            <a:r>
              <a:rPr lang="en-US" sz="1150" b="1" dirty="0">
                <a:solidFill>
                  <a:srgbClr val="10222F"/>
                </a:solidFill>
                <a:latin typeface="Garamond" pitchFamily="34" charset="0"/>
                <a:ea typeface="Garamond" pitchFamily="34" charset="-122"/>
                <a:cs typeface="Garamond" pitchFamily="34" charset="-120"/>
              </a:rPr>
              <a:t>Europa Clipper, REASON (NASA/JPL)</a:t>
            </a:r>
            <a:endParaRPr lang="en-US" sz="1150" dirty="0"/>
          </a:p>
        </p:txBody>
      </p:sp>
      <p:sp>
        <p:nvSpPr>
          <p:cNvPr id="10" name="Text 6"/>
          <p:cNvSpPr/>
          <p:nvPr/>
        </p:nvSpPr>
        <p:spPr>
          <a:xfrm>
            <a:off x="822960" y="3474720"/>
            <a:ext cx="3419856" cy="411480"/>
          </a:xfrm>
          <a:prstGeom prst="rect">
            <a:avLst/>
          </a:prstGeom>
          <a:noFill/>
          <a:ln/>
        </p:spPr>
        <p:txBody>
          <a:bodyPr wrap="square" lIns="0" tIns="0" rIns="0" bIns="0" rtlCol="0" anchor="t"/>
          <a:lstStyle/>
          <a:p>
            <a:pPr indent="0" marL="0">
              <a:buNone/>
            </a:pPr>
            <a:r>
              <a:rPr lang="en-US" sz="950" dirty="0">
                <a:solidFill>
                  <a:srgbClr val="5C6B76"/>
                </a:solidFill>
                <a:latin typeface="Garamond" pitchFamily="34" charset="0"/>
                <a:ea typeface="Garamond" pitchFamily="34" charset="-122"/>
                <a:cs typeface="Garamond" pitchFamily="34" charset="-120"/>
              </a:rPr>
              <a:t>Two 17.6 m radar dipoles, deployed and operating en route to Europa.</a:t>
            </a:r>
            <a:endParaRPr lang="en-US" sz="950" dirty="0"/>
          </a:p>
        </p:txBody>
      </p:sp>
      <p:pic>
        <p:nvPicPr>
          <p:cNvPr id="11" name="Image 2" descr="assets/s4_solo.jpg">    </p:cNvPr>
          <p:cNvPicPr>
            <a:picLocks noChangeAspect="1"/>
          </p:cNvPicPr>
          <p:nvPr/>
        </p:nvPicPr>
        <p:blipFill>
          <a:blip r:embed="rId3"/>
          <a:stretch>
            <a:fillRect/>
          </a:stretch>
        </p:blipFill>
        <p:spPr>
          <a:xfrm>
            <a:off x="4370832" y="1417320"/>
            <a:ext cx="3419856" cy="1764792"/>
          </a:xfrm>
          <a:prstGeom prst="rect">
            <a:avLst/>
          </a:prstGeom>
        </p:spPr>
      </p:pic>
      <p:sp>
        <p:nvSpPr>
          <p:cNvPr id="12" name="Shape 7"/>
          <p:cNvSpPr/>
          <p:nvPr/>
        </p:nvSpPr>
        <p:spPr>
          <a:xfrm>
            <a:off x="4370832" y="1417320"/>
            <a:ext cx="3419856" cy="1764792"/>
          </a:xfrm>
          <a:prstGeom prst="rect">
            <a:avLst/>
          </a:prstGeom>
          <a:ln w="12700">
            <a:solidFill>
              <a:srgbClr val="C6D2DA"/>
            </a:solidFill>
            <a:prstDash val="solid"/>
          </a:ln>
        </p:spPr>
      </p:sp>
      <p:sp>
        <p:nvSpPr>
          <p:cNvPr id="13" name="Text 8"/>
          <p:cNvSpPr/>
          <p:nvPr/>
        </p:nvSpPr>
        <p:spPr>
          <a:xfrm>
            <a:off x="4370832" y="3246120"/>
            <a:ext cx="3419856" cy="219456"/>
          </a:xfrm>
          <a:prstGeom prst="rect">
            <a:avLst/>
          </a:prstGeom>
          <a:noFill/>
          <a:ln/>
        </p:spPr>
        <p:txBody>
          <a:bodyPr wrap="square" lIns="0" tIns="0" rIns="0" bIns="0" rtlCol="0" anchor="ctr"/>
          <a:lstStyle/>
          <a:p>
            <a:pPr indent="0" marL="0">
              <a:buNone/>
            </a:pPr>
            <a:r>
              <a:rPr lang="en-US" sz="1150" b="1" dirty="0">
                <a:solidFill>
                  <a:srgbClr val="10222F"/>
                </a:solidFill>
                <a:latin typeface="Garamond" pitchFamily="34" charset="0"/>
                <a:ea typeface="Garamond" pitchFamily="34" charset="-122"/>
                <a:cs typeface="Garamond" pitchFamily="34" charset="-120"/>
              </a:rPr>
              <a:t>Solar Orbiter, RPW (ESA)</a:t>
            </a:r>
            <a:endParaRPr lang="en-US" sz="1150" dirty="0"/>
          </a:p>
        </p:txBody>
      </p:sp>
      <p:sp>
        <p:nvSpPr>
          <p:cNvPr id="14" name="Text 9"/>
          <p:cNvSpPr/>
          <p:nvPr/>
        </p:nvSpPr>
        <p:spPr>
          <a:xfrm>
            <a:off x="4370832" y="3474720"/>
            <a:ext cx="3419856" cy="411480"/>
          </a:xfrm>
          <a:prstGeom prst="rect">
            <a:avLst/>
          </a:prstGeom>
          <a:noFill/>
          <a:ln/>
        </p:spPr>
        <p:txBody>
          <a:bodyPr wrap="square" lIns="0" tIns="0" rIns="0" bIns="0" rtlCol="0" anchor="t"/>
          <a:lstStyle/>
          <a:p>
            <a:pPr indent="0" marL="0">
              <a:buNone/>
            </a:pPr>
            <a:r>
              <a:rPr lang="en-US" sz="950" dirty="0">
                <a:solidFill>
                  <a:srgbClr val="5C6B76"/>
                </a:solidFill>
                <a:latin typeface="Garamond" pitchFamily="34" charset="0"/>
                <a:ea typeface="Garamond" pitchFamily="34" charset="-122"/>
                <a:cs typeface="Garamond" pitchFamily="34" charset="-120"/>
              </a:rPr>
              <a:t>Three 6.5 m antennas performing nominally near the Sun.</a:t>
            </a:r>
            <a:endParaRPr lang="en-US" sz="950" dirty="0"/>
          </a:p>
        </p:txBody>
      </p:sp>
      <p:pic>
        <p:nvPicPr>
          <p:cNvPr id="15" name="Image 3" descr="assets/s4_sunrise.jpg">    </p:cNvPr>
          <p:cNvPicPr>
            <a:picLocks noChangeAspect="1"/>
          </p:cNvPicPr>
          <p:nvPr/>
        </p:nvPicPr>
        <p:blipFill>
          <a:blip r:embed="rId4"/>
          <a:stretch>
            <a:fillRect/>
          </a:stretch>
        </p:blipFill>
        <p:spPr>
          <a:xfrm>
            <a:off x="7918704" y="1417320"/>
            <a:ext cx="3419856" cy="1764792"/>
          </a:xfrm>
          <a:prstGeom prst="rect">
            <a:avLst/>
          </a:prstGeom>
        </p:spPr>
      </p:pic>
      <p:sp>
        <p:nvSpPr>
          <p:cNvPr id="16" name="Shape 10"/>
          <p:cNvSpPr/>
          <p:nvPr/>
        </p:nvSpPr>
        <p:spPr>
          <a:xfrm>
            <a:off x="7918704" y="1417320"/>
            <a:ext cx="3419856" cy="1764792"/>
          </a:xfrm>
          <a:prstGeom prst="rect">
            <a:avLst/>
          </a:prstGeom>
          <a:ln w="12700">
            <a:solidFill>
              <a:srgbClr val="C6D2DA"/>
            </a:solidFill>
            <a:prstDash val="solid"/>
          </a:ln>
        </p:spPr>
      </p:sp>
      <p:sp>
        <p:nvSpPr>
          <p:cNvPr id="17" name="Text 11"/>
          <p:cNvSpPr/>
          <p:nvPr/>
        </p:nvSpPr>
        <p:spPr>
          <a:xfrm>
            <a:off x="7918704" y="3246120"/>
            <a:ext cx="3419856" cy="219456"/>
          </a:xfrm>
          <a:prstGeom prst="rect">
            <a:avLst/>
          </a:prstGeom>
          <a:noFill/>
          <a:ln/>
        </p:spPr>
        <p:txBody>
          <a:bodyPr wrap="square" lIns="0" tIns="0" rIns="0" bIns="0" rtlCol="0" anchor="ctr"/>
          <a:lstStyle/>
          <a:p>
            <a:pPr indent="0" marL="0">
              <a:buNone/>
            </a:pPr>
            <a:r>
              <a:rPr lang="en-US" sz="1150" b="1" dirty="0">
                <a:solidFill>
                  <a:srgbClr val="10222F"/>
                </a:solidFill>
                <a:latin typeface="Garamond" pitchFamily="34" charset="0"/>
                <a:ea typeface="Garamond" pitchFamily="34" charset="-122"/>
                <a:cs typeface="Garamond" pitchFamily="34" charset="-120"/>
              </a:rPr>
              <a:t>SunRISE (NASA/JPL)</a:t>
            </a:r>
            <a:endParaRPr lang="en-US" sz="1150" dirty="0"/>
          </a:p>
        </p:txBody>
      </p:sp>
      <p:sp>
        <p:nvSpPr>
          <p:cNvPr id="18" name="Text 12"/>
          <p:cNvSpPr/>
          <p:nvPr/>
        </p:nvSpPr>
        <p:spPr>
          <a:xfrm>
            <a:off x="7918704" y="3474720"/>
            <a:ext cx="3419856" cy="411480"/>
          </a:xfrm>
          <a:prstGeom prst="rect">
            <a:avLst/>
          </a:prstGeom>
          <a:noFill/>
          <a:ln/>
        </p:spPr>
        <p:txBody>
          <a:bodyPr wrap="square" lIns="0" tIns="0" rIns="0" bIns="0" rtlCol="0" anchor="t"/>
          <a:lstStyle/>
          <a:p>
            <a:pPr indent="0" marL="0">
              <a:buNone/>
            </a:pPr>
            <a:r>
              <a:rPr lang="en-US" sz="950" dirty="0">
                <a:solidFill>
                  <a:srgbClr val="5C6B76"/>
                </a:solidFill>
                <a:latin typeface="Garamond" pitchFamily="34" charset="0"/>
                <a:ea typeface="Garamond" pitchFamily="34" charset="-122"/>
                <a:cs typeface="Garamond" pitchFamily="34" charset="-120"/>
              </a:rPr>
              <a:t>28 CubeSat compatible monopoles delivered at production volume.</a:t>
            </a:r>
            <a:endParaRPr lang="en-US" sz="950" dirty="0"/>
          </a:p>
        </p:txBody>
      </p:sp>
      <p:pic>
        <p:nvPicPr>
          <p:cNvPr id="19" name="Image 4" descr="assets/s4_jwst.jpg">    </p:cNvPr>
          <p:cNvPicPr>
            <a:picLocks noChangeAspect="1"/>
          </p:cNvPicPr>
          <p:nvPr/>
        </p:nvPicPr>
        <p:blipFill>
          <a:blip r:embed="rId5"/>
          <a:stretch>
            <a:fillRect/>
          </a:stretch>
        </p:blipFill>
        <p:spPr>
          <a:xfrm>
            <a:off x="822960" y="3941064"/>
            <a:ext cx="3419856" cy="1764792"/>
          </a:xfrm>
          <a:prstGeom prst="rect">
            <a:avLst/>
          </a:prstGeom>
        </p:spPr>
      </p:pic>
      <p:sp>
        <p:nvSpPr>
          <p:cNvPr id="20" name="Shape 13"/>
          <p:cNvSpPr/>
          <p:nvPr/>
        </p:nvSpPr>
        <p:spPr>
          <a:xfrm>
            <a:off x="822960" y="3941064"/>
            <a:ext cx="3419856" cy="1764792"/>
          </a:xfrm>
          <a:prstGeom prst="rect">
            <a:avLst/>
          </a:prstGeom>
          <a:ln w="12700">
            <a:solidFill>
              <a:srgbClr val="C6D2DA"/>
            </a:solidFill>
            <a:prstDash val="solid"/>
          </a:ln>
        </p:spPr>
      </p:sp>
      <p:sp>
        <p:nvSpPr>
          <p:cNvPr id="21" name="Text 14"/>
          <p:cNvSpPr/>
          <p:nvPr/>
        </p:nvSpPr>
        <p:spPr>
          <a:xfrm>
            <a:off x="822960" y="5769864"/>
            <a:ext cx="3419856" cy="219456"/>
          </a:xfrm>
          <a:prstGeom prst="rect">
            <a:avLst/>
          </a:prstGeom>
          <a:noFill/>
          <a:ln/>
        </p:spPr>
        <p:txBody>
          <a:bodyPr wrap="square" lIns="0" tIns="0" rIns="0" bIns="0" rtlCol="0" anchor="ctr"/>
          <a:lstStyle/>
          <a:p>
            <a:pPr indent="0" marL="0">
              <a:buNone/>
            </a:pPr>
            <a:r>
              <a:rPr lang="en-US" sz="1150" b="1" dirty="0">
                <a:solidFill>
                  <a:srgbClr val="10222F"/>
                </a:solidFill>
                <a:latin typeface="Garamond" pitchFamily="34" charset="0"/>
                <a:ea typeface="Garamond" pitchFamily="34" charset="-122"/>
                <a:cs typeface="Garamond" pitchFamily="34" charset="-120"/>
              </a:rPr>
              <a:t>James Webb Space Telescope</a:t>
            </a:r>
            <a:endParaRPr lang="en-US" sz="1150" dirty="0"/>
          </a:p>
        </p:txBody>
      </p:sp>
      <p:sp>
        <p:nvSpPr>
          <p:cNvPr id="22" name="Text 15"/>
          <p:cNvSpPr/>
          <p:nvPr/>
        </p:nvSpPr>
        <p:spPr>
          <a:xfrm>
            <a:off x="822960" y="5998464"/>
            <a:ext cx="3419856" cy="411480"/>
          </a:xfrm>
          <a:prstGeom prst="rect">
            <a:avLst/>
          </a:prstGeom>
          <a:noFill/>
          <a:ln/>
        </p:spPr>
        <p:txBody>
          <a:bodyPr wrap="square" lIns="0" tIns="0" rIns="0" bIns="0" rtlCol="0" anchor="t"/>
          <a:lstStyle/>
          <a:p>
            <a:pPr indent="0" marL="0">
              <a:buNone/>
            </a:pPr>
            <a:r>
              <a:rPr lang="en-US" sz="950" dirty="0">
                <a:solidFill>
                  <a:srgbClr val="5C6B76"/>
                </a:solidFill>
                <a:latin typeface="Garamond" pitchFamily="34" charset="0"/>
                <a:ea typeface="Garamond" pitchFamily="34" charset="-122"/>
                <a:cs typeface="Garamond" pitchFamily="34" charset="-120"/>
              </a:rPr>
              <a:t>Systems engineering, integration, and test support through commissioning.</a:t>
            </a:r>
            <a:endParaRPr lang="en-US" sz="950" dirty="0"/>
          </a:p>
        </p:txBody>
      </p:sp>
      <p:pic>
        <p:nvPicPr>
          <p:cNvPr id="23" name="Image 5" descr="assets/s4_bg1.jpg">    </p:cNvPr>
          <p:cNvPicPr>
            <a:picLocks noChangeAspect="1"/>
          </p:cNvPicPr>
          <p:nvPr/>
        </p:nvPicPr>
        <p:blipFill>
          <a:blip r:embed="rId6"/>
          <a:stretch>
            <a:fillRect/>
          </a:stretch>
        </p:blipFill>
        <p:spPr>
          <a:xfrm>
            <a:off x="4370832" y="3941064"/>
            <a:ext cx="3419856" cy="1764792"/>
          </a:xfrm>
          <a:prstGeom prst="rect">
            <a:avLst/>
          </a:prstGeom>
        </p:spPr>
      </p:pic>
      <p:sp>
        <p:nvSpPr>
          <p:cNvPr id="24" name="Shape 16"/>
          <p:cNvSpPr/>
          <p:nvPr/>
        </p:nvSpPr>
        <p:spPr>
          <a:xfrm>
            <a:off x="4370832" y="3941064"/>
            <a:ext cx="3419856" cy="1764792"/>
          </a:xfrm>
          <a:prstGeom prst="rect">
            <a:avLst/>
          </a:prstGeom>
          <a:ln w="12700">
            <a:solidFill>
              <a:srgbClr val="C6D2DA"/>
            </a:solidFill>
            <a:prstDash val="solid"/>
          </a:ln>
        </p:spPr>
      </p:sp>
      <p:sp>
        <p:nvSpPr>
          <p:cNvPr id="25" name="Text 17"/>
          <p:cNvSpPr/>
          <p:nvPr/>
        </p:nvSpPr>
        <p:spPr>
          <a:xfrm>
            <a:off x="4370832" y="5769864"/>
            <a:ext cx="3419856" cy="219456"/>
          </a:xfrm>
          <a:prstGeom prst="rect">
            <a:avLst/>
          </a:prstGeom>
          <a:noFill/>
          <a:ln/>
        </p:spPr>
        <p:txBody>
          <a:bodyPr wrap="square" lIns="0" tIns="0" rIns="0" bIns="0" rtlCol="0" anchor="ctr"/>
          <a:lstStyle/>
          <a:p>
            <a:pPr indent="0" marL="0">
              <a:buNone/>
            </a:pPr>
            <a:r>
              <a:rPr lang="en-US" sz="1150" b="1" dirty="0">
                <a:solidFill>
                  <a:srgbClr val="10222F"/>
                </a:solidFill>
                <a:latin typeface="Garamond" pitchFamily="34" charset="0"/>
                <a:ea typeface="Garamond" pitchFamily="34" charset="-122"/>
                <a:cs typeface="Garamond" pitchFamily="34" charset="-120"/>
              </a:rPr>
              <a:t>Blue Ghost Mission 1 (Firefly / SwRI)</a:t>
            </a:r>
            <a:endParaRPr lang="en-US" sz="1150" dirty="0"/>
          </a:p>
        </p:txBody>
      </p:sp>
      <p:sp>
        <p:nvSpPr>
          <p:cNvPr id="26" name="Text 18"/>
          <p:cNvSpPr/>
          <p:nvPr/>
        </p:nvSpPr>
        <p:spPr>
          <a:xfrm>
            <a:off x="4370832" y="5998464"/>
            <a:ext cx="3419856" cy="411480"/>
          </a:xfrm>
          <a:prstGeom prst="rect">
            <a:avLst/>
          </a:prstGeom>
          <a:noFill/>
          <a:ln/>
        </p:spPr>
        <p:txBody>
          <a:bodyPr wrap="square" lIns="0" tIns="0" rIns="0" bIns="0" rtlCol="0" anchor="t"/>
          <a:lstStyle/>
          <a:p>
            <a:pPr indent="0" marL="0">
              <a:buNone/>
            </a:pPr>
            <a:r>
              <a:rPr lang="en-US" sz="950" dirty="0">
                <a:solidFill>
                  <a:srgbClr val="5C6B76"/>
                </a:solidFill>
                <a:latin typeface="Garamond" pitchFamily="34" charset="0"/>
                <a:ea typeface="Garamond" pitchFamily="34" charset="-122"/>
                <a:cs typeface="Garamond" pitchFamily="34" charset="-120"/>
              </a:rPr>
              <a:t>LMS lunar science payload delivered under the NASA CLPS program.</a:t>
            </a:r>
            <a:endParaRPr lang="en-US" sz="950" dirty="0"/>
          </a:p>
        </p:txBody>
      </p:sp>
      <p:pic>
        <p:nvPicPr>
          <p:cNvPr id="27" name="Image 6" descr="assets/s4_im1.jpg">    </p:cNvPr>
          <p:cNvPicPr>
            <a:picLocks noChangeAspect="1"/>
          </p:cNvPicPr>
          <p:nvPr/>
        </p:nvPicPr>
        <p:blipFill>
          <a:blip r:embed="rId7"/>
          <a:stretch>
            <a:fillRect/>
          </a:stretch>
        </p:blipFill>
        <p:spPr>
          <a:xfrm>
            <a:off x="7918704" y="3941064"/>
            <a:ext cx="3419856" cy="1764792"/>
          </a:xfrm>
          <a:prstGeom prst="rect">
            <a:avLst/>
          </a:prstGeom>
        </p:spPr>
      </p:pic>
      <p:sp>
        <p:nvSpPr>
          <p:cNvPr id="28" name="Shape 19"/>
          <p:cNvSpPr/>
          <p:nvPr/>
        </p:nvSpPr>
        <p:spPr>
          <a:xfrm>
            <a:off x="7918704" y="3941064"/>
            <a:ext cx="3419856" cy="1764792"/>
          </a:xfrm>
          <a:prstGeom prst="rect">
            <a:avLst/>
          </a:prstGeom>
          <a:ln w="12700">
            <a:solidFill>
              <a:srgbClr val="C6D2DA"/>
            </a:solidFill>
            <a:prstDash val="solid"/>
          </a:ln>
        </p:spPr>
      </p:sp>
      <p:sp>
        <p:nvSpPr>
          <p:cNvPr id="29" name="Text 20"/>
          <p:cNvSpPr/>
          <p:nvPr/>
        </p:nvSpPr>
        <p:spPr>
          <a:xfrm>
            <a:off x="7918704" y="5769864"/>
            <a:ext cx="3419856" cy="219456"/>
          </a:xfrm>
          <a:prstGeom prst="rect">
            <a:avLst/>
          </a:prstGeom>
          <a:noFill/>
          <a:ln/>
        </p:spPr>
        <p:txBody>
          <a:bodyPr wrap="square" lIns="0" tIns="0" rIns="0" bIns="0" rtlCol="0" anchor="ctr"/>
          <a:lstStyle/>
          <a:p>
            <a:pPr indent="0" marL="0">
              <a:buNone/>
            </a:pPr>
            <a:r>
              <a:rPr lang="en-US" sz="1150" b="1" dirty="0">
                <a:solidFill>
                  <a:srgbClr val="10222F"/>
                </a:solidFill>
                <a:latin typeface="Garamond" pitchFamily="34" charset="0"/>
                <a:ea typeface="Garamond" pitchFamily="34" charset="-122"/>
                <a:cs typeface="Garamond" pitchFamily="34" charset="-120"/>
              </a:rPr>
              <a:t>IM-1 (Intuitive Machines / NASA)</a:t>
            </a:r>
            <a:endParaRPr lang="en-US" sz="1150" dirty="0"/>
          </a:p>
        </p:txBody>
      </p:sp>
      <p:sp>
        <p:nvSpPr>
          <p:cNvPr id="30" name="Text 21"/>
          <p:cNvSpPr/>
          <p:nvPr/>
        </p:nvSpPr>
        <p:spPr>
          <a:xfrm>
            <a:off x="7918704" y="5998464"/>
            <a:ext cx="3419856" cy="411480"/>
          </a:xfrm>
          <a:prstGeom prst="rect">
            <a:avLst/>
          </a:prstGeom>
          <a:noFill/>
          <a:ln/>
        </p:spPr>
        <p:txBody>
          <a:bodyPr wrap="square" lIns="0" tIns="0" rIns="0" bIns="0" rtlCol="0" anchor="t"/>
          <a:lstStyle/>
          <a:p>
            <a:pPr indent="0" marL="0">
              <a:buNone/>
            </a:pPr>
            <a:r>
              <a:rPr lang="en-US" sz="950" dirty="0">
                <a:solidFill>
                  <a:srgbClr val="5C6B76"/>
                </a:solidFill>
                <a:latin typeface="Garamond" pitchFamily="34" charset="0"/>
                <a:ea typeface="Garamond" pitchFamily="34" charset="-122"/>
                <a:cs typeface="Garamond" pitchFamily="34" charset="-120"/>
              </a:rPr>
              <a:t>ROLSES antennas flown on the first commercial US lunar landing.</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PRODUCTS</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The SABER Deployable Boom Product Line</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5</a:t>
            </a:r>
            <a:endParaRPr lang="en-US" sz="850" dirty="0"/>
          </a:p>
        </p:txBody>
      </p:sp>
      <p:sp>
        <p:nvSpPr>
          <p:cNvPr id="7" name="Text 4"/>
          <p:cNvSpPr/>
          <p:nvPr/>
        </p:nvSpPr>
        <p:spPr>
          <a:xfrm>
            <a:off x="822960" y="1353312"/>
            <a:ext cx="10424160" cy="320040"/>
          </a:xfrm>
          <a:prstGeom prst="rect">
            <a:avLst/>
          </a:prstGeom>
          <a:noFill/>
          <a:ln/>
        </p:spPr>
        <p:txBody>
          <a:bodyPr wrap="square" lIns="0" tIns="0" rIns="0" bIns="0" rtlCol="0" anchor="ctr"/>
          <a:lstStyle/>
          <a:p>
            <a:pPr indent="0" marL="0">
              <a:buNone/>
            </a:pPr>
            <a:r>
              <a:rPr lang="en-US" sz="1300" dirty="0">
                <a:solidFill>
                  <a:srgbClr val="5C6B76"/>
                </a:solidFill>
                <a:latin typeface="Garamond" pitchFamily="34" charset="0"/>
                <a:ea typeface="Garamond" pitchFamily="34" charset="-122"/>
                <a:cs typeface="Garamond" pitchFamily="34" charset="-120"/>
              </a:rPr>
              <a:t>Mission unique heritage, productized: standardized mechanisms with published interfaces, short lead times, and configurations from monopole to dipole to custom geometries.</a:t>
            </a:r>
            <a:endParaRPr lang="en-US" sz="1300" dirty="0"/>
          </a:p>
        </p:txBody>
      </p:sp>
      <p:sp>
        <p:nvSpPr>
          <p:cNvPr id="8" name="Shape 5"/>
          <p:cNvSpPr/>
          <p:nvPr/>
        </p:nvSpPr>
        <p:spPr>
          <a:xfrm>
            <a:off x="822960" y="1828800"/>
            <a:ext cx="5175504" cy="2788920"/>
          </a:xfrm>
          <a:prstGeom prst="roundRect">
            <a:avLst>
              <a:gd name="adj" fmla="val 1639"/>
            </a:avLst>
          </a:prstGeom>
          <a:solidFill>
            <a:srgbClr val="F3F7FA"/>
          </a:solidFill>
          <a:ln/>
        </p:spPr>
      </p:sp>
      <p:sp>
        <p:nvSpPr>
          <p:cNvPr id="9" name="Text 6"/>
          <p:cNvSpPr/>
          <p:nvPr/>
        </p:nvSpPr>
        <p:spPr>
          <a:xfrm>
            <a:off x="987552" y="1956816"/>
            <a:ext cx="2743200" cy="320040"/>
          </a:xfrm>
          <a:prstGeom prst="rect">
            <a:avLst/>
          </a:prstGeom>
          <a:noFill/>
          <a:ln/>
        </p:spPr>
        <p:txBody>
          <a:bodyPr wrap="square" lIns="0" tIns="0" rIns="0" bIns="0" rtlCol="0" anchor="ctr"/>
          <a:lstStyle/>
          <a:p>
            <a:pPr indent="0" marL="0">
              <a:buNone/>
            </a:pPr>
            <a:r>
              <a:rPr lang="en-US" sz="1650" b="1" dirty="0">
                <a:solidFill>
                  <a:srgbClr val="10222F"/>
                </a:solidFill>
                <a:latin typeface="Garamond" pitchFamily="34" charset="0"/>
                <a:ea typeface="Garamond" pitchFamily="34" charset="-122"/>
                <a:cs typeface="Garamond" pitchFamily="34" charset="-120"/>
              </a:rPr>
              <a:t>Model SB1</a:t>
            </a:r>
            <a:endParaRPr lang="en-US" sz="1650" dirty="0"/>
          </a:p>
        </p:txBody>
      </p:sp>
      <p:pic>
        <p:nvPicPr>
          <p:cNvPr id="10" name="Image 1" descr="assets/s5_sb1.jpg">    </p:cNvPr>
          <p:cNvPicPr>
            <a:picLocks noChangeAspect="1"/>
          </p:cNvPicPr>
          <p:nvPr/>
        </p:nvPicPr>
        <p:blipFill>
          <a:blip r:embed="rId2"/>
          <a:stretch>
            <a:fillRect/>
          </a:stretch>
        </p:blipFill>
        <p:spPr>
          <a:xfrm>
            <a:off x="960120" y="2377440"/>
            <a:ext cx="2377440" cy="1700784"/>
          </a:xfrm>
          <a:prstGeom prst="rect">
            <a:avLst/>
          </a:prstGeom>
        </p:spPr>
      </p:pic>
      <p:sp>
        <p:nvSpPr>
          <p:cNvPr id="11" name="Shape 7"/>
          <p:cNvSpPr/>
          <p:nvPr/>
        </p:nvSpPr>
        <p:spPr>
          <a:xfrm>
            <a:off x="960120" y="2377440"/>
            <a:ext cx="2377440" cy="1700784"/>
          </a:xfrm>
          <a:prstGeom prst="rect">
            <a:avLst/>
          </a:prstGeom>
          <a:ln w="12700">
            <a:solidFill>
              <a:srgbClr val="C6D2DA"/>
            </a:solidFill>
            <a:prstDash val="solid"/>
          </a:ln>
        </p:spPr>
      </p:sp>
      <p:sp>
        <p:nvSpPr>
          <p:cNvPr id="12" name="Text 8"/>
          <p:cNvSpPr/>
          <p:nvPr/>
        </p:nvSpPr>
        <p:spPr>
          <a:xfrm>
            <a:off x="3520440" y="2395728"/>
            <a:ext cx="2377440" cy="2103120"/>
          </a:xfrm>
          <a:prstGeom prst="rect">
            <a:avLst/>
          </a:prstGeom>
          <a:noFill/>
          <a:ln/>
        </p:spPr>
        <p:txBody>
          <a:bodyPr wrap="square" lIns="0" tIns="0" rIns="0" bIns="0" rtlCol="0" anchor="t"/>
          <a:lstStyle/>
          <a:p>
            <a:pPr algn="l" marL="127000" indent="-127000">
              <a:spcAft>
                <a:spcPts val="800"/>
              </a:spcAft>
              <a:buSzPct val="100000"/>
              <a:buChar char="•"/>
            </a:pPr>
            <a:r>
              <a:rPr lang="en-US" sz="1100" dirty="0">
                <a:solidFill>
                  <a:srgbClr val="1E2A33"/>
                </a:solidFill>
                <a:latin typeface="Garamond" pitchFamily="34" charset="0"/>
                <a:ea typeface="Garamond" pitchFamily="34" charset="-122"/>
                <a:cs typeface="Garamond" pitchFamily="34" charset="-120"/>
              </a:rPr>
              <a:t>Deploys 1.0 m to 10.0 m</a:t>
            </a:r>
            <a:endParaRPr lang="en-US" sz="1100" dirty="0"/>
          </a:p>
          <a:p>
            <a:pPr algn="l" marL="127000" indent="-127000">
              <a:spcAft>
                <a:spcPts val="800"/>
              </a:spcAft>
              <a:buSzPct val="100000"/>
              <a:buChar char="•"/>
            </a:pPr>
            <a:r>
              <a:rPr lang="en-US" sz="1100" dirty="0">
                <a:solidFill>
                  <a:srgbClr val="1E2A33"/>
                </a:solidFill>
                <a:latin typeface="Garamond" pitchFamily="34" charset="0"/>
                <a:ea typeface="Garamond" pitchFamily="34" charset="-122"/>
                <a:cs typeface="Garamond" pitchFamily="34" charset="-120"/>
              </a:rPr>
              <a:t>Up to 30:1 stow ratio</a:t>
            </a:r>
            <a:endParaRPr lang="en-US" sz="1100" dirty="0"/>
          </a:p>
          <a:p>
            <a:pPr algn="l" marL="127000" indent="-127000">
              <a:spcAft>
                <a:spcPts val="800"/>
              </a:spcAft>
              <a:buSzPct val="100000"/>
              <a:buChar char="•"/>
            </a:pPr>
            <a:r>
              <a:rPr lang="en-US" sz="1100" dirty="0">
                <a:solidFill>
                  <a:srgbClr val="1E2A33"/>
                </a:solidFill>
                <a:latin typeface="Garamond" pitchFamily="34" charset="0"/>
                <a:ea typeface="Garamond" pitchFamily="34" charset="-122"/>
                <a:cs typeface="Garamond" pitchFamily="34" charset="-120"/>
              </a:rPr>
              <a:t>3.5 to 5.0 kg class mass</a:t>
            </a:r>
            <a:endParaRPr lang="en-US" sz="1100" dirty="0"/>
          </a:p>
          <a:p>
            <a:pPr algn="l" marL="127000" indent="-127000">
              <a:spcAft>
                <a:spcPts val="800"/>
              </a:spcAft>
              <a:buSzPct val="100000"/>
              <a:buChar char="•"/>
            </a:pPr>
            <a:r>
              <a:rPr lang="en-US" sz="1100" dirty="0">
                <a:solidFill>
                  <a:srgbClr val="1E2A33"/>
                </a:solidFill>
                <a:latin typeface="Garamond" pitchFamily="34" charset="0"/>
                <a:ea typeface="Garamond" pitchFamily="34" charset="-122"/>
                <a:cs typeface="Garamond" pitchFamily="34" charset="-120"/>
              </a:rPr>
              <a:t>MAVEN, Solar Orbiter, and Europa Clipper heritage</a:t>
            </a:r>
            <a:endParaRPr lang="en-US" sz="1100" dirty="0"/>
          </a:p>
        </p:txBody>
      </p:sp>
      <p:sp>
        <p:nvSpPr>
          <p:cNvPr id="13" name="Text 9"/>
          <p:cNvSpPr/>
          <p:nvPr/>
        </p:nvSpPr>
        <p:spPr>
          <a:xfrm>
            <a:off x="960120" y="4133088"/>
            <a:ext cx="2468880"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SB1 class flight mechanisms</a:t>
            </a:r>
            <a:endParaRPr lang="en-US" sz="950" dirty="0"/>
          </a:p>
        </p:txBody>
      </p:sp>
      <p:sp>
        <p:nvSpPr>
          <p:cNvPr id="14" name="Shape 10"/>
          <p:cNvSpPr/>
          <p:nvPr/>
        </p:nvSpPr>
        <p:spPr>
          <a:xfrm>
            <a:off x="6190488" y="1828800"/>
            <a:ext cx="5175504" cy="2788920"/>
          </a:xfrm>
          <a:prstGeom prst="roundRect">
            <a:avLst>
              <a:gd name="adj" fmla="val 1639"/>
            </a:avLst>
          </a:prstGeom>
          <a:solidFill>
            <a:srgbClr val="F3F7FA"/>
          </a:solidFill>
          <a:ln/>
        </p:spPr>
      </p:sp>
      <p:sp>
        <p:nvSpPr>
          <p:cNvPr id="15" name="Text 11"/>
          <p:cNvSpPr/>
          <p:nvPr/>
        </p:nvSpPr>
        <p:spPr>
          <a:xfrm>
            <a:off x="6355080" y="1956816"/>
            <a:ext cx="2743200" cy="320040"/>
          </a:xfrm>
          <a:prstGeom prst="rect">
            <a:avLst/>
          </a:prstGeom>
          <a:noFill/>
          <a:ln/>
        </p:spPr>
        <p:txBody>
          <a:bodyPr wrap="square" lIns="0" tIns="0" rIns="0" bIns="0" rtlCol="0" anchor="ctr"/>
          <a:lstStyle/>
          <a:p>
            <a:pPr indent="0" marL="0">
              <a:buNone/>
            </a:pPr>
            <a:r>
              <a:rPr lang="en-US" sz="1650" b="1" dirty="0">
                <a:solidFill>
                  <a:srgbClr val="10222F"/>
                </a:solidFill>
                <a:latin typeface="Garamond" pitchFamily="34" charset="0"/>
                <a:ea typeface="Garamond" pitchFamily="34" charset="-122"/>
                <a:cs typeface="Garamond" pitchFamily="34" charset="-120"/>
              </a:rPr>
              <a:t>Model SB2</a:t>
            </a:r>
            <a:endParaRPr lang="en-US" sz="1650" dirty="0"/>
          </a:p>
        </p:txBody>
      </p:sp>
      <p:pic>
        <p:nvPicPr>
          <p:cNvPr id="16" name="Image 2" descr="assets/s5_sb2.jpg">    </p:cNvPr>
          <p:cNvPicPr>
            <a:picLocks noChangeAspect="1"/>
          </p:cNvPicPr>
          <p:nvPr/>
        </p:nvPicPr>
        <p:blipFill>
          <a:blip r:embed="rId3"/>
          <a:stretch>
            <a:fillRect/>
          </a:stretch>
        </p:blipFill>
        <p:spPr>
          <a:xfrm>
            <a:off x="6327648" y="2377440"/>
            <a:ext cx="2377440" cy="1700784"/>
          </a:xfrm>
          <a:prstGeom prst="rect">
            <a:avLst/>
          </a:prstGeom>
        </p:spPr>
      </p:pic>
      <p:sp>
        <p:nvSpPr>
          <p:cNvPr id="17" name="Shape 12"/>
          <p:cNvSpPr/>
          <p:nvPr/>
        </p:nvSpPr>
        <p:spPr>
          <a:xfrm>
            <a:off x="6327648" y="2377440"/>
            <a:ext cx="2377440" cy="1700784"/>
          </a:xfrm>
          <a:prstGeom prst="rect">
            <a:avLst/>
          </a:prstGeom>
          <a:ln w="12700">
            <a:solidFill>
              <a:srgbClr val="C6D2DA"/>
            </a:solidFill>
            <a:prstDash val="solid"/>
          </a:ln>
        </p:spPr>
      </p:sp>
      <p:sp>
        <p:nvSpPr>
          <p:cNvPr id="18" name="Text 13"/>
          <p:cNvSpPr/>
          <p:nvPr/>
        </p:nvSpPr>
        <p:spPr>
          <a:xfrm>
            <a:off x="8887968" y="2395728"/>
            <a:ext cx="2377440" cy="2103120"/>
          </a:xfrm>
          <a:prstGeom prst="rect">
            <a:avLst/>
          </a:prstGeom>
          <a:noFill/>
          <a:ln/>
        </p:spPr>
        <p:txBody>
          <a:bodyPr wrap="square" lIns="0" tIns="0" rIns="0" bIns="0" rtlCol="0" anchor="t"/>
          <a:lstStyle/>
          <a:p>
            <a:pPr algn="l" marL="127000" indent="-127000">
              <a:spcAft>
                <a:spcPts val="800"/>
              </a:spcAft>
              <a:buSzPct val="100000"/>
              <a:buChar char="•"/>
            </a:pPr>
            <a:r>
              <a:rPr lang="en-US" sz="1100" dirty="0">
                <a:solidFill>
                  <a:srgbClr val="1E2A33"/>
                </a:solidFill>
                <a:latin typeface="Garamond" pitchFamily="34" charset="0"/>
                <a:ea typeface="Garamond" pitchFamily="34" charset="-122"/>
                <a:cs typeface="Garamond" pitchFamily="34" charset="-120"/>
              </a:rPr>
              <a:t>Deploys 1.0 m to 6.0 m</a:t>
            </a:r>
            <a:endParaRPr lang="en-US" sz="1100" dirty="0"/>
          </a:p>
          <a:p>
            <a:pPr algn="l" marL="127000" indent="-127000">
              <a:spcAft>
                <a:spcPts val="800"/>
              </a:spcAft>
              <a:buSzPct val="100000"/>
              <a:buChar char="•"/>
            </a:pPr>
            <a:r>
              <a:rPr lang="en-US" sz="1100" dirty="0">
                <a:solidFill>
                  <a:srgbClr val="1E2A33"/>
                </a:solidFill>
                <a:latin typeface="Garamond" pitchFamily="34" charset="0"/>
                <a:ea typeface="Garamond" pitchFamily="34" charset="-122"/>
                <a:cs typeface="Garamond" pitchFamily="34" charset="-120"/>
              </a:rPr>
              <a:t>Up to 50:1 stow ratio</a:t>
            </a:r>
            <a:endParaRPr lang="en-US" sz="1100" dirty="0"/>
          </a:p>
          <a:p>
            <a:pPr algn="l" marL="127000" indent="-127000">
              <a:spcAft>
                <a:spcPts val="800"/>
              </a:spcAft>
              <a:buSzPct val="100000"/>
              <a:buChar char="•"/>
            </a:pPr>
            <a:r>
              <a:rPr lang="en-US" sz="1100" dirty="0">
                <a:solidFill>
                  <a:srgbClr val="1E2A33"/>
                </a:solidFill>
                <a:latin typeface="Garamond" pitchFamily="34" charset="0"/>
                <a:ea typeface="Garamond" pitchFamily="34" charset="-122"/>
                <a:cs typeface="Garamond" pitchFamily="34" charset="-120"/>
              </a:rPr>
              <a:t>200 g class mass</a:t>
            </a:r>
            <a:endParaRPr lang="en-US" sz="1100" dirty="0"/>
          </a:p>
          <a:p>
            <a:pPr algn="l" marL="127000" indent="-127000">
              <a:spcAft>
                <a:spcPts val="800"/>
              </a:spcAft>
              <a:buSzPct val="100000"/>
              <a:buChar char="•"/>
            </a:pPr>
            <a:r>
              <a:rPr lang="en-US" sz="1100" dirty="0">
                <a:solidFill>
                  <a:srgbClr val="1E2A33"/>
                </a:solidFill>
                <a:latin typeface="Garamond" pitchFamily="34" charset="0"/>
                <a:ea typeface="Garamond" pitchFamily="34" charset="-122"/>
                <a:cs typeface="Garamond" pitchFamily="34" charset="-120"/>
              </a:rPr>
              <a:t>Rated -200 C to +200 C</a:t>
            </a:r>
            <a:endParaRPr lang="en-US" sz="1100" dirty="0"/>
          </a:p>
        </p:txBody>
      </p:sp>
      <p:sp>
        <p:nvSpPr>
          <p:cNvPr id="19" name="Text 14"/>
          <p:cNvSpPr/>
          <p:nvPr/>
        </p:nvSpPr>
        <p:spPr>
          <a:xfrm>
            <a:off x="6327648" y="4133088"/>
            <a:ext cx="2468880"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SB2 mechanism render</a:t>
            </a:r>
            <a:endParaRPr lang="en-US" sz="950" dirty="0"/>
          </a:p>
        </p:txBody>
      </p:sp>
      <p:pic>
        <p:nvPicPr>
          <p:cNvPr id="20" name="Image 3" descr="assets/s5_strip.jpg">    </p:cNvPr>
          <p:cNvPicPr>
            <a:picLocks noChangeAspect="1"/>
          </p:cNvPicPr>
          <p:nvPr/>
        </p:nvPicPr>
        <p:blipFill>
          <a:blip r:embed="rId4"/>
          <a:stretch>
            <a:fillRect/>
          </a:stretch>
        </p:blipFill>
        <p:spPr>
          <a:xfrm>
            <a:off x="822960" y="4828032"/>
            <a:ext cx="10543032" cy="1371600"/>
          </a:xfrm>
          <a:prstGeom prst="rect">
            <a:avLst/>
          </a:prstGeom>
        </p:spPr>
      </p:pic>
      <p:sp>
        <p:nvSpPr>
          <p:cNvPr id="21" name="Shape 15"/>
          <p:cNvSpPr/>
          <p:nvPr/>
        </p:nvSpPr>
        <p:spPr>
          <a:xfrm>
            <a:off x="822960" y="4828032"/>
            <a:ext cx="10543032" cy="1371600"/>
          </a:xfrm>
          <a:prstGeom prst="rect">
            <a:avLst/>
          </a:prstGeom>
          <a:ln w="12700">
            <a:solidFill>
              <a:srgbClr val="C6D2DA"/>
            </a:solidFill>
            <a:prstDash val="solid"/>
          </a:ln>
        </p:spPr>
      </p:sp>
      <p:sp>
        <p:nvSpPr>
          <p:cNvPr id="22" name="Text 16"/>
          <p:cNvSpPr/>
          <p:nvPr/>
        </p:nvSpPr>
        <p:spPr>
          <a:xfrm>
            <a:off x="822960" y="6236208"/>
            <a:ext cx="10424160"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Europa Clipper REASON high frequency antenna configuration: 58 ft (17.6 m) tip to tip deployed length.</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PRODUCT DETAIL</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Model SB1: The Flight Proven Workhorse</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6</a:t>
            </a:r>
            <a:endParaRPr lang="en-US" sz="850" dirty="0"/>
          </a:p>
        </p:txBody>
      </p:sp>
      <p:sp>
        <p:nvSpPr>
          <p:cNvPr id="7" name="Text 4"/>
          <p:cNvSpPr/>
          <p:nvPr/>
        </p:nvSpPr>
        <p:spPr>
          <a:xfrm>
            <a:off x="822960" y="1371600"/>
            <a:ext cx="5806440" cy="685800"/>
          </a:xfrm>
          <a:prstGeom prst="rect">
            <a:avLst/>
          </a:prstGeom>
          <a:noFill/>
          <a:ln/>
        </p:spPr>
        <p:txBody>
          <a:bodyPr wrap="square" lIns="0" tIns="0" rIns="0" bIns="0" rtlCol="0" anchor="t"/>
          <a:lstStyle/>
          <a:p>
            <a:pPr indent="0" marL="0">
              <a:lnSpc>
                <a:spcPct val="105000"/>
              </a:lnSpc>
              <a:buNone/>
            </a:pPr>
            <a:r>
              <a:rPr lang="en-US" sz="1250" dirty="0">
                <a:solidFill>
                  <a:srgbClr val="1E2A33"/>
                </a:solidFill>
                <a:latin typeface="Garamond" pitchFamily="34" charset="0"/>
                <a:ea typeface="Garamond" pitchFamily="34" charset="-122"/>
                <a:cs typeface="Garamond" pitchFamily="34" charset="-120"/>
              </a:rPr>
              <a:t>A low mass, compact, high reliability boom for antennas, sensors, and deployed hardware, with well controlled deployment to precise lengths of up to 10.0 m.</a:t>
            </a:r>
            <a:endParaRPr lang="en-US" sz="12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822960" y="2148840"/>
          <a:ext cx="5806440" cy="914400"/>
        </p:xfrm>
        <a:graphic>
          <a:graphicData uri="http://schemas.openxmlformats.org/drawingml/2006/table">
            <a:tbl>
              <a:tblPr/>
              <a:tblGrid>
                <a:gridCol w="1965960"/>
                <a:gridCol w="3840480"/>
              </a:tblGrid>
              <a:tr h="429768">
                <a:tc>
                  <a:txBody>
                    <a:bodyPr/>
                    <a:lstStyle/>
                    <a:p>
                      <a:pPr indent="0" marL="0">
                        <a:buNone/>
                      </a:pPr>
                      <a:r>
                        <a:rPr lang="en-US" sz="1050" b="1" dirty="0">
                          <a:solidFill>
                            <a:srgbClr val="10222F"/>
                          </a:solidFill>
                          <a:latin typeface="Garamond" pitchFamily="34" charset="0"/>
                          <a:ea typeface="Garamond" pitchFamily="34" charset="-122"/>
                          <a:cs typeface="Garamond" pitchFamily="34" charset="-120"/>
                        </a:rPr>
                        <a:t>Deployed length</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c>
                  <a:txBody>
                    <a:bodyPr/>
                    <a:lstStyle/>
                    <a:p>
                      <a:pPr indent="0" marL="0">
                        <a:buNone/>
                      </a:pPr>
                      <a:r>
                        <a:rPr lang="en-US" sz="1050" dirty="0">
                          <a:solidFill>
                            <a:srgbClr val="1E2A33"/>
                          </a:solidFill>
                          <a:latin typeface="Garamond" pitchFamily="34" charset="0"/>
                          <a:ea typeface="Garamond" pitchFamily="34" charset="-122"/>
                          <a:cs typeface="Garamond" pitchFamily="34" charset="-120"/>
                        </a:rPr>
                        <a:t>3.3 to 32.8 ft (1.0 to 10.0 m), selectable</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r>
              <a:tr h="429768">
                <a:tc>
                  <a:txBody>
                    <a:bodyPr/>
                    <a:lstStyle/>
                    <a:p>
                      <a:pPr indent="0" marL="0">
                        <a:buNone/>
                      </a:pPr>
                      <a:r>
                        <a:rPr lang="en-US" sz="1050" b="1" dirty="0">
                          <a:solidFill>
                            <a:srgbClr val="10222F"/>
                          </a:solidFill>
                          <a:latin typeface="Garamond" pitchFamily="34" charset="0"/>
                          <a:ea typeface="Garamond" pitchFamily="34" charset="-122"/>
                          <a:cs typeface="Garamond" pitchFamily="34" charset="-120"/>
                        </a:rPr>
                        <a:t>Mass</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c>
                  <a:txBody>
                    <a:bodyPr/>
                    <a:lstStyle/>
                    <a:p>
                      <a:pPr indent="0" marL="0">
                        <a:buNone/>
                      </a:pPr>
                      <a:r>
                        <a:rPr lang="en-US" sz="1050" dirty="0">
                          <a:solidFill>
                            <a:srgbClr val="1E2A33"/>
                          </a:solidFill>
                          <a:latin typeface="Garamond" pitchFamily="34" charset="0"/>
                          <a:ea typeface="Garamond" pitchFamily="34" charset="-122"/>
                          <a:cs typeface="Garamond" pitchFamily="34" charset="-120"/>
                        </a:rPr>
                        <a:t>7.7 lb (3.5 kg) at 4.0 m; 11.0 lb (5.0 kg) at 10.0 m</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r>
              <a:tr h="429768">
                <a:tc>
                  <a:txBody>
                    <a:bodyPr/>
                    <a:lstStyle/>
                    <a:p>
                      <a:pPr indent="0" marL="0">
                        <a:buNone/>
                      </a:pPr>
                      <a:r>
                        <a:rPr lang="en-US" sz="1050" b="1" dirty="0">
                          <a:solidFill>
                            <a:srgbClr val="10222F"/>
                          </a:solidFill>
                          <a:latin typeface="Garamond" pitchFamily="34" charset="0"/>
                          <a:ea typeface="Garamond" pitchFamily="34" charset="-122"/>
                          <a:cs typeface="Garamond" pitchFamily="34" charset="-120"/>
                        </a:rPr>
                        <a:t>Stowed envelope</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c>
                  <a:txBody>
                    <a:bodyPr/>
                    <a:lstStyle/>
                    <a:p>
                      <a:pPr indent="0" marL="0">
                        <a:buNone/>
                      </a:pPr>
                      <a:r>
                        <a:rPr lang="en-US" sz="1050" dirty="0">
                          <a:solidFill>
                            <a:srgbClr val="1E2A33"/>
                          </a:solidFill>
                          <a:latin typeface="Garamond" pitchFamily="34" charset="0"/>
                          <a:ea typeface="Garamond" pitchFamily="34" charset="-122"/>
                          <a:cs typeface="Garamond" pitchFamily="34" charset="-120"/>
                        </a:rPr>
                        <a:t>4.2 x 5.3 x 13.6 in (11 x 13 x 35 cm)</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r>
              <a:tr h="429768">
                <a:tc>
                  <a:txBody>
                    <a:bodyPr/>
                    <a:lstStyle/>
                    <a:p>
                      <a:pPr indent="0" marL="0">
                        <a:buNone/>
                      </a:pPr>
                      <a:r>
                        <a:rPr lang="en-US" sz="1050" b="1" dirty="0">
                          <a:solidFill>
                            <a:srgbClr val="10222F"/>
                          </a:solidFill>
                          <a:latin typeface="Garamond" pitchFamily="34" charset="0"/>
                          <a:ea typeface="Garamond" pitchFamily="34" charset="-122"/>
                          <a:cs typeface="Garamond" pitchFamily="34" charset="-120"/>
                        </a:rPr>
                        <a:t>Deploy power</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c>
                  <a:txBody>
                    <a:bodyPr/>
                    <a:lstStyle/>
                    <a:p>
                      <a:pPr indent="0" marL="0">
                        <a:buNone/>
                      </a:pPr>
                      <a:r>
                        <a:rPr lang="en-US" sz="1050" dirty="0">
                          <a:solidFill>
                            <a:srgbClr val="1E2A33"/>
                          </a:solidFill>
                          <a:latin typeface="Garamond" pitchFamily="34" charset="0"/>
                          <a:ea typeface="Garamond" pitchFamily="34" charset="-122"/>
                          <a:cs typeface="Garamond" pitchFamily="34" charset="-120"/>
                        </a:rPr>
                        <a:t>25 W (+28 V at 0.9 A) for 30 s, typical</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r>
              <a:tr h="429768">
                <a:tc>
                  <a:txBody>
                    <a:bodyPr/>
                    <a:lstStyle/>
                    <a:p>
                      <a:pPr indent="0" marL="0">
                        <a:buNone/>
                      </a:pPr>
                      <a:r>
                        <a:rPr lang="en-US" sz="1050" b="1" dirty="0">
                          <a:solidFill>
                            <a:srgbClr val="10222F"/>
                          </a:solidFill>
                          <a:latin typeface="Garamond" pitchFamily="34" charset="0"/>
                          <a:ea typeface="Garamond" pitchFamily="34" charset="-122"/>
                          <a:cs typeface="Garamond" pitchFamily="34" charset="-120"/>
                        </a:rPr>
                        <a:t>Deployment control</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c>
                  <a:txBody>
                    <a:bodyPr/>
                    <a:lstStyle/>
                    <a:p>
                      <a:pPr indent="0" marL="0">
                        <a:buNone/>
                      </a:pPr>
                      <a:r>
                        <a:rPr lang="en-US" sz="1050" dirty="0">
                          <a:solidFill>
                            <a:srgbClr val="1E2A33"/>
                          </a:solidFill>
                          <a:latin typeface="Garamond" pitchFamily="34" charset="0"/>
                          <a:ea typeface="Garamond" pitchFamily="34" charset="-122"/>
                          <a:cs typeface="Garamond" pitchFamily="34" charset="-120"/>
                        </a:rPr>
                        <a:t>About 0.5 m/s; length precision of +/- 0.25 in</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r>
              <a:tr h="429768">
                <a:tc>
                  <a:txBody>
                    <a:bodyPr/>
                    <a:lstStyle/>
                    <a:p>
                      <a:pPr indent="0" marL="0">
                        <a:buNone/>
                      </a:pPr>
                      <a:r>
                        <a:rPr lang="en-US" sz="1050" b="1" dirty="0">
                          <a:solidFill>
                            <a:srgbClr val="10222F"/>
                          </a:solidFill>
                          <a:latin typeface="Garamond" pitchFamily="34" charset="0"/>
                          <a:ea typeface="Garamond" pitchFamily="34" charset="-122"/>
                          <a:cs typeface="Garamond" pitchFamily="34" charset="-120"/>
                        </a:rPr>
                        <a:t>Thermal, post deploy</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c>
                  <a:txBody>
                    <a:bodyPr/>
                    <a:lstStyle/>
                    <a:p>
                      <a:pPr indent="0" marL="0">
                        <a:buNone/>
                      </a:pPr>
                      <a:r>
                        <a:rPr lang="en-US" sz="1050" dirty="0">
                          <a:solidFill>
                            <a:srgbClr val="1E2A33"/>
                          </a:solidFill>
                          <a:latin typeface="Garamond" pitchFamily="34" charset="0"/>
                          <a:ea typeface="Garamond" pitchFamily="34" charset="-122"/>
                          <a:cs typeface="Garamond" pitchFamily="34" charset="-120"/>
                        </a:rPr>
                        <a:t>-135 C to +120 C</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r>
              <a:tr h="429768">
                <a:tc>
                  <a:txBody>
                    <a:bodyPr/>
                    <a:lstStyle/>
                    <a:p>
                      <a:pPr indent="0" marL="0">
                        <a:buNone/>
                      </a:pPr>
                      <a:r>
                        <a:rPr lang="en-US" sz="1050" b="1" dirty="0">
                          <a:solidFill>
                            <a:srgbClr val="10222F"/>
                          </a:solidFill>
                          <a:latin typeface="Garamond" pitchFamily="34" charset="0"/>
                          <a:ea typeface="Garamond" pitchFamily="34" charset="-122"/>
                          <a:cs typeface="Garamond" pitchFamily="34" charset="-120"/>
                        </a:rPr>
                        <a:t>Structure</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c>
                  <a:txBody>
                    <a:bodyPr/>
                    <a:lstStyle/>
                    <a:p>
                      <a:pPr indent="0" marL="0">
                        <a:buNone/>
                      </a:pPr>
                      <a:r>
                        <a:rPr lang="en-US" sz="1050" dirty="0">
                          <a:solidFill>
                            <a:srgbClr val="1E2A33"/>
                          </a:solidFill>
                          <a:latin typeface="Garamond" pitchFamily="34" charset="0"/>
                          <a:ea typeface="Garamond" pitchFamily="34" charset="-122"/>
                          <a:cs typeface="Garamond" pitchFamily="34" charset="-120"/>
                        </a:rPr>
                        <a:t>Stowed first mode above 200 Hz</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r>
              <a:tr h="429768">
                <a:tc>
                  <a:txBody>
                    <a:bodyPr/>
                    <a:lstStyle/>
                    <a:p>
                      <a:pPr indent="0" marL="0">
                        <a:buNone/>
                      </a:pPr>
                      <a:r>
                        <a:rPr lang="en-US" sz="1050" b="1" dirty="0">
                          <a:solidFill>
                            <a:srgbClr val="10222F"/>
                          </a:solidFill>
                          <a:latin typeface="Garamond" pitchFamily="34" charset="0"/>
                          <a:ea typeface="Garamond" pitchFamily="34" charset="-122"/>
                          <a:cs typeface="Garamond" pitchFamily="34" charset="-120"/>
                        </a:rPr>
                        <a:t>Random vibration</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c>
                  <a:txBody>
                    <a:bodyPr/>
                    <a:lstStyle/>
                    <a:p>
                      <a:pPr indent="0" marL="0">
                        <a:buNone/>
                      </a:pPr>
                      <a:r>
                        <a:rPr lang="en-US" sz="1050" dirty="0">
                          <a:solidFill>
                            <a:srgbClr val="1E2A33"/>
                          </a:solidFill>
                          <a:latin typeface="Garamond" pitchFamily="34" charset="0"/>
                          <a:ea typeface="Garamond" pitchFamily="34" charset="-122"/>
                          <a:cs typeface="Garamond" pitchFamily="34" charset="-120"/>
                        </a:rPr>
                        <a:t>GSFC-STD-7000B protoflight levels</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r>
            </a:tbl>
          </a:graphicData>
        </a:graphic>
      </p:graphicFrame>
      <p:pic>
        <p:nvPicPr>
          <p:cNvPr id="9" name="Image 1" descr="assets/s6_test.jpg">    </p:cNvPr>
          <p:cNvPicPr>
            <a:picLocks noChangeAspect="1"/>
          </p:cNvPicPr>
          <p:nvPr/>
        </p:nvPicPr>
        <p:blipFill>
          <a:blip r:embed="rId2"/>
          <a:stretch>
            <a:fillRect/>
          </a:stretch>
        </p:blipFill>
        <p:spPr>
          <a:xfrm>
            <a:off x="6995160" y="1417320"/>
            <a:ext cx="4114800" cy="2103120"/>
          </a:xfrm>
          <a:prstGeom prst="rect">
            <a:avLst/>
          </a:prstGeom>
        </p:spPr>
      </p:pic>
      <p:sp>
        <p:nvSpPr>
          <p:cNvPr id="10" name="Shape 5"/>
          <p:cNvSpPr/>
          <p:nvPr/>
        </p:nvSpPr>
        <p:spPr>
          <a:xfrm>
            <a:off x="6995160" y="1417320"/>
            <a:ext cx="4114800" cy="2103120"/>
          </a:xfrm>
          <a:prstGeom prst="rect">
            <a:avLst/>
          </a:prstGeom>
          <a:ln w="12700">
            <a:solidFill>
              <a:srgbClr val="C6D2DA"/>
            </a:solidFill>
            <a:prstDash val="solid"/>
          </a:ln>
        </p:spPr>
      </p:sp>
      <p:sp>
        <p:nvSpPr>
          <p:cNvPr id="11" name="Text 6"/>
          <p:cNvSpPr/>
          <p:nvPr/>
        </p:nvSpPr>
        <p:spPr>
          <a:xfrm>
            <a:off x="6995160" y="3547872"/>
            <a:ext cx="4114800"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Controlled deployment testing at the Berkeley facility.</a:t>
            </a:r>
            <a:endParaRPr lang="en-US" sz="950" dirty="0"/>
          </a:p>
        </p:txBody>
      </p:sp>
      <p:pic>
        <p:nvPicPr>
          <p:cNvPr id="12" name="Image 2" descr="assets/s6_array.jpg">    </p:cNvPr>
          <p:cNvPicPr>
            <a:picLocks noChangeAspect="1"/>
          </p:cNvPicPr>
          <p:nvPr/>
        </p:nvPicPr>
        <p:blipFill>
          <a:blip r:embed="rId3"/>
          <a:stretch>
            <a:fillRect/>
          </a:stretch>
        </p:blipFill>
        <p:spPr>
          <a:xfrm>
            <a:off x="6995160" y="3913632"/>
            <a:ext cx="4114800" cy="2103120"/>
          </a:xfrm>
          <a:prstGeom prst="rect">
            <a:avLst/>
          </a:prstGeom>
        </p:spPr>
      </p:pic>
      <p:sp>
        <p:nvSpPr>
          <p:cNvPr id="13" name="Shape 7"/>
          <p:cNvSpPr/>
          <p:nvPr/>
        </p:nvSpPr>
        <p:spPr>
          <a:xfrm>
            <a:off x="6995160" y="3913632"/>
            <a:ext cx="4114800" cy="2103120"/>
          </a:xfrm>
          <a:prstGeom prst="rect">
            <a:avLst/>
          </a:prstGeom>
          <a:ln w="12700">
            <a:solidFill>
              <a:srgbClr val="C6D2DA"/>
            </a:solidFill>
            <a:prstDash val="solid"/>
          </a:ln>
        </p:spPr>
      </p:sp>
      <p:sp>
        <p:nvSpPr>
          <p:cNvPr id="14" name="Text 8"/>
          <p:cNvSpPr/>
          <p:nvPr/>
        </p:nvSpPr>
        <p:spPr>
          <a:xfrm>
            <a:off x="6995160" y="6044184"/>
            <a:ext cx="4114800"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SB1 class mechanism integrated on a flight solar array.</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PRODUCT DETAIL</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Model SB2: SABER for Small Platforms</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7</a:t>
            </a:r>
            <a:endParaRPr lang="en-US" sz="850" dirty="0"/>
          </a:p>
        </p:txBody>
      </p:sp>
      <p:sp>
        <p:nvSpPr>
          <p:cNvPr id="7" name="Text 4"/>
          <p:cNvSpPr/>
          <p:nvPr/>
        </p:nvSpPr>
        <p:spPr>
          <a:xfrm>
            <a:off x="822960" y="1371600"/>
            <a:ext cx="6400800" cy="548640"/>
          </a:xfrm>
          <a:prstGeom prst="rect">
            <a:avLst/>
          </a:prstGeom>
          <a:noFill/>
          <a:ln/>
        </p:spPr>
        <p:txBody>
          <a:bodyPr wrap="square" lIns="0" tIns="0" rIns="0" bIns="0" rtlCol="0" anchor="t"/>
          <a:lstStyle/>
          <a:p>
            <a:pPr indent="0" marL="0">
              <a:lnSpc>
                <a:spcPct val="105000"/>
              </a:lnSpc>
              <a:buNone/>
            </a:pPr>
            <a:r>
              <a:rPr lang="en-US" sz="1250" dirty="0">
                <a:solidFill>
                  <a:srgbClr val="1E2A33"/>
                </a:solidFill>
                <a:latin typeface="Garamond" pitchFamily="34" charset="0"/>
                <a:ea typeface="Garamond" pitchFamily="34" charset="-122"/>
                <a:cs typeface="Garamond" pitchFamily="34" charset="-120"/>
              </a:rPr>
              <a:t>A 200 gram class deployable boom that brings full SABER capability to CubeSats, lunar payloads, and mass constrained platforms.</a:t>
            </a:r>
            <a:endParaRPr lang="en-US" sz="1250" dirty="0"/>
          </a:p>
        </p:txBody>
      </p:sp>
      <p:sp>
        <p:nvSpPr>
          <p:cNvPr id="8" name="Text 5"/>
          <p:cNvSpPr/>
          <p:nvPr/>
        </p:nvSpPr>
        <p:spPr>
          <a:xfrm>
            <a:off x="822960" y="2057400"/>
            <a:ext cx="3108960" cy="219456"/>
          </a:xfrm>
          <a:prstGeom prst="rect">
            <a:avLst/>
          </a:prstGeom>
          <a:noFill/>
          <a:ln/>
        </p:spPr>
        <p:txBody>
          <a:bodyPr wrap="square" lIns="0" tIns="0" rIns="0" bIns="0" rtlCol="0" anchor="ctr"/>
          <a:lstStyle/>
          <a:p>
            <a:pPr indent="0" marL="0">
              <a:buNone/>
            </a:pPr>
            <a:r>
              <a:rPr lang="en-US" sz="1050" b="1" dirty="0">
                <a:solidFill>
                  <a:srgbClr val="007BCB"/>
                </a:solidFill>
                <a:latin typeface="Garamond" pitchFamily="34" charset="0"/>
                <a:ea typeface="Garamond" pitchFamily="34" charset="-122"/>
                <a:cs typeface="Garamond" pitchFamily="34" charset="-120"/>
              </a:rPr>
              <a:t>Deployed length</a:t>
            </a:r>
            <a:endParaRPr lang="en-US" sz="1050" dirty="0"/>
          </a:p>
        </p:txBody>
      </p:sp>
      <p:sp>
        <p:nvSpPr>
          <p:cNvPr id="9" name="Text 6"/>
          <p:cNvSpPr/>
          <p:nvPr/>
        </p:nvSpPr>
        <p:spPr>
          <a:xfrm>
            <a:off x="822960" y="2276856"/>
            <a:ext cx="3108960" cy="256032"/>
          </a:xfrm>
          <a:prstGeom prst="rect">
            <a:avLst/>
          </a:prstGeom>
          <a:noFill/>
          <a:ln/>
        </p:spPr>
        <p:txBody>
          <a:bodyPr wrap="square" lIns="0" tIns="0" rIns="0" bIns="0" rtlCol="0" anchor="ctr"/>
          <a:lstStyle/>
          <a:p>
            <a:pPr indent="0" marL="0">
              <a:buNone/>
            </a:pPr>
            <a:r>
              <a:rPr lang="en-US" sz="1250" dirty="0">
                <a:solidFill>
                  <a:srgbClr val="1E2A33"/>
                </a:solidFill>
                <a:latin typeface="Garamond" pitchFamily="34" charset="0"/>
                <a:ea typeface="Garamond" pitchFamily="34" charset="-122"/>
                <a:cs typeface="Garamond" pitchFamily="34" charset="-120"/>
              </a:rPr>
              <a:t>Up to 19.7 ft (6.0 m)</a:t>
            </a:r>
            <a:endParaRPr lang="en-US" sz="1250" dirty="0"/>
          </a:p>
        </p:txBody>
      </p:sp>
      <p:sp>
        <p:nvSpPr>
          <p:cNvPr id="10" name="Text 7"/>
          <p:cNvSpPr/>
          <p:nvPr/>
        </p:nvSpPr>
        <p:spPr>
          <a:xfrm>
            <a:off x="4069080" y="2057400"/>
            <a:ext cx="3108960" cy="219456"/>
          </a:xfrm>
          <a:prstGeom prst="rect">
            <a:avLst/>
          </a:prstGeom>
          <a:noFill/>
          <a:ln/>
        </p:spPr>
        <p:txBody>
          <a:bodyPr wrap="square" lIns="0" tIns="0" rIns="0" bIns="0" rtlCol="0" anchor="ctr"/>
          <a:lstStyle/>
          <a:p>
            <a:pPr indent="0" marL="0">
              <a:buNone/>
            </a:pPr>
            <a:r>
              <a:rPr lang="en-US" sz="1050" b="1" dirty="0">
                <a:solidFill>
                  <a:srgbClr val="007BCB"/>
                </a:solidFill>
                <a:latin typeface="Garamond" pitchFamily="34" charset="0"/>
                <a:ea typeface="Garamond" pitchFamily="34" charset="-122"/>
                <a:cs typeface="Garamond" pitchFamily="34" charset="-120"/>
              </a:rPr>
              <a:t>Mass</a:t>
            </a:r>
            <a:endParaRPr lang="en-US" sz="1050" dirty="0"/>
          </a:p>
        </p:txBody>
      </p:sp>
      <p:sp>
        <p:nvSpPr>
          <p:cNvPr id="11" name="Text 8"/>
          <p:cNvSpPr/>
          <p:nvPr/>
        </p:nvSpPr>
        <p:spPr>
          <a:xfrm>
            <a:off x="4069080" y="2276856"/>
            <a:ext cx="3108960" cy="256032"/>
          </a:xfrm>
          <a:prstGeom prst="rect">
            <a:avLst/>
          </a:prstGeom>
          <a:noFill/>
          <a:ln/>
        </p:spPr>
        <p:txBody>
          <a:bodyPr wrap="square" lIns="0" tIns="0" rIns="0" bIns="0" rtlCol="0" anchor="ctr"/>
          <a:lstStyle/>
          <a:p>
            <a:pPr indent="0" marL="0">
              <a:buNone/>
            </a:pPr>
            <a:r>
              <a:rPr lang="en-US" sz="1250" dirty="0">
                <a:solidFill>
                  <a:srgbClr val="1E2A33"/>
                </a:solidFill>
                <a:latin typeface="Garamond" pitchFamily="34" charset="0"/>
                <a:ea typeface="Garamond" pitchFamily="34" charset="-122"/>
                <a:cs typeface="Garamond" pitchFamily="34" charset="-120"/>
              </a:rPr>
              <a:t>0.44 lb (200 g)</a:t>
            </a:r>
            <a:endParaRPr lang="en-US" sz="1250" dirty="0"/>
          </a:p>
        </p:txBody>
      </p:sp>
      <p:sp>
        <p:nvSpPr>
          <p:cNvPr id="12" name="Text 9"/>
          <p:cNvSpPr/>
          <p:nvPr/>
        </p:nvSpPr>
        <p:spPr>
          <a:xfrm>
            <a:off x="822960" y="2715768"/>
            <a:ext cx="3108960" cy="219456"/>
          </a:xfrm>
          <a:prstGeom prst="rect">
            <a:avLst/>
          </a:prstGeom>
          <a:noFill/>
          <a:ln/>
        </p:spPr>
        <p:txBody>
          <a:bodyPr wrap="square" lIns="0" tIns="0" rIns="0" bIns="0" rtlCol="0" anchor="ctr"/>
          <a:lstStyle/>
          <a:p>
            <a:pPr indent="0" marL="0">
              <a:buNone/>
            </a:pPr>
            <a:r>
              <a:rPr lang="en-US" sz="1050" b="1" dirty="0">
                <a:solidFill>
                  <a:srgbClr val="007BCB"/>
                </a:solidFill>
                <a:latin typeface="Garamond" pitchFamily="34" charset="0"/>
                <a:ea typeface="Garamond" pitchFamily="34" charset="-122"/>
                <a:cs typeface="Garamond" pitchFamily="34" charset="-120"/>
              </a:rPr>
              <a:t>Stowed envelope</a:t>
            </a:r>
            <a:endParaRPr lang="en-US" sz="1050" dirty="0"/>
          </a:p>
        </p:txBody>
      </p:sp>
      <p:sp>
        <p:nvSpPr>
          <p:cNvPr id="13" name="Text 10"/>
          <p:cNvSpPr/>
          <p:nvPr/>
        </p:nvSpPr>
        <p:spPr>
          <a:xfrm>
            <a:off x="822960" y="2935224"/>
            <a:ext cx="3108960" cy="256032"/>
          </a:xfrm>
          <a:prstGeom prst="rect">
            <a:avLst/>
          </a:prstGeom>
          <a:noFill/>
          <a:ln/>
        </p:spPr>
        <p:txBody>
          <a:bodyPr wrap="square" lIns="0" tIns="0" rIns="0" bIns="0" rtlCol="0" anchor="ctr"/>
          <a:lstStyle/>
          <a:p>
            <a:pPr indent="0" marL="0">
              <a:buNone/>
            </a:pPr>
            <a:r>
              <a:rPr lang="en-US" sz="1250" dirty="0">
                <a:solidFill>
                  <a:srgbClr val="1E2A33"/>
                </a:solidFill>
                <a:latin typeface="Garamond" pitchFamily="34" charset="0"/>
                <a:ea typeface="Garamond" pitchFamily="34" charset="-122"/>
                <a:cs typeface="Garamond" pitchFamily="34" charset="-120"/>
              </a:rPr>
              <a:t>1.4 x 1.8 x 3.2 in</a:t>
            </a:r>
            <a:endParaRPr lang="en-US" sz="1250" dirty="0"/>
          </a:p>
        </p:txBody>
      </p:sp>
      <p:sp>
        <p:nvSpPr>
          <p:cNvPr id="14" name="Text 11"/>
          <p:cNvSpPr/>
          <p:nvPr/>
        </p:nvSpPr>
        <p:spPr>
          <a:xfrm>
            <a:off x="4069080" y="2715768"/>
            <a:ext cx="3108960" cy="219456"/>
          </a:xfrm>
          <a:prstGeom prst="rect">
            <a:avLst/>
          </a:prstGeom>
          <a:noFill/>
          <a:ln/>
        </p:spPr>
        <p:txBody>
          <a:bodyPr wrap="square" lIns="0" tIns="0" rIns="0" bIns="0" rtlCol="0" anchor="ctr"/>
          <a:lstStyle/>
          <a:p>
            <a:pPr indent="0" marL="0">
              <a:buNone/>
            </a:pPr>
            <a:r>
              <a:rPr lang="en-US" sz="1050" b="1" dirty="0">
                <a:solidFill>
                  <a:srgbClr val="007BCB"/>
                </a:solidFill>
                <a:latin typeface="Garamond" pitchFamily="34" charset="0"/>
                <a:ea typeface="Garamond" pitchFamily="34" charset="-122"/>
                <a:cs typeface="Garamond" pitchFamily="34" charset="-120"/>
              </a:rPr>
              <a:t>Stow ratio</a:t>
            </a:r>
            <a:endParaRPr lang="en-US" sz="1050" dirty="0"/>
          </a:p>
        </p:txBody>
      </p:sp>
      <p:sp>
        <p:nvSpPr>
          <p:cNvPr id="15" name="Text 12"/>
          <p:cNvSpPr/>
          <p:nvPr/>
        </p:nvSpPr>
        <p:spPr>
          <a:xfrm>
            <a:off x="4069080" y="2935224"/>
            <a:ext cx="3108960" cy="256032"/>
          </a:xfrm>
          <a:prstGeom prst="rect">
            <a:avLst/>
          </a:prstGeom>
          <a:noFill/>
          <a:ln/>
        </p:spPr>
        <p:txBody>
          <a:bodyPr wrap="square" lIns="0" tIns="0" rIns="0" bIns="0" rtlCol="0" anchor="ctr"/>
          <a:lstStyle/>
          <a:p>
            <a:pPr indent="0" marL="0">
              <a:buNone/>
            </a:pPr>
            <a:r>
              <a:rPr lang="en-US" sz="1250" dirty="0">
                <a:solidFill>
                  <a:srgbClr val="1E2A33"/>
                </a:solidFill>
                <a:latin typeface="Garamond" pitchFamily="34" charset="0"/>
                <a:ea typeface="Garamond" pitchFamily="34" charset="-122"/>
                <a:cs typeface="Garamond" pitchFamily="34" charset="-120"/>
              </a:rPr>
              <a:t>Up to 50:1</a:t>
            </a:r>
            <a:endParaRPr lang="en-US" sz="1250" dirty="0"/>
          </a:p>
        </p:txBody>
      </p:sp>
      <p:sp>
        <p:nvSpPr>
          <p:cNvPr id="16" name="Text 13"/>
          <p:cNvSpPr/>
          <p:nvPr/>
        </p:nvSpPr>
        <p:spPr>
          <a:xfrm>
            <a:off x="822960" y="3374136"/>
            <a:ext cx="3108960" cy="219456"/>
          </a:xfrm>
          <a:prstGeom prst="rect">
            <a:avLst/>
          </a:prstGeom>
          <a:noFill/>
          <a:ln/>
        </p:spPr>
        <p:txBody>
          <a:bodyPr wrap="square" lIns="0" tIns="0" rIns="0" bIns="0" rtlCol="0" anchor="ctr"/>
          <a:lstStyle/>
          <a:p>
            <a:pPr indent="0" marL="0">
              <a:buNone/>
            </a:pPr>
            <a:r>
              <a:rPr lang="en-US" sz="1050" b="1" dirty="0">
                <a:solidFill>
                  <a:srgbClr val="007BCB"/>
                </a:solidFill>
                <a:latin typeface="Garamond" pitchFamily="34" charset="0"/>
                <a:ea typeface="Garamond" pitchFamily="34" charset="-122"/>
                <a:cs typeface="Garamond" pitchFamily="34" charset="-120"/>
              </a:rPr>
              <a:t>Thermal capability</a:t>
            </a:r>
            <a:endParaRPr lang="en-US" sz="1050" dirty="0"/>
          </a:p>
        </p:txBody>
      </p:sp>
      <p:sp>
        <p:nvSpPr>
          <p:cNvPr id="17" name="Text 14"/>
          <p:cNvSpPr/>
          <p:nvPr/>
        </p:nvSpPr>
        <p:spPr>
          <a:xfrm>
            <a:off x="822960" y="3593592"/>
            <a:ext cx="3108960" cy="256032"/>
          </a:xfrm>
          <a:prstGeom prst="rect">
            <a:avLst/>
          </a:prstGeom>
          <a:noFill/>
          <a:ln/>
        </p:spPr>
        <p:txBody>
          <a:bodyPr wrap="square" lIns="0" tIns="0" rIns="0" bIns="0" rtlCol="0" anchor="ctr"/>
          <a:lstStyle/>
          <a:p>
            <a:pPr indent="0" marL="0">
              <a:buNone/>
            </a:pPr>
            <a:r>
              <a:rPr lang="en-US" sz="1250" dirty="0">
                <a:solidFill>
                  <a:srgbClr val="1E2A33"/>
                </a:solidFill>
                <a:latin typeface="Garamond" pitchFamily="34" charset="0"/>
                <a:ea typeface="Garamond" pitchFamily="34" charset="-122"/>
                <a:cs typeface="Garamond" pitchFamily="34" charset="-120"/>
              </a:rPr>
              <a:t>-200 C to +200 C</a:t>
            </a:r>
            <a:endParaRPr lang="en-US" sz="1250" dirty="0"/>
          </a:p>
        </p:txBody>
      </p:sp>
      <p:sp>
        <p:nvSpPr>
          <p:cNvPr id="18" name="Text 15"/>
          <p:cNvSpPr/>
          <p:nvPr/>
        </p:nvSpPr>
        <p:spPr>
          <a:xfrm>
            <a:off x="4069080" y="3374136"/>
            <a:ext cx="3108960" cy="219456"/>
          </a:xfrm>
          <a:prstGeom prst="rect">
            <a:avLst/>
          </a:prstGeom>
          <a:noFill/>
          <a:ln/>
        </p:spPr>
        <p:txBody>
          <a:bodyPr wrap="square" lIns="0" tIns="0" rIns="0" bIns="0" rtlCol="0" anchor="ctr"/>
          <a:lstStyle/>
          <a:p>
            <a:pPr indent="0" marL="0">
              <a:buNone/>
            </a:pPr>
            <a:r>
              <a:rPr lang="en-US" sz="1050" b="1" dirty="0">
                <a:solidFill>
                  <a:srgbClr val="007BCB"/>
                </a:solidFill>
                <a:latin typeface="Garamond" pitchFamily="34" charset="0"/>
                <a:ea typeface="Garamond" pitchFamily="34" charset="-122"/>
                <a:cs typeface="Garamond" pitchFamily="34" charset="-120"/>
              </a:rPr>
              <a:t>Deploy power</a:t>
            </a:r>
            <a:endParaRPr lang="en-US" sz="1050" dirty="0"/>
          </a:p>
        </p:txBody>
      </p:sp>
      <p:sp>
        <p:nvSpPr>
          <p:cNvPr id="19" name="Text 16"/>
          <p:cNvSpPr/>
          <p:nvPr/>
        </p:nvSpPr>
        <p:spPr>
          <a:xfrm>
            <a:off x="4069080" y="3593592"/>
            <a:ext cx="3108960" cy="256032"/>
          </a:xfrm>
          <a:prstGeom prst="rect">
            <a:avLst/>
          </a:prstGeom>
          <a:noFill/>
          <a:ln/>
        </p:spPr>
        <p:txBody>
          <a:bodyPr wrap="square" lIns="0" tIns="0" rIns="0" bIns="0" rtlCol="0" anchor="ctr"/>
          <a:lstStyle/>
          <a:p>
            <a:pPr indent="0" marL="0">
              <a:buNone/>
            </a:pPr>
            <a:r>
              <a:rPr lang="en-US" sz="1250" dirty="0">
                <a:solidFill>
                  <a:srgbClr val="1E2A33"/>
                </a:solidFill>
                <a:latin typeface="Garamond" pitchFamily="34" charset="0"/>
                <a:ea typeface="Garamond" pitchFamily="34" charset="-122"/>
                <a:cs typeface="Garamond" pitchFamily="34" charset="-120"/>
              </a:rPr>
              <a:t>134 W pulse, under 10 ms</a:t>
            </a:r>
            <a:endParaRPr lang="en-US" sz="1250" dirty="0"/>
          </a:p>
        </p:txBody>
      </p:sp>
      <p:sp>
        <p:nvSpPr>
          <p:cNvPr id="20" name="Shape 17"/>
          <p:cNvSpPr/>
          <p:nvPr/>
        </p:nvSpPr>
        <p:spPr>
          <a:xfrm>
            <a:off x="822960" y="4160520"/>
            <a:ext cx="6400800" cy="2057400"/>
          </a:xfrm>
          <a:prstGeom prst="roundRect">
            <a:avLst>
              <a:gd name="adj" fmla="val 2222"/>
            </a:avLst>
          </a:prstGeom>
          <a:solidFill>
            <a:srgbClr val="F3F7FA"/>
          </a:solidFill>
          <a:ln/>
        </p:spPr>
      </p:sp>
      <p:sp>
        <p:nvSpPr>
          <p:cNvPr id="21" name="Text 18"/>
          <p:cNvSpPr/>
          <p:nvPr/>
        </p:nvSpPr>
        <p:spPr>
          <a:xfrm>
            <a:off x="1005840" y="4315968"/>
            <a:ext cx="6035040" cy="274320"/>
          </a:xfrm>
          <a:prstGeom prst="rect">
            <a:avLst/>
          </a:prstGeom>
          <a:noFill/>
          <a:ln/>
        </p:spPr>
        <p:txBody>
          <a:bodyPr wrap="square" lIns="0" tIns="0" rIns="0" bIns="0" rtlCol="0" anchor="ctr"/>
          <a:lstStyle/>
          <a:p>
            <a:pPr indent="0" marL="0">
              <a:buNone/>
            </a:pPr>
            <a:r>
              <a:rPr lang="en-US" sz="1350" b="1" dirty="0">
                <a:solidFill>
                  <a:srgbClr val="10222F"/>
                </a:solidFill>
                <a:latin typeface="Garamond" pitchFamily="34" charset="0"/>
                <a:ea typeface="Garamond" pitchFamily="34" charset="-122"/>
                <a:cs typeface="Garamond" pitchFamily="34" charset="-120"/>
              </a:rPr>
              <a:t>Proprietary release mechanism</a:t>
            </a:r>
            <a:endParaRPr lang="en-US" sz="1350" dirty="0"/>
          </a:p>
        </p:txBody>
      </p:sp>
      <p:sp>
        <p:nvSpPr>
          <p:cNvPr id="22" name="Text 19"/>
          <p:cNvSpPr/>
          <p:nvPr/>
        </p:nvSpPr>
        <p:spPr>
          <a:xfrm>
            <a:off x="1005840" y="4663440"/>
            <a:ext cx="6035040" cy="1463040"/>
          </a:xfrm>
          <a:prstGeom prst="rect">
            <a:avLst/>
          </a:prstGeom>
          <a:noFill/>
          <a:ln/>
        </p:spPr>
        <p:txBody>
          <a:bodyPr wrap="square" lIns="0" tIns="0" rIns="0" bIns="0" rtlCol="0" anchor="t"/>
          <a:lstStyle/>
          <a:p>
            <a:pPr algn="l" marL="127000" indent="-127000">
              <a:spcAft>
                <a:spcPts val="500"/>
              </a:spcAft>
              <a:buSzPct val="100000"/>
              <a:buChar char="•"/>
            </a:pPr>
            <a:r>
              <a:rPr lang="en-US" sz="1100" dirty="0">
                <a:solidFill>
                  <a:srgbClr val="1E2A33"/>
                </a:solidFill>
                <a:latin typeface="Garamond" pitchFamily="34" charset="0"/>
                <a:ea typeface="Garamond" pitchFamily="34" charset="-122"/>
                <a:cs typeface="Garamond" pitchFamily="34" charset="-120"/>
              </a:rPr>
              <a:t>Melt wire design with redundant actuation mechanisms and circuits</a:t>
            </a:r>
            <a:endParaRPr lang="en-US" sz="1100" dirty="0"/>
          </a:p>
          <a:p>
            <a:pPr algn="l" marL="127000" indent="-127000">
              <a:spcAft>
                <a:spcPts val="500"/>
              </a:spcAft>
              <a:buSzPct val="100000"/>
              <a:buChar char="•"/>
            </a:pPr>
            <a:r>
              <a:rPr lang="en-US" sz="1100" dirty="0">
                <a:solidFill>
                  <a:srgbClr val="1E2A33"/>
                </a:solidFill>
                <a:latin typeface="Garamond" pitchFamily="34" charset="0"/>
                <a:ea typeface="Garamond" pitchFamily="34" charset="-122"/>
                <a:cs typeface="Garamond" pitchFamily="34" charset="-120"/>
              </a:rPr>
              <a:t>Re usable, non explosive release; no ordnance handling</a:t>
            </a:r>
            <a:endParaRPr lang="en-US" sz="1100" dirty="0"/>
          </a:p>
          <a:p>
            <a:pPr algn="l" marL="127000" indent="-127000">
              <a:spcAft>
                <a:spcPts val="500"/>
              </a:spcAft>
              <a:buSzPct val="100000"/>
              <a:buChar char="•"/>
            </a:pPr>
            <a:r>
              <a:rPr lang="en-US" sz="1100" dirty="0">
                <a:solidFill>
                  <a:srgbClr val="1E2A33"/>
                </a:solidFill>
                <a:latin typeface="Garamond" pitchFamily="34" charset="0"/>
                <a:ea typeface="Garamond" pitchFamily="34" charset="-122"/>
                <a:cs typeface="Garamond" pitchFamily="34" charset="-120"/>
              </a:rPr>
              <a:t>Operates above 150 C, beyond the 90 to 120 C limit of SMA actuators</a:t>
            </a:r>
            <a:endParaRPr lang="en-US" sz="1100" dirty="0"/>
          </a:p>
          <a:p>
            <a:pPr algn="l" marL="127000" indent="-127000">
              <a:spcAft>
                <a:spcPts val="500"/>
              </a:spcAft>
              <a:buSzPct val="100000"/>
              <a:buChar char="•"/>
            </a:pPr>
            <a:r>
              <a:rPr lang="en-US" sz="1100" dirty="0">
                <a:solidFill>
                  <a:srgbClr val="1E2A33"/>
                </a:solidFill>
                <a:latin typeface="Garamond" pitchFamily="34" charset="0"/>
                <a:ea typeface="Garamond" pitchFamily="34" charset="-122"/>
                <a:cs typeface="Garamond" pitchFamily="34" charset="-120"/>
              </a:rPr>
              <a:t>Roughly one third the stowed length of comparable devices, at lower cost and shorter lead times</a:t>
            </a:r>
            <a:endParaRPr lang="en-US" sz="1100" dirty="0"/>
          </a:p>
        </p:txBody>
      </p:sp>
      <p:pic>
        <p:nvPicPr>
          <p:cNvPr id="23" name="Image 1" descr="assets/s7_render.jpg">    </p:cNvPr>
          <p:cNvPicPr>
            <a:picLocks noChangeAspect="1"/>
          </p:cNvPicPr>
          <p:nvPr/>
        </p:nvPicPr>
        <p:blipFill>
          <a:blip r:embed="rId2"/>
          <a:stretch>
            <a:fillRect/>
          </a:stretch>
        </p:blipFill>
        <p:spPr>
          <a:xfrm>
            <a:off x="7635240" y="1417320"/>
            <a:ext cx="3200400" cy="2926080"/>
          </a:xfrm>
          <a:prstGeom prst="rect">
            <a:avLst/>
          </a:prstGeom>
        </p:spPr>
      </p:pic>
      <p:sp>
        <p:nvSpPr>
          <p:cNvPr id="24" name="Shape 20"/>
          <p:cNvSpPr/>
          <p:nvPr/>
        </p:nvSpPr>
        <p:spPr>
          <a:xfrm>
            <a:off x="7635240" y="1417320"/>
            <a:ext cx="3200400" cy="2926080"/>
          </a:xfrm>
          <a:prstGeom prst="rect">
            <a:avLst/>
          </a:prstGeom>
          <a:ln w="12700">
            <a:solidFill>
              <a:srgbClr val="C6D2DA"/>
            </a:solidFill>
            <a:prstDash val="solid"/>
          </a:ln>
        </p:spPr>
      </p:sp>
      <p:sp>
        <p:nvSpPr>
          <p:cNvPr id="25" name="Text 21"/>
          <p:cNvSpPr/>
          <p:nvPr/>
        </p:nvSpPr>
        <p:spPr>
          <a:xfrm>
            <a:off x="7635240" y="4370832"/>
            <a:ext cx="3200400"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Deployable element shown in red.</a:t>
            </a:r>
            <a:endParaRPr lang="en-US" sz="950" dirty="0"/>
          </a:p>
        </p:txBody>
      </p:sp>
      <p:pic>
        <p:nvPicPr>
          <p:cNvPr id="26" name="Image 2" descr="assets/s7_dims.jpg">    </p:cNvPr>
          <p:cNvPicPr>
            <a:picLocks noChangeAspect="1"/>
          </p:cNvPicPr>
          <p:nvPr/>
        </p:nvPicPr>
        <p:blipFill>
          <a:blip r:embed="rId3"/>
          <a:stretch>
            <a:fillRect/>
          </a:stretch>
        </p:blipFill>
        <p:spPr>
          <a:xfrm>
            <a:off x="7635240" y="4754880"/>
            <a:ext cx="3200400" cy="1828800"/>
          </a:xfrm>
          <a:prstGeom prst="rect">
            <a:avLst/>
          </a:prstGeom>
        </p:spPr>
      </p:pic>
      <p:sp>
        <p:nvSpPr>
          <p:cNvPr id="27" name="Shape 22"/>
          <p:cNvSpPr/>
          <p:nvPr/>
        </p:nvSpPr>
        <p:spPr>
          <a:xfrm>
            <a:off x="7635240" y="4754880"/>
            <a:ext cx="3200400" cy="1828800"/>
          </a:xfrm>
          <a:prstGeom prst="rect">
            <a:avLst/>
          </a:prstGeom>
          <a:ln w="12700">
            <a:solidFill>
              <a:srgbClr val="C6D2DA"/>
            </a:solidFill>
            <a:prstDash val="solid"/>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PRODUCTS</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Deployable Antenna Systems</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8</a:t>
            </a:r>
            <a:endParaRPr lang="en-US" sz="850" dirty="0"/>
          </a:p>
        </p:txBody>
      </p:sp>
      <p:sp>
        <p:nvSpPr>
          <p:cNvPr id="7" name="Text 4"/>
          <p:cNvSpPr/>
          <p:nvPr/>
        </p:nvSpPr>
        <p:spPr>
          <a:xfrm>
            <a:off x="822960" y="1353312"/>
            <a:ext cx="10424160" cy="548640"/>
          </a:xfrm>
          <a:prstGeom prst="rect">
            <a:avLst/>
          </a:prstGeom>
          <a:noFill/>
          <a:ln/>
        </p:spPr>
        <p:txBody>
          <a:bodyPr wrap="square" lIns="0" tIns="0" rIns="0" bIns="0" rtlCol="0" anchor="t"/>
          <a:lstStyle/>
          <a:p>
            <a:pPr indent="0" marL="0">
              <a:buNone/>
            </a:pPr>
            <a:r>
              <a:rPr lang="en-US" sz="1300" dirty="0">
                <a:solidFill>
                  <a:srgbClr val="5C6B76"/>
                </a:solidFill>
                <a:latin typeface="Garamond" pitchFamily="34" charset="0"/>
                <a:ea typeface="Garamond" pitchFamily="34" charset="-122"/>
                <a:cs typeface="Garamond" pitchFamily="34" charset="-120"/>
              </a:rPr>
              <a:t>Stacer based flight antennas for sensitive receivers, transmitters, and radars, configurable as monopoles, dipoles, folded dipoles, and custom arrays with tip mounted instruments.</a:t>
            </a:r>
            <a:endParaRPr lang="en-US" sz="1300" dirty="0"/>
          </a:p>
        </p:txBody>
      </p:sp>
      <p:sp>
        <p:nvSpPr>
          <p:cNvPr id="8" name="Text 5"/>
          <p:cNvSpPr/>
          <p:nvPr/>
        </p:nvSpPr>
        <p:spPr>
          <a:xfrm>
            <a:off x="822960" y="2121408"/>
            <a:ext cx="5394960" cy="274320"/>
          </a:xfrm>
          <a:prstGeom prst="rect">
            <a:avLst/>
          </a:prstGeom>
          <a:noFill/>
          <a:ln/>
        </p:spPr>
        <p:txBody>
          <a:bodyPr wrap="square" lIns="0" tIns="0" rIns="0" bIns="0" rtlCol="0" anchor="ctr"/>
          <a:lstStyle/>
          <a:p>
            <a:pPr indent="0" marL="0">
              <a:buNone/>
            </a:pPr>
            <a:r>
              <a:rPr lang="en-US" sz="1350" b="1" dirty="0">
                <a:solidFill>
                  <a:srgbClr val="10222F"/>
                </a:solidFill>
                <a:latin typeface="Garamond" pitchFamily="34" charset="0"/>
                <a:ea typeface="Garamond" pitchFamily="34" charset="-122"/>
                <a:cs typeface="Garamond" pitchFamily="34" charset="-120"/>
              </a:rPr>
              <a:t>Configurations and options</a:t>
            </a:r>
            <a:endParaRPr lang="en-US" sz="1350" dirty="0"/>
          </a:p>
        </p:txBody>
      </p:sp>
      <p:sp>
        <p:nvSpPr>
          <p:cNvPr id="9" name="Text 6"/>
          <p:cNvSpPr/>
          <p:nvPr/>
        </p:nvSpPr>
        <p:spPr>
          <a:xfrm>
            <a:off x="822960" y="2450592"/>
            <a:ext cx="5394960" cy="1691640"/>
          </a:xfrm>
          <a:prstGeom prst="rect">
            <a:avLst/>
          </a:prstGeom>
          <a:noFill/>
          <a:ln/>
        </p:spPr>
        <p:txBody>
          <a:bodyPr wrap="square" lIns="0" tIns="0" rIns="0" bIns="0" rtlCol="0" anchor="t"/>
          <a:lstStyle/>
          <a:p>
            <a:pPr algn="l" marL="127000" indent="-127000">
              <a:spcAft>
                <a:spcPts val="500"/>
              </a:spcAft>
              <a:buSzPct val="100000"/>
              <a:buChar char="•"/>
            </a:pPr>
            <a:r>
              <a:rPr lang="en-US" sz="1150" dirty="0">
                <a:solidFill>
                  <a:srgbClr val="1E2A33"/>
                </a:solidFill>
                <a:latin typeface="Garamond" pitchFamily="34" charset="0"/>
                <a:ea typeface="Garamond" pitchFamily="34" charset="-122"/>
                <a:cs typeface="Garamond" pitchFamily="34" charset="-120"/>
              </a:rPr>
              <a:t>Element lengths of 1 m to 10 m in BeCu or Elgiloy</a:t>
            </a:r>
            <a:endParaRPr lang="en-US" sz="1150" dirty="0"/>
          </a:p>
          <a:p>
            <a:pPr algn="l" marL="127000" indent="-127000">
              <a:spcAft>
                <a:spcPts val="500"/>
              </a:spcAft>
              <a:buSzPct val="100000"/>
              <a:buChar char="•"/>
            </a:pPr>
            <a:r>
              <a:rPr lang="en-US" sz="1150" dirty="0">
                <a:solidFill>
                  <a:srgbClr val="1E2A33"/>
                </a:solidFill>
                <a:latin typeface="Garamond" pitchFamily="34" charset="0"/>
                <a:ea typeface="Garamond" pitchFamily="34" charset="-122"/>
                <a:cs typeface="Garamond" pitchFamily="34" charset="-120"/>
              </a:rPr>
              <a:t>Monopole, dipole, folded dipole, and custom geometries</a:t>
            </a:r>
            <a:endParaRPr lang="en-US" sz="1150" dirty="0"/>
          </a:p>
          <a:p>
            <a:pPr algn="l" marL="127000" indent="-127000">
              <a:spcAft>
                <a:spcPts val="500"/>
              </a:spcAft>
              <a:buSzPct val="100000"/>
              <a:buChar char="•"/>
            </a:pPr>
            <a:r>
              <a:rPr lang="en-US" sz="1150" dirty="0">
                <a:solidFill>
                  <a:srgbClr val="1E2A33"/>
                </a:solidFill>
                <a:latin typeface="Garamond" pitchFamily="34" charset="0"/>
                <a:ea typeface="Garamond" pitchFamily="34" charset="-122"/>
                <a:cs typeface="Garamond" pitchFamily="34" charset="-120"/>
              </a:rPr>
              <a:t>Grounded, isolated, or driven antenna elements</a:t>
            </a:r>
            <a:endParaRPr lang="en-US" sz="1150" dirty="0"/>
          </a:p>
          <a:p>
            <a:pPr algn="l" marL="127000" indent="-127000">
              <a:spcAft>
                <a:spcPts val="500"/>
              </a:spcAft>
              <a:buSzPct val="100000"/>
              <a:buChar char="•"/>
            </a:pPr>
            <a:r>
              <a:rPr lang="en-US" sz="1150" dirty="0">
                <a:solidFill>
                  <a:srgbClr val="1E2A33"/>
                </a:solidFill>
                <a:latin typeface="Garamond" pitchFamily="34" charset="0"/>
                <a:ea typeface="Garamond" pitchFamily="34" charset="-122"/>
                <a:cs typeface="Garamond" pitchFamily="34" charset="-120"/>
              </a:rPr>
              <a:t>Sensors and instruments integrated at the boom tip</a:t>
            </a:r>
            <a:endParaRPr lang="en-US" sz="1150" dirty="0"/>
          </a:p>
          <a:p>
            <a:pPr algn="l" marL="127000" indent="-127000">
              <a:spcAft>
                <a:spcPts val="500"/>
              </a:spcAft>
              <a:buSzPct val="100000"/>
              <a:buChar char="•"/>
            </a:pPr>
            <a:r>
              <a:rPr lang="en-US" sz="1150" dirty="0">
                <a:solidFill>
                  <a:srgbClr val="1E2A33"/>
                </a:solidFill>
                <a:latin typeface="Garamond" pitchFamily="34" charset="0"/>
                <a:ea typeface="Garamond" pitchFamily="34" charset="-122"/>
                <a:cs typeface="Garamond" pitchFamily="34" charset="-120"/>
              </a:rPr>
              <a:t>Delivered fully qualified to mission requirements</a:t>
            </a:r>
            <a:endParaRPr lang="en-US" sz="1150" dirty="0"/>
          </a:p>
        </p:txBody>
      </p:sp>
      <p:sp>
        <p:nvSpPr>
          <p:cNvPr id="10" name="Shape 7"/>
          <p:cNvSpPr/>
          <p:nvPr/>
        </p:nvSpPr>
        <p:spPr>
          <a:xfrm>
            <a:off x="822960" y="4343400"/>
            <a:ext cx="5394960" cy="1828800"/>
          </a:xfrm>
          <a:prstGeom prst="roundRect">
            <a:avLst>
              <a:gd name="adj" fmla="val 2500"/>
            </a:avLst>
          </a:prstGeom>
          <a:solidFill>
            <a:srgbClr val="F3F7FA"/>
          </a:solidFill>
          <a:ln/>
        </p:spPr>
      </p:sp>
      <p:sp>
        <p:nvSpPr>
          <p:cNvPr id="11" name="Text 8"/>
          <p:cNvSpPr/>
          <p:nvPr/>
        </p:nvSpPr>
        <p:spPr>
          <a:xfrm>
            <a:off x="987552" y="4480560"/>
            <a:ext cx="5120640" cy="274320"/>
          </a:xfrm>
          <a:prstGeom prst="rect">
            <a:avLst/>
          </a:prstGeom>
          <a:noFill/>
          <a:ln/>
        </p:spPr>
        <p:txBody>
          <a:bodyPr wrap="square" lIns="0" tIns="0" rIns="0" bIns="0" rtlCol="0" anchor="ctr"/>
          <a:lstStyle/>
          <a:p>
            <a:pPr indent="0" marL="0">
              <a:buNone/>
            </a:pPr>
            <a:r>
              <a:rPr lang="en-US" sz="1250" b="1" dirty="0">
                <a:solidFill>
                  <a:srgbClr val="10222F"/>
                </a:solidFill>
                <a:latin typeface="Garamond" pitchFamily="34" charset="0"/>
                <a:ea typeface="Garamond" pitchFamily="34" charset="-122"/>
                <a:cs typeface="Garamond" pitchFamily="34" charset="-120"/>
              </a:rPr>
              <a:t>Example: 18 m tip to tip dipole (REASON HF class)</a:t>
            </a:r>
            <a:endParaRPr lang="en-US" sz="1250" dirty="0"/>
          </a:p>
        </p:txBody>
      </p:sp>
      <p:sp>
        <p:nvSpPr>
          <p:cNvPr id="12" name="Text 9"/>
          <p:cNvSpPr/>
          <p:nvPr/>
        </p:nvSpPr>
        <p:spPr>
          <a:xfrm>
            <a:off x="987552" y="4828032"/>
            <a:ext cx="5074920" cy="1234440"/>
          </a:xfrm>
          <a:prstGeom prst="rect">
            <a:avLst/>
          </a:prstGeom>
          <a:noFill/>
          <a:ln/>
        </p:spPr>
        <p:txBody>
          <a:bodyPr wrap="square" lIns="0" tIns="0" rIns="0" bIns="0" rtlCol="0" anchor="t"/>
          <a:lstStyle/>
          <a:p>
            <a:pPr algn="l" marL="127000" indent="-127000">
              <a:spcAft>
                <a:spcPts val="500"/>
              </a:spcAft>
              <a:buSzPct val="100000"/>
              <a:buChar char="•"/>
            </a:pPr>
            <a:r>
              <a:rPr lang="en-US" sz="1100" dirty="0">
                <a:solidFill>
                  <a:srgbClr val="1E2A33"/>
                </a:solidFill>
                <a:latin typeface="Garamond" pitchFamily="34" charset="0"/>
                <a:ea typeface="Garamond" pitchFamily="34" charset="-122"/>
                <a:cs typeface="Garamond" pitchFamily="34" charset="-120"/>
              </a:rPr>
              <a:t>Dipole mass under 11.3 kg; 20 x 30 x 10 cm stowed per side</a:t>
            </a:r>
            <a:endParaRPr lang="en-US" sz="1100" dirty="0"/>
          </a:p>
          <a:p>
            <a:pPr algn="l" marL="127000" indent="-127000">
              <a:spcAft>
                <a:spcPts val="500"/>
              </a:spcAft>
              <a:buSzPct val="100000"/>
              <a:buChar char="•"/>
            </a:pPr>
            <a:r>
              <a:rPr lang="en-US" sz="1100" dirty="0">
                <a:solidFill>
                  <a:srgbClr val="1E2A33"/>
                </a:solidFill>
                <a:latin typeface="Garamond" pitchFamily="34" charset="0"/>
                <a:ea typeface="Garamond" pitchFamily="34" charset="-122"/>
                <a:cs typeface="Garamond" pitchFamily="34" charset="-120"/>
              </a:rPr>
              <a:t>Self powered deployment with non explosive actuation</a:t>
            </a:r>
            <a:endParaRPr lang="en-US" sz="1100" dirty="0"/>
          </a:p>
          <a:p>
            <a:pPr algn="l" marL="127000" indent="-127000">
              <a:spcAft>
                <a:spcPts val="500"/>
              </a:spcAft>
              <a:buSzPct val="100000"/>
              <a:buChar char="•"/>
            </a:pPr>
            <a:r>
              <a:rPr lang="en-US" sz="1100" dirty="0">
                <a:solidFill>
                  <a:srgbClr val="1E2A33"/>
                </a:solidFill>
                <a:latin typeface="Garamond" pitchFamily="34" charset="0"/>
                <a:ea typeface="Garamond" pitchFamily="34" charset="-122"/>
                <a:cs typeface="Garamond" pitchFamily="34" charset="-120"/>
              </a:rPr>
              <a:t>Hundreds of successful operational Stacer deployments</a:t>
            </a:r>
            <a:endParaRPr lang="en-US" sz="1100" dirty="0"/>
          </a:p>
        </p:txBody>
      </p:sp>
      <p:pic>
        <p:nvPicPr>
          <p:cNvPr id="13" name="Image 1" descr="assets/s8a_dipole.jpg">    </p:cNvPr>
          <p:cNvPicPr>
            <a:picLocks noChangeAspect="1"/>
          </p:cNvPicPr>
          <p:nvPr/>
        </p:nvPicPr>
        <p:blipFill>
          <a:blip r:embed="rId2"/>
          <a:stretch>
            <a:fillRect/>
          </a:stretch>
        </p:blipFill>
        <p:spPr>
          <a:xfrm>
            <a:off x="6492240" y="2121408"/>
            <a:ext cx="4873752" cy="1609344"/>
          </a:xfrm>
          <a:prstGeom prst="rect">
            <a:avLst/>
          </a:prstGeom>
        </p:spPr>
      </p:pic>
      <p:sp>
        <p:nvSpPr>
          <p:cNvPr id="14" name="Shape 10"/>
          <p:cNvSpPr/>
          <p:nvPr/>
        </p:nvSpPr>
        <p:spPr>
          <a:xfrm>
            <a:off x="6492240" y="2121408"/>
            <a:ext cx="4873752" cy="1609344"/>
          </a:xfrm>
          <a:prstGeom prst="rect">
            <a:avLst/>
          </a:prstGeom>
          <a:ln w="12700">
            <a:solidFill>
              <a:srgbClr val="C6D2DA"/>
            </a:solidFill>
            <a:prstDash val="solid"/>
          </a:ln>
        </p:spPr>
      </p:sp>
      <p:sp>
        <p:nvSpPr>
          <p:cNvPr id="15" name="Text 11"/>
          <p:cNvSpPr/>
          <p:nvPr/>
        </p:nvSpPr>
        <p:spPr>
          <a:xfrm>
            <a:off x="6492240" y="3758184"/>
            <a:ext cx="4846320"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18 m class dipole with central mechanism, shown deployed.</a:t>
            </a:r>
            <a:endParaRPr lang="en-US" sz="950" dirty="0"/>
          </a:p>
        </p:txBody>
      </p:sp>
      <p:sp>
        <p:nvSpPr>
          <p:cNvPr id="16" name="Text 12"/>
          <p:cNvSpPr/>
          <p:nvPr/>
        </p:nvSpPr>
        <p:spPr>
          <a:xfrm>
            <a:off x="6492240" y="4133088"/>
            <a:ext cx="4846320" cy="274320"/>
          </a:xfrm>
          <a:prstGeom prst="rect">
            <a:avLst/>
          </a:prstGeom>
          <a:noFill/>
          <a:ln/>
        </p:spPr>
        <p:txBody>
          <a:bodyPr wrap="square" lIns="0" tIns="0" rIns="0" bIns="0" rtlCol="0" anchor="ctr"/>
          <a:lstStyle/>
          <a:p>
            <a:pPr indent="0" marL="0">
              <a:buNone/>
            </a:pPr>
            <a:r>
              <a:rPr lang="en-US" sz="1350" b="1" dirty="0">
                <a:solidFill>
                  <a:srgbClr val="10222F"/>
                </a:solidFill>
                <a:latin typeface="Garamond" pitchFamily="34" charset="0"/>
                <a:ea typeface="Garamond" pitchFamily="34" charset="-122"/>
                <a:cs typeface="Garamond" pitchFamily="34" charset="-120"/>
              </a:rPr>
              <a:t>Flight heritage</a:t>
            </a:r>
            <a:endParaRPr lang="en-US" sz="13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492240" y="4462272"/>
          <a:ext cx="4873752" cy="914400"/>
        </p:xfrm>
        <a:graphic>
          <a:graphicData uri="http://schemas.openxmlformats.org/drawingml/2006/table">
            <a:tbl>
              <a:tblPr/>
              <a:tblGrid>
                <a:gridCol w="1874520"/>
                <a:gridCol w="2999232"/>
              </a:tblGrid>
              <a:tr h="566928">
                <a:tc>
                  <a:txBody>
                    <a:bodyPr/>
                    <a:lstStyle/>
                    <a:p>
                      <a:pPr indent="0" marL="0">
                        <a:buNone/>
                      </a:pPr>
                      <a:r>
                        <a:rPr lang="en-US" sz="950" b="1" dirty="0">
                          <a:solidFill>
                            <a:srgbClr val="10222F"/>
                          </a:solidFill>
                          <a:latin typeface="Garamond" pitchFamily="34" charset="0"/>
                          <a:ea typeface="Garamond" pitchFamily="34" charset="-122"/>
                          <a:cs typeface="Garamond" pitchFamily="34" charset="-120"/>
                        </a:rPr>
                        <a:t>Solar Orbiter RPW (ESA)</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c>
                  <a:txBody>
                    <a:bodyPr/>
                    <a:lstStyle/>
                    <a:p>
                      <a:pPr indent="0" marL="0">
                        <a:buNone/>
                      </a:pPr>
                      <a:r>
                        <a:rPr lang="en-US" sz="950" dirty="0">
                          <a:solidFill>
                            <a:srgbClr val="1E2A33"/>
                          </a:solidFill>
                          <a:latin typeface="Garamond" pitchFamily="34" charset="0"/>
                          <a:ea typeface="Garamond" pitchFamily="34" charset="-122"/>
                          <a:cs typeface="Garamond" pitchFamily="34" charset="-120"/>
                        </a:rPr>
                        <a:t>Three 6.5 m antennas, DC to 20 MHz</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r>
              <a:tr h="566928">
                <a:tc>
                  <a:txBody>
                    <a:bodyPr/>
                    <a:lstStyle/>
                    <a:p>
                      <a:pPr indent="0" marL="0">
                        <a:buNone/>
                      </a:pPr>
                      <a:r>
                        <a:rPr lang="en-US" sz="950" b="1" dirty="0">
                          <a:solidFill>
                            <a:srgbClr val="10222F"/>
                          </a:solidFill>
                          <a:latin typeface="Garamond" pitchFamily="34" charset="0"/>
                          <a:ea typeface="Garamond" pitchFamily="34" charset="-122"/>
                          <a:cs typeface="Garamond" pitchFamily="34" charset="-120"/>
                        </a:rPr>
                        <a:t>Europa Clipper REASON</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c>
                  <a:txBody>
                    <a:bodyPr/>
                    <a:lstStyle/>
                    <a:p>
                      <a:pPr indent="0" marL="0">
                        <a:buNone/>
                      </a:pPr>
                      <a:r>
                        <a:rPr lang="en-US" sz="950" dirty="0">
                          <a:solidFill>
                            <a:srgbClr val="1E2A33"/>
                          </a:solidFill>
                          <a:latin typeface="Garamond" pitchFamily="34" charset="0"/>
                          <a:ea typeface="Garamond" pitchFamily="34" charset="-122"/>
                          <a:cs typeface="Garamond" pitchFamily="34" charset="-120"/>
                        </a:rPr>
                        <a:t>Two 18 m dipoles; four 2.5 m folded dipoles</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r>
              <a:tr h="566928">
                <a:tc>
                  <a:txBody>
                    <a:bodyPr/>
                    <a:lstStyle/>
                    <a:p>
                      <a:pPr indent="0" marL="0">
                        <a:buNone/>
                      </a:pPr>
                      <a:r>
                        <a:rPr lang="en-US" sz="950" b="1" dirty="0">
                          <a:solidFill>
                            <a:srgbClr val="10222F"/>
                          </a:solidFill>
                          <a:latin typeface="Garamond" pitchFamily="34" charset="0"/>
                          <a:ea typeface="Garamond" pitchFamily="34" charset="-122"/>
                          <a:cs typeface="Garamond" pitchFamily="34" charset="-120"/>
                        </a:rPr>
                        <a:t>SunRISE (NASA/JPL)</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c>
                  <a:txBody>
                    <a:bodyPr/>
                    <a:lstStyle/>
                    <a:p>
                      <a:pPr indent="0" marL="0">
                        <a:buNone/>
                      </a:pPr>
                      <a:r>
                        <a:rPr lang="en-US" sz="950" dirty="0">
                          <a:solidFill>
                            <a:srgbClr val="1E2A33"/>
                          </a:solidFill>
                          <a:latin typeface="Garamond" pitchFamily="34" charset="0"/>
                          <a:ea typeface="Garamond" pitchFamily="34" charset="-122"/>
                          <a:cs typeface="Garamond" pitchFamily="34" charset="-120"/>
                        </a:rPr>
                        <a:t>28 monopoles for a CubeSat constellation</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PRODUCTS</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Sensors, Mechanisms, and Instruments</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9</a:t>
            </a:r>
            <a:endParaRPr lang="en-US" sz="850" dirty="0"/>
          </a:p>
        </p:txBody>
      </p:sp>
      <p:sp>
        <p:nvSpPr>
          <p:cNvPr id="7" name="Text 4"/>
          <p:cNvSpPr/>
          <p:nvPr/>
        </p:nvSpPr>
        <p:spPr>
          <a:xfrm>
            <a:off x="822960" y="1353312"/>
            <a:ext cx="10424160" cy="548640"/>
          </a:xfrm>
          <a:prstGeom prst="rect">
            <a:avLst/>
          </a:prstGeom>
          <a:noFill/>
          <a:ln/>
        </p:spPr>
        <p:txBody>
          <a:bodyPr wrap="square" lIns="0" tIns="0" rIns="0" bIns="0" rtlCol="0" anchor="t"/>
          <a:lstStyle/>
          <a:p>
            <a:pPr indent="0" marL="0">
              <a:buNone/>
            </a:pPr>
            <a:r>
              <a:rPr lang="en-US" sz="1300" dirty="0">
                <a:solidFill>
                  <a:srgbClr val="5C6B76"/>
                </a:solidFill>
                <a:latin typeface="Garamond" pitchFamily="34" charset="0"/>
                <a:ea typeface="Garamond" pitchFamily="34" charset="-122"/>
                <a:cs typeface="Garamond" pitchFamily="34" charset="-120"/>
              </a:rPr>
              <a:t>Beyond booms and antennas, Heliospace delivers the surrounding flight hardware: payload sensors, release and retention mechanisms, instrument structures, and extreme environment thermal protection.</a:t>
            </a:r>
            <a:endParaRPr lang="en-US" sz="1300" dirty="0"/>
          </a:p>
        </p:txBody>
      </p:sp>
      <p:sp>
        <p:nvSpPr>
          <p:cNvPr id="8" name="Shape 5"/>
          <p:cNvSpPr/>
          <p:nvPr/>
        </p:nvSpPr>
        <p:spPr>
          <a:xfrm>
            <a:off x="822960" y="1938528"/>
            <a:ext cx="5175504" cy="2084832"/>
          </a:xfrm>
          <a:prstGeom prst="roundRect">
            <a:avLst>
              <a:gd name="adj" fmla="val 2193"/>
            </a:avLst>
          </a:prstGeom>
          <a:solidFill>
            <a:srgbClr val="F3F7FA"/>
          </a:solidFill>
          <a:ln/>
        </p:spPr>
      </p:sp>
      <p:pic>
        <p:nvPicPr>
          <p:cNvPr id="9" name="Image 1" descr="assets/s9_lms.jpg">    </p:cNvPr>
          <p:cNvPicPr>
            <a:picLocks noChangeAspect="1"/>
          </p:cNvPicPr>
          <p:nvPr/>
        </p:nvPicPr>
        <p:blipFill>
          <a:blip r:embed="rId2"/>
          <a:stretch>
            <a:fillRect/>
          </a:stretch>
        </p:blipFill>
        <p:spPr>
          <a:xfrm>
            <a:off x="960120" y="2084832"/>
            <a:ext cx="1792224" cy="1792224"/>
          </a:xfrm>
          <a:prstGeom prst="rect">
            <a:avLst/>
          </a:prstGeom>
        </p:spPr>
      </p:pic>
      <p:sp>
        <p:nvSpPr>
          <p:cNvPr id="10" name="Shape 6"/>
          <p:cNvSpPr/>
          <p:nvPr/>
        </p:nvSpPr>
        <p:spPr>
          <a:xfrm>
            <a:off x="960120" y="2084832"/>
            <a:ext cx="1792224" cy="1792224"/>
          </a:xfrm>
          <a:prstGeom prst="rect">
            <a:avLst/>
          </a:prstGeom>
          <a:ln w="12700">
            <a:solidFill>
              <a:srgbClr val="C6D2DA"/>
            </a:solidFill>
            <a:prstDash val="solid"/>
          </a:ln>
        </p:spPr>
      </p:sp>
      <p:sp>
        <p:nvSpPr>
          <p:cNvPr id="11" name="Text 7"/>
          <p:cNvSpPr/>
          <p:nvPr/>
        </p:nvSpPr>
        <p:spPr>
          <a:xfrm>
            <a:off x="2907792" y="2084832"/>
            <a:ext cx="2971800" cy="292608"/>
          </a:xfrm>
          <a:prstGeom prst="rect">
            <a:avLst/>
          </a:prstGeom>
          <a:noFill/>
          <a:ln/>
        </p:spPr>
        <p:txBody>
          <a:bodyPr wrap="square" lIns="0" tIns="0" rIns="0" bIns="0" rtlCol="0" anchor="ctr"/>
          <a:lstStyle/>
          <a:p>
            <a:pPr indent="0" marL="0">
              <a:buNone/>
            </a:pPr>
            <a:r>
              <a:rPr lang="en-US" sz="1350" b="1" dirty="0">
                <a:solidFill>
                  <a:srgbClr val="10222F"/>
                </a:solidFill>
                <a:latin typeface="Garamond" pitchFamily="34" charset="0"/>
                <a:ea typeface="Garamond" pitchFamily="34" charset="-122"/>
                <a:cs typeface="Garamond" pitchFamily="34" charset="-120"/>
              </a:rPr>
              <a:t>Lunar and suborbital payloads</a:t>
            </a:r>
            <a:endParaRPr lang="en-US" sz="1350" dirty="0"/>
          </a:p>
        </p:txBody>
      </p:sp>
      <p:sp>
        <p:nvSpPr>
          <p:cNvPr id="12" name="Text 8"/>
          <p:cNvSpPr/>
          <p:nvPr/>
        </p:nvSpPr>
        <p:spPr>
          <a:xfrm>
            <a:off x="2907792" y="2414016"/>
            <a:ext cx="2971800" cy="1508760"/>
          </a:xfrm>
          <a:prstGeom prst="rect">
            <a:avLst/>
          </a:prstGeom>
          <a:noFill/>
          <a:ln/>
        </p:spPr>
        <p:txBody>
          <a:bodyPr wrap="square" lIns="0" tIns="0" rIns="0" bIns="0" rtlCol="0" anchor="t"/>
          <a:lstStyle/>
          <a:p>
            <a:pPr indent="0" marL="0">
              <a:lnSpc>
                <a:spcPct val="103000"/>
              </a:lnSpc>
              <a:buNone/>
            </a:pPr>
            <a:r>
              <a:rPr lang="en-US" sz="1050" dirty="0">
                <a:solidFill>
                  <a:srgbClr val="1E2A33"/>
                </a:solidFill>
                <a:latin typeface="Garamond" pitchFamily="34" charset="0"/>
                <a:ea typeface="Garamond" pitchFamily="34" charset="-122"/>
                <a:cs typeface="Garamond" pitchFamily="34" charset="-120"/>
              </a:rPr>
              <a:t>Electric field sensor packages and launch mortars for the LMS instrument, ROLSES lunar antennas, and 7 m quad boom packages for the SEED sounding rocket program.</a:t>
            </a:r>
            <a:endParaRPr lang="en-US" sz="1050" dirty="0"/>
          </a:p>
        </p:txBody>
      </p:sp>
      <p:sp>
        <p:nvSpPr>
          <p:cNvPr id="13" name="Shape 9"/>
          <p:cNvSpPr/>
          <p:nvPr/>
        </p:nvSpPr>
        <p:spPr>
          <a:xfrm>
            <a:off x="6190488" y="1938528"/>
            <a:ext cx="5175504" cy="2084832"/>
          </a:xfrm>
          <a:prstGeom prst="roundRect">
            <a:avLst>
              <a:gd name="adj" fmla="val 2193"/>
            </a:avLst>
          </a:prstGeom>
          <a:solidFill>
            <a:srgbClr val="F3F7FA"/>
          </a:solidFill>
          <a:ln/>
        </p:spPr>
      </p:sp>
      <p:pic>
        <p:nvPicPr>
          <p:cNvPr id="14" name="Image 2" descr="assets/s9_msr.jpg">    </p:cNvPr>
          <p:cNvPicPr>
            <a:picLocks noChangeAspect="1"/>
          </p:cNvPicPr>
          <p:nvPr/>
        </p:nvPicPr>
        <p:blipFill>
          <a:blip r:embed="rId3"/>
          <a:stretch>
            <a:fillRect/>
          </a:stretch>
        </p:blipFill>
        <p:spPr>
          <a:xfrm>
            <a:off x="6327648" y="2084832"/>
            <a:ext cx="1792224" cy="1792224"/>
          </a:xfrm>
          <a:prstGeom prst="rect">
            <a:avLst/>
          </a:prstGeom>
        </p:spPr>
      </p:pic>
      <p:sp>
        <p:nvSpPr>
          <p:cNvPr id="15" name="Shape 10"/>
          <p:cNvSpPr/>
          <p:nvPr/>
        </p:nvSpPr>
        <p:spPr>
          <a:xfrm>
            <a:off x="6327648" y="2084832"/>
            <a:ext cx="1792224" cy="1792224"/>
          </a:xfrm>
          <a:prstGeom prst="rect">
            <a:avLst/>
          </a:prstGeom>
          <a:ln w="12700">
            <a:solidFill>
              <a:srgbClr val="C6D2DA"/>
            </a:solidFill>
            <a:prstDash val="solid"/>
          </a:ln>
        </p:spPr>
      </p:sp>
      <p:sp>
        <p:nvSpPr>
          <p:cNvPr id="16" name="Text 11"/>
          <p:cNvSpPr/>
          <p:nvPr/>
        </p:nvSpPr>
        <p:spPr>
          <a:xfrm>
            <a:off x="8275320" y="2084832"/>
            <a:ext cx="2971800" cy="292608"/>
          </a:xfrm>
          <a:prstGeom prst="rect">
            <a:avLst/>
          </a:prstGeom>
          <a:noFill/>
          <a:ln/>
        </p:spPr>
        <p:txBody>
          <a:bodyPr wrap="square" lIns="0" tIns="0" rIns="0" bIns="0" rtlCol="0" anchor="ctr"/>
          <a:lstStyle/>
          <a:p>
            <a:pPr indent="0" marL="0">
              <a:buNone/>
            </a:pPr>
            <a:r>
              <a:rPr lang="en-US" sz="1350" b="1" dirty="0">
                <a:solidFill>
                  <a:srgbClr val="10222F"/>
                </a:solidFill>
                <a:latin typeface="Garamond" pitchFamily="34" charset="0"/>
                <a:ea typeface="Garamond" pitchFamily="34" charset="-122"/>
                <a:cs typeface="Garamond" pitchFamily="34" charset="-120"/>
              </a:rPr>
              <a:t>Release mechanisms</a:t>
            </a:r>
            <a:endParaRPr lang="en-US" sz="1350" dirty="0"/>
          </a:p>
        </p:txBody>
      </p:sp>
      <p:sp>
        <p:nvSpPr>
          <p:cNvPr id="17" name="Text 12"/>
          <p:cNvSpPr/>
          <p:nvPr/>
        </p:nvSpPr>
        <p:spPr>
          <a:xfrm>
            <a:off x="8275320" y="2414016"/>
            <a:ext cx="2971800" cy="1508760"/>
          </a:xfrm>
          <a:prstGeom prst="rect">
            <a:avLst/>
          </a:prstGeom>
          <a:noFill/>
          <a:ln/>
        </p:spPr>
        <p:txBody>
          <a:bodyPr wrap="square" lIns="0" tIns="0" rIns="0" bIns="0" rtlCol="0" anchor="t"/>
          <a:lstStyle/>
          <a:p>
            <a:pPr indent="0" marL="0">
              <a:lnSpc>
                <a:spcPct val="103000"/>
              </a:lnSpc>
              <a:buNone/>
            </a:pPr>
            <a:r>
              <a:rPr lang="en-US" sz="1050" dirty="0">
                <a:solidFill>
                  <a:srgbClr val="1E2A33"/>
                </a:solidFill>
                <a:latin typeface="Garamond" pitchFamily="34" charset="0"/>
                <a:ea typeface="Garamond" pitchFamily="34" charset="-122"/>
                <a:cs typeface="Garamond" pitchFamily="34" charset="-120"/>
              </a:rPr>
              <a:t>Precision retention, release, and handling mechanisms developed for Mars Sample Return concepts, alongside the proprietary SABER melt wire release.</a:t>
            </a:r>
            <a:endParaRPr lang="en-US" sz="1050" dirty="0"/>
          </a:p>
        </p:txBody>
      </p:sp>
      <p:sp>
        <p:nvSpPr>
          <p:cNvPr id="18" name="Shape 13"/>
          <p:cNvSpPr/>
          <p:nvPr/>
        </p:nvSpPr>
        <p:spPr>
          <a:xfrm>
            <a:off x="822960" y="4151376"/>
            <a:ext cx="5175504" cy="2084832"/>
          </a:xfrm>
          <a:prstGeom prst="roundRect">
            <a:avLst>
              <a:gd name="adj" fmla="val 2193"/>
            </a:avLst>
          </a:prstGeom>
          <a:solidFill>
            <a:srgbClr val="F3F7FA"/>
          </a:solidFill>
          <a:ln/>
        </p:spPr>
      </p:sp>
      <p:pic>
        <p:nvPicPr>
          <p:cNvPr id="19" name="Image 3" descr="assets/s9_gaps.jpg">    </p:cNvPr>
          <p:cNvPicPr>
            <a:picLocks noChangeAspect="1"/>
          </p:cNvPicPr>
          <p:nvPr/>
        </p:nvPicPr>
        <p:blipFill>
          <a:blip r:embed="rId4"/>
          <a:stretch>
            <a:fillRect/>
          </a:stretch>
        </p:blipFill>
        <p:spPr>
          <a:xfrm>
            <a:off x="960120" y="4297680"/>
            <a:ext cx="1792224" cy="1792224"/>
          </a:xfrm>
          <a:prstGeom prst="rect">
            <a:avLst/>
          </a:prstGeom>
        </p:spPr>
      </p:pic>
      <p:sp>
        <p:nvSpPr>
          <p:cNvPr id="20" name="Shape 14"/>
          <p:cNvSpPr/>
          <p:nvPr/>
        </p:nvSpPr>
        <p:spPr>
          <a:xfrm>
            <a:off x="960120" y="4297680"/>
            <a:ext cx="1792224" cy="1792224"/>
          </a:xfrm>
          <a:prstGeom prst="rect">
            <a:avLst/>
          </a:prstGeom>
          <a:ln w="12700">
            <a:solidFill>
              <a:srgbClr val="C6D2DA"/>
            </a:solidFill>
            <a:prstDash val="solid"/>
          </a:ln>
        </p:spPr>
      </p:sp>
      <p:sp>
        <p:nvSpPr>
          <p:cNvPr id="21" name="Text 15"/>
          <p:cNvSpPr/>
          <p:nvPr/>
        </p:nvSpPr>
        <p:spPr>
          <a:xfrm>
            <a:off x="2907792" y="4297680"/>
            <a:ext cx="2971800" cy="292608"/>
          </a:xfrm>
          <a:prstGeom prst="rect">
            <a:avLst/>
          </a:prstGeom>
          <a:noFill/>
          <a:ln/>
        </p:spPr>
        <p:txBody>
          <a:bodyPr wrap="square" lIns="0" tIns="0" rIns="0" bIns="0" rtlCol="0" anchor="ctr"/>
          <a:lstStyle/>
          <a:p>
            <a:pPr indent="0" marL="0">
              <a:buNone/>
            </a:pPr>
            <a:r>
              <a:rPr lang="en-US" sz="1350" b="1" dirty="0">
                <a:solidFill>
                  <a:srgbClr val="10222F"/>
                </a:solidFill>
                <a:latin typeface="Garamond" pitchFamily="34" charset="0"/>
                <a:ea typeface="Garamond" pitchFamily="34" charset="-122"/>
                <a:cs typeface="Garamond" pitchFamily="34" charset="-120"/>
              </a:rPr>
              <a:t>Instruments and structures</a:t>
            </a:r>
            <a:endParaRPr lang="en-US" sz="1350" dirty="0"/>
          </a:p>
        </p:txBody>
      </p:sp>
      <p:sp>
        <p:nvSpPr>
          <p:cNvPr id="22" name="Text 16"/>
          <p:cNvSpPr/>
          <p:nvPr/>
        </p:nvSpPr>
        <p:spPr>
          <a:xfrm>
            <a:off x="2907792" y="4626864"/>
            <a:ext cx="2971800" cy="1508760"/>
          </a:xfrm>
          <a:prstGeom prst="rect">
            <a:avLst/>
          </a:prstGeom>
          <a:noFill/>
          <a:ln/>
        </p:spPr>
        <p:txBody>
          <a:bodyPr wrap="square" lIns="0" tIns="0" rIns="0" bIns="0" rtlCol="0" anchor="t"/>
          <a:lstStyle/>
          <a:p>
            <a:pPr indent="0" marL="0">
              <a:lnSpc>
                <a:spcPct val="103000"/>
              </a:lnSpc>
              <a:buNone/>
            </a:pPr>
            <a:r>
              <a:rPr lang="en-US" sz="1050" dirty="0">
                <a:solidFill>
                  <a:srgbClr val="1E2A33"/>
                </a:solidFill>
                <a:latin typeface="Garamond" pitchFamily="34" charset="0"/>
                <a:ea typeface="Garamond" pitchFamily="34" charset="-122"/>
                <a:cs typeface="Garamond" pitchFamily="34" charset="-120"/>
              </a:rPr>
              <a:t>COSI gamma ray instrument cryostat and shield, the GAPS antimatter detector gondola, and UVEX ultraviolet telescope structure concepts.</a:t>
            </a:r>
            <a:endParaRPr lang="en-US" sz="1050" dirty="0"/>
          </a:p>
        </p:txBody>
      </p:sp>
      <p:sp>
        <p:nvSpPr>
          <p:cNvPr id="23" name="Shape 17"/>
          <p:cNvSpPr/>
          <p:nvPr/>
        </p:nvSpPr>
        <p:spPr>
          <a:xfrm>
            <a:off x="6190488" y="4151376"/>
            <a:ext cx="5175504" cy="2084832"/>
          </a:xfrm>
          <a:prstGeom prst="roundRect">
            <a:avLst>
              <a:gd name="adj" fmla="val 2193"/>
            </a:avLst>
          </a:prstGeom>
          <a:solidFill>
            <a:srgbClr val="F3F7FA"/>
          </a:solidFill>
          <a:ln/>
        </p:spPr>
      </p:sp>
      <p:pic>
        <p:nvPicPr>
          <p:cNvPr id="24" name="Image 4" descr="assets/s9_solo.jpg">    </p:cNvPr>
          <p:cNvPicPr>
            <a:picLocks noChangeAspect="1"/>
          </p:cNvPicPr>
          <p:nvPr/>
        </p:nvPicPr>
        <p:blipFill>
          <a:blip r:embed="rId5"/>
          <a:stretch>
            <a:fillRect/>
          </a:stretch>
        </p:blipFill>
        <p:spPr>
          <a:xfrm>
            <a:off x="6327648" y="4297680"/>
            <a:ext cx="1792224" cy="1792224"/>
          </a:xfrm>
          <a:prstGeom prst="rect">
            <a:avLst/>
          </a:prstGeom>
        </p:spPr>
      </p:pic>
      <p:sp>
        <p:nvSpPr>
          <p:cNvPr id="25" name="Shape 18"/>
          <p:cNvSpPr/>
          <p:nvPr/>
        </p:nvSpPr>
        <p:spPr>
          <a:xfrm>
            <a:off x="6327648" y="4297680"/>
            <a:ext cx="1792224" cy="1792224"/>
          </a:xfrm>
          <a:prstGeom prst="rect">
            <a:avLst/>
          </a:prstGeom>
          <a:ln w="12700">
            <a:solidFill>
              <a:srgbClr val="C6D2DA"/>
            </a:solidFill>
            <a:prstDash val="solid"/>
          </a:ln>
        </p:spPr>
      </p:sp>
      <p:sp>
        <p:nvSpPr>
          <p:cNvPr id="26" name="Text 19"/>
          <p:cNvSpPr/>
          <p:nvPr/>
        </p:nvSpPr>
        <p:spPr>
          <a:xfrm>
            <a:off x="8275320" y="4297680"/>
            <a:ext cx="2971800" cy="292608"/>
          </a:xfrm>
          <a:prstGeom prst="rect">
            <a:avLst/>
          </a:prstGeom>
          <a:noFill/>
          <a:ln/>
        </p:spPr>
        <p:txBody>
          <a:bodyPr wrap="square" lIns="0" tIns="0" rIns="0" bIns="0" rtlCol="0" anchor="ctr"/>
          <a:lstStyle/>
          <a:p>
            <a:pPr indent="0" marL="0">
              <a:buNone/>
            </a:pPr>
            <a:r>
              <a:rPr lang="en-US" sz="1350" b="1" dirty="0">
                <a:solidFill>
                  <a:srgbClr val="10222F"/>
                </a:solidFill>
                <a:latin typeface="Garamond" pitchFamily="34" charset="0"/>
                <a:ea typeface="Garamond" pitchFamily="34" charset="-122"/>
                <a:cs typeface="Garamond" pitchFamily="34" charset="-120"/>
              </a:rPr>
              <a:t>Extreme environments</a:t>
            </a:r>
            <a:endParaRPr lang="en-US" sz="1350" dirty="0"/>
          </a:p>
        </p:txBody>
      </p:sp>
      <p:sp>
        <p:nvSpPr>
          <p:cNvPr id="27" name="Text 20"/>
          <p:cNvSpPr/>
          <p:nvPr/>
        </p:nvSpPr>
        <p:spPr>
          <a:xfrm>
            <a:off x="8275320" y="4626864"/>
            <a:ext cx="2971800" cy="1508760"/>
          </a:xfrm>
          <a:prstGeom prst="rect">
            <a:avLst/>
          </a:prstGeom>
          <a:noFill/>
          <a:ln/>
        </p:spPr>
        <p:txBody>
          <a:bodyPr wrap="square" lIns="0" tIns="0" rIns="0" bIns="0" rtlCol="0" anchor="t"/>
          <a:lstStyle/>
          <a:p>
            <a:pPr indent="0" marL="0">
              <a:lnSpc>
                <a:spcPct val="103000"/>
              </a:lnSpc>
              <a:buNone/>
            </a:pPr>
            <a:r>
              <a:rPr lang="en-US" sz="1050" dirty="0">
                <a:solidFill>
                  <a:srgbClr val="1E2A33"/>
                </a:solidFill>
                <a:latin typeface="Garamond" pitchFamily="34" charset="0"/>
                <a:ea typeface="Garamond" pitchFamily="34" charset="-122"/>
                <a:cs typeface="Garamond" pitchFamily="34" charset="-120"/>
              </a:rPr>
              <a:t>All niobium multilayer insulation and thermal design protecting Solar Orbiter antennas that reach nearly 500 C in a 15 sun environment.</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FACILITIES AND LOCATION</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Purpose Built Production in Berkeley</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10</a:t>
            </a:r>
            <a:endParaRPr lang="en-US" sz="850" dirty="0"/>
          </a:p>
        </p:txBody>
      </p:sp>
      <p:pic>
        <p:nvPicPr>
          <p:cNvPr id="7" name="Image 1" descr="assets/s8_bldg.jpg">    </p:cNvPr>
          <p:cNvPicPr>
            <a:picLocks noChangeAspect="1"/>
          </p:cNvPicPr>
          <p:nvPr/>
        </p:nvPicPr>
        <p:blipFill>
          <a:blip r:embed="rId2"/>
          <a:stretch>
            <a:fillRect/>
          </a:stretch>
        </p:blipFill>
        <p:spPr>
          <a:xfrm>
            <a:off x="822960" y="1417320"/>
            <a:ext cx="6583680" cy="2880360"/>
          </a:xfrm>
          <a:prstGeom prst="rect">
            <a:avLst/>
          </a:prstGeom>
        </p:spPr>
      </p:pic>
      <p:sp>
        <p:nvSpPr>
          <p:cNvPr id="8" name="Shape 4"/>
          <p:cNvSpPr/>
          <p:nvPr/>
        </p:nvSpPr>
        <p:spPr>
          <a:xfrm>
            <a:off x="822960" y="1417320"/>
            <a:ext cx="6583680" cy="2880360"/>
          </a:xfrm>
          <a:prstGeom prst="rect">
            <a:avLst/>
          </a:prstGeom>
          <a:ln w="12700">
            <a:solidFill>
              <a:srgbClr val="C6D2DA"/>
            </a:solidFill>
            <a:prstDash val="solid"/>
          </a:ln>
        </p:spPr>
      </p:sp>
      <p:pic>
        <p:nvPicPr>
          <p:cNvPr id="9" name="Image 2" descr="assets/s8_bay.jpg">    </p:cNvPr>
          <p:cNvPicPr>
            <a:picLocks noChangeAspect="1"/>
          </p:cNvPicPr>
          <p:nvPr/>
        </p:nvPicPr>
        <p:blipFill>
          <a:blip r:embed="rId3"/>
          <a:stretch>
            <a:fillRect/>
          </a:stretch>
        </p:blipFill>
        <p:spPr>
          <a:xfrm>
            <a:off x="822960" y="4480560"/>
            <a:ext cx="2130552" cy="1691640"/>
          </a:xfrm>
          <a:prstGeom prst="rect">
            <a:avLst/>
          </a:prstGeom>
        </p:spPr>
      </p:pic>
      <p:sp>
        <p:nvSpPr>
          <p:cNvPr id="10" name="Shape 5"/>
          <p:cNvSpPr/>
          <p:nvPr/>
        </p:nvSpPr>
        <p:spPr>
          <a:xfrm>
            <a:off x="822960" y="4480560"/>
            <a:ext cx="2130552" cy="1691640"/>
          </a:xfrm>
          <a:prstGeom prst="rect">
            <a:avLst/>
          </a:prstGeom>
          <a:ln w="12700">
            <a:solidFill>
              <a:srgbClr val="C6D2DA"/>
            </a:solidFill>
            <a:prstDash val="solid"/>
          </a:ln>
        </p:spPr>
      </p:sp>
      <p:sp>
        <p:nvSpPr>
          <p:cNvPr id="11" name="Text 6"/>
          <p:cNvSpPr/>
          <p:nvPr/>
        </p:nvSpPr>
        <p:spPr>
          <a:xfrm>
            <a:off x="822960" y="6199632"/>
            <a:ext cx="2130552"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High bay assembly</a:t>
            </a:r>
            <a:endParaRPr lang="en-US" sz="950" dirty="0"/>
          </a:p>
        </p:txBody>
      </p:sp>
      <p:pic>
        <p:nvPicPr>
          <p:cNvPr id="12" name="Image 3" descr="assets/s8_tvac.jpg">    </p:cNvPr>
          <p:cNvPicPr>
            <a:picLocks noChangeAspect="1"/>
          </p:cNvPicPr>
          <p:nvPr/>
        </p:nvPicPr>
        <p:blipFill>
          <a:blip r:embed="rId4"/>
          <a:stretch>
            <a:fillRect/>
          </a:stretch>
        </p:blipFill>
        <p:spPr>
          <a:xfrm>
            <a:off x="3054096" y="4480560"/>
            <a:ext cx="2130552" cy="1691640"/>
          </a:xfrm>
          <a:prstGeom prst="rect">
            <a:avLst/>
          </a:prstGeom>
        </p:spPr>
      </p:pic>
      <p:sp>
        <p:nvSpPr>
          <p:cNvPr id="13" name="Shape 7"/>
          <p:cNvSpPr/>
          <p:nvPr/>
        </p:nvSpPr>
        <p:spPr>
          <a:xfrm>
            <a:off x="3054096" y="4480560"/>
            <a:ext cx="2130552" cy="1691640"/>
          </a:xfrm>
          <a:prstGeom prst="rect">
            <a:avLst/>
          </a:prstGeom>
          <a:ln w="12700">
            <a:solidFill>
              <a:srgbClr val="C6D2DA"/>
            </a:solidFill>
            <a:prstDash val="solid"/>
          </a:ln>
        </p:spPr>
      </p:sp>
      <p:sp>
        <p:nvSpPr>
          <p:cNvPr id="14" name="Text 8"/>
          <p:cNvSpPr/>
          <p:nvPr/>
        </p:nvSpPr>
        <p:spPr>
          <a:xfrm>
            <a:off x="3054096" y="6199632"/>
            <a:ext cx="2130552"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Thermal vacuum</a:t>
            </a:r>
            <a:endParaRPr lang="en-US" sz="950" dirty="0"/>
          </a:p>
        </p:txBody>
      </p:sp>
      <p:pic>
        <p:nvPicPr>
          <p:cNvPr id="15" name="Image 4" descr="assets/s8_clean.jpg">    </p:cNvPr>
          <p:cNvPicPr>
            <a:picLocks noChangeAspect="1"/>
          </p:cNvPicPr>
          <p:nvPr/>
        </p:nvPicPr>
        <p:blipFill>
          <a:blip r:embed="rId5"/>
          <a:stretch>
            <a:fillRect/>
          </a:stretch>
        </p:blipFill>
        <p:spPr>
          <a:xfrm>
            <a:off x="5285232" y="4480560"/>
            <a:ext cx="2130552" cy="1691640"/>
          </a:xfrm>
          <a:prstGeom prst="rect">
            <a:avLst/>
          </a:prstGeom>
        </p:spPr>
      </p:pic>
      <p:sp>
        <p:nvSpPr>
          <p:cNvPr id="16" name="Shape 9"/>
          <p:cNvSpPr/>
          <p:nvPr/>
        </p:nvSpPr>
        <p:spPr>
          <a:xfrm>
            <a:off x="5285232" y="4480560"/>
            <a:ext cx="2130552" cy="1691640"/>
          </a:xfrm>
          <a:prstGeom prst="rect">
            <a:avLst/>
          </a:prstGeom>
          <a:ln w="12700">
            <a:solidFill>
              <a:srgbClr val="C6D2DA"/>
            </a:solidFill>
            <a:prstDash val="solid"/>
          </a:ln>
        </p:spPr>
      </p:sp>
      <p:sp>
        <p:nvSpPr>
          <p:cNvPr id="17" name="Text 10"/>
          <p:cNvSpPr/>
          <p:nvPr/>
        </p:nvSpPr>
        <p:spPr>
          <a:xfrm>
            <a:off x="5285232" y="6199632"/>
            <a:ext cx="2130552"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Cleanroom</a:t>
            </a:r>
            <a:endParaRPr lang="en-US" sz="950" dirty="0"/>
          </a:p>
        </p:txBody>
      </p:sp>
      <p:sp>
        <p:nvSpPr>
          <p:cNvPr id="18" name="Text 11"/>
          <p:cNvSpPr/>
          <p:nvPr/>
        </p:nvSpPr>
        <p:spPr>
          <a:xfrm>
            <a:off x="7726680" y="1371600"/>
            <a:ext cx="3657600" cy="384048"/>
          </a:xfrm>
          <a:prstGeom prst="rect">
            <a:avLst/>
          </a:prstGeom>
          <a:noFill/>
          <a:ln/>
        </p:spPr>
        <p:txBody>
          <a:bodyPr wrap="square" lIns="0" tIns="0" rIns="0" bIns="0" rtlCol="0" anchor="ctr"/>
          <a:lstStyle/>
          <a:p>
            <a:pPr indent="0" marL="0">
              <a:buNone/>
            </a:pPr>
            <a:r>
              <a:rPr lang="en-US" sz="2200" b="1" dirty="0">
                <a:solidFill>
                  <a:srgbClr val="007BCB"/>
                </a:solidFill>
                <a:latin typeface="Garamond" pitchFamily="34" charset="0"/>
                <a:ea typeface="Garamond" pitchFamily="34" charset="-122"/>
                <a:cs typeface="Garamond" pitchFamily="34" charset="-120"/>
              </a:rPr>
              <a:t>20,000 square feet</a:t>
            </a:r>
            <a:endParaRPr lang="en-US" sz="2200" dirty="0"/>
          </a:p>
        </p:txBody>
      </p:sp>
      <p:sp>
        <p:nvSpPr>
          <p:cNvPr id="19" name="Text 12"/>
          <p:cNvSpPr/>
          <p:nvPr/>
        </p:nvSpPr>
        <p:spPr>
          <a:xfrm>
            <a:off x="7726680" y="1773936"/>
            <a:ext cx="3639312" cy="566928"/>
          </a:xfrm>
          <a:prstGeom prst="rect">
            <a:avLst/>
          </a:prstGeom>
          <a:noFill/>
          <a:ln/>
        </p:spPr>
        <p:txBody>
          <a:bodyPr wrap="square" lIns="0" tIns="0" rIns="0" bIns="0" rtlCol="0" anchor="t"/>
          <a:lstStyle/>
          <a:p>
            <a:pPr indent="0" marL="0">
              <a:buNone/>
            </a:pPr>
            <a:r>
              <a:rPr lang="en-US" sz="1050" dirty="0">
                <a:solidFill>
                  <a:srgbClr val="5C6B76"/>
                </a:solidFill>
                <a:latin typeface="Garamond" pitchFamily="34" charset="0"/>
                <a:ea typeface="Garamond" pitchFamily="34" charset="-122"/>
                <a:cs typeface="Garamond" pitchFamily="34" charset="-120"/>
              </a:rPr>
              <a:t>of production capacity: high bay assembly and test, cleanroom, thermal vacuum chamber, and machine shop.</a:t>
            </a:r>
            <a:endParaRPr lang="en-US" sz="1050" dirty="0"/>
          </a:p>
        </p:txBody>
      </p:sp>
      <p:pic>
        <p:nvPicPr>
          <p:cNvPr id="20" name="Image 5" descr="assets/s8_map.jpg">    </p:cNvPr>
          <p:cNvPicPr>
            <a:picLocks noChangeAspect="1"/>
          </p:cNvPicPr>
          <p:nvPr/>
        </p:nvPicPr>
        <p:blipFill>
          <a:blip r:embed="rId6"/>
          <a:stretch>
            <a:fillRect/>
          </a:stretch>
        </p:blipFill>
        <p:spPr>
          <a:xfrm>
            <a:off x="7726680" y="2450592"/>
            <a:ext cx="3639312" cy="2331720"/>
          </a:xfrm>
          <a:prstGeom prst="rect">
            <a:avLst/>
          </a:prstGeom>
        </p:spPr>
      </p:pic>
      <p:sp>
        <p:nvSpPr>
          <p:cNvPr id="21" name="Shape 13"/>
          <p:cNvSpPr/>
          <p:nvPr/>
        </p:nvSpPr>
        <p:spPr>
          <a:xfrm>
            <a:off x="7726680" y="2450592"/>
            <a:ext cx="3639312" cy="2331720"/>
          </a:xfrm>
          <a:prstGeom prst="rect">
            <a:avLst/>
          </a:prstGeom>
          <a:ln w="12700">
            <a:solidFill>
              <a:srgbClr val="C6D2DA"/>
            </a:solidFill>
            <a:prstDash val="solid"/>
          </a:ln>
        </p:spPr>
      </p:sp>
      <p:sp>
        <p:nvSpPr>
          <p:cNvPr id="22" name="Shape 14"/>
          <p:cNvSpPr/>
          <p:nvPr/>
        </p:nvSpPr>
        <p:spPr>
          <a:xfrm>
            <a:off x="7726680" y="4937760"/>
            <a:ext cx="3639312" cy="1298448"/>
          </a:xfrm>
          <a:prstGeom prst="roundRect">
            <a:avLst>
              <a:gd name="adj" fmla="val 3521"/>
            </a:avLst>
          </a:prstGeom>
          <a:solidFill>
            <a:srgbClr val="F3F7FA"/>
          </a:solidFill>
          <a:ln/>
        </p:spPr>
      </p:sp>
      <p:sp>
        <p:nvSpPr>
          <p:cNvPr id="23" name="Text 15"/>
          <p:cNvSpPr/>
          <p:nvPr/>
        </p:nvSpPr>
        <p:spPr>
          <a:xfrm>
            <a:off x="7882128" y="5056632"/>
            <a:ext cx="3364992" cy="1097280"/>
          </a:xfrm>
          <a:prstGeom prst="rect">
            <a:avLst/>
          </a:prstGeom>
          <a:noFill/>
          <a:ln/>
        </p:spPr>
        <p:txBody>
          <a:bodyPr wrap="square" lIns="0" tIns="0" rIns="0" bIns="0" rtlCol="0" anchor="t"/>
          <a:lstStyle/>
          <a:p>
            <a:pPr indent="0" marL="0">
              <a:spcAft>
                <a:spcPts val="200"/>
              </a:spcAft>
              <a:buNone/>
            </a:pPr>
            <a:r>
              <a:rPr lang="en-US" sz="1100" b="1" dirty="0">
                <a:solidFill>
                  <a:srgbClr val="1E2A33"/>
                </a:solidFill>
                <a:latin typeface="Garamond" pitchFamily="34" charset="0"/>
                <a:ea typeface="Garamond" pitchFamily="34" charset="-122"/>
                <a:cs typeface="Garamond" pitchFamily="34" charset="-120"/>
              </a:rPr>
              <a:t>Heliospace Corporation</a:t>
            </a:r>
            <a:endParaRPr lang="en-US" sz="1100" dirty="0"/>
          </a:p>
          <a:p>
            <a:pPr indent="0" marL="0">
              <a:spcAft>
                <a:spcPts val="200"/>
              </a:spcAft>
              <a:buNone/>
            </a:pPr>
            <a:r>
              <a:rPr lang="en-US" sz="1100" dirty="0">
                <a:solidFill>
                  <a:srgbClr val="1E2A33"/>
                </a:solidFill>
                <a:latin typeface="Garamond" pitchFamily="34" charset="0"/>
                <a:ea typeface="Garamond" pitchFamily="34" charset="-122"/>
                <a:cs typeface="Garamond" pitchFamily="34" charset="-120"/>
              </a:rPr>
              <a:t>2448 Sixth Street, Berkeley, CA 94710</a:t>
            </a:r>
            <a:endParaRPr lang="en-US" sz="1100" dirty="0"/>
          </a:p>
          <a:p>
            <a:pPr indent="0" marL="0">
              <a:spcAft>
                <a:spcPts val="200"/>
              </a:spcAft>
              <a:buNone/>
            </a:pPr>
            <a:endParaRPr lang="en-US" sz="1100" dirty="0"/>
          </a:p>
          <a:p>
            <a:pPr indent="0" marL="0">
              <a:spcAft>
                <a:spcPts val="200"/>
              </a:spcAft>
              <a:buNone/>
            </a:pPr>
            <a:r>
              <a:rPr lang="en-US" sz="950" dirty="0">
                <a:solidFill>
                  <a:srgbClr val="5C6B76"/>
                </a:solidFill>
                <a:latin typeface="Garamond" pitchFamily="34" charset="0"/>
                <a:ea typeface="Garamond" pitchFamily="34" charset="-122"/>
                <a:cs typeface="Garamond" pitchFamily="34" charset="-120"/>
              </a:rPr>
              <a:t>San Francisco Bay Area: near NASA Ames, UC Berkeley, and the West Coast supply base.</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MARKET OPPORTUNITY</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A Structurally Expanding Market</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11</a:t>
            </a:r>
            <a:endParaRPr lang="en-US" sz="850" dirty="0"/>
          </a:p>
        </p:txBody>
      </p:sp>
      <p:sp>
        <p:nvSpPr>
          <p:cNvPr id="7" name="Text 4"/>
          <p:cNvSpPr/>
          <p:nvPr/>
        </p:nvSpPr>
        <p:spPr>
          <a:xfrm>
            <a:off x="822960" y="1463040"/>
            <a:ext cx="5852160" cy="274320"/>
          </a:xfrm>
          <a:prstGeom prst="rect">
            <a:avLst/>
          </a:prstGeom>
          <a:noFill/>
          <a:ln/>
        </p:spPr>
        <p:txBody>
          <a:bodyPr wrap="square" lIns="0" tIns="0" rIns="0" bIns="0" rtlCol="0" anchor="ctr"/>
          <a:lstStyle/>
          <a:p>
            <a:pPr indent="0" marL="0">
              <a:buNone/>
            </a:pPr>
            <a:r>
              <a:rPr lang="en-US" sz="1300" b="1" dirty="0">
                <a:solidFill>
                  <a:srgbClr val="10222F"/>
                </a:solidFill>
                <a:latin typeface="Garamond" pitchFamily="34" charset="0"/>
                <a:ea typeface="Garamond" pitchFamily="34" charset="-122"/>
                <a:cs typeface="Garamond" pitchFamily="34" charset="-120"/>
              </a:rPr>
              <a:t>Global space economy, USD billions</a:t>
            </a:r>
            <a:endParaRPr lang="en-US" sz="1300" dirty="0"/>
          </a:p>
        </p:txBody>
      </p:sp>
      <p:graphicFrame>
        <p:nvGraphicFramePr>
          <p:cNvPr id="8" name="Chart 0" descr=""/>
          <p:cNvGraphicFramePr/>
          <p:nvPr/>
        </p:nvGraphicFramePr>
        <p:xfrm>
          <a:off x="822960" y="1828800"/>
          <a:ext cx="5852160" cy="3977640"/>
        </p:xfrm>
        <a:graphic xmlns:a="http://schemas.openxmlformats.org/drawingml/2006/main">
          <a:graphicData uri="http://schemas.openxmlformats.org/drawingml/2006/chart">
            <c:chart xmlns:c="http://schemas.openxmlformats.org/drawingml/2006/chart" r:id="rId2"/>
          </a:graphicData>
        </a:graphic>
      </p:graphicFrame>
      <p:sp>
        <p:nvSpPr>
          <p:cNvPr id="9" name="Text 5"/>
          <p:cNvSpPr/>
          <p:nvPr/>
        </p:nvSpPr>
        <p:spPr>
          <a:xfrm>
            <a:off x="822960" y="5943600"/>
            <a:ext cx="5852160" cy="274320"/>
          </a:xfrm>
          <a:prstGeom prst="rect">
            <a:avLst/>
          </a:prstGeom>
          <a:noFill/>
          <a:ln/>
        </p:spPr>
        <p:txBody>
          <a:bodyPr wrap="square" lIns="0" tIns="0" rIns="0" bIns="0" rtlCol="0" anchor="ctr"/>
          <a:lstStyle/>
          <a:p>
            <a:pPr indent="0" marL="0">
              <a:buNone/>
            </a:pPr>
            <a:r>
              <a:rPr lang="en-US" sz="900" i="1" dirty="0">
                <a:solidFill>
                  <a:srgbClr val="5C6B76"/>
                </a:solidFill>
                <a:latin typeface="Garamond" pitchFamily="34" charset="0"/>
                <a:ea typeface="Garamond" pitchFamily="34" charset="-122"/>
                <a:cs typeface="Garamond" pitchFamily="34" charset="-120"/>
              </a:rPr>
              <a:t>Source: World Economic Forum and McKinsey, Space: The $1.8 Trillion Opportunity, 2024.</a:t>
            </a:r>
            <a:endParaRPr lang="en-US" sz="900" dirty="0"/>
          </a:p>
        </p:txBody>
      </p:sp>
      <p:sp>
        <p:nvSpPr>
          <p:cNvPr id="10" name="Text 6"/>
          <p:cNvSpPr/>
          <p:nvPr/>
        </p:nvSpPr>
        <p:spPr>
          <a:xfrm>
            <a:off x="7178040" y="1554480"/>
            <a:ext cx="4114800" cy="548640"/>
          </a:xfrm>
          <a:prstGeom prst="rect">
            <a:avLst/>
          </a:prstGeom>
          <a:noFill/>
          <a:ln/>
        </p:spPr>
        <p:txBody>
          <a:bodyPr wrap="square" lIns="0" tIns="0" rIns="0" bIns="0" rtlCol="0" anchor="ctr"/>
          <a:lstStyle/>
          <a:p>
            <a:pPr indent="0" marL="0">
              <a:buNone/>
            </a:pPr>
            <a:r>
              <a:rPr lang="en-US" sz="3400" b="1" dirty="0">
                <a:solidFill>
                  <a:srgbClr val="007BCB"/>
                </a:solidFill>
                <a:latin typeface="Garamond" pitchFamily="34" charset="0"/>
                <a:ea typeface="Garamond" pitchFamily="34" charset="-122"/>
                <a:cs typeface="Garamond" pitchFamily="34" charset="-120"/>
              </a:rPr>
              <a:t>16,900</a:t>
            </a:r>
            <a:endParaRPr lang="en-US" sz="3400" dirty="0"/>
          </a:p>
        </p:txBody>
      </p:sp>
      <p:sp>
        <p:nvSpPr>
          <p:cNvPr id="11" name="Text 7"/>
          <p:cNvSpPr/>
          <p:nvPr/>
        </p:nvSpPr>
        <p:spPr>
          <a:xfrm>
            <a:off x="7178040" y="2121408"/>
            <a:ext cx="4069080" cy="502920"/>
          </a:xfrm>
          <a:prstGeom prst="rect">
            <a:avLst/>
          </a:prstGeom>
          <a:noFill/>
          <a:ln/>
        </p:spPr>
        <p:txBody>
          <a:bodyPr wrap="square" lIns="0" tIns="0" rIns="0" bIns="0" rtlCol="0" anchor="t"/>
          <a:lstStyle/>
          <a:p>
            <a:pPr indent="0" marL="0">
              <a:buNone/>
            </a:pPr>
            <a:r>
              <a:rPr lang="en-US" sz="1100" dirty="0">
                <a:solidFill>
                  <a:srgbClr val="5C6B76"/>
                </a:solidFill>
                <a:latin typeface="Garamond" pitchFamily="34" charset="0"/>
                <a:ea typeface="Garamond" pitchFamily="34" charset="-122"/>
                <a:cs typeface="Garamond" pitchFamily="34" charset="-120"/>
              </a:rPr>
              <a:t>small satellites forecast for launch between 2026 and 2035 (Novaspace)</a:t>
            </a:r>
            <a:endParaRPr lang="en-US" sz="1100" dirty="0"/>
          </a:p>
        </p:txBody>
      </p:sp>
      <p:sp>
        <p:nvSpPr>
          <p:cNvPr id="12" name="Text 8"/>
          <p:cNvSpPr/>
          <p:nvPr/>
        </p:nvSpPr>
        <p:spPr>
          <a:xfrm>
            <a:off x="7178040" y="2880360"/>
            <a:ext cx="4114800" cy="274320"/>
          </a:xfrm>
          <a:prstGeom prst="rect">
            <a:avLst/>
          </a:prstGeom>
          <a:noFill/>
          <a:ln/>
        </p:spPr>
        <p:txBody>
          <a:bodyPr wrap="square" lIns="0" tIns="0" rIns="0" bIns="0" rtlCol="0" anchor="ctr"/>
          <a:lstStyle/>
          <a:p>
            <a:pPr indent="0" marL="0">
              <a:buNone/>
            </a:pPr>
            <a:r>
              <a:rPr lang="en-US" sz="1350" b="1" dirty="0">
                <a:solidFill>
                  <a:srgbClr val="10222F"/>
                </a:solidFill>
                <a:latin typeface="Garamond" pitchFamily="34" charset="0"/>
                <a:ea typeface="Garamond" pitchFamily="34" charset="-122"/>
                <a:cs typeface="Garamond" pitchFamily="34" charset="-120"/>
              </a:rPr>
              <a:t>Deployables on every platform</a:t>
            </a:r>
            <a:endParaRPr lang="en-US" sz="1350" dirty="0"/>
          </a:p>
        </p:txBody>
      </p:sp>
      <p:sp>
        <p:nvSpPr>
          <p:cNvPr id="13" name="Text 9"/>
          <p:cNvSpPr/>
          <p:nvPr/>
        </p:nvSpPr>
        <p:spPr>
          <a:xfrm>
            <a:off x="7178040" y="3182112"/>
            <a:ext cx="4160520" cy="960120"/>
          </a:xfrm>
          <a:prstGeom prst="rect">
            <a:avLst/>
          </a:prstGeom>
          <a:noFill/>
          <a:ln/>
        </p:spPr>
        <p:txBody>
          <a:bodyPr wrap="square" lIns="0" tIns="0" rIns="0" bIns="0" rtlCol="0" anchor="t"/>
          <a:lstStyle/>
          <a:p>
            <a:pPr indent="0" marL="0">
              <a:lnSpc>
                <a:spcPct val="105000"/>
              </a:lnSpc>
              <a:buNone/>
            </a:pPr>
            <a:r>
              <a:rPr lang="en-US" sz="1150" dirty="0">
                <a:solidFill>
                  <a:srgbClr val="1E2A33"/>
                </a:solidFill>
                <a:latin typeface="Garamond" pitchFamily="34" charset="0"/>
                <a:ea typeface="Garamond" pitchFamily="34" charset="-122"/>
                <a:cs typeface="Garamond" pitchFamily="34" charset="-120"/>
              </a:rPr>
              <a:t>Antennas, sensor booms, and masts must stow small and deploy reliably. Every spacecraft class, from CubeSats to flagship observatories, is an addressable socket for SABER mechanisms.</a:t>
            </a:r>
            <a:endParaRPr lang="en-US" sz="1150" dirty="0"/>
          </a:p>
        </p:txBody>
      </p:sp>
      <p:sp>
        <p:nvSpPr>
          <p:cNvPr id="14" name="Text 10"/>
          <p:cNvSpPr/>
          <p:nvPr/>
        </p:nvSpPr>
        <p:spPr>
          <a:xfrm>
            <a:off x="7178040" y="4343400"/>
            <a:ext cx="4114800" cy="274320"/>
          </a:xfrm>
          <a:prstGeom prst="rect">
            <a:avLst/>
          </a:prstGeom>
          <a:noFill/>
          <a:ln/>
        </p:spPr>
        <p:txBody>
          <a:bodyPr wrap="square" lIns="0" tIns="0" rIns="0" bIns="0" rtlCol="0" anchor="ctr"/>
          <a:lstStyle/>
          <a:p>
            <a:pPr indent="0" marL="0">
              <a:buNone/>
            </a:pPr>
            <a:r>
              <a:rPr lang="en-US" sz="1350" b="1" dirty="0">
                <a:solidFill>
                  <a:srgbClr val="10222F"/>
                </a:solidFill>
                <a:latin typeface="Garamond" pitchFamily="34" charset="0"/>
                <a:ea typeface="Garamond" pitchFamily="34" charset="-122"/>
                <a:cs typeface="Garamond" pitchFamily="34" charset="-120"/>
              </a:rPr>
              <a:t>Recurring lunar demand</a:t>
            </a:r>
            <a:endParaRPr lang="en-US" sz="1350" dirty="0"/>
          </a:p>
        </p:txBody>
      </p:sp>
      <p:sp>
        <p:nvSpPr>
          <p:cNvPr id="15" name="Text 11"/>
          <p:cNvSpPr/>
          <p:nvPr/>
        </p:nvSpPr>
        <p:spPr>
          <a:xfrm>
            <a:off x="7178040" y="4645152"/>
            <a:ext cx="4160520" cy="1005840"/>
          </a:xfrm>
          <a:prstGeom prst="rect">
            <a:avLst/>
          </a:prstGeom>
          <a:noFill/>
          <a:ln/>
        </p:spPr>
        <p:txBody>
          <a:bodyPr wrap="square" lIns="0" tIns="0" rIns="0" bIns="0" rtlCol="0" anchor="t"/>
          <a:lstStyle/>
          <a:p>
            <a:pPr indent="0" marL="0">
              <a:lnSpc>
                <a:spcPct val="105000"/>
              </a:lnSpc>
              <a:buNone/>
            </a:pPr>
            <a:r>
              <a:rPr lang="en-US" sz="1150" dirty="0">
                <a:solidFill>
                  <a:srgbClr val="1E2A33"/>
                </a:solidFill>
                <a:latin typeface="Garamond" pitchFamily="34" charset="0"/>
                <a:ea typeface="Garamond" pitchFamily="34" charset="-122"/>
                <a:cs typeface="Garamond" pitchFamily="34" charset="-120"/>
              </a:rPr>
              <a:t>NASA CLPS and commercial lunar programs are creating a repeat purchase market for payload sensors and deployables, with Heliospace hardware already flown on the first landings.</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COMPETITIVE POSITION</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Why Customers Choose Heliospace</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12</a:t>
            </a:r>
            <a:endParaRPr lang="en-US" sz="850" dirty="0"/>
          </a:p>
        </p:txBody>
      </p:sp>
      <p:sp>
        <p:nvSpPr>
          <p:cNvPr id="7" name="Shape 4"/>
          <p:cNvSpPr/>
          <p:nvPr/>
        </p:nvSpPr>
        <p:spPr>
          <a:xfrm>
            <a:off x="822960" y="1508760"/>
            <a:ext cx="347472" cy="347472"/>
          </a:xfrm>
          <a:prstGeom prst="ellipse">
            <a:avLst/>
          </a:prstGeom>
          <a:solidFill>
            <a:srgbClr val="007BCB"/>
          </a:solidFill>
          <a:ln/>
        </p:spPr>
      </p:sp>
      <p:sp>
        <p:nvSpPr>
          <p:cNvPr id="8" name="Text 5"/>
          <p:cNvSpPr/>
          <p:nvPr/>
        </p:nvSpPr>
        <p:spPr>
          <a:xfrm>
            <a:off x="822960" y="1508760"/>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Garamond" pitchFamily="34" charset="0"/>
                <a:ea typeface="Garamond" pitchFamily="34" charset="-122"/>
                <a:cs typeface="Garamond" pitchFamily="34" charset="-120"/>
              </a:rPr>
              <a:t>1</a:t>
            </a:r>
            <a:endParaRPr lang="en-US" sz="1400" dirty="0"/>
          </a:p>
        </p:txBody>
      </p:sp>
      <p:sp>
        <p:nvSpPr>
          <p:cNvPr id="9" name="Text 6"/>
          <p:cNvSpPr/>
          <p:nvPr/>
        </p:nvSpPr>
        <p:spPr>
          <a:xfrm>
            <a:off x="1325880" y="1481328"/>
            <a:ext cx="5120640" cy="274320"/>
          </a:xfrm>
          <a:prstGeom prst="rect">
            <a:avLst/>
          </a:prstGeom>
          <a:noFill/>
          <a:ln/>
        </p:spPr>
        <p:txBody>
          <a:bodyPr wrap="square" lIns="0" tIns="0" rIns="0" bIns="0" rtlCol="0" anchor="ctr"/>
          <a:lstStyle/>
          <a:p>
            <a:pPr indent="0" marL="0">
              <a:buNone/>
            </a:pPr>
            <a:r>
              <a:rPr lang="en-US" sz="1450" b="1" dirty="0">
                <a:solidFill>
                  <a:srgbClr val="10222F"/>
                </a:solidFill>
                <a:latin typeface="Garamond" pitchFamily="34" charset="0"/>
                <a:ea typeface="Garamond" pitchFamily="34" charset="-122"/>
                <a:cs typeface="Garamond" pitchFamily="34" charset="-120"/>
              </a:rPr>
              <a:t>Flight proven heritage</a:t>
            </a:r>
            <a:endParaRPr lang="en-US" sz="1450" dirty="0"/>
          </a:p>
        </p:txBody>
      </p:sp>
      <p:sp>
        <p:nvSpPr>
          <p:cNvPr id="10" name="Text 7"/>
          <p:cNvSpPr/>
          <p:nvPr/>
        </p:nvSpPr>
        <p:spPr>
          <a:xfrm>
            <a:off x="1325880" y="1764792"/>
            <a:ext cx="5166360" cy="868680"/>
          </a:xfrm>
          <a:prstGeom prst="rect">
            <a:avLst/>
          </a:prstGeom>
          <a:noFill/>
          <a:ln/>
        </p:spPr>
        <p:txBody>
          <a:bodyPr wrap="square" lIns="0" tIns="0" rIns="0" bIns="0" rtlCol="0" anchor="t"/>
          <a:lstStyle/>
          <a:p>
            <a:pPr indent="0" marL="0">
              <a:lnSpc>
                <a:spcPct val="103000"/>
              </a:lnSpc>
              <a:buNone/>
            </a:pPr>
            <a:r>
              <a:rPr lang="en-US" sz="1100" dirty="0">
                <a:solidFill>
                  <a:srgbClr val="1E2A33"/>
                </a:solidFill>
                <a:latin typeface="Garamond" pitchFamily="34" charset="0"/>
                <a:ea typeface="Garamond" pitchFamily="34" charset="-122"/>
                <a:cs typeface="Garamond" pitchFamily="34" charset="-120"/>
              </a:rPr>
              <a:t>Hardware operating today across the solar system, with a qualification pedigree that new entrants cannot shortcut.</a:t>
            </a:r>
            <a:endParaRPr lang="en-US" sz="1100" dirty="0"/>
          </a:p>
        </p:txBody>
      </p:sp>
      <p:sp>
        <p:nvSpPr>
          <p:cNvPr id="11" name="Shape 8"/>
          <p:cNvSpPr/>
          <p:nvPr/>
        </p:nvSpPr>
        <p:spPr>
          <a:xfrm>
            <a:off x="822960" y="2715768"/>
            <a:ext cx="347472" cy="347472"/>
          </a:xfrm>
          <a:prstGeom prst="ellipse">
            <a:avLst/>
          </a:prstGeom>
          <a:solidFill>
            <a:srgbClr val="007BCB"/>
          </a:solidFill>
          <a:ln/>
        </p:spPr>
      </p:sp>
      <p:sp>
        <p:nvSpPr>
          <p:cNvPr id="12" name="Text 9"/>
          <p:cNvSpPr/>
          <p:nvPr/>
        </p:nvSpPr>
        <p:spPr>
          <a:xfrm>
            <a:off x="822960" y="2715768"/>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Garamond" pitchFamily="34" charset="0"/>
                <a:ea typeface="Garamond" pitchFamily="34" charset="-122"/>
                <a:cs typeface="Garamond" pitchFamily="34" charset="-120"/>
              </a:rPr>
              <a:t>2</a:t>
            </a:r>
            <a:endParaRPr lang="en-US" sz="1400" dirty="0"/>
          </a:p>
        </p:txBody>
      </p:sp>
      <p:sp>
        <p:nvSpPr>
          <p:cNvPr id="13" name="Text 10"/>
          <p:cNvSpPr/>
          <p:nvPr/>
        </p:nvSpPr>
        <p:spPr>
          <a:xfrm>
            <a:off x="1325880" y="2688336"/>
            <a:ext cx="5120640" cy="274320"/>
          </a:xfrm>
          <a:prstGeom prst="rect">
            <a:avLst/>
          </a:prstGeom>
          <a:noFill/>
          <a:ln/>
        </p:spPr>
        <p:txBody>
          <a:bodyPr wrap="square" lIns="0" tIns="0" rIns="0" bIns="0" rtlCol="0" anchor="ctr"/>
          <a:lstStyle/>
          <a:p>
            <a:pPr indent="0" marL="0">
              <a:buNone/>
            </a:pPr>
            <a:r>
              <a:rPr lang="en-US" sz="1450" b="1" dirty="0">
                <a:solidFill>
                  <a:srgbClr val="10222F"/>
                </a:solidFill>
                <a:latin typeface="Garamond" pitchFamily="34" charset="0"/>
                <a:ea typeface="Garamond" pitchFamily="34" charset="-122"/>
                <a:cs typeface="Garamond" pitchFamily="34" charset="-120"/>
              </a:rPr>
              <a:t>Vertical integration</a:t>
            </a:r>
            <a:endParaRPr lang="en-US" sz="1450" dirty="0"/>
          </a:p>
        </p:txBody>
      </p:sp>
      <p:sp>
        <p:nvSpPr>
          <p:cNvPr id="14" name="Text 11"/>
          <p:cNvSpPr/>
          <p:nvPr/>
        </p:nvSpPr>
        <p:spPr>
          <a:xfrm>
            <a:off x="1325880" y="2971800"/>
            <a:ext cx="5166360" cy="868680"/>
          </a:xfrm>
          <a:prstGeom prst="rect">
            <a:avLst/>
          </a:prstGeom>
          <a:noFill/>
          <a:ln/>
        </p:spPr>
        <p:txBody>
          <a:bodyPr wrap="square" lIns="0" tIns="0" rIns="0" bIns="0" rtlCol="0" anchor="t"/>
          <a:lstStyle/>
          <a:p>
            <a:pPr indent="0" marL="0">
              <a:lnSpc>
                <a:spcPct val="103000"/>
              </a:lnSpc>
              <a:buNone/>
            </a:pPr>
            <a:r>
              <a:rPr lang="en-US" sz="1100" dirty="0">
                <a:solidFill>
                  <a:srgbClr val="1E2A33"/>
                </a:solidFill>
                <a:latin typeface="Garamond" pitchFamily="34" charset="0"/>
                <a:ea typeface="Garamond" pitchFamily="34" charset="-122"/>
                <a:cs typeface="Garamond" pitchFamily="34" charset="-120"/>
              </a:rPr>
              <a:t>A NASA SBIR funded, in house boom forming capability removes sole source supplier risk, cuts tooling lead times from months to days, and enables geometries competitors cannot produce.</a:t>
            </a:r>
            <a:endParaRPr lang="en-US" sz="1100" dirty="0"/>
          </a:p>
        </p:txBody>
      </p:sp>
      <p:sp>
        <p:nvSpPr>
          <p:cNvPr id="15" name="Shape 12"/>
          <p:cNvSpPr/>
          <p:nvPr/>
        </p:nvSpPr>
        <p:spPr>
          <a:xfrm>
            <a:off x="822960" y="3922776"/>
            <a:ext cx="347472" cy="347472"/>
          </a:xfrm>
          <a:prstGeom prst="ellipse">
            <a:avLst/>
          </a:prstGeom>
          <a:solidFill>
            <a:srgbClr val="007BCB"/>
          </a:solidFill>
          <a:ln/>
        </p:spPr>
      </p:sp>
      <p:sp>
        <p:nvSpPr>
          <p:cNvPr id="16" name="Text 13"/>
          <p:cNvSpPr/>
          <p:nvPr/>
        </p:nvSpPr>
        <p:spPr>
          <a:xfrm>
            <a:off x="822960" y="3922776"/>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Garamond" pitchFamily="34" charset="0"/>
                <a:ea typeface="Garamond" pitchFamily="34" charset="-122"/>
                <a:cs typeface="Garamond" pitchFamily="34" charset="-120"/>
              </a:rPr>
              <a:t>3</a:t>
            </a:r>
            <a:endParaRPr lang="en-US" sz="1400" dirty="0"/>
          </a:p>
        </p:txBody>
      </p:sp>
      <p:sp>
        <p:nvSpPr>
          <p:cNvPr id="17" name="Text 14"/>
          <p:cNvSpPr/>
          <p:nvPr/>
        </p:nvSpPr>
        <p:spPr>
          <a:xfrm>
            <a:off x="1325880" y="3895344"/>
            <a:ext cx="5120640" cy="274320"/>
          </a:xfrm>
          <a:prstGeom prst="rect">
            <a:avLst/>
          </a:prstGeom>
          <a:noFill/>
          <a:ln/>
        </p:spPr>
        <p:txBody>
          <a:bodyPr wrap="square" lIns="0" tIns="0" rIns="0" bIns="0" rtlCol="0" anchor="ctr"/>
          <a:lstStyle/>
          <a:p>
            <a:pPr indent="0" marL="0">
              <a:buNone/>
            </a:pPr>
            <a:r>
              <a:rPr lang="en-US" sz="1450" b="1" dirty="0">
                <a:solidFill>
                  <a:srgbClr val="10222F"/>
                </a:solidFill>
                <a:latin typeface="Garamond" pitchFamily="34" charset="0"/>
                <a:ea typeface="Garamond" pitchFamily="34" charset="-122"/>
                <a:cs typeface="Garamond" pitchFamily="34" charset="-120"/>
              </a:rPr>
              <a:t>Speed and cost</a:t>
            </a:r>
            <a:endParaRPr lang="en-US" sz="1450" dirty="0"/>
          </a:p>
        </p:txBody>
      </p:sp>
      <p:sp>
        <p:nvSpPr>
          <p:cNvPr id="18" name="Text 15"/>
          <p:cNvSpPr/>
          <p:nvPr/>
        </p:nvSpPr>
        <p:spPr>
          <a:xfrm>
            <a:off x="1325880" y="4178808"/>
            <a:ext cx="5166360" cy="868680"/>
          </a:xfrm>
          <a:prstGeom prst="rect">
            <a:avLst/>
          </a:prstGeom>
          <a:noFill/>
          <a:ln/>
        </p:spPr>
        <p:txBody>
          <a:bodyPr wrap="square" lIns="0" tIns="0" rIns="0" bIns="0" rtlCol="0" anchor="t"/>
          <a:lstStyle/>
          <a:p>
            <a:pPr indent="0" marL="0">
              <a:lnSpc>
                <a:spcPct val="103000"/>
              </a:lnSpc>
              <a:buNone/>
            </a:pPr>
            <a:r>
              <a:rPr lang="en-US" sz="1100" dirty="0">
                <a:solidFill>
                  <a:srgbClr val="1E2A33"/>
                </a:solidFill>
                <a:latin typeface="Garamond" pitchFamily="34" charset="0"/>
                <a:ea typeface="Garamond" pitchFamily="34" charset="-122"/>
                <a:cs typeface="Garamond" pitchFamily="34" charset="-120"/>
              </a:rPr>
              <a:t>Lean development on purchase order and time and materials contracts, with record time deliveries for launch critical lunar payloads.</a:t>
            </a:r>
            <a:endParaRPr lang="en-US" sz="1100" dirty="0"/>
          </a:p>
        </p:txBody>
      </p:sp>
      <p:sp>
        <p:nvSpPr>
          <p:cNvPr id="19" name="Shape 16"/>
          <p:cNvSpPr/>
          <p:nvPr/>
        </p:nvSpPr>
        <p:spPr>
          <a:xfrm>
            <a:off x="822960" y="5129784"/>
            <a:ext cx="347472" cy="347472"/>
          </a:xfrm>
          <a:prstGeom prst="ellipse">
            <a:avLst/>
          </a:prstGeom>
          <a:solidFill>
            <a:srgbClr val="007BCB"/>
          </a:solidFill>
          <a:ln/>
        </p:spPr>
      </p:sp>
      <p:sp>
        <p:nvSpPr>
          <p:cNvPr id="20" name="Text 17"/>
          <p:cNvSpPr/>
          <p:nvPr/>
        </p:nvSpPr>
        <p:spPr>
          <a:xfrm>
            <a:off x="822960" y="5129784"/>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Garamond" pitchFamily="34" charset="0"/>
                <a:ea typeface="Garamond" pitchFamily="34" charset="-122"/>
                <a:cs typeface="Garamond" pitchFamily="34" charset="-120"/>
              </a:rPr>
              <a:t>4</a:t>
            </a:r>
            <a:endParaRPr lang="en-US" sz="1400" dirty="0"/>
          </a:p>
        </p:txBody>
      </p:sp>
      <p:sp>
        <p:nvSpPr>
          <p:cNvPr id="21" name="Text 18"/>
          <p:cNvSpPr/>
          <p:nvPr/>
        </p:nvSpPr>
        <p:spPr>
          <a:xfrm>
            <a:off x="1325880" y="5102352"/>
            <a:ext cx="5120640" cy="274320"/>
          </a:xfrm>
          <a:prstGeom prst="rect">
            <a:avLst/>
          </a:prstGeom>
          <a:noFill/>
          <a:ln/>
        </p:spPr>
        <p:txBody>
          <a:bodyPr wrap="square" lIns="0" tIns="0" rIns="0" bIns="0" rtlCol="0" anchor="ctr"/>
          <a:lstStyle/>
          <a:p>
            <a:pPr indent="0" marL="0">
              <a:buNone/>
            </a:pPr>
            <a:r>
              <a:rPr lang="en-US" sz="1450" b="1" dirty="0">
                <a:solidFill>
                  <a:srgbClr val="10222F"/>
                </a:solidFill>
                <a:latin typeface="Garamond" pitchFamily="34" charset="0"/>
                <a:ea typeface="Garamond" pitchFamily="34" charset="-122"/>
                <a:cs typeface="Garamond" pitchFamily="34" charset="-120"/>
              </a:rPr>
              <a:t>Performance edge</a:t>
            </a:r>
            <a:endParaRPr lang="en-US" sz="1450" dirty="0"/>
          </a:p>
        </p:txBody>
      </p:sp>
      <p:sp>
        <p:nvSpPr>
          <p:cNvPr id="22" name="Text 19"/>
          <p:cNvSpPr/>
          <p:nvPr/>
        </p:nvSpPr>
        <p:spPr>
          <a:xfrm>
            <a:off x="1325880" y="5385816"/>
            <a:ext cx="5166360" cy="868680"/>
          </a:xfrm>
          <a:prstGeom prst="rect">
            <a:avLst/>
          </a:prstGeom>
          <a:noFill/>
          <a:ln/>
        </p:spPr>
        <p:txBody>
          <a:bodyPr wrap="square" lIns="0" tIns="0" rIns="0" bIns="0" rtlCol="0" anchor="t"/>
          <a:lstStyle/>
          <a:p>
            <a:pPr indent="0" marL="0">
              <a:lnSpc>
                <a:spcPct val="103000"/>
              </a:lnSpc>
              <a:buNone/>
            </a:pPr>
            <a:r>
              <a:rPr lang="en-US" sz="1100" dirty="0">
                <a:solidFill>
                  <a:srgbClr val="1E2A33"/>
                </a:solidFill>
                <a:latin typeface="Garamond" pitchFamily="34" charset="0"/>
                <a:ea typeface="Garamond" pitchFamily="34" charset="-122"/>
                <a:cs typeface="Garamond" pitchFamily="34" charset="-120"/>
              </a:rPr>
              <a:t>Wider thermal range, redundant non explosive release, and stowage ratios of up to 50:1.</a:t>
            </a:r>
            <a:endParaRPr lang="en-US" sz="1100" dirty="0"/>
          </a:p>
        </p:txBody>
      </p:sp>
      <p:sp>
        <p:nvSpPr>
          <p:cNvPr id="23" name="Text 20"/>
          <p:cNvSpPr/>
          <p:nvPr/>
        </p:nvSpPr>
        <p:spPr>
          <a:xfrm>
            <a:off x="7040880" y="1508760"/>
            <a:ext cx="4297680" cy="274320"/>
          </a:xfrm>
          <a:prstGeom prst="rect">
            <a:avLst/>
          </a:prstGeom>
          <a:noFill/>
          <a:ln/>
        </p:spPr>
        <p:txBody>
          <a:bodyPr wrap="square" lIns="0" tIns="0" rIns="0" bIns="0" rtlCol="0" anchor="ctr"/>
          <a:lstStyle/>
          <a:p>
            <a:pPr indent="0" marL="0">
              <a:buNone/>
            </a:pPr>
            <a:r>
              <a:rPr lang="en-US" sz="1350" b="1" dirty="0">
                <a:solidFill>
                  <a:srgbClr val="10222F"/>
                </a:solidFill>
                <a:latin typeface="Garamond" pitchFamily="34" charset="0"/>
                <a:ea typeface="Garamond" pitchFamily="34" charset="-122"/>
                <a:cs typeface="Garamond" pitchFamily="34" charset="-120"/>
              </a:rPr>
              <a:t>Release mechanism versus typical SMA devices</a:t>
            </a:r>
            <a:endParaRPr lang="en-US" sz="13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7040880" y="1874520"/>
          <a:ext cx="4315968" cy="914400"/>
        </p:xfrm>
        <a:graphic>
          <a:graphicData uri="http://schemas.openxmlformats.org/drawingml/2006/table">
            <a:tbl>
              <a:tblPr/>
              <a:tblGrid>
                <a:gridCol w="1481328"/>
                <a:gridCol w="1417320"/>
                <a:gridCol w="1417320"/>
              </a:tblGrid>
              <a:tr h="566928">
                <a:tc>
                  <a:txBody>
                    <a:bodyPr/>
                    <a:lstStyle/>
                    <a:p>
                      <a:pPr indent="0" marL="0">
                        <a:buNone/>
                      </a:pP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10222F"/>
                    </a:solidFill>
                  </a:tcPr>
                </a:tc>
                <a:tc>
                  <a:txBody>
                    <a:bodyPr/>
                    <a:lstStyle/>
                    <a:p>
                      <a:pPr indent="0" marL="0">
                        <a:buNone/>
                      </a:pPr>
                      <a:r>
                        <a:rPr lang="en-US" sz="950" b="1" dirty="0">
                          <a:solidFill>
                            <a:srgbClr val="FFFFFF"/>
                          </a:solidFill>
                          <a:latin typeface="Garamond" pitchFamily="34" charset="0"/>
                          <a:ea typeface="Garamond" pitchFamily="34" charset="-122"/>
                          <a:cs typeface="Garamond" pitchFamily="34" charset="-120"/>
                        </a:rPr>
                        <a:t>Heliospace</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10222F"/>
                    </a:solidFill>
                  </a:tcPr>
                </a:tc>
                <a:tc>
                  <a:txBody>
                    <a:bodyPr/>
                    <a:lstStyle/>
                    <a:p>
                      <a:pPr indent="0" marL="0">
                        <a:buNone/>
                      </a:pPr>
                      <a:r>
                        <a:rPr lang="en-US" sz="950" b="1" dirty="0">
                          <a:solidFill>
                            <a:srgbClr val="FFFFFF"/>
                          </a:solidFill>
                          <a:latin typeface="Garamond" pitchFamily="34" charset="0"/>
                          <a:ea typeface="Garamond" pitchFamily="34" charset="-122"/>
                          <a:cs typeface="Garamond" pitchFamily="34" charset="-120"/>
                        </a:rPr>
                        <a:t>Typical SMA HDRM</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10222F"/>
                    </a:solidFill>
                  </a:tcPr>
                </a:tc>
              </a:tr>
              <a:tr h="566928">
                <a:tc>
                  <a:txBody>
                    <a:bodyPr/>
                    <a:lstStyle/>
                    <a:p>
                      <a:pPr indent="0" marL="0">
                        <a:buNone/>
                      </a:pPr>
                      <a:r>
                        <a:rPr lang="en-US" sz="950" b="1" dirty="0">
                          <a:solidFill>
                            <a:srgbClr val="10222F"/>
                          </a:solidFill>
                          <a:latin typeface="Garamond" pitchFamily="34" charset="0"/>
                          <a:ea typeface="Garamond" pitchFamily="34" charset="-122"/>
                          <a:cs typeface="Garamond" pitchFamily="34" charset="-120"/>
                        </a:rPr>
                        <a:t>Pre deploy temperature</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c>
                  <a:txBody>
                    <a:bodyPr/>
                    <a:lstStyle/>
                    <a:p>
                      <a:pPr indent="0" marL="0">
                        <a:buNone/>
                      </a:pPr>
                      <a:r>
                        <a:rPr lang="en-US" sz="950" dirty="0">
                          <a:solidFill>
                            <a:srgbClr val="1E2A33"/>
                          </a:solidFill>
                          <a:latin typeface="Garamond" pitchFamily="34" charset="0"/>
                          <a:ea typeface="Garamond" pitchFamily="34" charset="-122"/>
                          <a:cs typeface="Garamond" pitchFamily="34" charset="-120"/>
                        </a:rPr>
                        <a:t>Above 150 C</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c>
                  <a:txBody>
                    <a:bodyPr/>
                    <a:lstStyle/>
                    <a:p>
                      <a:pPr indent="0" marL="0">
                        <a:buNone/>
                      </a:pPr>
                      <a:r>
                        <a:rPr lang="en-US" sz="950" dirty="0">
                          <a:solidFill>
                            <a:srgbClr val="1E2A33"/>
                          </a:solidFill>
                          <a:latin typeface="Garamond" pitchFamily="34" charset="0"/>
                          <a:ea typeface="Garamond" pitchFamily="34" charset="-122"/>
                          <a:cs typeface="Garamond" pitchFamily="34" charset="-120"/>
                        </a:rPr>
                        <a:t>90 to 120 C</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r>
              <a:tr h="566928">
                <a:tc>
                  <a:txBody>
                    <a:bodyPr/>
                    <a:lstStyle/>
                    <a:p>
                      <a:pPr indent="0" marL="0">
                        <a:buNone/>
                      </a:pPr>
                      <a:r>
                        <a:rPr lang="en-US" sz="950" b="1" dirty="0">
                          <a:solidFill>
                            <a:srgbClr val="10222F"/>
                          </a:solidFill>
                          <a:latin typeface="Garamond" pitchFamily="34" charset="0"/>
                          <a:ea typeface="Garamond" pitchFamily="34" charset="-122"/>
                          <a:cs typeface="Garamond" pitchFamily="34" charset="-120"/>
                        </a:rPr>
                        <a:t>Stowed length</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c>
                  <a:txBody>
                    <a:bodyPr/>
                    <a:lstStyle/>
                    <a:p>
                      <a:pPr indent="0" marL="0">
                        <a:buNone/>
                      </a:pPr>
                      <a:r>
                        <a:rPr lang="en-US" sz="950" dirty="0">
                          <a:solidFill>
                            <a:srgbClr val="1E2A33"/>
                          </a:solidFill>
                          <a:latin typeface="Garamond" pitchFamily="34" charset="0"/>
                          <a:ea typeface="Garamond" pitchFamily="34" charset="-122"/>
                          <a:cs typeface="Garamond" pitchFamily="34" charset="-120"/>
                        </a:rPr>
                        <a:t>About one third of comparable devices</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c>
                  <a:txBody>
                    <a:bodyPr/>
                    <a:lstStyle/>
                    <a:p>
                      <a:pPr indent="0" marL="0">
                        <a:buNone/>
                      </a:pPr>
                      <a:r>
                        <a:rPr lang="en-US" sz="950" dirty="0">
                          <a:solidFill>
                            <a:srgbClr val="1E2A33"/>
                          </a:solidFill>
                          <a:latin typeface="Garamond" pitchFamily="34" charset="0"/>
                          <a:ea typeface="Garamond" pitchFamily="34" charset="-122"/>
                          <a:cs typeface="Garamond" pitchFamily="34" charset="-120"/>
                        </a:rPr>
                        <a:t>About 3x axial height</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r>
              <a:tr h="566928">
                <a:tc>
                  <a:txBody>
                    <a:bodyPr/>
                    <a:lstStyle/>
                    <a:p>
                      <a:pPr indent="0" marL="0">
                        <a:buNone/>
                      </a:pPr>
                      <a:r>
                        <a:rPr lang="en-US" sz="950" b="1" dirty="0">
                          <a:solidFill>
                            <a:srgbClr val="10222F"/>
                          </a:solidFill>
                          <a:latin typeface="Garamond" pitchFamily="34" charset="0"/>
                          <a:ea typeface="Garamond" pitchFamily="34" charset="-122"/>
                          <a:cs typeface="Garamond" pitchFamily="34" charset="-120"/>
                        </a:rPr>
                        <a:t>Redundancy</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c>
                  <a:txBody>
                    <a:bodyPr/>
                    <a:lstStyle/>
                    <a:p>
                      <a:pPr indent="0" marL="0">
                        <a:buNone/>
                      </a:pPr>
                      <a:r>
                        <a:rPr lang="en-US" sz="950" dirty="0">
                          <a:solidFill>
                            <a:srgbClr val="1E2A33"/>
                          </a:solidFill>
                          <a:latin typeface="Garamond" pitchFamily="34" charset="0"/>
                          <a:ea typeface="Garamond" pitchFamily="34" charset="-122"/>
                          <a:cs typeface="Garamond" pitchFamily="34" charset="-120"/>
                        </a:rPr>
                        <a:t>Redundant circuits and actuation</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c>
                  <a:txBody>
                    <a:bodyPr/>
                    <a:lstStyle/>
                    <a:p>
                      <a:pPr indent="0" marL="0">
                        <a:buNone/>
                      </a:pPr>
                      <a:r>
                        <a:rPr lang="en-US" sz="950" dirty="0">
                          <a:solidFill>
                            <a:srgbClr val="1E2A33"/>
                          </a:solidFill>
                          <a:latin typeface="Garamond" pitchFamily="34" charset="0"/>
                          <a:ea typeface="Garamond" pitchFamily="34" charset="-122"/>
                          <a:cs typeface="Garamond" pitchFamily="34" charset="-120"/>
                        </a:rPr>
                        <a:t>Not redundant at this size</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r>
              <a:tr h="566928">
                <a:tc>
                  <a:txBody>
                    <a:bodyPr/>
                    <a:lstStyle/>
                    <a:p>
                      <a:pPr indent="0" marL="0">
                        <a:buNone/>
                      </a:pPr>
                      <a:r>
                        <a:rPr lang="en-US" sz="950" b="1" dirty="0">
                          <a:solidFill>
                            <a:srgbClr val="10222F"/>
                          </a:solidFill>
                          <a:latin typeface="Garamond" pitchFamily="34" charset="0"/>
                          <a:ea typeface="Garamond" pitchFamily="34" charset="-122"/>
                          <a:cs typeface="Garamond" pitchFamily="34" charset="-120"/>
                        </a:rPr>
                        <a:t>Reuse</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c>
                  <a:txBody>
                    <a:bodyPr/>
                    <a:lstStyle/>
                    <a:p>
                      <a:pPr indent="0" marL="0">
                        <a:buNone/>
                      </a:pPr>
                      <a:r>
                        <a:rPr lang="en-US" sz="950" dirty="0">
                          <a:solidFill>
                            <a:srgbClr val="1E2A33"/>
                          </a:solidFill>
                          <a:latin typeface="Garamond" pitchFamily="34" charset="0"/>
                          <a:ea typeface="Garamond" pitchFamily="34" charset="-122"/>
                          <a:cs typeface="Garamond" pitchFamily="34" charset="-120"/>
                        </a:rPr>
                        <a:t>Re usable, non explosive</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c>
                  <a:txBody>
                    <a:bodyPr/>
                    <a:lstStyle/>
                    <a:p>
                      <a:pPr indent="0" marL="0">
                        <a:buNone/>
                      </a:pPr>
                      <a:r>
                        <a:rPr lang="en-US" sz="950" dirty="0">
                          <a:solidFill>
                            <a:srgbClr val="1E2A33"/>
                          </a:solidFill>
                          <a:latin typeface="Garamond" pitchFamily="34" charset="0"/>
                          <a:ea typeface="Garamond" pitchFamily="34" charset="-122"/>
                          <a:cs typeface="Garamond" pitchFamily="34" charset="-120"/>
                        </a:rPr>
                        <a:t>Single use or custom</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r>
            </a:tbl>
          </a:graphicData>
        </a:graphic>
      </p:graphicFrame>
      <p:sp>
        <p:nvSpPr>
          <p:cNvPr id="25" name="Text 21"/>
          <p:cNvSpPr/>
          <p:nvPr/>
        </p:nvSpPr>
        <p:spPr>
          <a:xfrm>
            <a:off x="7040880" y="4846320"/>
            <a:ext cx="4297680" cy="256032"/>
          </a:xfrm>
          <a:prstGeom prst="rect">
            <a:avLst/>
          </a:prstGeom>
          <a:noFill/>
          <a:ln/>
        </p:spPr>
        <p:txBody>
          <a:bodyPr wrap="square" lIns="0" tIns="0" rIns="0" bIns="0" rtlCol="0" anchor="ctr"/>
          <a:lstStyle/>
          <a:p>
            <a:pPr indent="0" marL="0">
              <a:buNone/>
            </a:pPr>
            <a:r>
              <a:rPr lang="en-US" sz="900" i="1" dirty="0">
                <a:solidFill>
                  <a:srgbClr val="5C6B76"/>
                </a:solidFill>
                <a:latin typeface="Garamond" pitchFamily="34" charset="0"/>
                <a:ea typeface="Garamond" pitchFamily="34" charset="-122"/>
                <a:cs typeface="Garamond" pitchFamily="34" charset="-120"/>
              </a:rPr>
              <a:t>Source: Heliospace SB2 development program comparison.</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CLIENT BASE</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Customers Who Validate the Technology</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13</a:t>
            </a:r>
            <a:endParaRPr lang="en-US" sz="850" dirty="0"/>
          </a:p>
        </p:txBody>
      </p:sp>
      <p:sp>
        <p:nvSpPr>
          <p:cNvPr id="7" name="Text 4"/>
          <p:cNvSpPr/>
          <p:nvPr/>
        </p:nvSpPr>
        <p:spPr>
          <a:xfrm>
            <a:off x="822960" y="1463040"/>
            <a:ext cx="6217920" cy="256032"/>
          </a:xfrm>
          <a:prstGeom prst="rect">
            <a:avLst/>
          </a:prstGeom>
          <a:noFill/>
          <a:ln/>
        </p:spPr>
        <p:txBody>
          <a:bodyPr wrap="square" lIns="0" tIns="0" rIns="0" bIns="0" rtlCol="0" anchor="ctr"/>
          <a:lstStyle/>
          <a:p>
            <a:pPr indent="0" marL="0">
              <a:buNone/>
            </a:pPr>
            <a:r>
              <a:rPr lang="en-US" sz="1350" b="1" dirty="0">
                <a:solidFill>
                  <a:srgbClr val="007BCB"/>
                </a:solidFill>
                <a:latin typeface="Garamond" pitchFamily="34" charset="0"/>
                <a:ea typeface="Garamond" pitchFamily="34" charset="-122"/>
                <a:cs typeface="Garamond" pitchFamily="34" charset="-120"/>
              </a:rPr>
              <a:t>Civil space science</a:t>
            </a:r>
            <a:endParaRPr lang="en-US" sz="1350" dirty="0"/>
          </a:p>
        </p:txBody>
      </p:sp>
      <p:sp>
        <p:nvSpPr>
          <p:cNvPr id="8" name="Text 5"/>
          <p:cNvSpPr/>
          <p:nvPr/>
        </p:nvSpPr>
        <p:spPr>
          <a:xfrm>
            <a:off x="822960" y="1737360"/>
            <a:ext cx="6263640" cy="502920"/>
          </a:xfrm>
          <a:prstGeom prst="rect">
            <a:avLst/>
          </a:prstGeom>
          <a:noFill/>
          <a:ln/>
        </p:spPr>
        <p:txBody>
          <a:bodyPr wrap="square" lIns="0" tIns="0" rIns="0" bIns="0" rtlCol="0" anchor="t"/>
          <a:lstStyle/>
          <a:p>
            <a:pPr indent="0" marL="0">
              <a:buNone/>
            </a:pPr>
            <a:r>
              <a:rPr lang="en-US" sz="1150" dirty="0">
                <a:solidFill>
                  <a:srgbClr val="1E2A33"/>
                </a:solidFill>
                <a:latin typeface="Garamond" pitchFamily="34" charset="0"/>
                <a:ea typeface="Garamond" pitchFamily="34" charset="-122"/>
                <a:cs typeface="Garamond" pitchFamily="34" charset="-120"/>
              </a:rPr>
              <a:t>NASA JPL, NASA Goddard, Caltech, UC Berkeley Space Sciences Laboratory</a:t>
            </a:r>
            <a:endParaRPr lang="en-US" sz="1150" dirty="0"/>
          </a:p>
        </p:txBody>
      </p:sp>
      <p:sp>
        <p:nvSpPr>
          <p:cNvPr id="9" name="Text 6"/>
          <p:cNvSpPr/>
          <p:nvPr/>
        </p:nvSpPr>
        <p:spPr>
          <a:xfrm>
            <a:off x="822960" y="2359152"/>
            <a:ext cx="6217920" cy="256032"/>
          </a:xfrm>
          <a:prstGeom prst="rect">
            <a:avLst/>
          </a:prstGeom>
          <a:noFill/>
          <a:ln/>
        </p:spPr>
        <p:txBody>
          <a:bodyPr wrap="square" lIns="0" tIns="0" rIns="0" bIns="0" rtlCol="0" anchor="ctr"/>
          <a:lstStyle/>
          <a:p>
            <a:pPr indent="0" marL="0">
              <a:buNone/>
            </a:pPr>
            <a:r>
              <a:rPr lang="en-US" sz="1350" b="1" dirty="0">
                <a:solidFill>
                  <a:srgbClr val="007BCB"/>
                </a:solidFill>
                <a:latin typeface="Garamond" pitchFamily="34" charset="0"/>
                <a:ea typeface="Garamond" pitchFamily="34" charset="-122"/>
                <a:cs typeface="Garamond" pitchFamily="34" charset="-120"/>
              </a:rPr>
              <a:t>Commercial lunar</a:t>
            </a:r>
            <a:endParaRPr lang="en-US" sz="1350" dirty="0"/>
          </a:p>
        </p:txBody>
      </p:sp>
      <p:sp>
        <p:nvSpPr>
          <p:cNvPr id="10" name="Text 7"/>
          <p:cNvSpPr/>
          <p:nvPr/>
        </p:nvSpPr>
        <p:spPr>
          <a:xfrm>
            <a:off x="822960" y="2633472"/>
            <a:ext cx="6263640" cy="502920"/>
          </a:xfrm>
          <a:prstGeom prst="rect">
            <a:avLst/>
          </a:prstGeom>
          <a:noFill/>
          <a:ln/>
        </p:spPr>
        <p:txBody>
          <a:bodyPr wrap="square" lIns="0" tIns="0" rIns="0" bIns="0" rtlCol="0" anchor="t"/>
          <a:lstStyle/>
          <a:p>
            <a:pPr indent="0" marL="0">
              <a:buNone/>
            </a:pPr>
            <a:r>
              <a:rPr lang="en-US" sz="1150" dirty="0">
                <a:solidFill>
                  <a:srgbClr val="1E2A33"/>
                </a:solidFill>
                <a:latin typeface="Garamond" pitchFamily="34" charset="0"/>
                <a:ea typeface="Garamond" pitchFamily="34" charset="-122"/>
                <a:cs typeface="Garamond" pitchFamily="34" charset="-120"/>
              </a:rPr>
              <a:t>Firefly Aerospace, Intuitive Machines, SwRI, Draper and iSpace mission teams</a:t>
            </a:r>
            <a:endParaRPr lang="en-US" sz="1150" dirty="0"/>
          </a:p>
        </p:txBody>
      </p:sp>
      <p:sp>
        <p:nvSpPr>
          <p:cNvPr id="11" name="Text 8"/>
          <p:cNvSpPr/>
          <p:nvPr/>
        </p:nvSpPr>
        <p:spPr>
          <a:xfrm>
            <a:off x="822960" y="3255264"/>
            <a:ext cx="6217920" cy="256032"/>
          </a:xfrm>
          <a:prstGeom prst="rect">
            <a:avLst/>
          </a:prstGeom>
          <a:noFill/>
          <a:ln/>
        </p:spPr>
        <p:txBody>
          <a:bodyPr wrap="square" lIns="0" tIns="0" rIns="0" bIns="0" rtlCol="0" anchor="ctr"/>
          <a:lstStyle/>
          <a:p>
            <a:pPr indent="0" marL="0">
              <a:buNone/>
            </a:pPr>
            <a:r>
              <a:rPr lang="en-US" sz="1350" b="1" dirty="0">
                <a:solidFill>
                  <a:srgbClr val="007BCB"/>
                </a:solidFill>
                <a:latin typeface="Garamond" pitchFamily="34" charset="0"/>
                <a:ea typeface="Garamond" pitchFamily="34" charset="-122"/>
                <a:cs typeface="Garamond" pitchFamily="34" charset="-120"/>
              </a:rPr>
              <a:t>Flagship programs</a:t>
            </a:r>
            <a:endParaRPr lang="en-US" sz="1350" dirty="0"/>
          </a:p>
        </p:txBody>
      </p:sp>
      <p:sp>
        <p:nvSpPr>
          <p:cNvPr id="12" name="Text 9"/>
          <p:cNvSpPr/>
          <p:nvPr/>
        </p:nvSpPr>
        <p:spPr>
          <a:xfrm>
            <a:off x="822960" y="3529584"/>
            <a:ext cx="6263640" cy="502920"/>
          </a:xfrm>
          <a:prstGeom prst="rect">
            <a:avLst/>
          </a:prstGeom>
          <a:noFill/>
          <a:ln/>
        </p:spPr>
        <p:txBody>
          <a:bodyPr wrap="square" lIns="0" tIns="0" rIns="0" bIns="0" rtlCol="0" anchor="t"/>
          <a:lstStyle/>
          <a:p>
            <a:pPr indent="0" marL="0">
              <a:buNone/>
            </a:pPr>
            <a:r>
              <a:rPr lang="en-US" sz="1150" dirty="0">
                <a:solidFill>
                  <a:srgbClr val="1E2A33"/>
                </a:solidFill>
                <a:latin typeface="Garamond" pitchFamily="34" charset="0"/>
                <a:ea typeface="Garamond" pitchFamily="34" charset="-122"/>
                <a:cs typeface="Garamond" pitchFamily="34" charset="-120"/>
              </a:rPr>
              <a:t>James Webb Space Telescope support; Mars Sample Return concept studies</a:t>
            </a:r>
            <a:endParaRPr lang="en-US" sz="1150" dirty="0"/>
          </a:p>
        </p:txBody>
      </p:sp>
      <p:sp>
        <p:nvSpPr>
          <p:cNvPr id="13" name="Text 10"/>
          <p:cNvSpPr/>
          <p:nvPr/>
        </p:nvSpPr>
        <p:spPr>
          <a:xfrm>
            <a:off x="822960" y="4151376"/>
            <a:ext cx="6217920" cy="256032"/>
          </a:xfrm>
          <a:prstGeom prst="rect">
            <a:avLst/>
          </a:prstGeom>
          <a:noFill/>
          <a:ln/>
        </p:spPr>
        <p:txBody>
          <a:bodyPr wrap="square" lIns="0" tIns="0" rIns="0" bIns="0" rtlCol="0" anchor="ctr"/>
          <a:lstStyle/>
          <a:p>
            <a:pPr indent="0" marL="0">
              <a:buNone/>
            </a:pPr>
            <a:r>
              <a:rPr lang="en-US" sz="1350" b="1" dirty="0">
                <a:solidFill>
                  <a:srgbClr val="007BCB"/>
                </a:solidFill>
                <a:latin typeface="Garamond" pitchFamily="34" charset="0"/>
                <a:ea typeface="Garamond" pitchFamily="34" charset="-122"/>
                <a:cs typeface="Garamond" pitchFamily="34" charset="-120"/>
              </a:rPr>
              <a:t>Commercial and philanthropic</a:t>
            </a:r>
            <a:endParaRPr lang="en-US" sz="1350" dirty="0"/>
          </a:p>
        </p:txBody>
      </p:sp>
      <p:sp>
        <p:nvSpPr>
          <p:cNvPr id="14" name="Text 11"/>
          <p:cNvSpPr/>
          <p:nvPr/>
        </p:nvSpPr>
        <p:spPr>
          <a:xfrm>
            <a:off x="822960" y="4425696"/>
            <a:ext cx="6263640" cy="502920"/>
          </a:xfrm>
          <a:prstGeom prst="rect">
            <a:avLst/>
          </a:prstGeom>
          <a:noFill/>
          <a:ln/>
        </p:spPr>
        <p:txBody>
          <a:bodyPr wrap="square" lIns="0" tIns="0" rIns="0" bIns="0" rtlCol="0" anchor="t"/>
          <a:lstStyle/>
          <a:p>
            <a:pPr indent="0" marL="0">
              <a:buNone/>
            </a:pPr>
            <a:r>
              <a:rPr lang="en-US" sz="1150" dirty="0">
                <a:solidFill>
                  <a:srgbClr val="1E2A33"/>
                </a:solidFill>
                <a:latin typeface="Garamond" pitchFamily="34" charset="0"/>
                <a:ea typeface="Garamond" pitchFamily="34" charset="-122"/>
                <a:cs typeface="Garamond" pitchFamily="34" charset="-120"/>
              </a:rPr>
              <a:t>Honeybee Robotics and Blue Origin lander work; Breakthrough Foundation farside mission</a:t>
            </a:r>
            <a:endParaRPr lang="en-US" sz="1150" dirty="0"/>
          </a:p>
        </p:txBody>
      </p:sp>
      <p:sp>
        <p:nvSpPr>
          <p:cNvPr id="15" name="Text 12"/>
          <p:cNvSpPr/>
          <p:nvPr/>
        </p:nvSpPr>
        <p:spPr>
          <a:xfrm>
            <a:off x="822960" y="5074920"/>
            <a:ext cx="3657600" cy="274320"/>
          </a:xfrm>
          <a:prstGeom prst="rect">
            <a:avLst/>
          </a:prstGeom>
          <a:noFill/>
          <a:ln/>
        </p:spPr>
        <p:txBody>
          <a:bodyPr wrap="square" lIns="0" tIns="0" rIns="0" bIns="0" rtlCol="0" anchor="ctr"/>
          <a:lstStyle/>
          <a:p>
            <a:pPr indent="0" marL="0">
              <a:buNone/>
            </a:pPr>
            <a:r>
              <a:rPr lang="en-US" sz="1350" b="1" dirty="0">
                <a:solidFill>
                  <a:srgbClr val="10222F"/>
                </a:solidFill>
                <a:latin typeface="Garamond" pitchFamily="34" charset="0"/>
                <a:ea typeface="Garamond" pitchFamily="34" charset="-122"/>
                <a:cs typeface="Garamond" pitchFamily="34" charset="-120"/>
              </a:rPr>
              <a:t>Why they stay</a:t>
            </a:r>
            <a:endParaRPr lang="en-US" sz="1350" dirty="0"/>
          </a:p>
        </p:txBody>
      </p:sp>
      <p:sp>
        <p:nvSpPr>
          <p:cNvPr id="16" name="Text 13"/>
          <p:cNvSpPr/>
          <p:nvPr/>
        </p:nvSpPr>
        <p:spPr>
          <a:xfrm>
            <a:off x="822960" y="5394960"/>
            <a:ext cx="6217920" cy="1005840"/>
          </a:xfrm>
          <a:prstGeom prst="rect">
            <a:avLst/>
          </a:prstGeom>
          <a:noFill/>
          <a:ln/>
        </p:spPr>
        <p:txBody>
          <a:bodyPr wrap="square" lIns="0" tIns="0" rIns="0" bIns="0" rtlCol="0" anchor="t"/>
          <a:lstStyle/>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Supplier of record on marquee missions</a:t>
            </a:r>
            <a:endParaRPr lang="en-US" sz="1100" dirty="0"/>
          </a:p>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On schedule delivery for launch critical payloads</a:t>
            </a:r>
            <a:endParaRPr lang="en-US" sz="1100" dirty="0"/>
          </a:p>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Repeat awards across programs and platforms</a:t>
            </a:r>
            <a:endParaRPr lang="en-US" sz="1100" dirty="0"/>
          </a:p>
        </p:txBody>
      </p:sp>
      <p:pic>
        <p:nvPicPr>
          <p:cNvPr id="17" name="Image 1" descr="assets/s11_team.jpg">    </p:cNvPr>
          <p:cNvPicPr>
            <a:picLocks noChangeAspect="1"/>
          </p:cNvPicPr>
          <p:nvPr/>
        </p:nvPicPr>
        <p:blipFill>
          <a:blip r:embed="rId2"/>
          <a:stretch>
            <a:fillRect/>
          </a:stretch>
        </p:blipFill>
        <p:spPr>
          <a:xfrm>
            <a:off x="7360920" y="1463040"/>
            <a:ext cx="4005072" cy="2670048"/>
          </a:xfrm>
          <a:prstGeom prst="rect">
            <a:avLst/>
          </a:prstGeom>
        </p:spPr>
      </p:pic>
      <p:sp>
        <p:nvSpPr>
          <p:cNvPr id="18" name="Shape 14"/>
          <p:cNvSpPr/>
          <p:nvPr/>
        </p:nvSpPr>
        <p:spPr>
          <a:xfrm>
            <a:off x="7360920" y="1463040"/>
            <a:ext cx="4005072" cy="2670048"/>
          </a:xfrm>
          <a:prstGeom prst="rect">
            <a:avLst/>
          </a:prstGeom>
          <a:ln w="12700">
            <a:solidFill>
              <a:srgbClr val="C6D2DA"/>
            </a:solidFill>
            <a:prstDash val="solid"/>
          </a:ln>
        </p:spPr>
      </p:sp>
      <p:sp>
        <p:nvSpPr>
          <p:cNvPr id="19" name="Text 15"/>
          <p:cNvSpPr/>
          <p:nvPr/>
        </p:nvSpPr>
        <p:spPr>
          <a:xfrm>
            <a:off x="7360920" y="4160520"/>
            <a:ext cx="4005072"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Flight hardware assembly at the Berkeley facility.</a:t>
            </a:r>
            <a:endParaRPr lang="en-US" sz="950" dirty="0"/>
          </a:p>
        </p:txBody>
      </p:sp>
      <p:sp>
        <p:nvSpPr>
          <p:cNvPr id="20" name="Shape 16"/>
          <p:cNvSpPr/>
          <p:nvPr/>
        </p:nvSpPr>
        <p:spPr>
          <a:xfrm>
            <a:off x="7360920" y="4617720"/>
            <a:ext cx="4005072" cy="1554480"/>
          </a:xfrm>
          <a:prstGeom prst="roundRect">
            <a:avLst>
              <a:gd name="adj" fmla="val 2941"/>
            </a:avLst>
          </a:prstGeom>
          <a:solidFill>
            <a:srgbClr val="F3F7FA"/>
          </a:solidFill>
          <a:ln/>
        </p:spPr>
      </p:sp>
      <p:sp>
        <p:nvSpPr>
          <p:cNvPr id="21" name="Text 17"/>
          <p:cNvSpPr/>
          <p:nvPr/>
        </p:nvSpPr>
        <p:spPr>
          <a:xfrm>
            <a:off x="7589520" y="4828032"/>
            <a:ext cx="1188720" cy="502920"/>
          </a:xfrm>
          <a:prstGeom prst="rect">
            <a:avLst/>
          </a:prstGeom>
          <a:noFill/>
          <a:ln/>
        </p:spPr>
        <p:txBody>
          <a:bodyPr wrap="square" lIns="0" tIns="0" rIns="0" bIns="0" rtlCol="0" anchor="ctr"/>
          <a:lstStyle/>
          <a:p>
            <a:pPr indent="0" marL="0">
              <a:buNone/>
            </a:pPr>
            <a:r>
              <a:rPr lang="en-US" sz="3000" b="1" dirty="0">
                <a:solidFill>
                  <a:srgbClr val="007BCB"/>
                </a:solidFill>
                <a:latin typeface="Garamond" pitchFamily="34" charset="0"/>
                <a:ea typeface="Garamond" pitchFamily="34" charset="-122"/>
                <a:cs typeface="Garamond" pitchFamily="34" charset="-120"/>
              </a:rPr>
              <a:t>10+</a:t>
            </a:r>
            <a:endParaRPr lang="en-US" sz="3000" dirty="0"/>
          </a:p>
        </p:txBody>
      </p:sp>
      <p:sp>
        <p:nvSpPr>
          <p:cNvPr id="22" name="Text 18"/>
          <p:cNvSpPr/>
          <p:nvPr/>
        </p:nvSpPr>
        <p:spPr>
          <a:xfrm>
            <a:off x="8732520" y="4864608"/>
            <a:ext cx="2514600" cy="1097280"/>
          </a:xfrm>
          <a:prstGeom prst="rect">
            <a:avLst/>
          </a:prstGeom>
          <a:noFill/>
          <a:ln/>
        </p:spPr>
        <p:txBody>
          <a:bodyPr wrap="square" lIns="0" tIns="0" rIns="0" bIns="0" rtlCol="0" anchor="t"/>
          <a:lstStyle/>
          <a:p>
            <a:pPr indent="0" marL="0">
              <a:buNone/>
            </a:pPr>
            <a:r>
              <a:rPr lang="en-US" sz="1150" dirty="0">
                <a:solidFill>
                  <a:srgbClr val="1E2A33"/>
                </a:solidFill>
                <a:latin typeface="Garamond" pitchFamily="34" charset="0"/>
                <a:ea typeface="Garamond" pitchFamily="34" charset="-122"/>
                <a:cs typeface="Garamond" pitchFamily="34" charset="-120"/>
              </a:rPr>
              <a:t>missions supported across NASA, ESA, and commercial programs</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GROWTH STRATEGY</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From Heritage Programs to Product Scale</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14</a:t>
            </a:r>
            <a:endParaRPr lang="en-US" sz="850" dirty="0"/>
          </a:p>
        </p:txBody>
      </p:sp>
      <p:sp>
        <p:nvSpPr>
          <p:cNvPr id="7" name="Shape 4"/>
          <p:cNvSpPr/>
          <p:nvPr/>
        </p:nvSpPr>
        <p:spPr>
          <a:xfrm>
            <a:off x="822960" y="1554480"/>
            <a:ext cx="2651760" cy="3246120"/>
          </a:xfrm>
          <a:prstGeom prst="roundRect">
            <a:avLst>
              <a:gd name="adj" fmla="val 1724"/>
            </a:avLst>
          </a:prstGeom>
          <a:solidFill>
            <a:srgbClr val="F3F7FA"/>
          </a:solidFill>
          <a:ln/>
        </p:spPr>
      </p:sp>
      <p:sp>
        <p:nvSpPr>
          <p:cNvPr id="8" name="Shape 5"/>
          <p:cNvSpPr/>
          <p:nvPr/>
        </p:nvSpPr>
        <p:spPr>
          <a:xfrm>
            <a:off x="1005840" y="1755648"/>
            <a:ext cx="384048" cy="384048"/>
          </a:xfrm>
          <a:prstGeom prst="ellipse">
            <a:avLst/>
          </a:prstGeom>
          <a:solidFill>
            <a:srgbClr val="007BCB"/>
          </a:solidFill>
          <a:ln/>
        </p:spPr>
      </p:sp>
      <p:sp>
        <p:nvSpPr>
          <p:cNvPr id="9" name="Text 6"/>
          <p:cNvSpPr/>
          <p:nvPr/>
        </p:nvSpPr>
        <p:spPr>
          <a:xfrm>
            <a:off x="1005840" y="175564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Garamond" pitchFamily="34" charset="0"/>
                <a:ea typeface="Garamond" pitchFamily="34" charset="-122"/>
                <a:cs typeface="Garamond" pitchFamily="34" charset="-120"/>
              </a:rPr>
              <a:t>1</a:t>
            </a:r>
            <a:endParaRPr lang="en-US" sz="1500" dirty="0"/>
          </a:p>
        </p:txBody>
      </p:sp>
      <p:sp>
        <p:nvSpPr>
          <p:cNvPr id="10" name="Text 7"/>
          <p:cNvSpPr/>
          <p:nvPr/>
        </p:nvSpPr>
        <p:spPr>
          <a:xfrm>
            <a:off x="1005840" y="2286000"/>
            <a:ext cx="2331720" cy="292608"/>
          </a:xfrm>
          <a:prstGeom prst="rect">
            <a:avLst/>
          </a:prstGeom>
          <a:noFill/>
          <a:ln/>
        </p:spPr>
        <p:txBody>
          <a:bodyPr wrap="square" lIns="0" tIns="0" rIns="0" bIns="0" rtlCol="0" anchor="ctr"/>
          <a:lstStyle/>
          <a:p>
            <a:pPr indent="0" marL="0">
              <a:buNone/>
            </a:pPr>
            <a:r>
              <a:rPr lang="en-US" sz="1550" b="1" dirty="0">
                <a:solidFill>
                  <a:srgbClr val="10222F"/>
                </a:solidFill>
                <a:latin typeface="Garamond" pitchFamily="34" charset="0"/>
                <a:ea typeface="Garamond" pitchFamily="34" charset="-122"/>
                <a:cs typeface="Garamond" pitchFamily="34" charset="-120"/>
              </a:rPr>
              <a:t>Productize</a:t>
            </a:r>
            <a:endParaRPr lang="en-US" sz="1550" dirty="0"/>
          </a:p>
        </p:txBody>
      </p:sp>
      <p:sp>
        <p:nvSpPr>
          <p:cNvPr id="11" name="Text 8"/>
          <p:cNvSpPr/>
          <p:nvPr/>
        </p:nvSpPr>
        <p:spPr>
          <a:xfrm>
            <a:off x="1005840" y="2633472"/>
            <a:ext cx="2331720" cy="2011680"/>
          </a:xfrm>
          <a:prstGeom prst="rect">
            <a:avLst/>
          </a:prstGeom>
          <a:noFill/>
          <a:ln/>
        </p:spPr>
        <p:txBody>
          <a:bodyPr wrap="square" lIns="0" tIns="0" rIns="0" bIns="0" rtlCol="0" anchor="t"/>
          <a:lstStyle/>
          <a:p>
            <a:pPr indent="0" marL="0">
              <a:lnSpc>
                <a:spcPct val="106000"/>
              </a:lnSpc>
              <a:buNone/>
            </a:pPr>
            <a:r>
              <a:rPr lang="en-US" sz="1100" dirty="0">
                <a:solidFill>
                  <a:srgbClr val="1E2A33"/>
                </a:solidFill>
                <a:latin typeface="Garamond" pitchFamily="34" charset="0"/>
                <a:ea typeface="Garamond" pitchFamily="34" charset="-122"/>
                <a:cs typeface="Garamond" pitchFamily="34" charset="-120"/>
              </a:rPr>
              <a:t>Convert mission unique heritage into the standard SABER catalog with published interfaces, catalog pricing, and lead times measured in weeks.</a:t>
            </a:r>
            <a:endParaRPr lang="en-US" sz="1100" dirty="0"/>
          </a:p>
        </p:txBody>
      </p:sp>
      <p:sp>
        <p:nvSpPr>
          <p:cNvPr id="12" name="Shape 9"/>
          <p:cNvSpPr/>
          <p:nvPr/>
        </p:nvSpPr>
        <p:spPr>
          <a:xfrm>
            <a:off x="3621024" y="1554480"/>
            <a:ext cx="2651760" cy="3246120"/>
          </a:xfrm>
          <a:prstGeom prst="roundRect">
            <a:avLst>
              <a:gd name="adj" fmla="val 1724"/>
            </a:avLst>
          </a:prstGeom>
          <a:solidFill>
            <a:srgbClr val="F3F7FA"/>
          </a:solidFill>
          <a:ln/>
        </p:spPr>
      </p:sp>
      <p:sp>
        <p:nvSpPr>
          <p:cNvPr id="13" name="Shape 10"/>
          <p:cNvSpPr/>
          <p:nvPr/>
        </p:nvSpPr>
        <p:spPr>
          <a:xfrm>
            <a:off x="3803904" y="1755648"/>
            <a:ext cx="384048" cy="384048"/>
          </a:xfrm>
          <a:prstGeom prst="ellipse">
            <a:avLst/>
          </a:prstGeom>
          <a:solidFill>
            <a:srgbClr val="007BCB"/>
          </a:solidFill>
          <a:ln/>
        </p:spPr>
      </p:sp>
      <p:sp>
        <p:nvSpPr>
          <p:cNvPr id="14" name="Text 11"/>
          <p:cNvSpPr/>
          <p:nvPr/>
        </p:nvSpPr>
        <p:spPr>
          <a:xfrm>
            <a:off x="3803904" y="175564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Garamond" pitchFamily="34" charset="0"/>
                <a:ea typeface="Garamond" pitchFamily="34" charset="-122"/>
                <a:cs typeface="Garamond" pitchFamily="34" charset="-120"/>
              </a:rPr>
              <a:t>2</a:t>
            </a:r>
            <a:endParaRPr lang="en-US" sz="1500" dirty="0"/>
          </a:p>
        </p:txBody>
      </p:sp>
      <p:sp>
        <p:nvSpPr>
          <p:cNvPr id="15" name="Text 12"/>
          <p:cNvSpPr/>
          <p:nvPr/>
        </p:nvSpPr>
        <p:spPr>
          <a:xfrm>
            <a:off x="3803904" y="2286000"/>
            <a:ext cx="2331720" cy="292608"/>
          </a:xfrm>
          <a:prstGeom prst="rect">
            <a:avLst/>
          </a:prstGeom>
          <a:noFill/>
          <a:ln/>
        </p:spPr>
        <p:txBody>
          <a:bodyPr wrap="square" lIns="0" tIns="0" rIns="0" bIns="0" rtlCol="0" anchor="ctr"/>
          <a:lstStyle/>
          <a:p>
            <a:pPr indent="0" marL="0">
              <a:buNone/>
            </a:pPr>
            <a:r>
              <a:rPr lang="en-US" sz="1550" b="1" dirty="0">
                <a:solidFill>
                  <a:srgbClr val="10222F"/>
                </a:solidFill>
                <a:latin typeface="Garamond" pitchFamily="34" charset="0"/>
                <a:ea typeface="Garamond" pitchFamily="34" charset="-122"/>
                <a:cs typeface="Garamond" pitchFamily="34" charset="-120"/>
              </a:rPr>
              <a:t>Scale production</a:t>
            </a:r>
            <a:endParaRPr lang="en-US" sz="1550" dirty="0"/>
          </a:p>
        </p:txBody>
      </p:sp>
      <p:sp>
        <p:nvSpPr>
          <p:cNvPr id="16" name="Text 13"/>
          <p:cNvSpPr/>
          <p:nvPr/>
        </p:nvSpPr>
        <p:spPr>
          <a:xfrm>
            <a:off x="3803904" y="2633472"/>
            <a:ext cx="2331720" cy="2011680"/>
          </a:xfrm>
          <a:prstGeom prst="rect">
            <a:avLst/>
          </a:prstGeom>
          <a:noFill/>
          <a:ln/>
        </p:spPr>
        <p:txBody>
          <a:bodyPr wrap="square" lIns="0" tIns="0" rIns="0" bIns="0" rtlCol="0" anchor="t"/>
          <a:lstStyle/>
          <a:p>
            <a:pPr indent="0" marL="0">
              <a:lnSpc>
                <a:spcPct val="106000"/>
              </a:lnSpc>
              <a:buNone/>
            </a:pPr>
            <a:r>
              <a:rPr lang="en-US" sz="1100" dirty="0">
                <a:solidFill>
                  <a:srgbClr val="1E2A33"/>
                </a:solidFill>
                <a:latin typeface="Garamond" pitchFamily="34" charset="0"/>
                <a:ea typeface="Garamond" pitchFamily="34" charset="-122"/>
                <a:cs typeface="Garamond" pitchFamily="34" charset="-120"/>
              </a:rPr>
              <a:t>Expand Berkeley capacity and the in house boom forming line to serve constellation class order volumes without sole source risk.</a:t>
            </a:r>
            <a:endParaRPr lang="en-US" sz="1100" dirty="0"/>
          </a:p>
        </p:txBody>
      </p:sp>
      <p:sp>
        <p:nvSpPr>
          <p:cNvPr id="17" name="Shape 14"/>
          <p:cNvSpPr/>
          <p:nvPr/>
        </p:nvSpPr>
        <p:spPr>
          <a:xfrm>
            <a:off x="6419088" y="1554480"/>
            <a:ext cx="2651760" cy="3246120"/>
          </a:xfrm>
          <a:prstGeom prst="roundRect">
            <a:avLst>
              <a:gd name="adj" fmla="val 1724"/>
            </a:avLst>
          </a:prstGeom>
          <a:solidFill>
            <a:srgbClr val="F3F7FA"/>
          </a:solidFill>
          <a:ln/>
        </p:spPr>
      </p:sp>
      <p:sp>
        <p:nvSpPr>
          <p:cNvPr id="18" name="Shape 15"/>
          <p:cNvSpPr/>
          <p:nvPr/>
        </p:nvSpPr>
        <p:spPr>
          <a:xfrm>
            <a:off x="6601968" y="1755648"/>
            <a:ext cx="384048" cy="384048"/>
          </a:xfrm>
          <a:prstGeom prst="ellipse">
            <a:avLst/>
          </a:prstGeom>
          <a:solidFill>
            <a:srgbClr val="007BCB"/>
          </a:solidFill>
          <a:ln/>
        </p:spPr>
      </p:sp>
      <p:sp>
        <p:nvSpPr>
          <p:cNvPr id="19" name="Text 16"/>
          <p:cNvSpPr/>
          <p:nvPr/>
        </p:nvSpPr>
        <p:spPr>
          <a:xfrm>
            <a:off x="6601968" y="175564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Garamond" pitchFamily="34" charset="0"/>
                <a:ea typeface="Garamond" pitchFamily="34" charset="-122"/>
                <a:cs typeface="Garamond" pitchFamily="34" charset="-120"/>
              </a:rPr>
              <a:t>3</a:t>
            </a:r>
            <a:endParaRPr lang="en-US" sz="1500" dirty="0"/>
          </a:p>
        </p:txBody>
      </p:sp>
      <p:sp>
        <p:nvSpPr>
          <p:cNvPr id="20" name="Text 17"/>
          <p:cNvSpPr/>
          <p:nvPr/>
        </p:nvSpPr>
        <p:spPr>
          <a:xfrm>
            <a:off x="6601968" y="2286000"/>
            <a:ext cx="2331720" cy="292608"/>
          </a:xfrm>
          <a:prstGeom prst="rect">
            <a:avLst/>
          </a:prstGeom>
          <a:noFill/>
          <a:ln/>
        </p:spPr>
        <p:txBody>
          <a:bodyPr wrap="square" lIns="0" tIns="0" rIns="0" bIns="0" rtlCol="0" anchor="ctr"/>
          <a:lstStyle/>
          <a:p>
            <a:pPr indent="0" marL="0">
              <a:buNone/>
            </a:pPr>
            <a:r>
              <a:rPr lang="en-US" sz="1550" b="1" dirty="0">
                <a:solidFill>
                  <a:srgbClr val="10222F"/>
                </a:solidFill>
                <a:latin typeface="Garamond" pitchFamily="34" charset="0"/>
                <a:ea typeface="Garamond" pitchFamily="34" charset="-122"/>
                <a:cs typeface="Garamond" pitchFamily="34" charset="-120"/>
              </a:rPr>
              <a:t>Expand markets</a:t>
            </a:r>
            <a:endParaRPr lang="en-US" sz="1550" dirty="0"/>
          </a:p>
        </p:txBody>
      </p:sp>
      <p:sp>
        <p:nvSpPr>
          <p:cNvPr id="21" name="Text 18"/>
          <p:cNvSpPr/>
          <p:nvPr/>
        </p:nvSpPr>
        <p:spPr>
          <a:xfrm>
            <a:off x="6601968" y="2633472"/>
            <a:ext cx="2331720" cy="2011680"/>
          </a:xfrm>
          <a:prstGeom prst="rect">
            <a:avLst/>
          </a:prstGeom>
          <a:noFill/>
          <a:ln/>
        </p:spPr>
        <p:txBody>
          <a:bodyPr wrap="square" lIns="0" tIns="0" rIns="0" bIns="0" rtlCol="0" anchor="t"/>
          <a:lstStyle/>
          <a:p>
            <a:pPr indent="0" marL="0">
              <a:lnSpc>
                <a:spcPct val="106000"/>
              </a:lnSpc>
              <a:buNone/>
            </a:pPr>
            <a:r>
              <a:rPr lang="en-US" sz="1100" dirty="0">
                <a:solidFill>
                  <a:srgbClr val="1E2A33"/>
                </a:solidFill>
                <a:latin typeface="Garamond" pitchFamily="34" charset="0"/>
                <a:ea typeface="Garamond" pitchFamily="34" charset="-122"/>
                <a:cs typeface="Garamond" pitchFamily="34" charset="-120"/>
              </a:rPr>
              <a:t>Grow beyond civil science into US defense and commercial constellation primes, and serve allied international customers in Europe, Japan, Canada, and Australia under US export licenses.</a:t>
            </a:r>
            <a:endParaRPr lang="en-US" sz="1100" dirty="0"/>
          </a:p>
        </p:txBody>
      </p:sp>
      <p:pic>
        <p:nvPicPr>
          <p:cNvPr id="22" name="Image 1" descr="assets/s12_prod.jpg">    </p:cNvPr>
          <p:cNvPicPr>
            <a:picLocks noChangeAspect="1"/>
          </p:cNvPicPr>
          <p:nvPr/>
        </p:nvPicPr>
        <p:blipFill>
          <a:blip r:embed="rId2"/>
          <a:stretch>
            <a:fillRect/>
          </a:stretch>
        </p:blipFill>
        <p:spPr>
          <a:xfrm>
            <a:off x="9189720" y="1554480"/>
            <a:ext cx="2176272" cy="3246120"/>
          </a:xfrm>
          <a:prstGeom prst="rect">
            <a:avLst/>
          </a:prstGeom>
        </p:spPr>
      </p:pic>
      <p:sp>
        <p:nvSpPr>
          <p:cNvPr id="23" name="Shape 19"/>
          <p:cNvSpPr/>
          <p:nvPr/>
        </p:nvSpPr>
        <p:spPr>
          <a:xfrm>
            <a:off x="9189720" y="1554480"/>
            <a:ext cx="2176272" cy="3246120"/>
          </a:xfrm>
          <a:prstGeom prst="rect">
            <a:avLst/>
          </a:prstGeom>
          <a:ln w="12700">
            <a:solidFill>
              <a:srgbClr val="C6D2DA"/>
            </a:solidFill>
            <a:prstDash val="solid"/>
          </a:ln>
        </p:spPr>
      </p:sp>
      <p:sp>
        <p:nvSpPr>
          <p:cNvPr id="24" name="Shape 20"/>
          <p:cNvSpPr/>
          <p:nvPr/>
        </p:nvSpPr>
        <p:spPr>
          <a:xfrm>
            <a:off x="822960" y="5029200"/>
            <a:ext cx="10543032" cy="1234440"/>
          </a:xfrm>
          <a:prstGeom prst="roundRect">
            <a:avLst>
              <a:gd name="adj" fmla="val 3704"/>
            </a:avLst>
          </a:prstGeom>
          <a:solidFill>
            <a:srgbClr val="EDF3F8"/>
          </a:solidFill>
          <a:ln w="9525">
            <a:solidFill>
              <a:srgbClr val="C6D2DA"/>
            </a:solidFill>
            <a:prstDash val="solid"/>
          </a:ln>
        </p:spPr>
      </p:sp>
      <p:sp>
        <p:nvSpPr>
          <p:cNvPr id="25" name="Text 21"/>
          <p:cNvSpPr/>
          <p:nvPr/>
        </p:nvSpPr>
        <p:spPr>
          <a:xfrm>
            <a:off x="1005840" y="5138928"/>
            <a:ext cx="3200400" cy="256032"/>
          </a:xfrm>
          <a:prstGeom prst="rect">
            <a:avLst/>
          </a:prstGeom>
          <a:noFill/>
          <a:ln/>
        </p:spPr>
        <p:txBody>
          <a:bodyPr wrap="square" lIns="0" tIns="0" rIns="0" bIns="0" rtlCol="0" anchor="ctr"/>
          <a:lstStyle/>
          <a:p>
            <a:pPr indent="0" marL="0">
              <a:buNone/>
            </a:pPr>
            <a:r>
              <a:rPr lang="en-US" sz="1250" b="1" dirty="0">
                <a:solidFill>
                  <a:srgbClr val="10222F"/>
                </a:solidFill>
                <a:latin typeface="Garamond" pitchFamily="34" charset="0"/>
                <a:ea typeface="Garamond" pitchFamily="34" charset="-122"/>
                <a:cs typeface="Garamond" pitchFamily="34" charset="-120"/>
              </a:rPr>
              <a:t>Export compliance</a:t>
            </a:r>
            <a:endParaRPr lang="en-US" sz="1250" dirty="0"/>
          </a:p>
        </p:txBody>
      </p:sp>
      <p:sp>
        <p:nvSpPr>
          <p:cNvPr id="26" name="Text 22"/>
          <p:cNvSpPr/>
          <p:nvPr/>
        </p:nvSpPr>
        <p:spPr>
          <a:xfrm>
            <a:off x="1005840" y="5413248"/>
            <a:ext cx="10149840" cy="777240"/>
          </a:xfrm>
          <a:prstGeom prst="rect">
            <a:avLst/>
          </a:prstGeom>
          <a:noFill/>
          <a:ln/>
        </p:spPr>
        <p:txBody>
          <a:bodyPr wrap="square" lIns="0" tIns="0" rIns="0" bIns="0" rtlCol="0" anchor="t"/>
          <a:lstStyle/>
          <a:p>
            <a:pPr indent="0" marL="0">
              <a:lnSpc>
                <a:spcPct val="102000"/>
              </a:lnSpc>
              <a:buNone/>
            </a:pPr>
            <a:r>
              <a:rPr lang="en-US" sz="1050" dirty="0">
                <a:solidFill>
                  <a:srgbClr val="1E2A33"/>
                </a:solidFill>
                <a:latin typeface="Garamond" pitchFamily="34" charset="0"/>
                <a:ea typeface="Garamond" pitchFamily="34" charset="-122"/>
                <a:cs typeface="Garamond" pitchFamily="34" charset="-120"/>
              </a:rPr>
              <a:t>Heliospace hardware and technical data are subject to US export controls under ITAR and the EAR. All international business is pursued only under required US Government authorizations, supported by an internal export compliance program. Markets subject to US arms embargoes, including China, are outside the company's addressable strategy.</a:t>
            </a:r>
            <a:endParaRPr lang="en-US" sz="105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CHINA STRATEGY</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A Disciplined Two Phase Approach</a:t>
            </a:r>
            <a:endParaRPr lang="en-US" sz="2900" dirty="0"/>
          </a:p>
        </p:txBody>
      </p:sp>
      <p:pic>
        <p:nvPicPr>
          <p:cNvPr id="4" name="Image 0" descr="assets/logo_dark.jpg">    </p:cNvPr>
          <p:cNvPicPr>
            <a:picLocks noChangeAspect="1"/>
          </p:cNvPicPr>
          <p:nvPr/>
        </p:nvPicPr>
        <p:blipFill>
          <a:blip r:embed="rId2"/>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15</a:t>
            </a:r>
            <a:endParaRPr lang="en-US" sz="850" dirty="0"/>
          </a:p>
        </p:txBody>
      </p:sp>
      <p:sp>
        <p:nvSpPr>
          <p:cNvPr id="7" name="Text 4"/>
          <p:cNvSpPr/>
          <p:nvPr/>
        </p:nvSpPr>
        <p:spPr>
          <a:xfrm>
            <a:off x="822960" y="1353312"/>
            <a:ext cx="10424160" cy="320040"/>
          </a:xfrm>
          <a:prstGeom prst="rect">
            <a:avLst/>
          </a:prstGeom>
          <a:noFill/>
          <a:ln/>
        </p:spPr>
        <p:txBody>
          <a:bodyPr wrap="square" lIns="0" tIns="0" rIns="0" bIns="0" rtlCol="0" anchor="ctr"/>
          <a:lstStyle/>
          <a:p>
            <a:pPr indent="0" marL="0">
              <a:buNone/>
            </a:pPr>
            <a:r>
              <a:rPr lang="en-US" sz="1300" dirty="0">
                <a:solidFill>
                  <a:srgbClr val="5C6B76"/>
                </a:solidFill>
                <a:latin typeface="Garamond" pitchFamily="34" charset="0"/>
                <a:ea typeface="Garamond" pitchFamily="34" charset="-122"/>
                <a:cs typeface="Garamond" pitchFamily="34" charset="-120"/>
              </a:rPr>
              <a:t>Market entry is sequenced in two phases, with production investment committed only after the quality of orders has been confirmed.</a:t>
            </a:r>
            <a:endParaRPr lang="en-US" sz="1300" dirty="0"/>
          </a:p>
        </p:txBody>
      </p:sp>
      <p:sp>
        <p:nvSpPr>
          <p:cNvPr id="8" name="Shape 4"/>
          <p:cNvSpPr/>
          <p:nvPr/>
        </p:nvSpPr>
        <p:spPr>
          <a:xfrm>
            <a:off x="822960" y="1874519"/>
            <a:ext cx="5175504" cy="3429000"/>
          </a:xfrm>
          <a:prstGeom prst="roundRect">
            <a:avLst>
              <a:gd name="adj" fmla="val 1724"/>
            </a:avLst>
          </a:prstGeom>
          <a:solidFill>
            <a:srgbClr val="F3F7FA"/>
          </a:solidFill>
          <a:ln/>
        </p:spPr>
      </p:sp>
      <p:sp>
        <p:nvSpPr>
          <p:cNvPr id="9" name="Shape 5"/>
          <p:cNvSpPr/>
          <p:nvPr/>
        </p:nvSpPr>
        <p:spPr>
          <a:xfrm>
            <a:off x="1005840" y="2075687"/>
            <a:ext cx="384048" cy="384048"/>
          </a:xfrm>
          <a:prstGeom prst="ellipse">
            <a:avLst/>
          </a:prstGeom>
          <a:solidFill>
            <a:srgbClr val="007BCB"/>
          </a:solidFill>
          <a:ln/>
        </p:spPr>
      </p:sp>
      <p:sp>
        <p:nvSpPr>
          <p:cNvPr id="10" name="Text 6"/>
          <p:cNvSpPr/>
          <p:nvPr/>
        </p:nvSpPr>
        <p:spPr>
          <a:xfrm>
            <a:off x="1005840" y="2075687"/>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Garamond" pitchFamily="34" charset="0"/>
                <a:ea typeface="Garamond" pitchFamily="34" charset="-122"/>
                <a:cs typeface="Garamond" pitchFamily="34" charset="-120"/>
              </a:rPr>
              <a:t>1</a:t>
            </a:r>
            <a:endParaRPr lang="en-US" sz="1500" dirty="0"/>
          </a:p>
        </p:txBody>
      </p:sp>
      <p:sp>
        <p:nvSpPr>
          <p:cNvPr id="11" name="Text 7"/>
          <p:cNvSpPr/>
          <p:nvPr/>
        </p:nvSpPr>
        <p:spPr>
          <a:xfrm>
            <a:off x="1005840" y="2606039"/>
            <a:ext cx="4809744" cy="640080"/>
          </a:xfrm>
          <a:prstGeom prst="rect">
            <a:avLst/>
          </a:prstGeom>
          <a:noFill/>
          <a:ln/>
        </p:spPr>
        <p:txBody>
          <a:bodyPr wrap="square" lIns="0" tIns="0" rIns="0" bIns="0" rtlCol="0" anchor="ctr"/>
          <a:lstStyle/>
          <a:p>
            <a:pPr indent="0" marL="0">
              <a:buNone/>
            </a:pPr>
            <a:r>
              <a:rPr lang="en-US" sz="1550" b="1" dirty="0">
                <a:solidFill>
                  <a:srgbClr val="10222F"/>
                </a:solidFill>
                <a:latin typeface="Garamond" pitchFamily="34" charset="0"/>
                <a:ea typeface="Garamond" pitchFamily="34" charset="-122"/>
                <a:cs typeface="Garamond" pitchFamily="34" charset="-120"/>
              </a:rPr>
              <a:t>Sell to Overseas Clients and Take Orders</a:t>
            </a:r>
            <a:endParaRPr lang="en-US" sz="1550" dirty="0"/>
          </a:p>
        </p:txBody>
      </p:sp>
      <p:sp>
        <p:nvSpPr>
          <p:cNvPr id="12" name="Text 8"/>
          <p:cNvSpPr/>
          <p:nvPr/>
        </p:nvSpPr>
        <p:spPr>
          <a:xfrm>
            <a:off x="1005840" y="3337559"/>
            <a:ext cx="4809744" cy="2194560"/>
          </a:xfrm>
          <a:prstGeom prst="rect">
            <a:avLst/>
          </a:prstGeom>
          <a:noFill/>
          <a:ln/>
        </p:spPr>
        <p:txBody>
          <a:bodyPr wrap="square" lIns="0" tIns="0" rIns="0" bIns="0" rtlCol="0" anchor="t"/>
          <a:lstStyle/>
          <a:p>
            <a:pPr indent="0" marL="0">
              <a:lnSpc>
                <a:spcPct val="106000"/>
              </a:lnSpc>
              <a:buNone/>
            </a:pPr>
            <a:r>
              <a:rPr lang="en-US" sz="1100" dirty="0">
                <a:solidFill>
                  <a:srgbClr val="1E2A33"/>
                </a:solidFill>
                <a:latin typeface="Garamond" pitchFamily="34" charset="0"/>
                <a:ea typeface="Garamond" pitchFamily="34" charset="-122"/>
                <a:cs typeface="Garamond" pitchFamily="34" charset="-120"/>
              </a:rPr>
              <a:t>Sell products to overseas clients, establish a base of export customers, and convert engagement into a firm order book. Every component in the current portfolio is available for sale to overseas clients, allowing revenue capture from existing product lines without new development.</a:t>
            </a:r>
            <a:endParaRPr lang="en-US" sz="1100" dirty="0"/>
          </a:p>
        </p:txBody>
      </p:sp>
      <p:sp>
        <p:nvSpPr>
          <p:cNvPr id="13" name="Shape 4"/>
          <p:cNvSpPr/>
          <p:nvPr/>
        </p:nvSpPr>
        <p:spPr>
          <a:xfrm>
            <a:off x="6190488" y="1874519"/>
            <a:ext cx="5175504" cy="3429000"/>
          </a:xfrm>
          <a:prstGeom prst="roundRect">
            <a:avLst>
              <a:gd name="adj" fmla="val 1724"/>
            </a:avLst>
          </a:prstGeom>
          <a:solidFill>
            <a:srgbClr val="F3F7FA"/>
          </a:solidFill>
          <a:ln/>
        </p:spPr>
      </p:sp>
      <p:sp>
        <p:nvSpPr>
          <p:cNvPr id="14" name="Shape 5"/>
          <p:cNvSpPr/>
          <p:nvPr/>
        </p:nvSpPr>
        <p:spPr>
          <a:xfrm>
            <a:off x="6373368" y="2075687"/>
            <a:ext cx="384048" cy="384048"/>
          </a:xfrm>
          <a:prstGeom prst="ellipse">
            <a:avLst/>
          </a:prstGeom>
          <a:solidFill>
            <a:srgbClr val="007BCB"/>
          </a:solidFill>
          <a:ln/>
        </p:spPr>
      </p:sp>
      <p:sp>
        <p:nvSpPr>
          <p:cNvPr id="15" name="Text 6"/>
          <p:cNvSpPr/>
          <p:nvPr/>
        </p:nvSpPr>
        <p:spPr>
          <a:xfrm>
            <a:off x="6373368" y="2075687"/>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Garamond" pitchFamily="34" charset="0"/>
                <a:ea typeface="Garamond" pitchFamily="34" charset="-122"/>
                <a:cs typeface="Garamond" pitchFamily="34" charset="-120"/>
              </a:rPr>
              <a:t>2</a:t>
            </a:r>
            <a:endParaRPr lang="en-US" sz="1500" dirty="0"/>
          </a:p>
        </p:txBody>
      </p:sp>
      <p:sp>
        <p:nvSpPr>
          <p:cNvPr id="16" name="Text 7"/>
          <p:cNvSpPr/>
          <p:nvPr/>
        </p:nvSpPr>
        <p:spPr>
          <a:xfrm>
            <a:off x="6373368" y="2606039"/>
            <a:ext cx="4809744" cy="640080"/>
          </a:xfrm>
          <a:prstGeom prst="rect">
            <a:avLst/>
          </a:prstGeom>
          <a:noFill/>
          <a:ln/>
        </p:spPr>
        <p:txBody>
          <a:bodyPr wrap="square" lIns="0" tIns="0" rIns="0" bIns="0" rtlCol="0" anchor="ctr"/>
          <a:lstStyle/>
          <a:p>
            <a:pPr indent="0" marL="0">
              <a:buNone/>
            </a:pPr>
            <a:r>
              <a:rPr lang="en-US" sz="1550" b="1" dirty="0">
                <a:solidFill>
                  <a:srgbClr val="10222F"/>
                </a:solidFill>
                <a:latin typeface="Garamond" pitchFamily="34" charset="0"/>
                <a:ea typeface="Garamond" pitchFamily="34" charset="-122"/>
                <a:cs typeface="Garamond" pitchFamily="34" charset="-120"/>
              </a:rPr>
              <a:t>Establish Supply Chain and Volume Production in China</a:t>
            </a:r>
            <a:endParaRPr lang="en-US" sz="1550" dirty="0"/>
          </a:p>
        </p:txBody>
      </p:sp>
      <p:sp>
        <p:nvSpPr>
          <p:cNvPr id="17" name="Text 8"/>
          <p:cNvSpPr/>
          <p:nvPr/>
        </p:nvSpPr>
        <p:spPr>
          <a:xfrm>
            <a:off x="6373368" y="3337559"/>
            <a:ext cx="4809744" cy="2194560"/>
          </a:xfrm>
          <a:prstGeom prst="rect">
            <a:avLst/>
          </a:prstGeom>
          <a:noFill/>
          <a:ln/>
        </p:spPr>
        <p:txBody>
          <a:bodyPr wrap="square" lIns="0" tIns="0" rIns="0" bIns="0" rtlCol="0" anchor="t"/>
          <a:lstStyle/>
          <a:p>
            <a:pPr indent="0" marL="0">
              <a:lnSpc>
                <a:spcPct val="106000"/>
              </a:lnSpc>
              <a:buNone/>
            </a:pPr>
            <a:r>
              <a:rPr lang="en-US" sz="1100" dirty="0">
                <a:solidFill>
                  <a:srgbClr val="1E2A33"/>
                </a:solidFill>
                <a:latin typeface="Garamond" pitchFamily="34" charset="0"/>
                <a:ea typeface="Garamond" pitchFamily="34" charset="-122"/>
                <a:cs typeface="Garamond" pitchFamily="34" charset="-120"/>
              </a:rPr>
              <a:t>Once the quality of orders has been confirmed, establish a dedicated supply chain in China and stand up large scale production capacity. Volume manufacturing then serves the export order book with consistent quality and competitive cost.</a:t>
            </a:r>
            <a:endParaRPr lang="en-US" sz="1100" dirty="0"/>
          </a:p>
        </p:txBody>
      </p:sp>
      <p:sp>
        <p:nvSpPr>
          <p:cNvPr id="18" name="Text 22"/>
          <p:cNvSpPr/>
          <p:nvPr/>
        </p:nvSpPr>
        <p:spPr>
          <a:xfrm>
            <a:off x="822960" y="5577840"/>
            <a:ext cx="10543032" cy="365760"/>
          </a:xfrm>
          <a:prstGeom prst="rect">
            <a:avLst/>
          </a:prstGeom>
          <a:noFill/>
          <a:ln/>
        </p:spPr>
        <p:txBody>
          <a:bodyPr wrap="square" lIns="0" tIns="0" rIns="0" bIns="0" rtlCol="0" anchor="t"/>
          <a:lstStyle/>
          <a:p>
            <a:pPr indent="0" marL="0">
              <a:lnSpc>
                <a:spcPct val="102000"/>
              </a:lnSpc>
              <a:buNone/>
            </a:pPr>
            <a:r>
              <a:rPr lang="en-US" sz="1050" dirty="0">
                <a:solidFill>
                  <a:srgbClr val="1E2A33"/>
                </a:solidFill>
                <a:latin typeface="Garamond" pitchFamily="34" charset="0"/>
                <a:ea typeface="Garamond" pitchFamily="34" charset="-122"/>
                <a:cs typeface="Garamond" pitchFamily="34" charset="-120"/>
              </a:rPr>
              <a:t>Capital deployment in Phase Two is gated on confirmed order quality, keeping production capacity aligned with demonstrated demand.</a:t>
            </a:r>
            <a:endParaRPr lang="en-US" sz="105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CHINA STRATEGY</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Execution Priorities by Phase</a:t>
            </a:r>
            <a:endParaRPr lang="en-US" sz="2900" dirty="0"/>
          </a:p>
        </p:txBody>
      </p:sp>
      <p:pic>
        <p:nvPicPr>
          <p:cNvPr id="4" name="Image 0" descr="assets/logo_dark.jpg">    </p:cNvPr>
          <p:cNvPicPr>
            <a:picLocks noChangeAspect="1"/>
          </p:cNvPicPr>
          <p:nvPr/>
        </p:nvPicPr>
        <p:blipFill>
          <a:blip r:embed="rId2"/>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16</a:t>
            </a:r>
            <a:endParaRPr lang="en-US" sz="850" dirty="0"/>
          </a:p>
        </p:txBody>
      </p:sp>
      <p:sp>
        <p:nvSpPr>
          <p:cNvPr id="7" name="Text 4"/>
          <p:cNvSpPr/>
          <p:nvPr/>
        </p:nvSpPr>
        <p:spPr>
          <a:xfrm>
            <a:off x="822960" y="1353312"/>
            <a:ext cx="10424160" cy="320040"/>
          </a:xfrm>
          <a:prstGeom prst="rect">
            <a:avLst/>
          </a:prstGeom>
          <a:noFill/>
          <a:ln/>
        </p:spPr>
        <p:txBody>
          <a:bodyPr wrap="square" lIns="0" tIns="0" rIns="0" bIns="0" rtlCol="0" anchor="ctr"/>
          <a:lstStyle/>
          <a:p>
            <a:pPr indent="0" marL="0">
              <a:buNone/>
            </a:pPr>
            <a:r>
              <a:rPr lang="en-US" sz="1300" dirty="0">
                <a:solidFill>
                  <a:srgbClr val="5C6B76"/>
                </a:solidFill>
                <a:latin typeface="Garamond" pitchFamily="34" charset="0"/>
                <a:ea typeface="Garamond" pitchFamily="34" charset="-122"/>
                <a:cs typeface="Garamond" pitchFamily="34" charset="-120"/>
              </a:rPr>
              <a:t>Each phase carries defined priorities and a clear gate, so that manufacturing investment follows demonstrated demand rather than preceding it.</a:t>
            </a:r>
            <a:endParaRPr lang="en-US" sz="1300" dirty="0"/>
          </a:p>
        </p:txBody>
      </p:sp>
      <p:sp>
        <p:nvSpPr>
          <p:cNvPr id="8" name="Text 4"/>
          <p:cNvSpPr/>
          <p:nvPr/>
        </p:nvSpPr>
        <p:spPr>
          <a:xfrm>
            <a:off x="822960" y="2011680"/>
            <a:ext cx="5175504" cy="548640"/>
          </a:xfrm>
          <a:prstGeom prst="rect">
            <a:avLst/>
          </a:prstGeom>
          <a:noFill/>
          <a:ln/>
        </p:spPr>
        <p:txBody>
          <a:bodyPr wrap="square" lIns="0" tIns="0" rIns="0" bIns="0" rtlCol="0" anchor="ctr"/>
          <a:lstStyle/>
          <a:p>
            <a:pPr indent="0" marL="0">
              <a:buNone/>
            </a:pPr>
            <a:r>
              <a:rPr lang="en-US" sz="1350" b="1" dirty="0">
                <a:solidFill>
                  <a:srgbClr val="007BCB"/>
                </a:solidFill>
                <a:latin typeface="Garamond" pitchFamily="34" charset="0"/>
                <a:ea typeface="Garamond" pitchFamily="34" charset="-122"/>
                <a:cs typeface="Garamond" pitchFamily="34" charset="-120"/>
              </a:rPr>
              <a:t>Phase One: Export Sales and Order Capture</a:t>
            </a:r>
            <a:endParaRPr lang="en-US" sz="1350" dirty="0"/>
          </a:p>
        </p:txBody>
      </p:sp>
      <p:sp>
        <p:nvSpPr>
          <p:cNvPr id="9" name="Text 13"/>
          <p:cNvSpPr/>
          <p:nvPr/>
        </p:nvSpPr>
        <p:spPr>
          <a:xfrm>
            <a:off x="822960" y="2651760"/>
            <a:ext cx="5175504" cy="2103120"/>
          </a:xfrm>
          <a:prstGeom prst="rect">
            <a:avLst/>
          </a:prstGeom>
          <a:noFill/>
          <a:ln/>
        </p:spPr>
        <p:txBody>
          <a:bodyPr wrap="square" lIns="0" tIns="0" rIns="0" bIns="0" rtlCol="0" anchor="t"/>
          <a:lstStyle/>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Market the existing product and component catalog to overseas clients</a:t>
            </a:r>
            <a:endParaRPr lang="en-US" sz="1100" dirty="0"/>
          </a:p>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Secure export clients and convert engagement into firm orders</a:t>
            </a:r>
            <a:endParaRPr lang="en-US" sz="1100" dirty="0"/>
          </a:p>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Offer every component in the current portfolio for overseas sale</a:t>
            </a:r>
            <a:endParaRPr lang="en-US" sz="1100" dirty="0"/>
          </a:p>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Build a repeatable order pipeline that demonstrates sustained demand</a:t>
            </a:r>
            <a:endParaRPr lang="en-US" sz="1100" dirty="0"/>
          </a:p>
        </p:txBody>
      </p:sp>
      <p:sp>
        <p:nvSpPr>
          <p:cNvPr id="10" name="Text 4"/>
          <p:cNvSpPr/>
          <p:nvPr/>
        </p:nvSpPr>
        <p:spPr>
          <a:xfrm>
            <a:off x="6190488" y="2011680"/>
            <a:ext cx="5175504" cy="548640"/>
          </a:xfrm>
          <a:prstGeom prst="rect">
            <a:avLst/>
          </a:prstGeom>
          <a:noFill/>
          <a:ln/>
        </p:spPr>
        <p:txBody>
          <a:bodyPr wrap="square" lIns="0" tIns="0" rIns="0" bIns="0" rtlCol="0" anchor="ctr"/>
          <a:lstStyle/>
          <a:p>
            <a:pPr indent="0" marL="0">
              <a:buNone/>
            </a:pPr>
            <a:r>
              <a:rPr lang="en-US" sz="1350" b="1" dirty="0">
                <a:solidFill>
                  <a:srgbClr val="007BCB"/>
                </a:solidFill>
                <a:latin typeface="Garamond" pitchFamily="34" charset="0"/>
                <a:ea typeface="Garamond" pitchFamily="34" charset="-122"/>
                <a:cs typeface="Garamond" pitchFamily="34" charset="-120"/>
              </a:rPr>
              <a:t>Phase Two: Supply Chain and Production at Scale</a:t>
            </a:r>
            <a:endParaRPr lang="en-US" sz="1350" dirty="0"/>
          </a:p>
        </p:txBody>
      </p:sp>
      <p:sp>
        <p:nvSpPr>
          <p:cNvPr id="11" name="Text 13"/>
          <p:cNvSpPr/>
          <p:nvPr/>
        </p:nvSpPr>
        <p:spPr>
          <a:xfrm>
            <a:off x="6190488" y="2651760"/>
            <a:ext cx="5175504" cy="2103120"/>
          </a:xfrm>
          <a:prstGeom prst="rect">
            <a:avLst/>
          </a:prstGeom>
          <a:noFill/>
          <a:ln/>
        </p:spPr>
        <p:txBody>
          <a:bodyPr wrap="square" lIns="0" tIns="0" rIns="0" bIns="0" rtlCol="0" anchor="t"/>
          <a:lstStyle/>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Confirm the quality of orders before committing production capital</a:t>
            </a:r>
            <a:endParaRPr lang="en-US" sz="1100" dirty="0"/>
          </a:p>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Qualify suppliers and establish a dedicated supply chain in China</a:t>
            </a:r>
            <a:endParaRPr lang="en-US" sz="1100" dirty="0"/>
          </a:p>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Stand up large scale production capacity matched to confirmed demand</a:t>
            </a:r>
            <a:endParaRPr lang="en-US" sz="1100" dirty="0"/>
          </a:p>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Serve the export order book at volume with consistent quality standards</a:t>
            </a:r>
            <a:endParaRPr lang="en-US" sz="1100" dirty="0"/>
          </a:p>
        </p:txBody>
      </p:sp>
      <p:sp>
        <p:nvSpPr>
          <p:cNvPr id="12" name="Shape 20"/>
          <p:cNvSpPr/>
          <p:nvPr/>
        </p:nvSpPr>
        <p:spPr>
          <a:xfrm>
            <a:off x="822960" y="5074920"/>
            <a:ext cx="10543032" cy="1188720"/>
          </a:xfrm>
          <a:prstGeom prst="roundRect">
            <a:avLst>
              <a:gd name="adj" fmla="val 3704"/>
            </a:avLst>
          </a:prstGeom>
          <a:solidFill>
            <a:srgbClr val="EDF3F8"/>
          </a:solidFill>
          <a:ln w="9525">
            <a:solidFill>
              <a:srgbClr val="C6D2DA"/>
            </a:solidFill>
            <a:prstDash val="solid"/>
          </a:ln>
        </p:spPr>
      </p:sp>
      <p:sp>
        <p:nvSpPr>
          <p:cNvPr id="13" name="Text 21"/>
          <p:cNvSpPr/>
          <p:nvPr/>
        </p:nvSpPr>
        <p:spPr>
          <a:xfrm>
            <a:off x="1005840" y="5184648"/>
            <a:ext cx="3200400" cy="256032"/>
          </a:xfrm>
          <a:prstGeom prst="rect">
            <a:avLst/>
          </a:prstGeom>
          <a:noFill/>
          <a:ln/>
        </p:spPr>
        <p:txBody>
          <a:bodyPr wrap="square" lIns="0" tIns="0" rIns="0" bIns="0" rtlCol="0" anchor="ctr"/>
          <a:lstStyle/>
          <a:p>
            <a:pPr indent="0" marL="0">
              <a:buNone/>
            </a:pPr>
            <a:r>
              <a:rPr lang="en-US" sz="1250" b="1" dirty="0">
                <a:solidFill>
                  <a:srgbClr val="10222F"/>
                </a:solidFill>
                <a:latin typeface="Garamond" pitchFamily="34" charset="0"/>
                <a:ea typeface="Garamond" pitchFamily="34" charset="-122"/>
                <a:cs typeface="Garamond" pitchFamily="34" charset="-120"/>
              </a:rPr>
              <a:t>Gating discipline</a:t>
            </a:r>
            <a:endParaRPr lang="en-US" sz="1250" dirty="0"/>
          </a:p>
        </p:txBody>
      </p:sp>
      <p:sp>
        <p:nvSpPr>
          <p:cNvPr id="14" name="Text 22"/>
          <p:cNvSpPr/>
          <p:nvPr/>
        </p:nvSpPr>
        <p:spPr>
          <a:xfrm>
            <a:off x="1005840" y="5458968"/>
            <a:ext cx="10149840" cy="731520"/>
          </a:xfrm>
          <a:prstGeom prst="rect">
            <a:avLst/>
          </a:prstGeom>
          <a:noFill/>
          <a:ln/>
        </p:spPr>
        <p:txBody>
          <a:bodyPr wrap="square" lIns="0" tIns="0" rIns="0" bIns="0" rtlCol="0" anchor="t"/>
          <a:lstStyle/>
          <a:p>
            <a:pPr indent="0" marL="0">
              <a:lnSpc>
                <a:spcPct val="102000"/>
              </a:lnSpc>
              <a:buNone/>
            </a:pPr>
            <a:r>
              <a:rPr lang="en-US" sz="1050" dirty="0">
                <a:solidFill>
                  <a:srgbClr val="1E2A33"/>
                </a:solidFill>
                <a:latin typeface="Garamond" pitchFamily="34" charset="0"/>
                <a:ea typeface="Garamond" pitchFamily="34" charset="-122"/>
                <a:cs typeface="Garamond" pitchFamily="34" charset="-120"/>
              </a:rPr>
              <a:t>The transition from Phase One to Phase Two proceeds only after the quality of orders has been confirmed. This sequencing limits capital at risk, ties production capacity to a proven order book, and preserves flexibility in how and where manufacturing scale is added.</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FINANCIAL OUTLOOK</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Illustrative Five Year Revenue Scenario</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17</a:t>
            </a:r>
            <a:endParaRPr lang="en-US" sz="850" dirty="0"/>
          </a:p>
        </p:txBody>
      </p:sp>
      <p:sp>
        <p:nvSpPr>
          <p:cNvPr id="7" name="Text 4"/>
          <p:cNvSpPr/>
          <p:nvPr/>
        </p:nvSpPr>
        <p:spPr>
          <a:xfrm>
            <a:off x="822960" y="1463040"/>
            <a:ext cx="4846320" cy="274320"/>
          </a:xfrm>
          <a:prstGeom prst="rect">
            <a:avLst/>
          </a:prstGeom>
          <a:noFill/>
          <a:ln/>
        </p:spPr>
        <p:txBody>
          <a:bodyPr wrap="square" lIns="0" tIns="0" rIns="0" bIns="0" rtlCol="0" anchor="ctr"/>
          <a:lstStyle/>
          <a:p>
            <a:pPr indent="0" marL="0">
              <a:buNone/>
            </a:pPr>
            <a:r>
              <a:rPr lang="en-US" sz="1350" b="1" dirty="0">
                <a:solidFill>
                  <a:srgbClr val="10222F"/>
                </a:solidFill>
                <a:latin typeface="Garamond" pitchFamily="34" charset="0"/>
                <a:ea typeface="Garamond" pitchFamily="34" charset="-122"/>
                <a:cs typeface="Garamond" pitchFamily="34" charset="-120"/>
              </a:rPr>
              <a:t>Anchors</a:t>
            </a:r>
            <a:endParaRPr lang="en-US" sz="1350" dirty="0"/>
          </a:p>
        </p:txBody>
      </p:sp>
      <p:sp>
        <p:nvSpPr>
          <p:cNvPr id="8" name="Text 5"/>
          <p:cNvSpPr/>
          <p:nvPr/>
        </p:nvSpPr>
        <p:spPr>
          <a:xfrm>
            <a:off x="822960" y="1783080"/>
            <a:ext cx="4892040" cy="1143000"/>
          </a:xfrm>
          <a:prstGeom prst="rect">
            <a:avLst/>
          </a:prstGeom>
          <a:noFill/>
          <a:ln/>
        </p:spPr>
        <p:txBody>
          <a:bodyPr wrap="square" lIns="0" tIns="0" rIns="0" bIns="0" rtlCol="0" anchor="t"/>
          <a:lstStyle/>
          <a:p>
            <a:pPr algn="l" marL="127000" indent="-127000">
              <a:spcAft>
                <a:spcPts val="500"/>
              </a:spcAft>
              <a:buSzPct val="100000"/>
              <a:buChar char="•"/>
            </a:pPr>
            <a:r>
              <a:rPr lang="en-US" sz="1150" dirty="0">
                <a:solidFill>
                  <a:srgbClr val="1E2A33"/>
                </a:solidFill>
                <a:latin typeface="Garamond" pitchFamily="34" charset="0"/>
                <a:ea typeface="Garamond" pitchFamily="34" charset="-122"/>
                <a:cs typeface="Garamond" pitchFamily="34" charset="-120"/>
              </a:rPr>
              <a:t>$11.8M REASON contract delivered, 2017 to 2024</a:t>
            </a:r>
            <a:endParaRPr lang="en-US" sz="1150" dirty="0"/>
          </a:p>
          <a:p>
            <a:pPr algn="l" marL="127000" indent="-127000">
              <a:spcAft>
                <a:spcPts val="500"/>
              </a:spcAft>
              <a:buSzPct val="100000"/>
              <a:buChar char="•"/>
            </a:pPr>
            <a:r>
              <a:rPr lang="en-US" sz="1150" dirty="0">
                <a:solidFill>
                  <a:srgbClr val="1E2A33"/>
                </a:solidFill>
                <a:latin typeface="Garamond" pitchFamily="34" charset="0"/>
                <a:ea typeface="Garamond" pitchFamily="34" charset="-122"/>
                <a:cs typeface="Garamond" pitchFamily="34" charset="-120"/>
              </a:rPr>
              <a:t>$1.5M+ in ongoing CLPS lunar contracts</a:t>
            </a:r>
            <a:endParaRPr lang="en-US" sz="1150" dirty="0"/>
          </a:p>
          <a:p>
            <a:pPr algn="l" marL="127000" indent="-127000">
              <a:spcAft>
                <a:spcPts val="500"/>
              </a:spcAft>
              <a:buSzPct val="100000"/>
              <a:buChar char="•"/>
            </a:pPr>
            <a:r>
              <a:rPr lang="en-US" sz="1150" dirty="0">
                <a:solidFill>
                  <a:srgbClr val="1E2A33"/>
                </a:solidFill>
                <a:latin typeface="Garamond" pitchFamily="34" charset="0"/>
                <a:ea typeface="Garamond" pitchFamily="34" charset="-122"/>
                <a:cs typeface="Garamond" pitchFamily="34" charset="-120"/>
              </a:rPr>
              <a:t>Growing SABER catalog quote pipeline</a:t>
            </a:r>
            <a:endParaRPr lang="en-US" sz="1150" dirty="0"/>
          </a:p>
        </p:txBody>
      </p:sp>
      <p:sp>
        <p:nvSpPr>
          <p:cNvPr id="9" name="Text 6"/>
          <p:cNvSpPr/>
          <p:nvPr/>
        </p:nvSpPr>
        <p:spPr>
          <a:xfrm>
            <a:off x="822960" y="3063240"/>
            <a:ext cx="4846320" cy="274320"/>
          </a:xfrm>
          <a:prstGeom prst="rect">
            <a:avLst/>
          </a:prstGeom>
          <a:noFill/>
          <a:ln/>
        </p:spPr>
        <p:txBody>
          <a:bodyPr wrap="square" lIns="0" tIns="0" rIns="0" bIns="0" rtlCol="0" anchor="ctr"/>
          <a:lstStyle/>
          <a:p>
            <a:pPr indent="0" marL="0">
              <a:buNone/>
            </a:pPr>
            <a:r>
              <a:rPr lang="en-US" sz="1350" b="1" dirty="0">
                <a:solidFill>
                  <a:srgbClr val="10222F"/>
                </a:solidFill>
                <a:latin typeface="Garamond" pitchFamily="34" charset="0"/>
                <a:ea typeface="Garamond" pitchFamily="34" charset="-122"/>
                <a:cs typeface="Garamond" pitchFamily="34" charset="-120"/>
              </a:rPr>
              <a:t>Scenario drivers</a:t>
            </a:r>
            <a:endParaRPr lang="en-US" sz="1350" dirty="0"/>
          </a:p>
        </p:txBody>
      </p:sp>
      <p:sp>
        <p:nvSpPr>
          <p:cNvPr id="10" name="Text 7"/>
          <p:cNvSpPr/>
          <p:nvPr/>
        </p:nvSpPr>
        <p:spPr>
          <a:xfrm>
            <a:off x="822960" y="3383280"/>
            <a:ext cx="4892040" cy="1463040"/>
          </a:xfrm>
          <a:prstGeom prst="rect">
            <a:avLst/>
          </a:prstGeom>
          <a:noFill/>
          <a:ln/>
        </p:spPr>
        <p:txBody>
          <a:bodyPr wrap="square" lIns="0" tIns="0" rIns="0" bIns="0" rtlCol="0" anchor="t"/>
          <a:lstStyle/>
          <a:p>
            <a:pPr algn="l" marL="127000" indent="-127000">
              <a:spcAft>
                <a:spcPts val="500"/>
              </a:spcAft>
              <a:buSzPct val="100000"/>
              <a:buChar char="•"/>
            </a:pPr>
            <a:r>
              <a:rPr lang="en-US" sz="1150" dirty="0">
                <a:solidFill>
                  <a:srgbClr val="1E2A33"/>
                </a:solidFill>
                <a:latin typeface="Garamond" pitchFamily="34" charset="0"/>
                <a:ea typeface="Garamond" pitchFamily="34" charset="-122"/>
                <a:cs typeface="Garamond" pitchFamily="34" charset="-120"/>
              </a:rPr>
              <a:t>Catalog product sales at higher volume and margin than one off engineering programs</a:t>
            </a:r>
            <a:endParaRPr lang="en-US" sz="1150" dirty="0"/>
          </a:p>
          <a:p>
            <a:pPr algn="l" marL="127000" indent="-127000">
              <a:spcAft>
                <a:spcPts val="500"/>
              </a:spcAft>
              <a:buSzPct val="100000"/>
              <a:buChar char="•"/>
            </a:pPr>
            <a:r>
              <a:rPr lang="en-US" sz="1150" dirty="0">
                <a:solidFill>
                  <a:srgbClr val="1E2A33"/>
                </a:solidFill>
                <a:latin typeface="Garamond" pitchFamily="34" charset="0"/>
                <a:ea typeface="Garamond" pitchFamily="34" charset="-122"/>
                <a:cs typeface="Garamond" pitchFamily="34" charset="-120"/>
              </a:rPr>
              <a:t>Recurring lunar payload demand under NASA CLPS</a:t>
            </a:r>
            <a:endParaRPr lang="en-US" sz="1150" dirty="0"/>
          </a:p>
          <a:p>
            <a:pPr algn="l" marL="127000" indent="-127000">
              <a:spcAft>
                <a:spcPts val="500"/>
              </a:spcAft>
              <a:buSzPct val="100000"/>
              <a:buChar char="•"/>
            </a:pPr>
            <a:r>
              <a:rPr lang="en-US" sz="1150" dirty="0">
                <a:solidFill>
                  <a:srgbClr val="1E2A33"/>
                </a:solidFill>
                <a:latin typeface="Garamond" pitchFamily="34" charset="0"/>
                <a:ea typeface="Garamond" pitchFamily="34" charset="-122"/>
                <a:cs typeface="Garamond" pitchFamily="34" charset="-120"/>
              </a:rPr>
              <a:t>Existing facility capacity supports the ramp with limited capital expenditure</a:t>
            </a:r>
            <a:endParaRPr lang="en-US" sz="1150" dirty="0"/>
          </a:p>
        </p:txBody>
      </p:sp>
      <p:sp>
        <p:nvSpPr>
          <p:cNvPr id="11" name="Shape 8"/>
          <p:cNvSpPr/>
          <p:nvPr/>
        </p:nvSpPr>
        <p:spPr>
          <a:xfrm>
            <a:off x="822960" y="5074920"/>
            <a:ext cx="4892040" cy="1188720"/>
          </a:xfrm>
          <a:prstGeom prst="roundRect">
            <a:avLst>
              <a:gd name="adj" fmla="val 3846"/>
            </a:avLst>
          </a:prstGeom>
          <a:solidFill>
            <a:srgbClr val="EDF3F8"/>
          </a:solidFill>
          <a:ln w="9525">
            <a:solidFill>
              <a:srgbClr val="C6D2DA"/>
            </a:solidFill>
            <a:prstDash val="solid"/>
          </a:ln>
        </p:spPr>
      </p:sp>
      <p:sp>
        <p:nvSpPr>
          <p:cNvPr id="12" name="Text 9"/>
          <p:cNvSpPr/>
          <p:nvPr/>
        </p:nvSpPr>
        <p:spPr>
          <a:xfrm>
            <a:off x="987552" y="5212080"/>
            <a:ext cx="4572000" cy="960120"/>
          </a:xfrm>
          <a:prstGeom prst="rect">
            <a:avLst/>
          </a:prstGeom>
          <a:noFill/>
          <a:ln/>
        </p:spPr>
        <p:txBody>
          <a:bodyPr wrap="square" lIns="0" tIns="0" rIns="0" bIns="0" rtlCol="0" anchor="t"/>
          <a:lstStyle/>
          <a:p>
            <a:pPr indent="0" marL="0">
              <a:buNone/>
            </a:pPr>
            <a:r>
              <a:rPr lang="en-US" sz="1050" i="1" dirty="0">
                <a:solidFill>
                  <a:srgbClr val="5C6B76"/>
                </a:solidFill>
                <a:latin typeface="Garamond" pitchFamily="34" charset="0"/>
                <a:ea typeface="Garamond" pitchFamily="34" charset="-122"/>
                <a:cs typeface="Garamond" pitchFamily="34" charset="-120"/>
              </a:rPr>
              <a:t>The chart presents an illustrative planning scenario for discussion. It is not guidance, and it should be replaced with the management financial plan before any investor distribution.</a:t>
            </a:r>
            <a:endParaRPr lang="en-US" sz="1050" dirty="0"/>
          </a:p>
        </p:txBody>
      </p:sp>
      <p:sp>
        <p:nvSpPr>
          <p:cNvPr id="13" name="Text 10"/>
          <p:cNvSpPr/>
          <p:nvPr/>
        </p:nvSpPr>
        <p:spPr>
          <a:xfrm>
            <a:off x="6172200" y="1463040"/>
            <a:ext cx="5212080" cy="274320"/>
          </a:xfrm>
          <a:prstGeom prst="rect">
            <a:avLst/>
          </a:prstGeom>
          <a:noFill/>
          <a:ln/>
        </p:spPr>
        <p:txBody>
          <a:bodyPr wrap="square" lIns="0" tIns="0" rIns="0" bIns="0" rtlCol="0" anchor="ctr"/>
          <a:lstStyle/>
          <a:p>
            <a:pPr indent="0" marL="0">
              <a:buNone/>
            </a:pPr>
            <a:r>
              <a:rPr lang="en-US" sz="1300" b="1" dirty="0">
                <a:solidFill>
                  <a:srgbClr val="10222F"/>
                </a:solidFill>
                <a:latin typeface="Garamond" pitchFamily="34" charset="0"/>
                <a:ea typeface="Garamond" pitchFamily="34" charset="-122"/>
                <a:cs typeface="Garamond" pitchFamily="34" charset="-120"/>
              </a:rPr>
              <a:t>Revenue scenario, USD millions</a:t>
            </a:r>
            <a:endParaRPr lang="en-US" sz="1300" dirty="0"/>
          </a:p>
        </p:txBody>
      </p:sp>
      <p:graphicFrame>
        <p:nvGraphicFramePr>
          <p:cNvPr id="14" name="Chart 0" descr=""/>
          <p:cNvGraphicFramePr/>
          <p:nvPr/>
        </p:nvGraphicFramePr>
        <p:xfrm>
          <a:off x="6172200" y="1828800"/>
          <a:ext cx="5212080" cy="4114800"/>
        </p:xfrm>
        <a:graphic xmlns:a="http://schemas.openxmlformats.org/drawingml/2006/main">
          <a:graphicData uri="http://schemas.openxmlformats.org/drawingml/2006/chart">
            <c:chart xmlns:c="http://schemas.openxmlformats.org/drawingml/2006/chart" r:id="rId2"/>
          </a:graphicData>
        </a:graphic>
      </p:graphicFrame>
      <p:sp>
        <p:nvSpPr>
          <p:cNvPr id="15" name="Text 11"/>
          <p:cNvSpPr/>
          <p:nvPr/>
        </p:nvSpPr>
        <p:spPr>
          <a:xfrm>
            <a:off x="6172200" y="5989320"/>
            <a:ext cx="5120640" cy="256032"/>
          </a:xfrm>
          <a:prstGeom prst="rect">
            <a:avLst/>
          </a:prstGeom>
          <a:noFill/>
          <a:ln/>
        </p:spPr>
        <p:txBody>
          <a:bodyPr wrap="square" lIns="0" tIns="0" rIns="0" bIns="0" rtlCol="0" anchor="ctr"/>
          <a:lstStyle/>
          <a:p>
            <a:pPr indent="0" marL="0">
              <a:buNone/>
            </a:pPr>
            <a:r>
              <a:rPr lang="en-US" sz="900" i="1" dirty="0">
                <a:solidFill>
                  <a:srgbClr val="5C6B76"/>
                </a:solidFill>
                <a:latin typeface="Garamond" pitchFamily="34" charset="0"/>
                <a:ea typeface="Garamond" pitchFamily="34" charset="-122"/>
                <a:cs typeface="Garamond" pitchFamily="34" charset="-120"/>
              </a:rPr>
              <a:t>Illustrative only; not guidance.</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assets/close_bg.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assets/logo_white.png">    </p:cNvPr>
          <p:cNvPicPr>
            <a:picLocks noChangeAspect="1"/>
          </p:cNvPicPr>
          <p:nvPr/>
        </p:nvPicPr>
        <p:blipFill>
          <a:blip r:embed="rId2"/>
          <a:stretch>
            <a:fillRect/>
          </a:stretch>
        </p:blipFill>
        <p:spPr>
          <a:xfrm>
            <a:off x="822960" y="731520"/>
            <a:ext cx="2377440" cy="665683"/>
          </a:xfrm>
          <a:prstGeom prst="rect">
            <a:avLst/>
          </a:prstGeom>
        </p:spPr>
      </p:pic>
      <p:sp>
        <p:nvSpPr>
          <p:cNvPr id="4" name="Text 0"/>
          <p:cNvSpPr/>
          <p:nvPr/>
        </p:nvSpPr>
        <p:spPr>
          <a:xfrm>
            <a:off x="822960" y="2331720"/>
            <a:ext cx="5486400" cy="292608"/>
          </a:xfrm>
          <a:prstGeom prst="rect">
            <a:avLst/>
          </a:prstGeom>
          <a:noFill/>
          <a:ln/>
        </p:spPr>
        <p:txBody>
          <a:bodyPr wrap="square" lIns="0" tIns="0" rIns="0" bIns="0" rtlCol="0" anchor="ctr"/>
          <a:lstStyle/>
          <a:p>
            <a:pPr indent="0" marL="0">
              <a:buNone/>
            </a:pPr>
            <a:r>
              <a:rPr lang="en-US" sz="1200" b="1" spc="350" kern="0" dirty="0">
                <a:solidFill>
                  <a:srgbClr val="6FBCE8"/>
                </a:solidFill>
                <a:latin typeface="Garamond" pitchFamily="34" charset="0"/>
                <a:ea typeface="Garamond" pitchFamily="34" charset="-122"/>
                <a:cs typeface="Garamond" pitchFamily="34" charset="-120"/>
              </a:rPr>
              <a:t>THANK YOU</a:t>
            </a:r>
            <a:endParaRPr lang="en-US" sz="1200" dirty="0"/>
          </a:p>
        </p:txBody>
      </p:sp>
      <p:sp>
        <p:nvSpPr>
          <p:cNvPr id="5" name="Text 1"/>
          <p:cNvSpPr/>
          <p:nvPr/>
        </p:nvSpPr>
        <p:spPr>
          <a:xfrm>
            <a:off x="822960" y="2651760"/>
            <a:ext cx="9144000" cy="685800"/>
          </a:xfrm>
          <a:prstGeom prst="rect">
            <a:avLst/>
          </a:prstGeom>
          <a:noFill/>
          <a:ln/>
        </p:spPr>
        <p:txBody>
          <a:bodyPr wrap="square" lIns="0" tIns="0" rIns="0" bIns="0" rtlCol="0" anchor="ctr"/>
          <a:lstStyle/>
          <a:p>
            <a:pPr indent="0" marL="0">
              <a:buNone/>
            </a:pPr>
            <a:r>
              <a:rPr lang="en-US" sz="3600" b="1" dirty="0">
                <a:solidFill>
                  <a:srgbClr val="FFFFFF"/>
                </a:solidFill>
                <a:latin typeface="Garamond" pitchFamily="34" charset="0"/>
                <a:ea typeface="Garamond" pitchFamily="34" charset="-122"/>
                <a:cs typeface="Garamond" pitchFamily="34" charset="-120"/>
              </a:rPr>
              <a:t>Questions and Discussion</a:t>
            </a:r>
            <a:endParaRPr lang="en-US" sz="3600" dirty="0"/>
          </a:p>
        </p:txBody>
      </p:sp>
      <p:sp>
        <p:nvSpPr>
          <p:cNvPr id="6" name="Shape 2"/>
          <p:cNvSpPr/>
          <p:nvPr/>
        </p:nvSpPr>
        <p:spPr>
          <a:xfrm>
            <a:off x="822960" y="3657600"/>
            <a:ext cx="5577840" cy="2286000"/>
          </a:xfrm>
          <a:prstGeom prst="roundRect">
            <a:avLst>
              <a:gd name="adj" fmla="val 2400"/>
            </a:avLst>
          </a:prstGeom>
          <a:solidFill>
            <a:srgbClr val="0E2233">
              <a:alpha val="82000"/>
            </a:srgbClr>
          </a:solidFill>
          <a:ln w="9525">
            <a:solidFill>
              <a:srgbClr val="3C5A72"/>
            </a:solidFill>
            <a:prstDash val="solid"/>
          </a:ln>
        </p:spPr>
      </p:sp>
      <p:sp>
        <p:nvSpPr>
          <p:cNvPr id="7" name="Text 3"/>
          <p:cNvSpPr/>
          <p:nvPr/>
        </p:nvSpPr>
        <p:spPr>
          <a:xfrm>
            <a:off x="1097280" y="3886200"/>
            <a:ext cx="5120640" cy="1874520"/>
          </a:xfrm>
          <a:prstGeom prst="rect">
            <a:avLst/>
          </a:prstGeom>
          <a:noFill/>
          <a:ln/>
        </p:spPr>
        <p:txBody>
          <a:bodyPr wrap="square" lIns="0" tIns="0" rIns="0" bIns="0" rtlCol="0" anchor="t"/>
          <a:lstStyle/>
          <a:p>
            <a:pPr indent="0" marL="0">
              <a:spcAft>
                <a:spcPts val="500"/>
              </a:spcAft>
              <a:buNone/>
            </a:pPr>
            <a:r>
              <a:rPr lang="en-US" sz="1700" b="1" dirty="0">
                <a:solidFill>
                  <a:srgbClr val="FFFFFF"/>
                </a:solidFill>
                <a:latin typeface="Garamond" pitchFamily="34" charset="0"/>
                <a:ea typeface="Garamond" pitchFamily="34" charset="-122"/>
                <a:cs typeface="Garamond" pitchFamily="34" charset="-120"/>
              </a:rPr>
              <a:t>Rocky Chen</a:t>
            </a:r>
            <a:endParaRPr lang="en-US" sz="1700" dirty="0"/>
          </a:p>
          <a:p>
            <a:pPr indent="0" marL="0">
              <a:spcAft>
                <a:spcPts val="500"/>
              </a:spcAft>
              <a:buNone/>
            </a:pPr>
            <a:r>
              <a:rPr lang="en-US" sz="1150" dirty="0">
                <a:solidFill>
                  <a:srgbClr val="AFC7D8"/>
                </a:solidFill>
                <a:latin typeface="Garamond" pitchFamily="34" charset="0"/>
                <a:ea typeface="Garamond" pitchFamily="34" charset="-122"/>
                <a:cs typeface="Garamond" pitchFamily="34" charset="-120"/>
              </a:rPr>
              <a:t>[Title], Heliospace Corporation</a:t>
            </a:r>
            <a:endParaRPr lang="en-US" sz="1700" dirty="0"/>
          </a:p>
          <a:p>
            <a:pPr indent="0" marL="0">
              <a:spcAft>
                <a:spcPts val="500"/>
              </a:spcAft>
              <a:buNone/>
            </a:pPr>
            <a:r>
              <a:rPr lang="en-US" sz="1150" dirty="0">
                <a:solidFill>
                  <a:srgbClr val="AFC7D8"/>
                </a:solidFill>
                <a:latin typeface="Garamond" pitchFamily="34" charset="0"/>
                <a:ea typeface="Garamond" pitchFamily="34" charset="-122"/>
                <a:cs typeface="Garamond" pitchFamily="34" charset="-120"/>
              </a:rPr>
              <a:t>[direct email]   |   [direct phone]</a:t>
            </a:r>
            <a:endParaRPr lang="en-US" sz="1700" dirty="0"/>
          </a:p>
          <a:p>
            <a:pPr indent="0" marL="0">
              <a:spcAft>
                <a:spcPts val="500"/>
              </a:spcAft>
              <a:buNone/>
            </a:pPr>
            <a:endParaRPr lang="en-US" sz="1700" dirty="0"/>
          </a:p>
          <a:p>
            <a:pPr indent="0" marL="0">
              <a:spcAft>
                <a:spcPts val="500"/>
              </a:spcAft>
              <a:buNone/>
            </a:pPr>
            <a:r>
              <a:rPr lang="en-US" sz="1100" dirty="0">
                <a:solidFill>
                  <a:srgbClr val="DCE8F1"/>
                </a:solidFill>
                <a:latin typeface="Garamond" pitchFamily="34" charset="0"/>
                <a:ea typeface="Garamond" pitchFamily="34" charset="-122"/>
                <a:cs typeface="Garamond" pitchFamily="34" charset="-120"/>
              </a:rPr>
              <a:t>info@helio.space   |   (510) 545-2666   |   www.helio.space</a:t>
            </a:r>
            <a:endParaRPr lang="en-US" sz="1700" dirty="0"/>
          </a:p>
          <a:p>
            <a:pPr indent="0" marL="0">
              <a:spcAft>
                <a:spcPts val="500"/>
              </a:spcAft>
              <a:buNone/>
            </a:pPr>
            <a:r>
              <a:rPr lang="en-US" sz="1100" dirty="0">
                <a:solidFill>
                  <a:srgbClr val="DCE8F1"/>
                </a:solidFill>
                <a:latin typeface="Garamond" pitchFamily="34" charset="0"/>
                <a:ea typeface="Garamond" pitchFamily="34" charset="-122"/>
                <a:cs typeface="Garamond" pitchFamily="34" charset="-120"/>
              </a:rPr>
              <a:t>2448 Sixth Street, Berkeley, CA 94710</a:t>
            </a:r>
            <a:endParaRPr lang="en-US" sz="1700" dirty="0"/>
          </a:p>
        </p:txBody>
      </p:sp>
      <p:sp>
        <p:nvSpPr>
          <p:cNvPr id="8" name="Text 4"/>
          <p:cNvSpPr/>
          <p:nvPr/>
        </p:nvSpPr>
        <p:spPr>
          <a:xfrm>
            <a:off x="9509760" y="6473952"/>
            <a:ext cx="1874520" cy="237744"/>
          </a:xfrm>
          <a:prstGeom prst="rect">
            <a:avLst/>
          </a:prstGeom>
          <a:noFill/>
          <a:ln/>
        </p:spPr>
        <p:txBody>
          <a:bodyPr wrap="square" lIns="0" tIns="0" rIns="0" bIns="0" rtlCol="0" anchor="ctr"/>
          <a:lstStyle/>
          <a:p>
            <a:pPr algn="r" indent="0" marL="0">
              <a:buNone/>
            </a:pPr>
            <a:r>
              <a:rPr lang="en-US" sz="900" dirty="0">
                <a:solidFill>
                  <a:srgbClr val="9DB2C0"/>
                </a:solidFill>
                <a:latin typeface="Garamond" pitchFamily="34" charset="0"/>
                <a:ea typeface="Garamond" pitchFamily="34" charset="-122"/>
                <a:cs typeface="Garamond" pitchFamily="34" charset="-120"/>
              </a:rPr>
              <a:t>Proprietary and Confidential</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2026-08-07T08:46:16Z</dcterms:created>
  <dcterms:modified xsi:type="dcterms:W3CDTF">2026-08-07T08:46:16Z</dcterms:modified>
</cp:coreProperties>
</file>