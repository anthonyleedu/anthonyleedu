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1-1.jpg" ContentType="image/jpg"/>
  <Override PartName="/ppt/media/image-10-1.jpg" ContentType="image/jpg"/>
  <Override PartName="/ppt/media/image-10-2.jpg" ContentType="image/jpg"/>
  <Override PartName="/ppt/media/image-10-3.jpg" ContentType="image/jpg"/>
  <Override PartName="/ppt/media/image-10-4.jpg" ContentType="image/jpg"/>
  <Override PartName="/ppt/media/image-10-5.jpg" ContentType="image/jpg"/>
  <Override PartName="/ppt/media/image-10-6.jpg" ContentType="image/jpg"/>
  <Override PartName="/ppt/media/image-11-1.jpg" ContentType="image/jpg"/>
  <Override PartName="/ppt/media/image-12-1.jpg" ContentType="image/jpg"/>
  <Override PartName="/ppt/media/image-13-1.jpg" ContentType="image/jpg"/>
  <Override PartName="/ppt/media/image-13-2.jpg" ContentType="image/jpg"/>
  <Override PartName="/ppt/media/image-14-1.jpg" ContentType="image/jpg"/>
  <Override PartName="/ppt/media/image-14-2.jpg" ContentType="image/jpg"/>
  <Override PartName="/ppt/media/image-16-1.jpg" ContentType="image/jpg"/>
  <Override PartName="/ppt/media/image-2-1.jpg" ContentType="image/jpg"/>
  <Override PartName="/ppt/media/image-2-2.jpg" ContentType="image/jpg"/>
  <Override PartName="/ppt/media/image-3-1.jpg" ContentType="image/jpg"/>
  <Override PartName="/ppt/media/image-3-2.jpg" ContentType="image/jpg"/>
  <Override PartName="/ppt/media/image-3-3.jpg" ContentType="image/jpg"/>
  <Override PartName="/ppt/media/image-3-4.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5-1.jpg" ContentType="image/jpg"/>
  <Override PartName="/ppt/media/image-5-2.jpg" ContentType="image/jpg"/>
  <Override PartName="/ppt/media/image-5-3.jpg" ContentType="image/jpg"/>
  <Override PartName="/ppt/media/image-5-4.jpg" ContentType="image/jpg"/>
  <Override PartName="/ppt/media/image-6-1.jpg" ContentType="image/jpg"/>
  <Override PartName="/ppt/media/image-6-2.jpg" ContentType="image/jpg"/>
  <Override PartName="/ppt/media/image-6-3.jpg" ContentType="image/jpg"/>
  <Override PartName="/ppt/media/image-7-1.jpg" ContentType="image/jpg"/>
  <Override PartName="/ppt/media/image-7-2.jpg" ContentType="image/jpg"/>
  <Override PartName="/ppt/media/image-7-3.jpg" ContentType="image/jpg"/>
  <Override PartName="/ppt/media/image-8-1.jpg" ContentType="image/jpg"/>
  <Override PartName="/ppt/media/image-8-2.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23"/>
    <p:sldId id="273" r:id="rId24"/>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8.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5.xml"/><Relationship Id="rId24"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Space economy</c:v>
                </c:pt>
              </c:strCache>
            </c:strRef>
          </c:tx>
          <c:spPr>
            <a:solidFill>
              <a:srgbClr val="007BCB"/>
            </a:solidFill>
            <a:effectLst/>
          </c:spPr>
          <c:invertIfNegative val="0"/>
          <c:dLbls>
            <c:numFmt formatCode="&quot;$&quot;#,##0" sourceLinked="0"/>
            <c:txPr>
              <a:bodyPr/>
              <a:lstStyle/>
              <a:p>
                <a:pPr>
                  <a:defRPr b="0" i="0" strike="noStrike" sz="1200" u="none">
                    <a:solidFill>
                      <a:srgbClr val="10222F"/>
                    </a:solidFill>
                    <a:latin typeface="Garamond"/>
                  </a:defRPr>
                </a:pPr>
              </a:p>
            </c:txPr>
            <c:showLegendKey val="0"/>
            <c:showVal val="1"/>
            <c:showCatName val="0"/>
            <c:showSerName val="0"/>
            <c:showPercent val="0"/>
            <c:showBubbleSize val="0"/>
            <c:showLeaderLines val="0"/>
          </c:dLbls>
          <c:cat>
            <c:multiLvlStrRef>
              <c:f>Sheet1!$A$2:$A$4</c:f>
              <c:multiLvlStrCache>
                <c:ptCount val="3"/>
                <c:lvl>
                  <c:pt idx="0">
                    <c:v>2000</c:v>
                  </c:pt>
                  <c:pt idx="1">
                    <c:v>2023</c:v>
                  </c:pt>
                  <c:pt idx="2">
                    <c:v>2035E</c:v>
                  </c:pt>
                </c:lvl>
              </c:multiLvlStrCache>
            </c:multiLvlStrRef>
          </c:cat>
          <c:val>
            <c:numRef>
              <c:f>Sheet1!$B$2:$B$4</c:f>
              <c:numCache>
                <c:formatCode>General</c:formatCode>
                <c:ptCount val="3"/>
                <c:pt idx="0">
                  <c:v>130</c:v>
                </c:pt>
                <c:pt idx="1">
                  <c:v>630</c:v>
                </c:pt>
                <c:pt idx="2">
                  <c:v>1800</c:v>
                </c:pt>
              </c:numCache>
            </c:numRef>
          </c:val>
        </c:ser>
        <c:dLbls>
          <c:numFmt formatCode="#,##0" sourceLinked="0"/>
          <c:txPr>
            <a:bodyPr/>
            <a:lstStyle/>
            <a:p>
              <a:pPr>
                <a:defRPr b="1" i="0" strike="noStrike" sz="1100" u="none">
                  <a:solidFill>
                    <a:srgbClr val="10222F"/>
                  </a:solidFill>
                  <a:latin typeface="Garamond"/>
                </a:defRPr>
              </a:pPr>
            </a:p>
          </c:txPr>
          <c:dLblPos val="outEnd"/>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5C6B76"/>
                </a:solidFill>
                <a:latin typeface="Garamond"/>
              </a:defRPr>
            </a:pPr>
            <a:endParaRPr lang="en-US"/>
          </a:p>
        </c:txPr>
        <c:crossAx val="2094734552"/>
        <c:crosses val="autoZero"/>
        <c:auto val="1"/>
        <c:lblAlgn val="ctr"/>
        <c:noMultiLvlLbl val="1"/>
      </c:catAx>
      <c:valAx>
        <c:axId val="2094734552"/>
        <c:scaling>
          <c:orientation val="minMax"/>
          <c:max val="2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chart" Target="../charts/chart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jpg"/></Relationships>
</file>

<file path=ppt/slides/_rels/slide18.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ssets/titl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685800"/>
            <a:ext cx="2514600" cy="704088"/>
          </a:xfrm>
          <a:prstGeom prst="rect">
            <a:avLst/>
          </a:prstGeom>
        </p:spPr>
      </p:pic>
      <p:sp>
        <p:nvSpPr>
          <p:cNvPr id="4" name="Text 0"/>
          <p:cNvSpPr/>
          <p:nvPr/>
        </p:nvSpPr>
        <p:spPr>
          <a:xfrm>
            <a:off x="822960" y="260604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COMPANY &amp; PRODUCT PRESENTATION</a:t>
            </a:r>
            <a:endParaRPr lang="en-US" sz="1200" dirty="0"/>
          </a:p>
        </p:txBody>
      </p:sp>
      <p:sp>
        <p:nvSpPr>
          <p:cNvPr id="5" name="Text 1"/>
          <p:cNvSpPr/>
          <p:nvPr/>
        </p:nvSpPr>
        <p:spPr>
          <a:xfrm>
            <a:off x="822960" y="2926080"/>
            <a:ext cx="10241280" cy="868680"/>
          </a:xfrm>
          <a:prstGeom prst="rect">
            <a:avLst/>
          </a:prstGeom>
          <a:noFill/>
          <a:ln/>
        </p:spPr>
        <p:txBody>
          <a:bodyPr wrap="square" lIns="0" tIns="0" rIns="0" bIns="0" rtlCol="0" anchor="ctr"/>
          <a:lstStyle/>
          <a:p>
            <a:pPr indent="0" marL="0">
              <a:buNone/>
            </a:pPr>
            <a:r>
              <a:rPr lang="en-US" sz="4600" b="1" dirty="0">
                <a:solidFill>
                  <a:srgbClr val="FFFFFF"/>
                </a:solidFill>
                <a:latin typeface="Garamond" pitchFamily="34" charset="0"/>
                <a:ea typeface="Garamond" pitchFamily="34" charset="-122"/>
                <a:cs typeface="Garamond" pitchFamily="34" charset="-120"/>
              </a:rPr>
              <a:t>Heliospace Corporation</a:t>
            </a:r>
            <a:endParaRPr lang="en-US" sz="4600" dirty="0"/>
          </a:p>
        </p:txBody>
      </p:sp>
      <p:sp>
        <p:nvSpPr>
          <p:cNvPr id="6" name="Text 2"/>
          <p:cNvSpPr/>
          <p:nvPr/>
        </p:nvSpPr>
        <p:spPr>
          <a:xfrm>
            <a:off x="822960" y="3886200"/>
            <a:ext cx="8138160" cy="777240"/>
          </a:xfrm>
          <a:prstGeom prst="rect">
            <a:avLst/>
          </a:prstGeom>
          <a:noFill/>
          <a:ln/>
        </p:spPr>
        <p:txBody>
          <a:bodyPr wrap="square" lIns="0" tIns="0" rIns="0" bIns="0" rtlCol="0" anchor="ctr"/>
          <a:lstStyle/>
          <a:p>
            <a:pPr indent="0" marL="0">
              <a:buNone/>
            </a:pPr>
            <a:r>
              <a:rPr lang="en-US" sz="1700" dirty="0">
                <a:solidFill>
                  <a:srgbClr val="DCE8F1"/>
                </a:solidFill>
                <a:latin typeface="Garamond" pitchFamily="34" charset="0"/>
                <a:ea typeface="Garamond" pitchFamily="34" charset="-122"/>
                <a:cs typeface="Garamond" pitchFamily="34" charset="-120"/>
              </a:rPr>
              <a:t>Flight proven deployable antennas, booms, and mechanisms for the expanding space economy</a:t>
            </a:r>
            <a:endParaRPr lang="en-US" sz="1700" dirty="0"/>
          </a:p>
        </p:txBody>
      </p:sp>
      <p:sp>
        <p:nvSpPr>
          <p:cNvPr id="7" name="Text 3"/>
          <p:cNvSpPr/>
          <p:nvPr/>
        </p:nvSpPr>
        <p:spPr>
          <a:xfrm>
            <a:off x="822960" y="4846320"/>
            <a:ext cx="6858000" cy="274320"/>
          </a:xfrm>
          <a:prstGeom prst="rect">
            <a:avLst/>
          </a:prstGeom>
          <a:noFill/>
          <a:ln/>
        </p:spPr>
        <p:txBody>
          <a:bodyPr wrap="square" lIns="0" tIns="0" rIns="0" bIns="0" rtlCol="0" anchor="ctr"/>
          <a:lstStyle/>
          <a:p>
            <a:pPr indent="0" marL="0">
              <a:buNone/>
            </a:pPr>
            <a:r>
              <a:rPr lang="en-US" sz="1100" spc="250" kern="0" dirty="0">
                <a:solidFill>
                  <a:srgbClr val="9FC5DE"/>
                </a:solidFill>
                <a:latin typeface="Garamond" pitchFamily="34" charset="0"/>
                <a:ea typeface="Garamond" pitchFamily="34" charset="-122"/>
                <a:cs typeface="Garamond" pitchFamily="34" charset="-120"/>
              </a:rPr>
              <a:t>NEW SPACE VISION   ×   REAL SPACE EXPERIENCE</a:t>
            </a:r>
            <a:endParaRPr lang="en-US" sz="1100" dirty="0"/>
          </a:p>
        </p:txBody>
      </p:sp>
      <p:sp>
        <p:nvSpPr>
          <p:cNvPr id="8" name="Text 4"/>
          <p:cNvSpPr/>
          <p:nvPr/>
        </p:nvSpPr>
        <p:spPr>
          <a:xfrm>
            <a:off x="822960" y="6172200"/>
            <a:ext cx="8229600" cy="274320"/>
          </a:xfrm>
          <a:prstGeom prst="rect">
            <a:avLst/>
          </a:prstGeom>
          <a:noFill/>
          <a:ln/>
        </p:spPr>
        <p:txBody>
          <a:bodyPr wrap="square" lIns="0" tIns="0" rIns="0" bIns="0" rtlCol="0" anchor="ctr"/>
          <a:lstStyle/>
          <a:p>
            <a:pPr indent="0" marL="0">
              <a:buNone/>
            </a:pPr>
            <a:r>
              <a:rPr lang="en-US" sz="1050" dirty="0">
                <a:solidFill>
                  <a:srgbClr val="B9C7D2"/>
                </a:solidFill>
                <a:latin typeface="Garamond" pitchFamily="34" charset="0"/>
                <a:ea typeface="Garamond" pitchFamily="34" charset="-122"/>
                <a:cs typeface="Garamond" pitchFamily="34" charset="-120"/>
              </a:rPr>
              <a:t>August 2026    |    Berkeley, California    |    Proprietary and Confidential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COMPANY OVERVIEW</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Heliospace at a Glance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2</a:t>
            </a:r>
            <a:endParaRPr lang="en-US" sz="850" dirty="0"/>
          </a:p>
        </p:txBody>
      </p:sp>
      <p:sp>
        <p:nvSpPr>
          <p:cNvPr id="7" name="Text 4"/>
          <p:cNvSpPr/>
          <p:nvPr/>
        </p:nvSpPr>
        <p:spPr>
          <a:xfrm>
            <a:off x="822960" y="1463040"/>
            <a:ext cx="5440680" cy="13258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Helio is pioneering a new class of energy infrastructure: space based power systems, or power plants in space, that capture solar energy beyond Earth's atmosphere and beam it safely and efficiently to the surface. Our vision is to establish orbital energy platforms as a foundational layer of the global power grid, delivering uninterrupted, carbon free electricity at scale.</a:t>
            </a:r>
            <a:endParaRPr lang="en-US" sz="1350" dirty="0"/>
          </a:p>
        </p:txBody>
      </p:sp>
      <p:sp>
        <p:nvSpPr>
          <p:cNvPr id="8" name="Text 5"/>
          <p:cNvSpPr/>
          <p:nvPr/>
        </p:nvSpPr>
        <p:spPr>
          <a:xfrm>
            <a:off x="822960" y="2880360"/>
            <a:ext cx="5440680" cy="1097280"/>
          </a:xfrm>
          <a:prstGeom prst="rect">
            <a:avLst/>
          </a:prstGeom>
          <a:noFill/>
          <a:ln/>
        </p:spPr>
        <p:txBody>
          <a:bodyPr wrap="square" lIns="0" tIns="0" rIns="0" bIns="0" rtlCol="0" anchor="t"/>
          <a:lstStyle/>
          <a:p>
            <a:pPr indent="0" marL="0">
              <a:lnSpc>
                <a:spcPct val="108000"/>
              </a:lnSpc>
              <a:buNone/>
            </a:pPr>
            <a:r>
              <a:rPr lang="en-US" sz="1350" dirty="0">
                <a:solidFill>
                  <a:srgbClr val="1E2A33"/>
                </a:solidFill>
                <a:latin typeface="Garamond" pitchFamily="34" charset="0"/>
                <a:ea typeface="Garamond" pitchFamily="34" charset="-122"/>
                <a:cs typeface="Garamond" pitchFamily="34" charset="-120"/>
              </a:rPr>
              <a:t>Founded in 2018, Helio delivers cutting edge aerospace hardware, systems engineering, and mission services, supporting NASA, private companies, universities, and global space agencies. A trusted partner to more than a dozen organizations worldwide, with products operating from the Sun to Jupiter.</a:t>
            </a:r>
            <a:endParaRPr lang="en-US" sz="1350" dirty="0"/>
          </a:p>
        </p:txBody>
      </p:sp>
      <p:sp>
        <p:nvSpPr>
          <p:cNvPr id="9" name="Text 6"/>
          <p:cNvSpPr/>
          <p:nvPr/>
        </p:nvSpPr>
        <p:spPr>
          <a:xfrm>
            <a:off x="82296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40+</a:t>
            </a:r>
            <a:endParaRPr lang="en-US" sz="2800" dirty="0"/>
          </a:p>
        </p:txBody>
      </p:sp>
      <p:sp>
        <p:nvSpPr>
          <p:cNvPr id="10" name="Text 7"/>
          <p:cNvSpPr/>
          <p:nvPr/>
        </p:nvSpPr>
        <p:spPr>
          <a:xfrm>
            <a:off x="82296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space flight missions supported</a:t>
            </a:r>
            <a:endParaRPr lang="en-US" sz="1050" dirty="0"/>
          </a:p>
        </p:txBody>
      </p:sp>
      <p:sp>
        <p:nvSpPr>
          <p:cNvPr id="11" name="Text 8"/>
          <p:cNvSpPr/>
          <p:nvPr/>
        </p:nvSpPr>
        <p:spPr>
          <a:xfrm>
            <a:off x="3611880" y="416052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125+</a:t>
            </a:r>
            <a:endParaRPr lang="en-US" sz="2800" dirty="0"/>
          </a:p>
        </p:txBody>
      </p:sp>
      <p:sp>
        <p:nvSpPr>
          <p:cNvPr id="12" name="Text 9"/>
          <p:cNvSpPr/>
          <p:nvPr/>
        </p:nvSpPr>
        <p:spPr>
          <a:xfrm>
            <a:off x="3611880" y="461772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instruments and systems built</a:t>
            </a:r>
            <a:endParaRPr lang="en-US" sz="1050" dirty="0"/>
          </a:p>
        </p:txBody>
      </p:sp>
      <p:sp>
        <p:nvSpPr>
          <p:cNvPr id="13" name="Text 10"/>
          <p:cNvSpPr/>
          <p:nvPr/>
        </p:nvSpPr>
        <p:spPr>
          <a:xfrm>
            <a:off x="82296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30+</a:t>
            </a:r>
            <a:endParaRPr lang="en-US" sz="2800" dirty="0"/>
          </a:p>
        </p:txBody>
      </p:sp>
      <p:sp>
        <p:nvSpPr>
          <p:cNvPr id="14" name="Text 11"/>
          <p:cNvSpPr/>
          <p:nvPr/>
        </p:nvSpPr>
        <p:spPr>
          <a:xfrm>
            <a:off x="82296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engineers on the team</a:t>
            </a:r>
            <a:endParaRPr lang="en-US" sz="1050" dirty="0"/>
          </a:p>
        </p:txBody>
      </p:sp>
      <p:sp>
        <p:nvSpPr>
          <p:cNvPr id="15" name="Text 12"/>
          <p:cNvSpPr/>
          <p:nvPr/>
        </p:nvSpPr>
        <p:spPr>
          <a:xfrm>
            <a:off x="3611880" y="5212080"/>
            <a:ext cx="2651760" cy="457200"/>
          </a:xfrm>
          <a:prstGeom prst="rect">
            <a:avLst/>
          </a:prstGeom>
          <a:noFill/>
          <a:ln/>
        </p:spPr>
        <p:txBody>
          <a:bodyPr wrap="square" lIns="0" tIns="0" rIns="0" bIns="0" rtlCol="0" anchor="ctr"/>
          <a:lstStyle/>
          <a:p>
            <a:pPr indent="0" marL="0">
              <a:buNone/>
            </a:pPr>
            <a:r>
              <a:rPr lang="en-US" sz="2800" b="1" dirty="0">
                <a:solidFill>
                  <a:srgbClr val="007BCB"/>
                </a:solidFill>
                <a:latin typeface="Garamond" pitchFamily="34" charset="0"/>
                <a:ea typeface="Garamond" pitchFamily="34" charset="-122"/>
                <a:cs typeface="Garamond" pitchFamily="34" charset="-120"/>
              </a:rPr>
              <a:t>$45M</a:t>
            </a:r>
            <a:endParaRPr lang="en-US" sz="2800" dirty="0"/>
          </a:p>
        </p:txBody>
      </p:sp>
      <p:sp>
        <p:nvSpPr>
          <p:cNvPr id="16" name="Text 13"/>
          <p:cNvSpPr/>
          <p:nvPr/>
        </p:nvSpPr>
        <p:spPr>
          <a:xfrm>
            <a:off x="3611880" y="5669280"/>
            <a:ext cx="2560320" cy="502920"/>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delivered in contracts</a:t>
            </a:r>
            <a:endParaRPr lang="en-US" sz="1050" dirty="0"/>
          </a:p>
        </p:txBody>
      </p:sp>
      <p:pic>
        <p:nvPicPr>
          <p:cNvPr id="17" name="Image 1" descr="assets/s2_hero.jpg">    </p:cNvPr>
          <p:cNvPicPr>
            <a:picLocks noChangeAspect="1"/>
          </p:cNvPicPr>
          <p:nvPr/>
        </p:nvPicPr>
        <p:blipFill>
          <a:blip r:embed="rId2"/>
          <a:stretch>
            <a:fillRect/>
          </a:stretch>
        </p:blipFill>
        <p:spPr>
          <a:xfrm>
            <a:off x="6537960" y="1463040"/>
            <a:ext cx="4828032" cy="3602736"/>
          </a:xfrm>
          <a:prstGeom prst="rect">
            <a:avLst/>
          </a:prstGeom>
        </p:spPr>
      </p:pic>
      <p:sp>
        <p:nvSpPr>
          <p:cNvPr id="18" name="Shape 14"/>
          <p:cNvSpPr/>
          <p:nvPr/>
        </p:nvSpPr>
        <p:spPr>
          <a:xfrm>
            <a:off x="6537960" y="1463040"/>
            <a:ext cx="4828032" cy="3602736"/>
          </a:xfrm>
          <a:prstGeom prst="rect">
            <a:avLst/>
          </a:prstGeom>
          <a:ln w="12700">
            <a:solidFill>
              <a:srgbClr val="C6D2DA"/>
            </a:solidFill>
            <a:prstDash val="solid"/>
          </a:ln>
        </p:spPr>
        <p:txBody>
          <a:bodyPr/>
          <a:p/>
        </p:txBody>
      </p:sp>
      <p:sp>
        <p:nvSpPr>
          <p:cNvPr id="19" name="Text 15"/>
          <p:cNvSpPr/>
          <p:nvPr/>
        </p:nvSpPr>
        <p:spPr>
          <a:xfrm>
            <a:off x="6537960" y="5138928"/>
            <a:ext cx="482803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with Heliospace built REASON radar antennas deployed. Image credit: NASA.</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CAPABILITIES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What We Do</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3</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Five product and revenue areas supported by a single Berkeley facility and quality system, from initial design through on orbit operations.</a:t>
            </a:r>
            <a:endParaRPr lang="en-US" sz="1300" dirty="0"/>
          </a:p>
        </p:txBody>
      </p:sp>
      <p:sp>
        <p:nvSpPr>
          <p:cNvPr id="8" name="Shape 4"/>
          <p:cNvSpPr/>
          <p:nvPr/>
        </p:nvSpPr>
        <p:spPr>
          <a:xfrm>
            <a:off x="822960" y="1874519"/>
            <a:ext cx="3392424" cy="2057400"/>
          </a:xfrm>
          <a:prstGeom prst="roundRect">
            <a:avLst>
              <a:gd name="adj" fmla="val 1724"/>
            </a:avLst>
          </a:prstGeom>
          <a:solidFill>
            <a:srgbClr val="F3F7FA"/>
          </a:solidFill>
          <a:ln/>
        </p:spPr>
        <p:txBody>
          <a:bodyPr/>
          <a:p/>
        </p:txBody>
      </p:sp>
      <p:sp>
        <p:nvSpPr>
          <p:cNvPr id="9" name="Text 12"/>
          <p:cNvSpPr/>
          <p:nvPr/>
        </p:nvSpPr>
        <p:spPr>
          <a:xfrm>
            <a:off x="987552"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Qualified Hardware</a:t>
            </a:r>
            <a:endParaRPr lang="en-US" sz="1550" dirty="0"/>
          </a:p>
        </p:txBody>
      </p:sp>
      <p:sp>
        <p:nvSpPr>
          <p:cNvPr id="10" name="Text 13"/>
          <p:cNvSpPr/>
          <p:nvPr/>
        </p:nvSpPr>
        <p:spPr>
          <a:xfrm>
            <a:off x="987552"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Sensors and scientific instruments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Mechanical systems and structures for spacecraft</a:t>
            </a:r>
            <a:endParaRPr lang="en-US" sz="1100" dirty="0"/>
          </a:p>
        </p:txBody>
      </p:sp>
      <p:sp>
        <p:nvSpPr>
          <p:cNvPr id="11" name="Shape 4"/>
          <p:cNvSpPr/>
          <p:nvPr/>
        </p:nvSpPr>
        <p:spPr>
          <a:xfrm>
            <a:off x="4398264" y="1874519"/>
            <a:ext cx="3392424" cy="2057400"/>
          </a:xfrm>
          <a:prstGeom prst="roundRect">
            <a:avLst>
              <a:gd name="adj" fmla="val 1724"/>
            </a:avLst>
          </a:prstGeom>
          <a:solidFill>
            <a:srgbClr val="F3F7FA"/>
          </a:solidFill>
          <a:ln/>
        </p:spPr>
        <p:txBody>
          <a:bodyPr/>
          <a:p/>
        </p:txBody>
      </p:sp>
      <p:sp>
        <p:nvSpPr>
          <p:cNvPr id="12" name="Text 12"/>
          <p:cNvSpPr/>
          <p:nvPr/>
        </p:nvSpPr>
        <p:spPr>
          <a:xfrm>
            <a:off x="4562856"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Mission Systems and Engineering Services</a:t>
            </a:r>
            <a:endParaRPr lang="en-US" sz="1550" dirty="0"/>
          </a:p>
        </p:txBody>
      </p:sp>
      <p:sp>
        <p:nvSpPr>
          <p:cNvPr id="13" name="Text 13"/>
          <p:cNvSpPr/>
          <p:nvPr/>
        </p:nvSpPr>
        <p:spPr>
          <a:xfrm>
            <a:off x="4562856"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Spacecraft system design</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Integration and testing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Engineering support for government and commercial space missions</a:t>
            </a:r>
            <a:endParaRPr lang="en-US" sz="1100" dirty="0"/>
          </a:p>
        </p:txBody>
      </p:sp>
      <p:sp>
        <p:nvSpPr>
          <p:cNvPr id="14" name="Shape 4"/>
          <p:cNvSpPr/>
          <p:nvPr/>
        </p:nvSpPr>
        <p:spPr>
          <a:xfrm>
            <a:off x="7973568" y="1874519"/>
            <a:ext cx="3392424" cy="2057400"/>
          </a:xfrm>
          <a:prstGeom prst="roundRect">
            <a:avLst>
              <a:gd name="adj" fmla="val 1724"/>
            </a:avLst>
          </a:prstGeom>
          <a:solidFill>
            <a:srgbClr val="F3F7FA"/>
          </a:solidFill>
          <a:ln/>
        </p:spPr>
        <p:txBody>
          <a:bodyPr/>
          <a:p/>
        </p:txBody>
      </p:sp>
      <p:sp>
        <p:nvSpPr>
          <p:cNvPr id="15" name="Text 12"/>
          <p:cNvSpPr/>
          <p:nvPr/>
        </p:nvSpPr>
        <p:spPr>
          <a:xfrm>
            <a:off x="8138160" y="2020823"/>
            <a:ext cx="306324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Deployable Space Systems</a:t>
            </a:r>
            <a:endParaRPr lang="en-US" sz="1550" dirty="0"/>
          </a:p>
        </p:txBody>
      </p:sp>
      <p:sp>
        <p:nvSpPr>
          <p:cNvPr id="16" name="Text 13"/>
          <p:cNvSpPr/>
          <p:nvPr/>
        </p:nvSpPr>
        <p:spPr>
          <a:xfrm>
            <a:off x="8138160" y="2660903"/>
            <a:ext cx="306324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Large deployable antennas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Solar arrays and other expandable structures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Components for satellites, lunar missions, and deep space missions</a:t>
            </a:r>
            <a:endParaRPr lang="en-US" sz="1100" dirty="0"/>
          </a:p>
        </p:txBody>
      </p:sp>
      <p:sp>
        <p:nvSpPr>
          <p:cNvPr id="17" name="Shape 4"/>
          <p:cNvSpPr/>
          <p:nvPr/>
        </p:nvSpPr>
        <p:spPr>
          <a:xfrm>
            <a:off x="822960" y="4114800"/>
            <a:ext cx="5175504" cy="2057400"/>
          </a:xfrm>
          <a:prstGeom prst="roundRect">
            <a:avLst>
              <a:gd name="adj" fmla="val 1724"/>
            </a:avLst>
          </a:prstGeom>
          <a:solidFill>
            <a:srgbClr val="F3F7FA"/>
          </a:solidFill>
          <a:ln/>
        </p:spPr>
        <p:txBody>
          <a:bodyPr/>
          <a:p/>
        </p:txBody>
      </p:sp>
      <p:sp>
        <p:nvSpPr>
          <p:cNvPr id="18" name="Text 12"/>
          <p:cNvSpPr/>
          <p:nvPr/>
        </p:nvSpPr>
        <p:spPr>
          <a:xfrm>
            <a:off x="987552"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Space Based Solar Power Technology</a:t>
            </a:r>
            <a:endParaRPr lang="en-US" sz="1550" dirty="0"/>
          </a:p>
        </p:txBody>
      </p:sp>
      <p:sp>
        <p:nvSpPr>
          <p:cNvPr id="19" name="Text 13"/>
          <p:cNvSpPr/>
          <p:nvPr/>
        </p:nvSpPr>
        <p:spPr>
          <a:xfrm>
            <a:off x="987552"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Orbital solar power platforms, power plants in space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Wireless energy transmission designed to beam solar energy from orbit to Earth</a:t>
            </a:r>
            <a:endParaRPr lang="en-US" sz="1100" dirty="0"/>
          </a:p>
        </p:txBody>
      </p:sp>
      <p:sp>
        <p:nvSpPr>
          <p:cNvPr id="20" name="Shape 4"/>
          <p:cNvSpPr/>
          <p:nvPr/>
        </p:nvSpPr>
        <p:spPr>
          <a:xfrm>
            <a:off x="6190488" y="4114800"/>
            <a:ext cx="5175504" cy="2057400"/>
          </a:xfrm>
          <a:prstGeom prst="roundRect">
            <a:avLst>
              <a:gd name="adj" fmla="val 1724"/>
            </a:avLst>
          </a:prstGeom>
          <a:solidFill>
            <a:srgbClr val="F3F7FA"/>
          </a:solidFill>
          <a:ln/>
        </p:spPr>
        <p:txBody>
          <a:bodyPr/>
          <a:p/>
        </p:txBody>
      </p:sp>
      <p:sp>
        <p:nvSpPr>
          <p:cNvPr id="21" name="Text 12"/>
          <p:cNvSpPr/>
          <p:nvPr/>
        </p:nvSpPr>
        <p:spPr>
          <a:xfrm>
            <a:off x="6355080" y="4261104"/>
            <a:ext cx="4846320" cy="56692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Future Manufacturing and Licensing</a:t>
            </a:r>
            <a:endParaRPr lang="en-US" sz="1550" dirty="0"/>
          </a:p>
        </p:txBody>
      </p:sp>
      <p:sp>
        <p:nvSpPr>
          <p:cNvPr id="22" name="Text 13"/>
          <p:cNvSpPr/>
          <p:nvPr/>
        </p:nvSpPr>
        <p:spPr>
          <a:xfrm>
            <a:off x="6355080" y="4901184"/>
            <a:ext cx="4846320" cy="11430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Mass production of space qualified hardware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Licensing of proprietary space technologies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FLIGHT HERITAGE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At Jupiter, the Sun, and the Moon</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4</a:t>
            </a:r>
            <a:endParaRPr lang="en-US" sz="850" dirty="0"/>
          </a:p>
        </p:txBody>
      </p:sp>
      <p:pic>
        <p:nvPicPr>
          <p:cNvPr id="7" name="Image 1" descr="assets/s4_europa.jpg">    </p:cNvPr>
          <p:cNvPicPr>
            <a:picLocks noChangeAspect="1"/>
          </p:cNvPicPr>
          <p:nvPr/>
        </p:nvPicPr>
        <p:blipFill>
          <a:blip r:embed="rId2"/>
          <a:stretch>
            <a:fillRect/>
          </a:stretch>
        </p:blipFill>
        <p:spPr>
          <a:xfrm>
            <a:off x="822960" y="1417320"/>
            <a:ext cx="3419856" cy="1764792"/>
          </a:xfrm>
          <a:prstGeom prst="rect">
            <a:avLst/>
          </a:prstGeom>
        </p:spPr>
      </p:pic>
      <p:sp>
        <p:nvSpPr>
          <p:cNvPr id="8" name="Shape 4"/>
          <p:cNvSpPr/>
          <p:nvPr/>
        </p:nvSpPr>
        <p:spPr>
          <a:xfrm>
            <a:off x="822960" y="1417320"/>
            <a:ext cx="3419856" cy="1764792"/>
          </a:xfrm>
          <a:prstGeom prst="rect">
            <a:avLst/>
          </a:prstGeom>
          <a:ln w="12700">
            <a:solidFill>
              <a:srgbClr val="C6D2DA"/>
            </a:solidFill>
            <a:prstDash val="solid"/>
          </a:ln>
        </p:spPr>
        <p:txBody>
          <a:bodyPr/>
          <a:p/>
        </p:txBody>
      </p:sp>
      <p:sp>
        <p:nvSpPr>
          <p:cNvPr id="9" name="Text 5"/>
          <p:cNvSpPr/>
          <p:nvPr/>
        </p:nvSpPr>
        <p:spPr>
          <a:xfrm>
            <a:off x="822960"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Europa Clipper, REASON (NASA/JPL)</a:t>
            </a:r>
            <a:endParaRPr lang="en-US" sz="1150" dirty="0"/>
          </a:p>
        </p:txBody>
      </p:sp>
      <p:sp>
        <p:nvSpPr>
          <p:cNvPr id="10" name="Text 6"/>
          <p:cNvSpPr/>
          <p:nvPr/>
        </p:nvSpPr>
        <p:spPr>
          <a:xfrm>
            <a:off x="822960"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Two 17.6 m radar dipoles, deployed and operating en route to Europa.</a:t>
            </a:r>
            <a:endParaRPr lang="en-US" sz="950" dirty="0"/>
          </a:p>
        </p:txBody>
      </p:sp>
      <p:pic>
        <p:nvPicPr>
          <p:cNvPr id="11" name="Image 2" descr="assets/s4_solo.jpg">    </p:cNvPr>
          <p:cNvPicPr>
            <a:picLocks noChangeAspect="1"/>
          </p:cNvPicPr>
          <p:nvPr/>
        </p:nvPicPr>
        <p:blipFill>
          <a:blip r:embed="rId3"/>
          <a:stretch>
            <a:fillRect/>
          </a:stretch>
        </p:blipFill>
        <p:spPr>
          <a:xfrm>
            <a:off x="4370832" y="1417320"/>
            <a:ext cx="3419856" cy="1764792"/>
          </a:xfrm>
          <a:prstGeom prst="rect">
            <a:avLst/>
          </a:prstGeom>
        </p:spPr>
      </p:pic>
      <p:sp>
        <p:nvSpPr>
          <p:cNvPr id="12" name="Shape 7"/>
          <p:cNvSpPr/>
          <p:nvPr/>
        </p:nvSpPr>
        <p:spPr>
          <a:xfrm>
            <a:off x="4370832" y="1417320"/>
            <a:ext cx="3419856" cy="1764792"/>
          </a:xfrm>
          <a:prstGeom prst="rect">
            <a:avLst/>
          </a:prstGeom>
          <a:ln w="12700">
            <a:solidFill>
              <a:srgbClr val="C6D2DA"/>
            </a:solidFill>
            <a:prstDash val="solid"/>
          </a:ln>
        </p:spPr>
        <p:txBody>
          <a:bodyPr/>
          <a:p/>
        </p:txBody>
      </p:sp>
      <p:sp>
        <p:nvSpPr>
          <p:cNvPr id="13" name="Text 8"/>
          <p:cNvSpPr/>
          <p:nvPr/>
        </p:nvSpPr>
        <p:spPr>
          <a:xfrm>
            <a:off x="4370832"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Solar Orbiter, RPW (ESA)</a:t>
            </a:r>
            <a:endParaRPr lang="en-US" sz="1150" dirty="0"/>
          </a:p>
        </p:txBody>
      </p:sp>
      <p:sp>
        <p:nvSpPr>
          <p:cNvPr id="14" name="Text 9"/>
          <p:cNvSpPr/>
          <p:nvPr/>
        </p:nvSpPr>
        <p:spPr>
          <a:xfrm>
            <a:off x="4370832"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Three 6.5 m antennas performing nominally near the Sun.</a:t>
            </a:r>
            <a:endParaRPr lang="en-US" sz="950" dirty="0"/>
          </a:p>
        </p:txBody>
      </p:sp>
      <p:pic>
        <p:nvPicPr>
          <p:cNvPr id="15" name="Image 3" descr="assets/s4_sunrise.jpg">    </p:cNvPr>
          <p:cNvPicPr>
            <a:picLocks noChangeAspect="1"/>
          </p:cNvPicPr>
          <p:nvPr/>
        </p:nvPicPr>
        <p:blipFill>
          <a:blip r:embed="rId4"/>
          <a:stretch>
            <a:fillRect/>
          </a:stretch>
        </p:blipFill>
        <p:spPr>
          <a:xfrm>
            <a:off x="7918704" y="1417320"/>
            <a:ext cx="3419856" cy="1764792"/>
          </a:xfrm>
          <a:prstGeom prst="rect">
            <a:avLst/>
          </a:prstGeom>
        </p:spPr>
      </p:pic>
      <p:sp>
        <p:nvSpPr>
          <p:cNvPr id="16" name="Shape 10"/>
          <p:cNvSpPr/>
          <p:nvPr/>
        </p:nvSpPr>
        <p:spPr>
          <a:xfrm>
            <a:off x="7918704" y="1417320"/>
            <a:ext cx="3419856" cy="1764792"/>
          </a:xfrm>
          <a:prstGeom prst="rect">
            <a:avLst/>
          </a:prstGeom>
          <a:ln w="12700">
            <a:solidFill>
              <a:srgbClr val="C6D2DA"/>
            </a:solidFill>
            <a:prstDash val="solid"/>
          </a:ln>
        </p:spPr>
        <p:txBody>
          <a:bodyPr/>
          <a:p/>
        </p:txBody>
      </p:sp>
      <p:sp>
        <p:nvSpPr>
          <p:cNvPr id="17" name="Text 11"/>
          <p:cNvSpPr/>
          <p:nvPr/>
        </p:nvSpPr>
        <p:spPr>
          <a:xfrm>
            <a:off x="7918704" y="3246120"/>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SunRISE (NASA/JPL)</a:t>
            </a:r>
            <a:endParaRPr lang="en-US" sz="1150" dirty="0"/>
          </a:p>
        </p:txBody>
      </p:sp>
      <p:sp>
        <p:nvSpPr>
          <p:cNvPr id="18" name="Text 12"/>
          <p:cNvSpPr/>
          <p:nvPr/>
        </p:nvSpPr>
        <p:spPr>
          <a:xfrm>
            <a:off x="7918704" y="3474720"/>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28 CubeSat compatible monopoles delivered at production volume.</a:t>
            </a:r>
            <a:endParaRPr lang="en-US" sz="950" dirty="0"/>
          </a:p>
        </p:txBody>
      </p:sp>
      <p:pic>
        <p:nvPicPr>
          <p:cNvPr id="19" name="Image 4" descr="assets/s4_jwst.jpg">    </p:cNvPr>
          <p:cNvPicPr>
            <a:picLocks noChangeAspect="1"/>
          </p:cNvPicPr>
          <p:nvPr/>
        </p:nvPicPr>
        <p:blipFill>
          <a:blip r:embed="rId5"/>
          <a:stretch>
            <a:fillRect/>
          </a:stretch>
        </p:blipFill>
        <p:spPr>
          <a:xfrm>
            <a:off x="822960" y="3941064"/>
            <a:ext cx="3419856" cy="1764792"/>
          </a:xfrm>
          <a:prstGeom prst="rect">
            <a:avLst/>
          </a:prstGeom>
        </p:spPr>
      </p:pic>
      <p:sp>
        <p:nvSpPr>
          <p:cNvPr id="20" name="Shape 13"/>
          <p:cNvSpPr/>
          <p:nvPr/>
        </p:nvSpPr>
        <p:spPr>
          <a:xfrm>
            <a:off x="822960" y="3941064"/>
            <a:ext cx="3419856" cy="1764792"/>
          </a:xfrm>
          <a:prstGeom prst="rect">
            <a:avLst/>
          </a:prstGeom>
          <a:ln w="12700">
            <a:solidFill>
              <a:srgbClr val="C6D2DA"/>
            </a:solidFill>
            <a:prstDash val="solid"/>
          </a:ln>
        </p:spPr>
        <p:txBody>
          <a:bodyPr/>
          <a:p/>
        </p:txBody>
      </p:sp>
      <p:sp>
        <p:nvSpPr>
          <p:cNvPr id="21" name="Text 14"/>
          <p:cNvSpPr/>
          <p:nvPr/>
        </p:nvSpPr>
        <p:spPr>
          <a:xfrm>
            <a:off x="822960"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James Webb Space Telescope</a:t>
            </a:r>
            <a:endParaRPr lang="en-US" sz="1150" dirty="0"/>
          </a:p>
        </p:txBody>
      </p:sp>
      <p:sp>
        <p:nvSpPr>
          <p:cNvPr id="22" name="Text 15"/>
          <p:cNvSpPr/>
          <p:nvPr/>
        </p:nvSpPr>
        <p:spPr>
          <a:xfrm>
            <a:off x="822960"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Systems engineering, integration, and test support through commissioning.</a:t>
            </a:r>
            <a:endParaRPr lang="en-US" sz="950" dirty="0"/>
          </a:p>
        </p:txBody>
      </p:sp>
      <p:pic>
        <p:nvPicPr>
          <p:cNvPr id="23" name="Image 5" descr="assets/s4_bg1.jpg">    </p:cNvPr>
          <p:cNvPicPr>
            <a:picLocks noChangeAspect="1"/>
          </p:cNvPicPr>
          <p:nvPr/>
        </p:nvPicPr>
        <p:blipFill>
          <a:blip r:embed="rId6"/>
          <a:stretch>
            <a:fillRect/>
          </a:stretch>
        </p:blipFill>
        <p:spPr>
          <a:xfrm>
            <a:off x="4370832" y="3941064"/>
            <a:ext cx="3419856" cy="1764792"/>
          </a:xfrm>
          <a:prstGeom prst="rect">
            <a:avLst/>
          </a:prstGeom>
        </p:spPr>
      </p:pic>
      <p:sp>
        <p:nvSpPr>
          <p:cNvPr id="24" name="Shape 16"/>
          <p:cNvSpPr/>
          <p:nvPr/>
        </p:nvSpPr>
        <p:spPr>
          <a:xfrm>
            <a:off x="4370832" y="3941064"/>
            <a:ext cx="3419856" cy="1764792"/>
          </a:xfrm>
          <a:prstGeom prst="rect">
            <a:avLst/>
          </a:prstGeom>
          <a:ln w="12700">
            <a:solidFill>
              <a:srgbClr val="C6D2DA"/>
            </a:solidFill>
            <a:prstDash val="solid"/>
          </a:ln>
        </p:spPr>
        <p:txBody>
          <a:bodyPr/>
          <a:p/>
        </p:txBody>
      </p:sp>
      <p:sp>
        <p:nvSpPr>
          <p:cNvPr id="25" name="Text 17"/>
          <p:cNvSpPr/>
          <p:nvPr/>
        </p:nvSpPr>
        <p:spPr>
          <a:xfrm>
            <a:off x="4370832"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Blue Ghost Mission 1 (Firefly / SwRI)</a:t>
            </a:r>
            <a:endParaRPr lang="en-US" sz="1150" dirty="0"/>
          </a:p>
        </p:txBody>
      </p:sp>
      <p:sp>
        <p:nvSpPr>
          <p:cNvPr id="26" name="Text 18"/>
          <p:cNvSpPr/>
          <p:nvPr/>
        </p:nvSpPr>
        <p:spPr>
          <a:xfrm>
            <a:off x="4370832"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LMS lunar science payload delivered under the NASA CLPS program.</a:t>
            </a:r>
            <a:endParaRPr lang="en-US" sz="950" dirty="0"/>
          </a:p>
        </p:txBody>
      </p:sp>
      <p:pic>
        <p:nvPicPr>
          <p:cNvPr id="27" name="Image 6" descr="assets/s4_im1.jpg">    </p:cNvPr>
          <p:cNvPicPr>
            <a:picLocks noChangeAspect="1"/>
          </p:cNvPicPr>
          <p:nvPr/>
        </p:nvPicPr>
        <p:blipFill>
          <a:blip r:embed="rId7"/>
          <a:stretch>
            <a:fillRect/>
          </a:stretch>
        </p:blipFill>
        <p:spPr>
          <a:xfrm>
            <a:off x="7918704" y="3941064"/>
            <a:ext cx="3419856" cy="1764792"/>
          </a:xfrm>
          <a:prstGeom prst="rect">
            <a:avLst/>
          </a:prstGeom>
        </p:spPr>
      </p:pic>
      <p:sp>
        <p:nvSpPr>
          <p:cNvPr id="28" name="Shape 19"/>
          <p:cNvSpPr/>
          <p:nvPr/>
        </p:nvSpPr>
        <p:spPr>
          <a:xfrm>
            <a:off x="7918704" y="3941064"/>
            <a:ext cx="3419856" cy="1764792"/>
          </a:xfrm>
          <a:prstGeom prst="rect">
            <a:avLst/>
          </a:prstGeom>
          <a:ln w="12700">
            <a:solidFill>
              <a:srgbClr val="C6D2DA"/>
            </a:solidFill>
            <a:prstDash val="solid"/>
          </a:ln>
        </p:spPr>
        <p:txBody>
          <a:bodyPr/>
          <a:p/>
        </p:txBody>
      </p:sp>
      <p:sp>
        <p:nvSpPr>
          <p:cNvPr id="29" name="Text 20"/>
          <p:cNvSpPr/>
          <p:nvPr/>
        </p:nvSpPr>
        <p:spPr>
          <a:xfrm>
            <a:off x="7918704" y="5769864"/>
            <a:ext cx="3419856" cy="219456"/>
          </a:xfrm>
          <a:prstGeom prst="rect">
            <a:avLst/>
          </a:prstGeom>
          <a:noFill/>
          <a:ln/>
        </p:spPr>
        <p:txBody>
          <a:bodyPr wrap="square" lIns="0" tIns="0" rIns="0" bIns="0" rtlCol="0" anchor="ctr"/>
          <a:lstStyle/>
          <a:p>
            <a:pPr indent="0" marL="0">
              <a:buNone/>
            </a:pPr>
            <a:r>
              <a:rPr lang="en-US" sz="1150" b="1" dirty="0">
                <a:solidFill>
                  <a:srgbClr val="10222F"/>
                </a:solidFill>
                <a:latin typeface="Garamond" pitchFamily="34" charset="0"/>
                <a:ea typeface="Garamond" pitchFamily="34" charset="-122"/>
                <a:cs typeface="Garamond" pitchFamily="34" charset="-120"/>
              </a:rPr>
              <a:t>IM-1 (Intuitive Machines / NASA)</a:t>
            </a:r>
            <a:endParaRPr lang="en-US" sz="1150" dirty="0"/>
          </a:p>
        </p:txBody>
      </p:sp>
      <p:sp>
        <p:nvSpPr>
          <p:cNvPr id="30" name="Text 21"/>
          <p:cNvSpPr/>
          <p:nvPr/>
        </p:nvSpPr>
        <p:spPr>
          <a:xfrm>
            <a:off x="7918704" y="5998464"/>
            <a:ext cx="3419856" cy="411480"/>
          </a:xfrm>
          <a:prstGeom prst="rect">
            <a:avLst/>
          </a:prstGeom>
          <a:noFill/>
          <a:ln/>
        </p:spPr>
        <p:txBody>
          <a:bodyPr wrap="square" lIns="0" tIns="0" rIns="0" bIns="0" rtlCol="0" anchor="t"/>
          <a:lstStyle/>
          <a:p>
            <a:pPr indent="0" marL="0">
              <a:buNone/>
            </a:pPr>
            <a:r>
              <a:rPr lang="en-US" sz="950" dirty="0">
                <a:solidFill>
                  <a:srgbClr val="5C6B76"/>
                </a:solidFill>
                <a:latin typeface="Garamond" pitchFamily="34" charset="0"/>
                <a:ea typeface="Garamond" pitchFamily="34" charset="-122"/>
                <a:cs typeface="Garamond" pitchFamily="34" charset="-120"/>
              </a:rPr>
              <a:t>ROLSES antennas flown on the first commercial US lunar landing.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The SABER Deployable Boom Product Line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Mission unique heritage, productized: standardized mechanisms with published interfaces, short lead times, and configurations from monopole to dipole to custom geometries.</a:t>
            </a:r>
            <a:endParaRPr lang="en-US" sz="1300" dirty="0"/>
          </a:p>
        </p:txBody>
      </p:sp>
      <p:sp>
        <p:nvSpPr>
          <p:cNvPr id="8" name="Shape 5"/>
          <p:cNvSpPr/>
          <p:nvPr/>
        </p:nvSpPr>
        <p:spPr>
          <a:xfrm>
            <a:off x="822960" y="1828800"/>
            <a:ext cx="5175504" cy="2788920"/>
          </a:xfrm>
          <a:prstGeom prst="roundRect">
            <a:avLst>
              <a:gd name="adj" fmla="val 1639"/>
            </a:avLst>
          </a:prstGeom>
          <a:solidFill>
            <a:srgbClr val="F3F7FA"/>
          </a:solidFill>
          <a:ln/>
        </p:spPr>
        <p:txBody>
          <a:bodyPr/>
          <a:p/>
        </p:txBody>
      </p:sp>
      <p:sp>
        <p:nvSpPr>
          <p:cNvPr id="9" name="Text 6"/>
          <p:cNvSpPr/>
          <p:nvPr/>
        </p:nvSpPr>
        <p:spPr>
          <a:xfrm>
            <a:off x="987552"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SB1</a:t>
            </a:r>
            <a:endParaRPr lang="en-US" sz="1650" dirty="0"/>
          </a:p>
        </p:txBody>
      </p:sp>
      <p:pic>
        <p:nvPicPr>
          <p:cNvPr id="10" name="Image 1" descr="assets/s5_sb1.jpg">    </p:cNvPr>
          <p:cNvPicPr>
            <a:picLocks noChangeAspect="1"/>
          </p:cNvPicPr>
          <p:nvPr/>
        </p:nvPicPr>
        <p:blipFill>
          <a:blip r:embed="rId2"/>
          <a:stretch>
            <a:fillRect/>
          </a:stretch>
        </p:blipFill>
        <p:spPr>
          <a:xfrm>
            <a:off x="960120" y="2377440"/>
            <a:ext cx="2377440" cy="1700784"/>
          </a:xfrm>
          <a:prstGeom prst="rect">
            <a:avLst/>
          </a:prstGeom>
        </p:spPr>
      </p:pic>
      <p:sp>
        <p:nvSpPr>
          <p:cNvPr id="11" name="Shape 7"/>
          <p:cNvSpPr/>
          <p:nvPr/>
        </p:nvSpPr>
        <p:spPr>
          <a:xfrm>
            <a:off x="960120" y="2377440"/>
            <a:ext cx="2377440" cy="1700784"/>
          </a:xfrm>
          <a:prstGeom prst="rect">
            <a:avLst/>
          </a:prstGeom>
          <a:ln w="12700">
            <a:solidFill>
              <a:srgbClr val="C6D2DA"/>
            </a:solidFill>
            <a:prstDash val="solid"/>
          </a:ln>
        </p:spPr>
        <p:txBody>
          <a:bodyPr/>
          <a:p/>
        </p:txBody>
      </p:sp>
      <p:sp>
        <p:nvSpPr>
          <p:cNvPr id="12" name="Text 8"/>
          <p:cNvSpPr/>
          <p:nvPr/>
        </p:nvSpPr>
        <p:spPr>
          <a:xfrm>
            <a:off x="3520440"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10.0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30:1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3.5 to 5.0 kg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MAVEN, Solar Orbiter, and Europa Clipper heritage</a:t>
            </a:r>
            <a:endParaRPr lang="en-US" sz="1100" dirty="0"/>
          </a:p>
        </p:txBody>
      </p:sp>
      <p:sp>
        <p:nvSpPr>
          <p:cNvPr id="13" name="Text 9"/>
          <p:cNvSpPr/>
          <p:nvPr/>
        </p:nvSpPr>
        <p:spPr>
          <a:xfrm>
            <a:off x="960120"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flight mechanisms</a:t>
            </a:r>
            <a:endParaRPr lang="en-US" sz="950" dirty="0"/>
          </a:p>
        </p:txBody>
      </p:sp>
      <p:sp>
        <p:nvSpPr>
          <p:cNvPr id="14" name="Shape 10"/>
          <p:cNvSpPr/>
          <p:nvPr/>
        </p:nvSpPr>
        <p:spPr>
          <a:xfrm>
            <a:off x="6190488" y="1828800"/>
            <a:ext cx="5175504" cy="2788920"/>
          </a:xfrm>
          <a:prstGeom prst="roundRect">
            <a:avLst>
              <a:gd name="adj" fmla="val 1639"/>
            </a:avLst>
          </a:prstGeom>
          <a:solidFill>
            <a:srgbClr val="F3F7FA"/>
          </a:solidFill>
          <a:ln/>
        </p:spPr>
        <p:txBody>
          <a:bodyPr/>
          <a:p/>
        </p:txBody>
      </p:sp>
      <p:sp>
        <p:nvSpPr>
          <p:cNvPr id="15" name="Text 11"/>
          <p:cNvSpPr/>
          <p:nvPr/>
        </p:nvSpPr>
        <p:spPr>
          <a:xfrm>
            <a:off x="6355080" y="1956816"/>
            <a:ext cx="2743200" cy="320040"/>
          </a:xfrm>
          <a:prstGeom prst="rect">
            <a:avLst/>
          </a:prstGeom>
          <a:noFill/>
          <a:ln/>
        </p:spPr>
        <p:txBody>
          <a:bodyPr wrap="square" lIns="0" tIns="0" rIns="0" bIns="0" rtlCol="0" anchor="ctr"/>
          <a:lstStyle/>
          <a:p>
            <a:pPr indent="0" marL="0">
              <a:buNone/>
            </a:pPr>
            <a:r>
              <a:rPr lang="en-US" sz="1650" b="1" dirty="0">
                <a:solidFill>
                  <a:srgbClr val="10222F"/>
                </a:solidFill>
                <a:latin typeface="Garamond" pitchFamily="34" charset="0"/>
                <a:ea typeface="Garamond" pitchFamily="34" charset="-122"/>
                <a:cs typeface="Garamond" pitchFamily="34" charset="-120"/>
              </a:rPr>
              <a:t>Model SB2</a:t>
            </a:r>
            <a:endParaRPr lang="en-US" sz="1650" dirty="0"/>
          </a:p>
        </p:txBody>
      </p:sp>
      <p:pic>
        <p:nvPicPr>
          <p:cNvPr id="16" name="Image 2" descr="assets/s5_sb2.jpg">    </p:cNvPr>
          <p:cNvPicPr>
            <a:picLocks noChangeAspect="1"/>
          </p:cNvPicPr>
          <p:nvPr/>
        </p:nvPicPr>
        <p:blipFill>
          <a:blip r:embed="rId3"/>
          <a:stretch>
            <a:fillRect/>
          </a:stretch>
        </p:blipFill>
        <p:spPr>
          <a:xfrm>
            <a:off x="6327648" y="2377440"/>
            <a:ext cx="2377440" cy="1700784"/>
          </a:xfrm>
          <a:prstGeom prst="rect">
            <a:avLst/>
          </a:prstGeom>
        </p:spPr>
      </p:pic>
      <p:sp>
        <p:nvSpPr>
          <p:cNvPr id="17" name="Shape 12"/>
          <p:cNvSpPr/>
          <p:nvPr/>
        </p:nvSpPr>
        <p:spPr>
          <a:xfrm>
            <a:off x="6327648" y="2377440"/>
            <a:ext cx="2377440" cy="1700784"/>
          </a:xfrm>
          <a:prstGeom prst="rect">
            <a:avLst/>
          </a:prstGeom>
          <a:ln w="12700">
            <a:solidFill>
              <a:srgbClr val="C6D2DA"/>
            </a:solidFill>
            <a:prstDash val="solid"/>
          </a:ln>
        </p:spPr>
        <p:txBody>
          <a:bodyPr/>
          <a:p/>
        </p:txBody>
      </p:sp>
      <p:sp>
        <p:nvSpPr>
          <p:cNvPr id="18" name="Text 13"/>
          <p:cNvSpPr/>
          <p:nvPr/>
        </p:nvSpPr>
        <p:spPr>
          <a:xfrm>
            <a:off x="8887968" y="2395728"/>
            <a:ext cx="2377440" cy="2103120"/>
          </a:xfrm>
          <a:prstGeom prst="rect">
            <a:avLst/>
          </a:prstGeom>
          <a:noFill/>
          <a:ln/>
        </p:spPr>
        <p:txBody>
          <a:bodyPr wrap="square" lIns="0" tIns="0" rIns="0" bIns="0" rtlCol="0" anchor="t"/>
          <a:lstStyle/>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Deploys 1.0 m to 6.0 m</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Up to 50:1 stow ratio</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200 g class mass</a:t>
            </a:r>
            <a:endParaRPr lang="en-US" sz="1100" dirty="0"/>
          </a:p>
          <a:p>
            <a:pPr algn="l" marL="127000" indent="-127000">
              <a:spcAft>
                <a:spcPts val="800"/>
              </a:spcAft>
              <a:buSzPct val="100000"/>
              <a:buChar char="•"/>
            </a:pPr>
            <a:r>
              <a:rPr lang="en-US" sz="1100" dirty="0">
                <a:solidFill>
                  <a:srgbClr val="1E2A33"/>
                </a:solidFill>
                <a:latin typeface="Garamond" pitchFamily="34" charset="0"/>
                <a:ea typeface="Garamond" pitchFamily="34" charset="-122"/>
                <a:cs typeface="Garamond" pitchFamily="34" charset="-120"/>
              </a:rPr>
              <a:t>Rated -200 C to +200 C</a:t>
            </a:r>
            <a:endParaRPr lang="en-US" sz="1100" dirty="0"/>
          </a:p>
        </p:txBody>
      </p:sp>
      <p:sp>
        <p:nvSpPr>
          <p:cNvPr id="19" name="Text 14"/>
          <p:cNvSpPr/>
          <p:nvPr/>
        </p:nvSpPr>
        <p:spPr>
          <a:xfrm>
            <a:off x="6327648" y="4133088"/>
            <a:ext cx="246888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SB2 mechanism render</a:t>
            </a:r>
            <a:endParaRPr lang="en-US" sz="950" dirty="0"/>
          </a:p>
        </p:txBody>
      </p:sp>
      <p:pic>
        <p:nvPicPr>
          <p:cNvPr id="20" name="Image 3" descr="assets/s5_strip.jpg">    </p:cNvPr>
          <p:cNvPicPr>
            <a:picLocks noChangeAspect="1"/>
          </p:cNvPicPr>
          <p:nvPr/>
        </p:nvPicPr>
        <p:blipFill>
          <a:blip r:embed="rId4"/>
          <a:stretch>
            <a:fillRect/>
          </a:stretch>
        </p:blipFill>
        <p:spPr>
          <a:xfrm>
            <a:off x="822960" y="4828032"/>
            <a:ext cx="10543032" cy="1371600"/>
          </a:xfrm>
          <a:prstGeom prst="rect">
            <a:avLst/>
          </a:prstGeom>
        </p:spPr>
      </p:pic>
      <p:sp>
        <p:nvSpPr>
          <p:cNvPr id="21" name="Shape 15"/>
          <p:cNvSpPr/>
          <p:nvPr/>
        </p:nvSpPr>
        <p:spPr>
          <a:xfrm>
            <a:off x="822960" y="4828032"/>
            <a:ext cx="10543032" cy="1371600"/>
          </a:xfrm>
          <a:prstGeom prst="rect">
            <a:avLst/>
          </a:prstGeom>
          <a:ln w="12700">
            <a:solidFill>
              <a:srgbClr val="C6D2DA"/>
            </a:solidFill>
            <a:prstDash val="solid"/>
          </a:ln>
        </p:spPr>
        <p:txBody>
          <a:bodyPr/>
          <a:p/>
        </p:txBody>
      </p:sp>
      <p:sp>
        <p:nvSpPr>
          <p:cNvPr id="22" name="Text 16"/>
          <p:cNvSpPr/>
          <p:nvPr/>
        </p:nvSpPr>
        <p:spPr>
          <a:xfrm>
            <a:off x="822960" y="6236208"/>
            <a:ext cx="1042416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Europa Clipper REASON high frequency antenna configuration: 58 ft (17.6 m) tip to tip deployed length.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SB1: The Flight Proven Workhorse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6</a:t>
            </a:r>
            <a:endParaRPr lang="en-US" sz="850" dirty="0"/>
          </a:p>
        </p:txBody>
      </p:sp>
      <p:sp>
        <p:nvSpPr>
          <p:cNvPr id="7" name="Text 4"/>
          <p:cNvSpPr/>
          <p:nvPr/>
        </p:nvSpPr>
        <p:spPr>
          <a:xfrm>
            <a:off x="822960" y="1371600"/>
            <a:ext cx="5806440" cy="68580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low mass, compact, high reliability boom for antennas, sensors, and deployed hardware, with well controlled deployment to precise lengths of up to 10.0 m.</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2960" y="2148840"/>
          <a:ext cx="5806440" cy="914400"/>
        </p:xfrm>
        <a:graphic>
          <a:graphicData uri="http://schemas.openxmlformats.org/drawingml/2006/table">
            <a:tbl>
              <a:tblPr/>
              <a:tblGrid>
                <a:gridCol w="1965960"/>
                <a:gridCol w="3840480"/>
              </a:tblGrid>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Deployed length</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3.3 to 32.8 ft (1.0 to 10.0 m), selectable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Mass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7.7 lb (3.5 kg) at 4.0 m; 11.0 lb (5.0 kg) at 10.0 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Stowed envelope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4.2 x 5.3 x 13.6 in (11 x 13 x 35 cm)</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 power</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25 W (+28 V at 0.9 A) for 30 s, typical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Deployment control</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About 0.5 m/s; length precision of +/- 0.25 in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Thermal, post deploy</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-135 C to +120 C</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Structure</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Stowed first mode above 200 Hz</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429768">
                <a:tc>
                  <a:txBody>
                    <a:bodyPr/>
                    <a:lstStyle/>
                    <a:p>
                      <a:pPr indent="0" marL="0">
                        <a:buNone/>
                      </a:pPr>
                      <a:r>
                        <a:rPr lang="en-US" sz="1050" b="1" dirty="0">
                          <a:solidFill>
                            <a:srgbClr val="10222F"/>
                          </a:solidFill>
                          <a:latin typeface="Garamond" pitchFamily="34" charset="0"/>
                          <a:ea typeface="Garamond" pitchFamily="34" charset="-122"/>
                          <a:cs typeface="Garamond" pitchFamily="34" charset="-120"/>
                        </a:rPr>
                        <a:t>Random vibration</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1050" dirty="0">
                          <a:solidFill>
                            <a:srgbClr val="1E2A33"/>
                          </a:solidFill>
                          <a:latin typeface="Garamond" pitchFamily="34" charset="0"/>
                          <a:ea typeface="Garamond" pitchFamily="34" charset="-122"/>
                          <a:cs typeface="Garamond" pitchFamily="34" charset="-120"/>
                        </a:rPr>
                        <a:t>GSFC-STD-7000B protoflight levels</a:t>
                      </a:r>
                      <a:endParaRPr lang="en-US" sz="1050" dirty="0">
                        <a:latin typeface="Garamond" charset="0"/>
                        <a:ea typeface="Garamond" charset="0"/>
                        <a:cs typeface="Garamond" charset="0"/>
                      </a:endParaRPr>
                    </a:p>
                  </a:txBody>
                  <a:tcPr marL="54864" marR="54864" marT="54864" marB="54864"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pic>
        <p:nvPicPr>
          <p:cNvPr id="9" name="Image 1" descr="assets/s6_test.jpg">    </p:cNvPr>
          <p:cNvPicPr>
            <a:picLocks noChangeAspect="1"/>
          </p:cNvPicPr>
          <p:nvPr/>
        </p:nvPicPr>
        <p:blipFill>
          <a:blip r:embed="rId2"/>
          <a:stretch>
            <a:fillRect/>
          </a:stretch>
        </p:blipFill>
        <p:spPr>
          <a:xfrm>
            <a:off x="6995160" y="1417320"/>
            <a:ext cx="4114800" cy="2103120"/>
          </a:xfrm>
          <a:prstGeom prst="rect">
            <a:avLst/>
          </a:prstGeom>
        </p:spPr>
      </p:pic>
      <p:sp>
        <p:nvSpPr>
          <p:cNvPr id="10" name="Shape 5"/>
          <p:cNvSpPr/>
          <p:nvPr/>
        </p:nvSpPr>
        <p:spPr>
          <a:xfrm>
            <a:off x="6995160" y="1417320"/>
            <a:ext cx="4114800" cy="2103120"/>
          </a:xfrm>
          <a:prstGeom prst="rect">
            <a:avLst/>
          </a:prstGeom>
          <a:ln w="12700">
            <a:solidFill>
              <a:srgbClr val="C6D2DA"/>
            </a:solidFill>
            <a:prstDash val="solid"/>
          </a:ln>
        </p:spPr>
        <p:txBody>
          <a:bodyPr/>
          <a:p/>
        </p:txBody>
      </p:sp>
      <p:sp>
        <p:nvSpPr>
          <p:cNvPr id="11" name="Text 6"/>
          <p:cNvSpPr/>
          <p:nvPr/>
        </p:nvSpPr>
        <p:spPr>
          <a:xfrm>
            <a:off x="6995160" y="3547872"/>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Controlled deployment testing at the Berkeley facility.</a:t>
            </a:r>
            <a:endParaRPr lang="en-US" sz="950" dirty="0"/>
          </a:p>
        </p:txBody>
      </p:sp>
      <p:pic>
        <p:nvPicPr>
          <p:cNvPr id="12" name="Image 2" descr="assets/s6_array.jpg">    </p:cNvPr>
          <p:cNvPicPr>
            <a:picLocks noChangeAspect="1"/>
          </p:cNvPicPr>
          <p:nvPr/>
        </p:nvPicPr>
        <p:blipFill>
          <a:blip r:embed="rId3"/>
          <a:stretch>
            <a:fillRect/>
          </a:stretch>
        </p:blipFill>
        <p:spPr>
          <a:xfrm>
            <a:off x="6995160" y="3913632"/>
            <a:ext cx="4114800" cy="2103120"/>
          </a:xfrm>
          <a:prstGeom prst="rect">
            <a:avLst/>
          </a:prstGeom>
        </p:spPr>
      </p:pic>
      <p:sp>
        <p:nvSpPr>
          <p:cNvPr id="13" name="Shape 7"/>
          <p:cNvSpPr/>
          <p:nvPr/>
        </p:nvSpPr>
        <p:spPr>
          <a:xfrm>
            <a:off x="6995160" y="3913632"/>
            <a:ext cx="4114800" cy="2103120"/>
          </a:xfrm>
          <a:prstGeom prst="rect">
            <a:avLst/>
          </a:prstGeom>
          <a:ln w="12700">
            <a:solidFill>
              <a:srgbClr val="C6D2DA"/>
            </a:solidFill>
            <a:prstDash val="solid"/>
          </a:ln>
        </p:spPr>
        <p:txBody>
          <a:bodyPr/>
          <a:p/>
        </p:txBody>
      </p:sp>
      <p:sp>
        <p:nvSpPr>
          <p:cNvPr id="14" name="Text 8"/>
          <p:cNvSpPr/>
          <p:nvPr/>
        </p:nvSpPr>
        <p:spPr>
          <a:xfrm>
            <a:off x="6995160" y="6044184"/>
            <a:ext cx="41148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SB1 class mechanism integrated on a flight solar array.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 DETAIL</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Model SB2: SABER for Small Platforms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7</a:t>
            </a:r>
            <a:endParaRPr lang="en-US" sz="850" dirty="0"/>
          </a:p>
        </p:txBody>
      </p:sp>
      <p:sp>
        <p:nvSpPr>
          <p:cNvPr id="7" name="Text 4"/>
          <p:cNvSpPr/>
          <p:nvPr/>
        </p:nvSpPr>
        <p:spPr>
          <a:xfrm>
            <a:off x="822960" y="1371600"/>
            <a:ext cx="6400800" cy="548640"/>
          </a:xfrm>
          <a:prstGeom prst="rect">
            <a:avLst/>
          </a:prstGeom>
          <a:noFill/>
          <a:ln/>
        </p:spPr>
        <p:txBody>
          <a:bodyPr wrap="square" lIns="0" tIns="0" rIns="0" bIns="0" rtlCol="0" anchor="t"/>
          <a:lstStyle/>
          <a:p>
            <a:pPr indent="0" marL="0">
              <a:lnSpc>
                <a:spcPct val="105000"/>
              </a:lnSpc>
              <a:buNone/>
            </a:pPr>
            <a:r>
              <a:rPr lang="en-US" sz="1250" dirty="0">
                <a:solidFill>
                  <a:srgbClr val="1E2A33"/>
                </a:solidFill>
                <a:latin typeface="Garamond" pitchFamily="34" charset="0"/>
                <a:ea typeface="Garamond" pitchFamily="34" charset="-122"/>
                <a:cs typeface="Garamond" pitchFamily="34" charset="-120"/>
              </a:rPr>
              <a:t>A 200 gram class deployable boom that brings full SABER capability to CubeSats, lunar payloads, and mass constrained platforms.</a:t>
            </a:r>
            <a:endParaRPr lang="en-US" sz="1250" dirty="0"/>
          </a:p>
        </p:txBody>
      </p:sp>
      <p:sp>
        <p:nvSpPr>
          <p:cNvPr id="8" name="Text 5"/>
          <p:cNvSpPr/>
          <p:nvPr/>
        </p:nvSpPr>
        <p:spPr>
          <a:xfrm>
            <a:off x="82296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Deployed length</a:t>
            </a:r>
            <a:endParaRPr lang="en-US" sz="1050" dirty="0"/>
          </a:p>
        </p:txBody>
      </p:sp>
      <p:sp>
        <p:nvSpPr>
          <p:cNvPr id="9" name="Text 6"/>
          <p:cNvSpPr/>
          <p:nvPr/>
        </p:nvSpPr>
        <p:spPr>
          <a:xfrm>
            <a:off x="82296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19.7 ft (6.0 m)</a:t>
            </a:r>
            <a:endParaRPr lang="en-US" sz="1250" dirty="0"/>
          </a:p>
        </p:txBody>
      </p:sp>
      <p:sp>
        <p:nvSpPr>
          <p:cNvPr id="10" name="Text 7"/>
          <p:cNvSpPr/>
          <p:nvPr/>
        </p:nvSpPr>
        <p:spPr>
          <a:xfrm>
            <a:off x="4069080" y="2057400"/>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Mass</a:t>
            </a:r>
            <a:endParaRPr lang="en-US" sz="1050" dirty="0"/>
          </a:p>
        </p:txBody>
      </p:sp>
      <p:sp>
        <p:nvSpPr>
          <p:cNvPr id="11" name="Text 8"/>
          <p:cNvSpPr/>
          <p:nvPr/>
        </p:nvSpPr>
        <p:spPr>
          <a:xfrm>
            <a:off x="4069080" y="2276856"/>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0.44 lb (200 g)</a:t>
            </a:r>
            <a:endParaRPr lang="en-US" sz="1250" dirty="0"/>
          </a:p>
        </p:txBody>
      </p:sp>
      <p:sp>
        <p:nvSpPr>
          <p:cNvPr id="12" name="Text 9"/>
          <p:cNvSpPr/>
          <p:nvPr/>
        </p:nvSpPr>
        <p:spPr>
          <a:xfrm>
            <a:off x="82296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Stowed envelope</a:t>
            </a:r>
            <a:endParaRPr lang="en-US" sz="1050" dirty="0"/>
          </a:p>
        </p:txBody>
      </p:sp>
      <p:sp>
        <p:nvSpPr>
          <p:cNvPr id="13" name="Text 10"/>
          <p:cNvSpPr/>
          <p:nvPr/>
        </p:nvSpPr>
        <p:spPr>
          <a:xfrm>
            <a:off x="82296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1.4 x 1.8 x 3.2 in</a:t>
            </a:r>
            <a:endParaRPr lang="en-US" sz="1250" dirty="0"/>
          </a:p>
        </p:txBody>
      </p:sp>
      <p:sp>
        <p:nvSpPr>
          <p:cNvPr id="14" name="Text 11"/>
          <p:cNvSpPr/>
          <p:nvPr/>
        </p:nvSpPr>
        <p:spPr>
          <a:xfrm>
            <a:off x="4069080" y="2715768"/>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Stow ratio</a:t>
            </a:r>
            <a:endParaRPr lang="en-US" sz="1050" dirty="0"/>
          </a:p>
        </p:txBody>
      </p:sp>
      <p:sp>
        <p:nvSpPr>
          <p:cNvPr id="15" name="Text 12"/>
          <p:cNvSpPr/>
          <p:nvPr/>
        </p:nvSpPr>
        <p:spPr>
          <a:xfrm>
            <a:off x="4069080" y="2935224"/>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Up to 50:1</a:t>
            </a:r>
            <a:endParaRPr lang="en-US" sz="1250" dirty="0"/>
          </a:p>
        </p:txBody>
      </p:sp>
      <p:sp>
        <p:nvSpPr>
          <p:cNvPr id="16" name="Text 13"/>
          <p:cNvSpPr/>
          <p:nvPr/>
        </p:nvSpPr>
        <p:spPr>
          <a:xfrm>
            <a:off x="82296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Thermal capability</a:t>
            </a:r>
            <a:endParaRPr lang="en-US" sz="1050" dirty="0"/>
          </a:p>
        </p:txBody>
      </p:sp>
      <p:sp>
        <p:nvSpPr>
          <p:cNvPr id="17" name="Text 14"/>
          <p:cNvSpPr/>
          <p:nvPr/>
        </p:nvSpPr>
        <p:spPr>
          <a:xfrm>
            <a:off x="82296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-200 C to +200 C</a:t>
            </a:r>
            <a:endParaRPr lang="en-US" sz="1250" dirty="0"/>
          </a:p>
        </p:txBody>
      </p:sp>
      <p:sp>
        <p:nvSpPr>
          <p:cNvPr id="18" name="Text 15"/>
          <p:cNvSpPr/>
          <p:nvPr/>
        </p:nvSpPr>
        <p:spPr>
          <a:xfrm>
            <a:off x="4069080" y="3374136"/>
            <a:ext cx="3108960" cy="219456"/>
          </a:xfrm>
          <a:prstGeom prst="rect">
            <a:avLst/>
          </a:prstGeom>
          <a:noFill/>
          <a:ln/>
        </p:spPr>
        <p:txBody>
          <a:bodyPr wrap="square" lIns="0" tIns="0" rIns="0" bIns="0" rtlCol="0" anchor="ctr"/>
          <a:lstStyle/>
          <a:p>
            <a:pPr indent="0" marL="0">
              <a:buNone/>
            </a:pPr>
            <a:r>
              <a:rPr lang="en-US" sz="1050" b="1" dirty="0">
                <a:solidFill>
                  <a:srgbClr val="007BCB"/>
                </a:solidFill>
                <a:latin typeface="Garamond" pitchFamily="34" charset="0"/>
                <a:ea typeface="Garamond" pitchFamily="34" charset="-122"/>
                <a:cs typeface="Garamond" pitchFamily="34" charset="-120"/>
              </a:rPr>
              <a:t>Deploy power</a:t>
            </a:r>
            <a:endParaRPr lang="en-US" sz="1050" dirty="0"/>
          </a:p>
        </p:txBody>
      </p:sp>
      <p:sp>
        <p:nvSpPr>
          <p:cNvPr id="19" name="Text 16"/>
          <p:cNvSpPr/>
          <p:nvPr/>
        </p:nvSpPr>
        <p:spPr>
          <a:xfrm>
            <a:off x="4069080" y="3593592"/>
            <a:ext cx="3108960" cy="256032"/>
          </a:xfrm>
          <a:prstGeom prst="rect">
            <a:avLst/>
          </a:prstGeom>
          <a:noFill/>
          <a:ln/>
        </p:spPr>
        <p:txBody>
          <a:bodyPr wrap="square" lIns="0" tIns="0" rIns="0" bIns="0" rtlCol="0" anchor="ctr"/>
          <a:lstStyle/>
          <a:p>
            <a:pPr indent="0" marL="0">
              <a:buNone/>
            </a:pPr>
            <a:r>
              <a:rPr lang="en-US" sz="1250" dirty="0">
                <a:solidFill>
                  <a:srgbClr val="1E2A33"/>
                </a:solidFill>
                <a:latin typeface="Garamond" pitchFamily="34" charset="0"/>
                <a:ea typeface="Garamond" pitchFamily="34" charset="-122"/>
                <a:cs typeface="Garamond" pitchFamily="34" charset="-120"/>
              </a:rPr>
              <a:t>134 W pulse, under 10 ms</a:t>
            </a:r>
            <a:endParaRPr lang="en-US" sz="1250" dirty="0"/>
          </a:p>
        </p:txBody>
      </p:sp>
      <p:sp>
        <p:nvSpPr>
          <p:cNvPr id="20" name="Shape 17"/>
          <p:cNvSpPr/>
          <p:nvPr/>
        </p:nvSpPr>
        <p:spPr>
          <a:xfrm>
            <a:off x="822960" y="4160520"/>
            <a:ext cx="6400800" cy="2057400"/>
          </a:xfrm>
          <a:prstGeom prst="roundRect">
            <a:avLst>
              <a:gd name="adj" fmla="val 2222"/>
            </a:avLst>
          </a:prstGeom>
          <a:solidFill>
            <a:srgbClr val="F3F7FA"/>
          </a:solidFill>
          <a:ln/>
        </p:spPr>
        <p:txBody>
          <a:bodyPr/>
          <a:p/>
        </p:txBody>
      </p:sp>
      <p:sp>
        <p:nvSpPr>
          <p:cNvPr id="21" name="Text 18"/>
          <p:cNvSpPr/>
          <p:nvPr/>
        </p:nvSpPr>
        <p:spPr>
          <a:xfrm>
            <a:off x="1005840" y="4315968"/>
            <a:ext cx="603504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Proprietary release mechanism</a:t>
            </a:r>
            <a:endParaRPr lang="en-US" sz="1350" dirty="0"/>
          </a:p>
        </p:txBody>
      </p:sp>
      <p:sp>
        <p:nvSpPr>
          <p:cNvPr id="22" name="Text 19"/>
          <p:cNvSpPr/>
          <p:nvPr/>
        </p:nvSpPr>
        <p:spPr>
          <a:xfrm>
            <a:off x="1005840" y="4663440"/>
            <a:ext cx="6035040" cy="14630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Melt wire design with redundant actuation mechanisms and circuits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Re usable, non explosive release; no ordnance handling</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Operates above 150 C, beyond the 90 to 120 C limit of SMA actuators</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Roughly one third the stowed length of comparable devices, at lower cost and shorter lead times</a:t>
            </a:r>
            <a:endParaRPr lang="en-US" sz="1100" dirty="0"/>
          </a:p>
        </p:txBody>
      </p:sp>
      <p:pic>
        <p:nvPicPr>
          <p:cNvPr id="23" name="Image 1" descr="assets/s7_render.jpg">    </p:cNvPr>
          <p:cNvPicPr>
            <a:picLocks noChangeAspect="1"/>
          </p:cNvPicPr>
          <p:nvPr/>
        </p:nvPicPr>
        <p:blipFill>
          <a:blip r:embed="rId2"/>
          <a:stretch>
            <a:fillRect/>
          </a:stretch>
        </p:blipFill>
        <p:spPr>
          <a:xfrm>
            <a:off x="7635240" y="1417320"/>
            <a:ext cx="3200400" cy="2926080"/>
          </a:xfrm>
          <a:prstGeom prst="rect">
            <a:avLst/>
          </a:prstGeom>
        </p:spPr>
      </p:pic>
      <p:sp>
        <p:nvSpPr>
          <p:cNvPr id="24" name="Shape 20"/>
          <p:cNvSpPr/>
          <p:nvPr/>
        </p:nvSpPr>
        <p:spPr>
          <a:xfrm>
            <a:off x="7635240" y="1417320"/>
            <a:ext cx="3200400" cy="2926080"/>
          </a:xfrm>
          <a:prstGeom prst="rect">
            <a:avLst/>
          </a:prstGeom>
          <a:ln w="12700">
            <a:solidFill>
              <a:srgbClr val="C6D2DA"/>
            </a:solidFill>
            <a:prstDash val="solid"/>
          </a:ln>
        </p:spPr>
        <p:txBody>
          <a:bodyPr/>
          <a:p/>
        </p:txBody>
      </p:sp>
      <p:sp>
        <p:nvSpPr>
          <p:cNvPr id="25" name="Text 21"/>
          <p:cNvSpPr/>
          <p:nvPr/>
        </p:nvSpPr>
        <p:spPr>
          <a:xfrm>
            <a:off x="7635240" y="4370832"/>
            <a:ext cx="320040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Deployable element shown in red.</a:t>
            </a:r>
            <a:endParaRPr lang="en-US" sz="950" dirty="0"/>
          </a:p>
        </p:txBody>
      </p:sp>
      <p:pic>
        <p:nvPicPr>
          <p:cNvPr id="26" name="Image 2" descr="assets/s7_dims.jpg">    </p:cNvPr>
          <p:cNvPicPr>
            <a:picLocks noChangeAspect="1"/>
          </p:cNvPicPr>
          <p:nvPr/>
        </p:nvPicPr>
        <p:blipFill>
          <a:blip r:embed="rId3"/>
          <a:stretch>
            <a:fillRect/>
          </a:stretch>
        </p:blipFill>
        <p:spPr>
          <a:xfrm>
            <a:off x="7635240" y="4754880"/>
            <a:ext cx="3200400" cy="1828800"/>
          </a:xfrm>
          <a:prstGeom prst="rect">
            <a:avLst/>
          </a:prstGeom>
        </p:spPr>
      </p:pic>
      <p:sp>
        <p:nvSpPr>
          <p:cNvPr id="27" name="Shape 22"/>
          <p:cNvSpPr/>
          <p:nvPr/>
        </p:nvSpPr>
        <p:spPr>
          <a:xfrm>
            <a:off x="7635240" y="4754880"/>
            <a:ext cx="3200400" cy="1828800"/>
          </a:xfrm>
          <a:prstGeom prst="rect">
            <a:avLst/>
          </a:prstGeom>
          <a:ln w="12700">
            <a:solidFill>
              <a:srgbClr val="C6D2DA"/>
            </a:solidFill>
            <a:prstDash val="solid"/>
          </a:ln>
        </p:spPr>
        <p:txBody>
          <a:body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Deployable Antenna Systems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8</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Stacer based flight antennas for sensitive receivers, transmitters, and radars, configurable as monopoles, dipoles, folded dipoles, and custom arrays with tip mounted instruments.</a:t>
            </a:r>
            <a:endParaRPr lang="en-US" sz="1300" dirty="0"/>
          </a:p>
        </p:txBody>
      </p:sp>
      <p:sp>
        <p:nvSpPr>
          <p:cNvPr id="8" name="Text 5"/>
          <p:cNvSpPr/>
          <p:nvPr/>
        </p:nvSpPr>
        <p:spPr>
          <a:xfrm>
            <a:off x="822960" y="2121408"/>
            <a:ext cx="539496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Configurations and options</a:t>
            </a:r>
            <a:endParaRPr lang="en-US" sz="1350" dirty="0"/>
          </a:p>
        </p:txBody>
      </p:sp>
      <p:sp>
        <p:nvSpPr>
          <p:cNvPr id="9" name="Text 6"/>
          <p:cNvSpPr/>
          <p:nvPr/>
        </p:nvSpPr>
        <p:spPr>
          <a:xfrm>
            <a:off x="822960" y="2450592"/>
            <a:ext cx="5394960" cy="1691640"/>
          </a:xfrm>
          <a:prstGeom prst="rect">
            <a:avLst/>
          </a:prstGeom>
          <a:noFill/>
          <a:ln/>
        </p:spPr>
        <p:txBody>
          <a:bodyPr wrap="square" lIns="0" tIns="0" rIns="0" bIns="0" rtlCol="0" anchor="t"/>
          <a:lstStyle/>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Element lengths of 1 m to 10 m in BeCu or Elgiloy</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Monopole, dipole, folded dipole, and custom geometries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Grounded, isolated, or driven antenna elements</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Sensors and instruments integrated at the boom tip</a:t>
            </a:r>
            <a:endParaRPr lang="en-US" sz="1150" dirty="0"/>
          </a:p>
          <a:p>
            <a:pPr algn="l" marL="127000" indent="-127000">
              <a:spcAft>
                <a:spcPts val="500"/>
              </a:spcAft>
              <a:buSzPct val="100000"/>
              <a:buChar char="•"/>
            </a:pPr>
            <a:r>
              <a:rPr lang="en-US" sz="1150" dirty="0">
                <a:solidFill>
                  <a:srgbClr val="1E2A33"/>
                </a:solidFill>
                <a:latin typeface="Garamond" pitchFamily="34" charset="0"/>
                <a:ea typeface="Garamond" pitchFamily="34" charset="-122"/>
                <a:cs typeface="Garamond" pitchFamily="34" charset="-120"/>
              </a:rPr>
              <a:t>Delivered fully qualified to mission requirements</a:t>
            </a:r>
            <a:endParaRPr lang="en-US" sz="1150" dirty="0"/>
          </a:p>
        </p:txBody>
      </p:sp>
      <p:sp>
        <p:nvSpPr>
          <p:cNvPr id="10" name="Shape 7"/>
          <p:cNvSpPr/>
          <p:nvPr/>
        </p:nvSpPr>
        <p:spPr>
          <a:xfrm>
            <a:off x="822960" y="4343400"/>
            <a:ext cx="5394960" cy="1828800"/>
          </a:xfrm>
          <a:prstGeom prst="roundRect">
            <a:avLst>
              <a:gd name="adj" fmla="val 2500"/>
            </a:avLst>
          </a:prstGeom>
          <a:solidFill>
            <a:srgbClr val="F3F7FA"/>
          </a:solidFill>
          <a:ln/>
        </p:spPr>
        <p:txBody>
          <a:bodyPr/>
          <a:p/>
        </p:txBody>
      </p:sp>
      <p:sp>
        <p:nvSpPr>
          <p:cNvPr id="11" name="Text 8"/>
          <p:cNvSpPr/>
          <p:nvPr/>
        </p:nvSpPr>
        <p:spPr>
          <a:xfrm>
            <a:off x="987552" y="4480560"/>
            <a:ext cx="5120640" cy="274320"/>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Example: 18 m tip to tip dipole (REASON HF class)</a:t>
            </a:r>
            <a:endParaRPr lang="en-US" sz="1250" dirty="0"/>
          </a:p>
        </p:txBody>
      </p:sp>
      <p:sp>
        <p:nvSpPr>
          <p:cNvPr id="12" name="Text 9"/>
          <p:cNvSpPr/>
          <p:nvPr/>
        </p:nvSpPr>
        <p:spPr>
          <a:xfrm>
            <a:off x="987552" y="4828032"/>
            <a:ext cx="5074920" cy="1234440"/>
          </a:xfrm>
          <a:prstGeom prst="rect">
            <a:avLst/>
          </a:prstGeom>
          <a:noFill/>
          <a:ln/>
        </p:spPr>
        <p:txBody>
          <a:bodyPr wrap="square" lIns="0" tIns="0" rIns="0" bIns="0" rtlCol="0" anchor="t"/>
          <a:lstStyle/>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Dipole mass under 11.3 kg; 20 x 30 x 10 cm stowed per side</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Self powered deployment with non explosive actuation</a:t>
            </a:r>
            <a:endParaRPr lang="en-US" sz="1100" dirty="0"/>
          </a:p>
          <a:p>
            <a:pPr algn="l" marL="127000" indent="-127000">
              <a:spcAft>
                <a:spcPts val="5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Stacer deployments</a:t>
            </a:r>
            <a:endParaRPr lang="en-US" sz="1100" dirty="0"/>
          </a:p>
        </p:txBody>
      </p:sp>
      <p:pic>
        <p:nvPicPr>
          <p:cNvPr id="13" name="Image 1" descr="assets/s8a_dipole.jpg">    </p:cNvPr>
          <p:cNvPicPr>
            <a:picLocks noChangeAspect="1"/>
          </p:cNvPicPr>
          <p:nvPr/>
        </p:nvPicPr>
        <p:blipFill>
          <a:blip r:embed="rId2"/>
          <a:stretch>
            <a:fillRect/>
          </a:stretch>
        </p:blipFill>
        <p:spPr>
          <a:xfrm>
            <a:off x="6492240" y="2121408"/>
            <a:ext cx="4873752" cy="1609344"/>
          </a:xfrm>
          <a:prstGeom prst="rect">
            <a:avLst/>
          </a:prstGeom>
        </p:spPr>
      </p:pic>
      <p:sp>
        <p:nvSpPr>
          <p:cNvPr id="14" name="Shape 10"/>
          <p:cNvSpPr/>
          <p:nvPr/>
        </p:nvSpPr>
        <p:spPr>
          <a:xfrm>
            <a:off x="6492240" y="2121408"/>
            <a:ext cx="4873752" cy="1609344"/>
          </a:xfrm>
          <a:prstGeom prst="rect">
            <a:avLst/>
          </a:prstGeom>
          <a:ln w="12700">
            <a:solidFill>
              <a:srgbClr val="C6D2DA"/>
            </a:solidFill>
            <a:prstDash val="solid"/>
          </a:ln>
        </p:spPr>
        <p:txBody>
          <a:bodyPr/>
          <a:p/>
        </p:txBody>
      </p:sp>
      <p:sp>
        <p:nvSpPr>
          <p:cNvPr id="15" name="Text 11"/>
          <p:cNvSpPr/>
          <p:nvPr/>
        </p:nvSpPr>
        <p:spPr>
          <a:xfrm>
            <a:off x="6492240" y="3758184"/>
            <a:ext cx="4846320"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18 m class dipole with central mechanism, shown deployed.</a:t>
            </a:r>
            <a:endParaRPr lang="en-US" sz="950" dirty="0"/>
          </a:p>
        </p:txBody>
      </p:sp>
      <p:sp>
        <p:nvSpPr>
          <p:cNvPr id="16" name="Text 12"/>
          <p:cNvSpPr/>
          <p:nvPr/>
        </p:nvSpPr>
        <p:spPr>
          <a:xfrm>
            <a:off x="6492240" y="4133088"/>
            <a:ext cx="484632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Flight heritage</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4462272"/>
          <a:ext cx="4873752" cy="914400"/>
        </p:xfrm>
        <a:graphic>
          <a:graphicData uri="http://schemas.openxmlformats.org/drawingml/2006/table">
            <a:tbl>
              <a:tblPr/>
              <a:tblGrid>
                <a:gridCol w="1874520"/>
                <a:gridCol w="2999232"/>
              </a:tblGrid>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Solar Orbiter RPW (ESA)</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Three 6.5 m antennas, DC to 20 MHz</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Europa Clipper REASON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Two 18 m dipoles; four 2.5 m folded dipoles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SunRISE (NASA/JPL)</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28 monopoles for a CubeSat constellation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PRODUCTS</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Sensors, Mechanisms, and Instruments</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9</a:t>
            </a:r>
            <a:endParaRPr lang="en-US" sz="850" dirty="0"/>
          </a:p>
        </p:txBody>
      </p:sp>
      <p:sp>
        <p:nvSpPr>
          <p:cNvPr id="7" name="Text 4"/>
          <p:cNvSpPr/>
          <p:nvPr/>
        </p:nvSpPr>
        <p:spPr>
          <a:xfrm>
            <a:off x="822960" y="1353312"/>
            <a:ext cx="10424160" cy="548640"/>
          </a:xfrm>
          <a:prstGeom prst="rect">
            <a:avLst/>
          </a:prstGeom>
          <a:noFill/>
          <a:ln/>
        </p:spPr>
        <p:txBody>
          <a:bodyPr wrap="square" lIns="0" tIns="0" rIns="0" bIns="0" rtlCol="0" anchor="t"/>
          <a:lstStyle/>
          <a:p>
            <a:pPr indent="0" marL="0">
              <a:buNone/>
            </a:pPr>
            <a:r>
              <a:rPr lang="en-US" sz="1300" dirty="0">
                <a:solidFill>
                  <a:srgbClr val="5C6B76"/>
                </a:solidFill>
                <a:latin typeface="Garamond" pitchFamily="34" charset="0"/>
                <a:ea typeface="Garamond" pitchFamily="34" charset="-122"/>
                <a:cs typeface="Garamond" pitchFamily="34" charset="-120"/>
              </a:rPr>
              <a:t>Beyond booms and antennas, Heliospace delivers the surrounding flight hardware: payload sensors, release and retention mechanisms, instrument structures, and extreme environment thermal protection.</a:t>
            </a:r>
            <a:endParaRPr lang="en-US" sz="1300" dirty="0"/>
          </a:p>
        </p:txBody>
      </p:sp>
      <p:sp>
        <p:nvSpPr>
          <p:cNvPr id="8" name="Shape 5"/>
          <p:cNvSpPr/>
          <p:nvPr/>
        </p:nvSpPr>
        <p:spPr>
          <a:xfrm>
            <a:off x="822960" y="1938528"/>
            <a:ext cx="5175504" cy="2084832"/>
          </a:xfrm>
          <a:prstGeom prst="roundRect">
            <a:avLst>
              <a:gd name="adj" fmla="val 2193"/>
            </a:avLst>
          </a:prstGeom>
          <a:solidFill>
            <a:srgbClr val="F3F7FA"/>
          </a:solidFill>
          <a:ln/>
        </p:spPr>
        <p:txBody>
          <a:bodyPr/>
          <a:p/>
        </p:txBody>
      </p:sp>
      <p:pic>
        <p:nvPicPr>
          <p:cNvPr id="9" name="Image 1" descr="assets/s9_lms.jpg">    </p:cNvPr>
          <p:cNvPicPr>
            <a:picLocks noChangeAspect="1"/>
          </p:cNvPicPr>
          <p:nvPr/>
        </p:nvPicPr>
        <p:blipFill>
          <a:blip r:embed="rId2"/>
          <a:stretch>
            <a:fillRect/>
          </a:stretch>
        </p:blipFill>
        <p:spPr>
          <a:xfrm>
            <a:off x="960120" y="2084832"/>
            <a:ext cx="1792224" cy="1792224"/>
          </a:xfrm>
          <a:prstGeom prst="rect">
            <a:avLst/>
          </a:prstGeom>
        </p:spPr>
      </p:pic>
      <p:sp>
        <p:nvSpPr>
          <p:cNvPr id="10" name="Shape 6"/>
          <p:cNvSpPr/>
          <p:nvPr/>
        </p:nvSpPr>
        <p:spPr>
          <a:xfrm>
            <a:off x="960120" y="2084832"/>
            <a:ext cx="1792224" cy="1792224"/>
          </a:xfrm>
          <a:prstGeom prst="rect">
            <a:avLst/>
          </a:prstGeom>
          <a:ln w="12700">
            <a:solidFill>
              <a:srgbClr val="C6D2DA"/>
            </a:solidFill>
            <a:prstDash val="solid"/>
          </a:ln>
        </p:spPr>
        <p:txBody>
          <a:bodyPr/>
          <a:p/>
        </p:txBody>
      </p:sp>
      <p:sp>
        <p:nvSpPr>
          <p:cNvPr id="11" name="Text 7"/>
          <p:cNvSpPr/>
          <p:nvPr/>
        </p:nvSpPr>
        <p:spPr>
          <a:xfrm>
            <a:off x="2907792"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Lunar and suborbital payloads</a:t>
            </a:r>
            <a:endParaRPr lang="en-US" sz="1350" dirty="0"/>
          </a:p>
        </p:txBody>
      </p:sp>
      <p:sp>
        <p:nvSpPr>
          <p:cNvPr id="12" name="Text 8"/>
          <p:cNvSpPr/>
          <p:nvPr/>
        </p:nvSpPr>
        <p:spPr>
          <a:xfrm>
            <a:off x="2907792"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Electric field sensor packages and launch mortars for the LMS instrument, ROLSES lunar antennas, and 7 m quad boom packages for the SEED sounding rocket program.</a:t>
            </a:r>
            <a:endParaRPr lang="en-US" sz="1050" dirty="0"/>
          </a:p>
        </p:txBody>
      </p:sp>
      <p:sp>
        <p:nvSpPr>
          <p:cNvPr id="13" name="Shape 9"/>
          <p:cNvSpPr/>
          <p:nvPr/>
        </p:nvSpPr>
        <p:spPr>
          <a:xfrm>
            <a:off x="6190488" y="1938528"/>
            <a:ext cx="5175504" cy="2084832"/>
          </a:xfrm>
          <a:prstGeom prst="roundRect">
            <a:avLst>
              <a:gd name="adj" fmla="val 2193"/>
            </a:avLst>
          </a:prstGeom>
          <a:solidFill>
            <a:srgbClr val="F3F7FA"/>
          </a:solidFill>
          <a:ln/>
        </p:spPr>
        <p:txBody>
          <a:bodyPr/>
          <a:p/>
        </p:txBody>
      </p:sp>
      <p:pic>
        <p:nvPicPr>
          <p:cNvPr id="14" name="Image 2" descr="assets/s9_msr.jpg">    </p:cNvPr>
          <p:cNvPicPr>
            <a:picLocks noChangeAspect="1"/>
          </p:cNvPicPr>
          <p:nvPr/>
        </p:nvPicPr>
        <p:blipFill>
          <a:blip r:embed="rId3"/>
          <a:stretch>
            <a:fillRect/>
          </a:stretch>
        </p:blipFill>
        <p:spPr>
          <a:xfrm>
            <a:off x="6327648" y="2084832"/>
            <a:ext cx="1792224" cy="1792224"/>
          </a:xfrm>
          <a:prstGeom prst="rect">
            <a:avLst/>
          </a:prstGeom>
        </p:spPr>
      </p:pic>
      <p:sp>
        <p:nvSpPr>
          <p:cNvPr id="15" name="Shape 10"/>
          <p:cNvSpPr/>
          <p:nvPr/>
        </p:nvSpPr>
        <p:spPr>
          <a:xfrm>
            <a:off x="6327648" y="2084832"/>
            <a:ext cx="1792224" cy="1792224"/>
          </a:xfrm>
          <a:prstGeom prst="rect">
            <a:avLst/>
          </a:prstGeom>
          <a:ln w="12700">
            <a:solidFill>
              <a:srgbClr val="C6D2DA"/>
            </a:solidFill>
            <a:prstDash val="solid"/>
          </a:ln>
        </p:spPr>
        <p:txBody>
          <a:bodyPr/>
          <a:p/>
        </p:txBody>
      </p:sp>
      <p:sp>
        <p:nvSpPr>
          <p:cNvPr id="16" name="Text 11"/>
          <p:cNvSpPr/>
          <p:nvPr/>
        </p:nvSpPr>
        <p:spPr>
          <a:xfrm>
            <a:off x="8275320" y="2084832"/>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mechanisms</a:t>
            </a:r>
            <a:endParaRPr lang="en-US" sz="1350" dirty="0"/>
          </a:p>
        </p:txBody>
      </p:sp>
      <p:sp>
        <p:nvSpPr>
          <p:cNvPr id="17" name="Text 12"/>
          <p:cNvSpPr/>
          <p:nvPr/>
        </p:nvSpPr>
        <p:spPr>
          <a:xfrm>
            <a:off x="8275320" y="2414016"/>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Precision retention, release, and handling mechanisms developed for Mars Sample Return concepts, alongside the proprietary SABER melt wire release.</a:t>
            </a:r>
            <a:endParaRPr lang="en-US" sz="1050" dirty="0"/>
          </a:p>
        </p:txBody>
      </p:sp>
      <p:sp>
        <p:nvSpPr>
          <p:cNvPr id="18" name="Shape 13"/>
          <p:cNvSpPr/>
          <p:nvPr/>
        </p:nvSpPr>
        <p:spPr>
          <a:xfrm>
            <a:off x="822960" y="4151376"/>
            <a:ext cx="5175504" cy="2084832"/>
          </a:xfrm>
          <a:prstGeom prst="roundRect">
            <a:avLst>
              <a:gd name="adj" fmla="val 2193"/>
            </a:avLst>
          </a:prstGeom>
          <a:solidFill>
            <a:srgbClr val="F3F7FA"/>
          </a:solidFill>
          <a:ln/>
        </p:spPr>
        <p:txBody>
          <a:bodyPr/>
          <a:p/>
        </p:txBody>
      </p:sp>
      <p:pic>
        <p:nvPicPr>
          <p:cNvPr id="19" name="Image 3" descr="assets/s9_gaps.jpg">    </p:cNvPr>
          <p:cNvPicPr>
            <a:picLocks noChangeAspect="1"/>
          </p:cNvPicPr>
          <p:nvPr/>
        </p:nvPicPr>
        <p:blipFill>
          <a:blip r:embed="rId4"/>
          <a:stretch>
            <a:fillRect/>
          </a:stretch>
        </p:blipFill>
        <p:spPr>
          <a:xfrm>
            <a:off x="960120" y="4297680"/>
            <a:ext cx="1792224" cy="1792224"/>
          </a:xfrm>
          <a:prstGeom prst="rect">
            <a:avLst/>
          </a:prstGeom>
        </p:spPr>
      </p:pic>
      <p:sp>
        <p:nvSpPr>
          <p:cNvPr id="20" name="Shape 14"/>
          <p:cNvSpPr/>
          <p:nvPr/>
        </p:nvSpPr>
        <p:spPr>
          <a:xfrm>
            <a:off x="960120" y="4297680"/>
            <a:ext cx="1792224" cy="1792224"/>
          </a:xfrm>
          <a:prstGeom prst="rect">
            <a:avLst/>
          </a:prstGeom>
          <a:ln w="12700">
            <a:solidFill>
              <a:srgbClr val="C6D2DA"/>
            </a:solidFill>
            <a:prstDash val="solid"/>
          </a:ln>
        </p:spPr>
        <p:txBody>
          <a:bodyPr/>
          <a:p/>
        </p:txBody>
      </p:sp>
      <p:sp>
        <p:nvSpPr>
          <p:cNvPr id="21" name="Text 15"/>
          <p:cNvSpPr/>
          <p:nvPr/>
        </p:nvSpPr>
        <p:spPr>
          <a:xfrm>
            <a:off x="2907792"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Instruments and structures</a:t>
            </a:r>
            <a:endParaRPr lang="en-US" sz="1350" dirty="0"/>
          </a:p>
        </p:txBody>
      </p:sp>
      <p:sp>
        <p:nvSpPr>
          <p:cNvPr id="22" name="Text 16"/>
          <p:cNvSpPr/>
          <p:nvPr/>
        </p:nvSpPr>
        <p:spPr>
          <a:xfrm>
            <a:off x="2907792"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COSI gamma ray instrument cryostat and shield, the GAPS antimatter detector gondola, and UVEX ultraviolet telescope structure concepts.</a:t>
            </a:r>
            <a:endParaRPr lang="en-US" sz="1050" dirty="0"/>
          </a:p>
        </p:txBody>
      </p:sp>
      <p:sp>
        <p:nvSpPr>
          <p:cNvPr id="23" name="Shape 17"/>
          <p:cNvSpPr/>
          <p:nvPr/>
        </p:nvSpPr>
        <p:spPr>
          <a:xfrm>
            <a:off x="6190488" y="4151376"/>
            <a:ext cx="5175504" cy="2084832"/>
          </a:xfrm>
          <a:prstGeom prst="roundRect">
            <a:avLst>
              <a:gd name="adj" fmla="val 2193"/>
            </a:avLst>
          </a:prstGeom>
          <a:solidFill>
            <a:srgbClr val="F3F7FA"/>
          </a:solidFill>
          <a:ln/>
        </p:spPr>
        <p:txBody>
          <a:bodyPr/>
          <a:p/>
        </p:txBody>
      </p:sp>
      <p:pic>
        <p:nvPicPr>
          <p:cNvPr id="24" name="Image 4" descr="assets/s9_solo.jpg">    </p:cNvPr>
          <p:cNvPicPr>
            <a:picLocks noChangeAspect="1"/>
          </p:cNvPicPr>
          <p:nvPr/>
        </p:nvPicPr>
        <p:blipFill>
          <a:blip r:embed="rId5"/>
          <a:stretch>
            <a:fillRect/>
          </a:stretch>
        </p:blipFill>
        <p:spPr>
          <a:xfrm>
            <a:off x="6327648" y="4297680"/>
            <a:ext cx="1792224" cy="1792224"/>
          </a:xfrm>
          <a:prstGeom prst="rect">
            <a:avLst/>
          </a:prstGeom>
        </p:spPr>
      </p:pic>
      <p:sp>
        <p:nvSpPr>
          <p:cNvPr id="25" name="Shape 18"/>
          <p:cNvSpPr/>
          <p:nvPr/>
        </p:nvSpPr>
        <p:spPr>
          <a:xfrm>
            <a:off x="6327648" y="4297680"/>
            <a:ext cx="1792224" cy="1792224"/>
          </a:xfrm>
          <a:prstGeom prst="rect">
            <a:avLst/>
          </a:prstGeom>
          <a:ln w="12700">
            <a:solidFill>
              <a:srgbClr val="C6D2DA"/>
            </a:solidFill>
            <a:prstDash val="solid"/>
          </a:ln>
        </p:spPr>
        <p:txBody>
          <a:bodyPr/>
          <a:p/>
        </p:txBody>
      </p:sp>
      <p:sp>
        <p:nvSpPr>
          <p:cNvPr id="26" name="Text 19"/>
          <p:cNvSpPr/>
          <p:nvPr/>
        </p:nvSpPr>
        <p:spPr>
          <a:xfrm>
            <a:off x="8275320" y="4297680"/>
            <a:ext cx="2971800" cy="292608"/>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Extreme environments</a:t>
            </a:r>
            <a:endParaRPr lang="en-US" sz="1350" dirty="0"/>
          </a:p>
        </p:txBody>
      </p:sp>
      <p:sp>
        <p:nvSpPr>
          <p:cNvPr id="27" name="Text 20"/>
          <p:cNvSpPr/>
          <p:nvPr/>
        </p:nvSpPr>
        <p:spPr>
          <a:xfrm>
            <a:off x="8275320" y="4626864"/>
            <a:ext cx="2971800" cy="1508760"/>
          </a:xfrm>
          <a:prstGeom prst="rect">
            <a:avLst/>
          </a:prstGeom>
          <a:noFill/>
          <a:ln/>
        </p:spPr>
        <p:txBody>
          <a:bodyPr wrap="square" lIns="0" tIns="0" rIns="0" bIns="0" rtlCol="0" anchor="t"/>
          <a:lstStyle/>
          <a:p>
            <a:pPr indent="0" marL="0">
              <a:lnSpc>
                <a:spcPct val="103000"/>
              </a:lnSpc>
              <a:buNone/>
            </a:pPr>
            <a:r>
              <a:rPr lang="en-US" sz="1050" dirty="0">
                <a:solidFill>
                  <a:srgbClr val="1E2A33"/>
                </a:solidFill>
                <a:latin typeface="Garamond" pitchFamily="34" charset="0"/>
                <a:ea typeface="Garamond" pitchFamily="34" charset="-122"/>
                <a:cs typeface="Garamond" pitchFamily="34" charset="-120"/>
              </a:rPr>
              <a:t>All niobium multilayer insulation and thermal design protecting Solar Orbiter antennas that reach nearly 500 C in a 15 sun environment.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FACILITIES AND LOCATION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Purpose Built Production in Berkeley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10</a:t>
            </a:r>
            <a:endParaRPr lang="en-US" sz="850" dirty="0"/>
          </a:p>
        </p:txBody>
      </p:sp>
      <p:pic>
        <p:nvPicPr>
          <p:cNvPr id="7" name="Image 1" descr="assets/s8_bldg.jpg">    </p:cNvPr>
          <p:cNvPicPr>
            <a:picLocks noChangeAspect="1"/>
          </p:cNvPicPr>
          <p:nvPr/>
        </p:nvPicPr>
        <p:blipFill>
          <a:blip r:embed="rId2"/>
          <a:stretch>
            <a:fillRect/>
          </a:stretch>
        </p:blipFill>
        <p:spPr>
          <a:xfrm>
            <a:off x="822960" y="1417320"/>
            <a:ext cx="6583680" cy="2880360"/>
          </a:xfrm>
          <a:prstGeom prst="rect">
            <a:avLst/>
          </a:prstGeom>
        </p:spPr>
      </p:pic>
      <p:sp>
        <p:nvSpPr>
          <p:cNvPr id="8" name="Shape 4"/>
          <p:cNvSpPr/>
          <p:nvPr/>
        </p:nvSpPr>
        <p:spPr>
          <a:xfrm>
            <a:off x="822960" y="1417320"/>
            <a:ext cx="6583680" cy="2880360"/>
          </a:xfrm>
          <a:prstGeom prst="rect">
            <a:avLst/>
          </a:prstGeom>
          <a:ln w="12700">
            <a:solidFill>
              <a:srgbClr val="C6D2DA"/>
            </a:solidFill>
            <a:prstDash val="solid"/>
          </a:ln>
        </p:spPr>
        <p:txBody>
          <a:bodyPr/>
          <a:p/>
        </p:txBody>
      </p:sp>
      <p:pic>
        <p:nvPicPr>
          <p:cNvPr id="9" name="Image 2" descr="assets/s8_bay.jpg">    </p:cNvPr>
          <p:cNvPicPr>
            <a:picLocks noChangeAspect="1"/>
          </p:cNvPicPr>
          <p:nvPr/>
        </p:nvPicPr>
        <p:blipFill>
          <a:blip r:embed="rId3"/>
          <a:stretch>
            <a:fillRect/>
          </a:stretch>
        </p:blipFill>
        <p:spPr>
          <a:xfrm>
            <a:off x="822960" y="4480560"/>
            <a:ext cx="2130552" cy="1691640"/>
          </a:xfrm>
          <a:prstGeom prst="rect">
            <a:avLst/>
          </a:prstGeom>
        </p:spPr>
      </p:pic>
      <p:sp>
        <p:nvSpPr>
          <p:cNvPr id="10" name="Shape 5"/>
          <p:cNvSpPr/>
          <p:nvPr/>
        </p:nvSpPr>
        <p:spPr>
          <a:xfrm>
            <a:off x="822960" y="4480560"/>
            <a:ext cx="2130552" cy="1691640"/>
          </a:xfrm>
          <a:prstGeom prst="rect">
            <a:avLst/>
          </a:prstGeom>
          <a:ln w="12700">
            <a:solidFill>
              <a:srgbClr val="C6D2DA"/>
            </a:solidFill>
            <a:prstDash val="solid"/>
          </a:ln>
        </p:spPr>
        <p:txBody>
          <a:bodyPr/>
          <a:p/>
        </p:txBody>
      </p:sp>
      <p:sp>
        <p:nvSpPr>
          <p:cNvPr id="11" name="Text 6"/>
          <p:cNvSpPr/>
          <p:nvPr/>
        </p:nvSpPr>
        <p:spPr>
          <a:xfrm>
            <a:off x="822960"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High bay assembly</a:t>
            </a:r>
            <a:endParaRPr lang="en-US" sz="950" dirty="0"/>
          </a:p>
        </p:txBody>
      </p:sp>
      <p:pic>
        <p:nvPicPr>
          <p:cNvPr id="12" name="Image 3" descr="assets/s8_tvac.jpg">    </p:cNvPr>
          <p:cNvPicPr>
            <a:picLocks noChangeAspect="1"/>
          </p:cNvPicPr>
          <p:nvPr/>
        </p:nvPicPr>
        <p:blipFill>
          <a:blip r:embed="rId4"/>
          <a:stretch>
            <a:fillRect/>
          </a:stretch>
        </p:blipFill>
        <p:spPr>
          <a:xfrm>
            <a:off x="3054096" y="4480560"/>
            <a:ext cx="2130552" cy="1691640"/>
          </a:xfrm>
          <a:prstGeom prst="rect">
            <a:avLst/>
          </a:prstGeom>
        </p:spPr>
      </p:pic>
      <p:sp>
        <p:nvSpPr>
          <p:cNvPr id="13" name="Shape 7"/>
          <p:cNvSpPr/>
          <p:nvPr/>
        </p:nvSpPr>
        <p:spPr>
          <a:xfrm>
            <a:off x="3054096" y="4480560"/>
            <a:ext cx="2130552" cy="1691640"/>
          </a:xfrm>
          <a:prstGeom prst="rect">
            <a:avLst/>
          </a:prstGeom>
          <a:ln w="12700">
            <a:solidFill>
              <a:srgbClr val="C6D2DA"/>
            </a:solidFill>
            <a:prstDash val="solid"/>
          </a:ln>
        </p:spPr>
        <p:txBody>
          <a:bodyPr/>
          <a:p/>
        </p:txBody>
      </p:sp>
      <p:sp>
        <p:nvSpPr>
          <p:cNvPr id="14" name="Text 8"/>
          <p:cNvSpPr/>
          <p:nvPr/>
        </p:nvSpPr>
        <p:spPr>
          <a:xfrm>
            <a:off x="3054096"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Thermal vacuum</a:t>
            </a:r>
            <a:endParaRPr lang="en-US" sz="950" dirty="0"/>
          </a:p>
        </p:txBody>
      </p:sp>
      <p:pic>
        <p:nvPicPr>
          <p:cNvPr id="15" name="Image 4" descr="assets/s8_clean.jpg">    </p:cNvPr>
          <p:cNvPicPr>
            <a:picLocks noChangeAspect="1"/>
          </p:cNvPicPr>
          <p:nvPr/>
        </p:nvPicPr>
        <p:blipFill>
          <a:blip r:embed="rId5"/>
          <a:stretch>
            <a:fillRect/>
          </a:stretch>
        </p:blipFill>
        <p:spPr>
          <a:xfrm>
            <a:off x="5285232" y="4480560"/>
            <a:ext cx="2130552" cy="1691640"/>
          </a:xfrm>
          <a:prstGeom prst="rect">
            <a:avLst/>
          </a:prstGeom>
        </p:spPr>
      </p:pic>
      <p:sp>
        <p:nvSpPr>
          <p:cNvPr id="16" name="Shape 9"/>
          <p:cNvSpPr/>
          <p:nvPr/>
        </p:nvSpPr>
        <p:spPr>
          <a:xfrm>
            <a:off x="5285232" y="4480560"/>
            <a:ext cx="2130552" cy="1691640"/>
          </a:xfrm>
          <a:prstGeom prst="rect">
            <a:avLst/>
          </a:prstGeom>
          <a:ln w="12700">
            <a:solidFill>
              <a:srgbClr val="C6D2DA"/>
            </a:solidFill>
            <a:prstDash val="solid"/>
          </a:ln>
        </p:spPr>
        <p:txBody>
          <a:bodyPr/>
          <a:p/>
        </p:txBody>
      </p:sp>
      <p:sp>
        <p:nvSpPr>
          <p:cNvPr id="17" name="Text 10"/>
          <p:cNvSpPr/>
          <p:nvPr/>
        </p:nvSpPr>
        <p:spPr>
          <a:xfrm>
            <a:off x="5285232" y="6199632"/>
            <a:ext cx="213055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Cleanroom</a:t>
            </a:r>
            <a:endParaRPr lang="en-US" sz="950" dirty="0"/>
          </a:p>
        </p:txBody>
      </p:sp>
      <p:sp>
        <p:nvSpPr>
          <p:cNvPr id="18" name="Text 11"/>
          <p:cNvSpPr/>
          <p:nvPr/>
        </p:nvSpPr>
        <p:spPr>
          <a:xfrm>
            <a:off x="7726680" y="1371600"/>
            <a:ext cx="3657600" cy="384048"/>
          </a:xfrm>
          <a:prstGeom prst="rect">
            <a:avLst/>
          </a:prstGeom>
          <a:noFill/>
          <a:ln/>
        </p:spPr>
        <p:txBody>
          <a:bodyPr wrap="square" lIns="0" tIns="0" rIns="0" bIns="0" rtlCol="0" anchor="ctr"/>
          <a:lstStyle/>
          <a:p>
            <a:pPr indent="0" marL="0">
              <a:buNone/>
            </a:pPr>
            <a:r>
              <a:rPr lang="en-US" sz="2200" b="1" dirty="0">
                <a:solidFill>
                  <a:srgbClr val="007BCB"/>
                </a:solidFill>
                <a:latin typeface="Garamond" pitchFamily="34" charset="0"/>
                <a:ea typeface="Garamond" pitchFamily="34" charset="-122"/>
                <a:cs typeface="Garamond" pitchFamily="34" charset="-120"/>
              </a:rPr>
              <a:t>20,000 square feet</a:t>
            </a:r>
            <a:endParaRPr lang="en-US" sz="2200" dirty="0"/>
          </a:p>
        </p:txBody>
      </p:sp>
      <p:sp>
        <p:nvSpPr>
          <p:cNvPr id="19" name="Text 12"/>
          <p:cNvSpPr/>
          <p:nvPr/>
        </p:nvSpPr>
        <p:spPr>
          <a:xfrm>
            <a:off x="7726680" y="1773936"/>
            <a:ext cx="3639312" cy="566928"/>
          </a:xfrm>
          <a:prstGeom prst="rect">
            <a:avLst/>
          </a:prstGeom>
          <a:noFill/>
          <a:ln/>
        </p:spPr>
        <p:txBody>
          <a:bodyPr wrap="square" lIns="0" tIns="0" rIns="0" bIns="0" rtlCol="0" anchor="t"/>
          <a:lstStyle/>
          <a:p>
            <a:pPr indent="0" marL="0">
              <a:buNone/>
            </a:pPr>
            <a:r>
              <a:rPr lang="en-US" sz="1050" dirty="0">
                <a:solidFill>
                  <a:srgbClr val="5C6B76"/>
                </a:solidFill>
                <a:latin typeface="Garamond" pitchFamily="34" charset="0"/>
                <a:ea typeface="Garamond" pitchFamily="34" charset="-122"/>
                <a:cs typeface="Garamond" pitchFamily="34" charset="-120"/>
              </a:rPr>
              <a:t>of production capacity: high bay assembly and test, cleanroom, thermal vacuum chamber, and machine shop.</a:t>
            </a:r>
            <a:endParaRPr lang="en-US" sz="1050" dirty="0"/>
          </a:p>
        </p:txBody>
      </p:sp>
      <p:pic>
        <p:nvPicPr>
          <p:cNvPr id="20" name="Image 5" descr="assets/s8_map.jpg">    </p:cNvPr>
          <p:cNvPicPr>
            <a:picLocks noChangeAspect="1"/>
          </p:cNvPicPr>
          <p:nvPr/>
        </p:nvPicPr>
        <p:blipFill>
          <a:blip r:embed="rId6"/>
          <a:stretch>
            <a:fillRect/>
          </a:stretch>
        </p:blipFill>
        <p:spPr>
          <a:xfrm>
            <a:off x="7726680" y="2450592"/>
            <a:ext cx="3639312" cy="2331720"/>
          </a:xfrm>
          <a:prstGeom prst="rect">
            <a:avLst/>
          </a:prstGeom>
        </p:spPr>
      </p:pic>
      <p:sp>
        <p:nvSpPr>
          <p:cNvPr id="21" name="Shape 13"/>
          <p:cNvSpPr/>
          <p:nvPr/>
        </p:nvSpPr>
        <p:spPr>
          <a:xfrm>
            <a:off x="7726680" y="2450592"/>
            <a:ext cx="3639312" cy="2331720"/>
          </a:xfrm>
          <a:prstGeom prst="rect">
            <a:avLst/>
          </a:prstGeom>
          <a:ln w="12700">
            <a:solidFill>
              <a:srgbClr val="C6D2DA"/>
            </a:solidFill>
            <a:prstDash val="solid"/>
          </a:ln>
        </p:spPr>
        <p:txBody>
          <a:bodyPr/>
          <a:p/>
        </p:txBody>
      </p:sp>
      <p:sp>
        <p:nvSpPr>
          <p:cNvPr id="22" name="Shape 14"/>
          <p:cNvSpPr/>
          <p:nvPr/>
        </p:nvSpPr>
        <p:spPr>
          <a:xfrm>
            <a:off x="7726680" y="4937760"/>
            <a:ext cx="3639312" cy="1298448"/>
          </a:xfrm>
          <a:prstGeom prst="roundRect">
            <a:avLst>
              <a:gd name="adj" fmla="val 3521"/>
            </a:avLst>
          </a:prstGeom>
          <a:solidFill>
            <a:srgbClr val="F3F7FA"/>
          </a:solidFill>
          <a:ln/>
        </p:spPr>
        <p:txBody>
          <a:bodyPr/>
          <a:p/>
        </p:txBody>
      </p:sp>
      <p:sp>
        <p:nvSpPr>
          <p:cNvPr id="23" name="Text 15"/>
          <p:cNvSpPr/>
          <p:nvPr/>
        </p:nvSpPr>
        <p:spPr>
          <a:xfrm>
            <a:off x="7882128" y="5056632"/>
            <a:ext cx="3364992" cy="1097280"/>
          </a:xfrm>
          <a:prstGeom prst="rect">
            <a:avLst/>
          </a:prstGeom>
          <a:noFill/>
          <a:ln/>
        </p:spPr>
        <p:txBody>
          <a:bodyPr wrap="square" lIns="0" tIns="0" rIns="0" bIns="0" rtlCol="0" anchor="t"/>
          <a:lstStyle/>
          <a:p>
            <a:pPr indent="0" marL="0">
              <a:spcAft>
                <a:spcPts val="200"/>
              </a:spcAft>
              <a:buNone/>
            </a:pPr>
            <a:r>
              <a:rPr lang="en-US" sz="1100" b="1" dirty="0">
                <a:solidFill>
                  <a:srgbClr val="1E2A33"/>
                </a:solidFill>
                <a:latin typeface="Garamond" pitchFamily="34" charset="0"/>
                <a:ea typeface="Garamond" pitchFamily="34" charset="-122"/>
                <a:cs typeface="Garamond" pitchFamily="34" charset="-120"/>
              </a:rPr>
              <a:t>Heliospace Corporation</a:t>
            </a:r>
            <a:endParaRPr lang="en-US" sz="1100" dirty="0"/>
          </a:p>
          <a:p>
            <a:pPr indent="0" marL="0">
              <a:spcAft>
                <a:spcPts val="200"/>
              </a:spcAft>
              <a:buNone/>
            </a:pPr>
            <a:r>
              <a:rPr lang="en-US" sz="1100" dirty="0">
                <a:solidFill>
                  <a:srgbClr val="1E2A33"/>
                </a:solidFill>
                <a:latin typeface="Garamond" pitchFamily="34" charset="0"/>
                <a:ea typeface="Garamond" pitchFamily="34" charset="-122"/>
                <a:cs typeface="Garamond" pitchFamily="34" charset="-120"/>
              </a:rPr>
              <a:t>2448 Sixth Street, Berkeley, CA 94710</a:t>
            </a:r>
            <a:endParaRPr lang="en-US" sz="1100" dirty="0"/>
          </a:p>
          <a:p>
            <a:pPr indent="0" marL="0">
              <a:spcAft>
                <a:spcPts val="200"/>
              </a:spcAft>
              <a:buNone/>
            </a:pPr>
            <a:endParaRPr lang="en-US" sz="1100" dirty="0"/>
          </a:p>
          <a:p>
            <a:pPr indent="0" marL="0">
              <a:spcAft>
                <a:spcPts val="200"/>
              </a:spcAft>
              <a:buNone/>
            </a:pPr>
            <a:r>
              <a:rPr lang="en-US" sz="950" dirty="0">
                <a:solidFill>
                  <a:srgbClr val="5C6B76"/>
                </a:solidFill>
                <a:latin typeface="Garamond" pitchFamily="34" charset="0"/>
                <a:ea typeface="Garamond" pitchFamily="34" charset="-122"/>
                <a:cs typeface="Garamond" pitchFamily="34" charset="-120"/>
              </a:rPr>
              <a:t>San Francisco Bay Area: near NASA Ames, UC Berkeley, and the West Coast supply base.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MARKET OPPORTUNITY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Structurally Expanding Market</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11</a:t>
            </a:r>
            <a:endParaRPr lang="en-US" sz="850" dirty="0"/>
          </a:p>
        </p:txBody>
      </p:sp>
      <p:sp>
        <p:nvSpPr>
          <p:cNvPr id="7" name="Text 4"/>
          <p:cNvSpPr/>
          <p:nvPr/>
        </p:nvSpPr>
        <p:spPr>
          <a:xfrm>
            <a:off x="822960" y="1463040"/>
            <a:ext cx="5852160" cy="274320"/>
          </a:xfrm>
          <a:prstGeom prst="rect">
            <a:avLst/>
          </a:prstGeom>
          <a:noFill/>
          <a:ln/>
        </p:spPr>
        <p:txBody>
          <a:bodyPr wrap="square" lIns="0" tIns="0" rIns="0" bIns="0" rtlCol="0" anchor="ctr"/>
          <a:lstStyle/>
          <a:p>
            <a:pPr indent="0" marL="0">
              <a:buNone/>
            </a:pPr>
            <a:r>
              <a:rPr lang="en-US" sz="1300" b="1" dirty="0">
                <a:solidFill>
                  <a:srgbClr val="10222F"/>
                </a:solidFill>
                <a:latin typeface="Garamond" pitchFamily="34" charset="0"/>
                <a:ea typeface="Garamond" pitchFamily="34" charset="-122"/>
                <a:cs typeface="Garamond" pitchFamily="34" charset="-120"/>
              </a:rPr>
              <a:t>Global space economy: forecast to reach $1.8 trillion by 2035 (USD billions)</a:t>
            </a:r>
            <a:endParaRPr lang="en-US" sz="1300" dirty="0"/>
          </a:p>
        </p:txBody>
      </p:sp>
      <p:graphicFrame>
        <p:nvGraphicFramePr>
          <p:cNvPr id="8" name="Chart 0" descr=""/>
          <p:cNvGraphicFramePr/>
          <p:nvPr/>
        </p:nvGraphicFramePr>
        <p:xfrm>
          <a:off x="822960" y="1828800"/>
          <a:ext cx="5852160" cy="3977640"/>
        </p:xfrm>
        <a:graphic xmlns:a="http://schemas.openxmlformats.org/drawingml/2006/main">
          <a:graphicData uri="http://schemas.openxmlformats.org/drawingml/2006/chart">
            <c:chart xmlns:c="http://schemas.openxmlformats.org/drawingml/2006/chart" r:id="rId2"/>
          </a:graphicData>
        </a:graphic>
      </p:graphicFrame>
      <p:sp>
        <p:nvSpPr>
          <p:cNvPr id="9" name="Text 5"/>
          <p:cNvSpPr/>
          <p:nvPr/>
        </p:nvSpPr>
        <p:spPr>
          <a:xfrm>
            <a:off x="822960" y="5943600"/>
            <a:ext cx="5852160" cy="274320"/>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World Economic Forum and McKinsey, Space: The $1.8 Trillion Opportunity, 2024.</a:t>
            </a:r>
            <a:endParaRPr lang="en-US" sz="900" dirty="0"/>
          </a:p>
        </p:txBody>
      </p:sp>
      <p:sp>
        <p:nvSpPr>
          <p:cNvPr id="10" name="Text 6"/>
          <p:cNvSpPr/>
          <p:nvPr/>
        </p:nvSpPr>
        <p:spPr>
          <a:xfrm>
            <a:off x="7178040" y="1554480"/>
            <a:ext cx="4114800" cy="548640"/>
          </a:xfrm>
          <a:prstGeom prst="rect">
            <a:avLst/>
          </a:prstGeom>
          <a:noFill/>
          <a:ln/>
        </p:spPr>
        <p:txBody>
          <a:bodyPr wrap="square" lIns="0" tIns="0" rIns="0" bIns="0" rtlCol="0" anchor="ctr"/>
          <a:lstStyle/>
          <a:p>
            <a:pPr indent="0" marL="0">
              <a:buNone/>
            </a:pPr>
            <a:r>
              <a:rPr lang="en-US" sz="3400" b="1" dirty="0">
                <a:solidFill>
                  <a:srgbClr val="007BCB"/>
                </a:solidFill>
                <a:latin typeface="Garamond" pitchFamily="34" charset="0"/>
                <a:ea typeface="Garamond" pitchFamily="34" charset="-122"/>
                <a:cs typeface="Garamond" pitchFamily="34" charset="-120"/>
              </a:rPr>
              <a:t>16,900</a:t>
            </a:r>
            <a:endParaRPr lang="en-US" sz="3400" dirty="0"/>
          </a:p>
        </p:txBody>
      </p:sp>
      <p:sp>
        <p:nvSpPr>
          <p:cNvPr id="11" name="Text 7"/>
          <p:cNvSpPr/>
          <p:nvPr/>
        </p:nvSpPr>
        <p:spPr>
          <a:xfrm>
            <a:off x="7178040" y="2121408"/>
            <a:ext cx="4069080" cy="502920"/>
          </a:xfrm>
          <a:prstGeom prst="rect">
            <a:avLst/>
          </a:prstGeom>
          <a:noFill/>
          <a:ln/>
        </p:spPr>
        <p:txBody>
          <a:bodyPr wrap="square" lIns="0" tIns="0" rIns="0" bIns="0" rtlCol="0" anchor="t"/>
          <a:lstStyle/>
          <a:p>
            <a:pPr indent="0" marL="0">
              <a:buNone/>
            </a:pPr>
            <a:r>
              <a:rPr lang="en-US" sz="1100" dirty="0">
                <a:solidFill>
                  <a:srgbClr val="5C6B76"/>
                </a:solidFill>
                <a:latin typeface="Garamond" pitchFamily="34" charset="0"/>
                <a:ea typeface="Garamond" pitchFamily="34" charset="-122"/>
                <a:cs typeface="Garamond" pitchFamily="34" charset="-120"/>
              </a:rPr>
              <a:t>small satellites forecast for launch between 2026 and 2035 (Novaspace)</a:t>
            </a:r>
            <a:endParaRPr lang="en-US" sz="1100" dirty="0"/>
          </a:p>
        </p:txBody>
      </p:sp>
      <p:sp>
        <p:nvSpPr>
          <p:cNvPr id="12" name="Text 8"/>
          <p:cNvSpPr/>
          <p:nvPr/>
        </p:nvSpPr>
        <p:spPr>
          <a:xfrm>
            <a:off x="7178040" y="2880360"/>
            <a:ext cx="41148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Deployables on every platform</a:t>
            </a:r>
            <a:endParaRPr lang="en-US" sz="1350" dirty="0"/>
          </a:p>
        </p:txBody>
      </p:sp>
      <p:sp>
        <p:nvSpPr>
          <p:cNvPr id="13" name="Text 9"/>
          <p:cNvSpPr/>
          <p:nvPr/>
        </p:nvSpPr>
        <p:spPr>
          <a:xfrm>
            <a:off x="7178040" y="3182112"/>
            <a:ext cx="4160520" cy="96012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Antennas, sensor booms, and masts must stow small and deploy reliably. Every spacecraft class, from CubeSats to flagship observatories, is an addressable socket for SABER mechanisms.</a:t>
            </a:r>
            <a:endParaRPr lang="en-US" sz="1150" dirty="0"/>
          </a:p>
        </p:txBody>
      </p:sp>
      <p:sp>
        <p:nvSpPr>
          <p:cNvPr id="14" name="Text 10"/>
          <p:cNvSpPr/>
          <p:nvPr/>
        </p:nvSpPr>
        <p:spPr>
          <a:xfrm>
            <a:off x="7178040" y="4343400"/>
            <a:ext cx="41148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Recurring lunar demand</a:t>
            </a:r>
            <a:endParaRPr lang="en-US" sz="1350" dirty="0"/>
          </a:p>
        </p:txBody>
      </p:sp>
      <p:sp>
        <p:nvSpPr>
          <p:cNvPr id="15" name="Text 11"/>
          <p:cNvSpPr/>
          <p:nvPr/>
        </p:nvSpPr>
        <p:spPr>
          <a:xfrm>
            <a:off x="7178040" y="4645152"/>
            <a:ext cx="4160520" cy="1005840"/>
          </a:xfrm>
          <a:prstGeom prst="rect">
            <a:avLst/>
          </a:prstGeom>
          <a:noFill/>
          <a:ln/>
        </p:spPr>
        <p:txBody>
          <a:bodyPr wrap="square" lIns="0" tIns="0" rIns="0" bIns="0" rtlCol="0" anchor="t"/>
          <a:lstStyle/>
          <a:p>
            <a:pPr indent="0" marL="0">
              <a:lnSpc>
                <a:spcPct val="105000"/>
              </a:lnSpc>
              <a:buNone/>
            </a:pPr>
            <a:r>
              <a:rPr lang="en-US" sz="1150" dirty="0">
                <a:solidFill>
                  <a:srgbClr val="1E2A33"/>
                </a:solidFill>
                <a:latin typeface="Garamond" pitchFamily="34" charset="0"/>
                <a:ea typeface="Garamond" pitchFamily="34" charset="-122"/>
                <a:cs typeface="Garamond" pitchFamily="34" charset="-120"/>
              </a:rPr>
              <a:t>NASA CLPS and commercial lunar programs are creating a repeat purchase market for payload sensors and deployables, with Heliospace hardware already flown on the first landings.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COMPETITIVE POSITION</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Why Customers Choose Heliospace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12</a:t>
            </a:r>
            <a:endParaRPr lang="en-US" sz="850" dirty="0"/>
          </a:p>
        </p:txBody>
      </p:sp>
      <p:sp>
        <p:nvSpPr>
          <p:cNvPr id="7" name="Shape 4"/>
          <p:cNvSpPr/>
          <p:nvPr/>
        </p:nvSpPr>
        <p:spPr>
          <a:xfrm>
            <a:off x="822960" y="1444752"/>
            <a:ext cx="347472" cy="347472"/>
          </a:xfrm>
          <a:prstGeom prst="ellipse">
            <a:avLst/>
          </a:prstGeom>
          <a:solidFill>
            <a:srgbClr val="007BCB"/>
          </a:solidFill>
          <a:ln/>
        </p:spPr>
        <p:txBody>
          <a:bodyPr/>
          <a:p/>
        </p:txBody>
      </p:sp>
      <p:sp>
        <p:nvSpPr>
          <p:cNvPr id="8" name="Text 5"/>
          <p:cNvSpPr/>
          <p:nvPr/>
        </p:nvSpPr>
        <p:spPr>
          <a:xfrm>
            <a:off x="822960" y="14447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1</a:t>
            </a:r>
            <a:endParaRPr lang="en-US" sz="1400" dirty="0"/>
          </a:p>
        </p:txBody>
      </p:sp>
      <p:sp>
        <p:nvSpPr>
          <p:cNvPr id="9" name="Text 6"/>
          <p:cNvSpPr/>
          <p:nvPr/>
        </p:nvSpPr>
        <p:spPr>
          <a:xfrm>
            <a:off x="1325880" y="1417320"/>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Proven space heritage</a:t>
            </a:r>
            <a:endParaRPr lang="en-US" sz="1450" dirty="0"/>
          </a:p>
        </p:txBody>
      </p:sp>
      <p:sp>
        <p:nvSpPr>
          <p:cNvPr id="10" name="Text 7"/>
          <p:cNvSpPr/>
          <p:nvPr/>
        </p:nvSpPr>
        <p:spPr>
          <a:xfrm>
            <a:off x="1325880" y="1728216"/>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More than 40 space flight missions and more than 125 instruments and systems built and deployed, including hardware on NASA's Europa Clipper and support for the James Webb Space Telescope.</a:t>
            </a:r>
            <a:endParaRPr lang="en-US" sz="1100" dirty="0"/>
          </a:p>
        </p:txBody>
      </p:sp>
      <p:sp>
        <p:nvSpPr>
          <p:cNvPr id="11" name="Shape 8"/>
          <p:cNvSpPr/>
          <p:nvPr/>
        </p:nvSpPr>
        <p:spPr>
          <a:xfrm>
            <a:off x="822960" y="2414016"/>
            <a:ext cx="347472" cy="347472"/>
          </a:xfrm>
          <a:prstGeom prst="ellipse">
            <a:avLst/>
          </a:prstGeom>
          <a:solidFill>
            <a:srgbClr val="007BCB"/>
          </a:solidFill>
          <a:ln/>
        </p:spPr>
        <p:txBody>
          <a:bodyPr/>
          <a:p/>
        </p:txBody>
      </p:sp>
      <p:sp>
        <p:nvSpPr>
          <p:cNvPr id="12" name="Text 9"/>
          <p:cNvSpPr/>
          <p:nvPr/>
        </p:nvSpPr>
        <p:spPr>
          <a:xfrm>
            <a:off x="822960" y="241401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2</a:t>
            </a:r>
            <a:endParaRPr lang="en-US" sz="1400" dirty="0"/>
          </a:p>
        </p:txBody>
      </p:sp>
      <p:sp>
        <p:nvSpPr>
          <p:cNvPr id="13" name="Text 10"/>
          <p:cNvSpPr/>
          <p:nvPr/>
        </p:nvSpPr>
        <p:spPr>
          <a:xfrm>
            <a:off x="1325880" y="2386584"/>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Specialized engineering expertise</a:t>
            </a:r>
            <a:endParaRPr lang="en-US" sz="1450" dirty="0"/>
          </a:p>
        </p:txBody>
      </p:sp>
      <p:sp>
        <p:nvSpPr>
          <p:cNvPr id="14" name="Text 11"/>
          <p:cNvSpPr/>
          <p:nvPr/>
        </p:nvSpPr>
        <p:spPr>
          <a:xfrm>
            <a:off x="1325880" y="2697480"/>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Custom deployable antennas, sensors, large deployable structures, spacecraft mechanisms, and systems engineering, built to work reliably in extreme conditions where repair is impossible.</a:t>
            </a:r>
            <a:endParaRPr lang="en-US" sz="1100" dirty="0"/>
          </a:p>
        </p:txBody>
      </p:sp>
      <p:sp>
        <p:nvSpPr>
          <p:cNvPr id="15" name="Shape 12"/>
          <p:cNvSpPr/>
          <p:nvPr/>
        </p:nvSpPr>
        <p:spPr>
          <a:xfrm>
            <a:off x="822960" y="3383280"/>
            <a:ext cx="347472" cy="347472"/>
          </a:xfrm>
          <a:prstGeom prst="ellipse">
            <a:avLst/>
          </a:prstGeom>
          <a:solidFill>
            <a:srgbClr val="007BCB"/>
          </a:solidFill>
          <a:ln/>
        </p:spPr>
        <p:txBody>
          <a:bodyPr/>
          <a:p/>
        </p:txBody>
      </p:sp>
      <p:sp>
        <p:nvSpPr>
          <p:cNvPr id="16" name="Text 13"/>
          <p:cNvSpPr/>
          <p:nvPr/>
        </p:nvSpPr>
        <p:spPr>
          <a:xfrm>
            <a:off x="822960" y="338328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3</a:t>
            </a:r>
            <a:endParaRPr lang="en-US" sz="1400" dirty="0"/>
          </a:p>
        </p:txBody>
      </p:sp>
      <p:sp>
        <p:nvSpPr>
          <p:cNvPr id="17" name="Text 14"/>
          <p:cNvSpPr/>
          <p:nvPr/>
        </p:nvSpPr>
        <p:spPr>
          <a:xfrm>
            <a:off x="1325880" y="3355848"/>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Lower mission risk</a:t>
            </a:r>
            <a:endParaRPr lang="en-US" sz="1450" dirty="0"/>
          </a:p>
        </p:txBody>
      </p:sp>
      <p:sp>
        <p:nvSpPr>
          <p:cNvPr id="18" name="Text 15"/>
          <p:cNvSpPr/>
          <p:nvPr/>
        </p:nvSpPr>
        <p:spPr>
          <a:xfrm>
            <a:off x="1325880" y="3666744"/>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A record of successful missions and a problem solver approach to difficult hardware challenges reduce technical risk where failure is extremely expensive.</a:t>
            </a:r>
            <a:endParaRPr lang="en-US" sz="1100" dirty="0"/>
          </a:p>
        </p:txBody>
      </p:sp>
      <p:sp>
        <p:nvSpPr>
          <p:cNvPr id="19" name="Shape 16"/>
          <p:cNvSpPr/>
          <p:nvPr/>
        </p:nvSpPr>
        <p:spPr>
          <a:xfrm>
            <a:off x="822960" y="4352544"/>
            <a:ext cx="347472" cy="347472"/>
          </a:xfrm>
          <a:prstGeom prst="ellipse">
            <a:avLst/>
          </a:prstGeom>
          <a:solidFill>
            <a:srgbClr val="007BCB"/>
          </a:solidFill>
          <a:ln/>
        </p:spPr>
        <p:txBody>
          <a:bodyPr/>
          <a:p/>
        </p:txBody>
      </p:sp>
      <p:sp>
        <p:nvSpPr>
          <p:cNvPr id="20" name="Text 17"/>
          <p:cNvSpPr/>
          <p:nvPr/>
        </p:nvSpPr>
        <p:spPr>
          <a:xfrm>
            <a:off x="822960" y="435254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4</a:t>
            </a:r>
            <a:endParaRPr lang="en-US" sz="1400" dirty="0"/>
          </a:p>
        </p:txBody>
      </p:sp>
      <p:sp>
        <p:nvSpPr>
          <p:cNvPr id="21" name="Text 18"/>
          <p:cNvSpPr/>
          <p:nvPr/>
        </p:nvSpPr>
        <p:spPr>
          <a:xfrm>
            <a:off x="1325880" y="4325112"/>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Innovation and future technology</a:t>
            </a:r>
            <a:endParaRPr lang="en-US" sz="1450" dirty="0"/>
          </a:p>
        </p:txBody>
      </p:sp>
      <p:sp>
        <p:nvSpPr>
          <p:cNvPr id="22" name="Text 19"/>
          <p:cNvSpPr/>
          <p:nvPr/>
        </p:nvSpPr>
        <p:spPr>
          <a:xfrm>
            <a:off x="1325880" y="4636008"/>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Development of space based solar power systems designed to collect solar energy in orbit and transmit power to Earth, a pathway toward next generation space infrastructure.</a:t>
            </a:r>
            <a:endParaRPr lang="en-US" sz="1100" dirty="0"/>
          </a:p>
        </p:txBody>
      </p:sp>
      <p:sp>
        <p:nvSpPr>
          <p:cNvPr id="23" name="Text 20"/>
          <p:cNvSpPr/>
          <p:nvPr/>
        </p:nvSpPr>
        <p:spPr>
          <a:xfrm>
            <a:off x="7040880" y="1508760"/>
            <a:ext cx="429768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Release mechanism versus typical SMA devices</a:t>
            </a:r>
            <a:endParaRPr lang="en-US" sz="13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040880" y="1874520"/>
          <a:ext cx="4315968" cy="914400"/>
        </p:xfrm>
        <a:graphic>
          <a:graphicData uri="http://schemas.openxmlformats.org/drawingml/2006/table">
            <a:tbl>
              <a:tblPr/>
              <a:tblGrid>
                <a:gridCol w="1481328"/>
                <a:gridCol w="1417320"/>
                <a:gridCol w="1417320"/>
              </a:tblGrid>
              <a:tr h="566928">
                <a:tc>
                  <a:txBody>
                    <a:bodyPr/>
                    <a:lstStyle/>
                    <a:p>
                      <a:pPr indent="0" marL="0">
                        <a:buNone/>
                      </a:pP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Heliospace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c>
                  <a:txBody>
                    <a:bodyPr/>
                    <a:lstStyle/>
                    <a:p>
                      <a:pPr indent="0" marL="0">
                        <a:buNone/>
                      </a:pPr>
                      <a:r>
                        <a:rPr lang="en-US" sz="950" b="1" dirty="0">
                          <a:solidFill>
                            <a:srgbClr val="FFFFFF"/>
                          </a:solidFill>
                          <a:latin typeface="Garamond" pitchFamily="34" charset="0"/>
                          <a:ea typeface="Garamond" pitchFamily="34" charset="-122"/>
                          <a:cs typeface="Garamond" pitchFamily="34" charset="-120"/>
                        </a:rPr>
                        <a:t>Typical SMA HDRM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10222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Pre deploy temperature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Above 150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90 to 120 C</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Stowed length</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one third of comparable devices</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About 3x axial height</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Redundancy</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Redundant circuits and actuation</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Not redundant at this size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3F7FA"/>
                    </a:solidFill>
                  </a:tcPr>
                </a:tc>
              </a:tr>
              <a:tr h="566928">
                <a:tc>
                  <a:txBody>
                    <a:bodyPr/>
                    <a:lstStyle/>
                    <a:p>
                      <a:pPr indent="0" marL="0">
                        <a:buNone/>
                      </a:pPr>
                      <a:r>
                        <a:rPr lang="en-US" sz="950" b="1" dirty="0">
                          <a:solidFill>
                            <a:srgbClr val="10222F"/>
                          </a:solidFill>
                          <a:latin typeface="Garamond" pitchFamily="34" charset="0"/>
                          <a:ea typeface="Garamond" pitchFamily="34" charset="-122"/>
                          <a:cs typeface="Garamond" pitchFamily="34" charset="-120"/>
                        </a:rPr>
                        <a:t>Reuse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Re usable, non explosive</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c>
                  <a:txBody>
                    <a:bodyPr/>
                    <a:lstStyle/>
                    <a:p>
                      <a:pPr indent="0" marL="0">
                        <a:buNone/>
                      </a:pPr>
                      <a:r>
                        <a:rPr lang="en-US" sz="950" dirty="0">
                          <a:solidFill>
                            <a:srgbClr val="1E2A33"/>
                          </a:solidFill>
                          <a:latin typeface="Garamond" pitchFamily="34" charset="0"/>
                          <a:ea typeface="Garamond" pitchFamily="34" charset="-122"/>
                          <a:cs typeface="Garamond" pitchFamily="34" charset="-120"/>
                        </a:rPr>
                        <a:t>Single use or custom</a:t>
                      </a:r>
                      <a:endParaRPr lang="en-US" sz="950" dirty="0">
                        <a:latin typeface="Garamond" charset="0"/>
                        <a:ea typeface="Garamond" charset="0"/>
                        <a:cs typeface="Garamond" charset="0"/>
                      </a:endParaRPr>
                    </a:p>
                  </a:txBody>
                  <a:tcPr marL="45720" marR="45720" marT="45720" marB="45720" anchor="ctr">
                    <a:lnL w="6350" cap="flat" cmpd="sng" algn="ctr">
                      <a:solidFill>
                        <a:srgbClr val="C6D2DA"/>
                      </a:solidFill>
                      <a:prstDash val="solid"/>
                      <a:round/>
                      <a:headEnd type="none" w="med" len="med"/>
                      <a:tailEnd type="none" w="med" len="med"/>
                    </a:lnL>
                    <a:lnR w="6350" cap="flat" cmpd="sng" algn="ctr">
                      <a:solidFill>
                        <a:srgbClr val="C6D2DA"/>
                      </a:solidFill>
                      <a:prstDash val="solid"/>
                      <a:round/>
                      <a:headEnd type="none" w="med" len="med"/>
                      <a:tailEnd type="none" w="med" len="med"/>
                    </a:lnR>
                    <a:lnT w="6350" cap="flat" cmpd="sng" algn="ctr">
                      <a:solidFill>
                        <a:srgbClr val="C6D2DA"/>
                      </a:solidFill>
                      <a:prstDash val="solid"/>
                      <a:round/>
                      <a:headEnd type="none" w="med" len="med"/>
                      <a:tailEnd type="none" w="med" len="med"/>
                    </a:lnT>
                    <a:lnB w="6350" cap="flat" cmpd="sng" algn="ctr">
                      <a:solidFill>
                        <a:srgbClr val="C6D2DA"/>
                      </a:solidFill>
                      <a:prstDash val="solid"/>
                      <a:round/>
                      <a:headEnd type="none" w="med" len="med"/>
                      <a:tailEnd type="none" w="med" len="med"/>
                    </a:lnB>
                    <a:solidFill>
                      <a:srgbClr val="FFFFFF"/>
                    </a:solidFill>
                  </a:tcPr>
                </a:tc>
              </a:tr>
            </a:tbl>
          </a:graphicData>
        </a:graphic>
      </p:graphicFrame>
      <p:sp>
        <p:nvSpPr>
          <p:cNvPr id="25" name="Text 21"/>
          <p:cNvSpPr/>
          <p:nvPr/>
        </p:nvSpPr>
        <p:spPr>
          <a:xfrm>
            <a:off x="7040880" y="4846320"/>
            <a:ext cx="4297680" cy="256032"/>
          </a:xfrm>
          <a:prstGeom prst="rect">
            <a:avLst/>
          </a:prstGeom>
          <a:noFill/>
          <a:ln/>
        </p:spPr>
        <p:txBody>
          <a:bodyPr wrap="square" lIns="0" tIns="0" rIns="0" bIns="0" rtlCol="0" anchor="ctr"/>
          <a:lstStyle/>
          <a:p>
            <a:pPr indent="0" marL="0">
              <a:buNone/>
            </a:pPr>
            <a:r>
              <a:rPr lang="en-US" sz="900" i="1" dirty="0">
                <a:solidFill>
                  <a:srgbClr val="5C6B76"/>
                </a:solidFill>
                <a:latin typeface="Garamond" pitchFamily="34" charset="0"/>
                <a:ea typeface="Garamond" pitchFamily="34" charset="-122"/>
                <a:cs typeface="Garamond" pitchFamily="34" charset="-120"/>
              </a:rPr>
              <a:t>Source: Heliospace SB2 development program comparison.</a:t>
            </a:r>
            <a:endParaRPr lang="en-US" sz="900" dirty="0"/>
          </a:p>
        </p:txBody>
      </p:sp>
      <p:sp>
        <p:nvSpPr>
          <p:cNvPr id="26" name="Shape 4"/>
          <p:cNvSpPr/>
          <p:nvPr/>
        </p:nvSpPr>
        <p:spPr>
          <a:xfrm>
            <a:off x="822960" y="5321808"/>
            <a:ext cx="347472" cy="347472"/>
          </a:xfrm>
          <a:prstGeom prst="ellipse">
            <a:avLst/>
          </a:prstGeom>
          <a:solidFill>
            <a:srgbClr val="007BCB"/>
          </a:solidFill>
          <a:ln/>
        </p:spPr>
        <p:txBody>
          <a:bodyPr/>
          <a:p/>
        </p:txBody>
      </p:sp>
      <p:sp>
        <p:nvSpPr>
          <p:cNvPr id="27" name="Text 5"/>
          <p:cNvSpPr/>
          <p:nvPr/>
        </p:nvSpPr>
        <p:spPr>
          <a:xfrm>
            <a:off x="822960" y="532180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Garamond" pitchFamily="34" charset="0"/>
                <a:ea typeface="Garamond" pitchFamily="34" charset="-122"/>
                <a:cs typeface="Garamond" pitchFamily="34" charset="-120"/>
              </a:rPr>
              <a:t>5</a:t>
            </a:r>
            <a:endParaRPr lang="en-US" sz="1400" dirty="0"/>
          </a:p>
        </p:txBody>
      </p:sp>
      <p:sp>
        <p:nvSpPr>
          <p:cNvPr id="28" name="Text 6"/>
          <p:cNvSpPr/>
          <p:nvPr/>
        </p:nvSpPr>
        <p:spPr>
          <a:xfrm>
            <a:off x="1325880" y="5294376"/>
            <a:ext cx="5120640" cy="274320"/>
          </a:xfrm>
          <a:prstGeom prst="rect">
            <a:avLst/>
          </a:prstGeom>
          <a:noFill/>
          <a:ln/>
        </p:spPr>
        <p:txBody>
          <a:bodyPr wrap="square" lIns="0" tIns="0" rIns="0" bIns="0" rtlCol="0" anchor="ctr"/>
          <a:lstStyle/>
          <a:p>
            <a:pPr indent="0" marL="0">
              <a:buNone/>
            </a:pPr>
            <a:r>
              <a:rPr lang="en-US" sz="1450" b="1" dirty="0">
                <a:solidFill>
                  <a:srgbClr val="10222F"/>
                </a:solidFill>
                <a:latin typeface="Garamond" pitchFamily="34" charset="0"/>
                <a:ea typeface="Garamond" pitchFamily="34" charset="-122"/>
                <a:cs typeface="Garamond" pitchFamily="34" charset="-120"/>
              </a:rPr>
              <a:t>A flexible partner</a:t>
            </a:r>
            <a:endParaRPr lang="en-US" sz="1450" dirty="0"/>
          </a:p>
        </p:txBody>
      </p:sp>
      <p:sp>
        <p:nvSpPr>
          <p:cNvPr id="29" name="Text 7"/>
          <p:cNvSpPr/>
          <p:nvPr/>
        </p:nvSpPr>
        <p:spPr>
          <a:xfrm>
            <a:off x="1325880" y="5605272"/>
            <a:ext cx="5166360" cy="658368"/>
          </a:xfrm>
          <a:prstGeom prst="rect">
            <a:avLst/>
          </a:prstGeom>
          <a:noFill/>
          <a:ln/>
        </p:spPr>
        <p:txBody>
          <a:bodyPr wrap="square" lIns="0" tIns="0" rIns="0" bIns="0" rtlCol="0" anchor="t"/>
          <a:lstStyle/>
          <a:p>
            <a:pPr indent="0" marL="0">
              <a:lnSpc>
                <a:spcPct val="103000"/>
              </a:lnSpc>
              <a:buNone/>
            </a:pPr>
            <a:r>
              <a:rPr lang="en-US" sz="1100" dirty="0">
                <a:solidFill>
                  <a:srgbClr val="1E2A33"/>
                </a:solidFill>
                <a:latin typeface="Garamond" pitchFamily="34" charset="0"/>
                <a:ea typeface="Garamond" pitchFamily="34" charset="-122"/>
                <a:cs typeface="Garamond" pitchFamily="34" charset="-120"/>
              </a:rPr>
              <a:t>Customized systems rather than only standardized products, for government agencies, private aerospace companies, universities, and research organizations.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CLIENT BASE</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Customers Who Validate the Technology</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13</a:t>
            </a:r>
            <a:endParaRPr lang="en-US" sz="850" dirty="0"/>
          </a:p>
        </p:txBody>
      </p:sp>
      <p:sp>
        <p:nvSpPr>
          <p:cNvPr id="7" name="Text 4"/>
          <p:cNvSpPr/>
          <p:nvPr/>
        </p:nvSpPr>
        <p:spPr>
          <a:xfrm>
            <a:off x="822960" y="1463040"/>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Civil space science</a:t>
            </a:r>
            <a:endParaRPr lang="en-US" sz="1350" dirty="0"/>
          </a:p>
        </p:txBody>
      </p:sp>
      <p:sp>
        <p:nvSpPr>
          <p:cNvPr id="8" name="Text 5"/>
          <p:cNvSpPr/>
          <p:nvPr/>
        </p:nvSpPr>
        <p:spPr>
          <a:xfrm>
            <a:off x="822960" y="1737360"/>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a:t>
            </a:r>
            <a:endParaRPr lang="en-US" sz="1150" dirty="0"/>
          </a:p>
        </p:txBody>
      </p:sp>
      <p:sp>
        <p:nvSpPr>
          <p:cNvPr id="9" name="Text 6"/>
          <p:cNvSpPr/>
          <p:nvPr/>
        </p:nvSpPr>
        <p:spPr>
          <a:xfrm>
            <a:off x="822960" y="2359152"/>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lunar</a:t>
            </a:r>
            <a:endParaRPr lang="en-US" sz="1350" dirty="0"/>
          </a:p>
        </p:txBody>
      </p:sp>
      <p:sp>
        <p:nvSpPr>
          <p:cNvPr id="10" name="Text 7"/>
          <p:cNvSpPr/>
          <p:nvPr/>
        </p:nvSpPr>
        <p:spPr>
          <a:xfrm>
            <a:off x="822960" y="2633472"/>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Firefly Aerospace, Intuitive Machines, SwRI, Draper and iSpace mission teams</a:t>
            </a:r>
            <a:endParaRPr lang="en-US" sz="1150" dirty="0"/>
          </a:p>
        </p:txBody>
      </p:sp>
      <p:sp>
        <p:nvSpPr>
          <p:cNvPr id="11" name="Text 8"/>
          <p:cNvSpPr/>
          <p:nvPr/>
        </p:nvSpPr>
        <p:spPr>
          <a:xfrm>
            <a:off x="822960" y="3255264"/>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Flagship programs</a:t>
            </a:r>
            <a:endParaRPr lang="en-US" sz="1350" dirty="0"/>
          </a:p>
        </p:txBody>
      </p:sp>
      <p:sp>
        <p:nvSpPr>
          <p:cNvPr id="12" name="Text 9"/>
          <p:cNvSpPr/>
          <p:nvPr/>
        </p:nvSpPr>
        <p:spPr>
          <a:xfrm>
            <a:off x="822960" y="3529584"/>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James Webb Space Telescope support; Mars Sample Return concept studies</a:t>
            </a:r>
            <a:endParaRPr lang="en-US" sz="1150" dirty="0"/>
          </a:p>
        </p:txBody>
      </p:sp>
      <p:sp>
        <p:nvSpPr>
          <p:cNvPr id="13" name="Text 10"/>
          <p:cNvSpPr/>
          <p:nvPr/>
        </p:nvSpPr>
        <p:spPr>
          <a:xfrm>
            <a:off x="822960" y="4151376"/>
            <a:ext cx="6217920"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Commercial and philanthropic</a:t>
            </a:r>
            <a:endParaRPr lang="en-US" sz="1350" dirty="0"/>
          </a:p>
        </p:txBody>
      </p:sp>
      <p:sp>
        <p:nvSpPr>
          <p:cNvPr id="14" name="Text 11"/>
          <p:cNvSpPr/>
          <p:nvPr/>
        </p:nvSpPr>
        <p:spPr>
          <a:xfrm>
            <a:off x="822960" y="4425696"/>
            <a:ext cx="6263640" cy="50292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Honeybee Robotics and Blue Origin lander work; Breakthrough Foundation farside mission</a:t>
            </a:r>
            <a:endParaRPr lang="en-US" sz="1150" dirty="0"/>
          </a:p>
        </p:txBody>
      </p:sp>
      <p:sp>
        <p:nvSpPr>
          <p:cNvPr id="15" name="Text 12"/>
          <p:cNvSpPr/>
          <p:nvPr/>
        </p:nvSpPr>
        <p:spPr>
          <a:xfrm>
            <a:off x="822960" y="5074920"/>
            <a:ext cx="3657600" cy="274320"/>
          </a:xfrm>
          <a:prstGeom prst="rect">
            <a:avLst/>
          </a:prstGeom>
          <a:noFill/>
          <a:ln/>
        </p:spPr>
        <p:txBody>
          <a:bodyPr wrap="square" lIns="0" tIns="0" rIns="0" bIns="0" rtlCol="0" anchor="ctr"/>
          <a:lstStyle/>
          <a:p>
            <a:pPr indent="0" marL="0">
              <a:buNone/>
            </a:pPr>
            <a:r>
              <a:rPr lang="en-US" sz="1350" b="1" dirty="0">
                <a:solidFill>
                  <a:srgbClr val="10222F"/>
                </a:solidFill>
                <a:latin typeface="Garamond" pitchFamily="34" charset="0"/>
                <a:ea typeface="Garamond" pitchFamily="34" charset="-122"/>
                <a:cs typeface="Garamond" pitchFamily="34" charset="-120"/>
              </a:rPr>
              <a:t>Why they stay</a:t>
            </a:r>
            <a:endParaRPr lang="en-US" sz="1350" dirty="0"/>
          </a:p>
        </p:txBody>
      </p:sp>
      <p:sp>
        <p:nvSpPr>
          <p:cNvPr id="16" name="Text 13"/>
          <p:cNvSpPr/>
          <p:nvPr/>
        </p:nvSpPr>
        <p:spPr>
          <a:xfrm>
            <a:off x="822960" y="5394960"/>
            <a:ext cx="6217920" cy="10058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Supplier of record on marquee missions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On schedule delivery for launch critical payloads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Repeat awards across programs and platforms</a:t>
            </a:r>
            <a:endParaRPr lang="en-US" sz="1100" dirty="0"/>
          </a:p>
        </p:txBody>
      </p:sp>
      <p:pic>
        <p:nvPicPr>
          <p:cNvPr id="17" name="Image 1" descr="assets/s11_team.jpg">    </p:cNvPr>
          <p:cNvPicPr>
            <a:picLocks noChangeAspect="1"/>
          </p:cNvPicPr>
          <p:nvPr/>
        </p:nvPicPr>
        <p:blipFill>
          <a:blip r:embed="rId2"/>
          <a:stretch>
            <a:fillRect/>
          </a:stretch>
        </p:blipFill>
        <p:spPr>
          <a:xfrm>
            <a:off x="7360920" y="1463040"/>
            <a:ext cx="4005072" cy="2670048"/>
          </a:xfrm>
          <a:prstGeom prst="rect">
            <a:avLst/>
          </a:prstGeom>
        </p:spPr>
      </p:pic>
      <p:sp>
        <p:nvSpPr>
          <p:cNvPr id="18" name="Shape 14"/>
          <p:cNvSpPr/>
          <p:nvPr/>
        </p:nvSpPr>
        <p:spPr>
          <a:xfrm>
            <a:off x="7360920" y="1463040"/>
            <a:ext cx="4005072" cy="2670048"/>
          </a:xfrm>
          <a:prstGeom prst="rect">
            <a:avLst/>
          </a:prstGeom>
          <a:ln w="12700">
            <a:solidFill>
              <a:srgbClr val="C6D2DA"/>
            </a:solidFill>
            <a:prstDash val="solid"/>
          </a:ln>
        </p:spPr>
        <p:txBody>
          <a:bodyPr/>
          <a:p/>
        </p:txBody>
      </p:sp>
      <p:sp>
        <p:nvSpPr>
          <p:cNvPr id="19" name="Text 15"/>
          <p:cNvSpPr/>
          <p:nvPr/>
        </p:nvSpPr>
        <p:spPr>
          <a:xfrm>
            <a:off x="7360920" y="4160520"/>
            <a:ext cx="4005072" cy="274320"/>
          </a:xfrm>
          <a:prstGeom prst="rect">
            <a:avLst/>
          </a:prstGeom>
          <a:noFill/>
          <a:ln/>
        </p:spPr>
        <p:txBody>
          <a:bodyPr wrap="square" lIns="0" tIns="0" rIns="0" bIns="0" rtlCol="0" anchor="ctr"/>
          <a:lstStyle/>
          <a:p>
            <a:pPr indent="0" marL="0">
              <a:buNone/>
            </a:pPr>
            <a:r>
              <a:rPr lang="en-US" sz="950" i="1" dirty="0">
                <a:solidFill>
                  <a:srgbClr val="5C6B76"/>
                </a:solidFill>
                <a:latin typeface="Garamond" pitchFamily="34" charset="0"/>
                <a:ea typeface="Garamond" pitchFamily="34" charset="-122"/>
                <a:cs typeface="Garamond" pitchFamily="34" charset="-120"/>
              </a:rPr>
              <a:t>Flight hardware assembly at the Berkeley facility.</a:t>
            </a:r>
            <a:endParaRPr lang="en-US" sz="950" dirty="0"/>
          </a:p>
        </p:txBody>
      </p:sp>
      <p:sp>
        <p:nvSpPr>
          <p:cNvPr id="20" name="Shape 16"/>
          <p:cNvSpPr/>
          <p:nvPr/>
        </p:nvSpPr>
        <p:spPr>
          <a:xfrm>
            <a:off x="7360920" y="4617720"/>
            <a:ext cx="4005072" cy="1554480"/>
          </a:xfrm>
          <a:prstGeom prst="roundRect">
            <a:avLst>
              <a:gd name="adj" fmla="val 2941"/>
            </a:avLst>
          </a:prstGeom>
          <a:solidFill>
            <a:srgbClr val="F3F7FA"/>
          </a:solidFill>
          <a:ln/>
        </p:spPr>
        <p:txBody>
          <a:bodyPr/>
          <a:p/>
        </p:txBody>
      </p:sp>
      <p:sp>
        <p:nvSpPr>
          <p:cNvPr id="21" name="Text 17"/>
          <p:cNvSpPr/>
          <p:nvPr/>
        </p:nvSpPr>
        <p:spPr>
          <a:xfrm>
            <a:off x="7589520" y="4828032"/>
            <a:ext cx="1188720" cy="502920"/>
          </a:xfrm>
          <a:prstGeom prst="rect">
            <a:avLst/>
          </a:prstGeom>
          <a:noFill/>
          <a:ln/>
        </p:spPr>
        <p:txBody>
          <a:bodyPr wrap="square" lIns="0" tIns="0" rIns="0" bIns="0" rtlCol="0" anchor="ctr"/>
          <a:lstStyle/>
          <a:p>
            <a:pPr indent="0" marL="0">
              <a:buNone/>
            </a:pPr>
            <a:r>
              <a:rPr lang="en-US" sz="3000" b="1" dirty="0">
                <a:solidFill>
                  <a:srgbClr val="007BCB"/>
                </a:solidFill>
                <a:latin typeface="Garamond" pitchFamily="34" charset="0"/>
                <a:ea typeface="Garamond" pitchFamily="34" charset="-122"/>
                <a:cs typeface="Garamond" pitchFamily="34" charset="-120"/>
              </a:rPr>
              <a:t>10+</a:t>
            </a:r>
            <a:endParaRPr lang="en-US" sz="3000" dirty="0"/>
          </a:p>
        </p:txBody>
      </p:sp>
      <p:sp>
        <p:nvSpPr>
          <p:cNvPr id="22" name="Text 18"/>
          <p:cNvSpPr/>
          <p:nvPr/>
        </p:nvSpPr>
        <p:spPr>
          <a:xfrm>
            <a:off x="8732520" y="4864608"/>
            <a:ext cx="2514600" cy="109728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missions supported across NASA, ESA, and commercial programs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GROWTH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From Heritage Programs to Product Scale</a:t>
            </a:r>
            <a:endParaRPr lang="en-US" sz="2900" dirty="0"/>
          </a:p>
        </p:txBody>
      </p:sp>
      <p:pic>
        <p:nvPicPr>
          <p:cNvPr id="4" name="Image 0" descr="assets/logo_dark.jpg">    </p:cNvPr>
          <p:cNvPicPr>
            <a:picLocks noChangeAspect="1"/>
          </p:cNvPicPr>
          <p:nvPr/>
        </p:nvPicPr>
        <p:blipFill>
          <a:blip r:embed="rId1"/>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14</a:t>
            </a:r>
            <a:endParaRPr lang="en-US" sz="850" dirty="0"/>
          </a:p>
        </p:txBody>
      </p:sp>
      <p:sp>
        <p:nvSpPr>
          <p:cNvPr id="7" name="Shape 4"/>
          <p:cNvSpPr/>
          <p:nvPr/>
        </p:nvSpPr>
        <p:spPr>
          <a:xfrm>
            <a:off x="822960" y="1554480"/>
            <a:ext cx="2651760" cy="3246120"/>
          </a:xfrm>
          <a:prstGeom prst="roundRect">
            <a:avLst>
              <a:gd name="adj" fmla="val 1724"/>
            </a:avLst>
          </a:prstGeom>
          <a:solidFill>
            <a:srgbClr val="F3F7FA"/>
          </a:solidFill>
          <a:ln/>
        </p:spPr>
        <p:txBody>
          <a:bodyPr/>
          <a:p/>
        </p:txBody>
      </p:sp>
      <p:sp>
        <p:nvSpPr>
          <p:cNvPr id="8" name="Shape 5"/>
          <p:cNvSpPr/>
          <p:nvPr/>
        </p:nvSpPr>
        <p:spPr>
          <a:xfrm>
            <a:off x="1005840" y="1755648"/>
            <a:ext cx="384048" cy="384048"/>
          </a:xfrm>
          <a:prstGeom prst="ellipse">
            <a:avLst/>
          </a:prstGeom>
          <a:solidFill>
            <a:srgbClr val="007BCB"/>
          </a:solidFill>
          <a:ln/>
        </p:spPr>
        <p:txBody>
          <a:bodyPr/>
          <a:p/>
        </p:txBody>
      </p:sp>
      <p:sp>
        <p:nvSpPr>
          <p:cNvPr id="9" name="Text 6"/>
          <p:cNvSpPr/>
          <p:nvPr/>
        </p:nvSpPr>
        <p:spPr>
          <a:xfrm>
            <a:off x="1005840"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0" name="Text 7"/>
          <p:cNvSpPr/>
          <p:nvPr/>
        </p:nvSpPr>
        <p:spPr>
          <a:xfrm>
            <a:off x="1005840"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Productize</a:t>
            </a:r>
            <a:endParaRPr lang="en-US" sz="1550" dirty="0"/>
          </a:p>
        </p:txBody>
      </p:sp>
      <p:sp>
        <p:nvSpPr>
          <p:cNvPr id="11" name="Text 8"/>
          <p:cNvSpPr/>
          <p:nvPr/>
        </p:nvSpPr>
        <p:spPr>
          <a:xfrm>
            <a:off x="1005840"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Convert mission unique heritage into the standard SABER catalog with published interfaces, catalog pricing, and lead times measured in weeks.</a:t>
            </a:r>
            <a:endParaRPr lang="en-US" sz="1100" dirty="0"/>
          </a:p>
        </p:txBody>
      </p:sp>
      <p:sp>
        <p:nvSpPr>
          <p:cNvPr id="12" name="Shape 9"/>
          <p:cNvSpPr/>
          <p:nvPr/>
        </p:nvSpPr>
        <p:spPr>
          <a:xfrm>
            <a:off x="3621024" y="1554480"/>
            <a:ext cx="2651760" cy="3246120"/>
          </a:xfrm>
          <a:prstGeom prst="roundRect">
            <a:avLst>
              <a:gd name="adj" fmla="val 1724"/>
            </a:avLst>
          </a:prstGeom>
          <a:solidFill>
            <a:srgbClr val="F3F7FA"/>
          </a:solidFill>
          <a:ln/>
        </p:spPr>
        <p:txBody>
          <a:bodyPr/>
          <a:p/>
        </p:txBody>
      </p:sp>
      <p:sp>
        <p:nvSpPr>
          <p:cNvPr id="13" name="Shape 10"/>
          <p:cNvSpPr/>
          <p:nvPr/>
        </p:nvSpPr>
        <p:spPr>
          <a:xfrm>
            <a:off x="3803904" y="1755648"/>
            <a:ext cx="384048" cy="384048"/>
          </a:xfrm>
          <a:prstGeom prst="ellipse">
            <a:avLst/>
          </a:prstGeom>
          <a:solidFill>
            <a:srgbClr val="007BCB"/>
          </a:solidFill>
          <a:ln/>
        </p:spPr>
        <p:txBody>
          <a:bodyPr/>
          <a:p/>
        </p:txBody>
      </p:sp>
      <p:sp>
        <p:nvSpPr>
          <p:cNvPr id="14" name="Text 11"/>
          <p:cNvSpPr/>
          <p:nvPr/>
        </p:nvSpPr>
        <p:spPr>
          <a:xfrm>
            <a:off x="3803904"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5" name="Text 12"/>
          <p:cNvSpPr/>
          <p:nvPr/>
        </p:nvSpPr>
        <p:spPr>
          <a:xfrm>
            <a:off x="3803904"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Scale production</a:t>
            </a:r>
            <a:endParaRPr lang="en-US" sz="1550" dirty="0"/>
          </a:p>
        </p:txBody>
      </p:sp>
      <p:sp>
        <p:nvSpPr>
          <p:cNvPr id="16" name="Text 13"/>
          <p:cNvSpPr/>
          <p:nvPr/>
        </p:nvSpPr>
        <p:spPr>
          <a:xfrm>
            <a:off x="3803904"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Expand Berkeley capacity and the in house boom forming line to serve constellation class order volumes without sole source risk.</a:t>
            </a:r>
            <a:endParaRPr lang="en-US" sz="1100" dirty="0"/>
          </a:p>
        </p:txBody>
      </p:sp>
      <p:sp>
        <p:nvSpPr>
          <p:cNvPr id="17" name="Shape 14"/>
          <p:cNvSpPr/>
          <p:nvPr/>
        </p:nvSpPr>
        <p:spPr>
          <a:xfrm>
            <a:off x="6419088" y="1554480"/>
            <a:ext cx="2651760" cy="3246120"/>
          </a:xfrm>
          <a:prstGeom prst="roundRect">
            <a:avLst>
              <a:gd name="adj" fmla="val 1724"/>
            </a:avLst>
          </a:prstGeom>
          <a:solidFill>
            <a:srgbClr val="F3F7FA"/>
          </a:solidFill>
          <a:ln/>
        </p:spPr>
        <p:txBody>
          <a:bodyPr/>
          <a:p/>
        </p:txBody>
      </p:sp>
      <p:sp>
        <p:nvSpPr>
          <p:cNvPr id="18" name="Shape 15"/>
          <p:cNvSpPr/>
          <p:nvPr/>
        </p:nvSpPr>
        <p:spPr>
          <a:xfrm>
            <a:off x="6601968" y="1755648"/>
            <a:ext cx="384048" cy="384048"/>
          </a:xfrm>
          <a:prstGeom prst="ellipse">
            <a:avLst/>
          </a:prstGeom>
          <a:solidFill>
            <a:srgbClr val="007BCB"/>
          </a:solidFill>
          <a:ln/>
        </p:spPr>
        <p:txBody>
          <a:bodyPr/>
          <a:p/>
        </p:txBody>
      </p:sp>
      <p:sp>
        <p:nvSpPr>
          <p:cNvPr id="19" name="Text 16"/>
          <p:cNvSpPr/>
          <p:nvPr/>
        </p:nvSpPr>
        <p:spPr>
          <a:xfrm>
            <a:off x="6601968" y="17556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3</a:t>
            </a:r>
            <a:endParaRPr lang="en-US" sz="1500" dirty="0"/>
          </a:p>
        </p:txBody>
      </p:sp>
      <p:sp>
        <p:nvSpPr>
          <p:cNvPr id="20" name="Text 17"/>
          <p:cNvSpPr/>
          <p:nvPr/>
        </p:nvSpPr>
        <p:spPr>
          <a:xfrm>
            <a:off x="6601968" y="2286000"/>
            <a:ext cx="2331720" cy="292608"/>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Expand markets</a:t>
            </a:r>
            <a:endParaRPr lang="en-US" sz="1550" dirty="0"/>
          </a:p>
        </p:txBody>
      </p:sp>
      <p:sp>
        <p:nvSpPr>
          <p:cNvPr id="21" name="Text 18"/>
          <p:cNvSpPr/>
          <p:nvPr/>
        </p:nvSpPr>
        <p:spPr>
          <a:xfrm>
            <a:off x="6601968" y="2633472"/>
            <a:ext cx="2331720" cy="201168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Grow beyond civil science into US defense and commercial constellation primes, and serve allied international customers in Europe, Japan, Canada, and Australia under US export licenses.</a:t>
            </a:r>
            <a:endParaRPr lang="en-US" sz="1100" dirty="0"/>
          </a:p>
        </p:txBody>
      </p:sp>
      <p:pic>
        <p:nvPicPr>
          <p:cNvPr id="22" name="Image 1" descr="assets/s12_prod.jpg">    </p:cNvPr>
          <p:cNvPicPr>
            <a:picLocks noChangeAspect="1"/>
          </p:cNvPicPr>
          <p:nvPr/>
        </p:nvPicPr>
        <p:blipFill>
          <a:blip r:embed="rId2"/>
          <a:stretch>
            <a:fillRect/>
          </a:stretch>
        </p:blipFill>
        <p:spPr>
          <a:xfrm>
            <a:off x="9189720" y="1554480"/>
            <a:ext cx="2176272" cy="3246120"/>
          </a:xfrm>
          <a:prstGeom prst="rect">
            <a:avLst/>
          </a:prstGeom>
        </p:spPr>
      </p:pic>
      <p:sp>
        <p:nvSpPr>
          <p:cNvPr id="23" name="Shape 19"/>
          <p:cNvSpPr/>
          <p:nvPr/>
        </p:nvSpPr>
        <p:spPr>
          <a:xfrm>
            <a:off x="9189720" y="1554480"/>
            <a:ext cx="2176272" cy="3246120"/>
          </a:xfrm>
          <a:prstGeom prst="rect">
            <a:avLst/>
          </a:prstGeom>
          <a:ln w="12700">
            <a:solidFill>
              <a:srgbClr val="C6D2DA"/>
            </a:solidFill>
            <a:prstDash val="solid"/>
          </a:ln>
        </p:spPr>
        <p:txBody>
          <a:bodyPr/>
          <a:p/>
        </p:txBody>
      </p:sp>
      <p:sp>
        <p:nvSpPr>
          <p:cNvPr id="24" name="Shape 20"/>
          <p:cNvSpPr/>
          <p:nvPr/>
        </p:nvSpPr>
        <p:spPr>
          <a:xfrm>
            <a:off x="822960" y="5029200"/>
            <a:ext cx="10543032" cy="1234440"/>
          </a:xfrm>
          <a:prstGeom prst="roundRect">
            <a:avLst>
              <a:gd name="adj" fmla="val 3704"/>
            </a:avLst>
          </a:prstGeom>
          <a:solidFill>
            <a:srgbClr val="EDF3F8"/>
          </a:solidFill>
          <a:ln w="9525">
            <a:solidFill>
              <a:srgbClr val="C6D2DA"/>
            </a:solidFill>
            <a:prstDash val="solid"/>
          </a:ln>
        </p:spPr>
        <p:txBody>
          <a:bodyPr/>
          <a:p/>
        </p:txBody>
      </p:sp>
      <p:sp>
        <p:nvSpPr>
          <p:cNvPr id="25" name="Text 21"/>
          <p:cNvSpPr/>
          <p:nvPr/>
        </p:nvSpPr>
        <p:spPr>
          <a:xfrm>
            <a:off x="1005840" y="5138928"/>
            <a:ext cx="3200400" cy="256032"/>
          </a:xfrm>
          <a:prstGeom prst="rect">
            <a:avLst/>
          </a:prstGeom>
          <a:noFill/>
          <a:ln/>
        </p:spPr>
        <p:txBody>
          <a:bodyPr wrap="square" lIns="0" tIns="0" rIns="0" bIns="0" rtlCol="0" anchor="ctr"/>
          <a:lstStyle/>
          <a:p>
            <a:pPr indent="0" marL="0">
              <a:buNone/>
            </a:pPr>
            <a:r>
              <a:rPr lang="en-US" sz="1250" b="1" dirty="0">
                <a:solidFill>
                  <a:srgbClr val="10222F"/>
                </a:solidFill>
                <a:latin typeface="Garamond" pitchFamily="34" charset="0"/>
                <a:ea typeface="Garamond" pitchFamily="34" charset="-122"/>
                <a:cs typeface="Garamond" pitchFamily="34" charset="-120"/>
              </a:rPr>
              <a:t>Export compliance</a:t>
            </a:r>
            <a:endParaRPr lang="en-US" sz="1250" dirty="0"/>
          </a:p>
        </p:txBody>
      </p:sp>
      <p:sp>
        <p:nvSpPr>
          <p:cNvPr id="26" name="Text 22"/>
          <p:cNvSpPr/>
          <p:nvPr/>
        </p:nvSpPr>
        <p:spPr>
          <a:xfrm>
            <a:off x="1005840" y="5413248"/>
            <a:ext cx="10149840" cy="77724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Heliospace hardware and technical data are subject to US export controls under ITAR and the EAR. All international business is pursued only under required US Government authorizations, supported by an internal export compliance program.</a:t>
            </a:r>
            <a:endParaRPr lang="en-US" sz="10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A Disciplined Two Phase Approach</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15</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Market entry is sequenced in two phases, with production investment committed only after the quality of orders has been confirmed.</a:t>
            </a:r>
            <a:endParaRPr lang="en-US" sz="1300" dirty="0"/>
          </a:p>
        </p:txBody>
      </p:sp>
      <p:sp>
        <p:nvSpPr>
          <p:cNvPr id="8" name="Shape 4"/>
          <p:cNvSpPr/>
          <p:nvPr/>
        </p:nvSpPr>
        <p:spPr>
          <a:xfrm>
            <a:off x="822960" y="1874519"/>
            <a:ext cx="5175504" cy="3429000"/>
          </a:xfrm>
          <a:prstGeom prst="roundRect">
            <a:avLst>
              <a:gd name="adj" fmla="val 1724"/>
            </a:avLst>
          </a:prstGeom>
          <a:solidFill>
            <a:srgbClr val="F3F7FA"/>
          </a:solidFill>
          <a:ln/>
        </p:spPr>
        <p:txBody>
          <a:bodyPr/>
          <a:p/>
        </p:txBody>
      </p:sp>
      <p:sp>
        <p:nvSpPr>
          <p:cNvPr id="9" name="Shape 5"/>
          <p:cNvSpPr/>
          <p:nvPr/>
        </p:nvSpPr>
        <p:spPr>
          <a:xfrm>
            <a:off x="1005840" y="2075687"/>
            <a:ext cx="384048" cy="384048"/>
          </a:xfrm>
          <a:prstGeom prst="ellipse">
            <a:avLst/>
          </a:prstGeom>
          <a:solidFill>
            <a:srgbClr val="007BCB"/>
          </a:solidFill>
          <a:ln/>
        </p:spPr>
        <p:txBody>
          <a:bodyPr/>
          <a:p/>
        </p:txBody>
      </p:sp>
      <p:sp>
        <p:nvSpPr>
          <p:cNvPr id="10" name="Text 6"/>
          <p:cNvSpPr/>
          <p:nvPr/>
        </p:nvSpPr>
        <p:spPr>
          <a:xfrm>
            <a:off x="1005840"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1</a:t>
            </a:r>
            <a:endParaRPr lang="en-US" sz="1500" dirty="0"/>
          </a:p>
        </p:txBody>
      </p:sp>
      <p:sp>
        <p:nvSpPr>
          <p:cNvPr id="11" name="Text 7"/>
          <p:cNvSpPr/>
          <p:nvPr/>
        </p:nvSpPr>
        <p:spPr>
          <a:xfrm>
            <a:off x="1005840"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Sell to Overseas Clients and Take Orders</a:t>
            </a:r>
            <a:endParaRPr lang="en-US" sz="1550" dirty="0"/>
          </a:p>
        </p:txBody>
      </p:sp>
      <p:sp>
        <p:nvSpPr>
          <p:cNvPr id="12" name="Text 8"/>
          <p:cNvSpPr/>
          <p:nvPr/>
        </p:nvSpPr>
        <p:spPr>
          <a:xfrm>
            <a:off x="1005840"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Sell products to overseas clients, establish a base of export customers, and convert engagement into a firm order book. Every component in the current portfolio is available for sale to overseas clients, allowing revenue capture from existing product lines without new development.</a:t>
            </a:r>
            <a:endParaRPr lang="en-US" sz="1100" dirty="0"/>
          </a:p>
        </p:txBody>
      </p:sp>
      <p:sp>
        <p:nvSpPr>
          <p:cNvPr id="13" name="Shape 4"/>
          <p:cNvSpPr/>
          <p:nvPr/>
        </p:nvSpPr>
        <p:spPr>
          <a:xfrm>
            <a:off x="6190488" y="1874519"/>
            <a:ext cx="5175504" cy="3429000"/>
          </a:xfrm>
          <a:prstGeom prst="roundRect">
            <a:avLst>
              <a:gd name="adj" fmla="val 1724"/>
            </a:avLst>
          </a:prstGeom>
          <a:solidFill>
            <a:srgbClr val="F3F7FA"/>
          </a:solidFill>
          <a:ln/>
        </p:spPr>
        <p:txBody>
          <a:bodyPr/>
          <a:p/>
        </p:txBody>
      </p:sp>
      <p:sp>
        <p:nvSpPr>
          <p:cNvPr id="14" name="Shape 5"/>
          <p:cNvSpPr/>
          <p:nvPr/>
        </p:nvSpPr>
        <p:spPr>
          <a:xfrm>
            <a:off x="6373368" y="2075687"/>
            <a:ext cx="384048" cy="384048"/>
          </a:xfrm>
          <a:prstGeom prst="ellipse">
            <a:avLst/>
          </a:prstGeom>
          <a:solidFill>
            <a:srgbClr val="007BCB"/>
          </a:solidFill>
          <a:ln/>
        </p:spPr>
        <p:txBody>
          <a:bodyPr/>
          <a:p/>
        </p:txBody>
      </p:sp>
      <p:sp>
        <p:nvSpPr>
          <p:cNvPr id="15" name="Text 6"/>
          <p:cNvSpPr/>
          <p:nvPr/>
        </p:nvSpPr>
        <p:spPr>
          <a:xfrm>
            <a:off x="6373368" y="2075687"/>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Garamond" pitchFamily="34" charset="0"/>
                <a:ea typeface="Garamond" pitchFamily="34" charset="-122"/>
                <a:cs typeface="Garamond" pitchFamily="34" charset="-120"/>
              </a:rPr>
              <a:t>2</a:t>
            </a:r>
            <a:endParaRPr lang="en-US" sz="1500" dirty="0"/>
          </a:p>
        </p:txBody>
      </p:sp>
      <p:sp>
        <p:nvSpPr>
          <p:cNvPr id="16" name="Text 7"/>
          <p:cNvSpPr/>
          <p:nvPr/>
        </p:nvSpPr>
        <p:spPr>
          <a:xfrm>
            <a:off x="6373368" y="2606039"/>
            <a:ext cx="4809744" cy="640080"/>
          </a:xfrm>
          <a:prstGeom prst="rect">
            <a:avLst/>
          </a:prstGeom>
          <a:noFill/>
          <a:ln/>
        </p:spPr>
        <p:txBody>
          <a:bodyPr wrap="square" lIns="0" tIns="0" rIns="0" bIns="0" rtlCol="0" anchor="ctr"/>
          <a:lstStyle/>
          <a:p>
            <a:pPr indent="0" marL="0">
              <a:buNone/>
            </a:pPr>
            <a:r>
              <a:rPr lang="en-US" sz="1550" b="1" dirty="0">
                <a:solidFill>
                  <a:srgbClr val="10222F"/>
                </a:solidFill>
                <a:latin typeface="Garamond" pitchFamily="34" charset="0"/>
                <a:ea typeface="Garamond" pitchFamily="34" charset="-122"/>
                <a:cs typeface="Garamond" pitchFamily="34" charset="-120"/>
              </a:rPr>
              <a:t>Establish Supply Chain and Volume Production in China</a:t>
            </a:r>
            <a:endParaRPr lang="en-US" sz="1550" dirty="0"/>
          </a:p>
        </p:txBody>
      </p:sp>
      <p:sp>
        <p:nvSpPr>
          <p:cNvPr id="17" name="Text 8"/>
          <p:cNvSpPr/>
          <p:nvPr/>
        </p:nvSpPr>
        <p:spPr>
          <a:xfrm>
            <a:off x="6373368" y="3337559"/>
            <a:ext cx="4809744" cy="2194560"/>
          </a:xfrm>
          <a:prstGeom prst="rect">
            <a:avLst/>
          </a:prstGeom>
          <a:noFill/>
          <a:ln/>
        </p:spPr>
        <p:txBody>
          <a:bodyPr wrap="square" lIns="0" tIns="0" rIns="0" bIns="0" rtlCol="0" anchor="t"/>
          <a:lstStyle/>
          <a:p>
            <a:pPr indent="0" marL="0">
              <a:lnSpc>
                <a:spcPct val="106000"/>
              </a:lnSpc>
              <a:buNone/>
            </a:pPr>
            <a:r>
              <a:rPr lang="en-US" sz="1100" dirty="0">
                <a:solidFill>
                  <a:srgbClr val="1E2A33"/>
                </a:solidFill>
                <a:latin typeface="Garamond" pitchFamily="34" charset="0"/>
                <a:ea typeface="Garamond" pitchFamily="34" charset="-122"/>
                <a:cs typeface="Garamond" pitchFamily="34" charset="-120"/>
              </a:rPr>
              <a:t>Once the quality of orders has been confirmed, establish a dedicated supply chain in China and stand up large scale production capacity. Volume manufacturing then serves the export order book with consistent quality and competitive cost.</a:t>
            </a:r>
            <a:endParaRPr lang="en-US" sz="1100" dirty="0"/>
          </a:p>
        </p:txBody>
      </p:sp>
      <p:sp>
        <p:nvSpPr>
          <p:cNvPr id="18" name="Text 22"/>
          <p:cNvSpPr/>
          <p:nvPr/>
        </p:nvSpPr>
        <p:spPr>
          <a:xfrm>
            <a:off x="822960" y="5577840"/>
            <a:ext cx="10543032" cy="365760"/>
          </a:xfrm>
          <a:prstGeom prst="rect">
            <a:avLst/>
          </a:prstGeom>
          <a:noFill/>
          <a:ln/>
        </p:spPr>
        <p:txBody>
          <a:bodyPr wrap="square" lIns="0" tIns="0" rIns="0" bIns="0" rtlCol="0" anchor="t"/>
          <a:lstStyle/>
          <a:p>
            <a:pPr indent="0" marL="0">
              <a:lnSpc>
                <a:spcPct val="102000"/>
              </a:lnSpc>
              <a:buNone/>
            </a:pPr>
            <a:r>
              <a:rPr lang="en-US" sz="1050" dirty="0">
                <a:solidFill>
                  <a:srgbClr val="1E2A33"/>
                </a:solidFill>
                <a:latin typeface="Garamond" pitchFamily="34" charset="0"/>
                <a:ea typeface="Garamond" pitchFamily="34" charset="-122"/>
                <a:cs typeface="Garamond" pitchFamily="34" charset="-120"/>
              </a:rPr>
              <a:t>Capital deployment in Phase Two is gated on confirmed order quality, keeping production capacity aligned with demonstrated demand.</a:t>
            </a:r>
            <a:endParaRPr lang="en-US" sz="10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822960" y="457200"/>
            <a:ext cx="7772400" cy="274320"/>
          </a:xfrm>
          <a:prstGeom prst="rect">
            <a:avLst/>
          </a:prstGeom>
          <a:noFill/>
          <a:ln/>
        </p:spPr>
        <p:txBody>
          <a:bodyPr wrap="square" lIns="0" tIns="0" rIns="0" bIns="0" rtlCol="0" anchor="ctr"/>
          <a:lstStyle/>
          <a:p>
            <a:pPr indent="0" marL="0">
              <a:buNone/>
            </a:pPr>
            <a:r>
              <a:rPr lang="en-US" sz="1100" b="1" spc="300" kern="0" dirty="0">
                <a:solidFill>
                  <a:srgbClr val="007BCB"/>
                </a:solidFill>
                <a:latin typeface="Garamond" pitchFamily="34" charset="0"/>
                <a:ea typeface="Garamond" pitchFamily="34" charset="-122"/>
                <a:cs typeface="Garamond" pitchFamily="34" charset="-120"/>
              </a:rPr>
              <a:t>CHINA STRATEGY</a:t>
            </a:r>
            <a:endParaRPr lang="en-US" sz="1100" dirty="0"/>
          </a:p>
        </p:txBody>
      </p:sp>
      <p:sp>
        <p:nvSpPr>
          <p:cNvPr id="3" name="Text 1"/>
          <p:cNvSpPr/>
          <p:nvPr/>
        </p:nvSpPr>
        <p:spPr>
          <a:xfrm>
            <a:off x="822960" y="713232"/>
            <a:ext cx="8961120" cy="566928"/>
          </a:xfrm>
          <a:prstGeom prst="rect">
            <a:avLst/>
          </a:prstGeom>
          <a:noFill/>
          <a:ln/>
        </p:spPr>
        <p:txBody>
          <a:bodyPr wrap="square" lIns="0" tIns="0" rIns="0" bIns="0" rtlCol="0" anchor="ctr"/>
          <a:lstStyle/>
          <a:p>
            <a:pPr indent="0" marL="0">
              <a:buNone/>
            </a:pPr>
            <a:r>
              <a:rPr lang="en-US" sz="2900" b="1" dirty="0">
                <a:solidFill>
                  <a:srgbClr val="10222F"/>
                </a:solidFill>
                <a:latin typeface="Garamond" pitchFamily="34" charset="0"/>
                <a:ea typeface="Garamond" pitchFamily="34" charset="-122"/>
                <a:cs typeface="Garamond" pitchFamily="34" charset="-120"/>
              </a:rPr>
              <a:t>Competitive Position and Route to Market</a:t>
            </a:r>
            <a:endParaRPr lang="en-US" sz="2900" dirty="0"/>
          </a:p>
        </p:txBody>
      </p:sp>
      <p:pic>
        <p:nvPicPr>
          <p:cNvPr id="4" name="Image 0" descr="assets/logo_dark.jpg">    </p:cNvPr>
          <p:cNvPicPr>
            <a:picLocks noChangeAspect="1"/>
          </p:cNvPicPr>
          <p:nvPr/>
        </p:nvPicPr>
        <p:blipFill>
          <a:blip r:embed="rId2"/>
          <a:stretch>
            <a:fillRect/>
          </a:stretch>
        </p:blipFill>
        <p:spPr>
          <a:xfrm>
            <a:off x="10058400" y="475488"/>
            <a:ext cx="1325880" cy="372161"/>
          </a:xfrm>
          <a:prstGeom prst="rect">
            <a:avLst/>
          </a:prstGeom>
        </p:spPr>
      </p:pic>
      <p:sp>
        <p:nvSpPr>
          <p:cNvPr id="5" name="Text 2"/>
          <p:cNvSpPr/>
          <p:nvPr/>
        </p:nvSpPr>
        <p:spPr>
          <a:xfrm>
            <a:off x="822960" y="6492240"/>
            <a:ext cx="5943600" cy="237744"/>
          </a:xfrm>
          <a:prstGeom prst="rect">
            <a:avLst/>
          </a:prstGeom>
          <a:noFill/>
          <a:ln/>
        </p:spPr>
        <p:txBody>
          <a:bodyPr wrap="square" lIns="0" tIns="0" rIns="0" bIns="0" rtlCol="0" anchor="ctr"/>
          <a:lstStyle/>
          <a:p>
            <a:pPr indent="0" marL="0">
              <a:buNone/>
            </a:pPr>
            <a:r>
              <a:rPr lang="en-US" sz="850" dirty="0">
                <a:solidFill>
                  <a:srgbClr val="5C6B76"/>
                </a:solidFill>
                <a:latin typeface="Garamond" pitchFamily="34" charset="0"/>
                <a:ea typeface="Garamond" pitchFamily="34" charset="-122"/>
                <a:cs typeface="Garamond" pitchFamily="34" charset="-120"/>
              </a:rPr>
              <a:t>Heliospace Corporation   |   Proprietary and Confidential</a:t>
            </a:r>
            <a:endParaRPr lang="en-US" sz="850" dirty="0"/>
          </a:p>
        </p:txBody>
      </p:sp>
      <p:sp>
        <p:nvSpPr>
          <p:cNvPr id="6" name="Text 3"/>
          <p:cNvSpPr/>
          <p:nvPr/>
        </p:nvSpPr>
        <p:spPr>
          <a:xfrm>
            <a:off x="11064240" y="6492240"/>
            <a:ext cx="320040" cy="237744"/>
          </a:xfrm>
          <a:prstGeom prst="rect">
            <a:avLst/>
          </a:prstGeom>
          <a:noFill/>
          <a:ln/>
        </p:spPr>
        <p:txBody>
          <a:bodyPr wrap="square" lIns="0" tIns="0" rIns="0" bIns="0" rtlCol="0" anchor="ctr"/>
          <a:lstStyle/>
          <a:p>
            <a:pPr algn="r" indent="0" marL="0">
              <a:buNone/>
            </a:pPr>
            <a:r>
              <a:rPr lang="en-US" sz="850" dirty="0">
                <a:solidFill>
                  <a:srgbClr val="5C6B76"/>
                </a:solidFill>
                <a:latin typeface="Garamond" pitchFamily="34" charset="0"/>
                <a:ea typeface="Garamond" pitchFamily="34" charset="-122"/>
                <a:cs typeface="Garamond" pitchFamily="34" charset="-120"/>
              </a:rPr>
              <a:t>16</a:t>
            </a:r>
            <a:endParaRPr lang="en-US" sz="850" dirty="0"/>
          </a:p>
        </p:txBody>
      </p:sp>
      <p:sp>
        <p:nvSpPr>
          <p:cNvPr id="7" name="Text 4"/>
          <p:cNvSpPr/>
          <p:nvPr/>
        </p:nvSpPr>
        <p:spPr>
          <a:xfrm>
            <a:off x="822960" y="1353312"/>
            <a:ext cx="10424160" cy="320040"/>
          </a:xfrm>
          <a:prstGeom prst="rect">
            <a:avLst/>
          </a:prstGeom>
          <a:noFill/>
          <a:ln/>
        </p:spPr>
        <p:txBody>
          <a:bodyPr wrap="square" lIns="0" tIns="0" rIns="0" bIns="0" rtlCol="0" anchor="ctr"/>
          <a:lstStyle/>
          <a:p>
            <a:pPr indent="0" marL="0">
              <a:buNone/>
            </a:pPr>
            <a:r>
              <a:rPr lang="en-US" sz="1300" dirty="0">
                <a:solidFill>
                  <a:srgbClr val="5C6B76"/>
                </a:solidFill>
                <a:latin typeface="Garamond" pitchFamily="34" charset="0"/>
                <a:ea typeface="Garamond" pitchFamily="34" charset="-122"/>
                <a:cs typeface="Garamond" pitchFamily="34" charset="-120"/>
              </a:rPr>
              <a:t>A proven supplier with marquee clients, differentiated products, and a clear route to serving Chinese customers.</a:t>
            </a:r>
            <a:endParaRPr lang="en-US" sz="1300" dirty="0"/>
          </a:p>
        </p:txBody>
      </p:sp>
      <p:sp>
        <p:nvSpPr>
          <p:cNvPr id="8" name="Text 4"/>
          <p:cNvSpPr/>
          <p:nvPr/>
        </p:nvSpPr>
        <p:spPr>
          <a:xfrm>
            <a:off x="822960" y="18288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Heliospace is competitive</a:t>
            </a:r>
            <a:endParaRPr lang="en-US" sz="1350" dirty="0"/>
          </a:p>
        </p:txBody>
      </p:sp>
      <p:sp>
        <p:nvSpPr>
          <p:cNvPr id="9" name="Text 5"/>
          <p:cNvSpPr/>
          <p:nvPr/>
        </p:nvSpPr>
        <p:spPr>
          <a:xfrm>
            <a:off x="822960" y="2121408"/>
            <a:ext cx="5175504"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Decades of flight heritage with NASA and ESA, an in house boom forming capability that removes supplier risk, and a lean cost structure that delivers fully qualified hardware at competitive prices and short lead times.</a:t>
            </a:r>
            <a:endParaRPr lang="en-US" sz="1150" dirty="0"/>
          </a:p>
        </p:txBody>
      </p:sp>
      <p:sp>
        <p:nvSpPr>
          <p:cNvPr id="10" name="Text 4"/>
          <p:cNvSpPr/>
          <p:nvPr/>
        </p:nvSpPr>
        <p:spPr>
          <a:xfrm>
            <a:off x="822960" y="32004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An established client base</a:t>
            </a:r>
            <a:endParaRPr lang="en-US" sz="1350" dirty="0"/>
          </a:p>
        </p:txBody>
      </p:sp>
      <p:sp>
        <p:nvSpPr>
          <p:cNvPr id="11" name="Text 5"/>
          <p:cNvSpPr/>
          <p:nvPr/>
        </p:nvSpPr>
        <p:spPr>
          <a:xfrm>
            <a:off x="822960" y="3493008"/>
            <a:ext cx="5175504" cy="105156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NASA JPL, NASA Goddard, Caltech, UC Berkeley Space Sciences Laboratory, Firefly Aerospace, Intuitive Machines, SwRI, and Blue Origin, with hardware operating on Europa Clipper, Solar Orbiter, and the first commercial lunar landings.</a:t>
            </a:r>
            <a:endParaRPr lang="en-US" sz="1150" dirty="0"/>
          </a:p>
        </p:txBody>
      </p:sp>
      <p:sp>
        <p:nvSpPr>
          <p:cNvPr id="12" name="Text 4"/>
          <p:cNvSpPr/>
          <p:nvPr/>
        </p:nvSpPr>
        <p:spPr>
          <a:xfrm>
            <a:off x="822960" y="470916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customers choose us</a:t>
            </a:r>
            <a:endParaRPr lang="en-US" sz="1350" dirty="0"/>
          </a:p>
        </p:txBody>
      </p:sp>
      <p:sp>
        <p:nvSpPr>
          <p:cNvPr id="13" name="Text 5"/>
          <p:cNvSpPr/>
          <p:nvPr/>
        </p:nvSpPr>
        <p:spPr>
          <a:xfrm>
            <a:off x="822960" y="5001768"/>
            <a:ext cx="5175504" cy="914400"/>
          </a:xfrm>
          <a:prstGeom prst="rect">
            <a:avLst/>
          </a:prstGeom>
          <a:noFill/>
          <a:ln/>
        </p:spPr>
        <p:txBody>
          <a:bodyPr wrap="square" lIns="0" tIns="0" rIns="0" bIns="0" rtlCol="0" anchor="t"/>
          <a:lstStyle/>
          <a:p>
            <a:pPr indent="0" marL="0">
              <a:buNone/>
            </a:pPr>
            <a:r>
              <a:rPr lang="en-US" sz="1150" dirty="0">
                <a:solidFill>
                  <a:srgbClr val="1E2A33"/>
                </a:solidFill>
                <a:latin typeface="Garamond" pitchFamily="34" charset="0"/>
                <a:ea typeface="Garamond" pitchFamily="34" charset="-122"/>
                <a:cs typeface="Garamond" pitchFamily="34" charset="-120"/>
              </a:rPr>
              <a:t>Supplier of record on marquee missions, on schedule delivery for launch critical payloads, and repeat awards across programs and platforms.</a:t>
            </a:r>
            <a:endParaRPr lang="en-US" sz="1150" dirty="0"/>
          </a:p>
        </p:txBody>
      </p:sp>
      <p:sp>
        <p:nvSpPr>
          <p:cNvPr id="14" name="Text 4"/>
          <p:cNvSpPr/>
          <p:nvPr/>
        </p:nvSpPr>
        <p:spPr>
          <a:xfrm>
            <a:off x="6190488" y="1828800"/>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Why our products are competitive</a:t>
            </a:r>
            <a:endParaRPr lang="en-US" sz="1350" dirty="0"/>
          </a:p>
        </p:txBody>
      </p:sp>
      <p:sp>
        <p:nvSpPr>
          <p:cNvPr id="15" name="Text 13"/>
          <p:cNvSpPr/>
          <p:nvPr/>
        </p:nvSpPr>
        <p:spPr>
          <a:xfrm>
            <a:off x="6190488" y="2121408"/>
            <a:ext cx="5175504" cy="160020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Stow ratios of up to 50:1, well beyond typical deployables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Operating range of -200 C to +200 C</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Redundant, non explosive release with no ordnance handling</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Lower mass and cost with lead times measured in weeks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Hundreds of successful operational deployments</a:t>
            </a:r>
            <a:endParaRPr lang="en-US" sz="1100" dirty="0"/>
          </a:p>
        </p:txBody>
      </p:sp>
      <p:sp>
        <p:nvSpPr>
          <p:cNvPr id="16" name="Text 4"/>
          <p:cNvSpPr/>
          <p:nvPr/>
        </p:nvSpPr>
        <p:spPr>
          <a:xfrm>
            <a:off x="6190488" y="3977639"/>
            <a:ext cx="5175504" cy="256032"/>
          </a:xfrm>
          <a:prstGeom prst="rect">
            <a:avLst/>
          </a:prstGeom>
          <a:noFill/>
          <a:ln/>
        </p:spPr>
        <p:txBody>
          <a:bodyPr wrap="square" lIns="0" tIns="0" rIns="0" bIns="0" rtlCol="0" anchor="ctr"/>
          <a:lstStyle/>
          <a:p>
            <a:pPr indent="0" marL="0">
              <a:buNone/>
            </a:pPr>
            <a:r>
              <a:rPr lang="en-US" sz="1350" b="1" dirty="0">
                <a:solidFill>
                  <a:srgbClr val="007BCB"/>
                </a:solidFill>
                <a:latin typeface="Garamond" pitchFamily="34" charset="0"/>
                <a:ea typeface="Garamond" pitchFamily="34" charset="-122"/>
                <a:cs typeface="Garamond" pitchFamily="34" charset="-120"/>
              </a:rPr>
              <a:t>How we sell to Chinese clients</a:t>
            </a:r>
            <a:endParaRPr lang="en-US" sz="1350" dirty="0"/>
          </a:p>
        </p:txBody>
      </p:sp>
      <p:sp>
        <p:nvSpPr>
          <p:cNvPr id="17" name="Text 13"/>
          <p:cNvSpPr/>
          <p:nvPr/>
        </p:nvSpPr>
        <p:spPr>
          <a:xfrm>
            <a:off x="6190488" y="4270248"/>
            <a:ext cx="5175504" cy="1463040"/>
          </a:xfrm>
          <a:prstGeom prst="rect">
            <a:avLst/>
          </a:prstGeom>
          <a:noFill/>
          <a:ln/>
        </p:spPr>
        <p:txBody>
          <a:bodyPr wrap="square" lIns="0" tIns="0" rIns="0" bIns="0" rtlCol="0" anchor="t"/>
          <a:lstStyle/>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Offer qualified products and components through export orders</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Let delivered flight hardware demonstrate reliability and value</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Provide catalog pricing and published interfaces for fast procurement</a:t>
            </a:r>
            <a:endParaRPr lang="en-US" sz="1100" dirty="0"/>
          </a:p>
          <a:p>
            <a:pPr algn="l" marL="127000" indent="-127000">
              <a:spcAft>
                <a:spcPts val="400"/>
              </a:spcAft>
              <a:buSzPct val="100000"/>
              <a:buChar char="•"/>
            </a:pPr>
            <a:r>
              <a:rPr lang="en-US" sz="1100" dirty="0">
                <a:solidFill>
                  <a:srgbClr val="1E2A33"/>
                </a:solidFill>
                <a:latin typeface="Garamond" pitchFamily="34" charset="0"/>
                <a:ea typeface="Garamond" pitchFamily="34" charset="-122"/>
                <a:cs typeface="Garamond" pitchFamily="34" charset="-120"/>
              </a:rPr>
              <a:t>Scale a China based supply chain and production as order quality is confirmed</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assets/close_bg.jpg">    </p:cNvPr>
          <p:cNvPicPr>
            <a:picLocks noChangeAspect="1"/>
          </p:cNvPicPr>
          <p:nvPr/>
        </p:nvPicPr>
        <p:blipFill>
          <a:blip r:embed="rId1"/>
          <a:stretch>
            <a:fillRect/>
          </a:stretch>
        </p:blipFill>
        <p:spPr>
          <a:xfrm>
            <a:off x="0" y="0"/>
            <a:ext cx="12191695" cy="6858000"/>
          </a:xfrm>
          <a:prstGeom prst="rect">
            <a:avLst/>
          </a:prstGeom>
        </p:spPr>
      </p:pic>
      <p:pic>
        <p:nvPicPr>
          <p:cNvPr id="3" name="Image 1" descr="assets/logo_white.png">    </p:cNvPr>
          <p:cNvPicPr>
            <a:picLocks noChangeAspect="1"/>
          </p:cNvPicPr>
          <p:nvPr/>
        </p:nvPicPr>
        <p:blipFill>
          <a:blip r:embed="rId2"/>
          <a:stretch>
            <a:fillRect/>
          </a:stretch>
        </p:blipFill>
        <p:spPr>
          <a:xfrm>
            <a:off x="822960" y="731520"/>
            <a:ext cx="2377440" cy="665683"/>
          </a:xfrm>
          <a:prstGeom prst="rect">
            <a:avLst/>
          </a:prstGeom>
        </p:spPr>
      </p:pic>
      <p:sp>
        <p:nvSpPr>
          <p:cNvPr id="4" name="Text 0"/>
          <p:cNvSpPr/>
          <p:nvPr/>
        </p:nvSpPr>
        <p:spPr>
          <a:xfrm>
            <a:off x="822960" y="2331720"/>
            <a:ext cx="5486400" cy="292608"/>
          </a:xfrm>
          <a:prstGeom prst="rect">
            <a:avLst/>
          </a:prstGeom>
          <a:noFill/>
          <a:ln/>
        </p:spPr>
        <p:txBody>
          <a:bodyPr wrap="square" lIns="0" tIns="0" rIns="0" bIns="0" rtlCol="0" anchor="ctr"/>
          <a:lstStyle/>
          <a:p>
            <a:pPr indent="0" marL="0">
              <a:buNone/>
            </a:pPr>
            <a:r>
              <a:rPr lang="en-US" sz="1200" b="1" spc="350" kern="0" dirty="0">
                <a:solidFill>
                  <a:srgbClr val="6FBCE8"/>
                </a:solidFill>
                <a:latin typeface="Garamond" pitchFamily="34" charset="0"/>
                <a:ea typeface="Garamond" pitchFamily="34" charset="-122"/>
                <a:cs typeface="Garamond" pitchFamily="34" charset="-120"/>
              </a:rPr>
              <a:t>THANK YOU</a:t>
            </a:r>
            <a:endParaRPr lang="en-US" sz="1200" dirty="0"/>
          </a:p>
        </p:txBody>
      </p:sp>
      <p:sp>
        <p:nvSpPr>
          <p:cNvPr id="5" name="Text 1"/>
          <p:cNvSpPr/>
          <p:nvPr/>
        </p:nvSpPr>
        <p:spPr>
          <a:xfrm>
            <a:off x="822960" y="2651760"/>
            <a:ext cx="9144000" cy="685800"/>
          </a:xfrm>
          <a:prstGeom prst="rect">
            <a:avLst/>
          </a:prstGeom>
          <a:noFill/>
          <a:ln/>
        </p:spPr>
        <p:txBody>
          <a:bodyPr wrap="square" lIns="0" tIns="0" rIns="0" bIns="0" rtlCol="0" anchor="ctr"/>
          <a:lstStyle/>
          <a:p>
            <a:pPr indent="0" marL="0">
              <a:buNone/>
            </a:pPr>
            <a:r>
              <a:rPr lang="en-US" sz="3600" b="1" dirty="0">
                <a:solidFill>
                  <a:srgbClr val="FFFFFF"/>
                </a:solidFill>
                <a:latin typeface="Garamond" pitchFamily="34" charset="0"/>
                <a:ea typeface="Garamond" pitchFamily="34" charset="-122"/>
                <a:cs typeface="Garamond" pitchFamily="34" charset="-120"/>
              </a:rPr>
              <a:t>Questions and Discussion</a:t>
            </a:r>
            <a:endParaRPr lang="en-US" sz="3600" dirty="0"/>
          </a:p>
        </p:txBody>
      </p:sp>
      <p:sp>
        <p:nvSpPr>
          <p:cNvPr id="6" name="Shape 2"/>
          <p:cNvSpPr/>
          <p:nvPr/>
        </p:nvSpPr>
        <p:spPr>
          <a:xfrm>
            <a:off x="822960" y="3657600"/>
            <a:ext cx="5577840" cy="2286000"/>
          </a:xfrm>
          <a:prstGeom prst="roundRect">
            <a:avLst>
              <a:gd name="adj" fmla="val 2400"/>
            </a:avLst>
          </a:prstGeom>
          <a:solidFill>
            <a:srgbClr val="0E2233">
              <a:alpha val="82000"/>
            </a:srgbClr>
          </a:solidFill>
          <a:ln w="9525">
            <a:solidFill>
              <a:srgbClr val="3C5A72"/>
            </a:solidFill>
            <a:prstDash val="solid"/>
          </a:ln>
        </p:spPr>
        <p:txBody>
          <a:bodyPr/>
          <a:p/>
        </p:txBody>
      </p:sp>
      <p:sp>
        <p:nvSpPr>
          <p:cNvPr id="7" name="Text 3"/>
          <p:cNvSpPr/>
          <p:nvPr/>
        </p:nvSpPr>
        <p:spPr>
          <a:xfrm>
            <a:off x="1097280" y="3886200"/>
            <a:ext cx="5120640" cy="1874520"/>
          </a:xfrm>
          <a:prstGeom prst="rect">
            <a:avLst/>
          </a:prstGeom>
          <a:noFill/>
          <a:ln/>
        </p:spPr>
        <p:txBody>
          <a:bodyPr wrap="square" lIns="0" tIns="0" rIns="0" bIns="0" rtlCol="0" anchor="t"/>
          <a:lstStyle/>
          <a:p>
            <a:pPr indent="0" marL="0">
              <a:spcAft>
                <a:spcPts val="500"/>
              </a:spcAft>
              <a:buNone/>
            </a:pPr>
            <a:r>
              <a:rPr lang="en-US" sz="1700" b="1" dirty="0">
                <a:solidFill>
                  <a:srgbClr val="FFFFFF"/>
                </a:solidFill>
                <a:latin typeface="Garamond" pitchFamily="34" charset="0"/>
                <a:ea typeface="Garamond" pitchFamily="34" charset="-122"/>
                <a:cs typeface="Garamond" pitchFamily="34" charset="-120"/>
              </a:rPr>
              <a:t>Rocky Chen</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Exclusive Sales Distributor in China</a:t>
            </a:r>
            <a:endParaRPr lang="en-US" sz="1700" dirty="0"/>
          </a:p>
          <a:p>
            <a:pPr indent="0" marL="0">
              <a:spcAft>
                <a:spcPts val="500"/>
              </a:spcAft>
              <a:buNone/>
            </a:pPr>
            <a:r>
              <a:rPr lang="en-US" sz="1150" dirty="0">
                <a:solidFill>
                  <a:srgbClr val="AFC7D8"/>
                </a:solidFill>
                <a:latin typeface="Garamond" pitchFamily="34" charset="0"/>
                <a:ea typeface="Garamond" pitchFamily="34" charset="-122"/>
                <a:cs typeface="Garamond" pitchFamily="34" charset="-120"/>
              </a:rPr>
              <a:t>rocky@helio.space   |   19921169641</a:t>
            </a:r>
            <a:endParaRPr lang="en-US" sz="1700" dirty="0"/>
          </a:p>
          <a:p>
            <a:pPr indent="0" marL="0">
              <a:spcAft>
                <a:spcPts val="500"/>
              </a:spcAft>
              <a:buNone/>
            </a:pP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info@helio.space   |   (510) 545-2666   |   www.helio.space</a:t>
            </a:r>
            <a:endParaRPr lang="en-US" sz="1700" dirty="0"/>
          </a:p>
          <a:p>
            <a:pPr indent="0" marL="0">
              <a:spcAft>
                <a:spcPts val="500"/>
              </a:spcAft>
              <a:buNone/>
            </a:pPr>
            <a:r>
              <a:rPr lang="en-US" sz="1100" dirty="0">
                <a:solidFill>
                  <a:srgbClr val="DCE8F1"/>
                </a:solidFill>
                <a:latin typeface="Garamond" pitchFamily="34" charset="0"/>
                <a:ea typeface="Garamond" pitchFamily="34" charset="-122"/>
                <a:cs typeface="Garamond" pitchFamily="34" charset="-120"/>
              </a:rPr>
              <a:t>2448 Sixth Street, Berkeley, CA 94710</a:t>
            </a:r>
            <a:endParaRPr lang="en-US" sz="1700" dirty="0"/>
          </a:p>
        </p:txBody>
      </p:sp>
      <p:sp>
        <p:nvSpPr>
          <p:cNvPr id="8" name="Text 4"/>
          <p:cNvSpPr/>
          <p:nvPr/>
        </p:nvSpPr>
        <p:spPr>
          <a:xfrm>
            <a:off x="9509760" y="6473952"/>
            <a:ext cx="1874520" cy="237744"/>
          </a:xfrm>
          <a:prstGeom prst="rect">
            <a:avLst/>
          </a:prstGeom>
          <a:noFill/>
          <a:ln/>
        </p:spPr>
        <p:txBody>
          <a:bodyPr wrap="square" lIns="0" tIns="0" rIns="0" bIns="0" rtlCol="0" anchor="ctr"/>
          <a:lstStyle/>
          <a:p>
            <a:pPr algn="r" indent="0" marL="0">
              <a:buNone/>
            </a:pPr>
            <a:r>
              <a:rPr lang="en-US" sz="900" dirty="0">
                <a:solidFill>
                  <a:srgbClr val="9DB2C0"/>
                </a:solidFill>
                <a:latin typeface="Garamond" pitchFamily="34" charset="0"/>
                <a:ea typeface="Garamond" pitchFamily="34" charset="-122"/>
                <a:cs typeface="Garamond" pitchFamily="34" charset="-120"/>
              </a:rPr>
              <a:t>Proprietary and Confidential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2026-08-07T08:46:16Z</dcterms:created>
  <dcterms:modified xsi:type="dcterms:W3CDTF">2026-08-07T08:46:16Z</dcterms:modified>
</cp:coreProperties>
</file>