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strRef>
              <c:f>Sheet1!$A$2:$A$3</c:f>
              <c:strCache>
                <c:ptCount val="2"/>
                <c:pt idx="0">
                  <c:v>2023</c:v>
                </c:pt>
                <c:pt idx="1">
                  <c:v>2035E</c:v>
                </c:pt>
              </c:strCache>
            </c:strRef>
          </c:cat>
          <c:val>
            <c:numRef>
              <c:f>Sheet1!$B$2:$B$3</c:f>
              <c:numCache>
                <c:formatCode>General</c:formatCode>
                <c:ptCount val="2"/>
                <c:pt idx="0">
                  <c:v>630</c:v>
                </c:pt>
                <c:pt idx="1">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6.png"/><Relationship Id="rId11" Type="http://schemas.openxmlformats.org/officeDocument/2006/relationships/image" Target="../media/image7.png"/><Relationship Id="rId12" Type="http://schemas.openxmlformats.org/officeDocument/2006/relationships/image" Target="../media/image8.png"/><Relationship Id="rId1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17320"/>
            <a:ext cx="5440680" cy="18288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known as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 and reshaping how nations power cities, industries, and critical systems.</a:t>
            </a:r>
            <a:endParaRPr lang="en-US" sz="1350" dirty="0"/>
          </a:p>
        </p:txBody>
      </p:sp>
      <p:sp>
        <p:nvSpPr>
          <p:cNvPr id="8" name="Text 5"/>
          <p:cNvSpPr/>
          <p:nvPr/>
        </p:nvSpPr>
        <p:spPr>
          <a:xfrm>
            <a:off x="822960" y="3310128"/>
            <a:ext cx="5440680" cy="118872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Since being founded in 2018, Helio has specialized in delivering cutting edge aerospace hardware, systems engineering, and mission services. From small scale projects to flagship space missions, we support NASA, private companies, universities, and global space agencies to achieve success in space.</a:t>
            </a:r>
            <a:endParaRPr lang="en-US" sz="1350" dirty="0"/>
          </a:p>
        </p:txBody>
      </p:sp>
      <p:sp>
        <p:nvSpPr>
          <p:cNvPr id="9" name="Text 6"/>
          <p:cNvSpPr/>
          <p:nvPr/>
        </p:nvSpPr>
        <p:spPr>
          <a:xfrm>
            <a:off x="65379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65379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9052560" y="484632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9052560" y="528523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65379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65379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9052560" y="5623560"/>
            <a:ext cx="2331720" cy="438912"/>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9052560" y="6062472"/>
            <a:ext cx="2331720" cy="256032"/>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7018020" y="1417320"/>
            <a:ext cx="3867912" cy="2886282"/>
          </a:xfrm>
          <a:prstGeom prst="rect">
            <a:avLst/>
          </a:prstGeom>
        </p:spPr>
      </p:pic>
      <p:sp>
        <p:nvSpPr>
          <p:cNvPr id="18" name="Shape 14"/>
          <p:cNvSpPr/>
          <p:nvPr/>
        </p:nvSpPr>
        <p:spPr>
          <a:xfrm>
            <a:off x="7018020" y="1417320"/>
            <a:ext cx="3867912" cy="2886282"/>
          </a:xfrm>
          <a:prstGeom prst="rect">
            <a:avLst/>
          </a:prstGeom>
          <a:ln w="12700">
            <a:solidFill>
              <a:srgbClr val="C6D2DA"/>
            </a:solidFill>
            <a:prstDash val="solid"/>
          </a:ln>
        </p:spPr>
        <p:txBody>
          <a:bodyPr/>
          <a:p/>
        </p:txBody>
      </p:sp>
      <p:sp>
        <p:nvSpPr>
          <p:cNvPr id="19" name="Text 15"/>
          <p:cNvSpPr/>
          <p:nvPr/>
        </p:nvSpPr>
        <p:spPr>
          <a:xfrm>
            <a:off x="6537960" y="4370832"/>
            <a:ext cx="4828032" cy="384048"/>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
        <p:nvSpPr>
          <p:cNvPr id="20" name="Text 5"/>
          <p:cNvSpPr/>
          <p:nvPr/>
        </p:nvSpPr>
        <p:spPr>
          <a:xfrm>
            <a:off x="822960" y="4553712"/>
            <a:ext cx="5440680" cy="160020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We are proud to be a trusted partner to over a dozen space agencies, organizations, and companies across the globe. Our products can be found operating from the Sun to Jupiter. From NASA and the European Space Agency to emerging private aerospace firms and academic institutions, we collaborate with some of the most innovative and forward thinking players in the space industry.</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systems intended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
        <p:nvSpPr>
          <p:cNvPr id="23" name="Text 5"/>
          <p:cNvSpPr/>
          <p:nvPr/>
        </p:nvSpPr>
        <p:spPr>
          <a:xfrm>
            <a:off x="822960" y="6254496"/>
            <a:ext cx="10543032" cy="237744"/>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Heritage examples: hardware for missions such as NASA's Europa Clipper, James Webb Space Telescope program support, solar science missions, and lunar related systems.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2" name="Text 8"/>
          <p:cNvSpPr/>
          <p:nvPr/>
        </p:nvSpPr>
        <p:spPr>
          <a:xfrm>
            <a:off x="7178040" y="1481328"/>
            <a:ext cx="41605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Addressable market, top down</a:t>
            </a:r>
            <a:endParaRPr lang="en-US" sz="1350" dirty="0"/>
          </a:p>
        </p:txBody>
      </p:sp>
      <p:sp>
        <p:nvSpPr>
          <p:cNvPr id="13" name="Shape 4"/>
          <p:cNvSpPr/>
          <p:nvPr/>
        </p:nvSpPr>
        <p:spPr>
          <a:xfrm>
            <a:off x="7178040" y="1847088"/>
            <a:ext cx="4160520" cy="1097280"/>
          </a:xfrm>
          <a:prstGeom prst="roundRect">
            <a:avLst>
              <a:gd name="adj" fmla="val 1724"/>
            </a:avLst>
          </a:prstGeom>
          <a:solidFill>
            <a:srgbClr val="F3F7FA"/>
          </a:solidFill>
          <a:ln/>
        </p:spPr>
        <p:txBody>
          <a:bodyPr/>
          <a:p/>
        </p:txBody>
      </p:sp>
      <p:sp>
        <p:nvSpPr>
          <p:cNvPr id="14" name="Text 5"/>
          <p:cNvSpPr/>
          <p:nvPr/>
        </p:nvSpPr>
        <p:spPr>
          <a:xfrm>
            <a:off x="7315200" y="1938528"/>
            <a:ext cx="388620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TAM: TOTAL SPACE ECONOMY</a:t>
            </a:r>
            <a:endParaRPr lang="en-US" sz="1050" dirty="0"/>
          </a:p>
        </p:txBody>
      </p:sp>
      <p:sp>
        <p:nvSpPr>
          <p:cNvPr id="15" name="Text 12"/>
          <p:cNvSpPr/>
          <p:nvPr/>
        </p:nvSpPr>
        <p:spPr>
          <a:xfrm>
            <a:off x="7315200" y="2194560"/>
            <a:ext cx="388620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$1.8 trillion by 2035E</a:t>
            </a:r>
            <a:endParaRPr lang="en-US" sz="1550" dirty="0"/>
          </a:p>
        </p:txBody>
      </p:sp>
      <p:sp>
        <p:nvSpPr>
          <p:cNvPr id="16" name="Text 6"/>
          <p:cNvSpPr/>
          <p:nvPr/>
        </p:nvSpPr>
        <p:spPr>
          <a:xfrm>
            <a:off x="7315200" y="2487168"/>
            <a:ext cx="388620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space economy forecast (World Economic Forum and McKinsey, 2024)</a:t>
            </a:r>
            <a:endParaRPr lang="en-US" sz="950" dirty="0"/>
          </a:p>
        </p:txBody>
      </p:sp>
      <p:sp>
        <p:nvSpPr>
          <p:cNvPr id="17" name="Shape 4"/>
          <p:cNvSpPr/>
          <p:nvPr/>
        </p:nvSpPr>
        <p:spPr>
          <a:xfrm>
            <a:off x="7178040" y="3054096"/>
            <a:ext cx="3840480" cy="1097280"/>
          </a:xfrm>
          <a:prstGeom prst="roundRect">
            <a:avLst>
              <a:gd name="adj" fmla="val 1724"/>
            </a:avLst>
          </a:prstGeom>
          <a:solidFill>
            <a:srgbClr val="F3F7FA"/>
          </a:solidFill>
          <a:ln/>
        </p:spPr>
        <p:txBody>
          <a:bodyPr/>
          <a:p/>
        </p:txBody>
      </p:sp>
      <p:sp>
        <p:nvSpPr>
          <p:cNvPr id="18" name="Text 5"/>
          <p:cNvSpPr/>
          <p:nvPr/>
        </p:nvSpPr>
        <p:spPr>
          <a:xfrm>
            <a:off x="7315200" y="3145536"/>
            <a:ext cx="356616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SAM: SATELLITE MANUFACTURING</a:t>
            </a:r>
            <a:endParaRPr lang="en-US" sz="1050" dirty="0"/>
          </a:p>
        </p:txBody>
      </p:sp>
      <p:sp>
        <p:nvSpPr>
          <p:cNvPr id="19" name="Text 12"/>
          <p:cNvSpPr/>
          <p:nvPr/>
        </p:nvSpPr>
        <p:spPr>
          <a:xfrm>
            <a:off x="7315200" y="3401568"/>
            <a:ext cx="3566160" cy="27432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$20.4 billion in 2025</a:t>
            </a:r>
            <a:endParaRPr lang="en-US" sz="1550" dirty="0"/>
          </a:p>
        </p:txBody>
      </p:sp>
      <p:sp>
        <p:nvSpPr>
          <p:cNvPr id="20" name="Text 6"/>
          <p:cNvSpPr/>
          <p:nvPr/>
        </p:nvSpPr>
        <p:spPr>
          <a:xfrm>
            <a:off x="7315200" y="3694176"/>
            <a:ext cx="3566160" cy="402336"/>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Global commercial satellite manufacturing revenue (SIA and BryceTech, 2026)</a:t>
            </a:r>
            <a:endParaRPr lang="en-US" sz="950" dirty="0"/>
          </a:p>
        </p:txBody>
      </p:sp>
      <p:sp>
        <p:nvSpPr>
          <p:cNvPr id="21" name="Shape 4"/>
          <p:cNvSpPr/>
          <p:nvPr/>
        </p:nvSpPr>
        <p:spPr>
          <a:xfrm>
            <a:off x="7178040" y="4261104"/>
            <a:ext cx="3520440" cy="1481328"/>
          </a:xfrm>
          <a:prstGeom prst="roundRect">
            <a:avLst>
              <a:gd name="adj" fmla="val 1724"/>
            </a:avLst>
          </a:prstGeom>
          <a:solidFill>
            <a:srgbClr val="F3F7FA"/>
          </a:solidFill>
          <a:ln/>
        </p:spPr>
        <p:txBody>
          <a:bodyPr/>
          <a:p/>
        </p:txBody>
      </p:sp>
      <p:sp>
        <p:nvSpPr>
          <p:cNvPr id="22" name="Text 5"/>
          <p:cNvSpPr/>
          <p:nvPr/>
        </p:nvSpPr>
        <p:spPr>
          <a:xfrm>
            <a:off x="7315200" y="4352544"/>
            <a:ext cx="3246120" cy="329184"/>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SOM: DEPLOYABLE BOOMS, ANTENNAS, AND MECHANISMS</a:t>
            </a:r>
            <a:endParaRPr lang="en-US" sz="1050" dirty="0"/>
          </a:p>
        </p:txBody>
      </p:sp>
      <p:sp>
        <p:nvSpPr>
          <p:cNvPr id="23" name="Text 12"/>
          <p:cNvSpPr/>
          <p:nvPr/>
        </p:nvSpPr>
        <p:spPr>
          <a:xfrm>
            <a:off x="7315200" y="4718304"/>
            <a:ext cx="3246120" cy="512064"/>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16,900 small satellites, 2026 to 2035E</a:t>
            </a:r>
            <a:endParaRPr lang="en-US" sz="1550" dirty="0"/>
          </a:p>
        </p:txBody>
      </p:sp>
      <p:sp>
        <p:nvSpPr>
          <p:cNvPr id="24" name="Text 6"/>
          <p:cNvSpPr/>
          <p:nvPr/>
        </p:nvSpPr>
        <p:spPr>
          <a:xfrm>
            <a:off x="7315200" y="5248656"/>
            <a:ext cx="3246120" cy="45720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Forecast for launch (Novaspace). No independent estimate is published for this niche; it is presented qualitatively.</a:t>
            </a:r>
            <a:endParaRPr lang="en-US" sz="950" dirty="0"/>
          </a:p>
        </p:txBody>
      </p:sp>
      <p:sp>
        <p:nvSpPr>
          <p:cNvPr id="25" name="Text 5"/>
          <p:cNvSpPr/>
          <p:nvPr/>
        </p:nvSpPr>
        <p:spPr>
          <a:xfrm>
            <a:off x="7178040" y="5897880"/>
            <a:ext cx="4160520" cy="41148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Sources: World Economic Forum and McKinsey, 2024; SIA and BryceTech, State of the Satellite Industry Report, 2026; Novaspace, Satellites to be Built and Launched, 2025.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30" name="Shape 4"/>
          <p:cNvSpPr/>
          <p:nvPr/>
        </p:nvSpPr>
        <p:spPr>
          <a:xfrm>
            <a:off x="822960" y="1444752"/>
            <a:ext cx="347472" cy="347472"/>
          </a:xfrm>
          <a:prstGeom prst="ellipse">
            <a:avLst/>
          </a:prstGeom>
          <a:solidFill>
            <a:srgbClr val="007BCB"/>
          </a:solidFill>
          <a:ln/>
        </p:spPr>
        <p:txBody>
          <a:bodyPr/>
          <a:p/>
        </p:txBody>
      </p:sp>
      <p:sp>
        <p:nvSpPr>
          <p:cNvPr id="31"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32" name="Text 6"/>
          <p:cNvSpPr/>
          <p:nvPr/>
        </p:nvSpPr>
        <p:spPr>
          <a:xfrm>
            <a:off x="132588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33" name="Text 7"/>
          <p:cNvSpPr/>
          <p:nvPr/>
        </p:nvSpPr>
        <p:spPr>
          <a:xfrm>
            <a:off x="1325880" y="1700784"/>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has supported more than 40 space flight missions and built and deployed more than 125 instruments and systems, giving customers confidence that its hardware can survive demanding space environments. Its technology has been used on major missions, including NASA's Europa Clipper and support activities related to the James Webb Space Telescope.</a:t>
            </a:r>
            <a:endParaRPr lang="en-US" sz="1100" dirty="0"/>
          </a:p>
        </p:txBody>
      </p:sp>
      <p:sp>
        <p:nvSpPr>
          <p:cNvPr id="34" name="Shape 4"/>
          <p:cNvSpPr/>
          <p:nvPr/>
        </p:nvSpPr>
        <p:spPr>
          <a:xfrm>
            <a:off x="822960" y="3154680"/>
            <a:ext cx="347472" cy="347472"/>
          </a:xfrm>
          <a:prstGeom prst="ellipse">
            <a:avLst/>
          </a:prstGeom>
          <a:solidFill>
            <a:srgbClr val="007BCB"/>
          </a:solidFill>
          <a:ln/>
        </p:spPr>
        <p:txBody>
          <a:bodyPr/>
          <a:p/>
        </p:txBody>
      </p:sp>
      <p:sp>
        <p:nvSpPr>
          <p:cNvPr id="35" name="Text 5"/>
          <p:cNvSpPr/>
          <p:nvPr/>
        </p:nvSpPr>
        <p:spPr>
          <a:xfrm>
            <a:off x="822960" y="31546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36" name="Text 6"/>
          <p:cNvSpPr/>
          <p:nvPr/>
        </p:nvSpPr>
        <p:spPr>
          <a:xfrm>
            <a:off x="1325880" y="3127248"/>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37" name="Text 7"/>
          <p:cNvSpPr/>
          <p:nvPr/>
        </p:nvSpPr>
        <p:spPr>
          <a:xfrm>
            <a:off x="1325880" y="3410712"/>
            <a:ext cx="4617720" cy="128016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missions often require custom solutions rather than off the shelf products. Helio focuses on deployable antennas, sensors, large deployable structures, spacecraft mechanisms, and systems engineering and design. Customers choose Helio because these components must work reliably in extreme conditions where repair is impossible.</a:t>
            </a:r>
            <a:endParaRPr lang="en-US" sz="1100" dirty="0"/>
          </a:p>
        </p:txBody>
      </p:sp>
      <p:sp>
        <p:nvSpPr>
          <p:cNvPr id="38" name="Shape 4"/>
          <p:cNvSpPr/>
          <p:nvPr/>
        </p:nvSpPr>
        <p:spPr>
          <a:xfrm>
            <a:off x="822960" y="4864608"/>
            <a:ext cx="347472" cy="347472"/>
          </a:xfrm>
          <a:prstGeom prst="ellipse">
            <a:avLst/>
          </a:prstGeom>
          <a:solidFill>
            <a:srgbClr val="007BCB"/>
          </a:solidFill>
          <a:ln/>
        </p:spPr>
        <p:txBody>
          <a:bodyPr/>
          <a:p/>
        </p:txBody>
      </p:sp>
      <p:sp>
        <p:nvSpPr>
          <p:cNvPr id="39" name="Text 5"/>
          <p:cNvSpPr/>
          <p:nvPr/>
        </p:nvSpPr>
        <p:spPr>
          <a:xfrm>
            <a:off x="822960" y="48646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40" name="Text 6"/>
          <p:cNvSpPr/>
          <p:nvPr/>
        </p:nvSpPr>
        <p:spPr>
          <a:xfrm>
            <a:off x="1325880" y="4837176"/>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41" name="Text 7"/>
          <p:cNvSpPr/>
          <p:nvPr/>
        </p:nvSpPr>
        <p:spPr>
          <a:xfrm>
            <a:off x="1325880" y="5120640"/>
            <a:ext cx="4617720" cy="10058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Space agencies and aerospace companies value suppliers with previous successful missions because failures in space are extremely expensive. Helio positions itself as a problem solver for difficult space hardware challenges, helping customers reduce technical risk.</a:t>
            </a:r>
            <a:endParaRPr lang="en-US" sz="1100" dirty="0"/>
          </a:p>
        </p:txBody>
      </p:sp>
      <p:sp>
        <p:nvSpPr>
          <p:cNvPr id="42" name="Shape 4"/>
          <p:cNvSpPr/>
          <p:nvPr/>
        </p:nvSpPr>
        <p:spPr>
          <a:xfrm>
            <a:off x="6217920" y="1444752"/>
            <a:ext cx="347472" cy="347472"/>
          </a:xfrm>
          <a:prstGeom prst="ellipse">
            <a:avLst/>
          </a:prstGeom>
          <a:solidFill>
            <a:srgbClr val="007BCB"/>
          </a:solidFill>
          <a:ln/>
        </p:spPr>
        <p:txBody>
          <a:bodyPr/>
          <a:p/>
        </p:txBody>
      </p:sp>
      <p:sp>
        <p:nvSpPr>
          <p:cNvPr id="43" name="Text 5"/>
          <p:cNvSpPr/>
          <p:nvPr/>
        </p:nvSpPr>
        <p:spPr>
          <a:xfrm>
            <a:off x="621792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44" name="Text 6"/>
          <p:cNvSpPr/>
          <p:nvPr/>
        </p:nvSpPr>
        <p:spPr>
          <a:xfrm>
            <a:off x="6720840" y="1417320"/>
            <a:ext cx="461772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45" name="Text 7"/>
          <p:cNvSpPr/>
          <p:nvPr/>
        </p:nvSpPr>
        <p:spPr>
          <a:xfrm>
            <a:off x="6720840" y="1700784"/>
            <a:ext cx="4617720" cy="12344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Beyond current space hardware, Helio is developing space based solar power systems designed to collect solar energy in orbit and transmit power to Earth. Customers and partners interested in future space infrastructure value Helio's combination of existing engineering capability and long term energy technology goals.</a:t>
            </a:r>
            <a:endParaRPr lang="en-US" sz="1100" dirty="0"/>
          </a:p>
        </p:txBody>
      </p:sp>
      <p:sp>
        <p:nvSpPr>
          <p:cNvPr id="46" name="Shape 4"/>
          <p:cNvSpPr/>
          <p:nvPr/>
        </p:nvSpPr>
        <p:spPr>
          <a:xfrm>
            <a:off x="6217920" y="3099816"/>
            <a:ext cx="347472" cy="347472"/>
          </a:xfrm>
          <a:prstGeom prst="ellipse">
            <a:avLst/>
          </a:prstGeom>
          <a:solidFill>
            <a:srgbClr val="007BCB"/>
          </a:solidFill>
          <a:ln/>
        </p:spPr>
        <p:txBody>
          <a:bodyPr/>
          <a:p/>
        </p:txBody>
      </p:sp>
      <p:sp>
        <p:nvSpPr>
          <p:cNvPr id="47" name="Text 5"/>
          <p:cNvSpPr/>
          <p:nvPr/>
        </p:nvSpPr>
        <p:spPr>
          <a:xfrm>
            <a:off x="6217920" y="30998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48" name="Text 6"/>
          <p:cNvSpPr/>
          <p:nvPr/>
        </p:nvSpPr>
        <p:spPr>
          <a:xfrm>
            <a:off x="6720840" y="3072384"/>
            <a:ext cx="4617720" cy="54864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Flexible partner for government and commercial customers</a:t>
            </a:r>
            <a:endParaRPr lang="en-US" sz="1450" dirty="0"/>
          </a:p>
        </p:txBody>
      </p:sp>
      <p:sp>
        <p:nvSpPr>
          <p:cNvPr id="49" name="Text 7"/>
          <p:cNvSpPr/>
          <p:nvPr/>
        </p:nvSpPr>
        <p:spPr>
          <a:xfrm>
            <a:off x="6720840" y="3657600"/>
            <a:ext cx="4617720" cy="777240"/>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Helio works with government agencies, private aerospace companies, universities, and research organizations, providing customized systems rather than only standardized products.</a:t>
            </a:r>
            <a:endParaRPr lang="en-US" sz="1100" dirty="0"/>
          </a:p>
        </p:txBody>
      </p:sp>
      <p:sp>
        <p:nvSpPr>
          <p:cNvPr id="50" name="Shape 20"/>
          <p:cNvSpPr/>
          <p:nvPr/>
        </p:nvSpPr>
        <p:spPr>
          <a:xfrm>
            <a:off x="6217920" y="4663440"/>
            <a:ext cx="5148072" cy="1325880"/>
          </a:xfrm>
          <a:prstGeom prst="roundRect">
            <a:avLst>
              <a:gd name="adj" fmla="val 3704"/>
            </a:avLst>
          </a:prstGeom>
          <a:solidFill>
            <a:srgbClr val="EDF3F8"/>
          </a:solidFill>
          <a:ln w="9525">
            <a:solidFill>
              <a:srgbClr val="C6D2DA"/>
            </a:solidFill>
            <a:prstDash val="solid"/>
          </a:ln>
        </p:spPr>
        <p:txBody>
          <a:bodyPr/>
          <a:p/>
        </p:txBody>
      </p:sp>
      <p:sp>
        <p:nvSpPr>
          <p:cNvPr id="51" name="Text 21"/>
          <p:cNvSpPr/>
          <p:nvPr/>
        </p:nvSpPr>
        <p:spPr>
          <a:xfrm>
            <a:off x="6400800" y="4791456"/>
            <a:ext cx="475488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In summary</a:t>
            </a:r>
            <a:endParaRPr lang="en-US" sz="1250" dirty="0"/>
          </a:p>
        </p:txBody>
      </p:sp>
      <p:sp>
        <p:nvSpPr>
          <p:cNvPr id="52" name="Text 22"/>
          <p:cNvSpPr/>
          <p:nvPr/>
        </p:nvSpPr>
        <p:spPr>
          <a:xfrm>
            <a:off x="6400800" y="5084064"/>
            <a:ext cx="4754880" cy="8229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Customers choose Helio because it offers proven space qualified hardware, specialized engineering skills, mission reliability, and a pathway toward next generation space infrastructure.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Space agencies and programs</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NASA JPL, NASA Goddard Space Flight Center, CNES, and the NASA SBIR and STTR America's Seed Fund</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aerospace</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Honeybee Robotics, Blue Origin, Aerodyne, and ASES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Research institutions and universities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Southwest Research Institute, UC Berkeley, Columbia University, and Embry-Riddle Aeronautical University</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Science and philanthropic initiatives</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Breakthrough Listen and Earth Guard</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Selected clients and partners.</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txBody>
          <a:bodyPr/>
          <a:p/>
        </p:txBody>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pic>
        <p:nvPicPr>
          <p:cNvPr id="23" name="Picture 22" descr="nasa.png"/>
          <p:cNvPicPr>
            <a:picLocks noChangeAspect="1"/>
          </p:cNvPicPr>
          <p:nvPr/>
        </p:nvPicPr>
        <p:blipFill>
          <a:blip r:embed="rId5"/>
          <a:stretch>
            <a:fillRect/>
          </a:stretch>
        </p:blipFill>
        <p:spPr>
          <a:xfrm>
            <a:off x="7689546" y="1618488"/>
            <a:ext cx="677771" cy="566928"/>
          </a:xfrm>
          <a:prstGeom prst="rect">
            <a:avLst/>
          </a:prstGeom>
        </p:spPr>
      </p:pic>
      <p:pic>
        <p:nvPicPr>
          <p:cNvPr id="24" name="Picture 23" descr="jpl.png"/>
          <p:cNvPicPr>
            <a:picLocks noChangeAspect="1"/>
          </p:cNvPicPr>
          <p:nvPr/>
        </p:nvPicPr>
        <p:blipFill>
          <a:blip r:embed="rId6"/>
          <a:stretch>
            <a:fillRect/>
          </a:stretch>
        </p:blipFill>
        <p:spPr>
          <a:xfrm>
            <a:off x="8796528" y="1646834"/>
            <a:ext cx="1133856" cy="510235"/>
          </a:xfrm>
          <a:prstGeom prst="rect">
            <a:avLst/>
          </a:prstGeom>
        </p:spPr>
      </p:pic>
      <p:pic>
        <p:nvPicPr>
          <p:cNvPr id="25" name="Picture 24" descr="cnes.png"/>
          <p:cNvPicPr>
            <a:picLocks noChangeAspect="1"/>
          </p:cNvPicPr>
          <p:nvPr/>
        </p:nvPicPr>
        <p:blipFill>
          <a:blip r:embed="rId7"/>
          <a:stretch>
            <a:fillRect/>
          </a:stretch>
        </p:blipFill>
        <p:spPr>
          <a:xfrm>
            <a:off x="10362388" y="1618488"/>
            <a:ext cx="672183" cy="566928"/>
          </a:xfrm>
          <a:prstGeom prst="rect">
            <a:avLst/>
          </a:prstGeom>
        </p:spPr>
      </p:pic>
      <p:pic>
        <p:nvPicPr>
          <p:cNvPr id="26" name="Picture 25" descr="swri.png"/>
          <p:cNvPicPr>
            <a:picLocks noChangeAspect="1"/>
          </p:cNvPicPr>
          <p:nvPr/>
        </p:nvPicPr>
        <p:blipFill>
          <a:blip r:embed="rId8"/>
          <a:stretch>
            <a:fillRect/>
          </a:stretch>
        </p:blipFill>
        <p:spPr>
          <a:xfrm>
            <a:off x="7528201" y="2496312"/>
            <a:ext cx="1000461" cy="566928"/>
          </a:xfrm>
          <a:prstGeom prst="rect">
            <a:avLst/>
          </a:prstGeom>
        </p:spPr>
      </p:pic>
      <p:pic>
        <p:nvPicPr>
          <p:cNvPr id="27" name="Picture 26" descr="blueorigin.png"/>
          <p:cNvPicPr>
            <a:picLocks noChangeAspect="1"/>
          </p:cNvPicPr>
          <p:nvPr/>
        </p:nvPicPr>
        <p:blipFill>
          <a:blip r:embed="rId9"/>
          <a:stretch>
            <a:fillRect/>
          </a:stretch>
        </p:blipFill>
        <p:spPr>
          <a:xfrm>
            <a:off x="8796528" y="2673477"/>
            <a:ext cx="1133856" cy="212597"/>
          </a:xfrm>
          <a:prstGeom prst="rect">
            <a:avLst/>
          </a:prstGeom>
        </p:spPr>
      </p:pic>
      <p:pic>
        <p:nvPicPr>
          <p:cNvPr id="28" name="Picture 27" descr="intuitive.png"/>
          <p:cNvPicPr>
            <a:picLocks noChangeAspect="1"/>
          </p:cNvPicPr>
          <p:nvPr/>
        </p:nvPicPr>
        <p:blipFill>
          <a:blip r:embed="rId10"/>
          <a:stretch>
            <a:fillRect/>
          </a:stretch>
        </p:blipFill>
        <p:spPr>
          <a:xfrm>
            <a:off x="10131552" y="2571902"/>
            <a:ext cx="1133856" cy="415747"/>
          </a:xfrm>
          <a:prstGeom prst="rect">
            <a:avLst/>
          </a:prstGeom>
        </p:spPr>
      </p:pic>
      <p:pic>
        <p:nvPicPr>
          <p:cNvPr id="29" name="Picture 28" descr="berkeley.png"/>
          <p:cNvPicPr>
            <a:picLocks noChangeAspect="1"/>
          </p:cNvPicPr>
          <p:nvPr/>
        </p:nvPicPr>
        <p:blipFill>
          <a:blip r:embed="rId11"/>
          <a:stretch>
            <a:fillRect/>
          </a:stretch>
        </p:blipFill>
        <p:spPr>
          <a:xfrm>
            <a:off x="7461504" y="3479254"/>
            <a:ext cx="1133856" cy="356692"/>
          </a:xfrm>
          <a:prstGeom prst="rect">
            <a:avLst/>
          </a:prstGeom>
        </p:spPr>
      </p:pic>
      <p:pic>
        <p:nvPicPr>
          <p:cNvPr id="30" name="Picture 29" descr="columbia.png"/>
          <p:cNvPicPr>
            <a:picLocks noChangeAspect="1"/>
          </p:cNvPicPr>
          <p:nvPr/>
        </p:nvPicPr>
        <p:blipFill>
          <a:blip r:embed="rId12"/>
          <a:stretch>
            <a:fillRect/>
          </a:stretch>
        </p:blipFill>
        <p:spPr>
          <a:xfrm>
            <a:off x="9146103" y="3374136"/>
            <a:ext cx="434705" cy="566928"/>
          </a:xfrm>
          <a:prstGeom prst="rect">
            <a:avLst/>
          </a:prstGeom>
        </p:spPr>
      </p:pic>
      <p:pic>
        <p:nvPicPr>
          <p:cNvPr id="31" name="Picture 30" descr="breakthrough.png"/>
          <p:cNvPicPr>
            <a:picLocks noChangeAspect="1"/>
          </p:cNvPicPr>
          <p:nvPr/>
        </p:nvPicPr>
        <p:blipFill>
          <a:blip r:embed="rId13"/>
          <a:stretch>
            <a:fillRect/>
          </a:stretch>
        </p:blipFill>
        <p:spPr>
          <a:xfrm>
            <a:off x="10131552" y="3518821"/>
            <a:ext cx="1133856" cy="27755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146304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00584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