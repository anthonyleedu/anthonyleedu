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23"/>
    <p:sldId id="273" r:id="rId24"/>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7.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17320"/>
            <a:ext cx="5440680" cy="18288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known as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 and reshaping how nations power cities, industries, and critical systems.</a:t>
            </a:r>
            <a:endParaRPr lang="en-US" sz="1350" dirty="0"/>
          </a:p>
        </p:txBody>
      </p:sp>
      <p:sp>
        <p:nvSpPr>
          <p:cNvPr id="8" name="Text 5"/>
          <p:cNvSpPr/>
          <p:nvPr/>
        </p:nvSpPr>
        <p:spPr>
          <a:xfrm>
            <a:off x="822960" y="3310128"/>
            <a:ext cx="5440680" cy="118872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Since being founded in 2018, Helio has specialized in delivering cutting edge aerospace hardware, systems engineering, and mission services. From small scale projects to flagship space missions, we support NASA, private companies, universities, and global space agencies to achieve success in space.</a:t>
            </a:r>
            <a:endParaRPr lang="en-US" sz="1350" dirty="0"/>
          </a:p>
        </p:txBody>
      </p:sp>
      <p:sp>
        <p:nvSpPr>
          <p:cNvPr id="9" name="Text 6"/>
          <p:cNvSpPr/>
          <p:nvPr/>
        </p:nvSpPr>
        <p:spPr>
          <a:xfrm>
            <a:off x="65379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65379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90525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90525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65379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65379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90525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90525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7018020" y="1417320"/>
            <a:ext cx="3867912" cy="2886282"/>
          </a:xfrm>
          <a:prstGeom prst="rect">
            <a:avLst/>
          </a:prstGeom>
        </p:spPr>
      </p:pic>
      <p:sp>
        <p:nvSpPr>
          <p:cNvPr id="18" name="Shape 14"/>
          <p:cNvSpPr/>
          <p:nvPr/>
        </p:nvSpPr>
        <p:spPr>
          <a:xfrm>
            <a:off x="7018020" y="1417320"/>
            <a:ext cx="3867912" cy="2886282"/>
          </a:xfrm>
          <a:prstGeom prst="rect">
            <a:avLst/>
          </a:prstGeom>
          <a:ln w="12700">
            <a:solidFill>
              <a:srgbClr val="C6D2DA"/>
            </a:solidFill>
            <a:prstDash val="solid"/>
          </a:ln>
        </p:spPr>
        <p:txBody>
          <a:bodyPr/>
          <a:p/>
        </p:txBody>
      </p:sp>
      <p:sp>
        <p:nvSpPr>
          <p:cNvPr id="19" name="Text 15"/>
          <p:cNvSpPr/>
          <p:nvPr/>
        </p:nvSpPr>
        <p:spPr>
          <a:xfrm>
            <a:off x="6537960" y="4370832"/>
            <a:ext cx="4828032" cy="38404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
        <p:nvSpPr>
          <p:cNvPr id="20" name="Text 5"/>
          <p:cNvSpPr/>
          <p:nvPr/>
        </p:nvSpPr>
        <p:spPr>
          <a:xfrm>
            <a:off x="822960" y="4553712"/>
            <a:ext cx="5440680" cy="16002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We are proud to be a trusted partner to over a dozen space agencies, organizations, and companies across the globe. Our products can be found operating from the Sun to Jupiter. From NASA and the European Space Agency to emerging private aerospace firms and academic institutions, we collaborate with some of the most innovative and forward thinking players in the space industry.</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systems intended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
        <p:nvSpPr>
          <p:cNvPr id="23" name="Text 5"/>
          <p:cNvSpPr/>
          <p:nvPr/>
        </p:nvSpPr>
        <p:spPr>
          <a:xfrm>
            <a:off x="822960" y="6254496"/>
            <a:ext cx="10543032" cy="237744"/>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Heritage examples: hardware for missions such as NASA's Europa Clipper, James Webb Space Telescope program support, solar science missions, and lunar related systems.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30" name="Shape 4"/>
          <p:cNvSpPr/>
          <p:nvPr/>
        </p:nvSpPr>
        <p:spPr>
          <a:xfrm>
            <a:off x="822960" y="1444752"/>
            <a:ext cx="347472" cy="347472"/>
          </a:xfrm>
          <a:prstGeom prst="ellipse">
            <a:avLst/>
          </a:prstGeom>
          <a:solidFill>
            <a:srgbClr val="007BCB"/>
          </a:solidFill>
          <a:ln/>
        </p:spPr>
        <p:txBody>
          <a:bodyPr/>
          <a:p/>
        </p:txBody>
      </p:sp>
      <p:sp>
        <p:nvSpPr>
          <p:cNvPr id="31"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32" name="Text 6"/>
          <p:cNvSpPr/>
          <p:nvPr/>
        </p:nvSpPr>
        <p:spPr>
          <a:xfrm>
            <a:off x="132588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33" name="Text 7"/>
          <p:cNvSpPr/>
          <p:nvPr/>
        </p:nvSpPr>
        <p:spPr>
          <a:xfrm>
            <a:off x="1325880" y="1700784"/>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has supported more than 40 space flight missions and built and deployed more than 125 instruments and systems, giving customers confidence that its hardware can survive demanding space environments. Its technology has been used on major missions, including NASA's Europa Clipper and support activities related to the James Webb Space Telescope.</a:t>
            </a:r>
            <a:endParaRPr lang="en-US" sz="1100" dirty="0"/>
          </a:p>
        </p:txBody>
      </p:sp>
      <p:sp>
        <p:nvSpPr>
          <p:cNvPr id="34" name="Shape 4"/>
          <p:cNvSpPr/>
          <p:nvPr/>
        </p:nvSpPr>
        <p:spPr>
          <a:xfrm>
            <a:off x="822960" y="3154680"/>
            <a:ext cx="347472" cy="347472"/>
          </a:xfrm>
          <a:prstGeom prst="ellipse">
            <a:avLst/>
          </a:prstGeom>
          <a:solidFill>
            <a:srgbClr val="007BCB"/>
          </a:solidFill>
          <a:ln/>
        </p:spPr>
        <p:txBody>
          <a:bodyPr/>
          <a:p/>
        </p:txBody>
      </p:sp>
      <p:sp>
        <p:nvSpPr>
          <p:cNvPr id="35" name="Text 5"/>
          <p:cNvSpPr/>
          <p:nvPr/>
        </p:nvSpPr>
        <p:spPr>
          <a:xfrm>
            <a:off x="822960" y="31546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36" name="Text 6"/>
          <p:cNvSpPr/>
          <p:nvPr/>
        </p:nvSpPr>
        <p:spPr>
          <a:xfrm>
            <a:off x="1325880" y="3127248"/>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37" name="Text 7"/>
          <p:cNvSpPr/>
          <p:nvPr/>
        </p:nvSpPr>
        <p:spPr>
          <a:xfrm>
            <a:off x="1325880" y="3410712"/>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missions often require custom solutions rather than off the shelf products. Helio focuses on deployable antennas, sensors, large deployable structures, spacecraft mechanisms, and systems engineering and design. Customers choose Helio because these components must work reliably in extreme conditions where repair is impossible.</a:t>
            </a:r>
            <a:endParaRPr lang="en-US" sz="1100" dirty="0"/>
          </a:p>
        </p:txBody>
      </p:sp>
      <p:sp>
        <p:nvSpPr>
          <p:cNvPr id="38" name="Shape 4"/>
          <p:cNvSpPr/>
          <p:nvPr/>
        </p:nvSpPr>
        <p:spPr>
          <a:xfrm>
            <a:off x="822960" y="4864608"/>
            <a:ext cx="347472" cy="347472"/>
          </a:xfrm>
          <a:prstGeom prst="ellipse">
            <a:avLst/>
          </a:prstGeom>
          <a:solidFill>
            <a:srgbClr val="007BCB"/>
          </a:solidFill>
          <a:ln/>
        </p:spPr>
        <p:txBody>
          <a:bodyPr/>
          <a:p/>
        </p:txBody>
      </p:sp>
      <p:sp>
        <p:nvSpPr>
          <p:cNvPr id="39" name="Text 5"/>
          <p:cNvSpPr/>
          <p:nvPr/>
        </p:nvSpPr>
        <p:spPr>
          <a:xfrm>
            <a:off x="822960" y="48646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40" name="Text 6"/>
          <p:cNvSpPr/>
          <p:nvPr/>
        </p:nvSpPr>
        <p:spPr>
          <a:xfrm>
            <a:off x="1325880" y="4837176"/>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41" name="Text 7"/>
          <p:cNvSpPr/>
          <p:nvPr/>
        </p:nvSpPr>
        <p:spPr>
          <a:xfrm>
            <a:off x="1325880" y="5120640"/>
            <a:ext cx="4617720" cy="10058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agencies and aerospace companies value suppliers with previous successful missions because failures in space are extremely expensive. Helio positions itself as a problem solver for difficult space hardware challenges, helping customers reduce technical risk.</a:t>
            </a:r>
            <a:endParaRPr lang="en-US" sz="1100" dirty="0"/>
          </a:p>
        </p:txBody>
      </p:sp>
      <p:sp>
        <p:nvSpPr>
          <p:cNvPr id="42" name="Shape 4"/>
          <p:cNvSpPr/>
          <p:nvPr/>
        </p:nvSpPr>
        <p:spPr>
          <a:xfrm>
            <a:off x="6217920" y="1444752"/>
            <a:ext cx="347472" cy="347472"/>
          </a:xfrm>
          <a:prstGeom prst="ellipse">
            <a:avLst/>
          </a:prstGeom>
          <a:solidFill>
            <a:srgbClr val="007BCB"/>
          </a:solidFill>
          <a:ln/>
        </p:spPr>
        <p:txBody>
          <a:bodyPr/>
          <a:p/>
        </p:txBody>
      </p:sp>
      <p:sp>
        <p:nvSpPr>
          <p:cNvPr id="43" name="Text 5"/>
          <p:cNvSpPr/>
          <p:nvPr/>
        </p:nvSpPr>
        <p:spPr>
          <a:xfrm>
            <a:off x="621792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44" name="Text 6"/>
          <p:cNvSpPr/>
          <p:nvPr/>
        </p:nvSpPr>
        <p:spPr>
          <a:xfrm>
            <a:off x="672084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45" name="Text 7"/>
          <p:cNvSpPr/>
          <p:nvPr/>
        </p:nvSpPr>
        <p:spPr>
          <a:xfrm>
            <a:off x="6720840" y="1700784"/>
            <a:ext cx="4617720" cy="12344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Beyond current space hardware, Helio is developing space based solar power systems designed to collect solar energy in orbit and transmit power to Earth. Customers and partners interested in future space infrastructure value Helio's combination of existing engineering capability and long term energy technology goals.</a:t>
            </a:r>
            <a:endParaRPr lang="en-US" sz="1100" dirty="0"/>
          </a:p>
        </p:txBody>
      </p:sp>
      <p:sp>
        <p:nvSpPr>
          <p:cNvPr id="46" name="Shape 4"/>
          <p:cNvSpPr/>
          <p:nvPr/>
        </p:nvSpPr>
        <p:spPr>
          <a:xfrm>
            <a:off x="6217920" y="3099816"/>
            <a:ext cx="347472" cy="347472"/>
          </a:xfrm>
          <a:prstGeom prst="ellipse">
            <a:avLst/>
          </a:prstGeom>
          <a:solidFill>
            <a:srgbClr val="007BCB"/>
          </a:solidFill>
          <a:ln/>
        </p:spPr>
        <p:txBody>
          <a:bodyPr/>
          <a:p/>
        </p:txBody>
      </p:sp>
      <p:sp>
        <p:nvSpPr>
          <p:cNvPr id="47" name="Text 5"/>
          <p:cNvSpPr/>
          <p:nvPr/>
        </p:nvSpPr>
        <p:spPr>
          <a:xfrm>
            <a:off x="6217920" y="30998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48" name="Text 6"/>
          <p:cNvSpPr/>
          <p:nvPr/>
        </p:nvSpPr>
        <p:spPr>
          <a:xfrm>
            <a:off x="6720840" y="3072384"/>
            <a:ext cx="4617720" cy="54864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Flexible partner for government and commercial customers</a:t>
            </a:r>
            <a:endParaRPr lang="en-US" sz="1450" dirty="0"/>
          </a:p>
        </p:txBody>
      </p:sp>
      <p:sp>
        <p:nvSpPr>
          <p:cNvPr id="49" name="Text 7"/>
          <p:cNvSpPr/>
          <p:nvPr/>
        </p:nvSpPr>
        <p:spPr>
          <a:xfrm>
            <a:off x="6720840" y="3657600"/>
            <a:ext cx="4617720" cy="7772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works with government agencies, private aerospace companies, universities, and research organizations, providing customized systems rather than only standardized products.</a:t>
            </a:r>
            <a:endParaRPr lang="en-US" sz="1100" dirty="0"/>
          </a:p>
        </p:txBody>
      </p:sp>
      <p:sp>
        <p:nvSpPr>
          <p:cNvPr id="50" name="Shape 20"/>
          <p:cNvSpPr/>
          <p:nvPr/>
        </p:nvSpPr>
        <p:spPr>
          <a:xfrm>
            <a:off x="6217920" y="4663440"/>
            <a:ext cx="5148072" cy="1325880"/>
          </a:xfrm>
          <a:prstGeom prst="roundRect">
            <a:avLst>
              <a:gd name="adj" fmla="val 3704"/>
            </a:avLst>
          </a:prstGeom>
          <a:solidFill>
            <a:srgbClr val="EDF3F8"/>
          </a:solidFill>
          <a:ln w="9525">
            <a:solidFill>
              <a:srgbClr val="C6D2DA"/>
            </a:solidFill>
            <a:prstDash val="solid"/>
          </a:ln>
        </p:spPr>
        <p:txBody>
          <a:bodyPr/>
          <a:p/>
        </p:txBody>
      </p:sp>
      <p:sp>
        <p:nvSpPr>
          <p:cNvPr id="51" name="Text 21"/>
          <p:cNvSpPr/>
          <p:nvPr/>
        </p:nvSpPr>
        <p:spPr>
          <a:xfrm>
            <a:off x="6400800" y="4791456"/>
            <a:ext cx="475488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In summary</a:t>
            </a:r>
            <a:endParaRPr lang="en-US" sz="1250" dirty="0"/>
          </a:p>
        </p:txBody>
      </p:sp>
      <p:sp>
        <p:nvSpPr>
          <p:cNvPr id="52" name="Text 22"/>
          <p:cNvSpPr/>
          <p:nvPr/>
        </p:nvSpPr>
        <p:spPr>
          <a:xfrm>
            <a:off x="6400800" y="5084064"/>
            <a:ext cx="4754880" cy="8229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Customers choose Helio because it offers proven space qualified hardware, specialized engineering skills, mission reliability, and a pathway toward next generation space infrastructure.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txBody>
          <a:bodyPr/>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txBody>
          <a:bodyPr/>
          <a:p/>
        </p:txBody>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Disciplined Two Phase Approach</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Market entry is sequenced in two phases, with production investment committed only after the quality of orders has been confirmed.</a:t>
            </a:r>
            <a:endParaRPr lang="en-US" sz="1300" dirty="0"/>
          </a:p>
        </p:txBody>
      </p:sp>
      <p:sp>
        <p:nvSpPr>
          <p:cNvPr id="8" name="Shape 4"/>
          <p:cNvSpPr/>
          <p:nvPr/>
        </p:nvSpPr>
        <p:spPr>
          <a:xfrm>
            <a:off x="822960" y="1874519"/>
            <a:ext cx="5175504" cy="3429000"/>
          </a:xfrm>
          <a:prstGeom prst="roundRect">
            <a:avLst>
              <a:gd name="adj" fmla="val 1724"/>
            </a:avLst>
          </a:prstGeom>
          <a:solidFill>
            <a:srgbClr val="F3F7FA"/>
          </a:solidFill>
          <a:ln/>
        </p:spPr>
        <p:txBody>
          <a:bodyPr/>
          <a:p/>
        </p:txBody>
      </p:sp>
      <p:sp>
        <p:nvSpPr>
          <p:cNvPr id="9" name="Shape 5"/>
          <p:cNvSpPr/>
          <p:nvPr/>
        </p:nvSpPr>
        <p:spPr>
          <a:xfrm>
            <a:off x="1005840" y="2075687"/>
            <a:ext cx="384048" cy="384048"/>
          </a:xfrm>
          <a:prstGeom prst="ellipse">
            <a:avLst/>
          </a:prstGeom>
          <a:solidFill>
            <a:srgbClr val="007BCB"/>
          </a:solidFill>
          <a:ln/>
        </p:spPr>
        <p:txBody>
          <a:bodyPr/>
          <a:p/>
        </p:txBody>
      </p:sp>
      <p:sp>
        <p:nvSpPr>
          <p:cNvPr id="10" name="Text 6"/>
          <p:cNvSpPr/>
          <p:nvPr/>
        </p:nvSpPr>
        <p:spPr>
          <a:xfrm>
            <a:off x="1005840"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1" name="Text 7"/>
          <p:cNvSpPr/>
          <p:nvPr/>
        </p:nvSpPr>
        <p:spPr>
          <a:xfrm>
            <a:off x="1005840"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Sell to Overseas Clients and Take Orders</a:t>
            </a:r>
            <a:endParaRPr lang="en-US" sz="1550" dirty="0"/>
          </a:p>
        </p:txBody>
      </p:sp>
      <p:sp>
        <p:nvSpPr>
          <p:cNvPr id="12" name="Text 8"/>
          <p:cNvSpPr/>
          <p:nvPr/>
        </p:nvSpPr>
        <p:spPr>
          <a:xfrm>
            <a:off x="1005840"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Sell products to overseas clients, establish a base of export customers, and convert engagement into a firm order book. Every component in the current portfolio is available for sale to overseas clients, allowing revenue capture from existing product lines without new development.</a:t>
            </a:r>
            <a:endParaRPr lang="en-US" sz="1100" dirty="0"/>
          </a:p>
        </p:txBody>
      </p:sp>
      <p:sp>
        <p:nvSpPr>
          <p:cNvPr id="13" name="Shape 4"/>
          <p:cNvSpPr/>
          <p:nvPr/>
        </p:nvSpPr>
        <p:spPr>
          <a:xfrm>
            <a:off x="6190488" y="1874519"/>
            <a:ext cx="5175504" cy="3429000"/>
          </a:xfrm>
          <a:prstGeom prst="roundRect">
            <a:avLst>
              <a:gd name="adj" fmla="val 1724"/>
            </a:avLst>
          </a:prstGeom>
          <a:solidFill>
            <a:srgbClr val="F3F7FA"/>
          </a:solidFill>
          <a:ln/>
        </p:spPr>
        <p:txBody>
          <a:bodyPr/>
          <a:p/>
        </p:txBody>
      </p:sp>
      <p:sp>
        <p:nvSpPr>
          <p:cNvPr id="14" name="Shape 5"/>
          <p:cNvSpPr/>
          <p:nvPr/>
        </p:nvSpPr>
        <p:spPr>
          <a:xfrm>
            <a:off x="6373368" y="2075687"/>
            <a:ext cx="384048" cy="384048"/>
          </a:xfrm>
          <a:prstGeom prst="ellipse">
            <a:avLst/>
          </a:prstGeom>
          <a:solidFill>
            <a:srgbClr val="007BCB"/>
          </a:solidFill>
          <a:ln/>
        </p:spPr>
        <p:txBody>
          <a:bodyPr/>
          <a:p/>
        </p:txBody>
      </p:sp>
      <p:sp>
        <p:nvSpPr>
          <p:cNvPr id="15" name="Text 6"/>
          <p:cNvSpPr/>
          <p:nvPr/>
        </p:nvSpPr>
        <p:spPr>
          <a:xfrm>
            <a:off x="6373368"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6" name="Text 7"/>
          <p:cNvSpPr/>
          <p:nvPr/>
        </p:nvSpPr>
        <p:spPr>
          <a:xfrm>
            <a:off x="6373368"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Establish Supply Chain and Volume Production in China</a:t>
            </a:r>
            <a:endParaRPr lang="en-US" sz="1550" dirty="0"/>
          </a:p>
        </p:txBody>
      </p:sp>
      <p:sp>
        <p:nvSpPr>
          <p:cNvPr id="17" name="Text 8"/>
          <p:cNvSpPr/>
          <p:nvPr/>
        </p:nvSpPr>
        <p:spPr>
          <a:xfrm>
            <a:off x="6373368"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Once the quality of orders has been confirmed, establish a dedicated supply chain in China and stand up large scale production capacity. Volume manufacturing then serves the export order book with consistent quality and competitive cost.</a:t>
            </a:r>
            <a:endParaRPr lang="en-US" sz="1100" dirty="0"/>
          </a:p>
        </p:txBody>
      </p:sp>
      <p:sp>
        <p:nvSpPr>
          <p:cNvPr id="18" name="Text 22"/>
          <p:cNvSpPr/>
          <p:nvPr/>
        </p:nvSpPr>
        <p:spPr>
          <a:xfrm>
            <a:off x="822960" y="5577840"/>
            <a:ext cx="10543032" cy="3657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Capital deployment in Phase Two is gated on confirmed order quality, keeping production capacity aligned with demonstrated demand.</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Competitive Position and Route to Market</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16</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A proven supplier with marquee clients, differentiated products, and a clear route to serving Chinese customers.</a:t>
            </a:r>
            <a:endParaRPr lang="en-US" sz="1300" dirty="0"/>
          </a:p>
        </p:txBody>
      </p:sp>
      <p:sp>
        <p:nvSpPr>
          <p:cNvPr id="8" name="Text 4"/>
          <p:cNvSpPr/>
          <p:nvPr/>
        </p:nvSpPr>
        <p:spPr>
          <a:xfrm>
            <a:off x="822960"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Heliospace is competitive</a:t>
            </a:r>
            <a:endParaRPr lang="en-US" sz="1350" dirty="0"/>
          </a:p>
        </p:txBody>
      </p:sp>
      <p:sp>
        <p:nvSpPr>
          <p:cNvPr id="9" name="Text 5"/>
          <p:cNvSpPr/>
          <p:nvPr/>
        </p:nvSpPr>
        <p:spPr>
          <a:xfrm>
            <a:off x="822960" y="212140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Decades of flight heritage with NASA and ESA, an in house boom forming capability that removes supplier risk, and a lean cost structure that delivers fully qualified hardware at competitive prices and short lead times.</a:t>
            </a:r>
            <a:endParaRPr lang="en-US" sz="1150" dirty="0"/>
          </a:p>
        </p:txBody>
      </p:sp>
      <p:sp>
        <p:nvSpPr>
          <p:cNvPr id="10" name="Text 4"/>
          <p:cNvSpPr/>
          <p:nvPr/>
        </p:nvSpPr>
        <p:spPr>
          <a:xfrm>
            <a:off x="822960" y="32004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An established client base</a:t>
            </a:r>
            <a:endParaRPr lang="en-US" sz="1350" dirty="0"/>
          </a:p>
        </p:txBody>
      </p:sp>
      <p:sp>
        <p:nvSpPr>
          <p:cNvPr id="11" name="Text 5"/>
          <p:cNvSpPr/>
          <p:nvPr/>
        </p:nvSpPr>
        <p:spPr>
          <a:xfrm>
            <a:off x="822960" y="3493008"/>
            <a:ext cx="5175504" cy="105156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 Firefly Aerospace, Intuitive Machines, SwRI, and Blue Origin, with hardware operating on Europa Clipper, Solar Orbiter, and the first commercial lunar landings.</a:t>
            </a:r>
            <a:endParaRPr lang="en-US" sz="1150" dirty="0"/>
          </a:p>
        </p:txBody>
      </p:sp>
      <p:sp>
        <p:nvSpPr>
          <p:cNvPr id="12" name="Text 4"/>
          <p:cNvSpPr/>
          <p:nvPr/>
        </p:nvSpPr>
        <p:spPr>
          <a:xfrm>
            <a:off x="822960" y="470916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customers choose us</a:t>
            </a:r>
            <a:endParaRPr lang="en-US" sz="1350" dirty="0"/>
          </a:p>
        </p:txBody>
      </p:sp>
      <p:sp>
        <p:nvSpPr>
          <p:cNvPr id="13" name="Text 5"/>
          <p:cNvSpPr/>
          <p:nvPr/>
        </p:nvSpPr>
        <p:spPr>
          <a:xfrm>
            <a:off x="822960" y="500176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Supplier of record on marquee missions, on schedule delivery for launch critical payloads, and repeat awards across programs and platforms.</a:t>
            </a:r>
            <a:endParaRPr lang="en-US" sz="1150" dirty="0"/>
          </a:p>
        </p:txBody>
      </p:sp>
      <p:sp>
        <p:nvSpPr>
          <p:cNvPr id="14" name="Text 4"/>
          <p:cNvSpPr/>
          <p:nvPr/>
        </p:nvSpPr>
        <p:spPr>
          <a:xfrm>
            <a:off x="6190488"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our products are competitive</a:t>
            </a:r>
            <a:endParaRPr lang="en-US" sz="1350" dirty="0"/>
          </a:p>
        </p:txBody>
      </p:sp>
      <p:sp>
        <p:nvSpPr>
          <p:cNvPr id="15" name="Text 13"/>
          <p:cNvSpPr/>
          <p:nvPr/>
        </p:nvSpPr>
        <p:spPr>
          <a:xfrm>
            <a:off x="6190488" y="2121408"/>
            <a:ext cx="5175504" cy="16002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Stow ratios of up to 50:1, well beyond typical deployables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Operating range of -200 C to +200 C</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Redundant, non explosive release with no ordnance handling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Lower mass and cost with lead times measured in weeks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deployments</a:t>
            </a:r>
            <a:endParaRPr lang="en-US" sz="1100" dirty="0"/>
          </a:p>
        </p:txBody>
      </p:sp>
      <p:sp>
        <p:nvSpPr>
          <p:cNvPr id="16" name="Text 4"/>
          <p:cNvSpPr/>
          <p:nvPr/>
        </p:nvSpPr>
        <p:spPr>
          <a:xfrm>
            <a:off x="6190488" y="3977639"/>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How we sell to Chinese clients</a:t>
            </a:r>
            <a:endParaRPr lang="en-US" sz="1350" dirty="0"/>
          </a:p>
        </p:txBody>
      </p:sp>
      <p:sp>
        <p:nvSpPr>
          <p:cNvPr id="17" name="Text 13"/>
          <p:cNvSpPr/>
          <p:nvPr/>
        </p:nvSpPr>
        <p:spPr>
          <a:xfrm>
            <a:off x="6190488" y="4270248"/>
            <a:ext cx="5175504" cy="14630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Offer qualified products and components through export orders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Let delivered flight hardware demonstrate reliability and value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Provide catalog pricing and published interfaces for fast procurement</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Scale a China based supply chain and production as order quality is confirmed</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