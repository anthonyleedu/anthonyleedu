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12192000"/>
  <p:notesSz cx="6858000" cy="9144000"/>
  <p:embeddedFontLst>
    <p:embeddedFont>
      <p:font typeface="Garamon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ijV0lCDV4kkH8wPRu2oGZSlObw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Garamond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Garamond-italic.fntdata"/><Relationship Id="rId14" Type="http://schemas.openxmlformats.org/officeDocument/2006/relationships/slide" Target="slides/slide9.xml"/><Relationship Id="rId36" Type="http://schemas.openxmlformats.org/officeDocument/2006/relationships/font" Target="fonts/Garamond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Garamond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资金用途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市场与获客</c:v>
                </c:pt>
                <c:pt idx="1">
                  <c:v>产品与 AI 研发</c:v>
                </c:pt>
                <c:pt idx="2">
                  <c:v>美国市场扩张</c:v>
                </c:pt>
                <c:pt idx="3">
                  <c:v>中国市场与 B2B</c:v>
                </c:pt>
                <c:pt idx="4">
                  <c:v>品牌与活动</c:v>
                </c:pt>
                <c:pt idx="5">
                  <c:v>运营 / 法务 / 财务</c:v>
                </c:pt>
                <c:pt idx="6">
                  <c:v>现金储备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</c:v>
                </c:pt>
                <c:pt idx="1">
                  <c:v>22.5</c:v>
                </c:pt>
                <c:pt idx="2">
                  <c:v>12.5</c:v>
                </c:pt>
                <c:pt idx="3">
                  <c:v>7.5</c:v>
                </c:pt>
                <c:pt idx="4">
                  <c:v>7.5</c:v>
                </c:pt>
                <c:pt idx="5">
                  <c:v>5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BA-44E7-BF68-3360DADA26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1.xml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ver_bg.jp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51careers_logo_light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685800"/>
            <a:ext cx="2514600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822960" y="1481328"/>
            <a:ext cx="10241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6FBCE8"/>
                </a:solidFill>
                <a:latin typeface="Garamond"/>
                <a:ea typeface="宋体"/>
                <a:cs typeface="Garamond"/>
                <a:sym typeface="Garamond"/>
              </a:rPr>
              <a:t>机密投资者演示文稿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822960" y="1737360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51 Careers.AI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822960" y="2395728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DCE8F1"/>
                </a:solidFill>
                <a:latin typeface="Garamond"/>
                <a:ea typeface="宋体"/>
                <a:cs typeface="Garamond"/>
                <a:sym typeface="Garamond"/>
              </a:rPr>
              <a:t>打造全球 AI 职业平台——从简历到机会。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822960" y="2761488"/>
            <a:ext cx="10241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9FC5DE"/>
                </a:solidFill>
                <a:latin typeface="Garamond"/>
                <a:ea typeface="宋体"/>
                <a:cs typeface="Garamond"/>
                <a:sym typeface="Garamond"/>
              </a:rPr>
              <a:t>AI 简历   ×   AI 职业   ×   全球人才生态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822960" y="3090672"/>
            <a:ext cx="3392424" cy="2029968"/>
          </a:xfrm>
          <a:prstGeom prst="roundRect">
            <a:avLst>
              <a:gd fmla="val 4000" name="adj"/>
            </a:avLst>
          </a:prstGeom>
          <a:solidFill>
            <a:srgbClr val="0E2233"/>
          </a:solidFill>
          <a:ln cap="flat" cmpd="sng" w="9525">
            <a:solidFill>
              <a:srgbClr val="3C5A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042416" y="3255264"/>
            <a:ext cx="2953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6FBCE8"/>
                </a:solidFill>
                <a:latin typeface="Garamond"/>
                <a:ea typeface="宋体"/>
                <a:cs typeface="Garamond"/>
                <a:sym typeface="Garamond"/>
              </a:rPr>
              <a:t>投前估值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042416" y="3566160"/>
            <a:ext cx="2953512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RMB 180M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042416" y="4352544"/>
            <a:ext cx="295351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DCE8F1"/>
                </a:solidFill>
                <a:latin typeface="Garamond"/>
                <a:ea typeface="宋体"/>
                <a:cs typeface="Garamond"/>
                <a:sym typeface="Garamond"/>
              </a:rPr>
              <a:t>≈ 2,670万美元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4398264" y="3090672"/>
            <a:ext cx="3392424" cy="2029968"/>
          </a:xfrm>
          <a:prstGeom prst="roundRect">
            <a:avLst>
              <a:gd fmla="val 4000" name="adj"/>
            </a:avLst>
          </a:prstGeom>
          <a:solidFill>
            <a:srgbClr val="0E2233"/>
          </a:solidFill>
          <a:ln cap="flat" cmpd="sng" w="9525">
            <a:solidFill>
              <a:srgbClr val="3C5A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4617720" y="3255264"/>
            <a:ext cx="2953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6FBCE8"/>
                </a:solidFill>
                <a:latin typeface="Garamond"/>
                <a:ea typeface="宋体"/>
                <a:cs typeface="Garamond"/>
                <a:sym typeface="Garamond"/>
              </a:rPr>
              <a:t>本轮融资  ·  10% 股权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4617720" y="3566160"/>
            <a:ext cx="2953512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RMB 20M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4617720" y="4352544"/>
            <a:ext cx="295351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DCE8F1"/>
                </a:solidFill>
                <a:latin typeface="Garamond"/>
                <a:ea typeface="宋体"/>
                <a:cs typeface="Garamond"/>
                <a:sym typeface="Garamond"/>
              </a:rPr>
              <a:t>≈ 297万美元</a:t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7973568" y="3090672"/>
            <a:ext cx="3392424" cy="2029968"/>
          </a:xfrm>
          <a:prstGeom prst="roundRect">
            <a:avLst>
              <a:gd fmla="val 4000" name="adj"/>
            </a:avLst>
          </a:prstGeom>
          <a:solidFill>
            <a:srgbClr val="0E2233"/>
          </a:solidFill>
          <a:ln cap="flat" cmpd="sng" w="9525">
            <a:solidFill>
              <a:srgbClr val="3C5A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8193024" y="3255264"/>
            <a:ext cx="2953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6FBCE8"/>
                </a:solidFill>
                <a:latin typeface="Garamond"/>
                <a:ea typeface="宋体"/>
                <a:cs typeface="Garamond"/>
                <a:sym typeface="Garamond"/>
              </a:rPr>
              <a:t>投后估值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8193024" y="3566160"/>
            <a:ext cx="2953512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RMB 200M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8193024" y="4352544"/>
            <a:ext cx="295351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DCE8F1"/>
                </a:solidFill>
                <a:latin typeface="Garamond"/>
                <a:ea typeface="宋体"/>
                <a:cs typeface="Garamond"/>
                <a:sym typeface="Garamond"/>
              </a:rPr>
              <a:t>≈ 2,970万美元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822960" y="5285232"/>
            <a:ext cx="105430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DCE8F1"/>
                </a:solidFill>
                <a:latin typeface="Garamond"/>
                <a:ea typeface="宋体"/>
                <a:cs typeface="Garamond"/>
                <a:sym typeface="Garamond"/>
              </a:rPr>
              <a:t>简历是入口。目标是全球 AI 职业平台。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822960" y="5614416"/>
            <a:ext cx="105430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DCE8F1"/>
                </a:solidFill>
                <a:latin typeface="Garamond"/>
                <a:ea typeface="宋体"/>
                <a:cs typeface="Garamond"/>
                <a:sym typeface="Garamond"/>
              </a:rPr>
              <a:t>连接求职者、雇主、职业服务、教育机构与人才生态。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822960" y="6035040"/>
            <a:ext cx="10543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B9C7D2"/>
                </a:solidFill>
                <a:latin typeface="Garamond"/>
                <a:ea typeface="宋体"/>
                <a:cs typeface="Garamond"/>
                <a:sym typeface="Garamond"/>
              </a:rPr>
              <a:t>2026年9月    |    纽约  ·  上海    |    中国研发  ·  美国GTM  ·  全球分发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公司概览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51 Careers 一览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职业服务  →  AI 简历  →  AI 职业平台  →  全球市场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822960" y="1298448"/>
            <a:ext cx="5669280" cy="345643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024128" y="1426464"/>
            <a:ext cx="5266944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我们是谁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51 Careers 正在打造全球 AI 职业平台，帮助求职者制作更优质的简历、发现机会、提升结果，并获得专业职业服务。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切入点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AI 简历平台：将非结构化职业经历转化为专业、量化、针对具体岗位的简历。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本轮融资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人民币2,000万元将主要用于产品研发、人才招聘与商业拓展。</a:t>
            </a: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r>
              <a:rPr lang="en-US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r>
              <a:rPr lang="en-US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r>
              <a:rPr lang="en-US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6675120" y="1298448"/>
            <a:ext cx="4690872" cy="345643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6858000" y="1408176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5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投资亮点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6858000" y="1737360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01    AI 简历演示产品已完成开发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6858000" y="2103120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02    初期测试结果积极向好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6858000" y="2468880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03    相较通用 AI 模型定位更强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6858000" y="2834640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04    从第一天起即面向全球的产品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6858000" y="3200400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05    已有职业服务专业能力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6858000" y="3566160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06    美国作为首个国际桥头堡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6858000" y="3931920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07    AI 简历之外的多元收入来源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6858000" y="4297680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08    人民币2,000万用于扩大产品、用户与GTM</a:t>
            </a:r>
            <a:r>
              <a:rPr lang="en-US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r>
              <a:rPr lang="en-US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822960" y="4882896"/>
            <a:ext cx="2560320" cy="14996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969264" y="5029200"/>
            <a:ext cx="22677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2016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969264" y="5577840"/>
            <a:ext cx="22677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创立于纽约</a:t>
            </a:r>
            <a:endParaRPr/>
          </a:p>
        </p:txBody>
      </p:sp>
      <p:sp>
        <p:nvSpPr>
          <p:cNvPr id="127" name="Google Shape;127;p2"/>
          <p:cNvSpPr/>
          <p:nvPr/>
        </p:nvSpPr>
        <p:spPr>
          <a:xfrm>
            <a:off x="3483864" y="4882896"/>
            <a:ext cx="2560320" cy="14996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3630168" y="5029200"/>
            <a:ext cx="22677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RMB 20M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3630168" y="5577840"/>
            <a:ext cx="22677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本轮成长资金</a:t>
            </a:r>
            <a:endParaRPr/>
          </a:p>
        </p:txBody>
      </p:sp>
      <p:sp>
        <p:nvSpPr>
          <p:cNvPr id="130" name="Google Shape;130;p2"/>
          <p:cNvSpPr/>
          <p:nvPr/>
        </p:nvSpPr>
        <p:spPr>
          <a:xfrm>
            <a:off x="6144768" y="4882896"/>
            <a:ext cx="2560320" cy="14996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6291072" y="5029200"/>
            <a:ext cx="22677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10%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6291072" y="5577840"/>
            <a:ext cx="22677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投后人民币2亿元对应股权</a:t>
            </a:r>
            <a:endParaRPr/>
          </a:p>
        </p:txBody>
      </p:sp>
      <p:sp>
        <p:nvSpPr>
          <p:cNvPr id="133" name="Google Shape;133;p2"/>
          <p:cNvSpPr/>
          <p:nvPr/>
        </p:nvSpPr>
        <p:spPr>
          <a:xfrm>
            <a:off x="8805672" y="4882896"/>
            <a:ext cx="2560320" cy="14996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8951976" y="5029200"/>
            <a:ext cx="22677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RMB 180M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8951976" y="5577840"/>
            <a:ext cx="22677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投前估值</a:t>
            </a:r>
            <a:endParaRPr/>
          </a:p>
        </p:txBody>
      </p:sp>
      <p:pic>
        <p:nvPicPr>
          <p:cNvPr descr="51careers_logo_dark.png" id="136" name="Google Shape;1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核心问题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求职过程仍然高度低效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求职仍然碎片化、成本高、信号弱。</a:t>
            </a: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822960" y="1298448"/>
            <a:ext cx="2020824" cy="42245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987552" y="148132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987552" y="14813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969264" y="1975104"/>
            <a:ext cx="17282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碎片化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969264" y="2670048"/>
            <a:ext cx="1728216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候选人需辗转多个平台、工具与服务商。</a:t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2953512" y="1298448"/>
            <a:ext cx="2020824" cy="42245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3118104" y="148132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3118104" y="14813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2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3099816" y="1975104"/>
            <a:ext cx="17282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成本高</a:t>
            </a:r>
            <a:endParaRPr/>
          </a:p>
        </p:txBody>
      </p:sp>
      <p:sp>
        <p:nvSpPr>
          <p:cNvPr id="155" name="Google Shape;155;p3"/>
          <p:cNvSpPr txBox="1"/>
          <p:nvPr/>
        </p:nvSpPr>
        <p:spPr>
          <a:xfrm>
            <a:off x="3099816" y="2670048"/>
            <a:ext cx="1728216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职业辅导、投递、测评与备考会带来显著的时间与金钱成本。</a:t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5084064" y="1298448"/>
            <a:ext cx="2020824" cy="42245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5248656" y="148132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5248656" y="14813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3</a:t>
            </a:r>
            <a:endParaRPr/>
          </a:p>
        </p:txBody>
      </p:sp>
      <p:sp>
        <p:nvSpPr>
          <p:cNvPr id="159" name="Google Shape;159;p3"/>
          <p:cNvSpPr txBox="1"/>
          <p:nvPr/>
        </p:nvSpPr>
        <p:spPr>
          <a:xfrm>
            <a:off x="5230368" y="1975104"/>
            <a:ext cx="17282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信号弱</a:t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5230368" y="2670048"/>
            <a:ext cx="1728216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简历与关键词匹配往往无法体现候选人的真实能力与匹配度。</a:t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解决方案</a:t>
            </a:r>
            <a:r>
              <a:rPr b="1" lang="en-US" sz="1100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endParaRPr/>
          </a:p>
        </p:txBody>
      </p:sp>
      <p:sp>
        <p:nvSpPr>
          <p:cNvPr id="163" name="Google Shape;163;p3"/>
          <p:cNvSpPr txBox="1"/>
          <p:nvPr/>
        </p:nvSpPr>
        <p:spPr>
          <a:xfrm>
            <a:off x="1005840" y="5943600"/>
            <a:ext cx="1017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51 Careers.AI 将碎片化、高成本、弱信号的求职，转化为原生 AI 职业操作系统。</a:t>
            </a:r>
            <a:r>
              <a:rPr b="1" lang="en-US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endParaRPr/>
          </a:p>
        </p:txBody>
      </p:sp>
      <p:pic>
        <p:nvPicPr>
          <p:cNvPr descr="51careers_logo_dark.png" id="164" name="Google Shape;16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市场机遇</a:t>
            </a:r>
            <a:endParaRPr/>
          </a:p>
        </p:txBody>
      </p:sp>
      <p:sp>
        <p:nvSpPr>
          <p:cNvPr id="172" name="Google Shape;172;p4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AI 正在重塑职业服务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生成式 AI 已经改变了人们创作、沟通与获取职业信息的方式。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822960" y="1298448"/>
            <a:ext cx="5084064" cy="42245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1024128" y="1444752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8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传统模式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1024128" y="1773936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人工顾问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1024128" y="219456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人工分析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1024128" y="2816352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人工撰写简历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1024128" y="3438144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人工求职搜索</a:t>
            </a:r>
            <a:endParaRPr/>
          </a:p>
        </p:txBody>
      </p:sp>
      <p:sp>
        <p:nvSpPr>
          <p:cNvPr id="180" name="Google Shape;180;p4"/>
          <p:cNvSpPr txBox="1"/>
          <p:nvPr/>
        </p:nvSpPr>
        <p:spPr>
          <a:xfrm>
            <a:off x="1024128" y="4059936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单用户成本高</a:t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1024128" y="4681728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难以规模化</a:t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6281928" y="1298448"/>
            <a:ext cx="5084064" cy="42245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6483096" y="1444752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8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AI 赋能模式</a:t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6483096" y="1773936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职业平台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6483096" y="219456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自动化职业分析</a:t>
            </a:r>
            <a:endParaRPr/>
          </a:p>
        </p:txBody>
      </p:sp>
      <p:sp>
        <p:nvSpPr>
          <p:cNvPr id="186" name="Google Shape;186;p4"/>
          <p:cNvSpPr txBox="1"/>
          <p:nvPr/>
        </p:nvSpPr>
        <p:spPr>
          <a:xfrm>
            <a:off x="6483096" y="2816352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AI 简历生成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6483096" y="3438144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智能岗位匹配</a:t>
            </a:r>
            <a:endParaRPr/>
          </a:p>
        </p:txBody>
      </p:sp>
      <p:sp>
        <p:nvSpPr>
          <p:cNvPr id="188" name="Google Shape;188;p4"/>
          <p:cNvSpPr txBox="1"/>
          <p:nvPr/>
        </p:nvSpPr>
        <p:spPr>
          <a:xfrm>
            <a:off x="6483096" y="4059936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持续优化</a:t>
            </a:r>
            <a:endParaRPr/>
          </a:p>
        </p:txBody>
      </p:sp>
      <p:sp>
        <p:nvSpPr>
          <p:cNvPr id="189" name="Google Shape;189;p4"/>
          <p:cNvSpPr txBox="1"/>
          <p:nvPr/>
        </p:nvSpPr>
        <p:spPr>
          <a:xfrm>
            <a:off x="6483096" y="4681728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全球可扩展</a:t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我们的机遇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将高成本、劳动密集型职业服务，转化为可规模化的 AI 驱动平台。</a:t>
            </a:r>
            <a:endParaRPr/>
          </a:p>
        </p:txBody>
      </p:sp>
      <p:pic>
        <p:nvPicPr>
          <p:cNvPr descr="51careers_logo_dark.png" id="193" name="Google Shape;19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4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为何是现在</a:t>
            </a:r>
            <a:endParaRPr/>
          </a:p>
        </p:txBody>
      </p:sp>
      <p:sp>
        <p:nvSpPr>
          <p:cNvPr id="201" name="Google Shape;201;p5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三大结构性趋势正在交汇</a:t>
            </a:r>
            <a:endParaRPr/>
          </a:p>
        </p:txBody>
      </p:sp>
      <p:sp>
        <p:nvSpPr>
          <p:cNvPr id="202" name="Google Shape;202;p5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AI 普及、数据驱动招聘与碎片化职业服务正在同步演进。</a:t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822960" y="1298448"/>
            <a:ext cx="3392424" cy="42245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1024128" y="148132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1024128" y="14813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206" name="Google Shape;206;p5"/>
          <p:cNvSpPr txBox="1"/>
          <p:nvPr/>
        </p:nvSpPr>
        <p:spPr>
          <a:xfrm>
            <a:off x="1024128" y="1993392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8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AI 大规模普及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1024128" y="2560320"/>
            <a:ext cx="2990088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消费者已将 AI 用于专业工作。这一习惯，正是 AI 职业产品的分发入口。</a:t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4398264" y="1298448"/>
            <a:ext cx="3392424" cy="42245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4599432" y="148132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4599432" y="14813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2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4599432" y="1993392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8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数据驱动招聘</a:t>
            </a:r>
            <a:endParaRPr/>
          </a:p>
        </p:txBody>
      </p:sp>
      <p:sp>
        <p:nvSpPr>
          <p:cNvPr id="212" name="Google Shape;212;p5"/>
          <p:cNvSpPr txBox="1"/>
          <p:nvPr/>
        </p:nvSpPr>
        <p:spPr>
          <a:xfrm>
            <a:off x="4599432" y="2560320"/>
            <a:ext cx="2990088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雇主按关键词、结构与可量化成果筛选。候选人需要按同一标准撰写的产品。</a:t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7973568" y="1298448"/>
            <a:ext cx="3392424" cy="42245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8174736" y="148132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8174736" y="14813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3</a:t>
            </a:r>
            <a:endParaRPr/>
          </a:p>
        </p:txBody>
      </p:sp>
      <p:sp>
        <p:nvSpPr>
          <p:cNvPr id="216" name="Google Shape;216;p5"/>
          <p:cNvSpPr txBox="1"/>
          <p:nvPr/>
        </p:nvSpPr>
        <p:spPr>
          <a:xfrm>
            <a:off x="8174736" y="1993392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8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服务碎片化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8174736" y="2560320"/>
            <a:ext cx="2990088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咨询仍以人工、高成本、本地化为主。这一缺口，正是可规模化「AI + 人工」平台的机会。</a:t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51 CAREERS 正处于交汇点</a:t>
            </a:r>
            <a:endParaRPr/>
          </a:p>
        </p:txBody>
      </p:sp>
      <p:sp>
        <p:nvSpPr>
          <p:cNvPr id="220" name="Google Shape;220;p5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AI   ×   就业   ×   职业服务</a:t>
            </a:r>
            <a:endParaRPr/>
          </a:p>
        </p:txBody>
      </p:sp>
      <p:pic>
        <p:nvPicPr>
          <p:cNvPr descr="51careers_logo_dark.png" id="221" name="Google Shape;2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5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223" name="Google Shape;223;p5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市场规模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TAM、SAM、SOM 与三年收入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从全球求职者到付费 AI 职业用户。示意性数据，供讨论。</a:t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822960" y="1298448"/>
            <a:ext cx="3392424" cy="24688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1024128" y="1426464"/>
            <a:ext cx="2990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TAM</a:t>
            </a:r>
            <a:endParaRPr/>
          </a:p>
        </p:txBody>
      </p:sp>
      <p:sp>
        <p:nvSpPr>
          <p:cNvPr id="233" name="Google Shape;233;p6"/>
          <p:cNvSpPr txBox="1"/>
          <p:nvPr/>
        </p:nvSpPr>
        <p:spPr>
          <a:xfrm>
            <a:off x="1024128" y="1682496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US$ 200B+</a:t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1024128" y="2157984"/>
            <a:ext cx="2990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RMB 1.35T+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1024128" y="2487168"/>
            <a:ext cx="299008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全球招聘、人才获取与职业发展支出。</a:t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4398264" y="1298448"/>
            <a:ext cx="3392424" cy="24688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 txBox="1"/>
          <p:nvPr/>
        </p:nvSpPr>
        <p:spPr>
          <a:xfrm>
            <a:off x="4599432" y="1426464"/>
            <a:ext cx="2990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SAM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4599432" y="1682496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US$ 30B+</a:t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4599432" y="2157984"/>
            <a:ext cx="2990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RMB 200B+</a:t>
            </a:r>
            <a:endParaRPr/>
          </a:p>
        </p:txBody>
      </p:sp>
      <p:sp>
        <p:nvSpPr>
          <p:cNvPr id="240" name="Google Shape;240;p6"/>
          <p:cNvSpPr txBox="1"/>
          <p:nvPr/>
        </p:nvSpPr>
        <p:spPr>
          <a:xfrm>
            <a:off x="4599432" y="2487168"/>
            <a:ext cx="299008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数字化与 AI 招聘工具、简历产品与在线求职准备。</a:t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7973568" y="1298448"/>
            <a:ext cx="3392424" cy="24688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8174736" y="1426464"/>
            <a:ext cx="2990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SOM</a:t>
            </a:r>
            <a:endParaRPr/>
          </a:p>
        </p:txBody>
      </p:sp>
      <p:sp>
        <p:nvSpPr>
          <p:cNvPr id="243" name="Google Shape;243;p6"/>
          <p:cNvSpPr txBox="1"/>
          <p:nvPr/>
        </p:nvSpPr>
        <p:spPr>
          <a:xfrm>
            <a:off x="8174736" y="1682496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US$ 1.5B+</a:t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8174736" y="2157984"/>
            <a:ext cx="2990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RMB 10B+</a:t>
            </a:r>
            <a:endParaRPr/>
          </a:p>
        </p:txBody>
      </p:sp>
      <p:sp>
        <p:nvSpPr>
          <p:cNvPr id="245" name="Google Shape;245;p6"/>
          <p:cNvSpPr txBox="1"/>
          <p:nvPr/>
        </p:nvSpPr>
        <p:spPr>
          <a:xfrm>
            <a:off x="8174736" y="2487168"/>
            <a:ext cx="299008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北美、欧洲、亚洲、中东、拉美的 AI 简历与职业助手需求。</a:t>
            </a:r>
            <a:r>
              <a:rPr lang="en-US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r>
              <a:rPr b="0" i="0" lang="en-US" sz="14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822960" y="3895344"/>
            <a:ext cx="10543032" cy="162763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 txBox="1"/>
          <p:nvPr/>
        </p:nvSpPr>
        <p:spPr>
          <a:xfrm>
            <a:off x="1024128" y="4005072"/>
            <a:ext cx="101406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2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51 CAREERS  ·  2027E–2029E 收入</a:t>
            </a:r>
            <a:endParaRPr/>
          </a:p>
        </p:txBody>
      </p:sp>
      <p:sp>
        <p:nvSpPr>
          <p:cNvPr id="248" name="Google Shape;248;p6"/>
          <p:cNvSpPr txBox="1"/>
          <p:nvPr/>
        </p:nvSpPr>
        <p:spPr>
          <a:xfrm>
            <a:off x="1024128" y="429768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2027E</a:t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1024128" y="4553712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US$ 2.0M</a:t>
            </a:r>
            <a:endParaRPr/>
          </a:p>
        </p:txBody>
      </p:sp>
      <p:sp>
        <p:nvSpPr>
          <p:cNvPr id="250" name="Google Shape;250;p6"/>
          <p:cNvSpPr txBox="1"/>
          <p:nvPr/>
        </p:nvSpPr>
        <p:spPr>
          <a:xfrm>
            <a:off x="1024128" y="502920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≈ RMB 13.5M</a:t>
            </a:r>
            <a:endParaRPr/>
          </a:p>
        </p:txBody>
      </p:sp>
      <p:sp>
        <p:nvSpPr>
          <p:cNvPr id="251" name="Google Shape;251;p6"/>
          <p:cNvSpPr txBox="1"/>
          <p:nvPr/>
        </p:nvSpPr>
        <p:spPr>
          <a:xfrm>
            <a:off x="4498848" y="429768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2028E</a:t>
            </a:r>
            <a:endParaRPr/>
          </a:p>
        </p:txBody>
      </p:sp>
      <p:sp>
        <p:nvSpPr>
          <p:cNvPr id="252" name="Google Shape;252;p6"/>
          <p:cNvSpPr txBox="1"/>
          <p:nvPr/>
        </p:nvSpPr>
        <p:spPr>
          <a:xfrm>
            <a:off x="4498848" y="4553712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US$ 8.0M</a:t>
            </a:r>
            <a:endParaRPr/>
          </a:p>
        </p:txBody>
      </p:sp>
      <p:sp>
        <p:nvSpPr>
          <p:cNvPr id="253" name="Google Shape;253;p6"/>
          <p:cNvSpPr txBox="1"/>
          <p:nvPr/>
        </p:nvSpPr>
        <p:spPr>
          <a:xfrm>
            <a:off x="4498848" y="502920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≈ RMB 53.8M</a:t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7973568" y="429768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2029E</a:t>
            </a:r>
            <a:endParaRPr/>
          </a:p>
        </p:txBody>
      </p:sp>
      <p:sp>
        <p:nvSpPr>
          <p:cNvPr id="255" name="Google Shape;255;p6"/>
          <p:cNvSpPr txBox="1"/>
          <p:nvPr/>
        </p:nvSpPr>
        <p:spPr>
          <a:xfrm>
            <a:off x="7973568" y="4553712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US$ 28.0M</a:t>
            </a:r>
            <a:endParaRPr/>
          </a:p>
        </p:txBody>
      </p:sp>
      <p:sp>
        <p:nvSpPr>
          <p:cNvPr id="256" name="Google Shape;256;p6"/>
          <p:cNvSpPr txBox="1"/>
          <p:nvPr/>
        </p:nvSpPr>
        <p:spPr>
          <a:xfrm>
            <a:off x="7973568" y="502920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≈ RMB 188.4M</a:t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逻辑</a:t>
            </a:r>
            <a:endParaRPr/>
          </a:p>
        </p:txBody>
      </p:sp>
      <p:sp>
        <p:nvSpPr>
          <p:cNvPr id="259" name="Google Shape;259;p6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求职者  →  AI 简历用户  →  付费转化  →  叠加收入</a:t>
            </a:r>
            <a:endParaRPr/>
          </a:p>
        </p:txBody>
      </p:sp>
      <p:pic>
        <p:nvPicPr>
          <p:cNvPr descr="51careers_logo_dark.png" id="260" name="Google Shape;2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6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262" name="Google Shape;262;p6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我们的解决方案</a:t>
            </a:r>
            <a:endParaRPr/>
          </a:p>
        </p:txBody>
      </p:sp>
      <p:sp>
        <p:nvSpPr>
          <p:cNvPr id="268" name="Google Shape;268;p7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51 Careers AI 职业平台</a:t>
            </a:r>
            <a:endParaRPr/>
          </a:p>
        </p:txBody>
      </p:sp>
      <p:sp>
        <p:nvSpPr>
          <p:cNvPr id="269" name="Google Shape;269;p7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不是又一个 AI 写作工具——而是 AI 驱动的职业基础设施层。</a:t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822960" y="1298448"/>
            <a:ext cx="6537960" cy="663593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987552" y="145650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987552" y="14565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273" name="Google Shape;273;p7"/>
          <p:cNvSpPr txBox="1"/>
          <p:nvPr/>
        </p:nvSpPr>
        <p:spPr>
          <a:xfrm>
            <a:off x="1481328" y="1298448"/>
            <a:ext cx="5669280" cy="663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理解职业经历</a:t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822960" y="2035193"/>
            <a:ext cx="6537960" cy="663593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987552" y="2193253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 txBox="1"/>
          <p:nvPr/>
        </p:nvSpPr>
        <p:spPr>
          <a:xfrm>
            <a:off x="987552" y="2193253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2</a:t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1481328" y="2035193"/>
            <a:ext cx="5669280" cy="663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构建更强的职业画像</a:t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822960" y="2771938"/>
            <a:ext cx="6537960" cy="663593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987552" y="292999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 txBox="1"/>
          <p:nvPr/>
        </p:nvSpPr>
        <p:spPr>
          <a:xfrm>
            <a:off x="987552" y="292999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3</a:t>
            </a:r>
            <a:endParaRPr/>
          </a:p>
        </p:txBody>
      </p:sp>
      <p:sp>
        <p:nvSpPr>
          <p:cNvPr id="281" name="Google Shape;281;p7"/>
          <p:cNvSpPr txBox="1"/>
          <p:nvPr/>
        </p:nvSpPr>
        <p:spPr>
          <a:xfrm>
            <a:off x="1481328" y="2771938"/>
            <a:ext cx="5669280" cy="663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生成优化简历</a:t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822960" y="3508683"/>
            <a:ext cx="6537960" cy="663593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987552" y="3666744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 txBox="1"/>
          <p:nvPr/>
        </p:nvSpPr>
        <p:spPr>
          <a:xfrm>
            <a:off x="987552" y="366674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4</a:t>
            </a:r>
            <a:endParaRPr/>
          </a:p>
        </p:txBody>
      </p:sp>
      <p:sp>
        <p:nvSpPr>
          <p:cNvPr id="285" name="Google Shape;285;p7"/>
          <p:cNvSpPr txBox="1"/>
          <p:nvPr/>
        </p:nvSpPr>
        <p:spPr>
          <a:xfrm>
            <a:off x="1481328" y="3508683"/>
            <a:ext cx="5669280" cy="663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匹配相关机会</a:t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822960" y="4245428"/>
            <a:ext cx="6537960" cy="663593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987552" y="4403489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987552" y="4403489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5</a:t>
            </a:r>
            <a:endParaRPr/>
          </a:p>
        </p:txBody>
      </p:sp>
      <p:sp>
        <p:nvSpPr>
          <p:cNvPr id="289" name="Google Shape;289;p7"/>
          <p:cNvSpPr txBox="1"/>
          <p:nvPr/>
        </p:nvSpPr>
        <p:spPr>
          <a:xfrm>
            <a:off x="1481328" y="4245428"/>
            <a:ext cx="5669280" cy="663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准备面试</a:t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822960" y="4982173"/>
            <a:ext cx="6537960" cy="663593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987552" y="5140234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 txBox="1"/>
          <p:nvPr/>
        </p:nvSpPr>
        <p:spPr>
          <a:xfrm>
            <a:off x="987552" y="514023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6</a:t>
            </a:r>
            <a:endParaRPr/>
          </a:p>
        </p:txBody>
      </p:sp>
      <p:sp>
        <p:nvSpPr>
          <p:cNvPr id="293" name="Google Shape;293;p7"/>
          <p:cNvSpPr txBox="1"/>
          <p:nvPr/>
        </p:nvSpPr>
        <p:spPr>
          <a:xfrm>
            <a:off x="1481328" y="4982173"/>
            <a:ext cx="5669280" cy="663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做出更好的职业决策</a:t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822960" y="5718918"/>
            <a:ext cx="6537960" cy="663593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987552" y="5876979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 txBox="1"/>
          <p:nvPr/>
        </p:nvSpPr>
        <p:spPr>
          <a:xfrm>
            <a:off x="987552" y="5876979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7</a:t>
            </a:r>
            <a:endParaRPr/>
          </a:p>
        </p:txBody>
      </p:sp>
      <p:sp>
        <p:nvSpPr>
          <p:cNvPr id="297" name="Google Shape;297;p7"/>
          <p:cNvSpPr txBox="1"/>
          <p:nvPr/>
        </p:nvSpPr>
        <p:spPr>
          <a:xfrm>
            <a:off x="1481328" y="5718918"/>
            <a:ext cx="5669280" cy="663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获得专业服务</a:t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7543800" y="1298448"/>
            <a:ext cx="3822191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 txBox="1"/>
          <p:nvPr/>
        </p:nvSpPr>
        <p:spPr>
          <a:xfrm>
            <a:off x="7744968" y="1444752"/>
            <a:ext cx="34381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起点</a:t>
            </a:r>
            <a:endParaRPr/>
          </a:p>
        </p:txBody>
      </p:sp>
      <p:sp>
        <p:nvSpPr>
          <p:cNvPr id="300" name="Google Shape;300;p7"/>
          <p:cNvSpPr txBox="1"/>
          <p:nvPr/>
        </p:nvSpPr>
        <p:spPr>
          <a:xfrm>
            <a:off x="7744968" y="1755648"/>
            <a:ext cx="34381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8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AI 简历</a:t>
            </a:r>
            <a:endParaRPr/>
          </a:p>
        </p:txBody>
      </p:sp>
      <p:sp>
        <p:nvSpPr>
          <p:cNvPr id="301" name="Google Shape;301;p7"/>
          <p:cNvSpPr txBox="1"/>
          <p:nvPr/>
        </p:nvSpPr>
        <p:spPr>
          <a:xfrm>
            <a:off x="7744968" y="2468880"/>
            <a:ext cx="3438144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简历是进入 51 Careers 生态的第一触点——通往 AI 职业工具、服务、匹配与市场的入口。
一个产品。一份画像。贯穿职业旅程的多条变现路径。</a:t>
            </a:r>
            <a:b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</a:br>
            <a:b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</a:b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endParaRPr/>
          </a:p>
        </p:txBody>
      </p:sp>
      <p:pic>
        <p:nvPicPr>
          <p:cNvPr descr="51careers_logo_dark.png" id="302" name="Google Shape;3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7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304" name="Google Shape;304;p7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8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产品</a:t>
            </a:r>
            <a:endParaRPr/>
          </a:p>
        </p:txBody>
      </p:sp>
      <p:sp>
        <p:nvSpPr>
          <p:cNvPr id="310" name="Google Shape;310;p8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从经历到职业价值</a:t>
            </a:r>
            <a:endParaRPr/>
          </a:p>
        </p:txBody>
      </p:sp>
      <p:sp>
        <p:nvSpPr>
          <p:cNvPr id="311" name="Google Shape;311;p8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用户提供职业事实。我们的 AI 生成专业、量化、针对岗位的简历。</a:t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822960" y="1298448"/>
            <a:ext cx="3383280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 txBox="1"/>
          <p:nvPr/>
        </p:nvSpPr>
        <p:spPr>
          <a:xfrm>
            <a:off x="1024128" y="142646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用户提供</a:t>
            </a:r>
            <a:endParaRPr/>
          </a:p>
        </p:txBody>
      </p:sp>
      <p:sp>
        <p:nvSpPr>
          <p:cNvPr id="314" name="Google Shape;314;p8"/>
          <p:cNvSpPr txBox="1"/>
          <p:nvPr/>
        </p:nvSpPr>
        <p:spPr>
          <a:xfrm>
            <a:off x="1024128" y="1792224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教育背景</a:t>
            </a:r>
            <a:endParaRPr/>
          </a:p>
        </p:txBody>
      </p:sp>
      <p:sp>
        <p:nvSpPr>
          <p:cNvPr id="315" name="Google Shape;315;p8"/>
          <p:cNvSpPr txBox="1"/>
          <p:nvPr/>
        </p:nvSpPr>
        <p:spPr>
          <a:xfrm>
            <a:off x="1024128" y="241401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工作经历</a:t>
            </a:r>
            <a:endParaRPr/>
          </a:p>
        </p:txBody>
      </p:sp>
      <p:sp>
        <p:nvSpPr>
          <p:cNvPr id="316" name="Google Shape;316;p8"/>
          <p:cNvSpPr txBox="1"/>
          <p:nvPr/>
        </p:nvSpPr>
        <p:spPr>
          <a:xfrm>
            <a:off x="1024128" y="3035808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项目经历</a:t>
            </a:r>
            <a:endParaRPr/>
          </a:p>
        </p:txBody>
      </p:sp>
      <p:sp>
        <p:nvSpPr>
          <p:cNvPr id="317" name="Google Shape;317;p8"/>
          <p:cNvSpPr txBox="1"/>
          <p:nvPr/>
        </p:nvSpPr>
        <p:spPr>
          <a:xfrm>
            <a:off x="1024128" y="365760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技能</a:t>
            </a:r>
            <a:endParaRPr/>
          </a:p>
        </p:txBody>
      </p:sp>
      <p:sp>
        <p:nvSpPr>
          <p:cNvPr id="318" name="Google Shape;318;p8"/>
          <p:cNvSpPr txBox="1"/>
          <p:nvPr/>
        </p:nvSpPr>
        <p:spPr>
          <a:xfrm>
            <a:off x="1024128" y="427939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成就</a:t>
            </a:r>
            <a:endParaRPr/>
          </a:p>
        </p:txBody>
      </p:sp>
      <p:sp>
        <p:nvSpPr>
          <p:cNvPr id="319" name="Google Shape;319;p8"/>
          <p:cNvSpPr txBox="1"/>
          <p:nvPr/>
        </p:nvSpPr>
        <p:spPr>
          <a:xfrm>
            <a:off x="1024128" y="4901184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职业目标</a:t>
            </a:r>
            <a:endParaRPr/>
          </a:p>
        </p:txBody>
      </p:sp>
      <p:sp>
        <p:nvSpPr>
          <p:cNvPr id="320" name="Google Shape;320;p8"/>
          <p:cNvSpPr txBox="1"/>
          <p:nvPr/>
        </p:nvSpPr>
        <p:spPr>
          <a:xfrm>
            <a:off x="1024128" y="552297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目标职位描述</a:t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4389120" y="1298448"/>
            <a:ext cx="3383280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 txBox="1"/>
          <p:nvPr/>
        </p:nvSpPr>
        <p:spPr>
          <a:xfrm>
            <a:off x="4590288" y="142646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我们的 AI 生成</a:t>
            </a:r>
            <a:endParaRPr/>
          </a:p>
        </p:txBody>
      </p:sp>
      <p:sp>
        <p:nvSpPr>
          <p:cNvPr id="323" name="Google Shape;323;p8"/>
          <p:cNvSpPr txBox="1"/>
          <p:nvPr/>
        </p:nvSpPr>
        <p:spPr>
          <a:xfrm>
            <a:off x="4590288" y="1792224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专业定位</a:t>
            </a:r>
            <a:endParaRPr/>
          </a:p>
        </p:txBody>
      </p:sp>
      <p:sp>
        <p:nvSpPr>
          <p:cNvPr id="324" name="Google Shape;324;p8"/>
          <p:cNvSpPr txBox="1"/>
          <p:nvPr/>
        </p:nvSpPr>
        <p:spPr>
          <a:xfrm>
            <a:off x="4590288" y="241401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量化成就</a:t>
            </a:r>
            <a:endParaRPr/>
          </a:p>
        </p:txBody>
      </p:sp>
      <p:sp>
        <p:nvSpPr>
          <p:cNvPr id="325" name="Google Shape;325;p8"/>
          <p:cNvSpPr txBox="1"/>
          <p:nvPr/>
        </p:nvSpPr>
        <p:spPr>
          <a:xfrm>
            <a:off x="4590288" y="3035808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岗位专属表述</a:t>
            </a:r>
            <a:endParaRPr/>
          </a:p>
        </p:txBody>
      </p:sp>
      <p:sp>
        <p:nvSpPr>
          <p:cNvPr id="326" name="Google Shape;326;p8"/>
          <p:cNvSpPr txBox="1"/>
          <p:nvPr/>
        </p:nvSpPr>
        <p:spPr>
          <a:xfrm>
            <a:off x="4590288" y="365760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适配 ATS 的结构</a:t>
            </a:r>
            <a:endParaRPr/>
          </a:p>
        </p:txBody>
      </p:sp>
      <p:sp>
        <p:nvSpPr>
          <p:cNvPr id="327" name="Google Shape;327;p8"/>
          <p:cNvSpPr txBox="1"/>
          <p:nvPr/>
        </p:nvSpPr>
        <p:spPr>
          <a:xfrm>
            <a:off x="4590288" y="427939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岗位与雇主匹配</a:t>
            </a:r>
            <a:endParaRPr/>
          </a:p>
        </p:txBody>
      </p:sp>
      <p:sp>
        <p:nvSpPr>
          <p:cNvPr id="328" name="Google Shape;328;p8"/>
          <p:cNvSpPr txBox="1"/>
          <p:nvPr/>
        </p:nvSpPr>
        <p:spPr>
          <a:xfrm>
            <a:off x="4590288" y="4901184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地域惯例</a:t>
            </a:r>
            <a:endParaRPr/>
          </a:p>
        </p:txBody>
      </p:sp>
      <p:sp>
        <p:nvSpPr>
          <p:cNvPr id="329" name="Google Shape;329;p8"/>
          <p:cNvSpPr txBox="1"/>
          <p:nvPr/>
        </p:nvSpPr>
        <p:spPr>
          <a:xfrm>
            <a:off x="4590288" y="552297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7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一份画像，多个版本</a:t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7955279" y="1298448"/>
            <a:ext cx="3410712" cy="5852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 txBox="1"/>
          <p:nvPr/>
        </p:nvSpPr>
        <p:spPr>
          <a:xfrm>
            <a:off x="8119872" y="1298448"/>
            <a:ext cx="31089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AI 简历生成</a:t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7955279" y="1933956"/>
            <a:ext cx="3410712" cy="5852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 txBox="1"/>
          <p:nvPr/>
        </p:nvSpPr>
        <p:spPr>
          <a:xfrm>
            <a:off x="8119872" y="1933956"/>
            <a:ext cx="31089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简历优化</a:t>
            </a:r>
            <a:endParaRPr/>
          </a:p>
        </p:txBody>
      </p:sp>
      <p:sp>
        <p:nvSpPr>
          <p:cNvPr id="334" name="Google Shape;334;p8"/>
          <p:cNvSpPr/>
          <p:nvPr/>
        </p:nvSpPr>
        <p:spPr>
          <a:xfrm>
            <a:off x="7955279" y="2569464"/>
            <a:ext cx="3410712" cy="5852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 txBox="1"/>
          <p:nvPr/>
        </p:nvSpPr>
        <p:spPr>
          <a:xfrm>
            <a:off x="8119872" y="2569464"/>
            <a:ext cx="31089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针对岗位的版本</a:t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7955279" y="3204972"/>
            <a:ext cx="3410712" cy="5852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 txBox="1"/>
          <p:nvPr/>
        </p:nvSpPr>
        <p:spPr>
          <a:xfrm>
            <a:off x="8119872" y="3204972"/>
            <a:ext cx="31089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成就量化</a:t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7955279" y="3840480"/>
            <a:ext cx="3410712" cy="5852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 txBox="1"/>
          <p:nvPr/>
        </p:nvSpPr>
        <p:spPr>
          <a:xfrm>
            <a:off x="8119872" y="3840480"/>
            <a:ext cx="31089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ATS 优化</a:t>
            </a:r>
            <a:endParaRPr/>
          </a:p>
        </p:txBody>
      </p:sp>
      <p:sp>
        <p:nvSpPr>
          <p:cNvPr id="340" name="Google Shape;340;p8"/>
          <p:cNvSpPr/>
          <p:nvPr/>
        </p:nvSpPr>
        <p:spPr>
          <a:xfrm>
            <a:off x="7955279" y="4475988"/>
            <a:ext cx="3410712" cy="5852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 txBox="1"/>
          <p:nvPr/>
        </p:nvSpPr>
        <p:spPr>
          <a:xfrm>
            <a:off x="8119872" y="4475988"/>
            <a:ext cx="31089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多版本简历</a:t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7955279" y="5111496"/>
            <a:ext cx="3410712" cy="5852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 txBox="1"/>
          <p:nvPr/>
        </p:nvSpPr>
        <p:spPr>
          <a:xfrm>
            <a:off x="8119872" y="5111496"/>
            <a:ext cx="31089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求职信生成</a:t>
            </a:r>
            <a:endParaRPr/>
          </a:p>
        </p:txBody>
      </p:sp>
      <p:sp>
        <p:nvSpPr>
          <p:cNvPr id="344" name="Google Shape;344;p8"/>
          <p:cNvSpPr/>
          <p:nvPr/>
        </p:nvSpPr>
        <p:spPr>
          <a:xfrm>
            <a:off x="7955279" y="5747004"/>
            <a:ext cx="3410712" cy="5852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 txBox="1"/>
          <p:nvPr/>
        </p:nvSpPr>
        <p:spPr>
          <a:xfrm>
            <a:off x="8119872" y="5747004"/>
            <a:ext cx="31089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职业画像创建</a:t>
            </a:r>
            <a:endParaRPr/>
          </a:p>
        </p:txBody>
      </p:sp>
      <p:pic>
        <p:nvPicPr>
          <p:cNvPr descr="51careers_logo_dark.png" id="346" name="Google Shape;34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8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348" name="Google Shape;348;p8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9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产品验证</a:t>
            </a:r>
            <a:endParaRPr/>
          </a:p>
        </p:txBody>
      </p:sp>
      <p:sp>
        <p:nvSpPr>
          <p:cNvPr id="354" name="Google Shape;354;p9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已构建、已测试、已内部对标</a:t>
            </a:r>
            <a:endParaRPr/>
          </a:p>
        </p:txBody>
      </p:sp>
      <p:sp>
        <p:nvSpPr>
          <p:cNvPr id="355" name="Google Shape;355;p9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演示产品已就绪。相较通用模型的早期测试结果令人鼓舞。</a:t>
            </a: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822960" y="1298448"/>
            <a:ext cx="33924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 txBox="1"/>
          <p:nvPr/>
        </p:nvSpPr>
        <p:spPr>
          <a:xfrm>
            <a:off x="1024128" y="1426464"/>
            <a:ext cx="29900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演示产品已开发</a:t>
            </a:r>
            <a:endParaRPr/>
          </a:p>
        </p:txBody>
      </p:sp>
      <p:sp>
        <p:nvSpPr>
          <p:cNvPr id="358" name="Google Shape;358;p9"/>
          <p:cNvSpPr txBox="1"/>
          <p:nvPr/>
        </p:nvSpPr>
        <p:spPr>
          <a:xfrm>
            <a:off x="1024128" y="1828800"/>
            <a:ext cx="299008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可运行的 AI 简历产品即日起即可演示。</a:t>
            </a: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4398264" y="1298448"/>
            <a:ext cx="33924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 txBox="1"/>
          <p:nvPr/>
        </p:nvSpPr>
        <p:spPr>
          <a:xfrm>
            <a:off x="4599432" y="1426464"/>
            <a:ext cx="29900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初期测试</a:t>
            </a:r>
            <a:endParaRPr/>
          </a:p>
        </p:txBody>
      </p:sp>
      <p:sp>
        <p:nvSpPr>
          <p:cNvPr id="361" name="Google Shape;361;p9"/>
          <p:cNvSpPr txBox="1"/>
          <p:nvPr/>
        </p:nvSpPr>
        <p:spPr>
          <a:xfrm>
            <a:off x="4599432" y="1828800"/>
            <a:ext cx="299008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早期用户与内部评审显示输出质量可观。</a:t>
            </a: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7973568" y="1298448"/>
            <a:ext cx="33924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 txBox="1"/>
          <p:nvPr/>
        </p:nvSpPr>
        <p:spPr>
          <a:xfrm>
            <a:off x="8174736" y="1426464"/>
            <a:ext cx="29900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内部对标</a:t>
            </a:r>
            <a:endParaRPr/>
          </a:p>
        </p:txBody>
      </p:sp>
      <p:sp>
        <p:nvSpPr>
          <p:cNvPr id="364" name="Google Shape;364;p9"/>
          <p:cNvSpPr txBox="1"/>
          <p:nvPr/>
        </p:nvSpPr>
        <p:spPr>
          <a:xfrm>
            <a:off x="8174736" y="1828800"/>
            <a:ext cx="299008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与领先通用模型的直接输出进行对比。</a:t>
            </a:r>
            <a:endParaRPr/>
          </a:p>
        </p:txBody>
      </p:sp>
      <p:sp>
        <p:nvSpPr>
          <p:cNvPr id="365" name="Google Shape;365;p9"/>
          <p:cNvSpPr txBox="1"/>
          <p:nvPr/>
        </p:nvSpPr>
        <p:spPr>
          <a:xfrm>
            <a:off x="822960" y="3401568"/>
            <a:ext cx="105430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初期测试显示在以下方面表现更强</a:t>
            </a: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822960" y="3675887"/>
            <a:ext cx="2020824" cy="184708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 txBox="1"/>
          <p:nvPr/>
        </p:nvSpPr>
        <p:spPr>
          <a:xfrm>
            <a:off x="950976" y="3803904"/>
            <a:ext cx="1764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5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定位</a:t>
            </a:r>
            <a:endParaRPr/>
          </a:p>
        </p:txBody>
      </p:sp>
      <p:sp>
        <p:nvSpPr>
          <p:cNvPr id="368" name="Google Shape;368;p9"/>
          <p:cNvSpPr txBox="1"/>
          <p:nvPr/>
        </p:nvSpPr>
        <p:spPr>
          <a:xfrm>
            <a:off x="950976" y="4206240"/>
            <a:ext cx="1764792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对候选人的专业呈现</a:t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2953512" y="3675887"/>
            <a:ext cx="2020824" cy="184708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 txBox="1"/>
          <p:nvPr/>
        </p:nvSpPr>
        <p:spPr>
          <a:xfrm>
            <a:off x="3081528" y="3803904"/>
            <a:ext cx="1764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5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量化</a:t>
            </a:r>
            <a:endParaRPr/>
          </a:p>
        </p:txBody>
      </p:sp>
      <p:sp>
        <p:nvSpPr>
          <p:cNvPr id="371" name="Google Shape;371;p9"/>
          <p:cNvSpPr txBox="1"/>
          <p:nvPr/>
        </p:nvSpPr>
        <p:spPr>
          <a:xfrm>
            <a:off x="3081528" y="4206240"/>
            <a:ext cx="1764792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可衡量的成就，而非职责罗列</a:t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5084064" y="3675887"/>
            <a:ext cx="2020824" cy="184708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 txBox="1"/>
          <p:nvPr/>
        </p:nvSpPr>
        <p:spPr>
          <a:xfrm>
            <a:off x="5212080" y="3803904"/>
            <a:ext cx="1764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5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岗位相关性</a:t>
            </a:r>
            <a:endParaRPr/>
          </a:p>
        </p:txBody>
      </p:sp>
      <p:sp>
        <p:nvSpPr>
          <p:cNvPr id="374" name="Google Shape;374;p9"/>
          <p:cNvSpPr txBox="1"/>
          <p:nvPr/>
        </p:nvSpPr>
        <p:spPr>
          <a:xfrm>
            <a:off x="5212080" y="4206240"/>
            <a:ext cx="1764792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语言匹配目标岗位</a:t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7214616" y="3675887"/>
            <a:ext cx="2020824" cy="184708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 txBox="1"/>
          <p:nvPr/>
        </p:nvSpPr>
        <p:spPr>
          <a:xfrm>
            <a:off x="7342632" y="3803904"/>
            <a:ext cx="1764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5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信息抽取</a:t>
            </a:r>
            <a:endParaRPr/>
          </a:p>
        </p:txBody>
      </p:sp>
      <p:sp>
        <p:nvSpPr>
          <p:cNvPr id="377" name="Google Shape;377;p9"/>
          <p:cNvSpPr txBox="1"/>
          <p:nvPr/>
        </p:nvSpPr>
        <p:spPr>
          <a:xfrm>
            <a:off x="7342632" y="4206240"/>
            <a:ext cx="1764792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从杂乱输入中提取职业事实</a:t>
            </a:r>
            <a:endParaRPr/>
          </a:p>
        </p:txBody>
      </p:sp>
      <p:sp>
        <p:nvSpPr>
          <p:cNvPr id="378" name="Google Shape;378;p9"/>
          <p:cNvSpPr/>
          <p:nvPr/>
        </p:nvSpPr>
        <p:spPr>
          <a:xfrm>
            <a:off x="9345168" y="3675887"/>
            <a:ext cx="2020824" cy="184708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 txBox="1"/>
          <p:nvPr/>
        </p:nvSpPr>
        <p:spPr>
          <a:xfrm>
            <a:off x="9473184" y="3803904"/>
            <a:ext cx="1764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5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结构</a:t>
            </a:r>
            <a:endParaRPr/>
          </a:p>
        </p:txBody>
      </p:sp>
      <p:sp>
        <p:nvSpPr>
          <p:cNvPr id="380" name="Google Shape;380;p9"/>
          <p:cNvSpPr txBox="1"/>
          <p:nvPr/>
        </p:nvSpPr>
        <p:spPr>
          <a:xfrm>
            <a:off x="9473184" y="4206240"/>
            <a:ext cx="1764792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适配 ATS 的简历架构</a:t>
            </a:r>
            <a:endParaRPr/>
          </a:p>
        </p:txBody>
      </p:sp>
      <p:sp>
        <p:nvSpPr>
          <p:cNvPr id="381" name="Google Shape;381;p9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重要说明</a:t>
            </a:r>
            <a:endParaRPr/>
          </a:p>
        </p:txBody>
      </p:sp>
      <p:sp>
        <p:nvSpPr>
          <p:cNvPr id="383" name="Google Shape;383;p9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结果为内部测试。下一步：更大规模、结构化、盲测 A/B，对照通用模型。</a:t>
            </a:r>
            <a:endParaRPr/>
          </a:p>
        </p:txBody>
      </p:sp>
      <p:pic>
        <p:nvPicPr>
          <p:cNvPr descr="51careers_logo_dark.png" id="384" name="Google Shape;3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9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386" name="Google Shape;386;p9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0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技术</a:t>
            </a:r>
            <a:endParaRPr/>
          </a:p>
        </p:txBody>
      </p:sp>
      <p:sp>
        <p:nvSpPr>
          <p:cNvPr id="392" name="Google Shape;392;p10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并非简单的大模型套壳</a:t>
            </a:r>
            <a:endParaRPr/>
          </a:p>
        </p:txBody>
      </p:sp>
      <p:sp>
        <p:nvSpPr>
          <p:cNvPr id="393" name="Google Shape;393;p10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大模型  +  职业知识  +  简历框架  +  岗位智能  +  用户数据</a:t>
            </a:r>
            <a:endParaRPr/>
          </a:p>
        </p:txBody>
      </p:sp>
      <p:sp>
        <p:nvSpPr>
          <p:cNvPr id="394" name="Google Shape;394;p10"/>
          <p:cNvSpPr/>
          <p:nvPr/>
        </p:nvSpPr>
        <p:spPr>
          <a:xfrm>
            <a:off x="822960" y="1298448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 txBox="1"/>
          <p:nvPr/>
        </p:nvSpPr>
        <p:spPr>
          <a:xfrm>
            <a:off x="969264" y="1298448"/>
            <a:ext cx="2267712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经历抽取</a:t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3483864" y="1298448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 txBox="1"/>
          <p:nvPr/>
        </p:nvSpPr>
        <p:spPr>
          <a:xfrm>
            <a:off x="3630168" y="1298448"/>
            <a:ext cx="2267712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成就评分</a:t>
            </a:r>
            <a:endParaRPr/>
          </a:p>
        </p:txBody>
      </p:sp>
      <p:sp>
        <p:nvSpPr>
          <p:cNvPr id="398" name="Google Shape;398;p10"/>
          <p:cNvSpPr/>
          <p:nvPr/>
        </p:nvSpPr>
        <p:spPr>
          <a:xfrm>
            <a:off x="6144768" y="1298448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 txBox="1"/>
          <p:nvPr/>
        </p:nvSpPr>
        <p:spPr>
          <a:xfrm>
            <a:off x="6291072" y="1298448"/>
            <a:ext cx="2267712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职位描述分析</a:t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8805672" y="1298448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 txBox="1"/>
          <p:nvPr/>
        </p:nvSpPr>
        <p:spPr>
          <a:xfrm>
            <a:off x="8951976" y="1298448"/>
            <a:ext cx="2267712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简历优化</a:t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822960" y="2377440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 txBox="1"/>
          <p:nvPr/>
        </p:nvSpPr>
        <p:spPr>
          <a:xfrm>
            <a:off x="969264" y="2377440"/>
            <a:ext cx="2267712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行业术语</a:t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3483864" y="2377440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 txBox="1"/>
          <p:nvPr/>
        </p:nvSpPr>
        <p:spPr>
          <a:xfrm>
            <a:off x="3630168" y="2377440"/>
            <a:ext cx="2267712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岗位要求</a:t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6144768" y="2377440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 txBox="1"/>
          <p:nvPr/>
        </p:nvSpPr>
        <p:spPr>
          <a:xfrm>
            <a:off x="6291072" y="2377440"/>
            <a:ext cx="2267712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地域惯例</a:t>
            </a:r>
            <a:endParaRPr/>
          </a:p>
        </p:txBody>
      </p:sp>
      <p:sp>
        <p:nvSpPr>
          <p:cNvPr id="408" name="Google Shape;408;p10"/>
          <p:cNvSpPr/>
          <p:nvPr/>
        </p:nvSpPr>
        <p:spPr>
          <a:xfrm>
            <a:off x="8805672" y="2377440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 txBox="1"/>
          <p:nvPr/>
        </p:nvSpPr>
        <p:spPr>
          <a:xfrm>
            <a:off x="8951976" y="2377440"/>
            <a:ext cx="2267712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ATS 优化</a:t>
            </a:r>
            <a:endParaRPr/>
          </a:p>
        </p:txBody>
      </p:sp>
      <p:sp>
        <p:nvSpPr>
          <p:cNvPr id="410" name="Google Shape;410;p10"/>
          <p:cNvSpPr txBox="1"/>
          <p:nvPr/>
        </p:nvSpPr>
        <p:spPr>
          <a:xfrm>
            <a:off x="822960" y="3547872"/>
            <a:ext cx="105430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数据反馈闭环</a:t>
            </a: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822960" y="3822191"/>
            <a:ext cx="1234440" cy="17007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 txBox="1"/>
          <p:nvPr/>
        </p:nvSpPr>
        <p:spPr>
          <a:xfrm>
            <a:off x="914400" y="395020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01</a:t>
            </a:r>
            <a:endParaRPr/>
          </a:p>
        </p:txBody>
      </p:sp>
      <p:sp>
        <p:nvSpPr>
          <p:cNvPr id="413" name="Google Shape;413;p10"/>
          <p:cNvSpPr txBox="1"/>
          <p:nvPr/>
        </p:nvSpPr>
        <p:spPr>
          <a:xfrm>
            <a:off x="914400" y="4297680"/>
            <a:ext cx="1060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输入</a:t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2148840" y="3822191"/>
            <a:ext cx="1234440" cy="17007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 txBox="1"/>
          <p:nvPr/>
        </p:nvSpPr>
        <p:spPr>
          <a:xfrm>
            <a:off x="2240280" y="395020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02</a:t>
            </a:r>
            <a:endParaRPr/>
          </a:p>
        </p:txBody>
      </p:sp>
      <p:sp>
        <p:nvSpPr>
          <p:cNvPr id="416" name="Google Shape;416;p10"/>
          <p:cNvSpPr txBox="1"/>
          <p:nvPr/>
        </p:nvSpPr>
        <p:spPr>
          <a:xfrm>
            <a:off x="2240280" y="4297680"/>
            <a:ext cx="1060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分析</a:t>
            </a: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3474720" y="3822191"/>
            <a:ext cx="1234440" cy="17007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 txBox="1"/>
          <p:nvPr/>
        </p:nvSpPr>
        <p:spPr>
          <a:xfrm>
            <a:off x="3566160" y="395020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03</a:t>
            </a:r>
            <a:endParaRPr/>
          </a:p>
        </p:txBody>
      </p:sp>
      <p:sp>
        <p:nvSpPr>
          <p:cNvPr id="419" name="Google Shape;419;p10"/>
          <p:cNvSpPr txBox="1"/>
          <p:nvPr/>
        </p:nvSpPr>
        <p:spPr>
          <a:xfrm>
            <a:off x="3566160" y="4297680"/>
            <a:ext cx="1060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简历</a:t>
            </a:r>
            <a:endParaRPr/>
          </a:p>
        </p:txBody>
      </p:sp>
      <p:sp>
        <p:nvSpPr>
          <p:cNvPr id="420" name="Google Shape;420;p10"/>
          <p:cNvSpPr/>
          <p:nvPr/>
        </p:nvSpPr>
        <p:spPr>
          <a:xfrm>
            <a:off x="4800600" y="3822191"/>
            <a:ext cx="1234440" cy="17007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 txBox="1"/>
          <p:nvPr/>
        </p:nvSpPr>
        <p:spPr>
          <a:xfrm>
            <a:off x="4892040" y="395020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04</a:t>
            </a:r>
            <a:endParaRPr/>
          </a:p>
        </p:txBody>
      </p:sp>
      <p:sp>
        <p:nvSpPr>
          <p:cNvPr id="422" name="Google Shape;422;p10"/>
          <p:cNvSpPr txBox="1"/>
          <p:nvPr/>
        </p:nvSpPr>
        <p:spPr>
          <a:xfrm>
            <a:off x="4892040" y="4297680"/>
            <a:ext cx="1060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投递</a:t>
            </a:r>
            <a:endParaRPr/>
          </a:p>
        </p:txBody>
      </p:sp>
      <p:sp>
        <p:nvSpPr>
          <p:cNvPr id="423" name="Google Shape;423;p10"/>
          <p:cNvSpPr/>
          <p:nvPr/>
        </p:nvSpPr>
        <p:spPr>
          <a:xfrm>
            <a:off x="6126480" y="3822191"/>
            <a:ext cx="1234440" cy="17007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 txBox="1"/>
          <p:nvPr/>
        </p:nvSpPr>
        <p:spPr>
          <a:xfrm>
            <a:off x="6217920" y="395020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05</a:t>
            </a:r>
            <a:endParaRPr/>
          </a:p>
        </p:txBody>
      </p:sp>
      <p:sp>
        <p:nvSpPr>
          <p:cNvPr id="425" name="Google Shape;425;p10"/>
          <p:cNvSpPr txBox="1"/>
          <p:nvPr/>
        </p:nvSpPr>
        <p:spPr>
          <a:xfrm>
            <a:off x="6217920" y="4297680"/>
            <a:ext cx="1060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反馈</a:t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7452360" y="3822191"/>
            <a:ext cx="1234440" cy="17007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 txBox="1"/>
          <p:nvPr/>
        </p:nvSpPr>
        <p:spPr>
          <a:xfrm>
            <a:off x="7543800" y="395020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06</a:t>
            </a:r>
            <a:endParaRPr/>
          </a:p>
        </p:txBody>
      </p:sp>
      <p:sp>
        <p:nvSpPr>
          <p:cNvPr id="428" name="Google Shape;428;p10"/>
          <p:cNvSpPr txBox="1"/>
          <p:nvPr/>
        </p:nvSpPr>
        <p:spPr>
          <a:xfrm>
            <a:off x="7543800" y="4297680"/>
            <a:ext cx="1060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升级</a:t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8778240" y="3822191"/>
            <a:ext cx="1234440" cy="17007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 txBox="1"/>
          <p:nvPr/>
        </p:nvSpPr>
        <p:spPr>
          <a:xfrm>
            <a:off x="8869680" y="395020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07</a:t>
            </a:r>
            <a:endParaRPr/>
          </a:p>
        </p:txBody>
      </p:sp>
      <p:sp>
        <p:nvSpPr>
          <p:cNvPr id="431" name="Google Shape;431;p10"/>
          <p:cNvSpPr txBox="1"/>
          <p:nvPr/>
        </p:nvSpPr>
        <p:spPr>
          <a:xfrm>
            <a:off x="8869680" y="4297680"/>
            <a:ext cx="1060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结果</a:t>
            </a: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10104120" y="3822191"/>
            <a:ext cx="1234440" cy="17007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 txBox="1"/>
          <p:nvPr/>
        </p:nvSpPr>
        <p:spPr>
          <a:xfrm>
            <a:off x="10195560" y="395020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08</a:t>
            </a:r>
            <a:endParaRPr/>
          </a:p>
        </p:txBody>
      </p:sp>
      <p:sp>
        <p:nvSpPr>
          <p:cNvPr id="434" name="Google Shape;434;p10"/>
          <p:cNvSpPr txBox="1"/>
          <p:nvPr/>
        </p:nvSpPr>
        <p:spPr>
          <a:xfrm>
            <a:off x="10195560" y="4297680"/>
            <a:ext cx="1060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用户</a:t>
            </a:r>
            <a:endParaRPr/>
          </a:p>
        </p:txBody>
      </p:sp>
      <p:sp>
        <p:nvSpPr>
          <p:cNvPr id="435" name="Google Shape;435;p10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复利优势</a:t>
            </a:r>
            <a:endParaRPr/>
          </a:p>
        </p:txBody>
      </p:sp>
      <p:sp>
        <p:nvSpPr>
          <p:cNvPr id="437" name="Google Shape;437;p10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每一轮循环都在积累通用对话模型无法沉淀的专有职业智能。</a:t>
            </a:r>
            <a:endParaRPr/>
          </a:p>
        </p:txBody>
      </p:sp>
      <p:pic>
        <p:nvPicPr>
          <p:cNvPr descr="51careers_logo_dark.png" id="438" name="Google Shape;43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0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440" name="Google Shape;440;p10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1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全球市场</a:t>
            </a:r>
            <a:endParaRPr/>
          </a:p>
        </p:txBody>
      </p:sp>
      <p:sp>
        <p:nvSpPr>
          <p:cNvPr id="446" name="Google Shape;446;p11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AI 简历天然就是全球产品</a:t>
            </a:r>
            <a:endParaRPr/>
          </a:p>
        </p:txBody>
      </p:sp>
      <p:sp>
        <p:nvSpPr>
          <p:cNvPr id="447" name="Google Shape;447;p11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简历是全球就业市场的通用组成部分。</a:t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822960" y="129844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 txBox="1"/>
          <p:nvPr/>
        </p:nvSpPr>
        <p:spPr>
          <a:xfrm>
            <a:off x="950976" y="1627632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美国</a:t>
            </a:r>
            <a:endParaRPr/>
          </a:p>
        </p:txBody>
      </p:sp>
      <p:sp>
        <p:nvSpPr>
          <p:cNvPr id="450" name="Google Shape;450;p11"/>
          <p:cNvSpPr txBox="1"/>
          <p:nvPr/>
        </p:nvSpPr>
        <p:spPr>
          <a:xfrm>
            <a:off x="950976" y="2468880"/>
            <a:ext cx="1764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首个桥头堡</a:t>
            </a:r>
            <a:endParaRPr/>
          </a:p>
        </p:txBody>
      </p:sp>
      <p:sp>
        <p:nvSpPr>
          <p:cNvPr id="451" name="Google Shape;451;p11"/>
          <p:cNvSpPr/>
          <p:nvPr/>
        </p:nvSpPr>
        <p:spPr>
          <a:xfrm>
            <a:off x="2953512" y="129844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 txBox="1"/>
          <p:nvPr/>
        </p:nvSpPr>
        <p:spPr>
          <a:xfrm>
            <a:off x="3081528" y="1627632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加拿大</a:t>
            </a:r>
            <a:endParaRPr/>
          </a:p>
        </p:txBody>
      </p:sp>
      <p:sp>
        <p:nvSpPr>
          <p:cNvPr id="453" name="Google Shape;453;p11"/>
          <p:cNvSpPr txBox="1"/>
          <p:nvPr/>
        </p:nvSpPr>
        <p:spPr>
          <a:xfrm>
            <a:off x="3081528" y="2468880"/>
            <a:ext cx="1764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北美英语市场</a:t>
            </a:r>
            <a:endParaRPr/>
          </a:p>
        </p:txBody>
      </p:sp>
      <p:sp>
        <p:nvSpPr>
          <p:cNvPr id="454" name="Google Shape;454;p11"/>
          <p:cNvSpPr/>
          <p:nvPr/>
        </p:nvSpPr>
        <p:spPr>
          <a:xfrm>
            <a:off x="5084064" y="129844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 txBox="1"/>
          <p:nvPr/>
        </p:nvSpPr>
        <p:spPr>
          <a:xfrm>
            <a:off x="5212080" y="1627632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中美洲</a:t>
            </a:r>
            <a:endParaRPr/>
          </a:p>
        </p:txBody>
      </p:sp>
      <p:sp>
        <p:nvSpPr>
          <p:cNvPr id="456" name="Google Shape;456;p11"/>
          <p:cNvSpPr txBox="1"/>
          <p:nvPr/>
        </p:nvSpPr>
        <p:spPr>
          <a:xfrm>
            <a:off x="5212080" y="2468880"/>
            <a:ext cx="1764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邻近扩张</a:t>
            </a:r>
            <a:endParaRPr/>
          </a:p>
        </p:txBody>
      </p:sp>
      <p:sp>
        <p:nvSpPr>
          <p:cNvPr id="457" name="Google Shape;457;p11"/>
          <p:cNvSpPr/>
          <p:nvPr/>
        </p:nvSpPr>
        <p:spPr>
          <a:xfrm>
            <a:off x="7214616" y="129844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 txBox="1"/>
          <p:nvPr/>
        </p:nvSpPr>
        <p:spPr>
          <a:xfrm>
            <a:off x="7342632" y="1627632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英国</a:t>
            </a:r>
            <a:endParaRPr/>
          </a:p>
        </p:txBody>
      </p:sp>
      <p:sp>
        <p:nvSpPr>
          <p:cNvPr id="459" name="Google Shape;459;p11"/>
          <p:cNvSpPr txBox="1"/>
          <p:nvPr/>
        </p:nvSpPr>
        <p:spPr>
          <a:xfrm>
            <a:off x="7342632" y="2468880"/>
            <a:ext cx="1764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欧洲英语市场</a:t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9345168" y="129844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 txBox="1"/>
          <p:nvPr/>
        </p:nvSpPr>
        <p:spPr>
          <a:xfrm>
            <a:off x="9473184" y="1627632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澳大利亚</a:t>
            </a:r>
            <a:endParaRPr/>
          </a:p>
        </p:txBody>
      </p:sp>
      <p:sp>
        <p:nvSpPr>
          <p:cNvPr id="462" name="Google Shape;462;p11"/>
          <p:cNvSpPr txBox="1"/>
          <p:nvPr/>
        </p:nvSpPr>
        <p:spPr>
          <a:xfrm>
            <a:off x="9473184" y="2468880"/>
            <a:ext cx="1764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亚太英语市场</a:t>
            </a:r>
            <a:endParaRPr/>
          </a:p>
        </p:txBody>
      </p:sp>
      <p:sp>
        <p:nvSpPr>
          <p:cNvPr id="463" name="Google Shape;463;p11"/>
          <p:cNvSpPr/>
          <p:nvPr/>
        </p:nvSpPr>
        <p:spPr>
          <a:xfrm>
            <a:off x="822960" y="340156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 txBox="1"/>
          <p:nvPr/>
        </p:nvSpPr>
        <p:spPr>
          <a:xfrm>
            <a:off x="950976" y="3730752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新加坡</a:t>
            </a:r>
            <a:endParaRPr/>
          </a:p>
        </p:txBody>
      </p:sp>
      <p:sp>
        <p:nvSpPr>
          <p:cNvPr id="465" name="Google Shape;465;p11"/>
          <p:cNvSpPr txBox="1"/>
          <p:nvPr/>
        </p:nvSpPr>
        <p:spPr>
          <a:xfrm>
            <a:off x="950976" y="4572000"/>
            <a:ext cx="1764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亚太枢纽</a:t>
            </a:r>
            <a:endParaRPr/>
          </a:p>
        </p:txBody>
      </p:sp>
      <p:sp>
        <p:nvSpPr>
          <p:cNvPr id="466" name="Google Shape;466;p11"/>
          <p:cNvSpPr/>
          <p:nvPr/>
        </p:nvSpPr>
        <p:spPr>
          <a:xfrm>
            <a:off x="2953512" y="340156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 txBox="1"/>
          <p:nvPr/>
        </p:nvSpPr>
        <p:spPr>
          <a:xfrm>
            <a:off x="3081528" y="3730752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香港</a:t>
            </a:r>
            <a:endParaRPr/>
          </a:p>
        </p:txBody>
      </p:sp>
      <p:sp>
        <p:nvSpPr>
          <p:cNvPr id="468" name="Google Shape;468;p11"/>
          <p:cNvSpPr txBox="1"/>
          <p:nvPr/>
        </p:nvSpPr>
        <p:spPr>
          <a:xfrm>
            <a:off x="3081528" y="4572000"/>
            <a:ext cx="1764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大中华英语市场</a:t>
            </a:r>
            <a:endParaRPr/>
          </a:p>
        </p:txBody>
      </p:sp>
      <p:sp>
        <p:nvSpPr>
          <p:cNvPr id="469" name="Google Shape;469;p11"/>
          <p:cNvSpPr/>
          <p:nvPr/>
        </p:nvSpPr>
        <p:spPr>
          <a:xfrm>
            <a:off x="5084064" y="340156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1"/>
          <p:cNvSpPr txBox="1"/>
          <p:nvPr/>
        </p:nvSpPr>
        <p:spPr>
          <a:xfrm>
            <a:off x="5212080" y="3730752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中国</a:t>
            </a:r>
            <a:endParaRPr/>
          </a:p>
        </p:txBody>
      </p:sp>
      <p:sp>
        <p:nvSpPr>
          <p:cNvPr id="471" name="Google Shape;471;p11"/>
          <p:cNvSpPr txBox="1"/>
          <p:nvPr/>
        </p:nvSpPr>
        <p:spPr>
          <a:xfrm>
            <a:off x="5212080" y="4572000"/>
            <a:ext cx="1764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研发与用户</a:t>
            </a: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7214616" y="340156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 txBox="1"/>
          <p:nvPr/>
        </p:nvSpPr>
        <p:spPr>
          <a:xfrm>
            <a:off x="7342632" y="3730752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欧洲</a:t>
            </a:r>
            <a:endParaRPr/>
          </a:p>
        </p:txBody>
      </p:sp>
      <p:sp>
        <p:nvSpPr>
          <p:cNvPr id="474" name="Google Shape;474;p11"/>
          <p:cNvSpPr txBox="1"/>
          <p:nvPr/>
        </p:nvSpPr>
        <p:spPr>
          <a:xfrm>
            <a:off x="7342632" y="4572000"/>
            <a:ext cx="1764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后续本地化</a:t>
            </a:r>
            <a:endParaRPr/>
          </a:p>
        </p:txBody>
      </p:sp>
      <p:sp>
        <p:nvSpPr>
          <p:cNvPr id="475" name="Google Shape;475;p11"/>
          <p:cNvSpPr/>
          <p:nvPr/>
        </p:nvSpPr>
        <p:spPr>
          <a:xfrm>
            <a:off x="9345168" y="340156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1"/>
          <p:cNvSpPr txBox="1"/>
          <p:nvPr/>
        </p:nvSpPr>
        <p:spPr>
          <a:xfrm>
            <a:off x="9473184" y="3730752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中东</a:t>
            </a:r>
            <a:endParaRPr/>
          </a:p>
        </p:txBody>
      </p:sp>
      <p:sp>
        <p:nvSpPr>
          <p:cNvPr id="477" name="Google Shape;477;p11"/>
          <p:cNvSpPr txBox="1"/>
          <p:nvPr/>
        </p:nvSpPr>
        <p:spPr>
          <a:xfrm>
            <a:off x="9473184" y="4572000"/>
            <a:ext cx="1764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英语职场</a:t>
            </a:r>
            <a:endParaRPr/>
          </a:p>
        </p:txBody>
      </p:sp>
      <p:sp>
        <p:nvSpPr>
          <p:cNvPr id="478" name="Google Shape;478;p11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1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共同的问题</a:t>
            </a:r>
            <a:endParaRPr/>
          </a:p>
        </p:txBody>
      </p:sp>
      <p:sp>
        <p:nvSpPr>
          <p:cNvPr id="480" name="Google Shape;480;p11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如何向雇主呈现我的职业价值？这是全球问题，也是可规模化的产品。</a:t>
            </a:r>
            <a:endParaRPr/>
          </a:p>
        </p:txBody>
      </p:sp>
      <p:pic>
        <p:nvPicPr>
          <p:cNvPr descr="51careers_logo_dark.png" id="481" name="Google Shape;48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11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483" name="Google Shape;483;p11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2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产品策略</a:t>
            </a:r>
            <a:endParaRPr/>
          </a:p>
        </p:txBody>
      </p:sp>
      <p:sp>
        <p:nvSpPr>
          <p:cNvPr id="489" name="Google Shape;489;p12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一个平台。多个劳动力市场。</a:t>
            </a:r>
            <a:endParaRPr/>
          </a:p>
        </p:txBody>
      </p:sp>
      <p:sp>
        <p:nvSpPr>
          <p:cNvPr id="490" name="Google Shape;490;p12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一份职业画像可按地域、行业、职级、岗位与雇主进行本地化。</a:t>
            </a:r>
            <a:endParaRPr/>
          </a:p>
        </p:txBody>
      </p:sp>
      <p:sp>
        <p:nvSpPr>
          <p:cNvPr id="491" name="Google Shape;491;p12"/>
          <p:cNvSpPr/>
          <p:nvPr/>
        </p:nvSpPr>
        <p:spPr>
          <a:xfrm>
            <a:off x="822960" y="1298448"/>
            <a:ext cx="10543032" cy="7863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 txBox="1"/>
          <p:nvPr/>
        </p:nvSpPr>
        <p:spPr>
          <a:xfrm>
            <a:off x="1024128" y="1298448"/>
            <a:ext cx="21945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8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地域</a:t>
            </a:r>
            <a:endParaRPr/>
          </a:p>
        </p:txBody>
      </p:sp>
      <p:sp>
        <p:nvSpPr>
          <p:cNvPr id="493" name="Google Shape;493;p12"/>
          <p:cNvSpPr txBox="1"/>
          <p:nvPr/>
        </p:nvSpPr>
        <p:spPr>
          <a:xfrm>
            <a:off x="3383280" y="1298448"/>
            <a:ext cx="76809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美国 · 加拿大 · 中美洲 · 英国 · 澳大利亚 · 欧洲 · 亚洲 · 中东</a:t>
            </a:r>
            <a:endParaRPr/>
          </a:p>
        </p:txBody>
      </p:sp>
      <p:sp>
        <p:nvSpPr>
          <p:cNvPr id="494" name="Google Shape;494;p12"/>
          <p:cNvSpPr/>
          <p:nvPr/>
        </p:nvSpPr>
        <p:spPr>
          <a:xfrm>
            <a:off x="822960" y="2157984"/>
            <a:ext cx="10543032" cy="7863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2"/>
          <p:cNvSpPr txBox="1"/>
          <p:nvPr/>
        </p:nvSpPr>
        <p:spPr>
          <a:xfrm>
            <a:off x="1024128" y="2157984"/>
            <a:ext cx="21945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8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行业</a:t>
            </a:r>
            <a:endParaRPr/>
          </a:p>
        </p:txBody>
      </p:sp>
      <p:sp>
        <p:nvSpPr>
          <p:cNvPr id="496" name="Google Shape;496;p12"/>
          <p:cNvSpPr txBox="1"/>
          <p:nvPr/>
        </p:nvSpPr>
        <p:spPr>
          <a:xfrm>
            <a:off x="3383280" y="2157984"/>
            <a:ext cx="76809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科技、金融科技、金融、制造、咨询、医疗、市场营销、教育</a:t>
            </a:r>
            <a:endParaRPr/>
          </a:p>
        </p:txBody>
      </p:sp>
      <p:sp>
        <p:nvSpPr>
          <p:cNvPr id="497" name="Google Shape;497;p12"/>
          <p:cNvSpPr/>
          <p:nvPr/>
        </p:nvSpPr>
        <p:spPr>
          <a:xfrm>
            <a:off x="822960" y="3017520"/>
            <a:ext cx="10543032" cy="7863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 txBox="1"/>
          <p:nvPr/>
        </p:nvSpPr>
        <p:spPr>
          <a:xfrm>
            <a:off x="1024128" y="3017520"/>
            <a:ext cx="21945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8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职业阶段</a:t>
            </a:r>
            <a:endParaRPr/>
          </a:p>
        </p:txBody>
      </p:sp>
      <p:sp>
        <p:nvSpPr>
          <p:cNvPr id="499" name="Google Shape;499;p12"/>
          <p:cNvSpPr txBox="1"/>
          <p:nvPr/>
        </p:nvSpPr>
        <p:spPr>
          <a:xfrm>
            <a:off x="3383280" y="3017520"/>
            <a:ext cx="76809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学生  ·  应届生  ·  职场人士  ·  经理  ·  高管</a:t>
            </a:r>
            <a:endParaRPr/>
          </a:p>
        </p:txBody>
      </p:sp>
      <p:sp>
        <p:nvSpPr>
          <p:cNvPr id="500" name="Google Shape;500;p12"/>
          <p:cNvSpPr/>
          <p:nvPr/>
        </p:nvSpPr>
        <p:spPr>
          <a:xfrm>
            <a:off x="822960" y="3877056"/>
            <a:ext cx="10543032" cy="7863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2"/>
          <p:cNvSpPr txBox="1"/>
          <p:nvPr/>
        </p:nvSpPr>
        <p:spPr>
          <a:xfrm>
            <a:off x="1024128" y="3877056"/>
            <a:ext cx="21945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8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目标岗位</a:t>
            </a:r>
            <a:endParaRPr/>
          </a:p>
        </p:txBody>
      </p:sp>
      <p:sp>
        <p:nvSpPr>
          <p:cNvPr id="502" name="Google Shape;502;p12"/>
          <p:cNvSpPr txBox="1"/>
          <p:nvPr/>
        </p:nvSpPr>
        <p:spPr>
          <a:xfrm>
            <a:off x="3383280" y="3877056"/>
            <a:ext cx="76809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软件工程师  ·  产品经理  ·  数据科学家  ·  市场营销  ·  金融  ·  更多</a:t>
            </a: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822960" y="4736592"/>
            <a:ext cx="10543032" cy="7863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 txBox="1"/>
          <p:nvPr/>
        </p:nvSpPr>
        <p:spPr>
          <a:xfrm>
            <a:off x="1024128" y="4736592"/>
            <a:ext cx="21945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8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雇主</a:t>
            </a:r>
            <a:endParaRPr/>
          </a:p>
        </p:txBody>
      </p:sp>
      <p:sp>
        <p:nvSpPr>
          <p:cNvPr id="505" name="Google Shape;505;p12"/>
          <p:cNvSpPr txBox="1"/>
          <p:nvPr/>
        </p:nvSpPr>
        <p:spPr>
          <a:xfrm>
            <a:off x="3383280" y="4736592"/>
            <a:ext cx="76809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初创  ·  中小企业  ·  大型企业  ·  跨国公司</a:t>
            </a:r>
            <a:endParaRPr/>
          </a:p>
        </p:txBody>
      </p:sp>
      <p:sp>
        <p:nvSpPr>
          <p:cNvPr id="506" name="Google Shape;506;p12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2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设计原则</a:t>
            </a:r>
            <a:endParaRPr/>
          </a:p>
        </p:txBody>
      </p:sp>
      <p:sp>
        <p:nvSpPr>
          <p:cNvPr id="508" name="Google Shape;508;p12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一次构建。输出本地化。以单一平台服务多个劳动力市场。</a:t>
            </a:r>
            <a:endParaRPr/>
          </a:p>
        </p:txBody>
      </p:sp>
      <p:pic>
        <p:nvPicPr>
          <p:cNvPr descr="51careers_logo_dark.png" id="509" name="Google Shape;50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12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511" name="Google Shape;511;p12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3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产品路线图</a:t>
            </a:r>
            <a:endParaRPr/>
          </a:p>
        </p:txBody>
      </p:sp>
      <p:sp>
        <p:nvSpPr>
          <p:cNvPr id="517" name="Google Shape;517;p13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简历是入口</a:t>
            </a:r>
            <a:endParaRPr/>
          </a:p>
        </p:txBody>
      </p:sp>
      <p:sp>
        <p:nvSpPr>
          <p:cNvPr id="518" name="Google Shape;518;p13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简历把用户带上来。终点是全球 AI 职业平台。</a:t>
            </a:r>
            <a:endParaRPr/>
          </a:p>
        </p:txBody>
      </p:sp>
      <p:sp>
        <p:nvSpPr>
          <p:cNvPr id="519" name="Google Shape;519;p13"/>
          <p:cNvSpPr/>
          <p:nvPr/>
        </p:nvSpPr>
        <p:spPr>
          <a:xfrm>
            <a:off x="822960" y="1298448"/>
            <a:ext cx="2560320" cy="299923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3"/>
          <p:cNvSpPr/>
          <p:nvPr/>
        </p:nvSpPr>
        <p:spPr>
          <a:xfrm>
            <a:off x="987552" y="144475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3"/>
          <p:cNvSpPr txBox="1"/>
          <p:nvPr/>
        </p:nvSpPr>
        <p:spPr>
          <a:xfrm>
            <a:off x="987552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522" name="Google Shape;522;p13"/>
          <p:cNvSpPr txBox="1"/>
          <p:nvPr/>
        </p:nvSpPr>
        <p:spPr>
          <a:xfrm>
            <a:off x="987552" y="1920240"/>
            <a:ext cx="22311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第一阶段</a:t>
            </a:r>
            <a:endParaRPr/>
          </a:p>
        </p:txBody>
      </p:sp>
      <p:sp>
        <p:nvSpPr>
          <p:cNvPr id="523" name="Google Shape;523;p13"/>
          <p:cNvSpPr txBox="1"/>
          <p:nvPr/>
        </p:nvSpPr>
        <p:spPr>
          <a:xfrm>
            <a:off x="987552" y="2212848"/>
            <a:ext cx="22311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0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AI 职业工具包</a:t>
            </a:r>
            <a:r>
              <a:rPr b="1" lang="en-US" sz="2000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endParaRPr/>
          </a:p>
        </p:txBody>
      </p:sp>
      <p:sp>
        <p:nvSpPr>
          <p:cNvPr id="524" name="Google Shape;524;p13"/>
          <p:cNvSpPr txBox="1"/>
          <p:nvPr/>
        </p:nvSpPr>
        <p:spPr>
          <a:xfrm>
            <a:off x="987552" y="2743200"/>
            <a:ext cx="2231136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简历</a:t>
            </a:r>
            <a:endParaRPr sz="1500">
              <a:solidFill>
                <a:srgbClr val="1E2A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申请投递</a:t>
            </a:r>
            <a:endParaRPr sz="1500">
              <a:solidFill>
                <a:srgbClr val="1E2A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面试</a:t>
            </a:r>
            <a:endParaRPr sz="1500">
              <a:solidFill>
                <a:srgbClr val="1E2A33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25" name="Google Shape;525;p13"/>
          <p:cNvSpPr/>
          <p:nvPr/>
        </p:nvSpPr>
        <p:spPr>
          <a:xfrm>
            <a:off x="3483864" y="1298448"/>
            <a:ext cx="2560320" cy="299923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3"/>
          <p:cNvSpPr/>
          <p:nvPr/>
        </p:nvSpPr>
        <p:spPr>
          <a:xfrm>
            <a:off x="3648456" y="144475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 txBox="1"/>
          <p:nvPr/>
        </p:nvSpPr>
        <p:spPr>
          <a:xfrm>
            <a:off x="3648456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2</a:t>
            </a:r>
            <a:endParaRPr/>
          </a:p>
        </p:txBody>
      </p:sp>
      <p:sp>
        <p:nvSpPr>
          <p:cNvPr id="528" name="Google Shape;528;p13"/>
          <p:cNvSpPr txBox="1"/>
          <p:nvPr/>
        </p:nvSpPr>
        <p:spPr>
          <a:xfrm>
            <a:off x="3648456" y="1920240"/>
            <a:ext cx="22311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第二阶段</a:t>
            </a:r>
            <a:endParaRPr/>
          </a:p>
        </p:txBody>
      </p:sp>
      <p:sp>
        <p:nvSpPr>
          <p:cNvPr id="529" name="Google Shape;529;p13"/>
          <p:cNvSpPr txBox="1"/>
          <p:nvPr/>
        </p:nvSpPr>
        <p:spPr>
          <a:xfrm>
            <a:off x="3648456" y="2212848"/>
            <a:ext cx="22311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0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AI 职业智能体</a:t>
            </a:r>
            <a:endParaRPr/>
          </a:p>
        </p:txBody>
      </p:sp>
      <p:sp>
        <p:nvSpPr>
          <p:cNvPr id="530" name="Google Shape;530;p13"/>
          <p:cNvSpPr txBox="1"/>
          <p:nvPr/>
        </p:nvSpPr>
        <p:spPr>
          <a:xfrm>
            <a:off x="3648456" y="2743200"/>
            <a:ext cx="2231136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发现</a:t>
            </a:r>
            <a:endParaRPr sz="1500">
              <a:solidFill>
                <a:srgbClr val="1E2A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投递</a:t>
            </a:r>
            <a:endParaRPr sz="1500">
              <a:solidFill>
                <a:srgbClr val="1E2A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准备</a:t>
            </a:r>
            <a:endParaRPr sz="1500">
              <a:solidFill>
                <a:srgbClr val="1E2A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执行</a:t>
            </a:r>
            <a:endParaRPr sz="1500">
              <a:solidFill>
                <a:srgbClr val="1E2A33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6144768" y="1298448"/>
            <a:ext cx="2560320" cy="299923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6309360" y="144475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 txBox="1"/>
          <p:nvPr/>
        </p:nvSpPr>
        <p:spPr>
          <a:xfrm>
            <a:off x="6309360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3</a:t>
            </a:r>
            <a:endParaRPr/>
          </a:p>
        </p:txBody>
      </p:sp>
      <p:sp>
        <p:nvSpPr>
          <p:cNvPr id="534" name="Google Shape;534;p13"/>
          <p:cNvSpPr txBox="1"/>
          <p:nvPr/>
        </p:nvSpPr>
        <p:spPr>
          <a:xfrm>
            <a:off x="6309360" y="1920240"/>
            <a:ext cx="22311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第三阶段</a:t>
            </a:r>
            <a:endParaRPr/>
          </a:p>
        </p:txBody>
      </p:sp>
      <p:sp>
        <p:nvSpPr>
          <p:cNvPr id="535" name="Google Shape;535;p13"/>
          <p:cNvSpPr txBox="1"/>
          <p:nvPr/>
        </p:nvSpPr>
        <p:spPr>
          <a:xfrm>
            <a:off x="6309350" y="2212849"/>
            <a:ext cx="2286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职业操作系统</a:t>
            </a:r>
            <a:endParaRPr/>
          </a:p>
        </p:txBody>
      </p:sp>
      <p:sp>
        <p:nvSpPr>
          <p:cNvPr id="536" name="Google Shape;536;p13"/>
          <p:cNvSpPr txBox="1"/>
          <p:nvPr/>
        </p:nvSpPr>
        <p:spPr>
          <a:xfrm>
            <a:off x="6309350" y="2999227"/>
            <a:ext cx="22311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latin typeface="Garamond"/>
                <a:ea typeface="宋体"/>
                <a:cs typeface="Garamond"/>
                <a:sym typeface="Garamond"/>
              </a:rPr>
              <a:t>规划</a:t>
            </a:r>
            <a:endParaRPr sz="15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latin typeface="Garamond"/>
                <a:ea typeface="宋体"/>
                <a:cs typeface="Garamond"/>
                <a:sym typeface="Garamond"/>
              </a:rPr>
              <a:t>学习</a:t>
            </a:r>
            <a:endParaRPr sz="15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latin typeface="Garamond"/>
                <a:ea typeface="宋体"/>
                <a:cs typeface="Garamond"/>
                <a:sym typeface="Garamond"/>
              </a:rPr>
              <a:t>匹配</a:t>
            </a:r>
            <a:endParaRPr sz="15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latin typeface="Garamond"/>
                <a:ea typeface="宋体"/>
                <a:cs typeface="Garamond"/>
                <a:sym typeface="Garamond"/>
              </a:rPr>
              <a:t>晋升</a:t>
            </a:r>
            <a:endParaRPr sz="15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8805672" y="1298448"/>
            <a:ext cx="2560320" cy="299923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8970264" y="144475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 txBox="1"/>
          <p:nvPr/>
        </p:nvSpPr>
        <p:spPr>
          <a:xfrm>
            <a:off x="8970264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4</a:t>
            </a:r>
            <a:endParaRPr/>
          </a:p>
        </p:txBody>
      </p:sp>
      <p:sp>
        <p:nvSpPr>
          <p:cNvPr id="540" name="Google Shape;540;p13"/>
          <p:cNvSpPr txBox="1"/>
          <p:nvPr/>
        </p:nvSpPr>
        <p:spPr>
          <a:xfrm>
            <a:off x="8970264" y="1920240"/>
            <a:ext cx="22311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第四阶段</a:t>
            </a:r>
            <a:endParaRPr/>
          </a:p>
        </p:txBody>
      </p:sp>
      <p:sp>
        <p:nvSpPr>
          <p:cNvPr id="541" name="Google Shape;541;p13"/>
          <p:cNvSpPr txBox="1"/>
          <p:nvPr/>
        </p:nvSpPr>
        <p:spPr>
          <a:xfrm>
            <a:off x="8970264" y="2212848"/>
            <a:ext cx="22311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全球职业网络</a:t>
            </a:r>
            <a:endParaRPr/>
          </a:p>
        </p:txBody>
      </p:sp>
      <p:sp>
        <p:nvSpPr>
          <p:cNvPr id="542" name="Google Shape;542;p13"/>
          <p:cNvSpPr txBox="1"/>
          <p:nvPr/>
        </p:nvSpPr>
        <p:spPr>
          <a:xfrm>
            <a:off x="8970275" y="2999102"/>
            <a:ext cx="22311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候选人</a:t>
            </a:r>
            <a:endParaRPr sz="1500">
              <a:solidFill>
                <a:srgbClr val="1E2A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雇主</a:t>
            </a:r>
            <a:endParaRPr sz="1500">
              <a:solidFill>
                <a:srgbClr val="1E2A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AI 匹配</a:t>
            </a:r>
            <a:endParaRPr sz="1500">
              <a:solidFill>
                <a:srgbClr val="1E2A33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822960" y="4425696"/>
            <a:ext cx="1417320" cy="10972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3"/>
          <p:cNvSpPr txBox="1"/>
          <p:nvPr/>
        </p:nvSpPr>
        <p:spPr>
          <a:xfrm>
            <a:off x="896112" y="4425696"/>
            <a:ext cx="127101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简历</a:t>
            </a:r>
            <a:endParaRPr/>
          </a:p>
        </p:txBody>
      </p:sp>
      <p:sp>
        <p:nvSpPr>
          <p:cNvPr id="545" name="Google Shape;545;p13"/>
          <p:cNvSpPr/>
          <p:nvPr/>
        </p:nvSpPr>
        <p:spPr>
          <a:xfrm>
            <a:off x="2340864" y="4425696"/>
            <a:ext cx="1417320" cy="10972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3"/>
          <p:cNvSpPr txBox="1"/>
          <p:nvPr/>
        </p:nvSpPr>
        <p:spPr>
          <a:xfrm>
            <a:off x="2414016" y="4425696"/>
            <a:ext cx="127101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发现</a:t>
            </a:r>
            <a:endParaRPr/>
          </a:p>
        </p:txBody>
      </p:sp>
      <p:sp>
        <p:nvSpPr>
          <p:cNvPr id="547" name="Google Shape;547;p13"/>
          <p:cNvSpPr/>
          <p:nvPr/>
        </p:nvSpPr>
        <p:spPr>
          <a:xfrm>
            <a:off x="3858768" y="4425696"/>
            <a:ext cx="1417320" cy="10972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3"/>
          <p:cNvSpPr txBox="1"/>
          <p:nvPr/>
        </p:nvSpPr>
        <p:spPr>
          <a:xfrm>
            <a:off x="3931920" y="4425696"/>
            <a:ext cx="127101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匹配</a:t>
            </a:r>
            <a:endParaRPr/>
          </a:p>
        </p:txBody>
      </p:sp>
      <p:sp>
        <p:nvSpPr>
          <p:cNvPr id="549" name="Google Shape;549;p13"/>
          <p:cNvSpPr/>
          <p:nvPr/>
        </p:nvSpPr>
        <p:spPr>
          <a:xfrm>
            <a:off x="5376672" y="4425696"/>
            <a:ext cx="1417320" cy="10972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3"/>
          <p:cNvSpPr txBox="1"/>
          <p:nvPr/>
        </p:nvSpPr>
        <p:spPr>
          <a:xfrm>
            <a:off x="5449824" y="4425696"/>
            <a:ext cx="127101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申请投递</a:t>
            </a:r>
            <a:endParaRPr/>
          </a:p>
        </p:txBody>
      </p:sp>
      <p:sp>
        <p:nvSpPr>
          <p:cNvPr id="551" name="Google Shape;551;p13"/>
          <p:cNvSpPr/>
          <p:nvPr/>
        </p:nvSpPr>
        <p:spPr>
          <a:xfrm>
            <a:off x="6894576" y="4425696"/>
            <a:ext cx="1417320" cy="10972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3"/>
          <p:cNvSpPr txBox="1"/>
          <p:nvPr/>
        </p:nvSpPr>
        <p:spPr>
          <a:xfrm>
            <a:off x="6967728" y="4425696"/>
            <a:ext cx="127101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求职信</a:t>
            </a:r>
            <a:endParaRPr/>
          </a:p>
        </p:txBody>
      </p:sp>
      <p:sp>
        <p:nvSpPr>
          <p:cNvPr id="553" name="Google Shape;553;p13"/>
          <p:cNvSpPr/>
          <p:nvPr/>
        </p:nvSpPr>
        <p:spPr>
          <a:xfrm>
            <a:off x="8412480" y="4425696"/>
            <a:ext cx="1417320" cy="10972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3"/>
          <p:cNvSpPr txBox="1"/>
          <p:nvPr/>
        </p:nvSpPr>
        <p:spPr>
          <a:xfrm>
            <a:off x="8485632" y="4425696"/>
            <a:ext cx="127101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面试</a:t>
            </a:r>
            <a:endParaRPr/>
          </a:p>
        </p:txBody>
      </p:sp>
      <p:sp>
        <p:nvSpPr>
          <p:cNvPr id="555" name="Google Shape;555;p13"/>
          <p:cNvSpPr/>
          <p:nvPr/>
        </p:nvSpPr>
        <p:spPr>
          <a:xfrm>
            <a:off x="9930384" y="4425696"/>
            <a:ext cx="1417320" cy="10972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3"/>
          <p:cNvSpPr txBox="1"/>
          <p:nvPr/>
        </p:nvSpPr>
        <p:spPr>
          <a:xfrm>
            <a:off x="10003536" y="4425696"/>
            <a:ext cx="127101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规划</a:t>
            </a:r>
            <a:endParaRPr/>
          </a:p>
        </p:txBody>
      </p:sp>
      <p:sp>
        <p:nvSpPr>
          <p:cNvPr id="557" name="Google Shape;557;p13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3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路径顺序</a:t>
            </a:r>
            <a:endParaRPr/>
          </a:p>
        </p:txBody>
      </p:sp>
      <p:sp>
        <p:nvSpPr>
          <p:cNvPr id="559" name="Google Shape;559;p13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简历创建  →  岗位发现  →  匹配  →  投递  →  面试  →  职业规划</a:t>
            </a:r>
            <a:endParaRPr/>
          </a:p>
        </p:txBody>
      </p:sp>
      <p:pic>
        <p:nvPicPr>
          <p:cNvPr descr="51careers_logo_dark.png" id="560" name="Google Shape;5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13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562" name="Google Shape;562;p13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4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商业模式</a:t>
            </a:r>
            <a:endParaRPr/>
          </a:p>
        </p:txBody>
      </p:sp>
      <p:sp>
        <p:nvSpPr>
          <p:cNvPr id="568" name="Google Shape;568;p14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贯穿职业旅程的变现</a:t>
            </a:r>
            <a:endParaRPr/>
          </a:p>
        </p:txBody>
      </p:sp>
      <p:sp>
        <p:nvSpPr>
          <p:cNvPr id="569" name="Google Shape;569;p14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一个用户。多条收入路径。不是单次 AI 简历交易。</a:t>
            </a:r>
            <a:endParaRPr/>
          </a:p>
        </p:txBody>
      </p:sp>
      <p:sp>
        <p:nvSpPr>
          <p:cNvPr id="570" name="Google Shape;570;p14"/>
          <p:cNvSpPr/>
          <p:nvPr/>
        </p:nvSpPr>
        <p:spPr>
          <a:xfrm>
            <a:off x="822960" y="1298448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4"/>
          <p:cNvSpPr/>
          <p:nvPr/>
        </p:nvSpPr>
        <p:spPr>
          <a:xfrm>
            <a:off x="1005840" y="148132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4"/>
          <p:cNvSpPr txBox="1"/>
          <p:nvPr/>
        </p:nvSpPr>
        <p:spPr>
          <a:xfrm>
            <a:off x="1005840" y="14813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573" name="Google Shape;573;p14"/>
          <p:cNvSpPr txBox="1"/>
          <p:nvPr/>
        </p:nvSpPr>
        <p:spPr>
          <a:xfrm>
            <a:off x="1481328" y="1481328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AI 产品</a:t>
            </a:r>
            <a:endParaRPr/>
          </a:p>
        </p:txBody>
      </p:sp>
      <p:sp>
        <p:nvSpPr>
          <p:cNvPr id="574" name="Google Shape;574;p14"/>
          <p:cNvSpPr txBox="1"/>
          <p:nvPr/>
        </p:nvSpPr>
        <p:spPr>
          <a:xfrm>
            <a:off x="1005840" y="1956816"/>
            <a:ext cx="30175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订阅、高级 AI 功能、简历套餐与 AI 职业工具。</a:t>
            </a:r>
            <a:endParaRPr/>
          </a:p>
        </p:txBody>
      </p:sp>
      <p:sp>
        <p:nvSpPr>
          <p:cNvPr id="575" name="Google Shape;575;p14"/>
          <p:cNvSpPr/>
          <p:nvPr/>
        </p:nvSpPr>
        <p:spPr>
          <a:xfrm>
            <a:off x="4398264" y="1298448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4"/>
          <p:cNvSpPr/>
          <p:nvPr/>
        </p:nvSpPr>
        <p:spPr>
          <a:xfrm>
            <a:off x="4581144" y="148132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4"/>
          <p:cNvSpPr txBox="1"/>
          <p:nvPr/>
        </p:nvSpPr>
        <p:spPr>
          <a:xfrm>
            <a:off x="4581144" y="14813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2</a:t>
            </a:r>
            <a:endParaRPr/>
          </a:p>
        </p:txBody>
      </p:sp>
      <p:sp>
        <p:nvSpPr>
          <p:cNvPr id="578" name="Google Shape;578;p14"/>
          <p:cNvSpPr txBox="1"/>
          <p:nvPr/>
        </p:nvSpPr>
        <p:spPr>
          <a:xfrm>
            <a:off x="5056632" y="1481328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职业服务</a:t>
            </a:r>
            <a:endParaRPr/>
          </a:p>
        </p:txBody>
      </p:sp>
      <p:sp>
        <p:nvSpPr>
          <p:cNvPr id="579" name="Google Shape;579;p14"/>
          <p:cNvSpPr txBox="1"/>
          <p:nvPr/>
        </p:nvSpPr>
        <p:spPr>
          <a:xfrm>
            <a:off x="4581144" y="1956816"/>
            <a:ext cx="30175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简历咨询、职业咨询、面试辅导与高端服务。</a:t>
            </a:r>
            <a:endParaRPr/>
          </a:p>
        </p:txBody>
      </p:sp>
      <p:sp>
        <p:nvSpPr>
          <p:cNvPr id="580" name="Google Shape;580;p14"/>
          <p:cNvSpPr/>
          <p:nvPr/>
        </p:nvSpPr>
        <p:spPr>
          <a:xfrm>
            <a:off x="7973568" y="1298448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4"/>
          <p:cNvSpPr/>
          <p:nvPr/>
        </p:nvSpPr>
        <p:spPr>
          <a:xfrm>
            <a:off x="8156448" y="148132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4"/>
          <p:cNvSpPr txBox="1"/>
          <p:nvPr/>
        </p:nvSpPr>
        <p:spPr>
          <a:xfrm>
            <a:off x="8156448" y="14813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3</a:t>
            </a:r>
            <a:endParaRPr/>
          </a:p>
        </p:txBody>
      </p:sp>
      <p:sp>
        <p:nvSpPr>
          <p:cNvPr id="583" name="Google Shape;583;p14"/>
          <p:cNvSpPr txBox="1"/>
          <p:nvPr/>
        </p:nvSpPr>
        <p:spPr>
          <a:xfrm>
            <a:off x="8631936" y="1481328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转介分成</a:t>
            </a:r>
            <a:endParaRPr/>
          </a:p>
        </p:txBody>
      </p:sp>
      <p:sp>
        <p:nvSpPr>
          <p:cNvPr id="584" name="Google Shape;584;p14"/>
          <p:cNvSpPr txBox="1"/>
          <p:nvPr/>
        </p:nvSpPr>
        <p:spPr>
          <a:xfrm>
            <a:off x="8156448" y="1956816"/>
            <a:ext cx="30175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与教育、培训与招聘合作伙伴的 CPA / CPS / 收入分成。</a:t>
            </a:r>
            <a:endParaRPr/>
          </a:p>
        </p:txBody>
      </p:sp>
      <p:sp>
        <p:nvSpPr>
          <p:cNvPr id="585" name="Google Shape;585;p14"/>
          <p:cNvSpPr/>
          <p:nvPr/>
        </p:nvSpPr>
        <p:spPr>
          <a:xfrm>
            <a:off x="822960" y="3419856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4"/>
          <p:cNvSpPr/>
          <p:nvPr/>
        </p:nvSpPr>
        <p:spPr>
          <a:xfrm>
            <a:off x="1005840" y="3602736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4"/>
          <p:cNvSpPr txBox="1"/>
          <p:nvPr/>
        </p:nvSpPr>
        <p:spPr>
          <a:xfrm>
            <a:off x="1005840" y="360273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4</a:t>
            </a:r>
            <a:endParaRPr/>
          </a:p>
        </p:txBody>
      </p:sp>
      <p:sp>
        <p:nvSpPr>
          <p:cNvPr id="588" name="Google Shape;588;p14"/>
          <p:cNvSpPr txBox="1"/>
          <p:nvPr/>
        </p:nvSpPr>
        <p:spPr>
          <a:xfrm>
            <a:off x="1481328" y="3602736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B2B / 雇主</a:t>
            </a:r>
            <a:endParaRPr/>
          </a:p>
        </p:txBody>
      </p:sp>
      <p:sp>
        <p:nvSpPr>
          <p:cNvPr id="589" name="Google Shape;589;p14"/>
          <p:cNvSpPr txBox="1"/>
          <p:nvPr/>
        </p:nvSpPr>
        <p:spPr>
          <a:xfrm>
            <a:off x="1005840" y="4078224"/>
            <a:ext cx="30175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人才获取、雇主品牌、招聘活动与职位推广。</a:t>
            </a:r>
            <a:endParaRPr/>
          </a:p>
        </p:txBody>
      </p:sp>
      <p:sp>
        <p:nvSpPr>
          <p:cNvPr id="590" name="Google Shape;590;p14"/>
          <p:cNvSpPr/>
          <p:nvPr/>
        </p:nvSpPr>
        <p:spPr>
          <a:xfrm>
            <a:off x="4398264" y="3419856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4"/>
          <p:cNvSpPr/>
          <p:nvPr/>
        </p:nvSpPr>
        <p:spPr>
          <a:xfrm>
            <a:off x="4581144" y="3602736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4"/>
          <p:cNvSpPr txBox="1"/>
          <p:nvPr/>
        </p:nvSpPr>
        <p:spPr>
          <a:xfrm>
            <a:off x="4581144" y="360273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5</a:t>
            </a:r>
            <a:endParaRPr/>
          </a:p>
        </p:txBody>
      </p:sp>
      <p:sp>
        <p:nvSpPr>
          <p:cNvPr id="593" name="Google Shape;593;p14"/>
          <p:cNvSpPr txBox="1"/>
          <p:nvPr/>
        </p:nvSpPr>
        <p:spPr>
          <a:xfrm>
            <a:off x="5056632" y="3602736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广告</a:t>
            </a:r>
            <a:endParaRPr/>
          </a:p>
        </p:txBody>
      </p:sp>
      <p:sp>
        <p:nvSpPr>
          <p:cNvPr id="594" name="Google Shape;594;p14"/>
          <p:cNvSpPr txBox="1"/>
          <p:nvPr/>
        </p:nvSpPr>
        <p:spPr>
          <a:xfrm>
            <a:off x="4581144" y="4078224"/>
            <a:ext cx="30175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流量放大后：相关品牌触达精准职业受众。</a:t>
            </a: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7973568" y="3419856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8156448" y="3602736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4"/>
          <p:cNvSpPr txBox="1"/>
          <p:nvPr/>
        </p:nvSpPr>
        <p:spPr>
          <a:xfrm>
            <a:off x="8156448" y="360273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6</a:t>
            </a:r>
            <a:endParaRPr/>
          </a:p>
        </p:txBody>
      </p:sp>
      <p:sp>
        <p:nvSpPr>
          <p:cNvPr id="598" name="Google Shape;598;p14"/>
          <p:cNvSpPr txBox="1"/>
          <p:nvPr/>
        </p:nvSpPr>
        <p:spPr>
          <a:xfrm>
            <a:off x="8631936" y="3602736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赞助</a:t>
            </a:r>
            <a:endParaRPr/>
          </a:p>
        </p:txBody>
      </p:sp>
      <p:sp>
        <p:nvSpPr>
          <p:cNvPr id="599" name="Google Shape;599;p14"/>
          <p:cNvSpPr txBox="1"/>
          <p:nvPr/>
        </p:nvSpPr>
        <p:spPr>
          <a:xfrm>
            <a:off x="8156448" y="4078224"/>
            <a:ext cx="30175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招聘会、会议、招聘活动与 AI 职业活动。</a:t>
            </a:r>
            <a:endParaRPr/>
          </a:p>
        </p:txBody>
      </p:sp>
      <p:sp>
        <p:nvSpPr>
          <p:cNvPr id="600" name="Google Shape;600;p14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4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模式</a:t>
            </a:r>
            <a:endParaRPr/>
          </a:p>
        </p:txBody>
      </p:sp>
      <p:sp>
        <p:nvSpPr>
          <p:cNvPr id="602" name="Google Shape;602;p14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在同一份职业画像上叠加 AI + 服务 + 佣金 + B2B + 广告 + 赞助。</a:t>
            </a:r>
            <a:endParaRPr/>
          </a:p>
        </p:txBody>
      </p:sp>
      <p:pic>
        <p:nvPicPr>
          <p:cNvPr descr="51careers_logo_dark.png" id="603" name="Google Shape;6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4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605" name="Google Shape;605;p14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5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飞轮</a:t>
            </a:r>
            <a:endParaRPr/>
          </a:p>
        </p:txBody>
      </p:sp>
      <p:sp>
        <p:nvSpPr>
          <p:cNvPr id="611" name="Google Shape;611;p15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一个用户，多条收入路径</a:t>
            </a:r>
            <a:endParaRPr/>
          </a:p>
        </p:txBody>
      </p:sp>
      <p:sp>
        <p:nvSpPr>
          <p:cNvPr id="612" name="Google Shape;612;p15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免费 AI 简历是漏斗顶端。目标是终身价值。</a:t>
            </a:r>
            <a:endParaRPr/>
          </a:p>
        </p:txBody>
      </p:sp>
      <p:sp>
        <p:nvSpPr>
          <p:cNvPr id="613" name="Google Shape;613;p15"/>
          <p:cNvSpPr/>
          <p:nvPr/>
        </p:nvSpPr>
        <p:spPr>
          <a:xfrm>
            <a:off x="822960" y="129844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5"/>
          <p:cNvSpPr txBox="1"/>
          <p:nvPr/>
        </p:nvSpPr>
        <p:spPr>
          <a:xfrm>
            <a:off x="950976" y="1463040"/>
            <a:ext cx="1764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01</a:t>
            </a:r>
            <a:endParaRPr/>
          </a:p>
        </p:txBody>
      </p:sp>
      <p:sp>
        <p:nvSpPr>
          <p:cNvPr id="615" name="Google Shape;615;p15"/>
          <p:cNvSpPr txBox="1"/>
          <p:nvPr/>
        </p:nvSpPr>
        <p:spPr>
          <a:xfrm>
            <a:off x="950976" y="1792224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免费 AI 简历</a:t>
            </a:r>
            <a:endParaRPr/>
          </a:p>
        </p:txBody>
      </p:sp>
      <p:sp>
        <p:nvSpPr>
          <p:cNvPr id="616" name="Google Shape;616;p15"/>
          <p:cNvSpPr txBox="1"/>
          <p:nvPr/>
        </p:nvSpPr>
        <p:spPr>
          <a:xfrm>
            <a:off x="950976" y="2596896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漏斗顶端</a:t>
            </a:r>
            <a:endParaRPr/>
          </a:p>
        </p:txBody>
      </p:sp>
      <p:sp>
        <p:nvSpPr>
          <p:cNvPr id="617" name="Google Shape;617;p15"/>
          <p:cNvSpPr/>
          <p:nvPr/>
        </p:nvSpPr>
        <p:spPr>
          <a:xfrm>
            <a:off x="2953512" y="129844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5"/>
          <p:cNvSpPr txBox="1"/>
          <p:nvPr/>
        </p:nvSpPr>
        <p:spPr>
          <a:xfrm>
            <a:off x="3081528" y="1463040"/>
            <a:ext cx="1764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02</a:t>
            </a:r>
            <a:endParaRPr/>
          </a:p>
        </p:txBody>
      </p:sp>
      <p:sp>
        <p:nvSpPr>
          <p:cNvPr id="619" name="Google Shape;619;p15"/>
          <p:cNvSpPr txBox="1"/>
          <p:nvPr/>
        </p:nvSpPr>
        <p:spPr>
          <a:xfrm>
            <a:off x="3081528" y="1792224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获客</a:t>
            </a:r>
            <a:endParaRPr/>
          </a:p>
        </p:txBody>
      </p:sp>
      <p:sp>
        <p:nvSpPr>
          <p:cNvPr id="620" name="Google Shape;620;p15"/>
          <p:cNvSpPr txBox="1"/>
          <p:nvPr/>
        </p:nvSpPr>
        <p:spPr>
          <a:xfrm>
            <a:off x="3081528" y="2596896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付费与自然</a:t>
            </a:r>
            <a:endParaRPr/>
          </a:p>
        </p:txBody>
      </p:sp>
      <p:sp>
        <p:nvSpPr>
          <p:cNvPr id="621" name="Google Shape;621;p15"/>
          <p:cNvSpPr/>
          <p:nvPr/>
        </p:nvSpPr>
        <p:spPr>
          <a:xfrm>
            <a:off x="5084064" y="129844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5"/>
          <p:cNvSpPr txBox="1"/>
          <p:nvPr/>
        </p:nvSpPr>
        <p:spPr>
          <a:xfrm>
            <a:off x="5212080" y="1463040"/>
            <a:ext cx="1764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03</a:t>
            </a:r>
            <a:endParaRPr/>
          </a:p>
        </p:txBody>
      </p:sp>
      <p:sp>
        <p:nvSpPr>
          <p:cNvPr id="623" name="Google Shape;623;p15"/>
          <p:cNvSpPr txBox="1"/>
          <p:nvPr/>
        </p:nvSpPr>
        <p:spPr>
          <a:xfrm>
            <a:off x="5212080" y="1792224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职业画像</a:t>
            </a:r>
            <a:endParaRPr/>
          </a:p>
        </p:txBody>
      </p:sp>
      <p:sp>
        <p:nvSpPr>
          <p:cNvPr id="624" name="Google Shape;624;p15"/>
          <p:cNvSpPr txBox="1"/>
          <p:nvPr/>
        </p:nvSpPr>
        <p:spPr>
          <a:xfrm>
            <a:off x="5212080" y="2596896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持续沉淀的记录</a:t>
            </a:r>
            <a:endParaRPr/>
          </a:p>
        </p:txBody>
      </p:sp>
      <p:sp>
        <p:nvSpPr>
          <p:cNvPr id="625" name="Google Shape;625;p15"/>
          <p:cNvSpPr/>
          <p:nvPr/>
        </p:nvSpPr>
        <p:spPr>
          <a:xfrm>
            <a:off x="7214616" y="129844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5"/>
          <p:cNvSpPr txBox="1"/>
          <p:nvPr/>
        </p:nvSpPr>
        <p:spPr>
          <a:xfrm>
            <a:off x="7342632" y="1463040"/>
            <a:ext cx="1764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04</a:t>
            </a:r>
            <a:endParaRPr/>
          </a:p>
        </p:txBody>
      </p:sp>
      <p:sp>
        <p:nvSpPr>
          <p:cNvPr id="627" name="Google Shape;627;p15"/>
          <p:cNvSpPr txBox="1"/>
          <p:nvPr/>
        </p:nvSpPr>
        <p:spPr>
          <a:xfrm>
            <a:off x="7342632" y="1792224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AI 职业工具</a:t>
            </a:r>
            <a:endParaRPr/>
          </a:p>
        </p:txBody>
      </p:sp>
      <p:sp>
        <p:nvSpPr>
          <p:cNvPr id="628" name="Google Shape;628;p15"/>
          <p:cNvSpPr txBox="1"/>
          <p:nvPr/>
        </p:nvSpPr>
        <p:spPr>
          <a:xfrm>
            <a:off x="7342632" y="2596896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重复使用</a:t>
            </a:r>
            <a:endParaRPr/>
          </a:p>
        </p:txBody>
      </p:sp>
      <p:sp>
        <p:nvSpPr>
          <p:cNvPr id="629" name="Google Shape;629;p15"/>
          <p:cNvSpPr/>
          <p:nvPr/>
        </p:nvSpPr>
        <p:spPr>
          <a:xfrm>
            <a:off x="9345168" y="129844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5"/>
          <p:cNvSpPr txBox="1"/>
          <p:nvPr/>
        </p:nvSpPr>
        <p:spPr>
          <a:xfrm>
            <a:off x="9473184" y="1463040"/>
            <a:ext cx="1764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05</a:t>
            </a:r>
            <a:endParaRPr/>
          </a:p>
        </p:txBody>
      </p:sp>
      <p:sp>
        <p:nvSpPr>
          <p:cNvPr id="631" name="Google Shape;631;p15"/>
          <p:cNvSpPr txBox="1"/>
          <p:nvPr/>
        </p:nvSpPr>
        <p:spPr>
          <a:xfrm>
            <a:off x="9473184" y="1792224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高级版</a:t>
            </a:r>
            <a:endParaRPr/>
          </a:p>
        </p:txBody>
      </p:sp>
      <p:sp>
        <p:nvSpPr>
          <p:cNvPr id="632" name="Google Shape;632;p15"/>
          <p:cNvSpPr txBox="1"/>
          <p:nvPr/>
        </p:nvSpPr>
        <p:spPr>
          <a:xfrm>
            <a:off x="9473184" y="2596896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付费转化</a:t>
            </a:r>
            <a:endParaRPr/>
          </a:p>
        </p:txBody>
      </p:sp>
      <p:sp>
        <p:nvSpPr>
          <p:cNvPr id="633" name="Google Shape;633;p15"/>
          <p:cNvSpPr/>
          <p:nvPr/>
        </p:nvSpPr>
        <p:spPr>
          <a:xfrm>
            <a:off x="822960" y="340156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5"/>
          <p:cNvSpPr txBox="1"/>
          <p:nvPr/>
        </p:nvSpPr>
        <p:spPr>
          <a:xfrm>
            <a:off x="950976" y="3566160"/>
            <a:ext cx="1764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06</a:t>
            </a:r>
            <a:endParaRPr/>
          </a:p>
        </p:txBody>
      </p:sp>
      <p:sp>
        <p:nvSpPr>
          <p:cNvPr id="635" name="Google Shape;635;p15"/>
          <p:cNvSpPr txBox="1"/>
          <p:nvPr/>
        </p:nvSpPr>
        <p:spPr>
          <a:xfrm>
            <a:off x="950976" y="3895344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服务</a:t>
            </a:r>
            <a:endParaRPr/>
          </a:p>
        </p:txBody>
      </p:sp>
      <p:sp>
        <p:nvSpPr>
          <p:cNvPr id="636" name="Google Shape;636;p15"/>
          <p:cNvSpPr txBox="1"/>
          <p:nvPr/>
        </p:nvSpPr>
        <p:spPr>
          <a:xfrm>
            <a:off x="950976" y="4700016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人工服务附加</a:t>
            </a:r>
            <a:endParaRPr/>
          </a:p>
        </p:txBody>
      </p:sp>
      <p:sp>
        <p:nvSpPr>
          <p:cNvPr id="637" name="Google Shape;637;p15"/>
          <p:cNvSpPr/>
          <p:nvPr/>
        </p:nvSpPr>
        <p:spPr>
          <a:xfrm>
            <a:off x="2953512" y="340156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5"/>
          <p:cNvSpPr txBox="1"/>
          <p:nvPr/>
        </p:nvSpPr>
        <p:spPr>
          <a:xfrm>
            <a:off x="3081528" y="3566160"/>
            <a:ext cx="1764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07</a:t>
            </a:r>
            <a:endParaRPr/>
          </a:p>
        </p:txBody>
      </p:sp>
      <p:sp>
        <p:nvSpPr>
          <p:cNvPr id="639" name="Google Shape;639;p15"/>
          <p:cNvSpPr txBox="1"/>
          <p:nvPr/>
        </p:nvSpPr>
        <p:spPr>
          <a:xfrm>
            <a:off x="3081528" y="3895344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匹配</a:t>
            </a:r>
            <a:endParaRPr/>
          </a:p>
        </p:txBody>
      </p:sp>
      <p:sp>
        <p:nvSpPr>
          <p:cNvPr id="640" name="Google Shape;640;p15"/>
          <p:cNvSpPr txBox="1"/>
          <p:nvPr/>
        </p:nvSpPr>
        <p:spPr>
          <a:xfrm>
            <a:off x="3081528" y="4700016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岗位匹配</a:t>
            </a:r>
            <a:endParaRPr/>
          </a:p>
        </p:txBody>
      </p:sp>
      <p:sp>
        <p:nvSpPr>
          <p:cNvPr id="641" name="Google Shape;641;p15"/>
          <p:cNvSpPr/>
          <p:nvPr/>
        </p:nvSpPr>
        <p:spPr>
          <a:xfrm>
            <a:off x="5084064" y="340156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5"/>
          <p:cNvSpPr txBox="1"/>
          <p:nvPr/>
        </p:nvSpPr>
        <p:spPr>
          <a:xfrm>
            <a:off x="5212080" y="3566160"/>
            <a:ext cx="1764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08</a:t>
            </a:r>
            <a:endParaRPr/>
          </a:p>
        </p:txBody>
      </p:sp>
      <p:sp>
        <p:nvSpPr>
          <p:cNvPr id="643" name="Google Shape;643;p15"/>
          <p:cNvSpPr txBox="1"/>
          <p:nvPr/>
        </p:nvSpPr>
        <p:spPr>
          <a:xfrm>
            <a:off x="5212080" y="3895344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转介分成</a:t>
            </a:r>
            <a:endParaRPr/>
          </a:p>
        </p:txBody>
      </p:sp>
      <p:sp>
        <p:nvSpPr>
          <p:cNvPr id="644" name="Google Shape;644;p15"/>
          <p:cNvSpPr txBox="1"/>
          <p:nvPr/>
        </p:nvSpPr>
        <p:spPr>
          <a:xfrm>
            <a:off x="5212080" y="4700016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合作伙伴抽成</a:t>
            </a:r>
            <a:endParaRPr/>
          </a:p>
        </p:txBody>
      </p:sp>
      <p:sp>
        <p:nvSpPr>
          <p:cNvPr id="645" name="Google Shape;645;p15"/>
          <p:cNvSpPr/>
          <p:nvPr/>
        </p:nvSpPr>
        <p:spPr>
          <a:xfrm>
            <a:off x="7214616" y="340156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5"/>
          <p:cNvSpPr txBox="1"/>
          <p:nvPr/>
        </p:nvSpPr>
        <p:spPr>
          <a:xfrm>
            <a:off x="7342632" y="3566160"/>
            <a:ext cx="1764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09</a:t>
            </a:r>
            <a:endParaRPr/>
          </a:p>
        </p:txBody>
      </p:sp>
      <p:sp>
        <p:nvSpPr>
          <p:cNvPr id="647" name="Google Shape;647;p15"/>
          <p:cNvSpPr txBox="1"/>
          <p:nvPr/>
        </p:nvSpPr>
        <p:spPr>
          <a:xfrm>
            <a:off x="7342632" y="3895344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广告</a:t>
            </a:r>
            <a:endParaRPr/>
          </a:p>
        </p:txBody>
      </p:sp>
      <p:sp>
        <p:nvSpPr>
          <p:cNvPr id="648" name="Google Shape;648;p15"/>
          <p:cNvSpPr txBox="1"/>
          <p:nvPr/>
        </p:nvSpPr>
        <p:spPr>
          <a:xfrm>
            <a:off x="7342632" y="4700016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受众规模</a:t>
            </a:r>
            <a:endParaRPr/>
          </a:p>
        </p:txBody>
      </p:sp>
      <p:sp>
        <p:nvSpPr>
          <p:cNvPr id="649" name="Google Shape;649;p15"/>
          <p:cNvSpPr/>
          <p:nvPr/>
        </p:nvSpPr>
        <p:spPr>
          <a:xfrm>
            <a:off x="9345168" y="340156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5"/>
          <p:cNvSpPr txBox="1"/>
          <p:nvPr/>
        </p:nvSpPr>
        <p:spPr>
          <a:xfrm>
            <a:off x="9473184" y="3566160"/>
            <a:ext cx="1764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10</a:t>
            </a:r>
            <a:endParaRPr/>
          </a:p>
        </p:txBody>
      </p:sp>
      <p:sp>
        <p:nvSpPr>
          <p:cNvPr id="651" name="Google Shape;651;p15"/>
          <p:cNvSpPr txBox="1"/>
          <p:nvPr/>
        </p:nvSpPr>
        <p:spPr>
          <a:xfrm>
            <a:off x="9473184" y="3895344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雇主</a:t>
            </a:r>
            <a:endParaRPr/>
          </a:p>
        </p:txBody>
      </p:sp>
      <p:sp>
        <p:nvSpPr>
          <p:cNvPr id="652" name="Google Shape;652;p15"/>
          <p:cNvSpPr txBox="1"/>
          <p:nvPr/>
        </p:nvSpPr>
        <p:spPr>
          <a:xfrm>
            <a:off x="9473184" y="4700016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B2B 需求</a:t>
            </a:r>
            <a:endParaRPr/>
          </a:p>
        </p:txBody>
      </p:sp>
      <p:sp>
        <p:nvSpPr>
          <p:cNvPr id="653" name="Google Shape;653;p15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5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因此</a:t>
            </a:r>
            <a:endParaRPr/>
          </a:p>
        </p:txBody>
      </p:sp>
      <p:sp>
        <p:nvSpPr>
          <p:cNvPr id="655" name="Google Shape;655;p15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收入不限于首次 AI 简历交易。以终身价值为目标优化。</a:t>
            </a:r>
            <a:endParaRPr/>
          </a:p>
        </p:txBody>
      </p:sp>
      <p:pic>
        <p:nvPicPr>
          <p:cNvPr descr="51careers_logo_dark.png" id="656" name="Google Shape;65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15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658" name="Google Shape;658;p15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6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用户获取</a:t>
            </a:r>
            <a:endParaRPr/>
          </a:p>
        </p:txBody>
      </p:sp>
      <p:sp>
        <p:nvSpPr>
          <p:cNvPr id="664" name="Google Shape;664;p16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数字化  +  线下  +  自然增长</a:t>
            </a:r>
            <a:endParaRPr/>
          </a:p>
        </p:txBody>
      </p:sp>
      <p:sp>
        <p:nvSpPr>
          <p:cNvPr id="665" name="Google Shape;665;p16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免费 AI 产品是低摩擦、可全球分发的漏斗顶端。</a:t>
            </a:r>
            <a:endParaRPr/>
          </a:p>
        </p:txBody>
      </p:sp>
      <p:sp>
        <p:nvSpPr>
          <p:cNvPr id="666" name="Google Shape;666;p16"/>
          <p:cNvSpPr/>
          <p:nvPr/>
        </p:nvSpPr>
        <p:spPr>
          <a:xfrm>
            <a:off x="822960" y="1298448"/>
            <a:ext cx="3392424" cy="42245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6"/>
          <p:cNvSpPr txBox="1"/>
          <p:nvPr/>
        </p:nvSpPr>
        <p:spPr>
          <a:xfrm>
            <a:off x="1024128" y="1408176"/>
            <a:ext cx="29900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8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数字化</a:t>
            </a:r>
            <a:endParaRPr/>
          </a:p>
        </p:txBody>
      </p:sp>
      <p:sp>
        <p:nvSpPr>
          <p:cNvPr id="668" name="Google Shape;668;p16"/>
          <p:cNvSpPr txBox="1"/>
          <p:nvPr/>
        </p:nvSpPr>
        <p:spPr>
          <a:xfrm>
            <a:off x="1024128" y="1792224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Google</a:t>
            </a:r>
            <a:endParaRPr/>
          </a:p>
        </p:txBody>
      </p:sp>
      <p:sp>
        <p:nvSpPr>
          <p:cNvPr id="669" name="Google Shape;669;p16"/>
          <p:cNvSpPr txBox="1"/>
          <p:nvPr/>
        </p:nvSpPr>
        <p:spPr>
          <a:xfrm>
            <a:off x="1024128" y="2304288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Meta</a:t>
            </a:r>
            <a:endParaRPr/>
          </a:p>
        </p:txBody>
      </p:sp>
      <p:sp>
        <p:nvSpPr>
          <p:cNvPr id="670" name="Google Shape;670;p16"/>
          <p:cNvSpPr txBox="1"/>
          <p:nvPr/>
        </p:nvSpPr>
        <p:spPr>
          <a:xfrm>
            <a:off x="1024128" y="2816352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TikTok</a:t>
            </a:r>
            <a:endParaRPr/>
          </a:p>
        </p:txBody>
      </p:sp>
      <p:sp>
        <p:nvSpPr>
          <p:cNvPr id="671" name="Google Shape;671;p16"/>
          <p:cNvSpPr txBox="1"/>
          <p:nvPr/>
        </p:nvSpPr>
        <p:spPr>
          <a:xfrm>
            <a:off x="1024128" y="3328416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YouTube</a:t>
            </a:r>
            <a:endParaRPr/>
          </a:p>
        </p:txBody>
      </p:sp>
      <p:sp>
        <p:nvSpPr>
          <p:cNvPr id="672" name="Google Shape;672;p16"/>
          <p:cNvSpPr txBox="1"/>
          <p:nvPr/>
        </p:nvSpPr>
        <p:spPr>
          <a:xfrm>
            <a:off x="1024128" y="3840480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LinkedIn</a:t>
            </a:r>
            <a:endParaRPr/>
          </a:p>
        </p:txBody>
      </p:sp>
      <p:sp>
        <p:nvSpPr>
          <p:cNvPr id="673" name="Google Shape;673;p16"/>
          <p:cNvSpPr txBox="1"/>
          <p:nvPr/>
        </p:nvSpPr>
        <p:spPr>
          <a:xfrm>
            <a:off x="1024128" y="4352544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搜索 / 社交</a:t>
            </a:r>
            <a:endParaRPr/>
          </a:p>
        </p:txBody>
      </p:sp>
      <p:sp>
        <p:nvSpPr>
          <p:cNvPr id="674" name="Google Shape;674;p16"/>
          <p:cNvSpPr txBox="1"/>
          <p:nvPr/>
        </p:nvSpPr>
        <p:spPr>
          <a:xfrm>
            <a:off x="1024128" y="4864608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内容营销</a:t>
            </a:r>
            <a:endParaRPr/>
          </a:p>
        </p:txBody>
      </p:sp>
      <p:sp>
        <p:nvSpPr>
          <p:cNvPr id="675" name="Google Shape;675;p16"/>
          <p:cNvSpPr/>
          <p:nvPr/>
        </p:nvSpPr>
        <p:spPr>
          <a:xfrm>
            <a:off x="4398264" y="1298448"/>
            <a:ext cx="3392424" cy="42245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6"/>
          <p:cNvSpPr txBox="1"/>
          <p:nvPr/>
        </p:nvSpPr>
        <p:spPr>
          <a:xfrm>
            <a:off x="4599432" y="1408176"/>
            <a:ext cx="29900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8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自然增长</a:t>
            </a:r>
            <a:endParaRPr/>
          </a:p>
        </p:txBody>
      </p:sp>
      <p:sp>
        <p:nvSpPr>
          <p:cNvPr id="677" name="Google Shape;677;p16"/>
          <p:cNvSpPr txBox="1"/>
          <p:nvPr/>
        </p:nvSpPr>
        <p:spPr>
          <a:xfrm>
            <a:off x="4599432" y="1792224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SEO</a:t>
            </a:r>
            <a:endParaRPr/>
          </a:p>
        </p:txBody>
      </p:sp>
      <p:sp>
        <p:nvSpPr>
          <p:cNvPr id="678" name="Google Shape;678;p16"/>
          <p:cNvSpPr txBox="1"/>
          <p:nvPr/>
        </p:nvSpPr>
        <p:spPr>
          <a:xfrm>
            <a:off x="4599432" y="2304288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AI 搜索优化</a:t>
            </a:r>
            <a:endParaRPr/>
          </a:p>
        </p:txBody>
      </p:sp>
      <p:sp>
        <p:nvSpPr>
          <p:cNvPr id="679" name="Google Shape;679;p16"/>
          <p:cNvSpPr txBox="1"/>
          <p:nvPr/>
        </p:nvSpPr>
        <p:spPr>
          <a:xfrm>
            <a:off x="4599432" y="2816352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职业内容</a:t>
            </a:r>
            <a:endParaRPr/>
          </a:p>
        </p:txBody>
      </p:sp>
      <p:sp>
        <p:nvSpPr>
          <p:cNvPr id="680" name="Google Shape;680;p16"/>
          <p:cNvSpPr txBox="1"/>
          <p:nvPr/>
        </p:nvSpPr>
        <p:spPr>
          <a:xfrm>
            <a:off x="4599432" y="3328416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教育内容</a:t>
            </a:r>
            <a:endParaRPr/>
          </a:p>
        </p:txBody>
      </p:sp>
      <p:sp>
        <p:nvSpPr>
          <p:cNvPr id="681" name="Google Shape;681;p16"/>
          <p:cNvSpPr txBox="1"/>
          <p:nvPr/>
        </p:nvSpPr>
        <p:spPr>
          <a:xfrm>
            <a:off x="4599432" y="3840480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推荐计划</a:t>
            </a:r>
            <a:endParaRPr/>
          </a:p>
        </p:txBody>
      </p:sp>
      <p:sp>
        <p:nvSpPr>
          <p:cNvPr id="682" name="Google Shape;682;p16"/>
          <p:cNvSpPr txBox="1"/>
          <p:nvPr/>
        </p:nvSpPr>
        <p:spPr>
          <a:xfrm>
            <a:off x="4599432" y="4352544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联盟合作伙伴</a:t>
            </a:r>
            <a:endParaRPr/>
          </a:p>
        </p:txBody>
      </p:sp>
      <p:sp>
        <p:nvSpPr>
          <p:cNvPr id="683" name="Google Shape;683;p16"/>
          <p:cNvSpPr txBox="1"/>
          <p:nvPr/>
        </p:nvSpPr>
        <p:spPr>
          <a:xfrm>
            <a:off x="4599432" y="4864608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社区</a:t>
            </a:r>
            <a:endParaRPr/>
          </a:p>
        </p:txBody>
      </p:sp>
      <p:sp>
        <p:nvSpPr>
          <p:cNvPr id="684" name="Google Shape;684;p16"/>
          <p:cNvSpPr/>
          <p:nvPr/>
        </p:nvSpPr>
        <p:spPr>
          <a:xfrm>
            <a:off x="7973568" y="1298448"/>
            <a:ext cx="3392424" cy="42245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6"/>
          <p:cNvSpPr txBox="1"/>
          <p:nvPr/>
        </p:nvSpPr>
        <p:spPr>
          <a:xfrm>
            <a:off x="8174736" y="1408176"/>
            <a:ext cx="29900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8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线下</a:t>
            </a:r>
            <a:endParaRPr/>
          </a:p>
        </p:txBody>
      </p:sp>
      <p:sp>
        <p:nvSpPr>
          <p:cNvPr id="686" name="Google Shape;686;p16"/>
          <p:cNvSpPr txBox="1"/>
          <p:nvPr/>
        </p:nvSpPr>
        <p:spPr>
          <a:xfrm>
            <a:off x="8174736" y="1792224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高校</a:t>
            </a:r>
            <a:endParaRPr/>
          </a:p>
        </p:txBody>
      </p:sp>
      <p:sp>
        <p:nvSpPr>
          <p:cNvPr id="687" name="Google Shape;687;p16"/>
          <p:cNvSpPr txBox="1"/>
          <p:nvPr/>
        </p:nvSpPr>
        <p:spPr>
          <a:xfrm>
            <a:off x="8174736" y="2304288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招聘会</a:t>
            </a:r>
            <a:endParaRPr/>
          </a:p>
        </p:txBody>
      </p:sp>
      <p:sp>
        <p:nvSpPr>
          <p:cNvPr id="688" name="Google Shape;688;p16"/>
          <p:cNvSpPr txBox="1"/>
          <p:nvPr/>
        </p:nvSpPr>
        <p:spPr>
          <a:xfrm>
            <a:off x="8174736" y="2816352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学生组织</a:t>
            </a:r>
            <a:endParaRPr/>
          </a:p>
        </p:txBody>
      </p:sp>
      <p:sp>
        <p:nvSpPr>
          <p:cNvPr id="689" name="Google Shape;689;p16"/>
          <p:cNvSpPr txBox="1"/>
          <p:nvPr/>
        </p:nvSpPr>
        <p:spPr>
          <a:xfrm>
            <a:off x="8174736" y="3328416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专业组织</a:t>
            </a:r>
            <a:endParaRPr/>
          </a:p>
        </p:txBody>
      </p:sp>
      <p:sp>
        <p:nvSpPr>
          <p:cNvPr id="690" name="Google Shape;690;p16"/>
          <p:cNvSpPr txBox="1"/>
          <p:nvPr/>
        </p:nvSpPr>
        <p:spPr>
          <a:xfrm>
            <a:off x="8174736" y="3840480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社区活动</a:t>
            </a:r>
            <a:endParaRPr/>
          </a:p>
        </p:txBody>
      </p:sp>
      <p:sp>
        <p:nvSpPr>
          <p:cNvPr id="691" name="Google Shape;691;p16"/>
          <p:cNvSpPr txBox="1"/>
          <p:nvPr/>
        </p:nvSpPr>
        <p:spPr>
          <a:xfrm>
            <a:off x="8174736" y="4352544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雇主活动</a:t>
            </a:r>
            <a:endParaRPr/>
          </a:p>
        </p:txBody>
      </p:sp>
      <p:sp>
        <p:nvSpPr>
          <p:cNvPr id="692" name="Google Shape;692;p16"/>
          <p:cNvSpPr txBox="1"/>
          <p:nvPr/>
        </p:nvSpPr>
        <p:spPr>
          <a:xfrm>
            <a:off x="8174736" y="4864608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校园大使</a:t>
            </a:r>
            <a:endParaRPr/>
          </a:p>
        </p:txBody>
      </p:sp>
      <p:sp>
        <p:nvSpPr>
          <p:cNvPr id="693" name="Google Shape;693;p16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6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核心增长策略</a:t>
            </a:r>
            <a:endParaRPr/>
          </a:p>
        </p:txBody>
      </p:sp>
      <p:sp>
        <p:nvSpPr>
          <p:cNvPr id="695" name="Google Shape;695;p16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免费 AI 产品  →  获客  →  注册  →  活跃  →  变现</a:t>
            </a:r>
            <a:endParaRPr/>
          </a:p>
        </p:txBody>
      </p:sp>
      <p:pic>
        <p:nvPicPr>
          <p:cNvPr descr="51careers_logo_dark.png" id="696" name="Google Shape;69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16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698" name="Google Shape;698;p16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7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地理布局</a:t>
            </a:r>
            <a:endParaRPr/>
          </a:p>
        </p:txBody>
      </p:sp>
      <p:sp>
        <p:nvSpPr>
          <p:cNvPr id="704" name="Google Shape;704;p17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中国研发 · 美国商业化</a:t>
            </a:r>
            <a:endParaRPr/>
          </a:p>
        </p:txBody>
      </p:sp>
      <p:sp>
        <p:nvSpPr>
          <p:cNvPr id="705" name="Google Shape;705;p17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在中国构建。在美国商业化。从产品市场契合走向全球扩张。</a:t>
            </a:r>
            <a:endParaRPr/>
          </a:p>
        </p:txBody>
      </p:sp>
      <p:sp>
        <p:nvSpPr>
          <p:cNvPr id="706" name="Google Shape;706;p17"/>
          <p:cNvSpPr/>
          <p:nvPr/>
        </p:nvSpPr>
        <p:spPr>
          <a:xfrm>
            <a:off x="822960" y="1298448"/>
            <a:ext cx="10543032" cy="13472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7"/>
          <p:cNvSpPr/>
          <p:nvPr/>
        </p:nvSpPr>
        <p:spPr>
          <a:xfrm>
            <a:off x="1024128" y="1798319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7"/>
          <p:cNvSpPr txBox="1"/>
          <p:nvPr/>
        </p:nvSpPr>
        <p:spPr>
          <a:xfrm>
            <a:off x="1024128" y="1798319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709" name="Google Shape;709;p17"/>
          <p:cNvSpPr txBox="1"/>
          <p:nvPr/>
        </p:nvSpPr>
        <p:spPr>
          <a:xfrm>
            <a:off x="1554480" y="1444752"/>
            <a:ext cx="9509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8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中国  ·  研发与产品</a:t>
            </a:r>
            <a:endParaRPr/>
          </a:p>
        </p:txBody>
      </p:sp>
      <p:sp>
        <p:nvSpPr>
          <p:cNvPr id="710" name="Google Shape;710;p17"/>
          <p:cNvSpPr txBox="1"/>
          <p:nvPr/>
        </p:nvSpPr>
        <p:spPr>
          <a:xfrm>
            <a:off x="1554480" y="1810512"/>
            <a:ext cx="9509760" cy="707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产品、设计、工程、AI、测试、营销运营与 B2B 商务拓展——高性价比的构建基地。</a:t>
            </a:r>
            <a:endParaRPr/>
          </a:p>
        </p:txBody>
      </p:sp>
      <p:sp>
        <p:nvSpPr>
          <p:cNvPr id="711" name="Google Shape;711;p17"/>
          <p:cNvSpPr/>
          <p:nvPr/>
        </p:nvSpPr>
        <p:spPr>
          <a:xfrm>
            <a:off x="822960" y="2737104"/>
            <a:ext cx="10543032" cy="13472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7"/>
          <p:cNvSpPr/>
          <p:nvPr/>
        </p:nvSpPr>
        <p:spPr>
          <a:xfrm>
            <a:off x="1024128" y="3236975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7"/>
          <p:cNvSpPr txBox="1"/>
          <p:nvPr/>
        </p:nvSpPr>
        <p:spPr>
          <a:xfrm>
            <a:off x="1024128" y="3236975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2</a:t>
            </a:r>
            <a:endParaRPr/>
          </a:p>
        </p:txBody>
      </p:sp>
      <p:sp>
        <p:nvSpPr>
          <p:cNvPr id="714" name="Google Shape;714;p17"/>
          <p:cNvSpPr txBox="1"/>
          <p:nvPr/>
        </p:nvSpPr>
        <p:spPr>
          <a:xfrm>
            <a:off x="1554480" y="2883408"/>
            <a:ext cx="9509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8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美国  ·  国际GTM</a:t>
            </a:r>
            <a:endParaRPr/>
          </a:p>
        </p:txBody>
      </p:sp>
      <p:sp>
        <p:nvSpPr>
          <p:cNvPr id="715" name="Google Shape;715;p17"/>
          <p:cNvSpPr txBox="1"/>
          <p:nvPr/>
        </p:nvSpPr>
        <p:spPr>
          <a:xfrm>
            <a:off x="1554480" y="3249168"/>
            <a:ext cx="9509760" cy="707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用户获取、本地合作、雇主与高校关系、线下活动与品牌建设——首个增长市场。</a:t>
            </a:r>
            <a:endParaRPr/>
          </a:p>
        </p:txBody>
      </p:sp>
      <p:sp>
        <p:nvSpPr>
          <p:cNvPr id="716" name="Google Shape;716;p17"/>
          <p:cNvSpPr/>
          <p:nvPr/>
        </p:nvSpPr>
        <p:spPr>
          <a:xfrm>
            <a:off x="822960" y="4175760"/>
            <a:ext cx="10543032" cy="13472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7"/>
          <p:cNvSpPr/>
          <p:nvPr/>
        </p:nvSpPr>
        <p:spPr>
          <a:xfrm>
            <a:off x="1024128" y="4675631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7"/>
          <p:cNvSpPr txBox="1"/>
          <p:nvPr/>
        </p:nvSpPr>
        <p:spPr>
          <a:xfrm>
            <a:off x="1024128" y="4675631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3</a:t>
            </a:r>
            <a:endParaRPr/>
          </a:p>
        </p:txBody>
      </p:sp>
      <p:sp>
        <p:nvSpPr>
          <p:cNvPr id="719" name="Google Shape;719;p17"/>
          <p:cNvSpPr txBox="1"/>
          <p:nvPr/>
        </p:nvSpPr>
        <p:spPr>
          <a:xfrm>
            <a:off x="1554480" y="4322064"/>
            <a:ext cx="9509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8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全球扩张</a:t>
            </a:r>
            <a:endParaRPr/>
          </a:p>
        </p:txBody>
      </p:sp>
      <p:sp>
        <p:nvSpPr>
          <p:cNvPr id="720" name="Google Shape;720;p17"/>
          <p:cNvSpPr txBox="1"/>
          <p:nvPr/>
        </p:nvSpPr>
        <p:spPr>
          <a:xfrm>
            <a:off x="1554480" y="4687824"/>
            <a:ext cx="9509760" cy="707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产品市场契合验证后：北美  →  英国  →  澳大利亚  →  欧洲  →  亚洲  →  其他市场。</a:t>
            </a:r>
            <a:endParaRPr/>
          </a:p>
        </p:txBody>
      </p:sp>
      <p:sp>
        <p:nvSpPr>
          <p:cNvPr id="721" name="Google Shape;721;p17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7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运营模式</a:t>
            </a:r>
            <a:endParaRPr/>
          </a:p>
        </p:txBody>
      </p:sp>
      <p:sp>
        <p:nvSpPr>
          <p:cNvPr id="723" name="Google Shape;723;p17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中国打造产品。美国验证GTM。全球分发随之展开。</a:t>
            </a:r>
            <a:endParaRPr/>
          </a:p>
        </p:txBody>
      </p:sp>
      <p:pic>
        <p:nvPicPr>
          <p:cNvPr descr="51careers_logo_dark.png" id="724" name="Google Shape;7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17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726" name="Google Shape;726;p17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8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竞争格局</a:t>
            </a:r>
            <a:endParaRPr/>
          </a:p>
        </p:txBody>
      </p:sp>
      <p:sp>
        <p:nvSpPr>
          <p:cNvPr id="732" name="Google Shape;732;p18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职业基础设施，而非简历工具</a:t>
            </a:r>
            <a:endParaRPr/>
          </a:p>
        </p:txBody>
      </p:sp>
      <p:sp>
        <p:nvSpPr>
          <p:cNvPr id="733" name="Google Shape;733;p18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每一类都有优势。没有谁把 AI、职业专业能力、服务与市场结合在一起。</a:t>
            </a:r>
            <a:endParaRPr/>
          </a:p>
        </p:txBody>
      </p:sp>
      <p:sp>
        <p:nvSpPr>
          <p:cNvPr id="734" name="Google Shape;734;p18"/>
          <p:cNvSpPr/>
          <p:nvPr/>
        </p:nvSpPr>
        <p:spPr>
          <a:xfrm>
            <a:off x="822960" y="1298448"/>
            <a:ext cx="517550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8"/>
          <p:cNvSpPr txBox="1"/>
          <p:nvPr/>
        </p:nvSpPr>
        <p:spPr>
          <a:xfrm>
            <a:off x="1042416" y="1554480"/>
            <a:ext cx="47365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0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招聘平台</a:t>
            </a:r>
            <a:endParaRPr/>
          </a:p>
        </p:txBody>
      </p:sp>
      <p:sp>
        <p:nvSpPr>
          <p:cNvPr id="736" name="Google Shape;736;p18"/>
          <p:cNvSpPr txBox="1"/>
          <p:nvPr/>
        </p:nvSpPr>
        <p:spPr>
          <a:xfrm>
            <a:off x="1042416" y="2066544"/>
            <a:ext cx="47365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用户基数大。个性化职业智能有限。</a:t>
            </a:r>
            <a:endParaRPr/>
          </a:p>
        </p:txBody>
      </p:sp>
      <p:sp>
        <p:nvSpPr>
          <p:cNvPr id="737" name="Google Shape;737;p18"/>
          <p:cNvSpPr/>
          <p:nvPr/>
        </p:nvSpPr>
        <p:spPr>
          <a:xfrm>
            <a:off x="6190488" y="1298448"/>
            <a:ext cx="517550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8"/>
          <p:cNvSpPr txBox="1"/>
          <p:nvPr/>
        </p:nvSpPr>
        <p:spPr>
          <a:xfrm>
            <a:off x="6409944" y="1554480"/>
            <a:ext cx="47365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0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通用 AI</a:t>
            </a:r>
            <a:endParaRPr/>
          </a:p>
        </p:txBody>
      </p:sp>
      <p:sp>
        <p:nvSpPr>
          <p:cNvPr id="739" name="Google Shape;739;p18"/>
          <p:cNvSpPr txBox="1"/>
          <p:nvPr/>
        </p:nvSpPr>
        <p:spPr>
          <a:xfrm>
            <a:off x="6409944" y="2066544"/>
            <a:ext cx="47365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AI 能力强。职业专业化不足。</a:t>
            </a:r>
            <a:endParaRPr/>
          </a:p>
        </p:txBody>
      </p:sp>
      <p:sp>
        <p:nvSpPr>
          <p:cNvPr id="740" name="Google Shape;740;p18"/>
          <p:cNvSpPr/>
          <p:nvPr/>
        </p:nvSpPr>
        <p:spPr>
          <a:xfrm>
            <a:off x="822960" y="3401568"/>
            <a:ext cx="517550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8"/>
          <p:cNvSpPr txBox="1"/>
          <p:nvPr/>
        </p:nvSpPr>
        <p:spPr>
          <a:xfrm>
            <a:off x="1042416" y="3657600"/>
            <a:ext cx="47365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0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传统服务</a:t>
            </a:r>
            <a:endParaRPr/>
          </a:p>
        </p:txBody>
      </p:sp>
      <p:sp>
        <p:nvSpPr>
          <p:cNvPr id="742" name="Google Shape;742;p18"/>
          <p:cNvSpPr txBox="1"/>
          <p:nvPr/>
        </p:nvSpPr>
        <p:spPr>
          <a:xfrm>
            <a:off x="1042416" y="4169664"/>
            <a:ext cx="47365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人工服务强。规模化弱。</a:t>
            </a:r>
            <a:endParaRPr/>
          </a:p>
        </p:txBody>
      </p:sp>
      <p:sp>
        <p:nvSpPr>
          <p:cNvPr id="743" name="Google Shape;743;p18"/>
          <p:cNvSpPr/>
          <p:nvPr/>
        </p:nvSpPr>
        <p:spPr>
          <a:xfrm>
            <a:off x="6190488" y="3401568"/>
            <a:ext cx="517550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8"/>
          <p:cNvSpPr txBox="1"/>
          <p:nvPr/>
        </p:nvSpPr>
        <p:spPr>
          <a:xfrm>
            <a:off x="6409944" y="3657600"/>
            <a:ext cx="47365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0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AI 简历工具</a:t>
            </a:r>
            <a:endParaRPr/>
          </a:p>
        </p:txBody>
      </p:sp>
      <p:sp>
        <p:nvSpPr>
          <p:cNvPr id="745" name="Google Shape;745;p18"/>
          <p:cNvSpPr txBox="1"/>
          <p:nvPr/>
        </p:nvSpPr>
        <p:spPr>
          <a:xfrm>
            <a:off x="6409944" y="4169664"/>
            <a:ext cx="47365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聚焦简历。文档之外的生态有限。</a:t>
            </a:r>
            <a:endParaRPr/>
          </a:p>
        </p:txBody>
      </p:sp>
      <p:sp>
        <p:nvSpPr>
          <p:cNvPr id="746" name="Google Shape;746;p18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8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51 CAREERS</a:t>
            </a:r>
            <a:endParaRPr/>
          </a:p>
        </p:txBody>
      </p:sp>
      <p:sp>
        <p:nvSpPr>
          <p:cNvPr id="748" name="Google Shape;748;p18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AI + 职业专业能力 + 服务 + 市场。是基础设施，不是又一个简历生成器。</a:t>
            </a:r>
            <a:endParaRPr/>
          </a:p>
        </p:txBody>
      </p:sp>
      <p:pic>
        <p:nvPicPr>
          <p:cNvPr descr="51careers_logo_dark.png" id="749" name="Google Shape;7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18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751" name="Google Shape;751;p18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9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竞争定位</a:t>
            </a:r>
            <a:endParaRPr/>
          </a:p>
        </p:txBody>
      </p:sp>
      <p:sp>
        <p:nvSpPr>
          <p:cNvPr id="757" name="Google Shape;757;p19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客户为何选择 51 Careers</a:t>
            </a:r>
            <a:endParaRPr/>
          </a:p>
        </p:txBody>
      </p:sp>
      <p:sp>
        <p:nvSpPr>
          <p:cNvPr id="758" name="Google Shape;758;p19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运营经验、可运行产品，以及超越简历的变现平台。</a:t>
            </a:r>
            <a:endParaRPr/>
          </a:p>
        </p:txBody>
      </p:sp>
      <p:sp>
        <p:nvSpPr>
          <p:cNvPr id="759" name="Google Shape;759;p19"/>
          <p:cNvSpPr/>
          <p:nvPr/>
        </p:nvSpPr>
        <p:spPr>
          <a:xfrm>
            <a:off x="822960" y="1298448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9"/>
          <p:cNvSpPr/>
          <p:nvPr/>
        </p:nvSpPr>
        <p:spPr>
          <a:xfrm>
            <a:off x="1005840" y="1463040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9"/>
          <p:cNvSpPr txBox="1"/>
          <p:nvPr/>
        </p:nvSpPr>
        <p:spPr>
          <a:xfrm>
            <a:off x="1005840" y="14630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762" name="Google Shape;762;p19"/>
          <p:cNvSpPr txBox="1"/>
          <p:nvPr/>
        </p:nvSpPr>
        <p:spPr>
          <a:xfrm>
            <a:off x="1005840" y="19202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5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职业服务根基</a:t>
            </a:r>
            <a:endParaRPr/>
          </a:p>
        </p:txBody>
      </p:sp>
      <p:sp>
        <p:nvSpPr>
          <p:cNvPr id="763" name="Google Shape;763;p19"/>
          <p:cNvSpPr txBox="1"/>
          <p:nvPr/>
        </p:nvSpPr>
        <p:spPr>
          <a:xfrm>
            <a:off x="1005840" y="2414016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我们从运营视角理解这个行业，而不是从演示文稿出发。</a:t>
            </a:r>
            <a:endParaRPr/>
          </a:p>
        </p:txBody>
      </p:sp>
      <p:sp>
        <p:nvSpPr>
          <p:cNvPr id="764" name="Google Shape;764;p19"/>
          <p:cNvSpPr/>
          <p:nvPr/>
        </p:nvSpPr>
        <p:spPr>
          <a:xfrm>
            <a:off x="4398264" y="1298448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9"/>
          <p:cNvSpPr/>
          <p:nvPr/>
        </p:nvSpPr>
        <p:spPr>
          <a:xfrm>
            <a:off x="4581144" y="1463040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9"/>
          <p:cNvSpPr txBox="1"/>
          <p:nvPr/>
        </p:nvSpPr>
        <p:spPr>
          <a:xfrm>
            <a:off x="4581144" y="14630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2</a:t>
            </a:r>
            <a:endParaRPr/>
          </a:p>
        </p:txBody>
      </p:sp>
      <p:sp>
        <p:nvSpPr>
          <p:cNvPr id="767" name="Google Shape;767;p19"/>
          <p:cNvSpPr txBox="1"/>
          <p:nvPr/>
        </p:nvSpPr>
        <p:spPr>
          <a:xfrm>
            <a:off x="4581144" y="19202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5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产品已经建成</a:t>
            </a:r>
            <a:endParaRPr/>
          </a:p>
        </p:txBody>
      </p:sp>
      <p:sp>
        <p:nvSpPr>
          <p:cNvPr id="768" name="Google Shape;768;p19"/>
          <p:cNvSpPr txBox="1"/>
          <p:nvPr/>
        </p:nvSpPr>
        <p:spPr>
          <a:xfrm>
            <a:off x="4581144" y="2414016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不是概念公司。演示产品已构建、已测试、已内部对标。</a:t>
            </a:r>
            <a:endParaRPr/>
          </a:p>
        </p:txBody>
      </p:sp>
      <p:sp>
        <p:nvSpPr>
          <p:cNvPr id="769" name="Google Shape;769;p19"/>
          <p:cNvSpPr/>
          <p:nvPr/>
        </p:nvSpPr>
        <p:spPr>
          <a:xfrm>
            <a:off x="7973568" y="1298448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9"/>
          <p:cNvSpPr/>
          <p:nvPr/>
        </p:nvSpPr>
        <p:spPr>
          <a:xfrm>
            <a:off x="8156448" y="1463040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9"/>
          <p:cNvSpPr txBox="1"/>
          <p:nvPr/>
        </p:nvSpPr>
        <p:spPr>
          <a:xfrm>
            <a:off x="8156448" y="14630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3</a:t>
            </a:r>
            <a:endParaRPr/>
          </a:p>
        </p:txBody>
      </p:sp>
      <p:sp>
        <p:nvSpPr>
          <p:cNvPr id="772" name="Google Shape;772;p19"/>
          <p:cNvSpPr txBox="1"/>
          <p:nvPr/>
        </p:nvSpPr>
        <p:spPr>
          <a:xfrm>
            <a:off x="8156448" y="19202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5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全球可扩展</a:t>
            </a:r>
            <a:endParaRPr/>
          </a:p>
        </p:txBody>
      </p:sp>
      <p:sp>
        <p:nvSpPr>
          <p:cNvPr id="773" name="Google Shape;773;p19"/>
          <p:cNvSpPr txBox="1"/>
          <p:nvPr/>
        </p:nvSpPr>
        <p:spPr>
          <a:xfrm>
            <a:off x="8156448" y="2414016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AI 简历从第一天起即可通过数字渠道向全球分发。</a:t>
            </a:r>
            <a:endParaRPr/>
          </a:p>
        </p:txBody>
      </p:sp>
      <p:sp>
        <p:nvSpPr>
          <p:cNvPr id="774" name="Google Shape;774;p19"/>
          <p:cNvSpPr/>
          <p:nvPr/>
        </p:nvSpPr>
        <p:spPr>
          <a:xfrm>
            <a:off x="822960" y="3419856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9"/>
          <p:cNvSpPr/>
          <p:nvPr/>
        </p:nvSpPr>
        <p:spPr>
          <a:xfrm>
            <a:off x="1005840" y="358444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9"/>
          <p:cNvSpPr txBox="1"/>
          <p:nvPr/>
        </p:nvSpPr>
        <p:spPr>
          <a:xfrm>
            <a:off x="1005840" y="358444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4</a:t>
            </a:r>
            <a:endParaRPr/>
          </a:p>
        </p:txBody>
      </p:sp>
      <p:sp>
        <p:nvSpPr>
          <p:cNvPr id="777" name="Google Shape;777;p19"/>
          <p:cNvSpPr txBox="1"/>
          <p:nvPr/>
        </p:nvSpPr>
        <p:spPr>
          <a:xfrm>
            <a:off x="1005840" y="40416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5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多元变现路径</a:t>
            </a:r>
            <a:endParaRPr/>
          </a:p>
        </p:txBody>
      </p:sp>
      <p:sp>
        <p:nvSpPr>
          <p:cNvPr id="778" name="Google Shape;778;p19"/>
          <p:cNvSpPr txBox="1"/>
          <p:nvPr/>
        </p:nvSpPr>
        <p:spPr>
          <a:xfrm>
            <a:off x="1005840" y="4535424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订阅 + 服务 + 佣金 + B2B + 广告 + 赞助。</a:t>
            </a:r>
            <a:endParaRPr/>
          </a:p>
        </p:txBody>
      </p:sp>
      <p:sp>
        <p:nvSpPr>
          <p:cNvPr id="779" name="Google Shape;779;p19"/>
          <p:cNvSpPr/>
          <p:nvPr/>
        </p:nvSpPr>
        <p:spPr>
          <a:xfrm>
            <a:off x="4398264" y="3419856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9"/>
          <p:cNvSpPr/>
          <p:nvPr/>
        </p:nvSpPr>
        <p:spPr>
          <a:xfrm>
            <a:off x="4581144" y="358444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9"/>
          <p:cNvSpPr txBox="1"/>
          <p:nvPr/>
        </p:nvSpPr>
        <p:spPr>
          <a:xfrm>
            <a:off x="4581144" y="358444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5</a:t>
            </a:r>
            <a:endParaRPr/>
          </a:p>
        </p:txBody>
      </p:sp>
      <p:sp>
        <p:nvSpPr>
          <p:cNvPr id="782" name="Google Shape;782;p19"/>
          <p:cNvSpPr txBox="1"/>
          <p:nvPr/>
        </p:nvSpPr>
        <p:spPr>
          <a:xfrm>
            <a:off x="4581144" y="40416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5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AI + 人工混合</a:t>
            </a:r>
            <a:endParaRPr/>
          </a:p>
        </p:txBody>
      </p:sp>
      <p:sp>
        <p:nvSpPr>
          <p:cNvPr id="783" name="Google Shape;783;p19"/>
          <p:cNvSpPr txBox="1"/>
          <p:nvPr/>
        </p:nvSpPr>
        <p:spPr>
          <a:xfrm>
            <a:off x="4581144" y="4535424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AI 处理可规模化工作。人工承接高价值、复杂的职业服务。</a:t>
            </a:r>
            <a:endParaRPr/>
          </a:p>
        </p:txBody>
      </p:sp>
      <p:sp>
        <p:nvSpPr>
          <p:cNvPr id="784" name="Google Shape;784;p19"/>
          <p:cNvSpPr/>
          <p:nvPr/>
        </p:nvSpPr>
        <p:spPr>
          <a:xfrm>
            <a:off x="7973568" y="3419856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9"/>
          <p:cNvSpPr/>
          <p:nvPr/>
        </p:nvSpPr>
        <p:spPr>
          <a:xfrm>
            <a:off x="8156448" y="358444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9"/>
          <p:cNvSpPr txBox="1"/>
          <p:nvPr/>
        </p:nvSpPr>
        <p:spPr>
          <a:xfrm>
            <a:off x="8156448" y="358444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6</a:t>
            </a:r>
            <a:endParaRPr/>
          </a:p>
        </p:txBody>
      </p:sp>
      <p:sp>
        <p:nvSpPr>
          <p:cNvPr id="787" name="Google Shape;787;p19"/>
          <p:cNvSpPr txBox="1"/>
          <p:nvPr/>
        </p:nvSpPr>
        <p:spPr>
          <a:xfrm>
            <a:off x="8156448" y="40416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5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平台潜力</a:t>
            </a:r>
            <a:endParaRPr/>
          </a:p>
        </p:txBody>
      </p:sp>
      <p:sp>
        <p:nvSpPr>
          <p:cNvPr id="788" name="Google Shape;788;p19"/>
          <p:cNvSpPr txBox="1"/>
          <p:nvPr/>
        </p:nvSpPr>
        <p:spPr>
          <a:xfrm>
            <a:off x="8156448" y="4535424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长期机遇超越简历，延伸至整个职业生态。</a:t>
            </a:r>
            <a:endParaRPr/>
          </a:p>
        </p:txBody>
      </p:sp>
      <p:sp>
        <p:nvSpPr>
          <p:cNvPr id="789" name="Google Shape;789;p19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9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定位</a:t>
            </a:r>
            <a:endParaRPr/>
          </a:p>
        </p:txBody>
      </p:sp>
      <p:sp>
        <p:nvSpPr>
          <p:cNvPr id="791" name="Google Shape;791;p19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建立在职业服务运营底座上的可运行 AI 产品——旨在成为基础设施。</a:t>
            </a:r>
            <a:endParaRPr/>
          </a:p>
        </p:txBody>
      </p:sp>
      <p:pic>
        <p:nvPicPr>
          <p:cNvPr descr="51careers_logo_dark.png" id="792" name="Google Shape;7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19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794" name="Google Shape;794;p19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19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0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领导团队</a:t>
            </a:r>
            <a:endParaRPr/>
          </a:p>
        </p:txBody>
      </p:sp>
      <p:sp>
        <p:nvSpPr>
          <p:cNvPr id="800" name="Google Shape;800;p20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核心管理团队</a:t>
            </a:r>
            <a:endParaRPr/>
          </a:p>
        </p:txBody>
      </p:sp>
      <p:sp>
        <p:nvSpPr>
          <p:cNvPr id="801" name="Google Shape;801;p20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创始人主导。全球分布。六位成员均已到位。</a:t>
            </a:r>
            <a:endParaRPr/>
          </a:p>
        </p:txBody>
      </p:sp>
      <p:sp>
        <p:nvSpPr>
          <p:cNvPr id="802" name="Google Shape;802;p20"/>
          <p:cNvSpPr/>
          <p:nvPr/>
        </p:nvSpPr>
        <p:spPr>
          <a:xfrm>
            <a:off x="822960" y="1298448"/>
            <a:ext cx="3392424" cy="23957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0"/>
          <p:cNvSpPr txBox="1"/>
          <p:nvPr/>
        </p:nvSpPr>
        <p:spPr>
          <a:xfrm>
            <a:off x="987552" y="1444752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Rocky Chen</a:t>
            </a:r>
            <a:endParaRPr/>
          </a:p>
        </p:txBody>
      </p:sp>
      <p:sp>
        <p:nvSpPr>
          <p:cNvPr id="804" name="Google Shape;804;p20"/>
          <p:cNvSpPr txBox="1"/>
          <p:nvPr/>
        </p:nvSpPr>
        <p:spPr>
          <a:xfrm>
            <a:off x="987552" y="1773936"/>
            <a:ext cx="3063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创始人兼首席执行官</a:t>
            </a:r>
            <a:endParaRPr/>
          </a:p>
        </p:txBody>
      </p:sp>
      <p:sp>
        <p:nvSpPr>
          <p:cNvPr id="805" name="Google Shape;805;p20"/>
          <p:cNvSpPr txBox="1"/>
          <p:nvPr/>
        </p:nvSpPr>
        <p:spPr>
          <a:xfrm>
            <a:off x="987552" y="2103120"/>
            <a:ext cx="306324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2016年于纽约创立 51 Careers，打造跨市场的职业服务与科技业务。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51 Careers.AI 创始人；上市公司 Helio 董事总经理。AI 优先战略与 2025 年阿里云合作的架构者。</a:t>
            </a:r>
            <a:endParaRPr/>
          </a:p>
        </p:txBody>
      </p:sp>
      <p:sp>
        <p:nvSpPr>
          <p:cNvPr id="806" name="Google Shape;806;p20"/>
          <p:cNvSpPr/>
          <p:nvPr/>
        </p:nvSpPr>
        <p:spPr>
          <a:xfrm>
            <a:off x="4398264" y="1298448"/>
            <a:ext cx="3392424" cy="23957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0"/>
          <p:cNvSpPr txBox="1"/>
          <p:nvPr/>
        </p:nvSpPr>
        <p:spPr>
          <a:xfrm>
            <a:off x="4562856" y="1444752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Stephanie Li</a:t>
            </a:r>
            <a:endParaRPr/>
          </a:p>
        </p:txBody>
      </p:sp>
      <p:sp>
        <p:nvSpPr>
          <p:cNvPr id="808" name="Google Shape;808;p20"/>
          <p:cNvSpPr txBox="1"/>
          <p:nvPr/>
        </p:nvSpPr>
        <p:spPr>
          <a:xfrm>
            <a:off x="4562856" y="1773936"/>
            <a:ext cx="3063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联合创始人兼首席财务官</a:t>
            </a:r>
            <a:endParaRPr/>
          </a:p>
        </p:txBody>
      </p:sp>
      <p:sp>
        <p:nvSpPr>
          <p:cNvPr id="809" name="Google Shape;809;p20"/>
          <p:cNvSpPr txBox="1"/>
          <p:nvPr/>
        </p:nvSpPr>
        <p:spPr>
          <a:xfrm>
            <a:off x="4562856" y="2103120"/>
            <a:ext cx="306324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自2016年起担任联合创始人。美国注册会计师；佩斯大学会计学硕士。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负责 51 Careers 与 51 Careers.AI 的财务战略、公司治理与可持续增长。</a:t>
            </a:r>
            <a:endParaRPr/>
          </a:p>
        </p:txBody>
      </p:sp>
      <p:sp>
        <p:nvSpPr>
          <p:cNvPr id="810" name="Google Shape;810;p20"/>
          <p:cNvSpPr/>
          <p:nvPr/>
        </p:nvSpPr>
        <p:spPr>
          <a:xfrm>
            <a:off x="7973568" y="1298448"/>
            <a:ext cx="3392424" cy="23957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0"/>
          <p:cNvSpPr txBox="1"/>
          <p:nvPr/>
        </p:nvSpPr>
        <p:spPr>
          <a:xfrm>
            <a:off x="8138160" y="1444752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Gavin Ding</a:t>
            </a:r>
            <a:endParaRPr/>
          </a:p>
        </p:txBody>
      </p:sp>
      <p:sp>
        <p:nvSpPr>
          <p:cNvPr id="812" name="Google Shape;812;p20"/>
          <p:cNvSpPr txBox="1"/>
          <p:nvPr/>
        </p:nvSpPr>
        <p:spPr>
          <a:xfrm>
            <a:off x="8138160" y="1773936"/>
            <a:ext cx="3063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联合创始人、首席技术官兼首席运营官</a:t>
            </a:r>
            <a:endParaRPr/>
          </a:p>
        </p:txBody>
      </p:sp>
      <p:sp>
        <p:nvSpPr>
          <p:cNvPr id="813" name="Google Shape;813;p20"/>
          <p:cNvSpPr txBox="1"/>
          <p:nvPr/>
        </p:nvSpPr>
        <p:spPr>
          <a:xfrm>
            <a:off x="8138160" y="2103120"/>
            <a:ext cx="306324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连续创业者（10年以上），覆盖 SaaS、AI 与数字业务；华东理工大学计算机科学学士。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曾任多家企业 CTO，并联合创办多家公司。负责技术、运营与 AI。</a:t>
            </a:r>
            <a:endParaRPr/>
          </a:p>
        </p:txBody>
      </p:sp>
      <p:sp>
        <p:nvSpPr>
          <p:cNvPr id="814" name="Google Shape;814;p20"/>
          <p:cNvSpPr/>
          <p:nvPr/>
        </p:nvSpPr>
        <p:spPr>
          <a:xfrm>
            <a:off x="822960" y="3803904"/>
            <a:ext cx="3392424" cy="23957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0"/>
          <p:cNvSpPr txBox="1"/>
          <p:nvPr/>
        </p:nvSpPr>
        <p:spPr>
          <a:xfrm>
            <a:off x="987552" y="3950208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Robin Zhu</a:t>
            </a:r>
            <a:endParaRPr/>
          </a:p>
        </p:txBody>
      </p:sp>
      <p:sp>
        <p:nvSpPr>
          <p:cNvPr id="816" name="Google Shape;816;p20"/>
          <p:cNvSpPr txBox="1"/>
          <p:nvPr/>
        </p:nvSpPr>
        <p:spPr>
          <a:xfrm>
            <a:off x="987552" y="4279392"/>
            <a:ext cx="3063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产品负责人</a:t>
            </a:r>
            <a:endParaRPr/>
          </a:p>
        </p:txBody>
      </p:sp>
      <p:sp>
        <p:nvSpPr>
          <p:cNvPr id="817" name="Google Shape;817;p20"/>
          <p:cNvSpPr txBox="1"/>
          <p:nvPr/>
        </p:nvSpPr>
        <p:spPr>
          <a:xfrm>
            <a:off x="987552" y="4608576"/>
            <a:ext cx="306324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负责 AI 职业平台的产品战略、架构与研发。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曾任 Ci Finance 首席技术官兼产品总监；曾在中国太保、通联支付与诺亚担任高级产品职务。</a:t>
            </a:r>
            <a:endParaRPr/>
          </a:p>
        </p:txBody>
      </p:sp>
      <p:sp>
        <p:nvSpPr>
          <p:cNvPr id="818" name="Google Shape;818;p20"/>
          <p:cNvSpPr/>
          <p:nvPr/>
        </p:nvSpPr>
        <p:spPr>
          <a:xfrm>
            <a:off x="4398264" y="3803904"/>
            <a:ext cx="3392424" cy="23957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0"/>
          <p:cNvSpPr txBox="1"/>
          <p:nvPr/>
        </p:nvSpPr>
        <p:spPr>
          <a:xfrm>
            <a:off x="4562856" y="3950208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Chris Lin</a:t>
            </a:r>
            <a:endParaRPr/>
          </a:p>
        </p:txBody>
      </p:sp>
      <p:sp>
        <p:nvSpPr>
          <p:cNvPr id="820" name="Google Shape;820;p20"/>
          <p:cNvSpPr txBox="1"/>
          <p:nvPr/>
        </p:nvSpPr>
        <p:spPr>
          <a:xfrm>
            <a:off x="4562856" y="4279392"/>
            <a:ext cx="3063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北美合伙人</a:t>
            </a:r>
            <a:endParaRPr/>
          </a:p>
        </p:txBody>
      </p:sp>
      <p:sp>
        <p:nvSpPr>
          <p:cNvPr id="821" name="Google Shape;821;p20"/>
          <p:cNvSpPr txBox="1"/>
          <p:nvPr/>
        </p:nvSpPr>
        <p:spPr>
          <a:xfrm>
            <a:off x="4562856" y="4608576"/>
            <a:ext cx="306324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全栈工程师；曾任职于 Amazon Web Services（AWS）。西北大学学士；机器人学硕士。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在北美拥有丰富的招聘面试与职业导师经验。</a:t>
            </a:r>
            <a:endParaRPr/>
          </a:p>
        </p:txBody>
      </p:sp>
      <p:sp>
        <p:nvSpPr>
          <p:cNvPr id="822" name="Google Shape;822;p20"/>
          <p:cNvSpPr/>
          <p:nvPr/>
        </p:nvSpPr>
        <p:spPr>
          <a:xfrm>
            <a:off x="7973568" y="3803904"/>
            <a:ext cx="3392424" cy="23957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0"/>
          <p:cNvSpPr txBox="1"/>
          <p:nvPr/>
        </p:nvSpPr>
        <p:spPr>
          <a:xfrm>
            <a:off x="8138160" y="3950208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Jon Serbin</a:t>
            </a:r>
            <a:endParaRPr/>
          </a:p>
        </p:txBody>
      </p:sp>
      <p:sp>
        <p:nvSpPr>
          <p:cNvPr id="824" name="Google Shape;824;p20"/>
          <p:cNvSpPr txBox="1"/>
          <p:nvPr/>
        </p:nvSpPr>
        <p:spPr>
          <a:xfrm>
            <a:off x="8138160" y="4279392"/>
            <a:ext cx="3063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高级顾问</a:t>
            </a:r>
            <a:endParaRPr/>
          </a:p>
        </p:txBody>
      </p:sp>
      <p:sp>
        <p:nvSpPr>
          <p:cNvPr id="825" name="Google Shape;825;p20"/>
          <p:cNvSpPr txBox="1"/>
          <p:nvPr/>
        </p:nvSpPr>
        <p:spPr>
          <a:xfrm>
            <a:off x="8138160" y="4608576"/>
            <a:ext cx="306324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哈佛与麻省理工背景；摩根士丹利前高管；Cedar 创始人。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拥有40年以上科技并购与融资经验。为 51 Careers 的增长与扩张提供顾问支持。</a:t>
            </a:r>
            <a:endParaRPr/>
          </a:p>
        </p:txBody>
      </p:sp>
      <p:pic>
        <p:nvPicPr>
          <p:cNvPr descr="51careers_logo_dark.png" id="826" name="Google Shape;8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20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828" name="Google Shape;828;p20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21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团队</a:t>
            </a:r>
            <a:endParaRPr/>
          </a:p>
        </p:txBody>
      </p:sp>
      <p:sp>
        <p:nvSpPr>
          <p:cNvPr id="834" name="Google Shape;834;p21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创始团队已到位 · 计划招聘</a:t>
            </a:r>
            <a:endParaRPr/>
          </a:p>
        </p:txBody>
      </p:sp>
      <p:sp>
        <p:nvSpPr>
          <p:cNvPr id="835" name="Google Shape;835;p21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四位创始人已到位。本轮资金用于中国技术、中国增长与美国增长。</a:t>
            </a:r>
            <a:endParaRPr/>
          </a:p>
        </p:txBody>
      </p:sp>
      <p:sp>
        <p:nvSpPr>
          <p:cNvPr id="836" name="Google Shape;836;p21"/>
          <p:cNvSpPr/>
          <p:nvPr/>
        </p:nvSpPr>
        <p:spPr>
          <a:xfrm>
            <a:off x="822960" y="1298448"/>
            <a:ext cx="3383280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1"/>
          <p:cNvSpPr txBox="1"/>
          <p:nvPr/>
        </p:nvSpPr>
        <p:spPr>
          <a:xfrm>
            <a:off x="1024128" y="142646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现有</a:t>
            </a:r>
            <a:endParaRPr/>
          </a:p>
        </p:txBody>
      </p:sp>
      <p:sp>
        <p:nvSpPr>
          <p:cNvPr id="838" name="Google Shape;838;p21"/>
          <p:cNvSpPr txBox="1"/>
          <p:nvPr/>
        </p:nvSpPr>
        <p:spPr>
          <a:xfrm>
            <a:off x="1024128" y="1682496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0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创始团队</a:t>
            </a:r>
            <a:endParaRPr/>
          </a:p>
        </p:txBody>
      </p:sp>
      <p:sp>
        <p:nvSpPr>
          <p:cNvPr id="839" name="Google Shape;839;p21"/>
          <p:cNvSpPr txBox="1"/>
          <p:nvPr/>
        </p:nvSpPr>
        <p:spPr>
          <a:xfrm>
            <a:off x="1024128" y="204825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4</a:t>
            </a:r>
            <a:endParaRPr/>
          </a:p>
        </p:txBody>
      </p:sp>
      <p:sp>
        <p:nvSpPr>
          <p:cNvPr id="840" name="Google Shape;840;p21"/>
          <p:cNvSpPr txBox="1"/>
          <p:nvPr/>
        </p:nvSpPr>
        <p:spPr>
          <a:xfrm>
            <a:off x="1024128" y="2706624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今日已到位</a:t>
            </a:r>
            <a:endParaRPr/>
          </a:p>
        </p:txBody>
      </p:sp>
      <p:sp>
        <p:nvSpPr>
          <p:cNvPr id="841" name="Google Shape;841;p21"/>
          <p:cNvSpPr txBox="1"/>
          <p:nvPr/>
        </p:nvSpPr>
        <p:spPr>
          <a:xfrm>
            <a:off x="1024128" y="3273552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产品、资本与GTM</a:t>
            </a:r>
            <a:endParaRPr/>
          </a:p>
        </p:txBody>
      </p:sp>
      <p:sp>
        <p:nvSpPr>
          <p:cNvPr id="842" name="Google Shape;842;p21"/>
          <p:cNvSpPr txBox="1"/>
          <p:nvPr/>
        </p:nvSpPr>
        <p:spPr>
          <a:xfrm>
            <a:off x="1024128" y="3840480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其余岗位尚未招聘</a:t>
            </a:r>
            <a:endParaRPr/>
          </a:p>
        </p:txBody>
      </p:sp>
      <p:sp>
        <p:nvSpPr>
          <p:cNvPr id="843" name="Google Shape;843;p21"/>
          <p:cNvSpPr txBox="1"/>
          <p:nvPr/>
        </p:nvSpPr>
        <p:spPr>
          <a:xfrm>
            <a:off x="1024128" y="4407408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本轮为团队提供资金</a:t>
            </a:r>
            <a:endParaRPr/>
          </a:p>
        </p:txBody>
      </p:sp>
      <p:sp>
        <p:nvSpPr>
          <p:cNvPr id="844" name="Google Shape;844;p21"/>
          <p:cNvSpPr txBox="1"/>
          <p:nvPr/>
        </p:nvSpPr>
        <p:spPr>
          <a:xfrm>
            <a:off x="1024128" y="4974336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中国技术、增长、美国增长</a:t>
            </a:r>
            <a:endParaRPr/>
          </a:p>
        </p:txBody>
      </p:sp>
      <p:sp>
        <p:nvSpPr>
          <p:cNvPr id="845" name="Google Shape;845;p21"/>
          <p:cNvSpPr txBox="1"/>
          <p:nvPr/>
        </p:nvSpPr>
        <p:spPr>
          <a:xfrm>
            <a:off x="1024128" y="5541264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围绕产品与GTM招聘</a:t>
            </a:r>
            <a:endParaRPr/>
          </a:p>
        </p:txBody>
      </p:sp>
      <p:sp>
        <p:nvSpPr>
          <p:cNvPr id="846" name="Google Shape;846;p21"/>
          <p:cNvSpPr/>
          <p:nvPr/>
        </p:nvSpPr>
        <p:spPr>
          <a:xfrm>
            <a:off x="4389120" y="1298448"/>
            <a:ext cx="2377440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1"/>
          <p:cNvSpPr txBox="1"/>
          <p:nvPr/>
        </p:nvSpPr>
        <p:spPr>
          <a:xfrm>
            <a:off x="4517136" y="1408176"/>
            <a:ext cx="2121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2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计划中</a:t>
            </a:r>
            <a:endParaRPr/>
          </a:p>
        </p:txBody>
      </p:sp>
      <p:sp>
        <p:nvSpPr>
          <p:cNvPr id="848" name="Google Shape;848;p21"/>
          <p:cNvSpPr txBox="1"/>
          <p:nvPr/>
        </p:nvSpPr>
        <p:spPr>
          <a:xfrm>
            <a:off x="4517136" y="1627632"/>
            <a:ext cx="21214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中国技术</a:t>
            </a:r>
            <a:endParaRPr/>
          </a:p>
        </p:txBody>
      </p:sp>
      <p:sp>
        <p:nvSpPr>
          <p:cNvPr id="849" name="Google Shape;849;p21"/>
          <p:cNvSpPr txBox="1"/>
          <p:nvPr/>
        </p:nvSpPr>
        <p:spPr>
          <a:xfrm>
            <a:off x="4517136" y="1938528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7</a:t>
            </a:r>
            <a:endParaRPr/>
          </a:p>
        </p:txBody>
      </p:sp>
      <p:sp>
        <p:nvSpPr>
          <p:cNvPr id="850" name="Google Shape;850;p21"/>
          <p:cNvSpPr txBox="1"/>
          <p:nvPr/>
        </p:nvSpPr>
        <p:spPr>
          <a:xfrm>
            <a:off x="4517136" y="2414016"/>
            <a:ext cx="148132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产品经理</a:t>
            </a:r>
            <a:endParaRPr/>
          </a:p>
        </p:txBody>
      </p:sp>
      <p:sp>
        <p:nvSpPr>
          <p:cNvPr id="851" name="Google Shape;851;p21"/>
          <p:cNvSpPr txBox="1"/>
          <p:nvPr/>
        </p:nvSpPr>
        <p:spPr>
          <a:xfrm>
            <a:off x="5943600" y="2414016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852" name="Google Shape;852;p21"/>
          <p:cNvSpPr txBox="1"/>
          <p:nvPr/>
        </p:nvSpPr>
        <p:spPr>
          <a:xfrm>
            <a:off x="4517136" y="3054096"/>
            <a:ext cx="148132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设计师</a:t>
            </a:r>
            <a:endParaRPr/>
          </a:p>
        </p:txBody>
      </p:sp>
      <p:sp>
        <p:nvSpPr>
          <p:cNvPr id="853" name="Google Shape;853;p21"/>
          <p:cNvSpPr txBox="1"/>
          <p:nvPr/>
        </p:nvSpPr>
        <p:spPr>
          <a:xfrm>
            <a:off x="5943600" y="3054096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854" name="Google Shape;854;p21"/>
          <p:cNvSpPr txBox="1"/>
          <p:nvPr/>
        </p:nvSpPr>
        <p:spPr>
          <a:xfrm>
            <a:off x="4517136" y="3694176"/>
            <a:ext cx="148132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质量保障 / 测试</a:t>
            </a:r>
            <a:endParaRPr/>
          </a:p>
        </p:txBody>
      </p:sp>
      <p:sp>
        <p:nvSpPr>
          <p:cNvPr id="855" name="Google Shape;855;p21"/>
          <p:cNvSpPr txBox="1"/>
          <p:nvPr/>
        </p:nvSpPr>
        <p:spPr>
          <a:xfrm>
            <a:off x="5943600" y="3694176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856" name="Google Shape;856;p21"/>
          <p:cNvSpPr txBox="1"/>
          <p:nvPr/>
        </p:nvSpPr>
        <p:spPr>
          <a:xfrm>
            <a:off x="4517136" y="4334256"/>
            <a:ext cx="148132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前端工程师</a:t>
            </a:r>
            <a:endParaRPr/>
          </a:p>
        </p:txBody>
      </p:sp>
      <p:sp>
        <p:nvSpPr>
          <p:cNvPr id="857" name="Google Shape;857;p21"/>
          <p:cNvSpPr txBox="1"/>
          <p:nvPr/>
        </p:nvSpPr>
        <p:spPr>
          <a:xfrm>
            <a:off x="5943600" y="4334256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858" name="Google Shape;858;p21"/>
          <p:cNvSpPr txBox="1"/>
          <p:nvPr/>
        </p:nvSpPr>
        <p:spPr>
          <a:xfrm>
            <a:off x="4517136" y="4974336"/>
            <a:ext cx="148132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后端工程师</a:t>
            </a:r>
            <a:endParaRPr/>
          </a:p>
        </p:txBody>
      </p:sp>
      <p:sp>
        <p:nvSpPr>
          <p:cNvPr id="859" name="Google Shape;859;p21"/>
          <p:cNvSpPr txBox="1"/>
          <p:nvPr/>
        </p:nvSpPr>
        <p:spPr>
          <a:xfrm>
            <a:off x="5943600" y="4974336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2</a:t>
            </a:r>
            <a:endParaRPr/>
          </a:p>
        </p:txBody>
      </p:sp>
      <p:sp>
        <p:nvSpPr>
          <p:cNvPr id="860" name="Google Shape;860;p21"/>
          <p:cNvSpPr txBox="1"/>
          <p:nvPr/>
        </p:nvSpPr>
        <p:spPr>
          <a:xfrm>
            <a:off x="4517136" y="5614416"/>
            <a:ext cx="148132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AI 工程师</a:t>
            </a:r>
            <a:endParaRPr/>
          </a:p>
        </p:txBody>
      </p:sp>
      <p:sp>
        <p:nvSpPr>
          <p:cNvPr id="861" name="Google Shape;861;p21"/>
          <p:cNvSpPr txBox="1"/>
          <p:nvPr/>
        </p:nvSpPr>
        <p:spPr>
          <a:xfrm>
            <a:off x="5943600" y="5614416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862" name="Google Shape;862;p21"/>
          <p:cNvSpPr/>
          <p:nvPr/>
        </p:nvSpPr>
        <p:spPr>
          <a:xfrm>
            <a:off x="6903720" y="1298448"/>
            <a:ext cx="2377440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1"/>
          <p:cNvSpPr txBox="1"/>
          <p:nvPr/>
        </p:nvSpPr>
        <p:spPr>
          <a:xfrm>
            <a:off x="7031736" y="1408176"/>
            <a:ext cx="2121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2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计划中</a:t>
            </a:r>
            <a:endParaRPr/>
          </a:p>
        </p:txBody>
      </p:sp>
      <p:sp>
        <p:nvSpPr>
          <p:cNvPr id="864" name="Google Shape;864;p21"/>
          <p:cNvSpPr txBox="1"/>
          <p:nvPr/>
        </p:nvSpPr>
        <p:spPr>
          <a:xfrm>
            <a:off x="7031736" y="1627632"/>
            <a:ext cx="21214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中国增长</a:t>
            </a:r>
            <a:endParaRPr/>
          </a:p>
        </p:txBody>
      </p:sp>
      <p:sp>
        <p:nvSpPr>
          <p:cNvPr id="865" name="Google Shape;865;p21"/>
          <p:cNvSpPr txBox="1"/>
          <p:nvPr/>
        </p:nvSpPr>
        <p:spPr>
          <a:xfrm>
            <a:off x="7031736" y="1938528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2+</a:t>
            </a:r>
            <a:endParaRPr/>
          </a:p>
        </p:txBody>
      </p:sp>
      <p:sp>
        <p:nvSpPr>
          <p:cNvPr id="866" name="Google Shape;866;p21"/>
          <p:cNvSpPr txBox="1"/>
          <p:nvPr/>
        </p:nvSpPr>
        <p:spPr>
          <a:xfrm>
            <a:off x="7031736" y="2414016"/>
            <a:ext cx="1481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效果广告</a:t>
            </a:r>
            <a:endParaRPr/>
          </a:p>
        </p:txBody>
      </p:sp>
      <p:sp>
        <p:nvSpPr>
          <p:cNvPr id="867" name="Google Shape;867;p21"/>
          <p:cNvSpPr txBox="1"/>
          <p:nvPr/>
        </p:nvSpPr>
        <p:spPr>
          <a:xfrm>
            <a:off x="8458200" y="2414016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868" name="Google Shape;868;p21"/>
          <p:cNvSpPr txBox="1"/>
          <p:nvPr/>
        </p:nvSpPr>
        <p:spPr>
          <a:xfrm>
            <a:off x="7031736" y="2852928"/>
            <a:ext cx="1481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B2B 拓展</a:t>
            </a:r>
            <a:endParaRPr/>
          </a:p>
        </p:txBody>
      </p:sp>
      <p:sp>
        <p:nvSpPr>
          <p:cNvPr id="869" name="Google Shape;869;p21"/>
          <p:cNvSpPr txBox="1"/>
          <p:nvPr/>
        </p:nvSpPr>
        <p:spPr>
          <a:xfrm>
            <a:off x="8458200" y="2852928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1+</a:t>
            </a:r>
            <a:endParaRPr/>
          </a:p>
        </p:txBody>
      </p:sp>
      <p:sp>
        <p:nvSpPr>
          <p:cNvPr id="870" name="Google Shape;870;p21"/>
          <p:cNvSpPr txBox="1"/>
          <p:nvPr/>
        </p:nvSpPr>
        <p:spPr>
          <a:xfrm>
            <a:off x="7031736" y="3474720"/>
            <a:ext cx="2121408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同一批岗位同时覆盖校园、内容、合作与中国品牌运营。</a:t>
            </a:r>
            <a:endParaRPr/>
          </a:p>
        </p:txBody>
      </p:sp>
      <p:sp>
        <p:nvSpPr>
          <p:cNvPr id="871" name="Google Shape;871;p21"/>
          <p:cNvSpPr/>
          <p:nvPr/>
        </p:nvSpPr>
        <p:spPr>
          <a:xfrm>
            <a:off x="9418320" y="1298448"/>
            <a:ext cx="2377440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1"/>
          <p:cNvSpPr txBox="1"/>
          <p:nvPr/>
        </p:nvSpPr>
        <p:spPr>
          <a:xfrm>
            <a:off x="9546336" y="1408176"/>
            <a:ext cx="2121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2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计划中</a:t>
            </a:r>
            <a:endParaRPr/>
          </a:p>
        </p:txBody>
      </p:sp>
      <p:sp>
        <p:nvSpPr>
          <p:cNvPr id="873" name="Google Shape;873;p21"/>
          <p:cNvSpPr txBox="1"/>
          <p:nvPr/>
        </p:nvSpPr>
        <p:spPr>
          <a:xfrm>
            <a:off x="9546336" y="1627632"/>
            <a:ext cx="21214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美国增长</a:t>
            </a:r>
            <a:endParaRPr/>
          </a:p>
        </p:txBody>
      </p:sp>
      <p:sp>
        <p:nvSpPr>
          <p:cNvPr id="874" name="Google Shape;874;p21"/>
          <p:cNvSpPr txBox="1"/>
          <p:nvPr/>
        </p:nvSpPr>
        <p:spPr>
          <a:xfrm>
            <a:off x="9546336" y="1938528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3</a:t>
            </a:r>
            <a:endParaRPr/>
          </a:p>
        </p:txBody>
      </p:sp>
      <p:sp>
        <p:nvSpPr>
          <p:cNvPr id="875" name="Google Shape;875;p21"/>
          <p:cNvSpPr txBox="1"/>
          <p:nvPr/>
        </p:nvSpPr>
        <p:spPr>
          <a:xfrm>
            <a:off x="9546336" y="2414016"/>
            <a:ext cx="1481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效果广告</a:t>
            </a:r>
            <a:endParaRPr/>
          </a:p>
        </p:txBody>
      </p:sp>
      <p:sp>
        <p:nvSpPr>
          <p:cNvPr id="876" name="Google Shape;876;p21"/>
          <p:cNvSpPr txBox="1"/>
          <p:nvPr/>
        </p:nvSpPr>
        <p:spPr>
          <a:xfrm>
            <a:off x="10972800" y="2414016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877" name="Google Shape;877;p21"/>
          <p:cNvSpPr txBox="1"/>
          <p:nvPr/>
        </p:nvSpPr>
        <p:spPr>
          <a:xfrm>
            <a:off x="9546336" y="2852928"/>
            <a:ext cx="1481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本地 / 地推</a:t>
            </a:r>
            <a:endParaRPr/>
          </a:p>
        </p:txBody>
      </p:sp>
      <p:sp>
        <p:nvSpPr>
          <p:cNvPr id="878" name="Google Shape;878;p21"/>
          <p:cNvSpPr txBox="1"/>
          <p:nvPr/>
        </p:nvSpPr>
        <p:spPr>
          <a:xfrm>
            <a:off x="10972800" y="2852928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2</a:t>
            </a:r>
            <a:endParaRPr/>
          </a:p>
        </p:txBody>
      </p:sp>
      <p:sp>
        <p:nvSpPr>
          <p:cNvPr id="879" name="Google Shape;879;p21"/>
          <p:cNvSpPr txBox="1"/>
          <p:nvPr/>
        </p:nvSpPr>
        <p:spPr>
          <a:xfrm>
            <a:off x="9546336" y="3474720"/>
            <a:ext cx="2121408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同一批岗位同时覆盖高校、雇主活动、英语品牌与社区。</a:t>
            </a:r>
            <a:endParaRPr/>
          </a:p>
        </p:txBody>
      </p:sp>
      <p:pic>
        <p:nvPicPr>
          <p:cNvPr descr="51careers_logo_dark.png" id="880" name="Google Shape;88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21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882" name="Google Shape;882;p21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22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资金用途</a:t>
            </a:r>
            <a:endParaRPr/>
          </a:p>
        </p:txBody>
      </p:sp>
      <p:sp>
        <p:nvSpPr>
          <p:cNvPr id="888" name="Google Shape;888;p22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人民币2,000万元成长融资</a:t>
            </a:r>
            <a:endParaRPr/>
          </a:p>
        </p:txBody>
      </p:sp>
      <p:sp>
        <p:nvSpPr>
          <p:cNvPr id="889" name="Google Shape;889;p22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人民币1,310万为计划中的人员+广告。其余资金用于产品、运营、活动与现金跑道。</a:t>
            </a:r>
            <a:endParaRPr/>
          </a:p>
        </p:txBody>
      </p:sp>
      <p:graphicFrame>
        <p:nvGraphicFramePr>
          <p:cNvPr id="890" name="Google Shape;890;p22"/>
          <p:cNvGraphicFramePr/>
          <p:nvPr/>
        </p:nvGraphicFramePr>
        <p:xfrm>
          <a:off x="457200" y="1298448"/>
          <a:ext cx="4389120" cy="31089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891" name="Google Shape;891;p22"/>
          <p:cNvSpPr txBox="1"/>
          <p:nvPr/>
        </p:nvSpPr>
        <p:spPr>
          <a:xfrm>
            <a:off x="5029200" y="1353312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市场与获客——美国与中国广告</a:t>
            </a:r>
            <a:endParaRPr/>
          </a:p>
        </p:txBody>
      </p:sp>
      <p:sp>
        <p:nvSpPr>
          <p:cNvPr id="892" name="Google Shape;892;p22"/>
          <p:cNvSpPr txBox="1"/>
          <p:nvPr/>
        </p:nvSpPr>
        <p:spPr>
          <a:xfrm>
            <a:off x="9326880" y="1353312"/>
            <a:ext cx="2039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40%  ·  RMB 8.0M</a:t>
            </a:r>
            <a:endParaRPr/>
          </a:p>
        </p:txBody>
      </p:sp>
      <p:sp>
        <p:nvSpPr>
          <p:cNvPr id="893" name="Google Shape;893;p22"/>
          <p:cNvSpPr txBox="1"/>
          <p:nvPr/>
        </p:nvSpPr>
        <p:spPr>
          <a:xfrm>
            <a:off x="5029200" y="1773936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产品与 AI 研发</a:t>
            </a:r>
            <a:endParaRPr/>
          </a:p>
        </p:txBody>
      </p:sp>
      <p:sp>
        <p:nvSpPr>
          <p:cNvPr id="894" name="Google Shape;894;p22"/>
          <p:cNvSpPr txBox="1"/>
          <p:nvPr/>
        </p:nvSpPr>
        <p:spPr>
          <a:xfrm>
            <a:off x="9326880" y="1773936"/>
            <a:ext cx="2039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22.5%  ·  RMB 4.5M</a:t>
            </a:r>
            <a:endParaRPr/>
          </a:p>
        </p:txBody>
      </p:sp>
      <p:sp>
        <p:nvSpPr>
          <p:cNvPr id="895" name="Google Shape;895;p22"/>
          <p:cNvSpPr txBox="1"/>
          <p:nvPr/>
        </p:nvSpPr>
        <p:spPr>
          <a:xfrm>
            <a:off x="5029200" y="2194560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人员与人才——计划招聘</a:t>
            </a:r>
            <a:r>
              <a:rPr lang="en-US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endParaRPr/>
          </a:p>
        </p:txBody>
      </p:sp>
      <p:sp>
        <p:nvSpPr>
          <p:cNvPr id="896" name="Google Shape;896;p22"/>
          <p:cNvSpPr txBox="1"/>
          <p:nvPr/>
        </p:nvSpPr>
        <p:spPr>
          <a:xfrm>
            <a:off x="9326880" y="2194560"/>
            <a:ext cx="2039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25</a:t>
            </a: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.5%  ·  RMB </a:t>
            </a:r>
            <a:r>
              <a:rPr b="1" lang="en-US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5.1</a:t>
            </a: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M</a:t>
            </a:r>
            <a:endParaRPr/>
          </a:p>
        </p:txBody>
      </p:sp>
      <p:sp>
        <p:nvSpPr>
          <p:cNvPr id="897" name="Google Shape;897;p22"/>
          <p:cNvSpPr txBox="1"/>
          <p:nvPr/>
        </p:nvSpPr>
        <p:spPr>
          <a:xfrm>
            <a:off x="5029200" y="2615184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运营与营运资金</a:t>
            </a:r>
            <a:endParaRPr/>
          </a:p>
        </p:txBody>
      </p:sp>
      <p:sp>
        <p:nvSpPr>
          <p:cNvPr id="898" name="Google Shape;898;p22"/>
          <p:cNvSpPr txBox="1"/>
          <p:nvPr/>
        </p:nvSpPr>
        <p:spPr>
          <a:xfrm>
            <a:off x="9326880" y="2615184"/>
            <a:ext cx="2039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12</a:t>
            </a: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%  ·  RMB </a:t>
            </a:r>
            <a:r>
              <a:rPr b="1" lang="en-US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2.4</a:t>
            </a: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M</a:t>
            </a:r>
            <a:endParaRPr/>
          </a:p>
        </p:txBody>
      </p:sp>
      <p:sp>
        <p:nvSpPr>
          <p:cNvPr id="899" name="Google Shape;899;p22"/>
          <p:cNvSpPr txBox="1"/>
          <p:nvPr/>
        </p:nvSpPr>
        <p:spPr>
          <a:xfrm>
            <a:off x="5029200" y="3035808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     品牌与活动</a:t>
            </a: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endParaRPr/>
          </a:p>
        </p:txBody>
      </p:sp>
      <p:sp>
        <p:nvSpPr>
          <p:cNvPr id="900" name="Google Shape;900;p22"/>
          <p:cNvSpPr txBox="1"/>
          <p:nvPr/>
        </p:nvSpPr>
        <p:spPr>
          <a:xfrm>
            <a:off x="9326880" y="3035808"/>
            <a:ext cx="2039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2</a:t>
            </a: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%  ·  RMB </a:t>
            </a:r>
            <a:r>
              <a:rPr b="1" lang="en-US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0.4</a:t>
            </a: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M</a:t>
            </a:r>
            <a:endParaRPr/>
          </a:p>
        </p:txBody>
      </p:sp>
      <p:sp>
        <p:nvSpPr>
          <p:cNvPr id="901" name="Google Shape;901;p22"/>
          <p:cNvSpPr txBox="1"/>
          <p:nvPr/>
        </p:nvSpPr>
        <p:spPr>
          <a:xfrm>
            <a:off x="5029200" y="3456432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     运营 / 法务 / 财务</a:t>
            </a: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endParaRPr/>
          </a:p>
        </p:txBody>
      </p:sp>
      <p:sp>
        <p:nvSpPr>
          <p:cNvPr id="902" name="Google Shape;902;p22"/>
          <p:cNvSpPr txBox="1"/>
          <p:nvPr/>
        </p:nvSpPr>
        <p:spPr>
          <a:xfrm>
            <a:off x="9326880" y="3456432"/>
            <a:ext cx="2039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5%  ·  RMB 1.0M</a:t>
            </a:r>
            <a:endParaRPr/>
          </a:p>
        </p:txBody>
      </p:sp>
      <p:sp>
        <p:nvSpPr>
          <p:cNvPr id="903" name="Google Shape;903;p22"/>
          <p:cNvSpPr txBox="1"/>
          <p:nvPr/>
        </p:nvSpPr>
        <p:spPr>
          <a:xfrm>
            <a:off x="5029200" y="3877056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     现金储备</a:t>
            </a: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endParaRPr/>
          </a:p>
        </p:txBody>
      </p:sp>
      <p:sp>
        <p:nvSpPr>
          <p:cNvPr id="904" name="Google Shape;904;p22"/>
          <p:cNvSpPr txBox="1"/>
          <p:nvPr/>
        </p:nvSpPr>
        <p:spPr>
          <a:xfrm>
            <a:off x="9326880" y="3877056"/>
            <a:ext cx="2039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5%  ·  RMB 1.0M</a:t>
            </a:r>
            <a:endParaRPr/>
          </a:p>
        </p:txBody>
      </p:sp>
      <p:sp>
        <p:nvSpPr>
          <p:cNvPr id="905" name="Google Shape;905;p22"/>
          <p:cNvSpPr/>
          <p:nvPr/>
        </p:nvSpPr>
        <p:spPr>
          <a:xfrm>
            <a:off x="822960" y="4572000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22"/>
          <p:cNvSpPr txBox="1"/>
          <p:nvPr/>
        </p:nvSpPr>
        <p:spPr>
          <a:xfrm>
            <a:off x="969264" y="4663440"/>
            <a:ext cx="22677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00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团队扩张</a:t>
            </a:r>
            <a:endParaRPr/>
          </a:p>
        </p:txBody>
      </p:sp>
      <p:sp>
        <p:nvSpPr>
          <p:cNvPr id="907" name="Google Shape;907;p22"/>
          <p:cNvSpPr txBox="1"/>
          <p:nvPr/>
        </p:nvSpPr>
        <p:spPr>
          <a:xfrm>
            <a:off x="969264" y="4882896"/>
            <a:ext cx="22677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RMB 5.1M</a:t>
            </a:r>
            <a:endParaRPr/>
          </a:p>
        </p:txBody>
      </p:sp>
      <p:sp>
        <p:nvSpPr>
          <p:cNvPr id="908" name="Google Shape;908;p22"/>
          <p:cNvSpPr txBox="1"/>
          <p:nvPr/>
        </p:nvSpPr>
        <p:spPr>
          <a:xfrm>
            <a:off x="969264" y="5248656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计划招聘</a:t>
            </a:r>
            <a:r>
              <a:rPr lang="en-US" sz="1300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endParaRPr/>
          </a:p>
        </p:txBody>
      </p:sp>
      <p:sp>
        <p:nvSpPr>
          <p:cNvPr id="909" name="Google Shape;909;p22"/>
          <p:cNvSpPr/>
          <p:nvPr/>
        </p:nvSpPr>
        <p:spPr>
          <a:xfrm>
            <a:off x="3483864" y="4572000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2"/>
          <p:cNvSpPr txBox="1"/>
          <p:nvPr/>
        </p:nvSpPr>
        <p:spPr>
          <a:xfrm>
            <a:off x="3630168" y="4663440"/>
            <a:ext cx="22677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2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中国广告</a:t>
            </a:r>
            <a:endParaRPr/>
          </a:p>
        </p:txBody>
      </p:sp>
      <p:sp>
        <p:nvSpPr>
          <p:cNvPr id="911" name="Google Shape;911;p22"/>
          <p:cNvSpPr txBox="1"/>
          <p:nvPr/>
        </p:nvSpPr>
        <p:spPr>
          <a:xfrm>
            <a:off x="3630168" y="4882896"/>
            <a:ext cx="22677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RMB 1.0M</a:t>
            </a:r>
            <a:endParaRPr/>
          </a:p>
        </p:txBody>
      </p:sp>
      <p:sp>
        <p:nvSpPr>
          <p:cNvPr id="912" name="Google Shape;912;p22"/>
          <p:cNvSpPr txBox="1"/>
          <p:nvPr/>
        </p:nvSpPr>
        <p:spPr>
          <a:xfrm>
            <a:off x="3630168" y="5248656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计划年度支出</a:t>
            </a:r>
            <a:endParaRPr/>
          </a:p>
        </p:txBody>
      </p:sp>
      <p:sp>
        <p:nvSpPr>
          <p:cNvPr id="913" name="Google Shape;913;p22"/>
          <p:cNvSpPr/>
          <p:nvPr/>
        </p:nvSpPr>
        <p:spPr>
          <a:xfrm>
            <a:off x="6144768" y="4572000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2"/>
          <p:cNvSpPr txBox="1"/>
          <p:nvPr/>
        </p:nvSpPr>
        <p:spPr>
          <a:xfrm>
            <a:off x="6291072" y="4663440"/>
            <a:ext cx="22677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2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美国广告</a:t>
            </a:r>
            <a:endParaRPr/>
          </a:p>
        </p:txBody>
      </p:sp>
      <p:sp>
        <p:nvSpPr>
          <p:cNvPr id="915" name="Google Shape;915;p22"/>
          <p:cNvSpPr txBox="1"/>
          <p:nvPr/>
        </p:nvSpPr>
        <p:spPr>
          <a:xfrm>
            <a:off x="6291072" y="4882896"/>
            <a:ext cx="22677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RMB 7.0M</a:t>
            </a:r>
            <a:endParaRPr/>
          </a:p>
        </p:txBody>
      </p:sp>
      <p:sp>
        <p:nvSpPr>
          <p:cNvPr id="916" name="Google Shape;916;p22"/>
          <p:cNvSpPr txBox="1"/>
          <p:nvPr/>
        </p:nvSpPr>
        <p:spPr>
          <a:xfrm>
            <a:off x="6291072" y="5248656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计划年度支出</a:t>
            </a:r>
            <a:endParaRPr/>
          </a:p>
        </p:txBody>
      </p:sp>
      <p:sp>
        <p:nvSpPr>
          <p:cNvPr id="917" name="Google Shape;917;p22"/>
          <p:cNvSpPr/>
          <p:nvPr/>
        </p:nvSpPr>
        <p:spPr>
          <a:xfrm>
            <a:off x="8805672" y="4572000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2"/>
          <p:cNvSpPr txBox="1"/>
          <p:nvPr/>
        </p:nvSpPr>
        <p:spPr>
          <a:xfrm>
            <a:off x="8951976" y="4663440"/>
            <a:ext cx="22677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2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人员+广告预算</a:t>
            </a:r>
            <a:endParaRPr/>
          </a:p>
        </p:txBody>
      </p:sp>
      <p:sp>
        <p:nvSpPr>
          <p:cNvPr id="919" name="Google Shape;919;p22"/>
          <p:cNvSpPr txBox="1"/>
          <p:nvPr/>
        </p:nvSpPr>
        <p:spPr>
          <a:xfrm>
            <a:off x="8951976" y="4882896"/>
            <a:ext cx="22677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RMB 13.1M</a:t>
            </a:r>
            <a:endParaRPr/>
          </a:p>
        </p:txBody>
      </p:sp>
      <p:sp>
        <p:nvSpPr>
          <p:cNvPr id="920" name="Google Shape;920;p22"/>
          <p:cNvSpPr txBox="1"/>
          <p:nvPr/>
        </p:nvSpPr>
        <p:spPr>
          <a:xfrm>
            <a:off x="8951976" y="5248656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人员 + 广告</a:t>
            </a:r>
            <a:endParaRPr/>
          </a:p>
        </p:txBody>
      </p:sp>
      <p:sp>
        <p:nvSpPr>
          <p:cNvPr id="921" name="Google Shape;921;p22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2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资本规划</a:t>
            </a:r>
            <a:endParaRPr/>
          </a:p>
        </p:txBody>
      </p:sp>
      <p:sp>
        <p:nvSpPr>
          <p:cNvPr id="923" name="Google Shape;923;p22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打造产品、获取用户、验证单位经济模型，并保留现金储备。</a:t>
            </a:r>
            <a:endParaRPr/>
          </a:p>
        </p:txBody>
      </p:sp>
      <p:pic>
        <p:nvPicPr>
          <p:cNvPr descr="51careers_logo_dark.png" id="924" name="Google Shape;92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22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926" name="Google Shape;926;p22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23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增长路线图</a:t>
            </a:r>
            <a:endParaRPr/>
          </a:p>
        </p:txBody>
      </p:sp>
      <p:sp>
        <p:nvSpPr>
          <p:cNvPr id="932" name="Google Shape;932;p23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验证 → 增长 → 全球扩张</a:t>
            </a:r>
            <a:endParaRPr/>
          </a:p>
        </p:txBody>
      </p:sp>
      <p:sp>
        <p:nvSpPr>
          <p:cNvPr id="933" name="Google Shape;933;p23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从上线到多市场分发，约12至24个月。</a:t>
            </a:r>
            <a:endParaRPr/>
          </a:p>
        </p:txBody>
      </p:sp>
      <p:sp>
        <p:nvSpPr>
          <p:cNvPr id="934" name="Google Shape;934;p23"/>
          <p:cNvSpPr/>
          <p:nvPr/>
        </p:nvSpPr>
        <p:spPr>
          <a:xfrm>
            <a:off x="822960" y="1298448"/>
            <a:ext cx="3392424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23"/>
          <p:cNvSpPr/>
          <p:nvPr/>
        </p:nvSpPr>
        <p:spPr>
          <a:xfrm>
            <a:off x="1005840" y="144475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3"/>
          <p:cNvSpPr txBox="1"/>
          <p:nvPr/>
        </p:nvSpPr>
        <p:spPr>
          <a:xfrm>
            <a:off x="1005840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937" name="Google Shape;937;p23"/>
          <p:cNvSpPr txBox="1"/>
          <p:nvPr/>
        </p:nvSpPr>
        <p:spPr>
          <a:xfrm>
            <a:off x="1463040" y="144475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第一阶段  ·  0–6个月</a:t>
            </a:r>
            <a:endParaRPr/>
          </a:p>
        </p:txBody>
      </p:sp>
      <p:sp>
        <p:nvSpPr>
          <p:cNvPr id="938" name="Google Shape;938;p23"/>
          <p:cNvSpPr txBox="1"/>
          <p:nvPr/>
        </p:nvSpPr>
        <p:spPr>
          <a:xfrm>
            <a:off x="1005840" y="1901952"/>
            <a:ext cx="3026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8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产品验证</a:t>
            </a:r>
            <a:endParaRPr/>
          </a:p>
        </p:txBody>
      </p:sp>
      <p:sp>
        <p:nvSpPr>
          <p:cNvPr id="939" name="Google Shape;939;p23"/>
          <p:cNvSpPr txBox="1"/>
          <p:nvPr/>
        </p:nvSpPr>
        <p:spPr>
          <a:xfrm>
            <a:off x="1005840" y="234086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上线 AI 简历</a:t>
            </a:r>
            <a:endParaRPr/>
          </a:p>
        </p:txBody>
      </p:sp>
      <p:sp>
        <p:nvSpPr>
          <p:cNvPr id="940" name="Google Shape;940;p23"/>
          <p:cNvSpPr txBox="1"/>
          <p:nvPr/>
        </p:nvSpPr>
        <p:spPr>
          <a:xfrm>
            <a:off x="1005840" y="298094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提升 AI 质量</a:t>
            </a:r>
            <a:endParaRPr/>
          </a:p>
        </p:txBody>
      </p:sp>
      <p:sp>
        <p:nvSpPr>
          <p:cNvPr id="941" name="Google Shape;941;p23"/>
          <p:cNvSpPr txBox="1"/>
          <p:nvPr/>
        </p:nvSpPr>
        <p:spPr>
          <a:xfrm>
            <a:off x="1005840" y="362102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结构化 A/B 测试</a:t>
            </a:r>
            <a:endParaRPr/>
          </a:p>
        </p:txBody>
      </p:sp>
      <p:sp>
        <p:nvSpPr>
          <p:cNvPr id="942" name="Google Shape;942;p23"/>
          <p:cNvSpPr txBox="1"/>
          <p:nvPr/>
        </p:nvSpPr>
        <p:spPr>
          <a:xfrm>
            <a:off x="1005840" y="426110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初期 CAC 基准</a:t>
            </a:r>
            <a:endParaRPr/>
          </a:p>
        </p:txBody>
      </p:sp>
      <p:sp>
        <p:nvSpPr>
          <p:cNvPr id="943" name="Google Shape;943;p23"/>
          <p:cNvSpPr txBox="1"/>
          <p:nvPr/>
        </p:nvSpPr>
        <p:spPr>
          <a:xfrm>
            <a:off x="1005840" y="490118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转化漏斗</a:t>
            </a:r>
            <a:endParaRPr/>
          </a:p>
        </p:txBody>
      </p:sp>
      <p:sp>
        <p:nvSpPr>
          <p:cNvPr id="944" name="Google Shape;944;p23"/>
          <p:cNvSpPr txBox="1"/>
          <p:nvPr/>
        </p:nvSpPr>
        <p:spPr>
          <a:xfrm>
            <a:off x="1005840" y="554126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验证定价</a:t>
            </a:r>
            <a:endParaRPr/>
          </a:p>
        </p:txBody>
      </p:sp>
      <p:sp>
        <p:nvSpPr>
          <p:cNvPr id="945" name="Google Shape;945;p23"/>
          <p:cNvSpPr/>
          <p:nvPr/>
        </p:nvSpPr>
        <p:spPr>
          <a:xfrm>
            <a:off x="4398264" y="1298448"/>
            <a:ext cx="3392424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23"/>
          <p:cNvSpPr/>
          <p:nvPr/>
        </p:nvSpPr>
        <p:spPr>
          <a:xfrm>
            <a:off x="4581144" y="144475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3"/>
          <p:cNvSpPr txBox="1"/>
          <p:nvPr/>
        </p:nvSpPr>
        <p:spPr>
          <a:xfrm>
            <a:off x="4581144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2</a:t>
            </a:r>
            <a:endParaRPr/>
          </a:p>
        </p:txBody>
      </p:sp>
      <p:sp>
        <p:nvSpPr>
          <p:cNvPr id="948" name="Google Shape;948;p23"/>
          <p:cNvSpPr txBox="1"/>
          <p:nvPr/>
        </p:nvSpPr>
        <p:spPr>
          <a:xfrm>
            <a:off x="5038344" y="144475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第二阶段  ·  6–12个月</a:t>
            </a:r>
            <a:endParaRPr/>
          </a:p>
        </p:txBody>
      </p:sp>
      <p:sp>
        <p:nvSpPr>
          <p:cNvPr id="949" name="Google Shape;949;p23"/>
          <p:cNvSpPr txBox="1"/>
          <p:nvPr/>
        </p:nvSpPr>
        <p:spPr>
          <a:xfrm>
            <a:off x="4581144" y="1901952"/>
            <a:ext cx="3026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8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增长</a:t>
            </a:r>
            <a:endParaRPr/>
          </a:p>
        </p:txBody>
      </p:sp>
      <p:sp>
        <p:nvSpPr>
          <p:cNvPr id="950" name="Google Shape;950;p23"/>
          <p:cNvSpPr txBox="1"/>
          <p:nvPr/>
        </p:nvSpPr>
        <p:spPr>
          <a:xfrm>
            <a:off x="4581144" y="234086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扩大付费获客</a:t>
            </a:r>
            <a:endParaRPr/>
          </a:p>
        </p:txBody>
      </p:sp>
      <p:sp>
        <p:nvSpPr>
          <p:cNvPr id="951" name="Google Shape;951;p23"/>
          <p:cNvSpPr txBox="1"/>
          <p:nvPr/>
        </p:nvSpPr>
        <p:spPr>
          <a:xfrm>
            <a:off x="4581144" y="298094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建设 SEO 引擎</a:t>
            </a:r>
            <a:endParaRPr/>
          </a:p>
        </p:txBody>
      </p:sp>
      <p:sp>
        <p:nvSpPr>
          <p:cNvPr id="952" name="Google Shape;952;p23"/>
          <p:cNvSpPr txBox="1"/>
          <p:nvPr/>
        </p:nvSpPr>
        <p:spPr>
          <a:xfrm>
            <a:off x="4581144" y="362102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扩大美国获客</a:t>
            </a:r>
            <a:endParaRPr/>
          </a:p>
        </p:txBody>
      </p:sp>
      <p:sp>
        <p:nvSpPr>
          <p:cNvPr id="953" name="Google Shape;953;p23"/>
          <p:cNvSpPr txBox="1"/>
          <p:nvPr/>
        </p:nvSpPr>
        <p:spPr>
          <a:xfrm>
            <a:off x="4581144" y="426110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B2B 合作</a:t>
            </a:r>
            <a:endParaRPr/>
          </a:p>
        </p:txBody>
      </p:sp>
      <p:sp>
        <p:nvSpPr>
          <p:cNvPr id="954" name="Google Shape;954;p23"/>
          <p:cNvSpPr txBox="1"/>
          <p:nvPr/>
        </p:nvSpPr>
        <p:spPr>
          <a:xfrm>
            <a:off x="4581144" y="490118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更多 AI 职业功能</a:t>
            </a:r>
            <a:endParaRPr/>
          </a:p>
        </p:txBody>
      </p:sp>
      <p:sp>
        <p:nvSpPr>
          <p:cNvPr id="955" name="Google Shape;955;p23"/>
          <p:cNvSpPr txBox="1"/>
          <p:nvPr/>
        </p:nvSpPr>
        <p:spPr>
          <a:xfrm>
            <a:off x="4581144" y="554126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扩大变现</a:t>
            </a:r>
            <a:endParaRPr/>
          </a:p>
        </p:txBody>
      </p:sp>
      <p:sp>
        <p:nvSpPr>
          <p:cNvPr id="956" name="Google Shape;956;p23"/>
          <p:cNvSpPr/>
          <p:nvPr/>
        </p:nvSpPr>
        <p:spPr>
          <a:xfrm>
            <a:off x="7973568" y="1298448"/>
            <a:ext cx="3392424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23"/>
          <p:cNvSpPr/>
          <p:nvPr/>
        </p:nvSpPr>
        <p:spPr>
          <a:xfrm>
            <a:off x="8156448" y="144475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23"/>
          <p:cNvSpPr txBox="1"/>
          <p:nvPr/>
        </p:nvSpPr>
        <p:spPr>
          <a:xfrm>
            <a:off x="8156448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3</a:t>
            </a:r>
            <a:endParaRPr/>
          </a:p>
        </p:txBody>
      </p:sp>
      <p:sp>
        <p:nvSpPr>
          <p:cNvPr id="959" name="Google Shape;959;p23"/>
          <p:cNvSpPr txBox="1"/>
          <p:nvPr/>
        </p:nvSpPr>
        <p:spPr>
          <a:xfrm>
            <a:off x="8613648" y="144475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第三阶段  ·  12–24个月</a:t>
            </a:r>
            <a:endParaRPr/>
          </a:p>
        </p:txBody>
      </p:sp>
      <p:sp>
        <p:nvSpPr>
          <p:cNvPr id="960" name="Google Shape;960;p23"/>
          <p:cNvSpPr txBox="1"/>
          <p:nvPr/>
        </p:nvSpPr>
        <p:spPr>
          <a:xfrm>
            <a:off x="8156448" y="1901952"/>
            <a:ext cx="3026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8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全球扩张</a:t>
            </a:r>
            <a:endParaRPr/>
          </a:p>
        </p:txBody>
      </p:sp>
      <p:sp>
        <p:nvSpPr>
          <p:cNvPr id="961" name="Google Shape;961;p23"/>
          <p:cNvSpPr txBox="1"/>
          <p:nvPr/>
        </p:nvSpPr>
        <p:spPr>
          <a:xfrm>
            <a:off x="8156448" y="234086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更多市场</a:t>
            </a:r>
            <a:r>
              <a:rPr lang="en-US" sz="1500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endParaRPr/>
          </a:p>
        </p:txBody>
      </p:sp>
      <p:sp>
        <p:nvSpPr>
          <p:cNvPr id="962" name="Google Shape;962;p23"/>
          <p:cNvSpPr txBox="1"/>
          <p:nvPr/>
        </p:nvSpPr>
        <p:spPr>
          <a:xfrm>
            <a:off x="8156448" y="298094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本地化产品</a:t>
            </a:r>
            <a:endParaRPr/>
          </a:p>
        </p:txBody>
      </p:sp>
      <p:sp>
        <p:nvSpPr>
          <p:cNvPr id="963" name="Google Shape;963;p23"/>
          <p:cNvSpPr txBox="1"/>
          <p:nvPr/>
        </p:nvSpPr>
        <p:spPr>
          <a:xfrm>
            <a:off x="8156448" y="362102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全球合作</a:t>
            </a:r>
            <a:endParaRPr/>
          </a:p>
        </p:txBody>
      </p:sp>
      <p:sp>
        <p:nvSpPr>
          <p:cNvPr id="964" name="Google Shape;964;p23"/>
          <p:cNvSpPr txBox="1"/>
          <p:nvPr/>
        </p:nvSpPr>
        <p:spPr>
          <a:xfrm>
            <a:off x="8156448" y="426110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雇主生态</a:t>
            </a:r>
            <a:endParaRPr/>
          </a:p>
        </p:txBody>
      </p:sp>
      <p:sp>
        <p:nvSpPr>
          <p:cNvPr id="965" name="Google Shape;965;p23"/>
          <p:cNvSpPr txBox="1"/>
          <p:nvPr/>
        </p:nvSpPr>
        <p:spPr>
          <a:xfrm>
            <a:off x="8156448" y="490118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市场平台能力</a:t>
            </a:r>
            <a:endParaRPr/>
          </a:p>
        </p:txBody>
      </p:sp>
      <p:pic>
        <p:nvPicPr>
          <p:cNvPr descr="51careers_logo_dark.png" id="966" name="Google Shape;96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23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968" name="Google Shape;968;p23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23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24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财务模型</a:t>
            </a:r>
            <a:endParaRPr/>
          </a:p>
        </p:txBody>
      </p:sp>
      <p:sp>
        <p:nvSpPr>
          <p:cNvPr id="974" name="Google Shape;974;p24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600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运营指标、收入与盈利能力</a:t>
            </a: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endParaRPr/>
          </a:p>
        </p:txBody>
      </p:sp>
      <p:sp>
        <p:nvSpPr>
          <p:cNvPr id="975" name="Google Shape;975;p24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2027E–2029E 示意性经营计划。金额单位为美元。</a:t>
            </a:r>
            <a:endParaRPr/>
          </a:p>
        </p:txBody>
      </p:sp>
      <p:sp>
        <p:nvSpPr>
          <p:cNvPr id="976" name="Google Shape;976;p24"/>
          <p:cNvSpPr/>
          <p:nvPr/>
        </p:nvSpPr>
        <p:spPr>
          <a:xfrm>
            <a:off x="822960" y="1298448"/>
            <a:ext cx="3392424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4"/>
          <p:cNvSpPr txBox="1"/>
          <p:nvPr/>
        </p:nvSpPr>
        <p:spPr>
          <a:xfrm>
            <a:off x="969264" y="1389888"/>
            <a:ext cx="3099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运营指标</a:t>
            </a:r>
            <a:endParaRPr/>
          </a:p>
        </p:txBody>
      </p:sp>
      <p:sp>
        <p:nvSpPr>
          <p:cNvPr id="978" name="Google Shape;978;p24"/>
          <p:cNvSpPr txBox="1"/>
          <p:nvPr/>
        </p:nvSpPr>
        <p:spPr>
          <a:xfrm>
            <a:off x="1993392" y="1700784"/>
            <a:ext cx="7132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2027E</a:t>
            </a:r>
            <a:endParaRPr/>
          </a:p>
        </p:txBody>
      </p:sp>
      <p:sp>
        <p:nvSpPr>
          <p:cNvPr id="979" name="Google Shape;979;p24"/>
          <p:cNvSpPr txBox="1"/>
          <p:nvPr/>
        </p:nvSpPr>
        <p:spPr>
          <a:xfrm>
            <a:off x="2706624" y="1700784"/>
            <a:ext cx="7132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2028E</a:t>
            </a:r>
            <a:endParaRPr/>
          </a:p>
        </p:txBody>
      </p:sp>
      <p:sp>
        <p:nvSpPr>
          <p:cNvPr id="980" name="Google Shape;980;p24"/>
          <p:cNvSpPr txBox="1"/>
          <p:nvPr/>
        </p:nvSpPr>
        <p:spPr>
          <a:xfrm>
            <a:off x="3419856" y="1700784"/>
            <a:ext cx="7132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2029E</a:t>
            </a:r>
            <a:endParaRPr/>
          </a:p>
        </p:txBody>
      </p:sp>
      <p:sp>
        <p:nvSpPr>
          <p:cNvPr id="981" name="Google Shape;981;p24"/>
          <p:cNvSpPr txBox="1"/>
          <p:nvPr/>
        </p:nvSpPr>
        <p:spPr>
          <a:xfrm>
            <a:off x="969264" y="1993392"/>
            <a:ext cx="1024128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用户</a:t>
            </a:r>
            <a:endParaRPr/>
          </a:p>
        </p:txBody>
      </p:sp>
      <p:sp>
        <p:nvSpPr>
          <p:cNvPr id="982" name="Google Shape;982;p24"/>
          <p:cNvSpPr txBox="1"/>
          <p:nvPr/>
        </p:nvSpPr>
        <p:spPr>
          <a:xfrm>
            <a:off x="1993392" y="1993392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1.0M</a:t>
            </a:r>
            <a:endParaRPr/>
          </a:p>
        </p:txBody>
      </p:sp>
      <p:sp>
        <p:nvSpPr>
          <p:cNvPr id="983" name="Google Shape;983;p24"/>
          <p:cNvSpPr txBox="1"/>
          <p:nvPr/>
        </p:nvSpPr>
        <p:spPr>
          <a:xfrm>
            <a:off x="2706624" y="1993392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3.0M</a:t>
            </a:r>
            <a:endParaRPr/>
          </a:p>
        </p:txBody>
      </p:sp>
      <p:sp>
        <p:nvSpPr>
          <p:cNvPr id="984" name="Google Shape;984;p24"/>
          <p:cNvSpPr txBox="1"/>
          <p:nvPr/>
        </p:nvSpPr>
        <p:spPr>
          <a:xfrm>
            <a:off x="3419856" y="1993392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7.0M</a:t>
            </a:r>
            <a:endParaRPr/>
          </a:p>
        </p:txBody>
      </p:sp>
      <p:sp>
        <p:nvSpPr>
          <p:cNvPr id="985" name="Google Shape;985;p24"/>
          <p:cNvSpPr txBox="1"/>
          <p:nvPr/>
        </p:nvSpPr>
        <p:spPr>
          <a:xfrm>
            <a:off x="969264" y="2834639"/>
            <a:ext cx="1024128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注册用户</a:t>
            </a:r>
            <a:endParaRPr/>
          </a:p>
        </p:txBody>
      </p:sp>
      <p:sp>
        <p:nvSpPr>
          <p:cNvPr id="986" name="Google Shape;986;p24"/>
          <p:cNvSpPr txBox="1"/>
          <p:nvPr/>
        </p:nvSpPr>
        <p:spPr>
          <a:xfrm>
            <a:off x="1993392" y="2834639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300K</a:t>
            </a:r>
            <a:endParaRPr/>
          </a:p>
        </p:txBody>
      </p:sp>
      <p:sp>
        <p:nvSpPr>
          <p:cNvPr id="987" name="Google Shape;987;p24"/>
          <p:cNvSpPr txBox="1"/>
          <p:nvPr/>
        </p:nvSpPr>
        <p:spPr>
          <a:xfrm>
            <a:off x="2706624" y="2834639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1.0M</a:t>
            </a:r>
            <a:endParaRPr/>
          </a:p>
        </p:txBody>
      </p:sp>
      <p:sp>
        <p:nvSpPr>
          <p:cNvPr id="988" name="Google Shape;988;p24"/>
          <p:cNvSpPr txBox="1"/>
          <p:nvPr/>
        </p:nvSpPr>
        <p:spPr>
          <a:xfrm>
            <a:off x="3419856" y="2834639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2.5M</a:t>
            </a:r>
            <a:endParaRPr/>
          </a:p>
        </p:txBody>
      </p:sp>
      <p:sp>
        <p:nvSpPr>
          <p:cNvPr id="989" name="Google Shape;989;p24"/>
          <p:cNvSpPr txBox="1"/>
          <p:nvPr/>
        </p:nvSpPr>
        <p:spPr>
          <a:xfrm>
            <a:off x="969264" y="3675886"/>
            <a:ext cx="1024128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MAU</a:t>
            </a:r>
            <a:endParaRPr/>
          </a:p>
        </p:txBody>
      </p:sp>
      <p:sp>
        <p:nvSpPr>
          <p:cNvPr id="990" name="Google Shape;990;p24"/>
          <p:cNvSpPr txBox="1"/>
          <p:nvPr/>
        </p:nvSpPr>
        <p:spPr>
          <a:xfrm>
            <a:off x="1993392" y="3675886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150K</a:t>
            </a:r>
            <a:endParaRPr/>
          </a:p>
        </p:txBody>
      </p:sp>
      <p:sp>
        <p:nvSpPr>
          <p:cNvPr id="991" name="Google Shape;991;p24"/>
          <p:cNvSpPr txBox="1"/>
          <p:nvPr/>
        </p:nvSpPr>
        <p:spPr>
          <a:xfrm>
            <a:off x="2706624" y="3675886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500K</a:t>
            </a:r>
            <a:endParaRPr/>
          </a:p>
        </p:txBody>
      </p:sp>
      <p:sp>
        <p:nvSpPr>
          <p:cNvPr id="992" name="Google Shape;992;p24"/>
          <p:cNvSpPr txBox="1"/>
          <p:nvPr/>
        </p:nvSpPr>
        <p:spPr>
          <a:xfrm>
            <a:off x="3419856" y="3675886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1.25M</a:t>
            </a:r>
            <a:endParaRPr/>
          </a:p>
        </p:txBody>
      </p:sp>
      <p:sp>
        <p:nvSpPr>
          <p:cNvPr id="993" name="Google Shape;993;p24"/>
          <p:cNvSpPr txBox="1"/>
          <p:nvPr/>
        </p:nvSpPr>
        <p:spPr>
          <a:xfrm>
            <a:off x="969264" y="4517133"/>
            <a:ext cx="1024128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付费用户</a:t>
            </a:r>
            <a:endParaRPr/>
          </a:p>
        </p:txBody>
      </p:sp>
      <p:sp>
        <p:nvSpPr>
          <p:cNvPr id="994" name="Google Shape;994;p24"/>
          <p:cNvSpPr txBox="1"/>
          <p:nvPr/>
        </p:nvSpPr>
        <p:spPr>
          <a:xfrm>
            <a:off x="1993392" y="4517133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15K</a:t>
            </a:r>
            <a:endParaRPr/>
          </a:p>
        </p:txBody>
      </p:sp>
      <p:sp>
        <p:nvSpPr>
          <p:cNvPr id="995" name="Google Shape;995;p24"/>
          <p:cNvSpPr txBox="1"/>
          <p:nvPr/>
        </p:nvSpPr>
        <p:spPr>
          <a:xfrm>
            <a:off x="2706624" y="4517133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60K</a:t>
            </a:r>
            <a:endParaRPr/>
          </a:p>
        </p:txBody>
      </p:sp>
      <p:sp>
        <p:nvSpPr>
          <p:cNvPr id="996" name="Google Shape;996;p24"/>
          <p:cNvSpPr txBox="1"/>
          <p:nvPr/>
        </p:nvSpPr>
        <p:spPr>
          <a:xfrm>
            <a:off x="3419856" y="4517133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180K</a:t>
            </a:r>
            <a:endParaRPr/>
          </a:p>
        </p:txBody>
      </p:sp>
      <p:sp>
        <p:nvSpPr>
          <p:cNvPr id="997" name="Google Shape;997;p24"/>
          <p:cNvSpPr txBox="1"/>
          <p:nvPr/>
        </p:nvSpPr>
        <p:spPr>
          <a:xfrm>
            <a:off x="969264" y="5358380"/>
            <a:ext cx="1024128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付费转化 / 注册用户</a:t>
            </a:r>
            <a:r>
              <a:rPr lang="en-US" sz="1300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endParaRPr/>
          </a:p>
        </p:txBody>
      </p:sp>
      <p:sp>
        <p:nvSpPr>
          <p:cNvPr id="998" name="Google Shape;998;p24"/>
          <p:cNvSpPr txBox="1"/>
          <p:nvPr/>
        </p:nvSpPr>
        <p:spPr>
          <a:xfrm>
            <a:off x="1993392" y="5358380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5.0%</a:t>
            </a:r>
            <a:endParaRPr/>
          </a:p>
        </p:txBody>
      </p:sp>
      <p:sp>
        <p:nvSpPr>
          <p:cNvPr id="999" name="Google Shape;999;p24"/>
          <p:cNvSpPr txBox="1"/>
          <p:nvPr/>
        </p:nvSpPr>
        <p:spPr>
          <a:xfrm>
            <a:off x="2706624" y="5358380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6.0%</a:t>
            </a:r>
            <a:endParaRPr/>
          </a:p>
        </p:txBody>
      </p:sp>
      <p:sp>
        <p:nvSpPr>
          <p:cNvPr id="1000" name="Google Shape;1000;p24"/>
          <p:cNvSpPr txBox="1"/>
          <p:nvPr/>
        </p:nvSpPr>
        <p:spPr>
          <a:xfrm>
            <a:off x="3419856" y="5358380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7.2%</a:t>
            </a:r>
            <a:endParaRPr/>
          </a:p>
        </p:txBody>
      </p:sp>
      <p:sp>
        <p:nvSpPr>
          <p:cNvPr id="1001" name="Google Shape;1001;p24"/>
          <p:cNvSpPr/>
          <p:nvPr/>
        </p:nvSpPr>
        <p:spPr>
          <a:xfrm>
            <a:off x="4398264" y="1298448"/>
            <a:ext cx="3392424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24"/>
          <p:cNvSpPr txBox="1"/>
          <p:nvPr/>
        </p:nvSpPr>
        <p:spPr>
          <a:xfrm>
            <a:off x="4544568" y="1389888"/>
            <a:ext cx="3099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收入</a:t>
            </a:r>
            <a:endParaRPr/>
          </a:p>
        </p:txBody>
      </p:sp>
      <p:sp>
        <p:nvSpPr>
          <p:cNvPr id="1003" name="Google Shape;1003;p24"/>
          <p:cNvSpPr txBox="1"/>
          <p:nvPr/>
        </p:nvSpPr>
        <p:spPr>
          <a:xfrm>
            <a:off x="5568696" y="1700784"/>
            <a:ext cx="7132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2027E</a:t>
            </a:r>
            <a:endParaRPr/>
          </a:p>
        </p:txBody>
      </p:sp>
      <p:sp>
        <p:nvSpPr>
          <p:cNvPr id="1004" name="Google Shape;1004;p24"/>
          <p:cNvSpPr txBox="1"/>
          <p:nvPr/>
        </p:nvSpPr>
        <p:spPr>
          <a:xfrm>
            <a:off x="6281928" y="1700784"/>
            <a:ext cx="7132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2028E</a:t>
            </a:r>
            <a:endParaRPr/>
          </a:p>
        </p:txBody>
      </p:sp>
      <p:sp>
        <p:nvSpPr>
          <p:cNvPr id="1005" name="Google Shape;1005;p24"/>
          <p:cNvSpPr txBox="1"/>
          <p:nvPr/>
        </p:nvSpPr>
        <p:spPr>
          <a:xfrm>
            <a:off x="6995160" y="1700784"/>
            <a:ext cx="7132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2029E</a:t>
            </a:r>
            <a:endParaRPr/>
          </a:p>
        </p:txBody>
      </p:sp>
      <p:sp>
        <p:nvSpPr>
          <p:cNvPr id="1006" name="Google Shape;1006;p24"/>
          <p:cNvSpPr txBox="1"/>
          <p:nvPr/>
        </p:nvSpPr>
        <p:spPr>
          <a:xfrm>
            <a:off x="4544568" y="1993392"/>
            <a:ext cx="1024128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AI</a:t>
            </a:r>
            <a:endParaRPr/>
          </a:p>
        </p:txBody>
      </p:sp>
      <p:sp>
        <p:nvSpPr>
          <p:cNvPr id="1007" name="Google Shape;1007;p24"/>
          <p:cNvSpPr txBox="1"/>
          <p:nvPr/>
        </p:nvSpPr>
        <p:spPr>
          <a:xfrm>
            <a:off x="5568696" y="199339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$0.70M</a:t>
            </a:r>
            <a:endParaRPr/>
          </a:p>
        </p:txBody>
      </p:sp>
      <p:sp>
        <p:nvSpPr>
          <p:cNvPr id="1008" name="Google Shape;1008;p24"/>
          <p:cNvSpPr txBox="1"/>
          <p:nvPr/>
        </p:nvSpPr>
        <p:spPr>
          <a:xfrm>
            <a:off x="6281928" y="199339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$2.40M</a:t>
            </a:r>
            <a:endParaRPr/>
          </a:p>
        </p:txBody>
      </p:sp>
      <p:sp>
        <p:nvSpPr>
          <p:cNvPr id="1009" name="Google Shape;1009;p24"/>
          <p:cNvSpPr txBox="1"/>
          <p:nvPr/>
        </p:nvSpPr>
        <p:spPr>
          <a:xfrm>
            <a:off x="6995160" y="199339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$8.40M</a:t>
            </a:r>
            <a:endParaRPr/>
          </a:p>
        </p:txBody>
      </p:sp>
      <p:sp>
        <p:nvSpPr>
          <p:cNvPr id="1010" name="Google Shape;1010;p24"/>
          <p:cNvSpPr txBox="1"/>
          <p:nvPr/>
        </p:nvSpPr>
        <p:spPr>
          <a:xfrm>
            <a:off x="4544568" y="2694432"/>
            <a:ext cx="1024128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职业服务</a:t>
            </a: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endParaRPr/>
          </a:p>
        </p:txBody>
      </p:sp>
      <p:sp>
        <p:nvSpPr>
          <p:cNvPr id="1011" name="Google Shape;1011;p24"/>
          <p:cNvSpPr txBox="1"/>
          <p:nvPr/>
        </p:nvSpPr>
        <p:spPr>
          <a:xfrm>
            <a:off x="5568696" y="269443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$0.50M</a:t>
            </a:r>
            <a:endParaRPr/>
          </a:p>
        </p:txBody>
      </p:sp>
      <p:sp>
        <p:nvSpPr>
          <p:cNvPr id="1012" name="Google Shape;1012;p24"/>
          <p:cNvSpPr txBox="1"/>
          <p:nvPr/>
        </p:nvSpPr>
        <p:spPr>
          <a:xfrm>
            <a:off x="6281928" y="269443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$1.60M</a:t>
            </a:r>
            <a:endParaRPr/>
          </a:p>
        </p:txBody>
      </p:sp>
      <p:sp>
        <p:nvSpPr>
          <p:cNvPr id="1013" name="Google Shape;1013;p24"/>
          <p:cNvSpPr txBox="1"/>
          <p:nvPr/>
        </p:nvSpPr>
        <p:spPr>
          <a:xfrm>
            <a:off x="6995160" y="269443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$5.60M</a:t>
            </a:r>
            <a:endParaRPr/>
          </a:p>
        </p:txBody>
      </p:sp>
      <p:sp>
        <p:nvSpPr>
          <p:cNvPr id="1014" name="Google Shape;1014;p24"/>
          <p:cNvSpPr txBox="1"/>
          <p:nvPr/>
        </p:nvSpPr>
        <p:spPr>
          <a:xfrm>
            <a:off x="4544568" y="3395472"/>
            <a:ext cx="1024128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佣金</a:t>
            </a:r>
            <a:endParaRPr/>
          </a:p>
        </p:txBody>
      </p:sp>
      <p:sp>
        <p:nvSpPr>
          <p:cNvPr id="1015" name="Google Shape;1015;p24"/>
          <p:cNvSpPr txBox="1"/>
          <p:nvPr/>
        </p:nvSpPr>
        <p:spPr>
          <a:xfrm>
            <a:off x="5568696" y="339547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$0.30M</a:t>
            </a:r>
            <a:endParaRPr/>
          </a:p>
        </p:txBody>
      </p:sp>
      <p:sp>
        <p:nvSpPr>
          <p:cNvPr id="1016" name="Google Shape;1016;p24"/>
          <p:cNvSpPr txBox="1"/>
          <p:nvPr/>
        </p:nvSpPr>
        <p:spPr>
          <a:xfrm>
            <a:off x="6281928" y="339547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$1.20M</a:t>
            </a:r>
            <a:endParaRPr/>
          </a:p>
        </p:txBody>
      </p:sp>
      <p:sp>
        <p:nvSpPr>
          <p:cNvPr id="1017" name="Google Shape;1017;p24"/>
          <p:cNvSpPr txBox="1"/>
          <p:nvPr/>
        </p:nvSpPr>
        <p:spPr>
          <a:xfrm>
            <a:off x="6995160" y="339547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$4.20M</a:t>
            </a:r>
            <a:endParaRPr/>
          </a:p>
        </p:txBody>
      </p:sp>
      <p:sp>
        <p:nvSpPr>
          <p:cNvPr id="1018" name="Google Shape;1018;p24"/>
          <p:cNvSpPr txBox="1"/>
          <p:nvPr/>
        </p:nvSpPr>
        <p:spPr>
          <a:xfrm>
            <a:off x="4544568" y="4096512"/>
            <a:ext cx="1024128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广告</a:t>
            </a:r>
            <a:endParaRPr/>
          </a:p>
        </p:txBody>
      </p:sp>
      <p:sp>
        <p:nvSpPr>
          <p:cNvPr id="1019" name="Google Shape;1019;p24"/>
          <p:cNvSpPr txBox="1"/>
          <p:nvPr/>
        </p:nvSpPr>
        <p:spPr>
          <a:xfrm>
            <a:off x="5568696" y="409651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$0.20M</a:t>
            </a:r>
            <a:endParaRPr/>
          </a:p>
        </p:txBody>
      </p:sp>
      <p:sp>
        <p:nvSpPr>
          <p:cNvPr id="1020" name="Google Shape;1020;p24"/>
          <p:cNvSpPr txBox="1"/>
          <p:nvPr/>
        </p:nvSpPr>
        <p:spPr>
          <a:xfrm>
            <a:off x="6281928" y="409651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$0.80M</a:t>
            </a:r>
            <a:endParaRPr/>
          </a:p>
        </p:txBody>
      </p:sp>
      <p:sp>
        <p:nvSpPr>
          <p:cNvPr id="1021" name="Google Shape;1021;p24"/>
          <p:cNvSpPr txBox="1"/>
          <p:nvPr/>
        </p:nvSpPr>
        <p:spPr>
          <a:xfrm>
            <a:off x="6995160" y="409651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$2.80M</a:t>
            </a:r>
            <a:endParaRPr/>
          </a:p>
        </p:txBody>
      </p:sp>
      <p:sp>
        <p:nvSpPr>
          <p:cNvPr id="1022" name="Google Shape;1022;p24"/>
          <p:cNvSpPr txBox="1"/>
          <p:nvPr/>
        </p:nvSpPr>
        <p:spPr>
          <a:xfrm>
            <a:off x="4544568" y="4797552"/>
            <a:ext cx="1024128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B2B</a:t>
            </a:r>
            <a:endParaRPr/>
          </a:p>
        </p:txBody>
      </p:sp>
      <p:sp>
        <p:nvSpPr>
          <p:cNvPr id="1023" name="Google Shape;1023;p24"/>
          <p:cNvSpPr txBox="1"/>
          <p:nvPr/>
        </p:nvSpPr>
        <p:spPr>
          <a:xfrm>
            <a:off x="5568696" y="479755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$0.30M</a:t>
            </a:r>
            <a:endParaRPr/>
          </a:p>
        </p:txBody>
      </p:sp>
      <p:sp>
        <p:nvSpPr>
          <p:cNvPr id="1024" name="Google Shape;1024;p24"/>
          <p:cNvSpPr txBox="1"/>
          <p:nvPr/>
        </p:nvSpPr>
        <p:spPr>
          <a:xfrm>
            <a:off x="6281928" y="479755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$2.00M</a:t>
            </a:r>
            <a:endParaRPr/>
          </a:p>
        </p:txBody>
      </p:sp>
      <p:sp>
        <p:nvSpPr>
          <p:cNvPr id="1025" name="Google Shape;1025;p24"/>
          <p:cNvSpPr txBox="1"/>
          <p:nvPr/>
        </p:nvSpPr>
        <p:spPr>
          <a:xfrm>
            <a:off x="6995160" y="479755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$7.00M</a:t>
            </a:r>
            <a:endParaRPr/>
          </a:p>
        </p:txBody>
      </p:sp>
      <p:sp>
        <p:nvSpPr>
          <p:cNvPr id="1026" name="Google Shape;1026;p24"/>
          <p:cNvSpPr txBox="1"/>
          <p:nvPr/>
        </p:nvSpPr>
        <p:spPr>
          <a:xfrm>
            <a:off x="4544568" y="5498592"/>
            <a:ext cx="1024128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合计</a:t>
            </a:r>
            <a:endParaRPr/>
          </a:p>
        </p:txBody>
      </p:sp>
      <p:sp>
        <p:nvSpPr>
          <p:cNvPr id="1027" name="Google Shape;1027;p24"/>
          <p:cNvSpPr txBox="1"/>
          <p:nvPr/>
        </p:nvSpPr>
        <p:spPr>
          <a:xfrm>
            <a:off x="5568696" y="549859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$2.00M</a:t>
            </a:r>
            <a:endParaRPr/>
          </a:p>
        </p:txBody>
      </p:sp>
      <p:sp>
        <p:nvSpPr>
          <p:cNvPr id="1028" name="Google Shape;1028;p24"/>
          <p:cNvSpPr txBox="1"/>
          <p:nvPr/>
        </p:nvSpPr>
        <p:spPr>
          <a:xfrm>
            <a:off x="6281928" y="549859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$8.00M</a:t>
            </a:r>
            <a:endParaRPr/>
          </a:p>
        </p:txBody>
      </p:sp>
      <p:sp>
        <p:nvSpPr>
          <p:cNvPr id="1029" name="Google Shape;1029;p24"/>
          <p:cNvSpPr txBox="1"/>
          <p:nvPr/>
        </p:nvSpPr>
        <p:spPr>
          <a:xfrm>
            <a:off x="6995160" y="549859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$28.00M</a:t>
            </a:r>
            <a:endParaRPr/>
          </a:p>
        </p:txBody>
      </p:sp>
      <p:sp>
        <p:nvSpPr>
          <p:cNvPr id="1030" name="Google Shape;1030;p24"/>
          <p:cNvSpPr/>
          <p:nvPr/>
        </p:nvSpPr>
        <p:spPr>
          <a:xfrm>
            <a:off x="7973568" y="1298448"/>
            <a:ext cx="3392424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24"/>
          <p:cNvSpPr txBox="1"/>
          <p:nvPr/>
        </p:nvSpPr>
        <p:spPr>
          <a:xfrm>
            <a:off x="8119872" y="1389888"/>
            <a:ext cx="3099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盈利指标</a:t>
            </a:r>
            <a:endParaRPr/>
          </a:p>
        </p:txBody>
      </p:sp>
      <p:sp>
        <p:nvSpPr>
          <p:cNvPr id="1032" name="Google Shape;1032;p24"/>
          <p:cNvSpPr txBox="1"/>
          <p:nvPr/>
        </p:nvSpPr>
        <p:spPr>
          <a:xfrm>
            <a:off x="9144000" y="1700784"/>
            <a:ext cx="7132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2027E</a:t>
            </a:r>
            <a:endParaRPr/>
          </a:p>
        </p:txBody>
      </p:sp>
      <p:sp>
        <p:nvSpPr>
          <p:cNvPr id="1033" name="Google Shape;1033;p24"/>
          <p:cNvSpPr txBox="1"/>
          <p:nvPr/>
        </p:nvSpPr>
        <p:spPr>
          <a:xfrm>
            <a:off x="9857232" y="1700784"/>
            <a:ext cx="7132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2028E</a:t>
            </a:r>
            <a:endParaRPr/>
          </a:p>
        </p:txBody>
      </p:sp>
      <p:sp>
        <p:nvSpPr>
          <p:cNvPr id="1034" name="Google Shape;1034;p24"/>
          <p:cNvSpPr txBox="1"/>
          <p:nvPr/>
        </p:nvSpPr>
        <p:spPr>
          <a:xfrm>
            <a:off x="10570464" y="1700784"/>
            <a:ext cx="7132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2029E</a:t>
            </a:r>
            <a:endParaRPr/>
          </a:p>
        </p:txBody>
      </p:sp>
      <p:sp>
        <p:nvSpPr>
          <p:cNvPr id="1035" name="Google Shape;1035;p24"/>
          <p:cNvSpPr txBox="1"/>
          <p:nvPr/>
        </p:nvSpPr>
        <p:spPr>
          <a:xfrm>
            <a:off x="8119872" y="1993392"/>
            <a:ext cx="1024128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毛利率</a:t>
            </a:r>
            <a:r>
              <a:rPr lang="en-US" sz="1300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endParaRPr/>
          </a:p>
        </p:txBody>
      </p:sp>
      <p:sp>
        <p:nvSpPr>
          <p:cNvPr id="1036" name="Google Shape;1036;p24"/>
          <p:cNvSpPr txBox="1"/>
          <p:nvPr/>
        </p:nvSpPr>
        <p:spPr>
          <a:xfrm>
            <a:off x="9144000" y="1993392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65%</a:t>
            </a:r>
            <a:endParaRPr/>
          </a:p>
        </p:txBody>
      </p:sp>
      <p:sp>
        <p:nvSpPr>
          <p:cNvPr id="1037" name="Google Shape;1037;p24"/>
          <p:cNvSpPr txBox="1"/>
          <p:nvPr/>
        </p:nvSpPr>
        <p:spPr>
          <a:xfrm>
            <a:off x="9857232" y="1993392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70%</a:t>
            </a:r>
            <a:endParaRPr/>
          </a:p>
        </p:txBody>
      </p:sp>
      <p:sp>
        <p:nvSpPr>
          <p:cNvPr id="1038" name="Google Shape;1038;p24"/>
          <p:cNvSpPr txBox="1"/>
          <p:nvPr/>
        </p:nvSpPr>
        <p:spPr>
          <a:xfrm>
            <a:off x="10570464" y="1993392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75%</a:t>
            </a:r>
            <a:endParaRPr/>
          </a:p>
        </p:txBody>
      </p:sp>
      <p:sp>
        <p:nvSpPr>
          <p:cNvPr id="1039" name="Google Shape;1039;p24"/>
          <p:cNvSpPr txBox="1"/>
          <p:nvPr/>
        </p:nvSpPr>
        <p:spPr>
          <a:xfrm>
            <a:off x="8119872" y="2834639"/>
            <a:ext cx="1024128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毛利</a:t>
            </a:r>
            <a:r>
              <a:rPr lang="en-US" sz="1300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endParaRPr/>
          </a:p>
        </p:txBody>
      </p:sp>
      <p:sp>
        <p:nvSpPr>
          <p:cNvPr id="1040" name="Google Shape;1040;p24"/>
          <p:cNvSpPr txBox="1"/>
          <p:nvPr/>
        </p:nvSpPr>
        <p:spPr>
          <a:xfrm>
            <a:off x="9144000" y="2834639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$1.30M</a:t>
            </a:r>
            <a:endParaRPr/>
          </a:p>
        </p:txBody>
      </p:sp>
      <p:sp>
        <p:nvSpPr>
          <p:cNvPr id="1041" name="Google Shape;1041;p24"/>
          <p:cNvSpPr txBox="1"/>
          <p:nvPr/>
        </p:nvSpPr>
        <p:spPr>
          <a:xfrm>
            <a:off x="9857232" y="2834639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$5.60M</a:t>
            </a:r>
            <a:endParaRPr/>
          </a:p>
        </p:txBody>
      </p:sp>
      <p:sp>
        <p:nvSpPr>
          <p:cNvPr id="1042" name="Google Shape;1042;p24"/>
          <p:cNvSpPr txBox="1"/>
          <p:nvPr/>
        </p:nvSpPr>
        <p:spPr>
          <a:xfrm>
            <a:off x="10570464" y="2834639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$21.00M</a:t>
            </a:r>
            <a:endParaRPr/>
          </a:p>
        </p:txBody>
      </p:sp>
      <p:sp>
        <p:nvSpPr>
          <p:cNvPr id="1043" name="Google Shape;1043;p24"/>
          <p:cNvSpPr txBox="1"/>
          <p:nvPr/>
        </p:nvSpPr>
        <p:spPr>
          <a:xfrm>
            <a:off x="8119872" y="3675886"/>
            <a:ext cx="1024128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EBITDA 利润率</a:t>
            </a:r>
            <a:r>
              <a:rPr lang="en-US" sz="1300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endParaRPr/>
          </a:p>
        </p:txBody>
      </p:sp>
      <p:sp>
        <p:nvSpPr>
          <p:cNvPr id="1044" name="Google Shape;1044;p24"/>
          <p:cNvSpPr txBox="1"/>
          <p:nvPr/>
        </p:nvSpPr>
        <p:spPr>
          <a:xfrm>
            <a:off x="9144000" y="3675886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–50%</a:t>
            </a:r>
            <a:endParaRPr/>
          </a:p>
        </p:txBody>
      </p:sp>
      <p:sp>
        <p:nvSpPr>
          <p:cNvPr id="1045" name="Google Shape;1045;p24"/>
          <p:cNvSpPr txBox="1"/>
          <p:nvPr/>
        </p:nvSpPr>
        <p:spPr>
          <a:xfrm>
            <a:off x="9857232" y="3675886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–15%</a:t>
            </a:r>
            <a:endParaRPr/>
          </a:p>
        </p:txBody>
      </p:sp>
      <p:sp>
        <p:nvSpPr>
          <p:cNvPr id="1046" name="Google Shape;1046;p24"/>
          <p:cNvSpPr txBox="1"/>
          <p:nvPr/>
        </p:nvSpPr>
        <p:spPr>
          <a:xfrm>
            <a:off x="10570464" y="3675886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15%</a:t>
            </a:r>
            <a:endParaRPr/>
          </a:p>
        </p:txBody>
      </p:sp>
      <p:sp>
        <p:nvSpPr>
          <p:cNvPr id="1047" name="Google Shape;1047;p24"/>
          <p:cNvSpPr txBox="1"/>
          <p:nvPr/>
        </p:nvSpPr>
        <p:spPr>
          <a:xfrm>
            <a:off x="8119872" y="4517133"/>
            <a:ext cx="1024128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EBITDA（美元）</a:t>
            </a:r>
            <a:endParaRPr/>
          </a:p>
        </p:txBody>
      </p:sp>
      <p:sp>
        <p:nvSpPr>
          <p:cNvPr id="1048" name="Google Shape;1048;p24"/>
          <p:cNvSpPr txBox="1"/>
          <p:nvPr/>
        </p:nvSpPr>
        <p:spPr>
          <a:xfrm>
            <a:off x="9144000" y="4517133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–$1.00M</a:t>
            </a:r>
            <a:endParaRPr/>
          </a:p>
        </p:txBody>
      </p:sp>
      <p:sp>
        <p:nvSpPr>
          <p:cNvPr id="1049" name="Google Shape;1049;p24"/>
          <p:cNvSpPr txBox="1"/>
          <p:nvPr/>
        </p:nvSpPr>
        <p:spPr>
          <a:xfrm>
            <a:off x="9857232" y="4517133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–$1.20M</a:t>
            </a:r>
            <a:endParaRPr/>
          </a:p>
        </p:txBody>
      </p:sp>
      <p:sp>
        <p:nvSpPr>
          <p:cNvPr id="1050" name="Google Shape;1050;p24"/>
          <p:cNvSpPr txBox="1"/>
          <p:nvPr/>
        </p:nvSpPr>
        <p:spPr>
          <a:xfrm>
            <a:off x="10570464" y="4517133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$4.20M</a:t>
            </a:r>
            <a:endParaRPr/>
          </a:p>
        </p:txBody>
      </p:sp>
      <p:sp>
        <p:nvSpPr>
          <p:cNvPr id="1051" name="Google Shape;1051;p24"/>
          <p:cNvSpPr txBox="1"/>
          <p:nvPr/>
        </p:nvSpPr>
        <p:spPr>
          <a:xfrm>
            <a:off x="8119872" y="5358380"/>
            <a:ext cx="1024128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盈亏</a:t>
            </a:r>
            <a:endParaRPr/>
          </a:p>
        </p:txBody>
      </p:sp>
      <p:sp>
        <p:nvSpPr>
          <p:cNvPr id="1052" name="Google Shape;1052;p24"/>
          <p:cNvSpPr txBox="1"/>
          <p:nvPr/>
        </p:nvSpPr>
        <p:spPr>
          <a:xfrm>
            <a:off x="9144000" y="5358380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亏损</a:t>
            </a:r>
            <a:endParaRPr/>
          </a:p>
        </p:txBody>
      </p:sp>
      <p:sp>
        <p:nvSpPr>
          <p:cNvPr id="1053" name="Google Shape;1053;p24"/>
          <p:cNvSpPr txBox="1"/>
          <p:nvPr/>
        </p:nvSpPr>
        <p:spPr>
          <a:xfrm>
            <a:off x="9857232" y="5358380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亏损</a:t>
            </a:r>
            <a:endParaRPr/>
          </a:p>
        </p:txBody>
      </p:sp>
      <p:sp>
        <p:nvSpPr>
          <p:cNvPr id="1054" name="Google Shape;1054;p24"/>
          <p:cNvSpPr txBox="1"/>
          <p:nvPr/>
        </p:nvSpPr>
        <p:spPr>
          <a:xfrm>
            <a:off x="10570464" y="5358380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盈利</a:t>
            </a:r>
            <a:endParaRPr/>
          </a:p>
        </p:txBody>
      </p:sp>
      <p:pic>
        <p:nvPicPr>
          <p:cNvPr descr="51careers_logo_dark.png" id="1055" name="Google Shape;10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24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1057" name="Google Shape;1057;p24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24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25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我们提供的价值</a:t>
            </a:r>
            <a:endParaRPr/>
          </a:p>
        </p:txBody>
      </p:sp>
      <p:sp>
        <p:nvSpPr>
          <p:cNvPr id="1063" name="Google Shape;1063;p25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AI + 人工 + 平台</a:t>
            </a:r>
            <a:endParaRPr/>
          </a:p>
        </p:txBody>
      </p:sp>
      <p:sp>
        <p:nvSpPr>
          <p:cNvPr id="1064" name="Google Shape;1064;p25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下一代职业服务不会只是其中任何一项。</a:t>
            </a:r>
            <a:endParaRPr/>
          </a:p>
        </p:txBody>
      </p:sp>
      <p:sp>
        <p:nvSpPr>
          <p:cNvPr id="1065" name="Google Shape;1065;p25"/>
          <p:cNvSpPr/>
          <p:nvPr/>
        </p:nvSpPr>
        <p:spPr>
          <a:xfrm>
            <a:off x="822960" y="1298448"/>
            <a:ext cx="517550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25"/>
          <p:cNvSpPr txBox="1"/>
          <p:nvPr/>
        </p:nvSpPr>
        <p:spPr>
          <a:xfrm>
            <a:off x="1042416" y="1554480"/>
            <a:ext cx="47365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0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生成式 AI</a:t>
            </a:r>
            <a:endParaRPr/>
          </a:p>
        </p:txBody>
      </p:sp>
      <p:sp>
        <p:nvSpPr>
          <p:cNvPr id="1067" name="Google Shape;1067;p25"/>
          <p:cNvSpPr txBox="1"/>
          <p:nvPr/>
        </p:nvSpPr>
        <p:spPr>
          <a:xfrm>
            <a:off x="1042416" y="2084832"/>
            <a:ext cx="47365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专业内容创作如今成本低、速度快，且已被广泛采用。</a:t>
            </a:r>
            <a:endParaRPr/>
          </a:p>
        </p:txBody>
      </p:sp>
      <p:sp>
        <p:nvSpPr>
          <p:cNvPr id="1068" name="Google Shape;1068;p25"/>
          <p:cNvSpPr/>
          <p:nvPr/>
        </p:nvSpPr>
        <p:spPr>
          <a:xfrm>
            <a:off x="6190488" y="1298448"/>
            <a:ext cx="517550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5"/>
          <p:cNvSpPr txBox="1"/>
          <p:nvPr/>
        </p:nvSpPr>
        <p:spPr>
          <a:xfrm>
            <a:off x="6409944" y="1554480"/>
            <a:ext cx="47365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0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全球就业</a:t>
            </a:r>
            <a:endParaRPr/>
          </a:p>
        </p:txBody>
      </p:sp>
      <p:sp>
        <p:nvSpPr>
          <p:cNvPr id="1070" name="Google Shape;1070;p25"/>
          <p:cNvSpPr txBox="1"/>
          <p:nvPr/>
        </p:nvSpPr>
        <p:spPr>
          <a:xfrm>
            <a:off x="6409944" y="2084832"/>
            <a:ext cx="47365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人才具有流动性。英语职业可跨越市场迁移。</a:t>
            </a:r>
            <a:endParaRPr/>
          </a:p>
        </p:txBody>
      </p:sp>
      <p:sp>
        <p:nvSpPr>
          <p:cNvPr id="1071" name="Google Shape;1071;p25"/>
          <p:cNvSpPr/>
          <p:nvPr/>
        </p:nvSpPr>
        <p:spPr>
          <a:xfrm>
            <a:off x="822960" y="3401568"/>
            <a:ext cx="517550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25"/>
          <p:cNvSpPr txBox="1"/>
          <p:nvPr/>
        </p:nvSpPr>
        <p:spPr>
          <a:xfrm>
            <a:off x="1042416" y="3657600"/>
            <a:ext cx="47365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0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职业服务</a:t>
            </a:r>
            <a:endParaRPr/>
          </a:p>
        </p:txBody>
      </p:sp>
      <p:sp>
        <p:nvSpPr>
          <p:cNvPr id="1073" name="Google Shape;1073;p25"/>
          <p:cNvSpPr txBox="1"/>
          <p:nvPr/>
        </p:nvSpPr>
        <p:spPr>
          <a:xfrm>
            <a:off x="1042416" y="4187952"/>
            <a:ext cx="47365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咨询仍以人工为主，成本高、难以规模化。</a:t>
            </a:r>
            <a:endParaRPr/>
          </a:p>
        </p:txBody>
      </p:sp>
      <p:sp>
        <p:nvSpPr>
          <p:cNvPr id="1074" name="Google Shape;1074;p25"/>
          <p:cNvSpPr/>
          <p:nvPr/>
        </p:nvSpPr>
        <p:spPr>
          <a:xfrm>
            <a:off x="6190488" y="3401568"/>
            <a:ext cx="517550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25"/>
          <p:cNvSpPr txBox="1"/>
          <p:nvPr/>
        </p:nvSpPr>
        <p:spPr>
          <a:xfrm>
            <a:off x="6409944" y="3657600"/>
            <a:ext cx="47365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0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数字化获客</a:t>
            </a:r>
            <a:endParaRPr/>
          </a:p>
        </p:txBody>
      </p:sp>
      <p:sp>
        <p:nvSpPr>
          <p:cNvPr id="1076" name="Google Shape;1076;p25"/>
          <p:cNvSpPr txBox="1"/>
          <p:nvPr/>
        </p:nvSpPr>
        <p:spPr>
          <a:xfrm>
            <a:off x="6409944" y="4187952"/>
            <a:ext cx="47365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免费 AI 简历是低摩擦、全球化的漏斗顶端。</a:t>
            </a:r>
            <a:endParaRPr/>
          </a:p>
        </p:txBody>
      </p:sp>
      <p:sp>
        <p:nvSpPr>
          <p:cNvPr id="1077" name="Google Shape;1077;p25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25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市场机遇</a:t>
            </a:r>
            <a:endParaRPr/>
          </a:p>
        </p:txBody>
      </p:sp>
      <p:sp>
        <p:nvSpPr>
          <p:cNvPr id="1079" name="Google Shape;1079;p25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AI 简历是入口。目标是全球 AI 职业平台。</a:t>
            </a:r>
            <a:endParaRPr/>
          </a:p>
        </p:txBody>
      </p:sp>
      <p:pic>
        <p:nvPicPr>
          <p:cNvPr descr="51careers_logo_dark.png" id="1080" name="Google Shape;108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25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1082" name="Google Shape;1082;p25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25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26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融资</a:t>
            </a:r>
            <a:endParaRPr/>
          </a:p>
        </p:txBody>
      </p:sp>
      <p:sp>
        <p:nvSpPr>
          <p:cNvPr id="1088" name="Google Shape;1088;p26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本轮融资</a:t>
            </a:r>
            <a:endParaRPr/>
          </a:p>
        </p:txBody>
      </p:sp>
      <p:sp>
        <p:nvSpPr>
          <p:cNvPr id="1089" name="Google Shape;1089;p26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人民币2,000万元，投前1.8亿元 / 投后2亿元。出让10%股权。</a:t>
            </a:r>
            <a:endParaRPr/>
          </a:p>
        </p:txBody>
      </p:sp>
      <p:sp>
        <p:nvSpPr>
          <p:cNvPr id="1090" name="Google Shape;1090;p26"/>
          <p:cNvSpPr/>
          <p:nvPr/>
        </p:nvSpPr>
        <p:spPr>
          <a:xfrm>
            <a:off x="822960" y="1298448"/>
            <a:ext cx="33924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26"/>
          <p:cNvSpPr txBox="1"/>
          <p:nvPr/>
        </p:nvSpPr>
        <p:spPr>
          <a:xfrm>
            <a:off x="1024128" y="1481328"/>
            <a:ext cx="2990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本轮融资</a:t>
            </a:r>
            <a:endParaRPr/>
          </a:p>
        </p:txBody>
      </p:sp>
      <p:sp>
        <p:nvSpPr>
          <p:cNvPr id="1092" name="Google Shape;1092;p26"/>
          <p:cNvSpPr txBox="1"/>
          <p:nvPr/>
        </p:nvSpPr>
        <p:spPr>
          <a:xfrm>
            <a:off x="1024128" y="1810512"/>
            <a:ext cx="29900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2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人民币2,000万元</a:t>
            </a:r>
            <a:endParaRPr/>
          </a:p>
        </p:txBody>
      </p:sp>
      <p:sp>
        <p:nvSpPr>
          <p:cNvPr id="1093" name="Google Shape;1093;p26"/>
          <p:cNvSpPr txBox="1"/>
          <p:nvPr/>
        </p:nvSpPr>
        <p:spPr>
          <a:xfrm>
            <a:off x="1024128" y="2542032"/>
            <a:ext cx="29900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≈ 297万美元</a:t>
            </a:r>
            <a:endParaRPr/>
          </a:p>
        </p:txBody>
      </p:sp>
      <p:sp>
        <p:nvSpPr>
          <p:cNvPr id="1094" name="Google Shape;1094;p26"/>
          <p:cNvSpPr/>
          <p:nvPr/>
        </p:nvSpPr>
        <p:spPr>
          <a:xfrm>
            <a:off x="4398264" y="1298448"/>
            <a:ext cx="33924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26"/>
          <p:cNvSpPr txBox="1"/>
          <p:nvPr/>
        </p:nvSpPr>
        <p:spPr>
          <a:xfrm>
            <a:off x="4599432" y="1481328"/>
            <a:ext cx="2990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投前估值</a:t>
            </a:r>
            <a:endParaRPr/>
          </a:p>
        </p:txBody>
      </p:sp>
      <p:sp>
        <p:nvSpPr>
          <p:cNvPr id="1096" name="Google Shape;1096;p26"/>
          <p:cNvSpPr txBox="1"/>
          <p:nvPr/>
        </p:nvSpPr>
        <p:spPr>
          <a:xfrm>
            <a:off x="4599432" y="1810512"/>
            <a:ext cx="29900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2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人民币1.8亿元</a:t>
            </a:r>
            <a:endParaRPr/>
          </a:p>
        </p:txBody>
      </p:sp>
      <p:sp>
        <p:nvSpPr>
          <p:cNvPr id="1097" name="Google Shape;1097;p26"/>
          <p:cNvSpPr txBox="1"/>
          <p:nvPr/>
        </p:nvSpPr>
        <p:spPr>
          <a:xfrm>
            <a:off x="4599432" y="2542032"/>
            <a:ext cx="29900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≈ 2,670万美元</a:t>
            </a:r>
            <a:endParaRPr/>
          </a:p>
        </p:txBody>
      </p:sp>
      <p:sp>
        <p:nvSpPr>
          <p:cNvPr id="1098" name="Google Shape;1098;p26"/>
          <p:cNvSpPr/>
          <p:nvPr/>
        </p:nvSpPr>
        <p:spPr>
          <a:xfrm>
            <a:off x="7973568" y="1298448"/>
            <a:ext cx="33924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26"/>
          <p:cNvSpPr txBox="1"/>
          <p:nvPr/>
        </p:nvSpPr>
        <p:spPr>
          <a:xfrm>
            <a:off x="8174736" y="1481328"/>
            <a:ext cx="2990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投后估值</a:t>
            </a:r>
            <a:endParaRPr/>
          </a:p>
        </p:txBody>
      </p:sp>
      <p:sp>
        <p:nvSpPr>
          <p:cNvPr id="1100" name="Google Shape;1100;p26"/>
          <p:cNvSpPr txBox="1"/>
          <p:nvPr/>
        </p:nvSpPr>
        <p:spPr>
          <a:xfrm>
            <a:off x="8174736" y="1810512"/>
            <a:ext cx="29900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2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人民币2亿元</a:t>
            </a:r>
            <a:endParaRPr/>
          </a:p>
        </p:txBody>
      </p:sp>
      <p:sp>
        <p:nvSpPr>
          <p:cNvPr id="1101" name="Google Shape;1101;p26"/>
          <p:cNvSpPr txBox="1"/>
          <p:nvPr/>
        </p:nvSpPr>
        <p:spPr>
          <a:xfrm>
            <a:off x="8174736" y="2542032"/>
            <a:ext cx="29900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≈ 2,970万美元</a:t>
            </a:r>
            <a:endParaRPr/>
          </a:p>
        </p:txBody>
      </p:sp>
      <p:sp>
        <p:nvSpPr>
          <p:cNvPr id="1102" name="Google Shape;1102;p26"/>
          <p:cNvSpPr/>
          <p:nvPr/>
        </p:nvSpPr>
        <p:spPr>
          <a:xfrm>
            <a:off x="822960" y="3401568"/>
            <a:ext cx="33924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26"/>
          <p:cNvSpPr txBox="1"/>
          <p:nvPr/>
        </p:nvSpPr>
        <p:spPr>
          <a:xfrm>
            <a:off x="1024128" y="3584448"/>
            <a:ext cx="2990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出让股权</a:t>
            </a:r>
            <a:endParaRPr/>
          </a:p>
        </p:txBody>
      </p:sp>
      <p:sp>
        <p:nvSpPr>
          <p:cNvPr id="1104" name="Google Shape;1104;p26"/>
          <p:cNvSpPr txBox="1"/>
          <p:nvPr/>
        </p:nvSpPr>
        <p:spPr>
          <a:xfrm>
            <a:off x="1024128" y="3913632"/>
            <a:ext cx="29900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10%</a:t>
            </a:r>
            <a:endParaRPr/>
          </a:p>
        </p:txBody>
      </p:sp>
      <p:sp>
        <p:nvSpPr>
          <p:cNvPr id="1105" name="Google Shape;1105;p26"/>
          <p:cNvSpPr txBox="1"/>
          <p:nvPr/>
        </p:nvSpPr>
        <p:spPr>
          <a:xfrm>
            <a:off x="1024128" y="4645152"/>
            <a:ext cx="29900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新发优先股</a:t>
            </a:r>
            <a:endParaRPr/>
          </a:p>
        </p:txBody>
      </p:sp>
      <p:sp>
        <p:nvSpPr>
          <p:cNvPr id="1106" name="Google Shape;1106;p26"/>
          <p:cNvSpPr/>
          <p:nvPr/>
        </p:nvSpPr>
        <p:spPr>
          <a:xfrm>
            <a:off x="4398264" y="3401568"/>
            <a:ext cx="33924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26"/>
          <p:cNvSpPr txBox="1"/>
          <p:nvPr/>
        </p:nvSpPr>
        <p:spPr>
          <a:xfrm>
            <a:off x="4599432" y="3584448"/>
            <a:ext cx="2990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交易结构</a:t>
            </a:r>
            <a:endParaRPr/>
          </a:p>
        </p:txBody>
      </p:sp>
      <p:sp>
        <p:nvSpPr>
          <p:cNvPr id="1108" name="Google Shape;1108;p26"/>
          <p:cNvSpPr txBox="1"/>
          <p:nvPr/>
        </p:nvSpPr>
        <p:spPr>
          <a:xfrm>
            <a:off x="4599432" y="3913632"/>
            <a:ext cx="29900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2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优先股</a:t>
            </a:r>
            <a:endParaRPr/>
          </a:p>
        </p:txBody>
      </p:sp>
      <p:sp>
        <p:nvSpPr>
          <p:cNvPr id="1109" name="Google Shape;1109;p26"/>
          <p:cNvSpPr txBox="1"/>
          <p:nvPr/>
        </p:nvSpPr>
        <p:spPr>
          <a:xfrm>
            <a:off x="4599432" y="4645152"/>
            <a:ext cx="29900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示意性条款；以最终文件为准</a:t>
            </a:r>
            <a:endParaRPr/>
          </a:p>
        </p:txBody>
      </p:sp>
      <p:sp>
        <p:nvSpPr>
          <p:cNvPr id="1110" name="Google Shape;1110;p26"/>
          <p:cNvSpPr/>
          <p:nvPr/>
        </p:nvSpPr>
        <p:spPr>
          <a:xfrm>
            <a:off x="7973568" y="3401568"/>
            <a:ext cx="33924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26"/>
          <p:cNvSpPr txBox="1"/>
          <p:nvPr/>
        </p:nvSpPr>
        <p:spPr>
          <a:xfrm>
            <a:off x="8174736" y="3584448"/>
            <a:ext cx="2990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资金用途</a:t>
            </a:r>
            <a:endParaRPr/>
          </a:p>
        </p:txBody>
      </p:sp>
      <p:sp>
        <p:nvSpPr>
          <p:cNvPr id="1112" name="Google Shape;1112;p26"/>
          <p:cNvSpPr txBox="1"/>
          <p:nvPr/>
        </p:nvSpPr>
        <p:spPr>
          <a:xfrm>
            <a:off x="8174736" y="3913632"/>
            <a:ext cx="29900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2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产品、用户、GTM</a:t>
            </a:r>
            <a:endParaRPr/>
          </a:p>
        </p:txBody>
      </p:sp>
      <p:sp>
        <p:nvSpPr>
          <p:cNvPr id="1113" name="Google Shape;1113;p26"/>
          <p:cNvSpPr txBox="1"/>
          <p:nvPr/>
        </p:nvSpPr>
        <p:spPr>
          <a:xfrm>
            <a:off x="8174736" y="4645152"/>
            <a:ext cx="29900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变现 + 生态</a:t>
            </a:r>
            <a:endParaRPr/>
          </a:p>
        </p:txBody>
      </p:sp>
      <p:sp>
        <p:nvSpPr>
          <p:cNvPr id="1114" name="Google Shape;1114;p26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26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募集资金用途</a:t>
            </a:r>
            <a:endParaRPr/>
          </a:p>
        </p:txBody>
      </p:sp>
      <p:sp>
        <p:nvSpPr>
          <p:cNvPr id="1116" name="Google Shape;1116;p26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打造产品、获取用户、全球扩张，并建设职业生态。</a:t>
            </a:r>
            <a:endParaRPr/>
          </a:p>
        </p:txBody>
      </p:sp>
      <p:pic>
        <p:nvPicPr>
          <p:cNvPr descr="51careers_logo_dark.png" id="1117" name="Google Shape;111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26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1119" name="Google Shape;1119;p26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26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27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投资者成果</a:t>
            </a:r>
            <a:endParaRPr/>
          </a:p>
        </p:txBody>
      </p:sp>
      <p:sp>
        <p:nvSpPr>
          <p:cNvPr id="1125" name="Google Shape;1125;p27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6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本轮资金支持的12–18个月目标</a:t>
            </a:r>
            <a:endParaRPr/>
          </a:p>
        </p:txBody>
      </p:sp>
      <p:sp>
        <p:nvSpPr>
          <p:cNvPr id="1126" name="Google Shape;1126;p27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人民币2,000万元在下一轮融资前旨在实现的成果。</a:t>
            </a:r>
            <a:endParaRPr/>
          </a:p>
        </p:txBody>
      </p:sp>
      <p:sp>
        <p:nvSpPr>
          <p:cNvPr id="1127" name="Google Shape;1127;p27"/>
          <p:cNvSpPr/>
          <p:nvPr/>
        </p:nvSpPr>
        <p:spPr>
          <a:xfrm>
            <a:off x="822960" y="1298448"/>
            <a:ext cx="2560320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27"/>
          <p:cNvSpPr/>
          <p:nvPr/>
        </p:nvSpPr>
        <p:spPr>
          <a:xfrm>
            <a:off x="969264" y="144475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27"/>
          <p:cNvSpPr txBox="1"/>
          <p:nvPr/>
        </p:nvSpPr>
        <p:spPr>
          <a:xfrm>
            <a:off x="969264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1130" name="Google Shape;1130;p27"/>
          <p:cNvSpPr txBox="1"/>
          <p:nvPr/>
        </p:nvSpPr>
        <p:spPr>
          <a:xfrm>
            <a:off x="969264" y="1883664"/>
            <a:ext cx="22677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5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正式上线</a:t>
            </a:r>
            <a:endParaRPr/>
          </a:p>
        </p:txBody>
      </p:sp>
      <p:sp>
        <p:nvSpPr>
          <p:cNvPr id="1131" name="Google Shape;1131;p27"/>
          <p:cNvSpPr txBox="1"/>
          <p:nvPr/>
        </p:nvSpPr>
        <p:spPr>
          <a:xfrm>
            <a:off x="969264" y="2322576"/>
            <a:ext cx="22677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AI 简历面向中国与美国用户上线。</a:t>
            </a:r>
            <a:endParaRPr/>
          </a:p>
        </p:txBody>
      </p:sp>
      <p:sp>
        <p:nvSpPr>
          <p:cNvPr id="1132" name="Google Shape;1132;p27"/>
          <p:cNvSpPr/>
          <p:nvPr/>
        </p:nvSpPr>
        <p:spPr>
          <a:xfrm>
            <a:off x="3483864" y="1298448"/>
            <a:ext cx="2560320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27"/>
          <p:cNvSpPr/>
          <p:nvPr/>
        </p:nvSpPr>
        <p:spPr>
          <a:xfrm>
            <a:off x="3630168" y="144475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27"/>
          <p:cNvSpPr txBox="1"/>
          <p:nvPr/>
        </p:nvSpPr>
        <p:spPr>
          <a:xfrm>
            <a:off x="3630168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2</a:t>
            </a:r>
            <a:endParaRPr/>
          </a:p>
        </p:txBody>
      </p:sp>
      <p:sp>
        <p:nvSpPr>
          <p:cNvPr id="1135" name="Google Shape;1135;p27"/>
          <p:cNvSpPr txBox="1"/>
          <p:nvPr/>
        </p:nvSpPr>
        <p:spPr>
          <a:xfrm>
            <a:off x="3630168" y="1883664"/>
            <a:ext cx="22677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5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5–10万用户</a:t>
            </a:r>
            <a:endParaRPr/>
          </a:p>
        </p:txBody>
      </p:sp>
      <p:sp>
        <p:nvSpPr>
          <p:cNvPr id="1136" name="Google Shape;1136;p27"/>
          <p:cNvSpPr txBox="1"/>
          <p:nvPr/>
        </p:nvSpPr>
        <p:spPr>
          <a:xfrm>
            <a:off x="3630168" y="2322576"/>
            <a:ext cx="22677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注册用户；漏斗实现端到端埋点。</a:t>
            </a:r>
            <a:endParaRPr/>
          </a:p>
        </p:txBody>
      </p:sp>
      <p:sp>
        <p:nvSpPr>
          <p:cNvPr id="1137" name="Google Shape;1137;p27"/>
          <p:cNvSpPr/>
          <p:nvPr/>
        </p:nvSpPr>
        <p:spPr>
          <a:xfrm>
            <a:off x="6144768" y="1298448"/>
            <a:ext cx="2560320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27"/>
          <p:cNvSpPr/>
          <p:nvPr/>
        </p:nvSpPr>
        <p:spPr>
          <a:xfrm>
            <a:off x="6291072" y="144475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27"/>
          <p:cNvSpPr txBox="1"/>
          <p:nvPr/>
        </p:nvSpPr>
        <p:spPr>
          <a:xfrm>
            <a:off x="6291072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3</a:t>
            </a:r>
            <a:endParaRPr/>
          </a:p>
        </p:txBody>
      </p:sp>
      <p:sp>
        <p:nvSpPr>
          <p:cNvPr id="1140" name="Google Shape;1140;p27"/>
          <p:cNvSpPr txBox="1"/>
          <p:nvPr/>
        </p:nvSpPr>
        <p:spPr>
          <a:xfrm>
            <a:off x="6291072" y="1883664"/>
            <a:ext cx="22677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5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盲测 A/B</a:t>
            </a:r>
            <a:endParaRPr/>
          </a:p>
        </p:txBody>
      </p:sp>
      <p:sp>
        <p:nvSpPr>
          <p:cNvPr id="1141" name="Google Shape;1141;p27"/>
          <p:cNvSpPr txBox="1"/>
          <p:nvPr/>
        </p:nvSpPr>
        <p:spPr>
          <a:xfrm>
            <a:off x="6291072" y="2322576"/>
            <a:ext cx="22677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相较通用模型，质量具备统计显著性。</a:t>
            </a:r>
            <a:endParaRPr/>
          </a:p>
        </p:txBody>
      </p:sp>
      <p:sp>
        <p:nvSpPr>
          <p:cNvPr id="1142" name="Google Shape;1142;p27"/>
          <p:cNvSpPr/>
          <p:nvPr/>
        </p:nvSpPr>
        <p:spPr>
          <a:xfrm>
            <a:off x="8805672" y="1298448"/>
            <a:ext cx="2560320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27"/>
          <p:cNvSpPr/>
          <p:nvPr/>
        </p:nvSpPr>
        <p:spPr>
          <a:xfrm>
            <a:off x="8951976" y="144475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27"/>
          <p:cNvSpPr txBox="1"/>
          <p:nvPr/>
        </p:nvSpPr>
        <p:spPr>
          <a:xfrm>
            <a:off x="8951976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4</a:t>
            </a:r>
            <a:endParaRPr/>
          </a:p>
        </p:txBody>
      </p:sp>
      <p:sp>
        <p:nvSpPr>
          <p:cNvPr id="1145" name="Google Shape;1145;p27"/>
          <p:cNvSpPr txBox="1"/>
          <p:nvPr/>
        </p:nvSpPr>
        <p:spPr>
          <a:xfrm>
            <a:off x="8951976" y="1883664"/>
            <a:ext cx="22677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5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单位经济模型</a:t>
            </a:r>
            <a:endParaRPr/>
          </a:p>
        </p:txBody>
      </p:sp>
      <p:sp>
        <p:nvSpPr>
          <p:cNvPr id="1146" name="Google Shape;1146;p27"/>
          <p:cNvSpPr txBox="1"/>
          <p:nvPr/>
        </p:nvSpPr>
        <p:spPr>
          <a:xfrm>
            <a:off x="8951976" y="2322576"/>
            <a:ext cx="22677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CAC、转化、ARPU 与回收期基准。</a:t>
            </a:r>
            <a:endParaRPr/>
          </a:p>
        </p:txBody>
      </p:sp>
      <p:sp>
        <p:nvSpPr>
          <p:cNvPr id="1147" name="Google Shape;1147;p27"/>
          <p:cNvSpPr/>
          <p:nvPr/>
        </p:nvSpPr>
        <p:spPr>
          <a:xfrm>
            <a:off x="822960" y="3401568"/>
            <a:ext cx="2560320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27"/>
          <p:cNvSpPr/>
          <p:nvPr/>
        </p:nvSpPr>
        <p:spPr>
          <a:xfrm>
            <a:off x="969264" y="354787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27"/>
          <p:cNvSpPr txBox="1"/>
          <p:nvPr/>
        </p:nvSpPr>
        <p:spPr>
          <a:xfrm>
            <a:off x="969264" y="35478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5</a:t>
            </a:r>
            <a:endParaRPr/>
          </a:p>
        </p:txBody>
      </p:sp>
      <p:sp>
        <p:nvSpPr>
          <p:cNvPr id="1150" name="Google Shape;1150;p27"/>
          <p:cNvSpPr txBox="1"/>
          <p:nvPr/>
        </p:nvSpPr>
        <p:spPr>
          <a:xfrm>
            <a:off x="969264" y="3986784"/>
            <a:ext cx="22677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5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美国获客</a:t>
            </a:r>
            <a:endParaRPr/>
          </a:p>
        </p:txBody>
      </p:sp>
      <p:sp>
        <p:nvSpPr>
          <p:cNvPr id="1151" name="Google Shape;1151;p27"/>
          <p:cNvSpPr txBox="1"/>
          <p:nvPr/>
        </p:nvSpPr>
        <p:spPr>
          <a:xfrm>
            <a:off x="969264" y="4425696"/>
            <a:ext cx="22677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付费数字渠道 + 高校/线下渠道上线。</a:t>
            </a:r>
            <a:endParaRPr/>
          </a:p>
        </p:txBody>
      </p:sp>
      <p:sp>
        <p:nvSpPr>
          <p:cNvPr id="1152" name="Google Shape;1152;p27"/>
          <p:cNvSpPr/>
          <p:nvPr/>
        </p:nvSpPr>
        <p:spPr>
          <a:xfrm>
            <a:off x="3483864" y="3401568"/>
            <a:ext cx="2560320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27"/>
          <p:cNvSpPr/>
          <p:nvPr/>
        </p:nvSpPr>
        <p:spPr>
          <a:xfrm>
            <a:off x="3630168" y="354787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27"/>
          <p:cNvSpPr txBox="1"/>
          <p:nvPr/>
        </p:nvSpPr>
        <p:spPr>
          <a:xfrm>
            <a:off x="3630168" y="35478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6</a:t>
            </a:r>
            <a:endParaRPr/>
          </a:p>
        </p:txBody>
      </p:sp>
      <p:sp>
        <p:nvSpPr>
          <p:cNvPr id="1155" name="Google Shape;1155;p27"/>
          <p:cNvSpPr txBox="1"/>
          <p:nvPr/>
        </p:nvSpPr>
        <p:spPr>
          <a:xfrm>
            <a:off x="3630168" y="3986784"/>
            <a:ext cx="22677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5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首批付费用户</a:t>
            </a:r>
            <a:endParaRPr/>
          </a:p>
        </p:txBody>
      </p:sp>
      <p:sp>
        <p:nvSpPr>
          <p:cNvPr id="1156" name="Google Shape;1156;p27"/>
          <p:cNvSpPr txBox="1"/>
          <p:nvPr/>
        </p:nvSpPr>
        <p:spPr>
          <a:xfrm>
            <a:off x="3630168" y="4425696"/>
            <a:ext cx="22677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AI 订阅与职业服务附加上线。</a:t>
            </a:r>
            <a:endParaRPr/>
          </a:p>
        </p:txBody>
      </p:sp>
      <p:sp>
        <p:nvSpPr>
          <p:cNvPr id="1157" name="Google Shape;1157;p27"/>
          <p:cNvSpPr/>
          <p:nvPr/>
        </p:nvSpPr>
        <p:spPr>
          <a:xfrm>
            <a:off x="6144768" y="3401568"/>
            <a:ext cx="2560320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27"/>
          <p:cNvSpPr/>
          <p:nvPr/>
        </p:nvSpPr>
        <p:spPr>
          <a:xfrm>
            <a:off x="6291072" y="354787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27"/>
          <p:cNvSpPr txBox="1"/>
          <p:nvPr/>
        </p:nvSpPr>
        <p:spPr>
          <a:xfrm>
            <a:off x="6291072" y="35478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7</a:t>
            </a:r>
            <a:endParaRPr/>
          </a:p>
        </p:txBody>
      </p:sp>
      <p:sp>
        <p:nvSpPr>
          <p:cNvPr id="1160" name="Google Shape;1160;p27"/>
          <p:cNvSpPr txBox="1"/>
          <p:nvPr/>
        </p:nvSpPr>
        <p:spPr>
          <a:xfrm>
            <a:off x="6291072" y="3986784"/>
            <a:ext cx="22677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5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B2B 线索池</a:t>
            </a:r>
            <a:endParaRPr/>
          </a:p>
        </p:txBody>
      </p:sp>
      <p:sp>
        <p:nvSpPr>
          <p:cNvPr id="1161" name="Google Shape;1161;p27"/>
          <p:cNvSpPr txBox="1"/>
          <p:nvPr/>
        </p:nvSpPr>
        <p:spPr>
          <a:xfrm>
            <a:off x="6291072" y="4425696"/>
            <a:ext cx="22677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与雇主及教育合作伙伴的商务沟通。</a:t>
            </a:r>
            <a:endParaRPr/>
          </a:p>
        </p:txBody>
      </p:sp>
      <p:sp>
        <p:nvSpPr>
          <p:cNvPr id="1162" name="Google Shape;1162;p27"/>
          <p:cNvSpPr/>
          <p:nvPr/>
        </p:nvSpPr>
        <p:spPr>
          <a:xfrm>
            <a:off x="8805672" y="3401568"/>
            <a:ext cx="2560320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27"/>
          <p:cNvSpPr/>
          <p:nvPr/>
        </p:nvSpPr>
        <p:spPr>
          <a:xfrm>
            <a:off x="8951976" y="354787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27"/>
          <p:cNvSpPr txBox="1"/>
          <p:nvPr/>
        </p:nvSpPr>
        <p:spPr>
          <a:xfrm>
            <a:off x="8951976" y="35478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8</a:t>
            </a:r>
            <a:endParaRPr/>
          </a:p>
        </p:txBody>
      </p:sp>
      <p:sp>
        <p:nvSpPr>
          <p:cNvPr id="1165" name="Google Shape;1165;p27"/>
          <p:cNvSpPr txBox="1"/>
          <p:nvPr/>
        </p:nvSpPr>
        <p:spPr>
          <a:xfrm>
            <a:off x="8951976" y="3986784"/>
            <a:ext cx="22677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5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下一轮材料包</a:t>
            </a:r>
            <a:endParaRPr/>
          </a:p>
        </p:txBody>
      </p:sp>
      <p:sp>
        <p:nvSpPr>
          <p:cNvPr id="1166" name="Google Shape;1166;p27"/>
          <p:cNvSpPr txBox="1"/>
          <p:nvPr/>
        </p:nvSpPr>
        <p:spPr>
          <a:xfrm>
            <a:off x="8951976" y="4425696"/>
            <a:ext cx="22677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00" u="none" cap="none" strike="noStrike">
                <a:solidFill>
                  <a:srgbClr val="1E2A33"/>
                </a:solidFill>
                <a:latin typeface="Garamond"/>
                <a:ea typeface="宋体"/>
                <a:cs typeface="Garamond"/>
                <a:sym typeface="Garamond"/>
              </a:rPr>
              <a:t>增长、模型与资料室就绪，具备再融资条件。</a:t>
            </a:r>
            <a:endParaRPr/>
          </a:p>
        </p:txBody>
      </p:sp>
      <p:sp>
        <p:nvSpPr>
          <p:cNvPr id="1167" name="Google Shape;1167;p27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27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宋体"/>
                <a:cs typeface="Garamond"/>
                <a:sym typeface="Garamond"/>
              </a:rPr>
              <a:t>RMB 20M</a:t>
            </a:r>
            <a:endParaRPr/>
          </a:p>
        </p:txBody>
      </p:sp>
      <p:sp>
        <p:nvSpPr>
          <p:cNvPr id="1169" name="Google Shape;1169;p27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10222F"/>
                </a:solidFill>
                <a:latin typeface="Garamond"/>
                <a:ea typeface="宋体"/>
                <a:cs typeface="Garamond"/>
                <a:sym typeface="Garamond"/>
              </a:rPr>
              <a:t>产品 + 用户 + 基准  →  收入  →  下一轮  →  估值跃升</a:t>
            </a:r>
            <a:endParaRPr/>
          </a:p>
        </p:txBody>
      </p:sp>
      <p:pic>
        <p:nvPicPr>
          <p:cNvPr descr="51careers_logo_dark.png" id="1170" name="Google Shape;117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27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1172" name="Google Shape;1172;p27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宋体"/>
                <a:cs typeface="Garamond"/>
                <a:sym typeface="Garamond"/>
              </a:rPr>
              <a:t>27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ver_bg.jpg" id="1177" name="Google Shape;117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51careers_logo_light.png" id="1178" name="Google Shape;117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685800"/>
            <a:ext cx="2514600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28"/>
          <p:cNvSpPr txBox="1"/>
          <p:nvPr/>
        </p:nvSpPr>
        <p:spPr>
          <a:xfrm>
            <a:off x="822960" y="1481328"/>
            <a:ext cx="10241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6FBCE8"/>
                </a:solidFill>
                <a:latin typeface="Garamond"/>
                <a:ea typeface="宋体"/>
                <a:cs typeface="Garamond"/>
                <a:sym typeface="Garamond"/>
              </a:rPr>
              <a:t>愿景</a:t>
            </a:r>
            <a:endParaRPr/>
          </a:p>
        </p:txBody>
      </p:sp>
      <p:sp>
        <p:nvSpPr>
          <p:cNvPr id="1180" name="Google Shape;1180;p28"/>
          <p:cNvSpPr txBox="1"/>
          <p:nvPr/>
        </p:nvSpPr>
        <p:spPr>
          <a:xfrm>
            <a:off x="822960" y="1755648"/>
            <a:ext cx="102412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4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我们不是在做又一个 AI 简历工具。</a:t>
            </a:r>
            <a:endParaRPr/>
          </a:p>
        </p:txBody>
      </p:sp>
      <p:sp>
        <p:nvSpPr>
          <p:cNvPr id="1181" name="Google Shape;1181;p28"/>
          <p:cNvSpPr txBox="1"/>
          <p:nvPr/>
        </p:nvSpPr>
        <p:spPr>
          <a:xfrm>
            <a:off x="822960" y="2212848"/>
            <a:ext cx="102412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400" u="none" cap="none" strike="noStrike">
                <a:solidFill>
                  <a:srgbClr val="6FBCE8"/>
                </a:solidFill>
                <a:latin typeface="Garamond"/>
                <a:ea typeface="宋体"/>
                <a:cs typeface="Garamond"/>
                <a:sym typeface="Garamond"/>
              </a:rPr>
              <a:t>我们正在打造全球 AI 职业平台。</a:t>
            </a:r>
            <a:endParaRPr/>
          </a:p>
        </p:txBody>
      </p:sp>
      <p:sp>
        <p:nvSpPr>
          <p:cNvPr id="1182" name="Google Shape;1182;p28"/>
          <p:cNvSpPr/>
          <p:nvPr/>
        </p:nvSpPr>
        <p:spPr>
          <a:xfrm>
            <a:off x="822960" y="2834640"/>
            <a:ext cx="3392424" cy="2606040"/>
          </a:xfrm>
          <a:prstGeom prst="roundRect">
            <a:avLst>
              <a:gd fmla="val 4000" name="adj"/>
            </a:avLst>
          </a:prstGeom>
          <a:solidFill>
            <a:srgbClr val="0E2233"/>
          </a:solidFill>
          <a:ln cap="flat" cmpd="sng" w="9525">
            <a:solidFill>
              <a:srgbClr val="3C5A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28"/>
          <p:cNvSpPr txBox="1"/>
          <p:nvPr/>
        </p:nvSpPr>
        <p:spPr>
          <a:xfrm>
            <a:off x="1024128" y="3035808"/>
            <a:ext cx="2990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6FBCE8"/>
                </a:solidFill>
                <a:latin typeface="Garamond"/>
                <a:ea typeface="宋体"/>
                <a:cs typeface="Garamond"/>
                <a:sym typeface="Garamond"/>
              </a:rPr>
              <a:t>中国研发</a:t>
            </a:r>
            <a:endParaRPr/>
          </a:p>
        </p:txBody>
      </p:sp>
      <p:sp>
        <p:nvSpPr>
          <p:cNvPr id="1184" name="Google Shape;1184;p28"/>
          <p:cNvSpPr txBox="1"/>
          <p:nvPr/>
        </p:nvSpPr>
        <p:spPr>
          <a:xfrm>
            <a:off x="1024128" y="3511296"/>
            <a:ext cx="299008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DCE8F1"/>
                </a:solidFill>
                <a:latin typeface="Garamond"/>
                <a:ea typeface="宋体"/>
                <a:cs typeface="Garamond"/>
                <a:sym typeface="Garamond"/>
              </a:rPr>
              <a:t>产品、设计、工程与 AI 由中国基地构建。</a:t>
            </a:r>
            <a:endParaRPr/>
          </a:p>
        </p:txBody>
      </p:sp>
      <p:sp>
        <p:nvSpPr>
          <p:cNvPr id="1185" name="Google Shape;1185;p28"/>
          <p:cNvSpPr/>
          <p:nvPr/>
        </p:nvSpPr>
        <p:spPr>
          <a:xfrm>
            <a:off x="4398264" y="2834640"/>
            <a:ext cx="3392424" cy="2606040"/>
          </a:xfrm>
          <a:prstGeom prst="roundRect">
            <a:avLst>
              <a:gd fmla="val 4000" name="adj"/>
            </a:avLst>
          </a:prstGeom>
          <a:solidFill>
            <a:srgbClr val="0E2233"/>
          </a:solidFill>
          <a:ln cap="flat" cmpd="sng" w="9525">
            <a:solidFill>
              <a:srgbClr val="3C5A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28"/>
          <p:cNvSpPr txBox="1"/>
          <p:nvPr/>
        </p:nvSpPr>
        <p:spPr>
          <a:xfrm>
            <a:off x="4599432" y="3035808"/>
            <a:ext cx="2990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6FBCE8"/>
                </a:solidFill>
                <a:latin typeface="Garamond"/>
                <a:ea typeface="宋体"/>
                <a:cs typeface="Garamond"/>
                <a:sym typeface="Garamond"/>
              </a:rPr>
              <a:t>美国商业化</a:t>
            </a:r>
            <a:endParaRPr/>
          </a:p>
        </p:txBody>
      </p:sp>
      <p:sp>
        <p:nvSpPr>
          <p:cNvPr id="1187" name="Google Shape;1187;p28"/>
          <p:cNvSpPr txBox="1"/>
          <p:nvPr/>
        </p:nvSpPr>
        <p:spPr>
          <a:xfrm>
            <a:off x="4599432" y="3511296"/>
            <a:ext cx="299008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DCE8F1"/>
                </a:solidFill>
                <a:latin typeface="Garamond"/>
                <a:ea typeface="宋体"/>
                <a:cs typeface="Garamond"/>
                <a:sym typeface="Garamond"/>
              </a:rPr>
              <a:t>获客与品牌的首个国际增长市场。</a:t>
            </a:r>
            <a:endParaRPr/>
          </a:p>
        </p:txBody>
      </p:sp>
      <p:sp>
        <p:nvSpPr>
          <p:cNvPr id="1188" name="Google Shape;1188;p28"/>
          <p:cNvSpPr/>
          <p:nvPr/>
        </p:nvSpPr>
        <p:spPr>
          <a:xfrm>
            <a:off x="7973568" y="2834640"/>
            <a:ext cx="3392424" cy="2606040"/>
          </a:xfrm>
          <a:prstGeom prst="roundRect">
            <a:avLst>
              <a:gd fmla="val 4000" name="adj"/>
            </a:avLst>
          </a:prstGeom>
          <a:solidFill>
            <a:srgbClr val="0E2233"/>
          </a:solidFill>
          <a:ln cap="flat" cmpd="sng" w="9525">
            <a:solidFill>
              <a:srgbClr val="3C5A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28"/>
          <p:cNvSpPr txBox="1"/>
          <p:nvPr/>
        </p:nvSpPr>
        <p:spPr>
          <a:xfrm>
            <a:off x="8174736" y="3035808"/>
            <a:ext cx="2990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6FBCE8"/>
                </a:solidFill>
                <a:latin typeface="Garamond"/>
                <a:ea typeface="宋体"/>
                <a:cs typeface="Garamond"/>
                <a:sym typeface="Garamond"/>
              </a:rPr>
              <a:t>全球分发</a:t>
            </a:r>
            <a:endParaRPr/>
          </a:p>
        </p:txBody>
      </p:sp>
      <p:sp>
        <p:nvSpPr>
          <p:cNvPr id="1190" name="Google Shape;1190;p28"/>
          <p:cNvSpPr txBox="1"/>
          <p:nvPr/>
        </p:nvSpPr>
        <p:spPr>
          <a:xfrm>
            <a:off x="8174736" y="3511296"/>
            <a:ext cx="299008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500" u="none" cap="none" strike="noStrike">
                <a:solidFill>
                  <a:srgbClr val="DCE8F1"/>
                </a:solidFill>
                <a:latin typeface="Garamond"/>
                <a:ea typeface="宋体"/>
                <a:cs typeface="Garamond"/>
                <a:sym typeface="Garamond"/>
              </a:rPr>
              <a:t>从第一天起即可服务全球劳动力市场的简历产品。</a:t>
            </a:r>
            <a:r>
              <a:rPr lang="en-US" sz="1500">
                <a:solidFill>
                  <a:srgbClr val="DCE8F1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r>
              <a:rPr b="0" i="0" lang="en-US" sz="1500" u="none" cap="none" strike="noStrike">
                <a:solidFill>
                  <a:srgbClr val="DCE8F1"/>
                </a:solidFill>
                <a:latin typeface="Garamond"/>
                <a:ea typeface="宋体"/>
                <a:cs typeface="Garamond"/>
                <a:sym typeface="Garamond"/>
              </a:rPr>
              <a:t/>
            </a:r>
            <a:endParaRPr/>
          </a:p>
        </p:txBody>
      </p:sp>
      <p:sp>
        <p:nvSpPr>
          <p:cNvPr id="1191" name="Google Shape;1191;p28"/>
          <p:cNvSpPr txBox="1"/>
          <p:nvPr/>
        </p:nvSpPr>
        <p:spPr>
          <a:xfrm>
            <a:off x="822960" y="5614416"/>
            <a:ext cx="10543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9FC5DE"/>
                </a:solidFill>
                <a:latin typeface="Garamond"/>
                <a:ea typeface="宋体"/>
                <a:cs typeface="Garamond"/>
                <a:sym typeface="Garamond"/>
              </a:rPr>
              <a:t>AI   ×   职业   ×   人才   ×   机会</a:t>
            </a:r>
            <a:endParaRPr/>
          </a:p>
        </p:txBody>
      </p:sp>
      <p:sp>
        <p:nvSpPr>
          <p:cNvPr id="1192" name="Google Shape;1192;p28"/>
          <p:cNvSpPr txBox="1"/>
          <p:nvPr/>
        </p:nvSpPr>
        <p:spPr>
          <a:xfrm>
            <a:off x="822960" y="612648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000" u="none" cap="none" strike="noStrike">
                <a:solidFill>
                  <a:srgbClr val="B9C7D2"/>
                </a:solidFill>
                <a:latin typeface="Garamond"/>
                <a:ea typeface="宋体"/>
                <a:cs typeface="Garamond"/>
                <a:sym typeface="Garamond"/>
              </a:rPr>
              <a:t>51 Careers.AI   |   专有保密信息</a:t>
            </a:r>
            <a:endParaRPr/>
          </a:p>
        </p:txBody>
      </p:sp>
      <p:sp>
        <p:nvSpPr>
          <p:cNvPr id="1193" name="Google Shape;1193;p28"/>
          <p:cNvSpPr txBox="1"/>
          <p:nvPr/>
        </p:nvSpPr>
        <p:spPr>
          <a:xfrm>
            <a:off x="11064240" y="612648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9C7D2"/>
                </a:solidFill>
                <a:latin typeface="Garamond"/>
                <a:ea typeface="宋体"/>
                <a:cs typeface="Garamond"/>
                <a:sym typeface="Garamond"/>
              </a:rPr>
              <a:t>28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ver_bg.jpg" id="1198" name="Google Shape;11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51careers_logo_light.png" id="1199" name="Google Shape;119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685800"/>
            <a:ext cx="2514600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29"/>
          <p:cNvSpPr txBox="1"/>
          <p:nvPr/>
        </p:nvSpPr>
        <p:spPr>
          <a:xfrm>
            <a:off x="822960" y="1481328"/>
            <a:ext cx="10241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6FBCE8"/>
                </a:solidFill>
                <a:latin typeface="Garamond"/>
                <a:ea typeface="宋体"/>
                <a:cs typeface="Garamond"/>
                <a:sym typeface="Garamond"/>
              </a:rPr>
              <a:t>谢谢</a:t>
            </a:r>
            <a:endParaRPr/>
          </a:p>
        </p:txBody>
      </p:sp>
      <p:sp>
        <p:nvSpPr>
          <p:cNvPr id="1201" name="Google Shape;1201;p29"/>
          <p:cNvSpPr txBox="1"/>
          <p:nvPr/>
        </p:nvSpPr>
        <p:spPr>
          <a:xfrm>
            <a:off x="822960" y="1755648"/>
            <a:ext cx="10241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3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问答与交流</a:t>
            </a:r>
            <a:endParaRPr/>
          </a:p>
        </p:txBody>
      </p:sp>
      <p:sp>
        <p:nvSpPr>
          <p:cNvPr id="1202" name="Google Shape;1202;p29"/>
          <p:cNvSpPr txBox="1"/>
          <p:nvPr/>
        </p:nvSpPr>
        <p:spPr>
          <a:xfrm>
            <a:off x="822960" y="2304288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DCE8F1"/>
                </a:solidFill>
                <a:latin typeface="Garamond"/>
                <a:ea typeface="宋体"/>
                <a:cs typeface="Garamond"/>
                <a:sym typeface="Garamond"/>
              </a:rPr>
              <a:t>“我们的使命，是让好工作对每个人都触手可及。”</a:t>
            </a:r>
            <a:endParaRPr/>
          </a:p>
        </p:txBody>
      </p:sp>
      <p:sp>
        <p:nvSpPr>
          <p:cNvPr id="1203" name="Google Shape;1203;p29"/>
          <p:cNvSpPr/>
          <p:nvPr/>
        </p:nvSpPr>
        <p:spPr>
          <a:xfrm>
            <a:off x="822960" y="2834640"/>
            <a:ext cx="5175504" cy="1828800"/>
          </a:xfrm>
          <a:prstGeom prst="roundRect">
            <a:avLst>
              <a:gd fmla="val 4000" name="adj"/>
            </a:avLst>
          </a:prstGeom>
          <a:solidFill>
            <a:srgbClr val="0E2233"/>
          </a:solidFill>
          <a:ln cap="flat" cmpd="sng" w="9525">
            <a:solidFill>
              <a:srgbClr val="3C5A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29"/>
          <p:cNvSpPr txBox="1"/>
          <p:nvPr/>
        </p:nvSpPr>
        <p:spPr>
          <a:xfrm>
            <a:off x="1078992" y="3035808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200" u="none" cap="none" strike="noStrike">
                <a:solidFill>
                  <a:srgbClr val="6FBCE8"/>
                </a:solidFill>
                <a:latin typeface="Garamond"/>
                <a:ea typeface="宋体"/>
                <a:cs typeface="Garamond"/>
                <a:sym typeface="Garamond"/>
              </a:rPr>
              <a:t>邮箱</a:t>
            </a:r>
            <a:endParaRPr/>
          </a:p>
        </p:txBody>
      </p:sp>
      <p:sp>
        <p:nvSpPr>
          <p:cNvPr id="1205" name="Google Shape;1205;p29"/>
          <p:cNvSpPr txBox="1"/>
          <p:nvPr/>
        </p:nvSpPr>
        <p:spPr>
          <a:xfrm>
            <a:off x="1078992" y="3401568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rocky.chen@51careers.com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206" name="Google Shape;1206;p29"/>
          <p:cNvSpPr/>
          <p:nvPr/>
        </p:nvSpPr>
        <p:spPr>
          <a:xfrm>
            <a:off x="6190488" y="2834640"/>
            <a:ext cx="5175504" cy="1828800"/>
          </a:xfrm>
          <a:prstGeom prst="roundRect">
            <a:avLst>
              <a:gd fmla="val 4000" name="adj"/>
            </a:avLst>
          </a:prstGeom>
          <a:solidFill>
            <a:srgbClr val="0E2233"/>
          </a:solidFill>
          <a:ln cap="flat" cmpd="sng" w="9525">
            <a:solidFill>
              <a:srgbClr val="3C5A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29"/>
          <p:cNvSpPr txBox="1"/>
          <p:nvPr/>
        </p:nvSpPr>
        <p:spPr>
          <a:xfrm>
            <a:off x="6446520" y="3035808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200" u="none" cap="none" strike="noStrike">
                <a:solidFill>
                  <a:srgbClr val="6FBCE8"/>
                </a:solidFill>
                <a:latin typeface="Garamond"/>
                <a:ea typeface="宋体"/>
                <a:cs typeface="Garamond"/>
                <a:sym typeface="Garamond"/>
              </a:rPr>
              <a:t>电话</a:t>
            </a:r>
            <a:endParaRPr/>
          </a:p>
        </p:txBody>
      </p:sp>
      <p:sp>
        <p:nvSpPr>
          <p:cNvPr id="1208" name="Google Shape;1208;p29"/>
          <p:cNvSpPr txBox="1"/>
          <p:nvPr/>
        </p:nvSpPr>
        <p:spPr>
          <a:xfrm>
            <a:off x="6446520" y="3401568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(631) 704-4533</a:t>
            </a:r>
            <a:endParaRPr/>
          </a:p>
        </p:txBody>
      </p:sp>
      <p:sp>
        <p:nvSpPr>
          <p:cNvPr id="1209" name="Google Shape;1209;p29"/>
          <p:cNvSpPr/>
          <p:nvPr/>
        </p:nvSpPr>
        <p:spPr>
          <a:xfrm>
            <a:off x="822960" y="4828032"/>
            <a:ext cx="10543032" cy="1207008"/>
          </a:xfrm>
          <a:prstGeom prst="roundRect">
            <a:avLst>
              <a:gd fmla="val 4000" name="adj"/>
            </a:avLst>
          </a:prstGeom>
          <a:solidFill>
            <a:srgbClr val="0E2233"/>
          </a:solidFill>
          <a:ln cap="flat" cmpd="sng" w="9525">
            <a:solidFill>
              <a:srgbClr val="3C5A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29"/>
          <p:cNvSpPr txBox="1"/>
          <p:nvPr/>
        </p:nvSpPr>
        <p:spPr>
          <a:xfrm>
            <a:off x="1024128" y="4974336"/>
            <a:ext cx="101406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FFFFFF"/>
                </a:solidFill>
                <a:latin typeface="Garamond"/>
                <a:ea typeface="宋体"/>
                <a:cs typeface="Garamond"/>
                <a:sym typeface="Garamond"/>
              </a:rPr>
              <a:t>Rocky Chen  ·  创始人兼首席执行官</a:t>
            </a:r>
            <a:endParaRPr/>
          </a:p>
        </p:txBody>
      </p:sp>
      <p:sp>
        <p:nvSpPr>
          <p:cNvPr id="1211" name="Google Shape;1211;p29"/>
          <p:cNvSpPr txBox="1"/>
          <p:nvPr/>
        </p:nvSpPr>
        <p:spPr>
          <a:xfrm>
            <a:off x="1024128" y="5376672"/>
            <a:ext cx="101406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CE8F1"/>
                </a:solidFill>
                <a:latin typeface="Garamond"/>
                <a:ea typeface="宋体"/>
                <a:cs typeface="Garamond"/>
                <a:sym typeface="Garamond"/>
              </a:rPr>
              <a:t>rocky.chen@51careers.</a:t>
            </a:r>
            <a:r>
              <a:rPr lang="en-US">
                <a:solidFill>
                  <a:srgbClr val="DCE8F1"/>
                </a:solidFill>
                <a:latin typeface="Garamond"/>
                <a:ea typeface="宋体"/>
                <a:cs typeface="Garamond"/>
                <a:sym typeface="Garamond"/>
              </a:rPr>
              <a:t>com</a:t>
            </a:r>
            <a:r>
              <a:rPr b="0" i="0" lang="en-US" sz="1400" u="none" cap="none" strike="noStrike">
                <a:solidFill>
                  <a:srgbClr val="DCE8F1"/>
                </a:solidFill>
                <a:latin typeface="Garamond"/>
                <a:ea typeface="宋体"/>
                <a:cs typeface="Garamond"/>
                <a:sym typeface="Garamond"/>
              </a:rPr>
              <a:t>   ·   (631) 704-4533</a:t>
            </a:r>
            <a:endParaRPr/>
          </a:p>
        </p:txBody>
      </p:sp>
      <p:sp>
        <p:nvSpPr>
          <p:cNvPr id="1212" name="Google Shape;1212;p29"/>
          <p:cNvSpPr txBox="1"/>
          <p:nvPr/>
        </p:nvSpPr>
        <p:spPr>
          <a:xfrm>
            <a:off x="9326880" y="6473952"/>
            <a:ext cx="2057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850" u="none" cap="none" strike="noStrike">
                <a:solidFill>
                  <a:srgbClr val="B9C7D2"/>
                </a:solidFill>
                <a:latin typeface="Garamond"/>
                <a:ea typeface="宋体"/>
                <a:cs typeface="Garamond"/>
                <a:sym typeface="Garamond"/>
              </a:rPr>
              <a:t>专有保密信息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