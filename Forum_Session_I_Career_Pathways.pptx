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52241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415" y="0"/>
            <a:ext cx="566928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22415" y="0"/>
            <a:ext cx="41148" cy="68580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219456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2026 CAREER DEVELOPMENT &amp; INTERNATIONAL STUDENT FORUM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Career Pathways for</a:t>
            </a:r>
          </a:p>
          <a:p>
            <a:pPr algn="l"/>
            <a:r>
              <a:rPr sz="32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International Students</a:t>
            </a:r>
          </a:p>
          <a:p>
            <a:pPr algn="l"/>
            <a:r>
              <a:rPr sz="32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in the Post-Pandemic 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4DE"/>
                </a:solidFill>
                <a:latin typeface="Garamond"/>
                <a:ea typeface="Garamond"/>
                <a:cs typeface="Garamond"/>
              </a:rPr>
              <a:t>Building Your Career in the U.S.</a:t>
            </a:r>
          </a:p>
          <a:p>
            <a:pPr algn="l"/>
            <a:r>
              <a:rPr sz="1600" b="0">
                <a:solidFill>
                  <a:srgbClr val="C8D4DE"/>
                </a:solidFill>
                <a:latin typeface="Garamond"/>
                <a:ea typeface="Garamond"/>
                <a:cs typeface="Garamond"/>
              </a:rPr>
              <a:t>vs. Returning to China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800600"/>
            <a:ext cx="137160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4"/>
                </a:solidFill>
                <a:latin typeface="Garamond"/>
                <a:ea typeface="Garamond"/>
                <a:cs typeface="Garamond"/>
              </a:rPr>
              <a:t>U.S. Job Market · Career Strategy</a:t>
            </a:r>
          </a:p>
          <a:p>
            <a:pPr algn="l"/>
            <a:r>
              <a:rPr sz="1400" b="0">
                <a:solidFill>
                  <a:srgbClr val="E8EEF4"/>
                </a:solidFill>
                <a:latin typeface="Garamond"/>
                <a:ea typeface="Garamond"/>
                <a:cs typeface="Garamond"/>
              </a:rPr>
              <a:t>Emerging Industries · Global Opportunities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Session I · 2:10 – 3:20 PM · Rocky Chen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522415" cy="6858000"/>
          </a:xfrm>
          <a:prstGeom prst="rect">
            <a:avLst/>
          </a:prstGeom>
          <a:solidFill>
            <a:srgbClr val="F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415" y="0"/>
            <a:ext cx="566928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22415" y="0"/>
            <a:ext cx="41148" cy="68580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THE BIG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"/>
            <a:ext cx="77724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Stay in the U.S. or</a:t>
            </a:r>
          </a:p>
          <a:p>
            <a:pPr algn="l"/>
            <a:r>
              <a:rPr sz="30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Return to China?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Career decisions are no longer simply about where to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5760720" cy="4572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77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Where can I build long-term career value?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16352"/>
            <a:ext cx="5760720" cy="4572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9077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Which market matches my skills and background?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46704"/>
            <a:ext cx="5760720" cy="4572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3814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4381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How should I plan around immigration and work authorization?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77056"/>
            <a:ext cx="5760720" cy="4572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6849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96849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Which industries offer the strongest opportunities?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407408"/>
            <a:ext cx="5760720" cy="4572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988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4988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When should I make the decision?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074920"/>
            <a:ext cx="5760720" cy="128016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074920"/>
            <a:ext cx="576072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2578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KEY MESSAGE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5778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Don’t choose a country first.</a:t>
            </a:r>
          </a:p>
          <a:p>
            <a:pPr algn="l"/>
            <a:r>
              <a:rPr sz="16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Choose a career strategy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3_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390" cy="2560320"/>
          </a:xfrm>
          <a:prstGeom prst="rect">
            <a:avLst/>
          </a:prstGeom>
        </p:spPr>
      </p:pic>
      <p:pic>
        <p:nvPicPr>
          <p:cNvPr id="4" name="Picture 3" descr="03_c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390" y="0"/>
            <a:ext cx="6096304" cy="2560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B1016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THE 2026 CAREER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What Has Changed in the Job Market?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788920"/>
            <a:ext cx="5440680" cy="292608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788920"/>
            <a:ext cx="544068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U.S.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4892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Increasing competition for entry-level positions</a:t>
            </a:r>
          </a:p>
          <a:p>
            <a:pPr algn="l"/>
            <a:r>
              <a:rPr sz="14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Growing importance of specialized technical skills</a:t>
            </a:r>
          </a:p>
          <a:p>
            <a:pPr algn="l"/>
            <a:r>
              <a:rPr sz="14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Employer focus on measurable impact and experience</a:t>
            </a:r>
          </a:p>
          <a:p>
            <a:pPr algn="l"/>
            <a:r>
              <a:rPr sz="14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Work authorization remains an important consideration</a:t>
            </a:r>
          </a:p>
          <a:p>
            <a:pPr algn="l"/>
            <a:r>
              <a:rPr sz="14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AI is reshaping hiring across industries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788920"/>
            <a:ext cx="5440680" cy="292608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788920"/>
            <a:ext cx="544068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9718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China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83280"/>
            <a:ext cx="4892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Strong demand for technology and engineering talent</a:t>
            </a:r>
          </a:p>
          <a:p>
            <a:pPr algn="l"/>
            <a:r>
              <a:rPr sz="14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Rapid growth in strategic emerging industries</a:t>
            </a:r>
          </a:p>
          <a:p>
            <a:pPr algn="l"/>
            <a:r>
              <a:rPr sz="14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Opportunities in AI, aerospace, advanced manufacturing</a:t>
            </a:r>
          </a:p>
          <a:p>
            <a:pPr algn="l"/>
            <a:r>
              <a:rPr sz="14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International education as differentiated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897880"/>
            <a:ext cx="11155680" cy="64008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016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Takeaway: The market is changing — and career preparation must start earlier.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0" y="0"/>
            <a:ext cx="6522415" cy="6858000"/>
          </a:xfrm>
          <a:prstGeom prst="rect">
            <a:avLst/>
          </a:prstGeom>
          <a:solidFill>
            <a:srgbClr val="F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0"/>
            <a:ext cx="41148" cy="68580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89320" y="256032"/>
            <a:ext cx="5806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FOUR CAREER PATHWAYS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475488"/>
            <a:ext cx="5806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Which Path Is Right for You?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97280"/>
            <a:ext cx="5806440" cy="12801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89320" y="1097280"/>
            <a:ext cx="580644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234439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23443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Build a Career in the U.S.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00200"/>
            <a:ext cx="5349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Long-term employment strategy for durable roles in high-demand fields — with visa and sponsorship planning.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2468880"/>
            <a:ext cx="5806440" cy="12801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2468880"/>
            <a:ext cx="580644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6060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606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Secure U.S. Internships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349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Near-term conversion pipeline. The highest-leverage bridge for most students testing fit and building proof.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3840480"/>
            <a:ext cx="5806440" cy="12801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3840480"/>
            <a:ext cx="580644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9776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977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Return to China After Graduation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343400"/>
            <a:ext cx="5349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Apply overseas credentials to domestic talent programs, high-tech sectors, and entrepreneurship pathways.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5212080"/>
            <a:ext cx="5806440" cy="12801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5212080"/>
            <a:ext cx="580644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5349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349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Remote &amp; Cross-Border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715000"/>
            <a:ext cx="5349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Hybrid models spanning U.S. and China markets — flexibility with unique compliance needs.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522415" cy="6858000"/>
          </a:xfrm>
          <a:prstGeom prst="rect">
            <a:avLst/>
          </a:prstGeom>
          <a:solidFill>
            <a:srgbClr val="F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415" y="0"/>
            <a:ext cx="566928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22415" y="0"/>
            <a:ext cx="41148" cy="68580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BUILDING A CAREER IN THE U.S.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"/>
            <a:ext cx="77724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Who Should Consider</a:t>
            </a:r>
          </a:p>
          <a:p>
            <a:pPr algn="l"/>
            <a:r>
              <a:rPr sz="28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Staying in the U.S.?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Potentially Strong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Strong technical or specialized skills</a:t>
            </a:r>
          </a:p>
          <a:p>
            <a:pPr algn="l"/>
            <a:r>
              <a:rPr sz="15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Research or engineering experience</a:t>
            </a:r>
          </a:p>
          <a:p>
            <a:pPr algn="l"/>
            <a:r>
              <a:rPr sz="15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Relevant U.S. internship experience</a:t>
            </a:r>
          </a:p>
          <a:p>
            <a:pPr algn="l"/>
            <a:r>
              <a:rPr sz="15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Strong English communication skills</a:t>
            </a:r>
          </a:p>
          <a:p>
            <a:pPr algn="l"/>
            <a:r>
              <a:rPr sz="15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A clear target industry</a:t>
            </a:r>
          </a:p>
          <a:p>
            <a:pPr algn="l"/>
            <a:r>
              <a:rPr sz="15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Access to employers that hire international talent</a:t>
            </a:r>
          </a:p>
          <a:p>
            <a:pPr algn="l"/>
            <a:r>
              <a:rPr sz="15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Long-term interest in the U.S. innovation ecosystem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029200"/>
            <a:ext cx="5669280" cy="13716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029200"/>
            <a:ext cx="566928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HIGH-VALUE CAREER ASSETS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Technical Skills → Research → Internship</a:t>
            </a:r>
          </a:p>
          <a:p>
            <a:pPr algn="l"/>
            <a:r>
              <a:rPr sz="1500" b="0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→ Network → Industry Experience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0" y="0"/>
            <a:ext cx="6522415" cy="6858000"/>
          </a:xfrm>
          <a:prstGeom prst="rect">
            <a:avLst/>
          </a:prstGeom>
          <a:solidFill>
            <a:srgbClr val="F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0"/>
            <a:ext cx="41148" cy="68580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89320" y="365760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BUILDING A CAREER IN CHINA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640080"/>
            <a:ext cx="77724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89320" y="77724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Who Should Consider</a:t>
            </a:r>
          </a:p>
          <a:p>
            <a:pPr algn="l"/>
            <a:r>
              <a:rPr sz="28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Returning to China?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7830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Potentially Strong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2194560"/>
            <a:ext cx="5669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Strong academics but limited U.S. work authorization</a:t>
            </a:r>
          </a:p>
          <a:p>
            <a:pPr algn="l"/>
            <a:r>
              <a:rPr sz="15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Want to enter China’s rapidly growing industries</a:t>
            </a:r>
          </a:p>
          <a:p>
            <a:pPr algn="l"/>
            <a:r>
              <a:rPr sz="15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Research/technical expertise matching domestic needs</a:t>
            </a:r>
          </a:p>
          <a:p>
            <a:pPr algn="l"/>
            <a:r>
              <a:rPr sz="15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Strong China-based professional networks</a:t>
            </a:r>
          </a:p>
          <a:p>
            <a:pPr algn="l"/>
            <a:r>
              <a:rPr sz="15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Want a career closer to family or China’s business ecosystem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5029200"/>
            <a:ext cx="5669280" cy="13716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5029200"/>
            <a:ext cx="566928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52120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POTENTIAL ADVANTAGE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5778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International Education + Global Perspective</a:t>
            </a:r>
          </a:p>
          <a:p>
            <a:pPr algn="l"/>
            <a:r>
              <a:rPr sz="1500" b="0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+ Specialized Skills = a strong differentiator.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WHERE ARE THE OPPORTUNITIES?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High-Potential Career Tracks</a:t>
            </a:r>
          </a:p>
        </p:txBody>
      </p:sp>
      <p:pic>
        <p:nvPicPr>
          <p:cNvPr id="5" name="Picture 4" descr="07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59" y="1097280"/>
            <a:ext cx="2743200" cy="3246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2559" y="4480560"/>
            <a:ext cx="2743200" cy="19659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2559" y="4480560"/>
            <a:ext cx="274320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719" y="4617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Aerospace &amp;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719" y="50292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Commercial space · Satellites</a:t>
            </a:r>
          </a:p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Propulsion · Aerospace eng.</a:t>
            </a:r>
          </a:p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Space data &amp; applications</a:t>
            </a:r>
          </a:p>
        </p:txBody>
      </p:sp>
      <p:pic>
        <p:nvPicPr>
          <p:cNvPr id="10" name="Picture 9" descr="07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351" y="1097280"/>
            <a:ext cx="2743200" cy="32461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70351" y="4480560"/>
            <a:ext cx="2743200" cy="19659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70351" y="4480560"/>
            <a:ext cx="274320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7511" y="4617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Technology &amp;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7511" y="50292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Artificial Intelligence · ML</a:t>
            </a:r>
          </a:p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Robotics · Semiconductors</a:t>
            </a:r>
          </a:p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Cloud &amp; computing</a:t>
            </a:r>
          </a:p>
        </p:txBody>
      </p:sp>
      <p:pic>
        <p:nvPicPr>
          <p:cNvPr id="15" name="Picture 14" descr="07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143" y="1097280"/>
            <a:ext cx="2743200" cy="32461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178143" y="4480560"/>
            <a:ext cx="2743200" cy="19659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8143" y="4480560"/>
            <a:ext cx="274320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5303" y="4617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Advanced Manufacturing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5303" y="50292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Automation · Robotics</a:t>
            </a:r>
          </a:p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EV &amp; mobility · Industrial tech</a:t>
            </a:r>
          </a:p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Smart manufacturing</a:t>
            </a:r>
          </a:p>
        </p:txBody>
      </p:sp>
      <p:pic>
        <p:nvPicPr>
          <p:cNvPr id="20" name="Picture 19" descr="07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5935" y="1097280"/>
            <a:ext cx="2743200" cy="324612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085935" y="4480560"/>
            <a:ext cx="2743200" cy="19659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85935" y="4480560"/>
            <a:ext cx="274320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3095" y="4617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Business &amp; Finance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3095" y="50292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Consulting · Investment</a:t>
            </a:r>
          </a:p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Business analytics · PM</a:t>
            </a:r>
          </a:p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Technology strategy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0" y="0"/>
            <a:ext cx="6522415" cy="6858000"/>
          </a:xfrm>
          <a:prstGeom prst="rect">
            <a:avLst/>
          </a:prstGeom>
          <a:solidFill>
            <a:srgbClr val="F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0"/>
            <a:ext cx="41148" cy="68580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89320" y="256032"/>
            <a:ext cx="5806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WHAT EMPLOYERS WANT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475488"/>
            <a:ext cx="5806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From “Good Student” to</a:t>
            </a:r>
          </a:p>
          <a:p>
            <a:pPr algn="l"/>
            <a:r>
              <a:rPr sz="22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“Competitive Candidate”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234440"/>
            <a:ext cx="5806440" cy="123444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89320" y="1234440"/>
            <a:ext cx="580644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Technical 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3736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Programming · Data analysis · Engineering · AI / ML · Industry expertise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2560320"/>
            <a:ext cx="5806440" cy="123444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2560320"/>
            <a:ext cx="580644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697479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69747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Practical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063239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Internships · Research projects · Industry projects · Startups · Competitions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3886200"/>
            <a:ext cx="5806440" cy="123444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3886200"/>
            <a:ext cx="580644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02336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023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Communication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38912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Storytelling · Presentation · Cross-cultural communication · Teamwork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5212080"/>
            <a:ext cx="5806440" cy="123444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5212080"/>
            <a:ext cx="580644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5349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349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Evidence of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71500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Show what you built, solved, improved, or achieved — not only what you learned.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468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0B1016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TURNING RESEARCH INTO CAREER CAPITAL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How to Make Research Work for Your Career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4DE"/>
                </a:solidFill>
                <a:latin typeface="Garamond"/>
                <a:ea typeface="Garamond"/>
                <a:cs typeface="Garamond"/>
              </a:rPr>
              <a:t>Research experience can become a powerful career asset — if you know how to present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5440680" cy="192024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544068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INSTEAD 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“Conducted research on</a:t>
            </a:r>
          </a:p>
          <a:p>
            <a:pPr algn="l"/>
            <a:r>
              <a:rPr sz="18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AI algorithms.”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743200"/>
            <a:ext cx="5257800" cy="192024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743200"/>
            <a:ext cx="525780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97180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SHOW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383280"/>
            <a:ext cx="4709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Problem → Method →</a:t>
            </a:r>
          </a:p>
          <a:p>
            <a:pPr algn="l"/>
            <a:r>
              <a:rPr sz="18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Technical Contribution →</a:t>
            </a:r>
          </a:p>
          <a:p>
            <a:pPr algn="l"/>
            <a:r>
              <a:rPr sz="18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Result → Impact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892040"/>
            <a:ext cx="10927080" cy="15087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74920"/>
            <a:ext cx="10241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3949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Developed an ML-based optimization model that improved prediction accuracy by XX%</a:t>
            </a:r>
          </a:p>
          <a:p>
            <a:pPr algn="l"/>
            <a:r>
              <a:rPr sz="1500" b="0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and reduced processing time by XX%.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98932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Research → Resume → Interview → Job  ·  Connect your research story to the role you want.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11135" cy="6858000"/>
          </a:xfrm>
          <a:prstGeom prst="rect">
            <a:avLst/>
          </a:prstGeom>
          <a:solidFill>
            <a:srgbClr val="F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135" y="0"/>
            <a:ext cx="448056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11135" y="0"/>
            <a:ext cx="41148" cy="68580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6858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THE INTERNATIONAL STUDENT CAREER PLAYBOOK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94360"/>
            <a:ext cx="77724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Build Your Career Before</a:t>
            </a:r>
          </a:p>
          <a:p>
            <a:pPr algn="l"/>
            <a:r>
              <a:rPr sz="26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You Need a Job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6858000" cy="10515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54864" cy="10515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Freshman / Sophomore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7099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Explore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Identify industries · Build foundational skills · Join research / projects · Start networking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88920"/>
            <a:ext cx="6858000" cy="10515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788920"/>
            <a:ext cx="54864" cy="10515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2607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Junior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8986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Differentiate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91839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Secure internships · Develop specialized expertise · Build a strong resume · Expand network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77639"/>
            <a:ext cx="6858000" cy="10515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977639"/>
            <a:ext cx="54864" cy="10515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Senior / Master’s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0873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Convert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480559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Target employers · Apply strategically · Leverage referrals · Prepare interviews · Evaluate U.S. vs. China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166359"/>
            <a:ext cx="6858000" cy="10515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166359"/>
            <a:ext cx="54864" cy="10515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03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PhD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52760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Position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69279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Research → Industry · Research → Academia · Startup / Entrepreneurship · Compare research ecosystems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1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2240280"/>
          </a:xfrm>
          <a:prstGeom prst="rect">
            <a:avLst/>
          </a:prstGeom>
        </p:spPr>
      </p:pic>
      <p:pic>
        <p:nvPicPr>
          <p:cNvPr id="4" name="Picture 3" descr="11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4876495" cy="2240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2240280"/>
          </a:xfrm>
          <a:prstGeom prst="rect">
            <a:avLst/>
          </a:prstGeom>
          <a:solidFill>
            <a:srgbClr val="0B1016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YOUR 90-DAY CAREER ACTION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What Should You Do Next?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14600"/>
            <a:ext cx="3566160" cy="306324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356616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69748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MONTH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0632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Position Yourself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611880"/>
            <a:ext cx="3154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Define your target industry</a:t>
            </a:r>
          </a:p>
          <a:p>
            <a:pPr algn="l"/>
            <a:r>
              <a:rPr sz="14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Identify 10–20 target companies</a:t>
            </a:r>
          </a:p>
          <a:p>
            <a:pPr algn="l"/>
            <a:r>
              <a:rPr sz="14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Audit your resume and LinkedIn</a:t>
            </a:r>
          </a:p>
          <a:p>
            <a:pPr algn="l"/>
            <a:r>
              <a:rPr sz="14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Identify skill gaps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514600"/>
            <a:ext cx="3566160" cy="306324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514600"/>
            <a:ext cx="356616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69748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MONTH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0632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Build Your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611880"/>
            <a:ext cx="3154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Complete a relevant project</a:t>
            </a:r>
          </a:p>
          <a:p>
            <a:pPr algn="l"/>
            <a:r>
              <a:rPr sz="14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Strengthen technical skills</a:t>
            </a:r>
          </a:p>
          <a:p>
            <a:pPr algn="l"/>
            <a:r>
              <a:rPr sz="14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Connect with alumni and professionals</a:t>
            </a:r>
          </a:p>
          <a:p>
            <a:pPr algn="l"/>
            <a:r>
              <a:rPr sz="14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Start informational interviews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59" y="2514600"/>
            <a:ext cx="3566160" cy="306324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9" y="2514600"/>
            <a:ext cx="356616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269748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MONTH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0632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016"/>
                </a:solidFill>
                <a:latin typeface="Garamond"/>
                <a:ea typeface="Garamond"/>
                <a:cs typeface="Garamond"/>
              </a:rPr>
              <a:t>Enter the Market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3611880"/>
            <a:ext cx="3154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Apply to targeted positions</a:t>
            </a:r>
          </a:p>
          <a:p>
            <a:pPr algn="l"/>
            <a:r>
              <a:rPr sz="14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Ask for referrals</a:t>
            </a:r>
          </a:p>
          <a:p>
            <a:pPr algn="l"/>
            <a:r>
              <a:rPr sz="14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Practice interviews</a:t>
            </a:r>
          </a:p>
          <a:p>
            <a:pPr algn="l"/>
            <a:r>
              <a:rPr sz="1400" b="0">
                <a:solidFill>
                  <a:srgbClr val="3A4552"/>
                </a:solidFill>
                <a:latin typeface="Garamond"/>
                <a:ea typeface="Garamond"/>
                <a:cs typeface="Garamond"/>
              </a:rPr>
              <a:t>•  Track applications and networking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760720"/>
            <a:ext cx="10927080" cy="73152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852160"/>
            <a:ext cx="10241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THE GOAL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60350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From “I need a job”  →  “I have a clear career strategy.”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52241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415" y="0"/>
            <a:ext cx="566928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22415" y="0"/>
            <a:ext cx="41148" cy="68580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FINAL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5 Things to Remember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37160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566928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7099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Start early.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116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4DE"/>
                </a:solidFill>
                <a:latin typeface="Garamond"/>
                <a:ea typeface="Garamond"/>
                <a:cs typeface="Garamond"/>
              </a:rPr>
              <a:t>Career planning should begin years before graduation.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68880"/>
            <a:ext cx="566928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5786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Skills matter more than labels.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88036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4DE"/>
                </a:solidFill>
                <a:latin typeface="Garamond"/>
                <a:ea typeface="Garamond"/>
                <a:cs typeface="Garamond"/>
              </a:rPr>
              <a:t>Your degree opens the door; your capabilities get you hired.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37560"/>
            <a:ext cx="566928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7472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4472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Experience beats intention.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7490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4DE"/>
                </a:solidFill>
                <a:latin typeface="Garamond"/>
                <a:ea typeface="Garamond"/>
                <a:cs typeface="Garamond"/>
              </a:rPr>
              <a:t>Internships, research and projects create evidence of your value.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06240"/>
            <a:ext cx="566928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3159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Build two options.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6177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4DE"/>
                </a:solidFill>
                <a:latin typeface="Garamond"/>
                <a:ea typeface="Garamond"/>
                <a:cs typeface="Garamond"/>
              </a:rPr>
              <a:t>Don’t wait until graduation to decide between the U.S. and China.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074920"/>
            <a:ext cx="566928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21208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1846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Choose strategically, not emotionally.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4864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4DE"/>
                </a:solidFill>
                <a:latin typeface="Garamond"/>
                <a:ea typeface="Garamond"/>
                <a:cs typeface="Garamond"/>
              </a:rPr>
              <a:t>Maximize long-term career capital — not only today’s salary.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52241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1_contact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415" y="0"/>
            <a:ext cx="566928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22415" y="0"/>
            <a:ext cx="41148" cy="685800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STAY IN TOUCH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137160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Let’s continue</a:t>
            </a:r>
          </a:p>
          <a:p>
            <a:r>
              <a:rPr sz="32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the conversation.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Rocky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29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8D4DE"/>
                </a:solidFill>
                <a:latin typeface="Garamond"/>
                <a:ea typeface="Garamond"/>
                <a:cs typeface="Garamond"/>
              </a:rPr>
              <a:t>Session I · Career Pathways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023360"/>
            <a:ext cx="5486400" cy="914400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023360"/>
            <a:ext cx="548640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Rocky.chen@51careers.com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120640"/>
            <a:ext cx="5486400" cy="914400"/>
          </a:xfrm>
          <a:prstGeom prst="rect">
            <a:avLst/>
          </a:prstGeom>
          <a:solidFill>
            <a:srgbClr val="14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5120640"/>
            <a:ext cx="5486400" cy="22860"/>
          </a:xfrm>
          <a:prstGeom prst="rect">
            <a:avLst/>
          </a:prstGeom>
          <a:solidFill>
            <a:srgbClr val="7E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EB0C8"/>
                </a:solidFill>
                <a:latin typeface="Garamond"/>
                <a:ea typeface="Garamond"/>
                <a:cs typeface="Garamond"/>
              </a:rPr>
              <a:t>PHONE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77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BFCFF"/>
                </a:solidFill>
                <a:latin typeface="Garamond"/>
                <a:ea typeface="Garamond"/>
                <a:cs typeface="Garamond"/>
              </a:rPr>
              <a:t>631-704-4533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