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280160"/>
            <a:ext cx="2194560" cy="15875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0C8"/>
                </a:solidFill>
                <a:latin typeface="Garamond"/>
              </a:rPr>
              <a:t>AUGUST 18, 2026  ·  SESSION II  ·  3:35 – 4:50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7589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Garamond"/>
              </a:rPr>
              <a:t>2026 U.S. Commercial Space</a:t>
            </a:r>
          </a:p>
          <a:p>
            <a:pPr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Garamond"/>
              </a:rPr>
              <a:t>Technology &amp; Opportunities</a:t>
            </a:r>
          </a:p>
          <a:p>
            <a:pPr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Garamond"/>
              </a:rPr>
              <a:t>in the Chinese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805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EB0C8"/>
                </a:solidFill>
                <a:latin typeface="Garamond"/>
              </a:rPr>
              <a:t>North American International Students:</a:t>
            </a:r>
          </a:p>
          <a:p>
            <a:pPr algn="l"/>
            <a:r>
              <a:rPr sz="1400" b="0" i="1">
                <a:solidFill>
                  <a:srgbClr val="7EB0C8"/>
                </a:solidFill>
                <a:latin typeface="Garamond"/>
              </a:rPr>
              <a:t>High-End Employment &amp; Commercial Space Opportunities Forum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212080"/>
            <a:ext cx="1280160" cy="15875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486400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A"/>
                </a:solidFill>
                <a:latin typeface="Garamond"/>
              </a:rPr>
              <a:t>Presented by Rocky Chen  ·  In-depth industry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IV · SESSION II · 3:35 – 4:50 PM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Featured Topic &amp; Discussion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27080" cy="150876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B0C8"/>
                </a:solidFill>
                <a:latin typeface="Garamond"/>
              </a:rPr>
              <a:t>FEATURED 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Review of U.S. Commercial Space Developments in H1 2026: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Technology, Industry Dynamics &amp; Opportunities in the Chinese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2651760" cy="237744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611880"/>
            <a:ext cx="26517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840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A92"/>
                </a:solidFill>
                <a:latin typeface="Garamon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206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41C"/>
                </a:solidFill>
                <a:latin typeface="Garamond"/>
              </a:rPr>
              <a:t>U.S. Developments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937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Reusable launch, LEO, strategy, ecosystem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3611880"/>
            <a:ext cx="2651760" cy="237744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3611880"/>
            <a:ext cx="26517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3840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A92"/>
                </a:solidFill>
                <a:latin typeface="Garamon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4206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41C"/>
                </a:solidFill>
                <a:latin typeface="Garamond"/>
              </a:rPr>
              <a:t>U.S.–China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4937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Structural differences &amp; collaboration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2651760" cy="237744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26517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840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A92"/>
                </a:solidFill>
                <a:latin typeface="Garamon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206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41C"/>
                </a:solidFill>
                <a:latin typeface="Garamond"/>
              </a:rPr>
              <a:t>China Market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937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Tech, applications, talent, capital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611880"/>
            <a:ext cx="2651760" cy="237744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3611880"/>
            <a:ext cx="26517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3840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A92"/>
                </a:solidFill>
                <a:latin typeface="Garamon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4206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41C"/>
                </a:solidFill>
                <a:latin typeface="Garamond"/>
              </a:rPr>
              <a:t>Key Takeaways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4937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Where global talent can participate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SESSION II · KEYNOTE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Rocky Chen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4114800" cy="429768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4450" cy="429768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0C8"/>
                </a:solidFill>
                <a:latin typeface="Garamond"/>
              </a:rPr>
              <a:t>KEYNOTE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aramond"/>
              </a:rPr>
              <a:t>Rocky Chen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291840"/>
            <a:ext cx="1280160" cy="190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7EB0C8"/>
                </a:solidFill>
                <a:latin typeface="Garamond"/>
              </a:rPr>
              <a:t>Founder, 51 Careers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7EB0C8"/>
                </a:solidFill>
                <a:latin typeface="Garamond"/>
              </a:rPr>
              <a:t>Founder, 51Careers.AI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7EB0C8"/>
                </a:solidFill>
                <a:latin typeface="Garamond"/>
              </a:rPr>
              <a:t>Investor &amp; Managing Director, Helio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874519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141C"/>
                </a:solidFill>
                <a:latin typeface="Garamond"/>
              </a:rPr>
              <a:t>Perspective for This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377440"/>
            <a:ext cx="630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 i="0">
                <a:solidFill>
                  <a:srgbClr val="3D4A58"/>
                </a:solidFill>
                <a:latin typeface="Garamond"/>
              </a:rPr>
              <a:t>Rocky Chen founded 51 Careers, a global high-end career development platform, and 51Careers.AI. He is also an investor and Managing Director at publicly listed company Helio.</a:t>
            </a:r>
          </a:p>
          <a:p>
            <a:pPr>
              <a:spcAft>
                <a:spcPts val="1200"/>
              </a:spcAft>
            </a:pPr>
            <a:r>
              <a:rPr sz="1350" b="0" i="0">
                <a:solidFill>
                  <a:srgbClr val="3D4A58"/>
                </a:solidFill>
                <a:latin typeface="Garamond"/>
              </a:rPr>
              <a:t>His work across aerospace, capital markets, and international talent development informs a practical view of where commercial space is going — and where opportunity concentrates for globally trained professionals.</a:t>
            </a:r>
          </a:p>
          <a:p>
            <a:pPr>
              <a:spcAft>
                <a:spcPts val="1200"/>
              </a:spcAft>
            </a:pPr>
            <a:r>
              <a:rPr sz="1350" b="0" i="0">
                <a:solidFill>
                  <a:srgbClr val="3D4A58"/>
                </a:solidFill>
                <a:latin typeface="Garamond"/>
              </a:rPr>
              <a:t>Session II examines H1 2026 U.S. industry dynamics, U.S.–China structural differences, and actionable opportunities in the Chinese market through 2027.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1) KEY DEVELOPMENTS · H1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Four Forces Reshaping U.S. Commercial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Technology maturity, constellation scale, strategic repositioning, and ecosystem integration.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0253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5856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Reusable Launch Maturity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7919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High-frequency launch models and falling cost of access to space.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0253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5856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LEO Constellation Scale-Up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67919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Global broadband, direct-to-device, and integrated space-ground networks.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79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1479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24281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49884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Strategic Industry Shifts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91947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From space tourism toward infrastructure, human spaceflight, and deep space.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11479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11479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24281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9884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Integrated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91947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Rockets → satellites → constellations → ground systems → end-user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1) KEY DEVELOPMENTS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Reusable Rocket Technology Enters a New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Advances in reusable launch technology, high-frequency flight models, and cost reduction.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927080" cy="123444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44450" cy="123444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75687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141C"/>
                </a:solidFill>
                <a:latin typeface="Garamond"/>
              </a:rPr>
              <a:t>Reusable Launch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41447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D4A58"/>
                </a:solidFill>
                <a:latin typeface="Garamond"/>
              </a:rPr>
              <a:t>Reusability is shifting from milestone to operating norm — enabling higher flight rates, faster turnaround, and more predictable deployment windows for satellite and infrastructure customers.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46119"/>
            <a:ext cx="10927080" cy="123444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46119"/>
            <a:ext cx="44450" cy="123444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47287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141C"/>
                </a:solidFill>
                <a:latin typeface="Garamond"/>
              </a:rPr>
              <a:t>Next-Generation Heavy 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13047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D4A58"/>
                </a:solidFill>
                <a:latin typeface="Garamond"/>
              </a:rPr>
              <a:t>Heavy-lift systems expand what can be launched in a single mission: denser constellations, larger platforms, and more ambitious orbital infrastructure builds.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617719"/>
            <a:ext cx="10927080" cy="123444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17719"/>
            <a:ext cx="44450" cy="123444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818887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141C"/>
                </a:solidFill>
                <a:latin typeface="Garamond"/>
              </a:rPr>
              <a:t>High-Frequency Launch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184647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D4A58"/>
                </a:solidFill>
                <a:latin typeface="Garamond"/>
              </a:rPr>
              <a:t>Cadence becomes a competitive advantage. Operators that fly often can compress deployment timelines and reshape customer expectations for access to orbit.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1) KEY DEVELOPMENTS · REUSABLE LAUNCH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Implications for Deployment, Infrastructure &amp;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Lower cost of access to space changes what becomes commercially viable.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566160" cy="416052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56616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A92"/>
                </a:solidFill>
                <a:latin typeface="Garamo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5176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141C"/>
                </a:solidFill>
                <a:latin typeface="Garamond"/>
              </a:rPr>
              <a:t>Satellite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42900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Higher cadence and lower cost enable larger constellations, faster replenishment, and more flexible orbital architecture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19" y="1920240"/>
            <a:ext cx="3566160" cy="416052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19" y="1920240"/>
            <a:ext cx="356616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7" y="2194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B0C8"/>
                </a:solidFill>
                <a:latin typeface="Garamon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7" y="265176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Space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7" y="342900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EB0C8"/>
                </a:solidFill>
                <a:latin typeface="Garamond"/>
              </a:rPr>
              <a:t>Orbital platforms, servicing concepts, and persistent infrastructure become more economically realistic as launch ceases to be the binding constraint.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8" y="1920240"/>
            <a:ext cx="3566160" cy="416052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8" y="1920240"/>
            <a:ext cx="356616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6" y="2194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A92"/>
                </a:solidFill>
                <a:latin typeface="Garamon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6" y="265176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141C"/>
                </a:solidFill>
                <a:latin typeface="Garamond"/>
              </a:rPr>
              <a:t>Launch Services 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6" y="342900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Competition shifts toward reliability, schedule assurance, payload flexibility, and integrated mission services — not only sticker price per kilogram.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1) KEY DEVELOPMENTS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Large-Scale LEO Satellite Constellations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Rapid expansion of low-Earth-orbit networks is reshaping global telecommunications.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Global Broadband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Mass connectivity from orbit at planetary scale — expanding addressable markets beyond terrestrial fiber and tower footprints.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19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1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Direct-to-Device Communications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1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Satellite links reaching phones and consumer devices, collapsing the gap between space networks and everyday users.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0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Remote-Area Connectivity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0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Coverage where terrestrial networks cannot economically reach — islands, rural regions, oceans, and mobile platforms.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Emergency Communications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Resilient links for disaster response and crisis continuity when ground infrastructure fails.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19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19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1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Space-Ground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1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Unified infrastructure across orbit and terrestrial systems — terminals, gateways, and network orchestration.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8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8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0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Telecom Landscape Reset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0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Constellations redefine capacity, competition, and partnership models across the global communications stack.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1) KEY DEVELOPMENTS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Strategic Shifts Among Leading Companies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From space tourism toward strategic infrastructure and deep-space exploration.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474720" cy="420624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44450" cy="420624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B0C8"/>
                </a:solidFill>
                <a:latin typeface="Garamond"/>
              </a:rPr>
              <a:t>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aramond"/>
              </a:rPr>
              <a:t>Space tourism &amp;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Garamond"/>
              </a:rPr>
              <a:t>consumer-oriented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Garamond"/>
              </a:rPr>
              <a:t>market narratives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023360"/>
            <a:ext cx="1280160" cy="190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B0C8"/>
                </a:solidFill>
                <a:latin typeface="Garamond"/>
              </a:rPr>
              <a:t>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EB0C8"/>
                </a:solidFill>
                <a:latin typeface="Garamond"/>
              </a:rPr>
              <a:t>Infrastructure, human</a:t>
            </a:r>
          </a:p>
          <a:p>
            <a:pPr algn="l"/>
            <a:r>
              <a:rPr sz="1500" b="1" i="0">
                <a:solidFill>
                  <a:srgbClr val="7EB0C8"/>
                </a:solidFill>
                <a:latin typeface="Garamond"/>
              </a:rPr>
              <a:t>spaceflight &amp; deep space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7178040" cy="73152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65959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Advanced Launch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58567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Systems that make frequent, reliable access to space an operating capability.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697479"/>
            <a:ext cx="7178040" cy="73152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788919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Human Spaceflight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81527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Crewed missions moving from demonstration toward durable commercial capability.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520439"/>
            <a:ext cx="7178040" cy="73152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611879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Lunar Exploration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904487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Ambition extending beyond LEO toward sustained lunar activity and supporting systems.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343399"/>
            <a:ext cx="7178040" cy="73152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434839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Deep-Space Exploration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27447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Longer-horizon missions and technologies that redefine the industry’s strategic frontier.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5166359"/>
            <a:ext cx="7178040" cy="73152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257799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Large-Scale Satellite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550407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Constellations and orbital platforms treated as long-lived strategic assets.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1) KEY DEVELOPMENTS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An Integrated Commercial Space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Vertical integration, technological barriers, capital intensity, and scale reshape competition.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103120" cy="219456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10312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EB0C8"/>
                </a:solidFill>
                <a:latin typeface="Garamo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aramond"/>
              </a:rPr>
              <a:t>Rocket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Garamond"/>
              </a:rPr>
              <a:t>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7792" y="1920240"/>
            <a:ext cx="2103120" cy="219456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2" y="1920240"/>
            <a:ext cx="210312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7A92"/>
                </a:solidFill>
                <a:latin typeface="Garamon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651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41C"/>
                </a:solidFill>
                <a:latin typeface="Garamond"/>
              </a:rPr>
              <a:t>Satellite</a:t>
            </a:r>
          </a:p>
          <a:p>
            <a:pPr algn="l"/>
            <a:r>
              <a:rPr sz="1400" b="1" i="0">
                <a:solidFill>
                  <a:srgbClr val="0E141C"/>
                </a:solidFill>
                <a:latin typeface="Garamond"/>
              </a:rPr>
              <a:t>Manufacturing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75504" y="1920240"/>
            <a:ext cx="2103120" cy="219456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920240"/>
            <a:ext cx="210312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EB0C8"/>
                </a:solidFill>
                <a:latin typeface="Garamon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2651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aramond"/>
              </a:rPr>
              <a:t>Constellation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Garamond"/>
              </a:rPr>
              <a:t>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43216" y="1920240"/>
            <a:ext cx="2103120" cy="219456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43216" y="1920240"/>
            <a:ext cx="210312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6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7A92"/>
                </a:solidFill>
                <a:latin typeface="Garamon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6" y="2651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41C"/>
                </a:solidFill>
                <a:latin typeface="Garamond"/>
              </a:rPr>
              <a:t>Ground Equipment</a:t>
            </a:r>
          </a:p>
          <a:p>
            <a:pPr algn="l"/>
            <a:r>
              <a:rPr sz="1400" b="1" i="0">
                <a:solidFill>
                  <a:srgbClr val="0E141C"/>
                </a:solidFill>
                <a:latin typeface="Garamond"/>
              </a:rPr>
              <a:t>&amp; Terminals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10928" y="1920240"/>
            <a:ext cx="2103120" cy="219456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10928" y="1920240"/>
            <a:ext cx="210312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EB0C8"/>
                </a:solidFill>
                <a:latin typeface="Garamon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2651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aramond"/>
              </a:rPr>
              <a:t>End-User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Garamond"/>
              </a:rPr>
              <a:t>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89120"/>
            <a:ext cx="10927080" cy="169164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6177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B0C8"/>
                </a:solidFill>
                <a:latin typeface="Garamond"/>
              </a:rPr>
              <a:t>Why Integration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834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7EB0C8"/>
                </a:solidFill>
                <a:latin typeface="Garamond"/>
              </a:rPr>
              <a:t>Companies that control more of the chain capture margin, set standards, and raise barriers for new entrants. For talent and partners engaging the Chinese market, knowing where value concentrates — launch, manufacturing, operations, ground systems, or services — is essential for career and market-entry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1) KEY DEVELOPMENTS ·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Forces Reshaping Competitive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Four structural dynamics define who can compete — and where collaboration becomes valuable.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0253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5856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Vertical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7919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Owning more of the stack improves control over cost, schedule, and customer experience — but raises capital and execution complexity.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0253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5856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Technological Barriers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67919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Reusable systems, constellation software, and ground networks create durable moats that are difficult to replicate quickly.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79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1479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24281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49884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Capital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91947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Launch, manufacturing, and constellation build-out demand sustained funding cycles — favoring operators with deep capital access.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11479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11479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24281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9884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Economies of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91947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Flight cadence, satellite production volume, and network density compound advantages for scaled platforms.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2) U.S.–CHINA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U.S. Advantages in Commercial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Structural strengths shaped by private-sector intensity and capital-market depth.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High Launch Frequency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Operational cadence that compresses deployment timelines and accelerates learning loops.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19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1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Rapid Technology Iteration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1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Fast design–fly–improve cycles across vehicles, satellites, and ground systems.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0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Mature Commercialization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0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Clearer paths from technology to recurring launch, connectivity, and infrastructure revenue.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Strong Private-Sector Participation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A dense ecosystem of operators, suppliers, and mission customers outside traditional government-only models.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19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19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1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Active Capital Markets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1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Venture, growth, and public-market pathways that fund ambitious multi-year buildouts.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8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8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0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Highly Competitive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0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Pressure that rewards reliability, cost discipline, and customer-centric mission delivery.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2) U.S.–CHINA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China’s Advantages in Commercial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Policy support, domestic demand, and accelerating private aerospace capability.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Strong Policy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National and regional priorities that mobilize resources toward commercial space capacity.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19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1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Rapidly Expanding Domestic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1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Large and growing demand for connectivity, sensing, and space-enabled services.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0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Fast-Growing Private Aerospace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0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An expanding set of private companies competing across launch, satellites, and applications.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Increasing Investment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Rising capital allocation into commercial space platforms, infrastructure, and enabling technologies.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19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19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1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Reusable Launch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1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Rapid development of reusable technologies that narrow capability gaps over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8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8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0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Supply-Chain Localization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0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Significant opportunity to localize components, terminals, software, and ground systems domestically.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2) U.S.–CHINA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Structural Differences &amp; Collaboration Openings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Where international experience, technology, talent, and capital can create cross-border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383280" cy="59436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1828800"/>
            <a:ext cx="3749039" cy="59436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828800"/>
            <a:ext cx="3611880" cy="59436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141C"/>
                </a:solidFill>
                <a:latin typeface="Garamond"/>
              </a:rPr>
              <a:t>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amond"/>
              </a:rPr>
              <a:t>United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9659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amond"/>
              </a:rPr>
              <a:t>China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3383280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514600"/>
            <a:ext cx="3749039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2514600"/>
            <a:ext cx="3611880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E141C"/>
                </a:solidFill>
                <a:latin typeface="Garamond"/>
              </a:rPr>
              <a:t>Primary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791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Private competition + capital markets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67919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Policy support + domestic 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00400"/>
            <a:ext cx="3383280" cy="64008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3200400"/>
            <a:ext cx="3749039" cy="64008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3200400"/>
            <a:ext cx="3611880" cy="64008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64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E141C"/>
                </a:solidFill>
                <a:latin typeface="Garamond"/>
              </a:rPr>
              <a:t>Launch posture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364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High frequency, rapid iteration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36499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Fast catch-up in reusability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86200"/>
            <a:ext cx="3383280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3886200"/>
            <a:ext cx="3749039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3886200"/>
            <a:ext cx="3611880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507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E141C"/>
                </a:solidFill>
                <a:latin typeface="Garamond"/>
              </a:rPr>
              <a:t>Market shape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050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Exportable commercial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05079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Large localization opportunity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72000"/>
            <a:ext cx="3383280" cy="64008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4572000"/>
            <a:ext cx="3749039" cy="64008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4572000"/>
            <a:ext cx="3611880" cy="64008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7365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E141C"/>
                </a:solidFill>
                <a:latin typeface="Garamond"/>
              </a:rPr>
              <a:t>Talent 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736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Deep operating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73659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Rising demand for global talent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257800"/>
            <a:ext cx="3383280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5257800"/>
            <a:ext cx="3749039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79" y="5257800"/>
            <a:ext cx="3611880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4223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E141C"/>
                </a:solidFill>
                <a:latin typeface="Garamond"/>
              </a:rPr>
              <a:t>Collaboration wedge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422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Technology &amp; operating know-how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542239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Market access &amp; supply-chain build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3) CHINA MARKET OPPORTUNITIES · H2 2026–2027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Four Opportunity Frontiers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Technology, applications, talent, and capital-policy convergence.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0253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5856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Technology Collaboration</a:t>
            </a:r>
          </a:p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&amp; Localization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7919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D4A58"/>
                </a:solidFill>
                <a:latin typeface="Garamond"/>
              </a:rPr>
              <a:t>Rocket components, terminals, communications equipment, ground infrastructure, software, and supply chains.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0253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5856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Rapid Growth of</a:t>
            </a:r>
          </a:p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Commercial Applications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67919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D4A58"/>
                </a:solidFill>
                <a:latin typeface="Garamond"/>
              </a:rPr>
              <a:t>Remote sensing, emergency communications, logistics, aviation, navigation, and earth observation.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79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1479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24281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49884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Growing Demand for</a:t>
            </a:r>
          </a:p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International Talent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91947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D4A58"/>
                </a:solidFill>
                <a:latin typeface="Garamond"/>
              </a:rPr>
              <a:t>Roles spanning R&amp;D, international BD, market ops, partnerships, investment, and commercialization.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11479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11479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24281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9884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Capital &amp; Policy</a:t>
            </a:r>
          </a:p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Opportunities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91947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D4A58"/>
                </a:solidFill>
                <a:latin typeface="Garamond"/>
              </a:rPr>
              <a:t>Venture capital, M&amp;A, regional initiatives, entrepreneurship programs, and talent incentives.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3) OPPORTUNITIES ·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Technology Collaboration &amp; Localization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Chinese private aerospace companies are accelerating independent development — creating openings for transfer, innovation, and partnership.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Rocket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Subsystem and component opportunities supporting reusable and conventional launch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19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1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Satellite Terminals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1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User terminals and related hardware enabling constellation services at scale.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0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Satellite Communications Equipment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0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Payload and communications hardware for connectivity-focused missions.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Ground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Gateways, networks, and operational infrastructure connecting space to users.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19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19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1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Space Software &amp;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1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Mission software, analytics, operations tools, and service-layer innovation.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8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8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0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Commercial Space Supply Chains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0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Localization across manufacturing, testing, logistics, and qualified suppliers.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3) OPPORTUNITIES ·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Rapid Growth of Commercial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LEO technologies are opening civilian markets — and career/entrepreneurship pathways.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Agricultural &amp; Forestry</a:t>
            </a:r>
          </a:p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Remote Sensing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Monitoring and analytics for land, crops, and forest resources.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19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1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Ocean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1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Maritime awareness, environmental tracking, and ocean intelligence.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87451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87451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0" y="202082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Emergency Communications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0" y="244144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Resilient connectivity for disaster response and continuity.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Cross-Border Logistics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Tracking and coordination across complex trade corridors.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19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19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1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Aviation &amp;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1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Positioning, connectivity, and operational support for aviation systems.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8" y="4114799"/>
            <a:ext cx="356616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8" y="4114799"/>
            <a:ext cx="356616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0" y="4261103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Remote Connectivity &amp;</a:t>
            </a:r>
          </a:p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Earth Observation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0" y="4681727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8"/>
                </a:solidFill>
                <a:latin typeface="Garamond"/>
              </a:rPr>
              <a:t>Access for underserved regions plus high-value observation services.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3) OPPORTUNITIES · TALENT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Growing Demand for International Talent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As China’s commercial space industry expands, globally trained professionals become strategic hires.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440680" cy="42976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44068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41C"/>
                </a:solidFill>
                <a:latin typeface="Garamond"/>
              </a:rPr>
              <a:t>Capabilities in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892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3D4A58"/>
                </a:solidFill>
                <a:latin typeface="Garamond"/>
              </a:rPr>
              <a:t>•  International aerospace industry exposure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D4A58"/>
                </a:solidFill>
                <a:latin typeface="Garamond"/>
              </a:rPr>
              <a:t>•  Global technology and market knowledge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D4A58"/>
                </a:solidFill>
                <a:latin typeface="Garamond"/>
              </a:rPr>
              <a:t>•  Cross-cultural communication skills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D4A58"/>
                </a:solidFill>
                <a:latin typeface="Garamond"/>
              </a:rPr>
              <a:t>•  Bilingual capabilities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D4A58"/>
                </a:solidFill>
                <a:latin typeface="Garamond"/>
              </a:rPr>
              <a:t>•  Technical expertise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D4A58"/>
                </a:solidFill>
                <a:latin typeface="Garamond"/>
              </a:rPr>
              <a:t>•  International business development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257800" cy="429768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525780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aramond"/>
              </a:rPr>
              <a:t>Potential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14600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7EB0C8"/>
                </a:solidFill>
                <a:latin typeface="Garamond"/>
              </a:rPr>
              <a:t>•  R&amp;D and engineering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7EB0C8"/>
                </a:solidFill>
                <a:latin typeface="Garamond"/>
              </a:rPr>
              <a:t>•  International business development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7EB0C8"/>
                </a:solidFill>
                <a:latin typeface="Garamond"/>
              </a:rPr>
              <a:t>•  Market operations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7EB0C8"/>
                </a:solidFill>
                <a:latin typeface="Garamond"/>
              </a:rPr>
              <a:t>•  Cross-border partnerships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7EB0C8"/>
                </a:solidFill>
                <a:latin typeface="Garamond"/>
              </a:rPr>
              <a:t>•  Strategic investment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7EB0C8"/>
                </a:solidFill>
                <a:latin typeface="Garamond"/>
              </a:rPr>
              <a:t>•  Capital markets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7EB0C8"/>
                </a:solidFill>
                <a:latin typeface="Garamond"/>
              </a:rPr>
              <a:t>•  Technology commercialization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3) OPPORTUNITIES · CAPITAL &amp;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Capital, Policy &amp; Ecosystem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Investors, local governments, and innovation programs are increasing attention on commercial space.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0253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5856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Venture &amp; Strategic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7919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Venture capital and strategic investment flowing into launch, satellites, applications, and enabling technologies.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0253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5856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M&amp;A and Consolidation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67919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Industry consolidation opportunities as platforms seek scale, talent, and complementary capabilities.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79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1479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24281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49884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Regional Space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91947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Local and regional commercial space programs creating clusters, infrastructure, and company formation.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114799"/>
            <a:ext cx="5440680" cy="20574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114799"/>
            <a:ext cx="544068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242815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98847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E141C"/>
                </a:solidFill>
                <a:latin typeface="Garamond"/>
              </a:rPr>
              <a:t>Entrepreneurship &amp; Talent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919471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8"/>
                </a:solidFill>
                <a:latin typeface="Garamond"/>
              </a:rPr>
              <a:t>Innovation programs, government incentives for high-level technical talent, and startup support for space projects.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A92"/>
                </a:solidFill>
                <a:latin typeface="Garamond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77240" cy="254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41C"/>
                </a:solidFill>
                <a:latin typeface="Garamond"/>
              </a:rPr>
              <a:t>Two Questions for the Next Generation of Global Talent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A8A"/>
                </a:solidFill>
                <a:latin typeface="Garamond"/>
              </a:rPr>
              <a:t>This forum connects education, careers, technology, commercial space, entrepreneurship, and investment.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440680" cy="233172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4068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0C8"/>
                </a:solidFill>
                <a:latin typeface="Garamond"/>
              </a:rPr>
              <a:t>QUESTION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Where are the best career opportunities for international students in 2026 and beyond?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257800" cy="233172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257800" cy="317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A92"/>
                </a:solidFill>
                <a:latin typeface="Garamond"/>
              </a:rPr>
              <a:t>QUESTION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141C"/>
                </a:solidFill>
                <a:latin typeface="Garamond"/>
              </a:rPr>
              <a:t>How can global talent participate in commercial space and capture U.S.–China market opportunities?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89120"/>
            <a:ext cx="10927080" cy="169164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177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41C"/>
                </a:solidFill>
                <a:latin typeface="Garamond"/>
              </a:rPr>
              <a:t>What Participants Take 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8348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D4A58"/>
                </a:solidFill>
                <a:latin typeface="Garamond"/>
              </a:rPr>
              <a:t>Through keynote presentations, industry analysis, live Q&amp;A, and targeted networking, participants gain practical insights into career planning, emerging industries, international talent opportunities, and the future of commercial space.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685800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38100" cy="237744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116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0C8"/>
                </a:solidFill>
                <a:latin typeface="Garamond"/>
              </a:rPr>
              <a:t>SESSION II  ·  3:35 – 4:50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7955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aramond"/>
              </a:rPr>
              <a:t>Questions &amp;</a:t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Garamond"/>
              </a:rPr>
              <a:t>Open Networking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886200"/>
            <a:ext cx="1645920" cy="1905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160520"/>
            <a:ext cx="7955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i="1">
                <a:solidFill>
                  <a:srgbClr val="7EB0C8"/>
                </a:solidFill>
                <a:latin typeface="Garamond"/>
              </a:rPr>
              <a:t>Follow the technology.</a:t>
            </a:r>
          </a:p>
          <a:p>
            <a:pPr>
              <a:spcAft>
                <a:spcPts val="500"/>
              </a:spcAft>
            </a:pPr>
            <a:r>
              <a:rPr sz="1500" b="0" i="1">
                <a:solidFill>
                  <a:srgbClr val="7EB0C8"/>
                </a:solidFill>
                <a:latin typeface="Garamond"/>
              </a:rPr>
              <a:t>Read the market structure.</a:t>
            </a:r>
          </a:p>
          <a:p>
            <a:pPr>
              <a:spcAft>
                <a:spcPts val="500"/>
              </a:spcAft>
            </a:pPr>
            <a:r>
              <a:rPr sz="1500" b="0" i="1">
                <a:solidFill>
                  <a:srgbClr val="7EB0C8"/>
                </a:solidFill>
                <a:latin typeface="Garamond"/>
              </a:rPr>
              <a:t>Position talent where U.S. experience meets China opportunity.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806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8A"/>
                </a:solidFill>
                <a:latin typeface="Garamond"/>
              </a:rPr>
              <a:t>After 5:00 PM  ·  Targeted networking and one-on-one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