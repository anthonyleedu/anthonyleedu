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Use of Funds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Marketing &amp; acquisition</c:v>
                </c:pt>
                <c:pt idx="1">
                  <c:v>Product &amp; AI development</c:v>
                </c:pt>
                <c:pt idx="2">
                  <c:v>U.S. market expansion</c:v>
                </c:pt>
                <c:pt idx="3">
                  <c:v>China market &amp; B2B</c:v>
                </c:pt>
                <c:pt idx="4">
                  <c:v>Brand &amp; events</c:v>
                </c:pt>
                <c:pt idx="5">
                  <c:v>Ops / legal / finance</c:v>
                </c:pt>
                <c:pt idx="6">
                  <c:v>Cash reserve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40</c:v>
                </c:pt>
                <c:pt idx="1">
                  <c:v>22.5</c:v>
                </c:pt>
                <c:pt idx="2">
                  <c:v>12.5</c:v>
                </c:pt>
                <c:pt idx="3">
                  <c:v>7.5</c:v>
                </c:pt>
                <c:pt idx="4">
                  <c:v>7.5</c:v>
                </c:pt>
                <c:pt idx="5">
                  <c:v>5</c:v>
                </c:pt>
                <c:pt idx="6">
                  <c:v>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51careers_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51460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481328"/>
            <a:ext cx="102412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CONFIDENTIAL INVESTOR PRESENTATION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37360"/>
            <a:ext cx="10241280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44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51 Careers.AI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95728"/>
            <a:ext cx="1024128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Building the global AI career platform — from resume to opportunity.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61488"/>
            <a:ext cx="102412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9FC5DE"/>
                </a:solidFill>
                <a:latin typeface="Garamond"/>
                <a:ea typeface="Garamond"/>
                <a:cs typeface="Garamond"/>
              </a:rPr>
              <a:t>AI RESUME   ×   AI CAREER   ×   GLOBAL TALENT ECOSYSTEM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90672"/>
            <a:ext cx="3392424" cy="2029968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3255264"/>
            <a:ext cx="295351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PRE-MONEY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3566160"/>
            <a:ext cx="2953512" cy="6949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30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RMB 180M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" y="4352544"/>
            <a:ext cx="2953512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≈ US$26.7 million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8264" y="3090672"/>
            <a:ext cx="3392424" cy="2029968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255264"/>
            <a:ext cx="295351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RAISE  ·  10% EQUITY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566160"/>
            <a:ext cx="2953512" cy="6949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30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RMB 20M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4352544"/>
            <a:ext cx="2953512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≈ US$2.97 million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3090672"/>
            <a:ext cx="3392424" cy="2029968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3255264"/>
            <a:ext cx="295351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POST-MONEY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3566160"/>
            <a:ext cx="2953512" cy="6949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30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RMB 200M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93024" y="4352544"/>
            <a:ext cx="2953512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≈ US$29.7 million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285232"/>
            <a:ext cx="10543032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The resume is the entry point. The ambition is the global AI career platform.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614416"/>
            <a:ext cx="10543032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Connecting job seekers, employers, career services, education, and the talent ecosystem.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035040"/>
            <a:ext cx="1054303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September 2026    |    New York  ·  Shanghai    |    China R&amp;D  ·  U.S. GTM  ·  Global distribution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COMPANY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51 Careers 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services  →  AI Resume  →  AI Career Platform  →  Global Marketplace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5669280" cy="34564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5266944" cy="3200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Who we are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51 Careers is building a global AI Career Platform to help job seekers create better resumes, discover opportunities, improve outcomes, and access professional career services.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Entry point</a:t>
            </a:r>
          </a:p>
          <a:p>
            <a:pPr algn="l">
              <a:spcAft>
                <a:spcPts val="1200"/>
              </a:spcAft>
            </a:pPr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An AI Resume Platform that turns unstructured career experience into professional, quantified, job-specific resumes.</a:t>
            </a:r>
          </a:p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This round</a:t>
            </a:r>
          </a:p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20 million (10% of RMB 200 million post-money) to fund product, acquisition, and global commercialization.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298448"/>
            <a:ext cx="4690872" cy="34564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408176"/>
            <a:ext cx="4343400" cy="2743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Investment highlights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173736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01    AI Resume demo already developed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0" y="210312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02    Initial testing with promising results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246888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03    Stronger positioning vs. general AI models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83464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04    Global product from day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20040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05    Existing career-services expertise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56616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06    U.S. as first international beachhead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93192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07    Multiple revenue streams beyond AI Resume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0" y="4297680"/>
            <a:ext cx="4343400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08    RMB 20M for product, users, and GTM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882896"/>
            <a:ext cx="2560320" cy="14996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9264" y="5029200"/>
            <a:ext cx="2267712" cy="47548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" y="5577840"/>
            <a:ext cx="2267712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Founded in New York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83864" y="4882896"/>
            <a:ext cx="2560320" cy="14996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30168" y="5029200"/>
            <a:ext cx="2267712" cy="47548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RMB 20M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30168" y="5577840"/>
            <a:ext cx="2267712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Growth capital this round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4882896"/>
            <a:ext cx="2560320" cy="14996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91072" y="5029200"/>
            <a:ext cx="2267712" cy="47548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91072" y="5577840"/>
            <a:ext cx="2267712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Equity at RMB 200M post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805672" y="4882896"/>
            <a:ext cx="2560320" cy="14996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1976" y="5029200"/>
            <a:ext cx="2267712" cy="47548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RMB 180M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51976" y="5577840"/>
            <a:ext cx="2267712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Pre-money valuation</a:t>
            </a:r>
          </a:p>
        </p:txBody>
      </p:sp>
      <p:pic>
        <p:nvPicPr>
          <p:cNvPr id="29" name="Picture 2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Seeking Is Still Highly Inefficient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For millions of candidates the process remains fragmented, expensive, and low-signal.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quality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Most candidates struggle to present experience as professional, results-oriented work. The first impression is weaker than the career behind it, and ATS systems under-rank the file.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53512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18104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18104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99816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Quantification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9816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People describe responsibilities rather than measurable achievements. Hiring teams cannot see impact, scale, or outcomes, so strong operators look interchangeable.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84064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248656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48656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30368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Role fit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30368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One generic resume rarely works across jobs and employers. Candidates lose interviews because the document is not written to the role they actually want.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14616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79208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79208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60920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Candidates apply without a clear view of actual fit. Volume goes up, interview rates stay low, and the search takes longer than it should.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345168" y="1298448"/>
            <a:ext cx="20208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09760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0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91472" y="1975104"/>
            <a:ext cx="1728216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advice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91472" y="2670048"/>
            <a:ext cx="1728216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guidance remains expensive and consultant-dependent. Most people never get structured help on positioning, targeting, or next-step decisions.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RESULT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Low-quality applications  →  low interview rates  →  long searches  →  high frustration</a:t>
            </a:r>
          </a:p>
        </p:txBody>
      </p:sp>
      <p:pic>
        <p:nvPicPr>
          <p:cNvPr id="33" name="Picture 3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OPPORTUNITY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Is Reshaping Career Services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Generative AI has changed how people create, communicate, and consume professional information.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508406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44752"/>
            <a:ext cx="475488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Traditional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773936"/>
            <a:ext cx="47548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Human consultant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194560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Manual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16352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Manual resume writing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438144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Manual job 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059936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High cost per user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681728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Limited scalability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1298448"/>
            <a:ext cx="508406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83096" y="1444752"/>
            <a:ext cx="475488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AI-enabled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1773936"/>
            <a:ext cx="47548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Career platform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194560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Automated career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2816352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resume generation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3438144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Intelligent job matching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059936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Continuous optimization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4681728"/>
            <a:ext cx="4754880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Global scalability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OUR OPPORTUNITY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Turn high-cost, labor-intensive career services into a scalable AI-powered platform.</a:t>
            </a:r>
          </a:p>
        </p:txBody>
      </p:sp>
      <p:pic>
        <p:nvPicPr>
          <p:cNvPr id="24" name="Picture 2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Three Structural Trends Are Converging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adoption, data-driven hiring, and fragmented career services are moving together.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199339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Mass AI adoption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560320"/>
            <a:ext cx="2990088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Consumers now use AI for professional work. That habit is the distribution opening for an AI career product.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99432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199339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Data-driven hiring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560320"/>
            <a:ext cx="2990088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Employers screen on keywords, structure, and measurable results. Candidates need a product written to that standard.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74736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199339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Fragmented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560320"/>
            <a:ext cx="2990088" cy="27432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Advice is still manual, expensive, and local. That gap is the opening for a scalable AI + human platform.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51 CAREERS SITS AT THE INTERSECTION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  ×   Employment   ×   Career Services</a:t>
            </a:r>
          </a:p>
        </p:txBody>
      </p:sp>
      <p:pic>
        <p:nvPicPr>
          <p:cNvPr id="23" name="Picture 2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MARKET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TAM, SAM, SOM, and Three-Year Revenue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From global job seekers to paid AI career users. Illustrative, for discussion.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24688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2990088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68249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US$ 200B+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157984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1.35T+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487168"/>
            <a:ext cx="2990088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Global recruitment, talent-acquisition, and career-development spend.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298448"/>
            <a:ext cx="3392424" cy="24688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1426464"/>
            <a:ext cx="2990088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168249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US$ 30B+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157984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200B+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99432" y="2487168"/>
            <a:ext cx="2990088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Digital and AI-enabled hiring tools, resume products, and online career prep.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298448"/>
            <a:ext cx="3392424" cy="24688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4736" y="1426464"/>
            <a:ext cx="2990088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SOM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4736" y="168249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US$ 1.5B+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157984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10B+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487168"/>
            <a:ext cx="2990088" cy="1097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AI resume and career-assistant demand in China, the U.S., and English-speaking Asia.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895344"/>
            <a:ext cx="10543032" cy="16276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4005072"/>
            <a:ext cx="10140696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51 CAREERS  ·  2027E–2029E REVENUE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" y="4297680"/>
            <a:ext cx="320040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4553712"/>
            <a:ext cx="320040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US$ 2.0M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5029200"/>
            <a:ext cx="320040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RMB 13.5M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8848" y="4297680"/>
            <a:ext cx="320040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98848" y="4553712"/>
            <a:ext cx="320040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US$ 8.0M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98848" y="5029200"/>
            <a:ext cx="320040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RMB 53.8M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4297680"/>
            <a:ext cx="320040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4553712"/>
            <a:ext cx="320040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US$ 28.0M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3568" y="5029200"/>
            <a:ext cx="3200400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RMB 188.4M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LOGIC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seekers  →  AI Resume users  →  paid conversion  →  stacked revenue</a:t>
            </a:r>
          </a:p>
        </p:txBody>
      </p:sp>
      <p:pic>
        <p:nvPicPr>
          <p:cNvPr id="34" name="Picture 3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51 Careers AI Career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Not another AI writing tool — an AI-powered career infrastructure layer.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145650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45650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1298448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Understand professional experience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035193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7552" y="2193253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193253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81328" y="2035193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a stronger professional 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771938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" y="292999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292999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81328" y="2771938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Generate optimized resumes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508683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87552" y="366674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66674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3508683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Match with relevant opportunities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45428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87552" y="4403489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40348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81328" y="4245428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Prepare for interviews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982173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87552" y="5140234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40234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81328" y="4982173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Make better career decisions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718918"/>
            <a:ext cx="6537960" cy="663593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87552" y="5876979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7552" y="587697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81328" y="5718918"/>
            <a:ext cx="5669280" cy="66359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Access professional services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1298448"/>
            <a:ext cx="3822191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44968" y="1444752"/>
            <a:ext cx="3438144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Starting point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4968" y="1755648"/>
            <a:ext cx="3438144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4968" y="2468880"/>
            <a:ext cx="3438144" cy="3566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resume is the first touchpoint with the 51 Careers ecosystem — the on-ramp to AI Career tools, services, matching, and the marketplace.
One product. One profile. Multiple monetization paths across the career journey.</a:t>
            </a:r>
          </a:p>
        </p:txBody>
      </p:sp>
      <p:pic>
        <p:nvPicPr>
          <p:cNvPr id="37" name="Picture 36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From Experience to Professional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Users provide career facts. Our AI generates professional, quantified, job-specific resumes.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8328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301752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Users provide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792224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41401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Work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035808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Projects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657600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Skills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4279392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901184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goals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552297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Target job descriptions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1298448"/>
            <a:ext cx="338328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0288" y="1426464"/>
            <a:ext cx="301752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Our AI generates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792224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Professional positioning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41401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Quantified achievements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3035808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Job-specific language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0288" y="3657600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ATS-ready structure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0288" y="4279392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Role and employer fit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0288" y="4901184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Geography conventions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0288" y="552297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0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One profile, many versions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1298448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19872" y="1298448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 Generation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1933956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19872" y="1933956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Optimization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55279" y="2569464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19872" y="2569464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Job-Specific Versions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55279" y="3204972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19872" y="3204972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 Quantification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5279" y="3840480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19872" y="3840480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ATS Optimization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55279" y="4475988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119872" y="4475988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Multiple Resume Versions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955279" y="5111496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19872" y="5111496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Cover Letter Generation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55279" y="5747004"/>
            <a:ext cx="3410712" cy="585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19872" y="5747004"/>
            <a:ext cx="3108960" cy="585216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Profile Creation</a:t>
            </a:r>
          </a:p>
        </p:txBody>
      </p:sp>
      <p:pic>
        <p:nvPicPr>
          <p:cNvPr id="39" name="Picture 3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Built, Tested, and Internally Benchmarked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Working demo in hand. Early tests vs. general-purpose models are encouraging.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2990088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Demo developed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28800"/>
            <a:ext cx="299008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working AI Resume product is available for demonstration today.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9432" y="1426464"/>
            <a:ext cx="2990088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Initial testing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9432" y="1828800"/>
            <a:ext cx="299008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Early users and internal reviews show promising output quality.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73568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74736" y="1426464"/>
            <a:ext cx="2990088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Internal benchmarks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74736" y="1828800"/>
            <a:ext cx="2990088" cy="12801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Compared against direct outputs from leading general-purpose models.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401568"/>
            <a:ext cx="105430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Initial testing indicates stronger performance 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Positioning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framing of the candidate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53512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81528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Quantification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81528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Measurable achievements, not duties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84064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relevance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Language matched to the target role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14616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42632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Extraction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42632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facts pulled from messy input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45168" y="3675887"/>
            <a:ext cx="2020824" cy="184708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73184" y="3803904"/>
            <a:ext cx="176479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Structure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73184" y="4206240"/>
            <a:ext cx="1764792" cy="113385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ATS-ready resume architecture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IMPORTANT NOTE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Results are internal. Next: larger-scale, structured, blind A/B tests vs. general-purpose models.</a:t>
            </a:r>
          </a:p>
        </p:txBody>
      </p:sp>
      <p:pic>
        <p:nvPicPr>
          <p:cNvPr id="33" name="Picture 3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TECHNOLOGY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Not Simply an LLM Wrapper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LLM  +  career knowledge  +  resume framework  +  job intelligence  +  user data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298448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Experience extract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83864" y="1298448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30168" y="1298448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Achievement scoring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44768" y="1298448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298448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JD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05672" y="1298448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51976" y="1298448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optimization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237744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9264" y="2377440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Industry terms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83864" y="237744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30168" y="2377440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Role requirements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237744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91072" y="2377440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Geo conventions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05672" y="237744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51976" y="2377440"/>
            <a:ext cx="2267712" cy="98755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ATS optimization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547872"/>
            <a:ext cx="105430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Data feedback loop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Input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14884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4028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Analysis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6616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0060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9204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Apply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2648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Feedback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5236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54380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4380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Upgrade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7824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6968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968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Outcomes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0104120" y="3822191"/>
            <a:ext cx="1234440" cy="17007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95560" y="3950208"/>
            <a:ext cx="1060704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95560" y="4297680"/>
            <a:ext cx="1060704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COMPOUNDING ADVANTAGE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Each cycle builds proprietary career intelligence that generic chat models do not accumulate.</a:t>
            </a:r>
          </a:p>
        </p:txBody>
      </p:sp>
      <p:pic>
        <p:nvPicPr>
          <p:cNvPr id="49" name="Picture 4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GLOBAL 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 Is a Naturally Global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resume is a universal component of the global employment market.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United States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First beachhead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3512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81528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Canada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1528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English-speaking 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84064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212080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Central America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Adjacent expansion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14616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42632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United Kingdom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42632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European English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45168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73184" y="162763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Australia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73184" y="246888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APAC English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Singapore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APAC hub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53512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1528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Hong Kong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81528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Greater China English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84064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2080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R&amp;D and users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14616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42632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Europe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42632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Localized later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45168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73184" y="3730752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Middle East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3184" y="4572000"/>
            <a:ext cx="1764792" cy="5486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English professional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UNIVERSAL QUESTION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How do I present my professional value to employers? A global problem. A scalable product.</a:t>
            </a:r>
          </a:p>
        </p:txBody>
      </p:sp>
      <p:pic>
        <p:nvPicPr>
          <p:cNvPr id="38" name="Picture 3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One Platform. Multiple Labor Markets.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One career profile can be localized across geography, industry, level, role, and employer.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298448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Geography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1298448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US · Canada · Central America · UK · Australia · Europe · Asia · 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157984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157984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Industry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157984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Tech, Fintech, Finance, Manufacturing, Consulting, Healthcare, Marketing, Education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17520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017520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3017520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Student  ·  Graduate  ·  Professional  ·  Manager  ·  Executive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77056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4128" y="3877056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Target 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3877056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Software Engineer  ·  PM  ·  Data Scientist  ·  Marketing  ·  Finance  ·  more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4736592"/>
            <a:ext cx="10543032" cy="78638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4736592"/>
            <a:ext cx="21945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Employer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4736592"/>
            <a:ext cx="7680960" cy="786384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Startup  ·  SME  ·  Enterprise  ·  Multinational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DESIGN PRINCIPLE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once. Localize the output. Serve many labor markets from a single platform.</a:t>
            </a:r>
          </a:p>
        </p:txBody>
      </p:sp>
      <p:pic>
        <p:nvPicPr>
          <p:cNvPr id="23" name="Picture 2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PRODUCT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Is the Entry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resume on-ramps the user. The destination is the global AI career platform.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560320" cy="2999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87552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1920240"/>
            <a:ext cx="2231136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212848"/>
            <a:ext cx="2231136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2743200"/>
            <a:ext cx="2231136" cy="1353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Help me create a better resume.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4" y="1298448"/>
            <a:ext cx="2560320" cy="2999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48456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48456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8456" y="1920240"/>
            <a:ext cx="2231136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48456" y="2212848"/>
            <a:ext cx="2231136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Career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8456" y="2743200"/>
            <a:ext cx="2231136" cy="1353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What jobs should I apply for?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44768" y="1298448"/>
            <a:ext cx="2560320" cy="2999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1920240"/>
            <a:ext cx="2231136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212848"/>
            <a:ext cx="2231136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Agent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743200"/>
            <a:ext cx="2231136" cy="1353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Help me manage my job search.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05672" y="1298448"/>
            <a:ext cx="2560320" cy="299923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70264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70264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0264" y="1920240"/>
            <a:ext cx="2231136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70264" y="2212848"/>
            <a:ext cx="2231136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Platform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70264" y="2743200"/>
            <a:ext cx="2231136" cy="135331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Seekers × employers × services × education.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40864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414016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Discovery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58768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31920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Matching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376672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49824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Applications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94576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67728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Cover letters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412480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85632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Interviews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930384" y="4425696"/>
            <a:ext cx="1417320" cy="10972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003536" y="4425696"/>
            <a:ext cx="1271016" cy="1097280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Planning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SEQUENCE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Resume creation  →  job discovery  →  matching  →  applications  →  interviews  →  career planning</a:t>
            </a:r>
          </a:p>
        </p:txBody>
      </p:sp>
      <p:pic>
        <p:nvPicPr>
          <p:cNvPr id="46" name="Picture 45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Monetization Across the Career Journey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One user. Multiple revenue paths. Not a single AI Resume transaction.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81328" y="1481328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56816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Subscription, premium AI features, resume packages, and AI Career tools.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81144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1144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6632" y="1481328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services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1956816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Resume consulting, career consulting, interview coaching, premium services.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48132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48132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1936" y="1481328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Referral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1956816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CPA / CPS / revenue share with education, training, and recruitment partners.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602736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60273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602736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B2B / employers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078224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Talent acquisition, employer branding, recruitment campaigns, job promotion.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8264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81144" y="3602736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81144" y="360273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56632" y="3602736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Advertising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81144" y="4078224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As traffic scales: relevant brands reaching a targeted career audience.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3568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3602736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3602736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31936" y="3602736"/>
            <a:ext cx="2542032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Sponsorship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4078224"/>
            <a:ext cx="3017520" cy="11704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fairs, conferences, recruitment events, and AI career events.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MODEL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Stack AI + services + commission + B2B + ads + sponsorship on a single career profile.</a:t>
            </a:r>
          </a:p>
        </p:txBody>
      </p:sp>
      <p:pic>
        <p:nvPicPr>
          <p:cNvPr id="38" name="Picture 3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FLYWHEEL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One User, Multiple Revenue Paths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Free AI Resume is the top of funnel. Lifetime value is the objective.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50976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976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Free AI Resume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Top of funnel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53512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81528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Acquisition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 and organic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84064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profile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Persistent record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14616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42632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42632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Career tools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42632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Repeat usage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129844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4" y="146304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3184" y="179222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259689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 conversion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50976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50976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Services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Human attach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53512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81528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81528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Matching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81528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Job fit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84064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212080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12080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Referral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Partner take-rate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14616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2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09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42632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Advertising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42632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Audience scale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345168" y="3401568"/>
            <a:ext cx="20208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73184" y="3566160"/>
            <a:ext cx="176479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73184" y="3895344"/>
            <a:ext cx="1764792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Employers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73184" y="4700016"/>
            <a:ext cx="1764792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B2B demand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THEREFORE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Revenue is not limited to the first AI Resume transaction. Optimize for lifetime value.</a:t>
            </a:r>
          </a:p>
        </p:txBody>
      </p:sp>
      <p:pic>
        <p:nvPicPr>
          <p:cNvPr id="48" name="Picture 4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USER ACQUISITION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Digital  +  Offline  +  Organic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free AI product is a low-friction, globally distributable top of funnel.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08176"/>
            <a:ext cx="2990088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Digital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79222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Google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30428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Meta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81635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TikTok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32841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YouTube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840480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LinkedIn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35254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Search / social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86460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Content marketing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98264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1408176"/>
            <a:ext cx="2990088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Organic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179222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9432" y="230428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AI-search optimization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9432" y="281635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content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99432" y="332841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Educational content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9432" y="3840480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Referral programs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99432" y="435254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Affiliate partners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99432" y="486460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Community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73568" y="1298448"/>
            <a:ext cx="3392424" cy="42245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74736" y="1408176"/>
            <a:ext cx="2990088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74736" y="179222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Universities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74736" y="230428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Career fairs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2816352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Student organizations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3328416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orgs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74736" y="3840480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Community events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74736" y="4352544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 events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74736" y="4864608"/>
            <a:ext cx="2990088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Campus ambassadors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CORE GROWTH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Free AI product  →  acquisition  →  registration  →  engagement  →  monetization</a:t>
            </a:r>
          </a:p>
        </p:txBody>
      </p:sp>
      <p:pic>
        <p:nvPicPr>
          <p:cNvPr id="35" name="Picture 34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GEOGRAPHY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R&amp;D · U.S. Commercialization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Build in China. Commercialize in the U.S. Expand globally from product-market fit.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10543032" cy="1347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24128" y="1798319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1798319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444752"/>
            <a:ext cx="950976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 ·  R&amp;D and product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10512"/>
            <a:ext cx="9509760" cy="7071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Product, design, engineering, AI, testing, marketing operations, and B2B business development — the cost-efficient build base.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737104"/>
            <a:ext cx="10543032" cy="1347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24128" y="3236975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3236975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883408"/>
            <a:ext cx="950976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United States  ·  International GTM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249168"/>
            <a:ext cx="9509760" cy="7071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User acquisition, local partnerships, employer and university relationships, offline events, and brand building — the first growth market.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5760"/>
            <a:ext cx="10543032" cy="1347216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" y="4675631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4675631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4322064"/>
            <a:ext cx="950976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expansion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687824"/>
            <a:ext cx="9509760" cy="7071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Once product-market fit is proven: North America  →  U.K.  →  Australia  →  Europe  →  Asia  →  other English-speaking markets.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OPERATING MODEL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builds the product. The U.S. proves GTM. Global distribution follows.</a:t>
            </a:r>
          </a:p>
        </p:txBody>
      </p:sp>
      <p:pic>
        <p:nvPicPr>
          <p:cNvPr id="23" name="Picture 22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COMPETITIVE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Infrastructure, Not a Resume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Each category has a strength. None combine AI, career expertise, services, and marketplace.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554480"/>
            <a:ext cx="473659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Job platforms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066544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Large user base. Limited personalized career intelligence.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29844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554480"/>
            <a:ext cx="473659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General-purpose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066544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High AI capability. Limited career specialization.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0156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657600"/>
            <a:ext cx="473659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Traditional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4169664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High human service. Low scalability.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40156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3657600"/>
            <a:ext cx="473659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resume tools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4169664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Resume-focused. Limited ecosystem beyond the document.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51 CAREERS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+ career expertise + services + marketplace. Infrastructure, not another resume builder.</a:t>
            </a:r>
          </a:p>
        </p:txBody>
      </p:sp>
      <p:pic>
        <p:nvPicPr>
          <p:cNvPr id="20" name="Picture 19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COMPETITIVE POSITION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Why Customers Will Choose 51 Careers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Operating experience, a working product, and a platform that monetizes beyond the resume.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4630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630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920240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Career-services foundation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14016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We understand the industry from an operating perspective, not a slide deck.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81144" y="14630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81144" y="14630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81144" y="1920240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 already built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81144" y="2414016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Not a concept company. Demo built, tested, and internally benchmarked.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73568" y="1298448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56448" y="1463040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1463040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1920240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scalability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2414016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Resume can be distributed worldwide through digital channels from day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35844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5844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041648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Multiple monetization paths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" y="4535424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Subscription + services + commission + B2B + ads + sponsorship.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98264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81144" y="35844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81144" y="35844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81144" y="4041648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+ human hybrid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81144" y="4535424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for scalable work. Humans for high-value, complex career services.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973568" y="3419856"/>
            <a:ext cx="3392424" cy="2011680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56448" y="3584448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3584448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4041648"/>
            <a:ext cx="3017520" cy="45720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Platform potential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4535424"/>
            <a:ext cx="3017520" cy="7315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long-term opportunity extends beyond resumes into the career ecosystem.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POSITIONING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 working AI product on a career-services operating base — built to become infrastructure.</a:t>
            </a:r>
          </a:p>
        </p:txBody>
      </p:sp>
      <p:pic>
        <p:nvPicPr>
          <p:cNvPr id="38" name="Picture 3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LEADERSHIP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Executive Leadership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Founder-led. Globally distributed. All six in place.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1444752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Rocky Chen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1773936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FOUNDER &amp; CEO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2103120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Founded 51 Careers in New York in 2016 and built a multi-market career-services and technology business.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Founder of 51 Careers.AI; Managing Director at listed Helio. Architect of the AI-first strategy and 2025 Alibaba Cloud partnership.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298448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2856" y="1444752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Stephanie 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2856" y="1773936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CO-FOUNDER &amp; CFO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2856" y="2103120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Co-founder since 2016. U.S. CPA; M.S. Accounting, Pace University.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Oversees financial strategy, corporate governance, and sustainable growth for 51 Careers and 51 Careers.AI.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1298448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0" y="1444752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Gavin 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773936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CO-FOUNDER, CTO &amp; COO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103120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Serial entrepreneur (10+ years) across SaaS, AI, and digital business; B.S. Computer Science, ECUST.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Prior CTO roles and multiple co-founded ventures. Leads technology, operations, and AI.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803904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950208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Robin Zhu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4279392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HEAD OF PRODUCT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608576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Leads product strategy, architecture, and development of the AI-powered career platform.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Former CTO &amp; Director of Product at Ci Finance; senior product roles at CPIC, Allinpay, and Noah.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98264" y="3803904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2856" y="3950208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Chris Lin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856" y="4279392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NORTH AMERICAN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2856" y="4608576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Full-stack engineer; previously at Amazon Web Services (AWS). B.S. Northwestern; M.S. Robotics.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Extensive hiring-panel experience and professional mentorship across North America.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3803904"/>
            <a:ext cx="3392424" cy="2395728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38160" y="3950208"/>
            <a:ext cx="3063240" cy="31089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7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Jon Serbin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4279392"/>
            <a:ext cx="306324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SENIOR ADVISOR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608576"/>
            <a:ext cx="3063240" cy="1426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Harvard and MIT; former senior executive at Morgan Stanley; founder of Cedar.</a:t>
            </a:r>
          </a:p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40+ years in technology M&amp;A and capital raising. Advises 51 Careers on growth and expansion.</a:t>
            </a:r>
          </a:p>
        </p:txBody>
      </p:sp>
      <p:pic>
        <p:nvPicPr>
          <p:cNvPr id="29" name="Picture 2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Founding Team in Place · Planned Hiring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Four founders in place. This round funds China tech, China growth, and U.S. growth.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8328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26464"/>
            <a:ext cx="301752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Existing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682496"/>
            <a:ext cx="301752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Founding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048256"/>
            <a:ext cx="3017520" cy="56692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40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2706624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In place 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3273552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Product, capital, and GTM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840480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Additional seats not yet hired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407408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This round funds the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974336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China tech, growth, U.S. growth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5541264"/>
            <a:ext cx="301752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Hire against product and GTM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1298448"/>
            <a:ext cx="237744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17136" y="1408176"/>
            <a:ext cx="2121408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Planned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7136" y="1627632"/>
            <a:ext cx="2121408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technology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7136" y="1938528"/>
            <a:ext cx="2121408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241401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 Manager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41401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17136" y="305409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Designer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0" y="305409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17136" y="369417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QA / Testing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369417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433425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Front-End Engineer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33425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17136" y="497433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Back-End Engineers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0" y="497433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17136" y="5614416"/>
            <a:ext cx="148132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Engineer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0" y="5614416"/>
            <a:ext cx="658368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903720" y="1298448"/>
            <a:ext cx="237744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31736" y="1408176"/>
            <a:ext cx="2121408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Planned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31736" y="1627632"/>
            <a:ext cx="2121408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China growth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31736" y="1938528"/>
            <a:ext cx="2121408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2+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31736" y="2414016"/>
            <a:ext cx="148132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Performance ads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2414016"/>
            <a:ext cx="65836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31736" y="2852928"/>
            <a:ext cx="148132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B2B development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2852928"/>
            <a:ext cx="65836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1+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31736" y="3474720"/>
            <a:ext cx="2121408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Same seats also cover campus, content, partnerships, and China brand operations.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18320" y="1298448"/>
            <a:ext cx="2377440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46336" y="1408176"/>
            <a:ext cx="2121408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Planned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46336" y="1627632"/>
            <a:ext cx="2121408" cy="29260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U.S. growth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546336" y="1938528"/>
            <a:ext cx="2121408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46336" y="2414016"/>
            <a:ext cx="148132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Performance ads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0" y="2414016"/>
            <a:ext cx="65836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46336" y="2852928"/>
            <a:ext cx="148132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Local / field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972800" y="2852928"/>
            <a:ext cx="658368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46336" y="3474720"/>
            <a:ext cx="2121408" cy="2651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Same seats also cover universities, employer events, English brand, and community.</a:t>
            </a:r>
          </a:p>
        </p:txBody>
      </p:sp>
      <p:pic>
        <p:nvPicPr>
          <p:cNvPr id="49" name="Picture 48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 OF FUNDS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20 Million Growth Financing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13.1M is planned P+A. Remaining capital funds product, ops, events, and runway.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298448"/>
          <a:ext cx="4389120" cy="31089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029200" y="1353312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Marketing &amp; acquisition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1353312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40%  ·  RMB 8.0M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0" y="1773936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Product &amp; AI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773936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22.5%  ·  RMB 4.5M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194560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U.S. market expansion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194560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12.5%  ·  RMB 2.5M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0" y="2615184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China market &amp; B2B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615184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7.5%  ·  RMB 1.5M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35808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Brand &amp;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035808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7.5%  ·  RMB 1.5M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3456432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Ops / legal / finance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0" y="3456432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5%  ·  RMB 1.0M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877056"/>
            <a:ext cx="4480560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Cash reserve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3877056"/>
            <a:ext cx="2039112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5%  ·  RMB 1.0M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57200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9264" y="4663440"/>
            <a:ext cx="2267712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PERSONNEL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882896"/>
            <a:ext cx="2267712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5.1M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5248656"/>
            <a:ext cx="226771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hiring, not payroll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83864" y="457200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4663440"/>
            <a:ext cx="2267712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CHINA ADS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30168" y="4882896"/>
            <a:ext cx="2267712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1.0M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0168" y="5248656"/>
            <a:ext cx="226771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annual spend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4768" y="457200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91072" y="4663440"/>
            <a:ext cx="2267712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U.S. ADS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1072" y="4882896"/>
            <a:ext cx="2267712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7.0M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1072" y="5248656"/>
            <a:ext cx="226771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Planned annual spend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05672" y="4572000"/>
            <a:ext cx="2560320" cy="98755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51976" y="4663440"/>
            <a:ext cx="2267712" cy="20116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P+A BUDGET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51976" y="4882896"/>
            <a:ext cx="2267712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13.1M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951976" y="5248656"/>
            <a:ext cx="226771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Personnel + advertising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CAPITAL PLAN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the product, acquire users, prove unit economics, and keep a cash reserve.</a:t>
            </a:r>
          </a:p>
        </p:txBody>
      </p:sp>
      <p:pic>
        <p:nvPicPr>
          <p:cNvPr id="39" name="Picture 38" descr="51careers_logo_d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GROWTH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Validation → Growth → Global Expansion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Twelve to twenty-four months from launch to multi-market distribution.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444752"/>
            <a:ext cx="2560320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1  ·  0–6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01952"/>
            <a:ext cx="3026664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3408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Launch AI Resume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98094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Improve AI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2102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Structured A/B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426110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Initial CAC benchmarks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0118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Conversion funnel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5412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Validate pricing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98264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81144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1144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38344" y="1444752"/>
            <a:ext cx="2560320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2  ·  6–12 months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1144" y="1901952"/>
            <a:ext cx="3026664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Growth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1144" y="23408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Scale paid acquisition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1144" y="298094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Build SEO engine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1144" y="362102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Expand U.S. acquisition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1144" y="426110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B2B partnerships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1144" y="490118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More AI Career features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1144" y="55412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Expand monetization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73568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56448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6448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13648" y="1444752"/>
            <a:ext cx="2560320" cy="347472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Phase 3  ·  12–24 months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56448" y="1901952"/>
            <a:ext cx="3026664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8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expansion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56448" y="23408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More English markets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98094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Localized products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362102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Global partnerships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56448" y="426110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 ecosystem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8" y="490118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Marketplace capabilities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56448" y="5541264"/>
            <a:ext cx="3026664" cy="58521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Central America</a:t>
            </a:r>
          </a:p>
        </p:txBody>
      </p:sp>
      <p:pic>
        <p:nvPicPr>
          <p:cNvPr id="38" name="Picture 3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FINANCIAL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Users, Revenue,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Illustrative 2027E–2029E operating plan. Figures in US$.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389888"/>
            <a:ext cx="3099816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Users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93392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6624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9856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1993392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Users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1.0M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3.0M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9856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7.0M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2834639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Registered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300K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06624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1.0M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9856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2.5M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264" y="3675886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MAU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93392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150K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6624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500K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19856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1.25M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" y="4517133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3392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15K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6624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60K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19856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180K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" y="5358380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Paid / users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93392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6624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6.0%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9856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7.2%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98264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44568" y="1389888"/>
            <a:ext cx="3099816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Revenue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68696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81928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60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44568" y="199339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68696" y="19933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$0.70M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81928" y="19933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$2.40M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95160" y="19933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$8.40M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44568" y="269443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Services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68696" y="269443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$0.50M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81928" y="269443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$1.60M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95160" y="269443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$5.60M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44568" y="339547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Commission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68696" y="339547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$0.30M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81928" y="339547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$1.20M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95160" y="339547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$4.20M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44568" y="409651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Ads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68696" y="409651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$0.20M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281928" y="409651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$0.80M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95160" y="409651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$2.80M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44568" y="479755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B2B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68696" y="479755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$0.30M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81928" y="479755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$2.00M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60" y="479755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$7.00M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44568" y="5498592"/>
            <a:ext cx="1024128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Total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68696" y="54985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$2.00M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81928" y="54985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$8.00M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995160" y="5498592"/>
            <a:ext cx="713232" cy="664463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$28.00M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973568" y="1298448"/>
            <a:ext cx="3392424" cy="508406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19872" y="1389888"/>
            <a:ext cx="3099816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Profitability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144000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2027E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857232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2028E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70464" y="1700784"/>
            <a:ext cx="713232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ctr"/>
            <a:r>
              <a:rPr sz="11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2029E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19872" y="1993392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Gross 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44000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65%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857232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570464" y="1993392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75%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19872" y="2834639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Gross $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0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$1.30M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857232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$5.60M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570464" y="2834639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$21.00M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19872" y="3675886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EBITDA 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144000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–50%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57232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–15%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570464" y="3675886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15%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119872" y="4517133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EBITDA $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44000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–$1.00M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857232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–$1.20M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70464" y="4517133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$4.20M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119872" y="5358380"/>
            <a:ext cx="1024128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l"/>
            <a:r>
              <a:rPr sz="1300" b="1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Result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144000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Loss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857232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Loss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570464" y="5358380"/>
            <a:ext cx="713232" cy="804671"/>
          </a:xfrm>
          <a:prstGeom prst="rect">
            <a:avLst/>
          </a:prstGeom>
          <a:noFill/>
        </p:spPr>
        <p:txBody>
          <a:bodyPr wrap="none" anchor="ctr"/>
          <a:lstStyle/>
          <a:p>
            <a:pPr algn="ctr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Profit</a:t>
            </a:r>
          </a:p>
        </p:txBody>
      </p:sp>
      <p:pic>
        <p:nvPicPr>
          <p:cNvPr id="84" name="Picture 83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OFFERING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AI + Human +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The next generation of career services will not be any one of these alone.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2416" y="1554480"/>
            <a:ext cx="4736592" cy="42062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Generative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084832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Professional content creation is now cheap, fast, and widely adopted.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0488" y="129844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9944" y="1554480"/>
            <a:ext cx="4736592" cy="42062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Global employment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9944" y="2084832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Talent is mobile. English-language careers travel across markets.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40156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3657600"/>
            <a:ext cx="4736592" cy="42062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Career services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4187952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Advice is still manual, expensive, and hard to scale.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3401568"/>
            <a:ext cx="517550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3657600"/>
            <a:ext cx="4736592" cy="42062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0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Digital acquisition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4187952"/>
            <a:ext cx="4736592" cy="10058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 free AI Resume is a low-friction, global top of funnel.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THE OPPORTUNITY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The AI Resume is the entry point. The ambition is the global AI career platform.</a:t>
            </a:r>
          </a:p>
        </p:txBody>
      </p:sp>
      <p:pic>
        <p:nvPicPr>
          <p:cNvPr id="20" name="Picture 19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FINANCING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Current Financing 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RMB 20 million at RMB 180 million pre / RMB 200 million post. 10% equity.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48132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181051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20 million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54203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US$2.97 million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8264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99432" y="148132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PRE-MONEY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9432" y="181051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180 million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254203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US$26.7 million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129844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148132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POST-MONEY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181051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RMB 200 million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4736" y="254203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≈ US$29.7 million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" y="340156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8" y="358444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EQUITY OFFERED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391363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" y="464515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Primary preferred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98264" y="340156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99432" y="358444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STRUCTURE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99432" y="391363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Preferred equity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9432" y="464515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Indicative; subject to docs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73568" y="3401568"/>
            <a:ext cx="3392424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3584448"/>
            <a:ext cx="2990088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 OF CAPITAL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74736" y="3913632"/>
            <a:ext cx="2990088" cy="6400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Product, users, GTM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74736" y="4645152"/>
            <a:ext cx="2990088" cy="50292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Monetization + ecosystem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USE OF PROCEEDS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Build the product, acquire users, expand globally, and develop the career ecosystem.</a:t>
            </a:r>
          </a:p>
        </p:txBody>
      </p:sp>
      <p:pic>
        <p:nvPicPr>
          <p:cNvPr id="32" name="Picture 31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47472"/>
            <a:ext cx="8869680" cy="21945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INVESTOR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8869680" cy="402336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6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12–18 Month Targets This Round Funds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950976"/>
            <a:ext cx="886968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What RMB 20 million is designed to produce before the next raise.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29844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9264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9264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" y="188366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Public launch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32257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Resume live for users in China and the U.S.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83864" y="129844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30168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0168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188366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50–100k users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32257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Registered users; funnel instrumented end-to-end.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44768" y="129844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91072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91072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1072" y="188366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Blind A/B tests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91072" y="232257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Statistically meaningful quality vs. general models.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05672" y="129844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51976" y="144475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51976" y="144475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51976" y="188366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Unit economics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1976" y="232257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CAC, conversion, ARPU, and payback benchmarks.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340156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9264" y="354787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9264" y="354787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264" y="398678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U.S. acquisition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264" y="442569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Paid digital + university/offline channels live.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83864" y="340156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0168" y="354787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0168" y="354787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30168" y="398678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First paid cohort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30168" y="442569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AI subscriptions and career-services attach live.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340156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91072" y="354787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91072" y="354787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1072" y="398678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B2B pipeline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91072" y="442569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Employer and education-partner conversations.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805672" y="3401568"/>
            <a:ext cx="2560320" cy="1993392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951976" y="3547872"/>
            <a:ext cx="347472" cy="347472"/>
          </a:xfrm>
          <a:prstGeom prst="rect">
            <a:avLst/>
          </a:prstGeom>
          <a:solidFill>
            <a:srgbClr val="007B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951976" y="3547872"/>
            <a:ext cx="347472" cy="34747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8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51976" y="3986784"/>
            <a:ext cx="2267712" cy="36576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5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Next-round pack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951976" y="4425696"/>
            <a:ext cx="2267712" cy="78638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>
                <a:solidFill>
                  <a:srgbClr val="1E2A33"/>
                </a:solidFill>
                <a:latin typeface="Garamond"/>
                <a:ea typeface="Garamond"/>
                <a:cs typeface="Garamond"/>
              </a:rPr>
              <a:t>Traction, model, and data room ready to raise.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5687568"/>
            <a:ext cx="10543032" cy="694944"/>
          </a:xfrm>
          <a:prstGeom prst="roundRect">
            <a:avLst>
              <a:gd name="adj" fmla="val 4000"/>
            </a:avLst>
          </a:prstGeom>
          <a:solidFill>
            <a:srgbClr val="F3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742432"/>
            <a:ext cx="10177272" cy="18288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100" b="1" i="0">
                <a:solidFill>
                  <a:srgbClr val="007BCB"/>
                </a:solidFill>
                <a:latin typeface="Garamond"/>
                <a:ea typeface="Garamond"/>
                <a:cs typeface="Garamond"/>
              </a:rPr>
              <a:t>RMB 20M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5943600"/>
            <a:ext cx="10177272" cy="34747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1" i="0">
                <a:solidFill>
                  <a:srgbClr val="10222F"/>
                </a:solidFill>
                <a:latin typeface="Garamond"/>
                <a:ea typeface="Garamond"/>
                <a:cs typeface="Garamond"/>
              </a:rPr>
              <a:t>Product + users + benchmarks  →  revenue  →  next round  →  valuation step-up</a:t>
            </a:r>
          </a:p>
        </p:txBody>
      </p:sp>
      <p:pic>
        <p:nvPicPr>
          <p:cNvPr id="48" name="Picture 47" descr="51careers_logo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0" y="475488"/>
            <a:ext cx="1325880" cy="37490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2960" y="6492240"/>
            <a:ext cx="777240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064240" y="649224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850" b="0" i="0">
                <a:solidFill>
                  <a:srgbClr val="5C6B76"/>
                </a:solidFill>
                <a:latin typeface="Garamond"/>
                <a:ea typeface="Garamond"/>
                <a:cs typeface="Garamond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51careers_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51460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481328"/>
            <a:ext cx="102412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10241280" cy="43891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We are not building another AI resume tool.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212848"/>
            <a:ext cx="10241280" cy="43891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4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We are building the Global AI Career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3392424" cy="260604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8" y="3035808"/>
            <a:ext cx="2990088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China R&amp;D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3511296"/>
            <a:ext cx="2990088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Product, design, engineering, and AI built from the China base.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98264" y="2834640"/>
            <a:ext cx="3392424" cy="260604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9432" y="3035808"/>
            <a:ext cx="2990088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U.S. commercialization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9432" y="3511296"/>
            <a:ext cx="2990088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The first international growth market for acquisition and brand.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2834640"/>
            <a:ext cx="3392424" cy="260604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4736" y="3035808"/>
            <a:ext cx="2990088" cy="384048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Global distribution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4736" y="3511296"/>
            <a:ext cx="2990088" cy="1691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A resume product that can serve English-speaking labor markets from day 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614416"/>
            <a:ext cx="10543032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9FC5DE"/>
                </a:solidFill>
                <a:latin typeface="Garamond"/>
                <a:ea typeface="Garamond"/>
                <a:cs typeface="Garamond"/>
              </a:rPr>
              <a:t>AI   ×   CAREER   ×   TALENT   ×  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126480"/>
            <a:ext cx="777240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00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51 Careers.AI   |   Proprietary and Confidential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64240" y="6126480"/>
            <a:ext cx="32004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00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51careers_logo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685800"/>
            <a:ext cx="2514600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1481328"/>
            <a:ext cx="1024128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3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755648"/>
            <a:ext cx="10241280" cy="51206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3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Questions and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304288"/>
            <a:ext cx="10241280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“Our mission is to make great jobs accessible to everyone.”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34640"/>
            <a:ext cx="5175504" cy="182880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3035808"/>
            <a:ext cx="466344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EMAIL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401568"/>
            <a:ext cx="4663440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rocky.chen@51careers.ai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0488" y="2834640"/>
            <a:ext cx="5175504" cy="1828800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3035808"/>
            <a:ext cx="4663440" cy="25603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200" b="1" i="0">
                <a:solidFill>
                  <a:srgbClr val="6FBCE8"/>
                </a:solidFill>
                <a:latin typeface="Garamond"/>
                <a:ea typeface="Garamond"/>
                <a:cs typeface="Garamond"/>
              </a:rPr>
              <a:t>PHONE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3401568"/>
            <a:ext cx="4663440" cy="1005840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22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(631) 704-4533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828032"/>
            <a:ext cx="10543032" cy="1207008"/>
          </a:xfrm>
          <a:prstGeom prst="roundRect">
            <a:avLst>
              <a:gd name="adj" fmla="val 4000"/>
            </a:avLst>
          </a:prstGeom>
          <a:solidFill>
            <a:srgbClr val="0E2233"/>
          </a:solidFill>
          <a:ln w="9525">
            <a:solidFill>
              <a:srgbClr val="3C5A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4128" y="4974336"/>
            <a:ext cx="10140696" cy="329184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600" b="1" i="0">
                <a:solidFill>
                  <a:srgbClr val="FFFFFF"/>
                </a:solidFill>
                <a:latin typeface="Garamond"/>
                <a:ea typeface="Garamond"/>
                <a:cs typeface="Garamond"/>
              </a:rPr>
              <a:t>Rocky Chen  ·  Founder &amp; Chief Executive Officer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5376672"/>
            <a:ext cx="10140696" cy="438912"/>
          </a:xfrm>
          <a:prstGeom prst="rect">
            <a:avLst/>
          </a:prstGeom>
          <a:noFill/>
        </p:spPr>
        <p:txBody>
          <a:bodyPr wrap="none" anchor="t"/>
          <a:lstStyle/>
          <a:p>
            <a:pPr algn="l"/>
            <a:r>
              <a:rPr sz="1400" b="0" i="0">
                <a:solidFill>
                  <a:srgbClr val="DCE8F1"/>
                </a:solidFill>
                <a:latin typeface="Garamond"/>
                <a:ea typeface="Garamond"/>
                <a:cs typeface="Garamond"/>
              </a:rPr>
              <a:t>rocky.chen@51careers.ai   ·   (631) 704-4533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6473952"/>
            <a:ext cx="2057400" cy="237744"/>
          </a:xfrm>
          <a:prstGeom prst="rect">
            <a:avLst/>
          </a:prstGeom>
          <a:noFill/>
        </p:spPr>
        <p:txBody>
          <a:bodyPr wrap="none" anchor="t"/>
          <a:lstStyle/>
          <a:p>
            <a:pPr algn="r"/>
            <a:r>
              <a:rPr sz="850" b="0" i="0">
                <a:solidFill>
                  <a:srgbClr val="B9C7D2"/>
                </a:solidFill>
                <a:latin typeface="Garamond"/>
                <a:ea typeface="Garamond"/>
                <a:cs typeface="Garamond"/>
              </a:rPr>
              <a:t>Proprietary and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