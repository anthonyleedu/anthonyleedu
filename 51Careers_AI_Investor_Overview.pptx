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Use of Funds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Marketing &amp; acquisition</c:v>
                </c:pt>
                <c:pt idx="1">
                  <c:v>Product &amp; AI development</c:v>
                </c:pt>
                <c:pt idx="2">
                  <c:v>U.S. market expansion</c:v>
                </c:pt>
                <c:pt idx="3">
                  <c:v>China market &amp; B2B</c:v>
                </c:pt>
                <c:pt idx="4">
                  <c:v>Brand &amp; events</c:v>
                </c:pt>
                <c:pt idx="5">
                  <c:v>Ops / legal / finance</c:v>
                </c:pt>
                <c:pt idx="6">
                  <c:v>Cash reserve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40</c:v>
                </c:pt>
                <c:pt idx="1">
                  <c:v>22.5</c:v>
                </c:pt>
                <c:pt idx="2">
                  <c:v>12.5</c:v>
                </c:pt>
                <c:pt idx="3">
                  <c:v>7.5</c:v>
                </c:pt>
                <c:pt idx="4">
                  <c:v>7.5</c:v>
                </c:pt>
                <c:pt idx="5">
                  <c:v>5</c:v>
                </c:pt>
                <c:pt idx="6">
                  <c:v>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51careers_logo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685800"/>
            <a:ext cx="2514600" cy="7132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481328"/>
            <a:ext cx="10241280" cy="23774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6FBCE8"/>
                </a:solidFill>
                <a:latin typeface="Garamond"/>
                <a:ea typeface="Garamond"/>
                <a:cs typeface="Garamond"/>
              </a:rPr>
              <a:t>CONFIDENTIAL INVESTOR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241280" cy="6400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44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51 Careers.AI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95728"/>
            <a:ext cx="10241280" cy="32918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0" i="0">
                <a:solidFill>
                  <a:srgbClr val="DCE8F1"/>
                </a:solidFill>
                <a:latin typeface="Garamond"/>
                <a:ea typeface="Garamond"/>
                <a:cs typeface="Garamond"/>
              </a:rPr>
              <a:t>Building the global AI career platform — from resume to opportunity.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61488"/>
            <a:ext cx="1024128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9FC5DE"/>
                </a:solidFill>
                <a:latin typeface="Garamond"/>
                <a:ea typeface="Garamond"/>
                <a:cs typeface="Garamond"/>
              </a:rPr>
              <a:t>AI RESUME   ×   AI CAREER   ×   GLOBAL TALENT ECOSYSTEM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90672"/>
            <a:ext cx="3392424" cy="2029968"/>
          </a:xfrm>
          <a:prstGeom prst="roundRect">
            <a:avLst>
              <a:gd name="adj" fmla="val 4000"/>
            </a:avLst>
          </a:prstGeom>
          <a:solidFill>
            <a:srgbClr val="0E2233"/>
          </a:solidFill>
          <a:ln w="9525">
            <a:solidFill>
              <a:srgbClr val="3C5A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3255264"/>
            <a:ext cx="2953512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6FBCE8"/>
                </a:solidFill>
                <a:latin typeface="Garamond"/>
                <a:ea typeface="Garamond"/>
                <a:cs typeface="Garamond"/>
              </a:rPr>
              <a:t>PRE-MONEY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" y="3566160"/>
            <a:ext cx="2953512" cy="69494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30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RMB 180M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" y="4352544"/>
            <a:ext cx="2953512" cy="51206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600" b="0" i="0">
                <a:solidFill>
                  <a:srgbClr val="DCE8F1"/>
                </a:solidFill>
                <a:latin typeface="Garamond"/>
                <a:ea typeface="Garamond"/>
                <a:cs typeface="Garamond"/>
              </a:rPr>
              <a:t>≈ US$26.7 million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8264" y="3090672"/>
            <a:ext cx="3392424" cy="2029968"/>
          </a:xfrm>
          <a:prstGeom prst="roundRect">
            <a:avLst>
              <a:gd name="adj" fmla="val 4000"/>
            </a:avLst>
          </a:prstGeom>
          <a:solidFill>
            <a:srgbClr val="0E2233"/>
          </a:solidFill>
          <a:ln w="9525">
            <a:solidFill>
              <a:srgbClr val="3C5A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3255264"/>
            <a:ext cx="2953512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6FBCE8"/>
                </a:solidFill>
                <a:latin typeface="Garamond"/>
                <a:ea typeface="Garamond"/>
                <a:cs typeface="Garamond"/>
              </a:rPr>
              <a:t>RAISE  ·  10% EQUITY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3566160"/>
            <a:ext cx="2953512" cy="69494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30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RMB 20M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4352544"/>
            <a:ext cx="2953512" cy="51206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600" b="0" i="0">
                <a:solidFill>
                  <a:srgbClr val="DCE8F1"/>
                </a:solidFill>
                <a:latin typeface="Garamond"/>
                <a:ea typeface="Garamond"/>
                <a:cs typeface="Garamond"/>
              </a:rPr>
              <a:t>≈ US$2.97 million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73568" y="3090672"/>
            <a:ext cx="3392424" cy="2029968"/>
          </a:xfrm>
          <a:prstGeom prst="roundRect">
            <a:avLst>
              <a:gd name="adj" fmla="val 4000"/>
            </a:avLst>
          </a:prstGeom>
          <a:solidFill>
            <a:srgbClr val="0E2233"/>
          </a:solidFill>
          <a:ln w="9525">
            <a:solidFill>
              <a:srgbClr val="3C5A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93024" y="3255264"/>
            <a:ext cx="2953512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6FBCE8"/>
                </a:solidFill>
                <a:latin typeface="Garamond"/>
                <a:ea typeface="Garamond"/>
                <a:cs typeface="Garamond"/>
              </a:rPr>
              <a:t>POST-MONEY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93024" y="3566160"/>
            <a:ext cx="2953512" cy="69494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30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RMB 200M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3024" y="4352544"/>
            <a:ext cx="2953512" cy="51206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600" b="0" i="0">
                <a:solidFill>
                  <a:srgbClr val="DCE8F1"/>
                </a:solidFill>
                <a:latin typeface="Garamond"/>
                <a:ea typeface="Garamond"/>
                <a:cs typeface="Garamond"/>
              </a:rPr>
              <a:t>≈ US$29.7 million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285232"/>
            <a:ext cx="10543032" cy="29260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600" b="0" i="0">
                <a:solidFill>
                  <a:srgbClr val="DCE8F1"/>
                </a:solidFill>
                <a:latin typeface="Garamond"/>
                <a:ea typeface="Garamond"/>
                <a:cs typeface="Garamond"/>
              </a:rPr>
              <a:t>The resume is the entry point. The ambition is the global AI career platform.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614416"/>
            <a:ext cx="10543032" cy="29260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DCE8F1"/>
                </a:solidFill>
                <a:latin typeface="Garamond"/>
                <a:ea typeface="Garamond"/>
                <a:cs typeface="Garamond"/>
              </a:rPr>
              <a:t>Connecting job seekers, employers, career services, education, and the talent ecosystem.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6035040"/>
            <a:ext cx="10543032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200" b="0" i="0">
                <a:solidFill>
                  <a:srgbClr val="B9C7D2"/>
                </a:solidFill>
                <a:latin typeface="Garamond"/>
                <a:ea typeface="Garamond"/>
                <a:cs typeface="Garamond"/>
              </a:rPr>
              <a:t>September 2026    |    New York  ·  Shanghai    |    China R&amp;D  ·  U.S. GTM  ·  Global distribution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47472"/>
            <a:ext cx="886968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COMPANY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8869680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51 Careers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50976"/>
            <a:ext cx="886968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Career services  →  AI Resume  →  AI Career Platform  →  Global Marketplace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98448"/>
            <a:ext cx="5669280" cy="345643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426464"/>
            <a:ext cx="5266944" cy="3200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Who we are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51 Careers is building a global AI Career Platform to help job seekers create better resumes, discover opportunities, improve outcomes, and access professional career services.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Entry point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An AI Resume Platform that turns unstructured career experience into professional, quantified, job-specific resumes.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This round</a:t>
            </a:r>
          </a:p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RMB 20 million (10% of RMB 200 million post-money) to fund product, acquisition, and global commercialization.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0" y="1298448"/>
            <a:ext cx="4690872" cy="345643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1408176"/>
            <a:ext cx="4343400" cy="27432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Investment highlights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737360"/>
            <a:ext cx="4343400" cy="34747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01    AI Resume demo already developed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2103120"/>
            <a:ext cx="4343400" cy="34747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02    Initial testing with promising results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2468880"/>
            <a:ext cx="4343400" cy="34747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03    Stronger positioning vs. general AI models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2834640"/>
            <a:ext cx="4343400" cy="34747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04    Global product from day 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200400"/>
            <a:ext cx="4343400" cy="34747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05    Existing career-services expertise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3566160"/>
            <a:ext cx="4343400" cy="34747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06    U.S. as first international beachhead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3931920"/>
            <a:ext cx="4343400" cy="34747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07    Multiple revenue streams beyond AI Resume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4297680"/>
            <a:ext cx="4343400" cy="34747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08    RMB 20M for product, users, and GTM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882896"/>
            <a:ext cx="2560320" cy="1499616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" y="5029200"/>
            <a:ext cx="2267712" cy="47548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2016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" y="5577840"/>
            <a:ext cx="2267712" cy="56692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Founded in New York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83864" y="4882896"/>
            <a:ext cx="2560320" cy="1499616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30168" y="5029200"/>
            <a:ext cx="2267712" cy="47548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RMB 20M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5577840"/>
            <a:ext cx="2267712" cy="56692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Growth capital this round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44768" y="4882896"/>
            <a:ext cx="2560320" cy="1499616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91072" y="5029200"/>
            <a:ext cx="2267712" cy="47548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10%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91072" y="5577840"/>
            <a:ext cx="2267712" cy="56692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Equity at RMB 200M post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05672" y="4882896"/>
            <a:ext cx="2560320" cy="1499616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51976" y="5029200"/>
            <a:ext cx="2267712" cy="47548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RMB 180M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51976" y="5577840"/>
            <a:ext cx="2267712" cy="56692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Pre-money valuation</a:t>
            </a:r>
          </a:p>
        </p:txBody>
      </p:sp>
      <p:pic>
        <p:nvPicPr>
          <p:cNvPr id="29" name="Picture 28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47472"/>
            <a:ext cx="886968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8869680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Job Seeking Is Still Highly Inefficient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50976"/>
            <a:ext cx="886968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For millions of candidates the process remains fragmented, expensive, and low-signal.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98448"/>
            <a:ext cx="2020824" cy="422452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87552" y="1481328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148132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" y="1975104"/>
            <a:ext cx="1728216" cy="6400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Resume quality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" y="2670048"/>
            <a:ext cx="1728216" cy="2651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Most candidates struggle to present experience as professional, results-oriented work. The first impression is weaker than the career behind it, and ATS systems under-rank the file.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53512" y="1298448"/>
            <a:ext cx="2020824" cy="422452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118104" y="1481328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18104" y="148132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99816" y="1975104"/>
            <a:ext cx="1728216" cy="6400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Quantification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99816" y="2670048"/>
            <a:ext cx="1728216" cy="2651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People describe responsibilities rather than measurable achievements. Hiring teams cannot see impact, scale, or outcomes, so strong operators look interchangeable.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84064" y="1298448"/>
            <a:ext cx="2020824" cy="422452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248656" y="1481328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48656" y="148132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30368" y="1975104"/>
            <a:ext cx="1728216" cy="6400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Role fit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30368" y="2670048"/>
            <a:ext cx="1728216" cy="2651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One generic resume rarely works across jobs and employers. Candidates lose interviews because the document is not written to the role they actually want.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14616" y="1298448"/>
            <a:ext cx="2020824" cy="422452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79208" y="1481328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79208" y="148132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60920" y="1975104"/>
            <a:ext cx="1728216" cy="6400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Job matching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2670048"/>
            <a:ext cx="1728216" cy="2651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Candidates apply without a clear view of actual fit. Volume goes up, interview rates stay low, and the search takes longer than it should.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345168" y="1298448"/>
            <a:ext cx="2020824" cy="422452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509760" y="1481328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09760" y="148132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91472" y="1975104"/>
            <a:ext cx="1728216" cy="6400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Career advice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91472" y="2670048"/>
            <a:ext cx="1728216" cy="2651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Professional guidance remains expensive and consultant-dependent. Most people never get structured help on positioning, targeting, or next-step decisions.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" y="5687568"/>
            <a:ext cx="10543032" cy="69494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40" y="5742432"/>
            <a:ext cx="10177272" cy="1828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THE RESULT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5943600"/>
            <a:ext cx="10177272" cy="34747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Low-quality applications  →  low interview rates  →  long searches  →  high frustration</a:t>
            </a:r>
          </a:p>
        </p:txBody>
      </p:sp>
      <p:pic>
        <p:nvPicPr>
          <p:cNvPr id="33" name="Picture 32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47472"/>
            <a:ext cx="886968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THE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8869680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AI Is Reshaping Career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50976"/>
            <a:ext cx="886968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Generative AI has changed how people create, communicate, and consume professional information.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98448"/>
            <a:ext cx="5084064" cy="422452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444752"/>
            <a:ext cx="4754880" cy="29260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8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Traditional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1773936"/>
            <a:ext cx="4754880" cy="23774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Human consultant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194560"/>
            <a:ext cx="4754880" cy="5486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Manual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2816352"/>
            <a:ext cx="4754880" cy="5486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Manual resume writing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3438144"/>
            <a:ext cx="4754880" cy="5486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Manual job 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4059936"/>
            <a:ext cx="4754880" cy="5486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High cost per user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4681728"/>
            <a:ext cx="4754880" cy="5486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Limited scalability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81928" y="1298448"/>
            <a:ext cx="5084064" cy="422452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3096" y="1444752"/>
            <a:ext cx="4754880" cy="29260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8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AI-enabled model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3096" y="1773936"/>
            <a:ext cx="4754880" cy="23774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Career platform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3096" y="2194560"/>
            <a:ext cx="4754880" cy="5486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Automated career analysis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3096" y="2816352"/>
            <a:ext cx="4754880" cy="5486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AI resume generation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3096" y="3438144"/>
            <a:ext cx="4754880" cy="5486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Intelligent job matching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4059936"/>
            <a:ext cx="4754880" cy="5486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Continuous optimization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83096" y="4681728"/>
            <a:ext cx="4754880" cy="5486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Global scalability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5687568"/>
            <a:ext cx="10543032" cy="69494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42432"/>
            <a:ext cx="10177272" cy="1828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OUR OPPORTUNITY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5943600"/>
            <a:ext cx="10177272" cy="34747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Turn high-cost, labor-intensive career services into a scalable AI-powered platform.</a:t>
            </a:r>
          </a:p>
        </p:txBody>
      </p:sp>
      <p:pic>
        <p:nvPicPr>
          <p:cNvPr id="24" name="Picture 23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47472"/>
            <a:ext cx="886968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WHY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8869680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Three Structural Trends Are Converging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50976"/>
            <a:ext cx="886968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AI adoption, data-driven hiring, and fragmented career services are moving together.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98448"/>
            <a:ext cx="3392424" cy="422452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24128" y="1481328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48132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1993392"/>
            <a:ext cx="2990088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8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Mass AI adoption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2560320"/>
            <a:ext cx="2990088" cy="2743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Consumers now use AI for professional work. That habit is the distribution opening for an AI career product.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8264" y="1298448"/>
            <a:ext cx="3392424" cy="422452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99432" y="1481328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9432" y="148132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1993392"/>
            <a:ext cx="2990088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8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Data-driven hiring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2" y="2560320"/>
            <a:ext cx="2990088" cy="2743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Employers screen on keywords, structure, and measurable results. Candidates need a product written to that standard.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73568" y="1298448"/>
            <a:ext cx="3392424" cy="422452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74736" y="1481328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74736" y="148132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74736" y="1993392"/>
            <a:ext cx="2990088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8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Fragmented services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6" y="2560320"/>
            <a:ext cx="2990088" cy="2743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Advice is still manual, expensive, and local. That gap is the opening for a scalable AI + human platform.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687568"/>
            <a:ext cx="10543032" cy="69494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5742432"/>
            <a:ext cx="10177272" cy="1828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51 CAREERS SITS AT THE INTERSECTION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5943600"/>
            <a:ext cx="10177272" cy="34747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AI   ×   Employment   ×   Career Services</a:t>
            </a:r>
          </a:p>
        </p:txBody>
      </p:sp>
      <p:pic>
        <p:nvPicPr>
          <p:cNvPr id="23" name="Picture 22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47472"/>
            <a:ext cx="886968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MARKET SIZE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8869680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TAM, SAM, SOM, and Three-Year Revenue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50976"/>
            <a:ext cx="886968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From global job seekers to paid AI career users. Illustrative, for discussion.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98448"/>
            <a:ext cx="3392424" cy="246888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426464"/>
            <a:ext cx="2990088" cy="23774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TAM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1682496"/>
            <a:ext cx="2990088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US$ 200B+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157984"/>
            <a:ext cx="2990088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1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RMB 1.35T+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2487168"/>
            <a:ext cx="2990088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Global recruitment, talent-acquisition, and career-development spend.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8264" y="1298448"/>
            <a:ext cx="3392424" cy="246888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9432" y="1426464"/>
            <a:ext cx="2990088" cy="23774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SAM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9432" y="1682496"/>
            <a:ext cx="2990088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US$ 30B+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2157984"/>
            <a:ext cx="2990088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1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RMB 200B+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2" y="2487168"/>
            <a:ext cx="2990088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Digital and AI-enabled hiring tools, resume products, and online career prep.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73568" y="1298448"/>
            <a:ext cx="3392424" cy="246888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74736" y="1426464"/>
            <a:ext cx="2990088" cy="23774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SOM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74736" y="1682496"/>
            <a:ext cx="2990088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US$ 1.5B+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74736" y="2157984"/>
            <a:ext cx="2990088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1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RMB 10B+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6" y="2487168"/>
            <a:ext cx="2990088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AI resume and career-assistant demand in China, the U.S., and English-speaking Asia.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895344"/>
            <a:ext cx="10543032" cy="162763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8" y="4005072"/>
            <a:ext cx="10140696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51 CAREERS  ·  2027E–2029E REVENUE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" y="4297680"/>
            <a:ext cx="320040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2027E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4553712"/>
            <a:ext cx="3200400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US$ 2.0M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" y="5029200"/>
            <a:ext cx="3200400" cy="29260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≈ RMB 13.5M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98848" y="4297680"/>
            <a:ext cx="320040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2028E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98848" y="4553712"/>
            <a:ext cx="3200400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US$ 8.0M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98848" y="5029200"/>
            <a:ext cx="3200400" cy="29260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≈ RMB 53.8M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73568" y="4297680"/>
            <a:ext cx="320040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2029E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73568" y="4553712"/>
            <a:ext cx="3200400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US$ 28.0M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73568" y="5029200"/>
            <a:ext cx="3200400" cy="29260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≈ RMB 188.4M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5687568"/>
            <a:ext cx="10543032" cy="69494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5840" y="5742432"/>
            <a:ext cx="10177272" cy="1828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LOGIC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" y="5943600"/>
            <a:ext cx="10177272" cy="34747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Job seekers  →  AI Resume users  →  paid conversion  →  stacked revenue</a:t>
            </a:r>
          </a:p>
        </p:txBody>
      </p:sp>
      <p:pic>
        <p:nvPicPr>
          <p:cNvPr id="34" name="Picture 33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47472"/>
            <a:ext cx="886968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OUR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8869680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51 Careers AI Career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50976"/>
            <a:ext cx="886968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Not another AI writing tool — an AI-powered career infrastructure layer.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98448"/>
            <a:ext cx="6537960" cy="663593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87552" y="1456508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145650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1328" y="1298448"/>
            <a:ext cx="5669280" cy="663593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Understand professional experience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035193"/>
            <a:ext cx="6537960" cy="663593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87552" y="2193253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193253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81328" y="2035193"/>
            <a:ext cx="5669280" cy="663593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Build a stronger professional profile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771938"/>
            <a:ext cx="6537960" cy="663593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87552" y="2929998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292999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81328" y="2771938"/>
            <a:ext cx="5669280" cy="663593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Generate optimized resumes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508683"/>
            <a:ext cx="6537960" cy="663593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87552" y="3666744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552" y="3666744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1328" y="3508683"/>
            <a:ext cx="5669280" cy="663593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Match with relevant opportunities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245428"/>
            <a:ext cx="6537960" cy="663593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87552" y="4403489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" y="4403489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81328" y="4245428"/>
            <a:ext cx="5669280" cy="663593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Prepare for interviews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4982173"/>
            <a:ext cx="6537960" cy="663593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87552" y="5140234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5140234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81328" y="4982173"/>
            <a:ext cx="5669280" cy="663593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Make better career decisions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5718918"/>
            <a:ext cx="6537960" cy="663593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87552" y="5876979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7552" y="5876979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81328" y="5718918"/>
            <a:ext cx="5669280" cy="663593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Access professional services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543800" y="1298448"/>
            <a:ext cx="3822191" cy="508406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44968" y="1444752"/>
            <a:ext cx="3438144" cy="23774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Starting point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44968" y="1755648"/>
            <a:ext cx="3438144" cy="56692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8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AI Resume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44968" y="2468880"/>
            <a:ext cx="3438144" cy="3566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The resume is the first touchpoint with the 51 Careers ecosystem — the on-ramp to AI Career tools, services, matching, and the marketplace.
One product. One profile. Multiple monetization paths across the career journey.</a:t>
            </a:r>
          </a:p>
        </p:txBody>
      </p:sp>
      <p:pic>
        <p:nvPicPr>
          <p:cNvPr id="37" name="Picture 36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47472"/>
            <a:ext cx="886968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8869680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From Experience to Professional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50976"/>
            <a:ext cx="886968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Users provide career facts. Our AI generates professional, quantified, job-specific resumes.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98448"/>
            <a:ext cx="3383280" cy="508406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426464"/>
            <a:ext cx="301752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Users provide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1792224"/>
            <a:ext cx="3017520" cy="56692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0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Education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414016"/>
            <a:ext cx="3017520" cy="56692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0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Work experience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3035808"/>
            <a:ext cx="3017520" cy="56692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0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Projects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3657600"/>
            <a:ext cx="3017520" cy="56692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0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Skills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4279392"/>
            <a:ext cx="3017520" cy="56692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0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Achievements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4901184"/>
            <a:ext cx="3017520" cy="56692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0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Career goals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5522976"/>
            <a:ext cx="3017520" cy="56692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0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Target job descriptions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1298448"/>
            <a:ext cx="3383280" cy="508406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0288" y="1426464"/>
            <a:ext cx="301752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Our AI generates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0288" y="1792224"/>
            <a:ext cx="3017520" cy="56692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0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Professional positioning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0288" y="2414016"/>
            <a:ext cx="3017520" cy="56692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0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Quantified achievements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0288" y="3035808"/>
            <a:ext cx="3017520" cy="56692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0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Job-specific language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0288" y="3657600"/>
            <a:ext cx="3017520" cy="56692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0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ATS-ready structure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0288" y="4279392"/>
            <a:ext cx="3017520" cy="56692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0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Role and employer fit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90288" y="4901184"/>
            <a:ext cx="3017520" cy="56692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0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Geography conventions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90288" y="5522976"/>
            <a:ext cx="3017520" cy="56692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0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One profile, many versions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55279" y="1298448"/>
            <a:ext cx="3410712" cy="585216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19872" y="1298448"/>
            <a:ext cx="3108960" cy="585216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AI Resume Generation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55279" y="1933956"/>
            <a:ext cx="3410712" cy="585216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19872" y="1933956"/>
            <a:ext cx="3108960" cy="585216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Resume Optimization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55279" y="2569464"/>
            <a:ext cx="3410712" cy="585216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19872" y="2569464"/>
            <a:ext cx="3108960" cy="585216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Job-Specific Versions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55279" y="3204972"/>
            <a:ext cx="3410712" cy="585216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19872" y="3204972"/>
            <a:ext cx="3108960" cy="585216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Achievement Quantification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55279" y="3840480"/>
            <a:ext cx="3410712" cy="585216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19872" y="3840480"/>
            <a:ext cx="3108960" cy="585216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ATS Optimization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55279" y="4475988"/>
            <a:ext cx="3410712" cy="585216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19872" y="4475988"/>
            <a:ext cx="3108960" cy="585216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Multiple Resume Versions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55279" y="5111496"/>
            <a:ext cx="3410712" cy="585216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19872" y="5111496"/>
            <a:ext cx="3108960" cy="585216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Cover Letter Generation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955279" y="5747004"/>
            <a:ext cx="3410712" cy="585216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19872" y="5747004"/>
            <a:ext cx="3108960" cy="585216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Career Profile Creation</a:t>
            </a:r>
          </a:p>
        </p:txBody>
      </p:sp>
      <p:pic>
        <p:nvPicPr>
          <p:cNvPr id="39" name="Picture 38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47472"/>
            <a:ext cx="886968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PRODUCT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8869680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Built, Tested, and Internally Benchmarked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50976"/>
            <a:ext cx="886968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Working demo in hand. Early tests vs. general-purpose models are encouraging.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98448"/>
            <a:ext cx="339242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426464"/>
            <a:ext cx="2990088" cy="32918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Demo developed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1828800"/>
            <a:ext cx="2990088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A working AI Resume product is available for demonstration today.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98264" y="1298448"/>
            <a:ext cx="339242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9432" y="1426464"/>
            <a:ext cx="2990088" cy="32918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Initial testing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9432" y="1828800"/>
            <a:ext cx="2990088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Early users and internal reviews show promising output quality.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73568" y="1298448"/>
            <a:ext cx="339242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74736" y="1426464"/>
            <a:ext cx="2990088" cy="32918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Internal benchmarks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74736" y="1828800"/>
            <a:ext cx="2990088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Compared against direct outputs from leading general-purpose models.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401568"/>
            <a:ext cx="10543032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Initial testing indicates stronger performance in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675887"/>
            <a:ext cx="2020824" cy="184708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" y="3803904"/>
            <a:ext cx="1764792" cy="36576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Positioning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" y="4206240"/>
            <a:ext cx="1764792" cy="11338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Professional framing of the candidate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953512" y="3675887"/>
            <a:ext cx="2020824" cy="184708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81528" y="3803904"/>
            <a:ext cx="1764792" cy="36576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Quantification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81528" y="4206240"/>
            <a:ext cx="1764792" cy="11338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Measurable achievements, not duties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84064" y="3675887"/>
            <a:ext cx="2020824" cy="184708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12080" y="3803904"/>
            <a:ext cx="1764792" cy="36576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Job relevance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0" y="4206240"/>
            <a:ext cx="1764792" cy="11338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Language matched to the target role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14616" y="3675887"/>
            <a:ext cx="2020824" cy="184708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42632" y="3803904"/>
            <a:ext cx="1764792" cy="36576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Extraction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42632" y="4206240"/>
            <a:ext cx="1764792" cy="11338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Career facts pulled from messy input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345168" y="3675887"/>
            <a:ext cx="2020824" cy="184708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73184" y="3803904"/>
            <a:ext cx="1764792" cy="36576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Structure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73184" y="4206240"/>
            <a:ext cx="1764792" cy="11338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ATS-ready resume architecture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" y="5687568"/>
            <a:ext cx="10543032" cy="69494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40" y="5742432"/>
            <a:ext cx="10177272" cy="1828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IMPORTANT NOTE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5943600"/>
            <a:ext cx="10177272" cy="34747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Results are internal. Next: larger-scale, structured, blind A/B tests vs. general-purpose models.</a:t>
            </a:r>
          </a:p>
        </p:txBody>
      </p:sp>
      <p:pic>
        <p:nvPicPr>
          <p:cNvPr id="33" name="Picture 32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47472"/>
            <a:ext cx="886968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TECHNOLOGY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8869680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Not Simply an LLM Wrapper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50976"/>
            <a:ext cx="886968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LLM  +  career knowledge  +  resume framework  +  job intelligence  +  user data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98448"/>
            <a:ext cx="2560320" cy="98755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9264" y="1298448"/>
            <a:ext cx="2267712" cy="987552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Experience extract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83864" y="1298448"/>
            <a:ext cx="2560320" cy="98755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30168" y="1298448"/>
            <a:ext cx="2267712" cy="987552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Achievement scoring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44768" y="1298448"/>
            <a:ext cx="2560320" cy="98755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91072" y="1298448"/>
            <a:ext cx="2267712" cy="987552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JD analysis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05672" y="1298448"/>
            <a:ext cx="2560320" cy="98755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51976" y="1298448"/>
            <a:ext cx="2267712" cy="987552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Resume optimization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377440"/>
            <a:ext cx="2560320" cy="98755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9264" y="2377440"/>
            <a:ext cx="2267712" cy="987552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Industry terms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83864" y="2377440"/>
            <a:ext cx="2560320" cy="98755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30168" y="2377440"/>
            <a:ext cx="2267712" cy="987552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Role requirements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44768" y="2377440"/>
            <a:ext cx="2560320" cy="98755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91072" y="2377440"/>
            <a:ext cx="2267712" cy="987552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Geo conventions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05672" y="2377440"/>
            <a:ext cx="2560320" cy="98755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51976" y="2377440"/>
            <a:ext cx="2267712" cy="987552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ATS optimization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3547872"/>
            <a:ext cx="10543032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Data feedback loop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822191"/>
            <a:ext cx="1234440" cy="170078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3950208"/>
            <a:ext cx="1060704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297680"/>
            <a:ext cx="1060704" cy="10058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Input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148840" y="3822191"/>
            <a:ext cx="1234440" cy="170078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240280" y="3950208"/>
            <a:ext cx="1060704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40280" y="4297680"/>
            <a:ext cx="1060704" cy="10058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Analysis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74720" y="3822191"/>
            <a:ext cx="1234440" cy="170078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66160" y="3950208"/>
            <a:ext cx="1060704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66160" y="4297680"/>
            <a:ext cx="1060704" cy="10058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Resume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800600" y="3822191"/>
            <a:ext cx="1234440" cy="170078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92040" y="3950208"/>
            <a:ext cx="1060704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92040" y="4297680"/>
            <a:ext cx="1060704" cy="10058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Apply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26480" y="3822191"/>
            <a:ext cx="1234440" cy="170078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17920" y="3950208"/>
            <a:ext cx="1060704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0" y="4297680"/>
            <a:ext cx="1060704" cy="10058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Feedback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452360" y="3822191"/>
            <a:ext cx="1234440" cy="170078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543800" y="3950208"/>
            <a:ext cx="1060704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43800" y="4297680"/>
            <a:ext cx="1060704" cy="10058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Upgrade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778240" y="3822191"/>
            <a:ext cx="1234440" cy="170078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869680" y="3950208"/>
            <a:ext cx="1060704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07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869680" y="4297680"/>
            <a:ext cx="1060704" cy="10058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Outcomes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104120" y="3822191"/>
            <a:ext cx="1234440" cy="170078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195560" y="3950208"/>
            <a:ext cx="1060704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08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95560" y="4297680"/>
            <a:ext cx="1060704" cy="10058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Users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22960" y="5687568"/>
            <a:ext cx="10543032" cy="69494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05840" y="5742432"/>
            <a:ext cx="10177272" cy="1828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COMPOUNDING ADVANTAGE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5840" y="5943600"/>
            <a:ext cx="10177272" cy="34747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Each cycle builds proprietary career intelligence that generic chat models do not accumulate.</a:t>
            </a:r>
          </a:p>
        </p:txBody>
      </p:sp>
      <p:pic>
        <p:nvPicPr>
          <p:cNvPr id="49" name="Picture 48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47472"/>
            <a:ext cx="886968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GLOBAL MARKET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8869680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AI Resume Is a Naturally Global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50976"/>
            <a:ext cx="886968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A resume is a universal component of the global employment market.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98448"/>
            <a:ext cx="202082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0976" y="1627632"/>
            <a:ext cx="1764792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United States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2468880"/>
            <a:ext cx="1764792" cy="5486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First beachhead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53512" y="1298448"/>
            <a:ext cx="202082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81528" y="1627632"/>
            <a:ext cx="1764792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Canada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81528" y="2468880"/>
            <a:ext cx="1764792" cy="5486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English-speaking NA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84064" y="1298448"/>
            <a:ext cx="202082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12080" y="1627632"/>
            <a:ext cx="1764792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Central America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2468880"/>
            <a:ext cx="1764792" cy="5486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Adjacent expansion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14616" y="1298448"/>
            <a:ext cx="202082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42632" y="1627632"/>
            <a:ext cx="1764792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United Kingdom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42632" y="2468880"/>
            <a:ext cx="1764792" cy="5486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European English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45168" y="1298448"/>
            <a:ext cx="202082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73184" y="1627632"/>
            <a:ext cx="1764792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Australia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73184" y="2468880"/>
            <a:ext cx="1764792" cy="5486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APAC English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401568"/>
            <a:ext cx="202082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0976" y="3730752"/>
            <a:ext cx="1764792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Singapore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" y="4572000"/>
            <a:ext cx="1764792" cy="5486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APAC hub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953512" y="3401568"/>
            <a:ext cx="202082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1528" y="3730752"/>
            <a:ext cx="1764792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Hong Kong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81528" y="4572000"/>
            <a:ext cx="1764792" cy="5486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Greater China English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84064" y="3401568"/>
            <a:ext cx="202082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2080" y="3730752"/>
            <a:ext cx="1764792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China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4572000"/>
            <a:ext cx="1764792" cy="5486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R&amp;D and users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214616" y="3401568"/>
            <a:ext cx="202082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42632" y="3730752"/>
            <a:ext cx="1764792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Europe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42632" y="4572000"/>
            <a:ext cx="1764792" cy="5486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Localized later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345168" y="3401568"/>
            <a:ext cx="202082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73184" y="3730752"/>
            <a:ext cx="1764792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Middle East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73184" y="4572000"/>
            <a:ext cx="1764792" cy="5486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English professional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2960" y="5687568"/>
            <a:ext cx="10543032" cy="69494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5840" y="5742432"/>
            <a:ext cx="10177272" cy="1828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THE UNIVERSAL QUESTION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5840" y="5943600"/>
            <a:ext cx="10177272" cy="34747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How do I present my professional value to employers? A global problem. A scalable product.</a:t>
            </a:r>
          </a:p>
        </p:txBody>
      </p:sp>
      <p:pic>
        <p:nvPicPr>
          <p:cNvPr id="38" name="Picture 37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47472"/>
            <a:ext cx="886968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PRODUCT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8869680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One Platform. Multiple Labor Markets.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50976"/>
            <a:ext cx="886968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One career profile can be localized across geography, industry, level, role, and employer.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98448"/>
            <a:ext cx="10543032" cy="78638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298448"/>
            <a:ext cx="2194560" cy="78638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8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Geography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1298448"/>
            <a:ext cx="7680960" cy="78638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US · Canada · Central America · UK · Australia · Europe · Asia · 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157984"/>
            <a:ext cx="10543032" cy="78638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157984"/>
            <a:ext cx="2194560" cy="78638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8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Industry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157984"/>
            <a:ext cx="7680960" cy="78638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Tech, Fintech, Finance, Manufacturing, Consulting, Healthcare, Marketing, Education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17520"/>
            <a:ext cx="10543032" cy="78638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3017520"/>
            <a:ext cx="2194560" cy="78638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8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Career level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3017520"/>
            <a:ext cx="7680960" cy="78638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Student  ·  Graduate  ·  Professional  ·  Manager  ·  Executive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877056"/>
            <a:ext cx="10543032" cy="78638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4128" y="3877056"/>
            <a:ext cx="2194560" cy="78638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8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Target role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3877056"/>
            <a:ext cx="7680960" cy="78638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Software Engineer  ·  PM  ·  Data Scientist  ·  Marketing  ·  Finance  ·  more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736592"/>
            <a:ext cx="10543032" cy="78638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" y="4736592"/>
            <a:ext cx="2194560" cy="78638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8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Employer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4736592"/>
            <a:ext cx="7680960" cy="78638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Startup  ·  SME  ·  Enterprise  ·  Multinational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687568"/>
            <a:ext cx="10543032" cy="69494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5742432"/>
            <a:ext cx="10177272" cy="1828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DESIGN PRINCIPLE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5943600"/>
            <a:ext cx="10177272" cy="34747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Build once. Localize the output. Serve many labor markets from a single platform.</a:t>
            </a:r>
          </a:p>
        </p:txBody>
      </p:sp>
      <p:pic>
        <p:nvPicPr>
          <p:cNvPr id="23" name="Picture 22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47472"/>
            <a:ext cx="886968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PRODUCT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8869680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Resume Is the Entry 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50976"/>
            <a:ext cx="886968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The resume on-ramps the user. The destination is the global AI career platform.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98448"/>
            <a:ext cx="2560320" cy="299923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87552" y="1444752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1444752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1920240"/>
            <a:ext cx="2231136" cy="23774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Phase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2212848"/>
            <a:ext cx="2231136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0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AI Resume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2743200"/>
            <a:ext cx="2231136" cy="13533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Help me create a better resume.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83864" y="1298448"/>
            <a:ext cx="2560320" cy="299923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48456" y="1444752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8456" y="1444752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8456" y="1920240"/>
            <a:ext cx="2231136" cy="23774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Phase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48456" y="2212848"/>
            <a:ext cx="2231136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0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AI Career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48456" y="2743200"/>
            <a:ext cx="2231136" cy="13533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What jobs should I apply for?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44768" y="1298448"/>
            <a:ext cx="2560320" cy="299923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9360" y="1444752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444752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1920240"/>
            <a:ext cx="2231136" cy="23774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Phase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2212848"/>
            <a:ext cx="2231136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0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AI 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2743200"/>
            <a:ext cx="2231136" cy="13533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Help me manage my job search.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05672" y="1298448"/>
            <a:ext cx="2560320" cy="299923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70264" y="1444752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70264" y="1444752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70264" y="1920240"/>
            <a:ext cx="2231136" cy="23774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Phase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70264" y="2212848"/>
            <a:ext cx="2231136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0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Platform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70264" y="2743200"/>
            <a:ext cx="2231136" cy="13533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Seekers × employers × services × education.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4425696"/>
            <a:ext cx="1417320" cy="109728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6112" y="4425696"/>
            <a:ext cx="1271016" cy="1097280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Resume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340864" y="4425696"/>
            <a:ext cx="1417320" cy="109728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414016" y="4425696"/>
            <a:ext cx="1271016" cy="1097280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Discovery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858768" y="4425696"/>
            <a:ext cx="1417320" cy="109728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31920" y="4425696"/>
            <a:ext cx="1271016" cy="1097280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Matching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376672" y="4425696"/>
            <a:ext cx="1417320" cy="109728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49824" y="4425696"/>
            <a:ext cx="1271016" cy="1097280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Applications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94576" y="4425696"/>
            <a:ext cx="1417320" cy="109728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67728" y="4425696"/>
            <a:ext cx="1271016" cy="1097280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Cover letters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412480" y="4425696"/>
            <a:ext cx="1417320" cy="109728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85632" y="4425696"/>
            <a:ext cx="1271016" cy="1097280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Interviews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930384" y="4425696"/>
            <a:ext cx="1417320" cy="109728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03536" y="4425696"/>
            <a:ext cx="1271016" cy="1097280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Planning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22960" y="5687568"/>
            <a:ext cx="10543032" cy="69494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5840" y="5742432"/>
            <a:ext cx="10177272" cy="1828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SEQUENCE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5840" y="5943600"/>
            <a:ext cx="10177272" cy="34747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Resume creation  →  job discovery  →  matching  →  applications  →  interviews  →  career planning</a:t>
            </a:r>
          </a:p>
        </p:txBody>
      </p:sp>
      <p:pic>
        <p:nvPicPr>
          <p:cNvPr id="46" name="Picture 45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47472"/>
            <a:ext cx="886968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BUSINESS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8869680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Monetization Across the Career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50976"/>
            <a:ext cx="886968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One user. Multiple revenue paths. Not a single AI Resume transaction.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98448"/>
            <a:ext cx="3392424" cy="201168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05840" y="1481328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48132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1328" y="1481328"/>
            <a:ext cx="2542032" cy="347472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AI product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956816"/>
            <a:ext cx="3017520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Subscription, premium AI features, resume packages, and AI Career tools.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8264" y="1298448"/>
            <a:ext cx="3392424" cy="201168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81144" y="1481328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81144" y="148132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56632" y="1481328"/>
            <a:ext cx="2542032" cy="347472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Career services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1144" y="1956816"/>
            <a:ext cx="3017520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Resume consulting, career consulting, interview coaching, premium services.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73568" y="1298448"/>
            <a:ext cx="3392424" cy="201168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6448" y="1481328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56448" y="148132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31936" y="1481328"/>
            <a:ext cx="2542032" cy="347472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Referral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56448" y="1956816"/>
            <a:ext cx="3017520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CPA / CPS / revenue share with education, training, and recruitment partners.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419856"/>
            <a:ext cx="3392424" cy="201168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05840" y="3602736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3602736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81328" y="3602736"/>
            <a:ext cx="2542032" cy="347472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B2B / employers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4078224"/>
            <a:ext cx="3017520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Talent acquisition, employer branding, recruitment campaigns, job promotion.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98264" y="3419856"/>
            <a:ext cx="3392424" cy="201168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81144" y="3602736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81144" y="3602736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56632" y="3602736"/>
            <a:ext cx="2542032" cy="347472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Advertising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81144" y="4078224"/>
            <a:ext cx="3017520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As traffic scales: relevant brands reaching a targeted career audience.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73568" y="3419856"/>
            <a:ext cx="3392424" cy="201168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56448" y="3602736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56448" y="3602736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31936" y="3602736"/>
            <a:ext cx="2542032" cy="347472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Sponsorship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56448" y="4078224"/>
            <a:ext cx="3017520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Career fairs, conferences, recruitment events, and AI career events.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2960" y="5687568"/>
            <a:ext cx="10543032" cy="69494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5840" y="5742432"/>
            <a:ext cx="10177272" cy="1828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MODEL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5840" y="5943600"/>
            <a:ext cx="10177272" cy="34747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Stack AI + services + commission + B2B + ads + sponsorship on a single career profile.</a:t>
            </a:r>
          </a:p>
        </p:txBody>
      </p:sp>
      <p:pic>
        <p:nvPicPr>
          <p:cNvPr id="38" name="Picture 37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47472"/>
            <a:ext cx="886968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THE FLYWHEEL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8869680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One User, Multiple Revenue Paths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50976"/>
            <a:ext cx="886968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Free AI Resume is the top of funnel. Lifetime value is the objective.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98448"/>
            <a:ext cx="202082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0976" y="1463040"/>
            <a:ext cx="1764792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1792224"/>
            <a:ext cx="1764792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Free AI Resume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2596896"/>
            <a:ext cx="1764792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Top of funnel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53512" y="1298448"/>
            <a:ext cx="202082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81528" y="1463040"/>
            <a:ext cx="1764792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81528" y="1792224"/>
            <a:ext cx="1764792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Acquisition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81528" y="2596896"/>
            <a:ext cx="1764792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Paid and organic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84064" y="1298448"/>
            <a:ext cx="202082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12080" y="1463040"/>
            <a:ext cx="1764792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1792224"/>
            <a:ext cx="1764792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Career profile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2596896"/>
            <a:ext cx="1764792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Persistent record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14616" y="1298448"/>
            <a:ext cx="202082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42632" y="1463040"/>
            <a:ext cx="1764792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42632" y="1792224"/>
            <a:ext cx="1764792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AI Career tools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42632" y="2596896"/>
            <a:ext cx="1764792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Repeat usage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45168" y="1298448"/>
            <a:ext cx="202082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73184" y="1463040"/>
            <a:ext cx="1764792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73184" y="1792224"/>
            <a:ext cx="1764792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Premium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73184" y="2596896"/>
            <a:ext cx="1764792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Paid conversion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3401568"/>
            <a:ext cx="202082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6" y="3566160"/>
            <a:ext cx="1764792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0976" y="3895344"/>
            <a:ext cx="1764792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Services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976" y="4700016"/>
            <a:ext cx="1764792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Human attach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953512" y="3401568"/>
            <a:ext cx="202082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81528" y="3566160"/>
            <a:ext cx="1764792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81528" y="3895344"/>
            <a:ext cx="1764792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Matching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81528" y="4700016"/>
            <a:ext cx="1764792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Job fit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84064" y="3401568"/>
            <a:ext cx="202082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12080" y="3566160"/>
            <a:ext cx="1764792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08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12080" y="3895344"/>
            <a:ext cx="1764792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Referral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12080" y="4700016"/>
            <a:ext cx="1764792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Partner take-rate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214616" y="3401568"/>
            <a:ext cx="202082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42632" y="3566160"/>
            <a:ext cx="1764792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09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42632" y="3895344"/>
            <a:ext cx="1764792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Advertising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42632" y="4700016"/>
            <a:ext cx="1764792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Audience scale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345168" y="3401568"/>
            <a:ext cx="202082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473184" y="3566160"/>
            <a:ext cx="1764792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73184" y="3895344"/>
            <a:ext cx="1764792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Employers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73184" y="4700016"/>
            <a:ext cx="1764792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B2B demand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22960" y="5687568"/>
            <a:ext cx="10543032" cy="69494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05840" y="5742432"/>
            <a:ext cx="10177272" cy="1828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THEREFORE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840" y="5943600"/>
            <a:ext cx="10177272" cy="34747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Revenue is not limited to the first AI Resume transaction. Optimize for lifetime value.</a:t>
            </a:r>
          </a:p>
        </p:txBody>
      </p:sp>
      <p:pic>
        <p:nvPicPr>
          <p:cNvPr id="48" name="Picture 47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47472"/>
            <a:ext cx="886968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USER ACQUISITION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8869680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Digital  +  Offline  +  Organic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50976"/>
            <a:ext cx="886968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A free AI product is a low-friction, globally distributable top of funnel.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98448"/>
            <a:ext cx="3392424" cy="422452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408176"/>
            <a:ext cx="2990088" cy="31089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8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Digital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1792224"/>
            <a:ext cx="2990088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Google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304288"/>
            <a:ext cx="2990088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Meta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2816352"/>
            <a:ext cx="2990088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TikTok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3328416"/>
            <a:ext cx="2990088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YouTube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3840480"/>
            <a:ext cx="2990088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LinkedIn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4352544"/>
            <a:ext cx="2990088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Search / social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4864608"/>
            <a:ext cx="2990088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Content marketing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98264" y="1298448"/>
            <a:ext cx="3392424" cy="422452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9432" y="1408176"/>
            <a:ext cx="2990088" cy="31089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8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Organic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9432" y="1792224"/>
            <a:ext cx="2990088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SEO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9432" y="2304288"/>
            <a:ext cx="2990088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AI-search optimization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9432" y="2816352"/>
            <a:ext cx="2990088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Career content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9432" y="3328416"/>
            <a:ext cx="2990088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Educational content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9432" y="3840480"/>
            <a:ext cx="2990088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Referral programs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99432" y="4352544"/>
            <a:ext cx="2990088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Affiliate partners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99432" y="4864608"/>
            <a:ext cx="2990088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Community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73568" y="1298448"/>
            <a:ext cx="3392424" cy="422452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74736" y="1408176"/>
            <a:ext cx="2990088" cy="31089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8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Offline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74736" y="1792224"/>
            <a:ext cx="2990088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Universities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74736" y="2304288"/>
            <a:ext cx="2990088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Career fairs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74736" y="2816352"/>
            <a:ext cx="2990088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Student organizations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74736" y="3328416"/>
            <a:ext cx="2990088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Professional orgs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74736" y="3840480"/>
            <a:ext cx="2990088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Community events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74736" y="4352544"/>
            <a:ext cx="2990088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Employer events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74736" y="4864608"/>
            <a:ext cx="2990088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Campus ambassadors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5687568"/>
            <a:ext cx="10543032" cy="69494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" y="5742432"/>
            <a:ext cx="10177272" cy="1828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CORE GROWTH STRATEGY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" y="5943600"/>
            <a:ext cx="10177272" cy="34747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Free AI product  →  acquisition  →  registration  →  engagement  →  monetization</a:t>
            </a:r>
          </a:p>
        </p:txBody>
      </p:sp>
      <p:pic>
        <p:nvPicPr>
          <p:cNvPr id="35" name="Picture 34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47472"/>
            <a:ext cx="886968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GEOGRAPHY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8869680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China R&amp;D · U.S. Commercialization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50976"/>
            <a:ext cx="886968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Build in China. Commercialize in the U.S. Expand globally from product-market fit.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98448"/>
            <a:ext cx="10543032" cy="1347216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24128" y="1798319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798319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444752"/>
            <a:ext cx="9509760" cy="32918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8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China  ·  R&amp;D and product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10512"/>
            <a:ext cx="9509760" cy="7071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Product, design, engineering, AI, testing, marketing operations, and B2B business development — the cost-efficient build base.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737104"/>
            <a:ext cx="10543032" cy="1347216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24128" y="3236975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3236975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883408"/>
            <a:ext cx="9509760" cy="32918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8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United States  ·  International GTM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249168"/>
            <a:ext cx="9509760" cy="7071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User acquisition, local partnerships, employer and university relationships, offline events, and brand building — the first growth market.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5760"/>
            <a:ext cx="10543032" cy="1347216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24128" y="4675631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4675631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4322064"/>
            <a:ext cx="9509760" cy="32918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8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Global expansion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687824"/>
            <a:ext cx="9509760" cy="7071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Once product-market fit is proven: North America  →  U.K.  →  Australia  →  Europe  →  Asia  →  other English-speaking markets.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687568"/>
            <a:ext cx="10543032" cy="69494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5742432"/>
            <a:ext cx="10177272" cy="1828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OPERATING MODEL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5943600"/>
            <a:ext cx="10177272" cy="34747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China builds the product. The U.S. proves GTM. Global distribution follows.</a:t>
            </a:r>
          </a:p>
        </p:txBody>
      </p:sp>
      <p:pic>
        <p:nvPicPr>
          <p:cNvPr id="23" name="Picture 22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47472"/>
            <a:ext cx="886968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COMPETITIVE LANDSCAPE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8869680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Career Infrastructure, Not a Resume Tool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50976"/>
            <a:ext cx="886968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Each category has a strength. None combine AI, career expertise, services, and marketplace.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98448"/>
            <a:ext cx="517550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" y="1554480"/>
            <a:ext cx="4736592" cy="38404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0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Job platforms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066544"/>
            <a:ext cx="4736592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Large user base. Limited personalized career intelligence.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0488" y="1298448"/>
            <a:ext cx="517550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9944" y="1554480"/>
            <a:ext cx="4736592" cy="38404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0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General-purpose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9944" y="2066544"/>
            <a:ext cx="4736592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High AI capability. Limited career specialization.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401568"/>
            <a:ext cx="517550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657600"/>
            <a:ext cx="4736592" cy="38404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0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Traditional services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" y="4169664"/>
            <a:ext cx="4736592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High human service. Low scalability.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0488" y="3401568"/>
            <a:ext cx="517550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3657600"/>
            <a:ext cx="4736592" cy="38404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0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AI resume tools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9944" y="4169664"/>
            <a:ext cx="4736592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Resume-focused. Limited ecosystem beyond the document.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687568"/>
            <a:ext cx="10543032" cy="69494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742432"/>
            <a:ext cx="10177272" cy="1828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51 CAREERS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943600"/>
            <a:ext cx="10177272" cy="34747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AI + career expertise + services + marketplace. Infrastructure, not another resume builder.</a:t>
            </a:r>
          </a:p>
        </p:txBody>
      </p:sp>
      <p:pic>
        <p:nvPicPr>
          <p:cNvPr id="20" name="Picture 19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47472"/>
            <a:ext cx="886968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COMPETITIVE POSITION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8869680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Why Customers Will Choose 51 Careers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50976"/>
            <a:ext cx="886968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Operating experience, a working product, and a platform that monetizes beyond the resume.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98448"/>
            <a:ext cx="3392424" cy="201168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05840" y="1463040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46304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920240"/>
            <a:ext cx="3017520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Career-services foundation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414016"/>
            <a:ext cx="301752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We understand the industry from an operating perspective, not a slide deck.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8264" y="1298448"/>
            <a:ext cx="3392424" cy="201168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81144" y="1463040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81144" y="146304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81144" y="1920240"/>
            <a:ext cx="3017520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Product already built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1144" y="2414016"/>
            <a:ext cx="301752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Not a concept company. Demo built, tested, and internally benchmarked.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73568" y="1298448"/>
            <a:ext cx="3392424" cy="201168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6448" y="1463040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56448" y="146304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6448" y="1920240"/>
            <a:ext cx="3017520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Global scalability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56448" y="2414016"/>
            <a:ext cx="301752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AI Resume can be distributed worldwide through digital channels from day one.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419856"/>
            <a:ext cx="3392424" cy="201168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05840" y="3584448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358444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4041648"/>
            <a:ext cx="3017520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Multiple monetization paths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4535424"/>
            <a:ext cx="301752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Subscription + services + commission + B2B + ads + sponsorship.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98264" y="3419856"/>
            <a:ext cx="3392424" cy="201168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81144" y="3584448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81144" y="358444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81144" y="4041648"/>
            <a:ext cx="3017520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AI + human hybrid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81144" y="4535424"/>
            <a:ext cx="301752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AI for scalable work. Humans for high-value, complex career services.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73568" y="3419856"/>
            <a:ext cx="3392424" cy="201168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56448" y="3584448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56448" y="358444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56448" y="4041648"/>
            <a:ext cx="3017520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Platform potential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56448" y="4535424"/>
            <a:ext cx="301752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The long-term opportunity extends beyond resumes into the career ecosystem.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2960" y="5687568"/>
            <a:ext cx="10543032" cy="69494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5840" y="5742432"/>
            <a:ext cx="10177272" cy="1828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POSITIONING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5840" y="5943600"/>
            <a:ext cx="10177272" cy="34747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 working AI product on a career-services operating base — built to become infrastructure.</a:t>
            </a:r>
          </a:p>
        </p:txBody>
      </p:sp>
      <p:pic>
        <p:nvPicPr>
          <p:cNvPr id="38" name="Picture 37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47472"/>
            <a:ext cx="886968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LEADERSHIP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8869680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Executive Leadership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50976"/>
            <a:ext cx="886968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Founder-led. Globally distributed. All six in place.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98448"/>
            <a:ext cx="3392424" cy="239572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1444752"/>
            <a:ext cx="3063240" cy="31089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Rocky Chen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1773936"/>
            <a:ext cx="3063240" cy="23774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FOUNDER &amp; CEO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2103120"/>
            <a:ext cx="3063240" cy="1426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Founded 51 Careers in New York in 2016 and built a multi-market career-services and technology business.</a:t>
            </a:r>
          </a:p>
          <a:p>
            <a:pPr algn="l"/>
            <a:r>
              <a:rPr sz="12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Founder of 51 Careers.AI; Managing Director at listed Helio. Architect of the AI-first strategy and 2025 Alibaba Cloud partnership.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8264" y="1298448"/>
            <a:ext cx="3392424" cy="239572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62856" y="1444752"/>
            <a:ext cx="3063240" cy="31089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Stephanie 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62856" y="1773936"/>
            <a:ext cx="3063240" cy="23774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CO-FOUNDER &amp; CFO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62856" y="2103120"/>
            <a:ext cx="3063240" cy="1426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Co-founder since 2016. U.S. CPA; M.S. Accounting, Pace University.</a:t>
            </a:r>
          </a:p>
          <a:p>
            <a:pPr algn="l"/>
            <a:r>
              <a:rPr sz="12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Oversees financial strategy, corporate governance, and sustainable growth for 51 Careers and 51 Careers.AI.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73568" y="1298448"/>
            <a:ext cx="3392424" cy="239572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1444752"/>
            <a:ext cx="3063240" cy="31089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Gavin 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1773936"/>
            <a:ext cx="3063240" cy="23774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CO-FOUNDER, CTO &amp; COO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2103120"/>
            <a:ext cx="3063240" cy="1426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Serial entrepreneur (10+ years) across SaaS, AI, and digital business; B.S. Computer Science, ECUST.</a:t>
            </a:r>
          </a:p>
          <a:p>
            <a:pPr algn="l"/>
            <a:r>
              <a:rPr sz="12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Prior CTO roles and multiple co-founded ventures. Leads technology, operations, and AI.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803904"/>
            <a:ext cx="3392424" cy="239572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" y="3950208"/>
            <a:ext cx="3063240" cy="31089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Robin Zhu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7552" y="4279392"/>
            <a:ext cx="3063240" cy="23774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HEAD OF PRODUCT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" y="4608576"/>
            <a:ext cx="3063240" cy="1426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Leads product strategy, architecture, and development of the AI-powered career platform.</a:t>
            </a:r>
          </a:p>
          <a:p>
            <a:pPr algn="l"/>
            <a:r>
              <a:rPr sz="12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Former CTO &amp; Director of Product at Ci Finance; senior product roles at CPIC, Allinpay, and Noah.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98264" y="3803904"/>
            <a:ext cx="3392424" cy="239572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62856" y="3950208"/>
            <a:ext cx="3063240" cy="31089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Chris Lin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62856" y="4279392"/>
            <a:ext cx="3063240" cy="23774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NORTH AMERICAN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62856" y="4608576"/>
            <a:ext cx="3063240" cy="1426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Full-stack engineer; previously at Amazon Web Services (AWS). B.S. Northwestern; M.S. Robotics.</a:t>
            </a:r>
          </a:p>
          <a:p>
            <a:pPr algn="l"/>
            <a:r>
              <a:rPr sz="12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Extensive hiring-panel experience and professional mentorship across North America.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73568" y="3803904"/>
            <a:ext cx="3392424" cy="239572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38160" y="3950208"/>
            <a:ext cx="3063240" cy="31089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Jon Serbin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0" y="4279392"/>
            <a:ext cx="3063240" cy="23774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SENIOR ADVISOR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0" y="4608576"/>
            <a:ext cx="3063240" cy="1426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Harvard and MIT; former senior executive at Morgan Stanley; founder of Cedar.</a:t>
            </a:r>
          </a:p>
          <a:p>
            <a:pPr algn="l"/>
            <a:r>
              <a:rPr sz="12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40+ years in technology M&amp;A and capital raising. Advises 51 Careers on growth and expansion.</a:t>
            </a:r>
          </a:p>
        </p:txBody>
      </p:sp>
      <p:pic>
        <p:nvPicPr>
          <p:cNvPr id="29" name="Picture 28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47472"/>
            <a:ext cx="886968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8869680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Founding Team in Place · Planned Hiring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50976"/>
            <a:ext cx="886968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Four founders in place. This round funds China tech, China growth, and U.S. growth.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98448"/>
            <a:ext cx="3383280" cy="508406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426464"/>
            <a:ext cx="301752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Existing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1682496"/>
            <a:ext cx="3017520" cy="32918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0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Founding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048256"/>
            <a:ext cx="3017520" cy="56692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40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2706624"/>
            <a:ext cx="3017520" cy="51206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In place today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3273552"/>
            <a:ext cx="3017520" cy="51206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Product, capital, and GTM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3840480"/>
            <a:ext cx="3017520" cy="51206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Additional seats not yet hired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4407408"/>
            <a:ext cx="3017520" cy="51206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This round funds the team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4974336"/>
            <a:ext cx="3017520" cy="51206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China tech, growth, U.S. growth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5541264"/>
            <a:ext cx="3017520" cy="51206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Hire against product and GTM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1298448"/>
            <a:ext cx="2377440" cy="508406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7136" y="1408176"/>
            <a:ext cx="2121408" cy="20116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Planned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7136" y="1627632"/>
            <a:ext cx="2121408" cy="29260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China technology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17136" y="1938528"/>
            <a:ext cx="2121408" cy="36576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4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17136" y="2414016"/>
            <a:ext cx="1481328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2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Product Manager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2414016"/>
            <a:ext cx="658368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r"/>
            <a:r>
              <a:rPr sz="1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17136" y="3054096"/>
            <a:ext cx="1481328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2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Designer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3054096"/>
            <a:ext cx="658368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r"/>
            <a:r>
              <a:rPr sz="1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17136" y="3694176"/>
            <a:ext cx="1481328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2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QA / Testing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3694176"/>
            <a:ext cx="658368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r"/>
            <a:r>
              <a:rPr sz="1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17136" y="4334256"/>
            <a:ext cx="1481328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2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Front-End Engineer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0" y="4334256"/>
            <a:ext cx="658368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r"/>
            <a:r>
              <a:rPr sz="1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17136" y="4974336"/>
            <a:ext cx="1481328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2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Back-End Engineers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0" y="4974336"/>
            <a:ext cx="658368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r"/>
            <a:r>
              <a:rPr sz="1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17136" y="5614416"/>
            <a:ext cx="1481328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2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AI Engineer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0" y="5614416"/>
            <a:ext cx="658368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r"/>
            <a:r>
              <a:rPr sz="1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903720" y="1298448"/>
            <a:ext cx="2377440" cy="508406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31736" y="1408176"/>
            <a:ext cx="2121408" cy="20116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Planned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31736" y="1627632"/>
            <a:ext cx="2121408" cy="29260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China growth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31736" y="1938528"/>
            <a:ext cx="2121408" cy="36576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4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2+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31736" y="2414016"/>
            <a:ext cx="1481328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2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Performance ads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58200" y="2414016"/>
            <a:ext cx="658368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r"/>
            <a:r>
              <a:rPr sz="1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31736" y="2852928"/>
            <a:ext cx="1481328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2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B2B development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2852928"/>
            <a:ext cx="658368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r"/>
            <a:r>
              <a:rPr sz="1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1+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31736" y="3474720"/>
            <a:ext cx="2121408" cy="2651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Same seats also cover campus, content, partnerships, and China brand operations.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418320" y="1298448"/>
            <a:ext cx="2377440" cy="508406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546336" y="1408176"/>
            <a:ext cx="2121408" cy="20116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Planned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46336" y="1627632"/>
            <a:ext cx="2121408" cy="29260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U.S. growth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46336" y="1938528"/>
            <a:ext cx="2121408" cy="36576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4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46336" y="2414016"/>
            <a:ext cx="1481328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2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Performance ads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72800" y="2414016"/>
            <a:ext cx="658368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r"/>
            <a:r>
              <a:rPr sz="1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46336" y="2852928"/>
            <a:ext cx="1481328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2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Local / field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0" y="2852928"/>
            <a:ext cx="658368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r"/>
            <a:r>
              <a:rPr sz="1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46336" y="3474720"/>
            <a:ext cx="2121408" cy="2651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Same seats also cover universities, employer events, English brand, and community.</a:t>
            </a:r>
          </a:p>
        </p:txBody>
      </p:sp>
      <p:pic>
        <p:nvPicPr>
          <p:cNvPr id="49" name="Picture 48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47472"/>
            <a:ext cx="886968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USE OF FUNDS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8869680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RMB 20 Million Growth Financing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50976"/>
            <a:ext cx="886968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RMB 13.1M is planned P+A. Remaining capital funds product, ops, events, and runway.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298448"/>
          <a:ext cx="4389120" cy="3108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0" y="1353312"/>
            <a:ext cx="4480560" cy="38404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Marketing &amp; acquisition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1353312"/>
            <a:ext cx="2039112" cy="384048"/>
          </a:xfrm>
          <a:prstGeom prst="rect">
            <a:avLst/>
          </a:prstGeom>
          <a:noFill/>
        </p:spPr>
        <p:txBody>
          <a:bodyPr wrap="none" anchor="t"/>
          <a:lstStyle/>
          <a:p>
            <a:pPr algn="r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40%  ·  RMB 8.0M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1773936"/>
            <a:ext cx="4480560" cy="38404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Product &amp; AI development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1773936"/>
            <a:ext cx="2039112" cy="384048"/>
          </a:xfrm>
          <a:prstGeom prst="rect">
            <a:avLst/>
          </a:prstGeom>
          <a:noFill/>
        </p:spPr>
        <p:txBody>
          <a:bodyPr wrap="none" anchor="t"/>
          <a:lstStyle/>
          <a:p>
            <a:pPr algn="r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22.5%  ·  RMB 4.5M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2194560"/>
            <a:ext cx="4480560" cy="38404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U.S. market expansion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2194560"/>
            <a:ext cx="2039112" cy="384048"/>
          </a:xfrm>
          <a:prstGeom prst="rect">
            <a:avLst/>
          </a:prstGeom>
          <a:noFill/>
        </p:spPr>
        <p:txBody>
          <a:bodyPr wrap="none" anchor="t"/>
          <a:lstStyle/>
          <a:p>
            <a:pPr algn="r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12.5%  ·  RMB 2.5M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2615184"/>
            <a:ext cx="4480560" cy="38404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China market &amp; B2B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0" y="2615184"/>
            <a:ext cx="2039112" cy="384048"/>
          </a:xfrm>
          <a:prstGeom prst="rect">
            <a:avLst/>
          </a:prstGeom>
          <a:noFill/>
        </p:spPr>
        <p:txBody>
          <a:bodyPr wrap="none" anchor="t"/>
          <a:lstStyle/>
          <a:p>
            <a:pPr algn="r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7.5%  ·  RMB 1.5M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3035808"/>
            <a:ext cx="4480560" cy="38404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Brand &amp; events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0" y="3035808"/>
            <a:ext cx="2039112" cy="384048"/>
          </a:xfrm>
          <a:prstGeom prst="rect">
            <a:avLst/>
          </a:prstGeom>
          <a:noFill/>
        </p:spPr>
        <p:txBody>
          <a:bodyPr wrap="none" anchor="t"/>
          <a:lstStyle/>
          <a:p>
            <a:pPr algn="r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7.5%  ·  RMB 1.5M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3456432"/>
            <a:ext cx="4480560" cy="38404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Ops / legal / finance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0" y="3456432"/>
            <a:ext cx="2039112" cy="384048"/>
          </a:xfrm>
          <a:prstGeom prst="rect">
            <a:avLst/>
          </a:prstGeom>
          <a:noFill/>
        </p:spPr>
        <p:txBody>
          <a:bodyPr wrap="none" anchor="t"/>
          <a:lstStyle/>
          <a:p>
            <a:pPr algn="r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5%  ·  RMB 1.0M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3877056"/>
            <a:ext cx="4480560" cy="38404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Cash reserve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3877056"/>
            <a:ext cx="2039112" cy="384048"/>
          </a:xfrm>
          <a:prstGeom prst="rect">
            <a:avLst/>
          </a:prstGeom>
          <a:noFill/>
        </p:spPr>
        <p:txBody>
          <a:bodyPr wrap="none" anchor="t"/>
          <a:lstStyle/>
          <a:p>
            <a:pPr algn="r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5%  ·  RMB 1.0M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4572000"/>
            <a:ext cx="2560320" cy="98755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9264" y="4663440"/>
            <a:ext cx="2267712" cy="20116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PERSONNEL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" y="4882896"/>
            <a:ext cx="2267712" cy="32918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0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RMB 5.1M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" y="5248656"/>
            <a:ext cx="2267712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Planned hiring, not payroll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83864" y="4572000"/>
            <a:ext cx="2560320" cy="98755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30168" y="4663440"/>
            <a:ext cx="2267712" cy="20116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CHINA ADS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30168" y="4882896"/>
            <a:ext cx="2267712" cy="32918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0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RMB 1.0M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30168" y="5248656"/>
            <a:ext cx="2267712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Planned annual spend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44768" y="4572000"/>
            <a:ext cx="2560320" cy="98755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91072" y="4663440"/>
            <a:ext cx="2267712" cy="20116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U.S. ADS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91072" y="4882896"/>
            <a:ext cx="2267712" cy="32918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0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RMB 7.0M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91072" y="5248656"/>
            <a:ext cx="2267712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Planned annual spend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805672" y="4572000"/>
            <a:ext cx="2560320" cy="98755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51976" y="4663440"/>
            <a:ext cx="2267712" cy="20116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P+A BUDGET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51976" y="4882896"/>
            <a:ext cx="2267712" cy="32918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0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RMB 13.1M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51976" y="5248656"/>
            <a:ext cx="2267712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Personnel + advertising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" y="5687568"/>
            <a:ext cx="10543032" cy="69494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5742432"/>
            <a:ext cx="10177272" cy="1828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CAPITAL PLAN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5840" y="5943600"/>
            <a:ext cx="10177272" cy="34747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Build the product, acquire users, prove unit economics, and keep a cash reserve.</a:t>
            </a:r>
          </a:p>
        </p:txBody>
      </p:sp>
      <p:pic>
        <p:nvPicPr>
          <p:cNvPr id="39" name="Picture 38" descr="51careers_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47472"/>
            <a:ext cx="886968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GROWTH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8869680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Validation → Growth → Global Expansion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50976"/>
            <a:ext cx="886968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Twelve to twenty-four months from launch to multi-market distribution.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98448"/>
            <a:ext cx="3392424" cy="508406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05840" y="1444752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444752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444752"/>
            <a:ext cx="2560320" cy="347472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Phase 1  ·  0–6 months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901952"/>
            <a:ext cx="3026664" cy="36576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8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Product 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40864"/>
            <a:ext cx="3026664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Launch AI Resume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980944"/>
            <a:ext cx="3026664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Improve AI quality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1024"/>
            <a:ext cx="3026664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Structured A/B testing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261104"/>
            <a:ext cx="3026664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Initial CAC benchmarks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901184"/>
            <a:ext cx="3026664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Conversion funnel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5541264"/>
            <a:ext cx="3026664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Validate pricing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98264" y="1298448"/>
            <a:ext cx="3392424" cy="508406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81144" y="1444752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81144" y="1444752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38344" y="1444752"/>
            <a:ext cx="2560320" cy="347472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Phase 2  ·  6–12 months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1144" y="1901952"/>
            <a:ext cx="3026664" cy="36576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8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Growth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81144" y="2340864"/>
            <a:ext cx="3026664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Scale paid acquisition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81144" y="2980944"/>
            <a:ext cx="3026664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Build SEO engine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81144" y="3621024"/>
            <a:ext cx="3026664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Expand U.S. acquisition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81144" y="4261104"/>
            <a:ext cx="3026664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B2B partnerships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81144" y="4901184"/>
            <a:ext cx="3026664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More AI Career features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81144" y="5541264"/>
            <a:ext cx="3026664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Expand monetization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73568" y="1298448"/>
            <a:ext cx="3392424" cy="508406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156448" y="1444752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56448" y="1444752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13648" y="1444752"/>
            <a:ext cx="2560320" cy="347472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Phase 3  ·  12–24 months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56448" y="1901952"/>
            <a:ext cx="3026664" cy="36576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8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Global expansion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56448" y="2340864"/>
            <a:ext cx="3026664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More English markets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56448" y="2980944"/>
            <a:ext cx="3026664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Localized products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56448" y="3621024"/>
            <a:ext cx="3026664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Global partnerships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56448" y="4261104"/>
            <a:ext cx="3026664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Employer ecosystem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56448" y="4901184"/>
            <a:ext cx="3026664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Marketplace capabilities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56448" y="5541264"/>
            <a:ext cx="3026664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Central America</a:t>
            </a:r>
          </a:p>
        </p:txBody>
      </p:sp>
      <p:pic>
        <p:nvPicPr>
          <p:cNvPr id="38" name="Picture 37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47472"/>
            <a:ext cx="886968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FINANCIAL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8869680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Users, Revenue, and Profitability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50976"/>
            <a:ext cx="886968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Illustrative 2027E–2029E operating plan. Figures in US$.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98448"/>
            <a:ext cx="3392424" cy="508406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9264" y="1389888"/>
            <a:ext cx="3099816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Users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93392" y="1700784"/>
            <a:ext cx="713232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1100" b="1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2027E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6624" y="1700784"/>
            <a:ext cx="713232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1100" b="1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2028E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19856" y="1700784"/>
            <a:ext cx="713232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1100" b="1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2029E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1993392"/>
            <a:ext cx="1024128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300" b="1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Users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93392" y="1993392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1.0M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06624" y="1993392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3.0M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9856" y="1993392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7.0M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" y="2834639"/>
            <a:ext cx="1024128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Registered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93392" y="2834639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300K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06624" y="2834639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1.0M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19856" y="2834639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2.5M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" y="3675886"/>
            <a:ext cx="1024128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MAU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93392" y="3675886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150K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06624" y="3675886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500K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19856" y="3675886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1.25M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" y="4517133"/>
            <a:ext cx="1024128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Paid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93392" y="4517133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15K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06624" y="4517133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60K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19856" y="4517133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180K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" y="5358380"/>
            <a:ext cx="1024128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Paid / users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93392" y="5358380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5.0%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6624" y="5358380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6.0%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19856" y="5358380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7.2%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98264" y="1298448"/>
            <a:ext cx="3392424" cy="508406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44568" y="1389888"/>
            <a:ext cx="3099816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Revenue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68696" y="1700784"/>
            <a:ext cx="713232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1100" b="1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2027E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81928" y="1700784"/>
            <a:ext cx="713232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1100" b="1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2028E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95160" y="1700784"/>
            <a:ext cx="713232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1100" b="1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2029E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44568" y="1993392"/>
            <a:ext cx="1024128" cy="664463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AI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68696" y="1993392"/>
            <a:ext cx="713232" cy="6644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$0.70M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81928" y="1993392"/>
            <a:ext cx="713232" cy="6644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$2.40M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95160" y="1993392"/>
            <a:ext cx="713232" cy="6644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$8.40M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44568" y="2694432"/>
            <a:ext cx="1024128" cy="664463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Services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68696" y="2694432"/>
            <a:ext cx="713232" cy="6644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$0.50M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81928" y="2694432"/>
            <a:ext cx="713232" cy="6644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$1.60M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95160" y="2694432"/>
            <a:ext cx="713232" cy="6644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$5.60M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44568" y="3395472"/>
            <a:ext cx="1024128" cy="664463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Commission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68696" y="3395472"/>
            <a:ext cx="713232" cy="6644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$0.30M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81928" y="3395472"/>
            <a:ext cx="713232" cy="6644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$1.20M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95160" y="3395472"/>
            <a:ext cx="713232" cy="6644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$4.20M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44568" y="4096512"/>
            <a:ext cx="1024128" cy="664463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Ads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68696" y="4096512"/>
            <a:ext cx="713232" cy="6644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$0.20M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81928" y="4096512"/>
            <a:ext cx="713232" cy="6644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$0.80M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95160" y="4096512"/>
            <a:ext cx="713232" cy="6644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$2.80M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44568" y="4797552"/>
            <a:ext cx="1024128" cy="664463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B2B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68696" y="4797552"/>
            <a:ext cx="713232" cy="6644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$0.30M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81928" y="4797552"/>
            <a:ext cx="713232" cy="6644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$2.00M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95160" y="4797552"/>
            <a:ext cx="713232" cy="6644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$7.00M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44568" y="5498592"/>
            <a:ext cx="1024128" cy="664463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300" b="1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Total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568696" y="5498592"/>
            <a:ext cx="713232" cy="6644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$2.00M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81928" y="5498592"/>
            <a:ext cx="713232" cy="6644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$8.00M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95160" y="5498592"/>
            <a:ext cx="713232" cy="6644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$28.00M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973568" y="1298448"/>
            <a:ext cx="3392424" cy="508406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119872" y="1389888"/>
            <a:ext cx="3099816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Profitability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44000" y="1700784"/>
            <a:ext cx="713232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1100" b="1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2027E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857232" y="1700784"/>
            <a:ext cx="713232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1100" b="1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2028E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570464" y="1700784"/>
            <a:ext cx="713232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1100" b="1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2029E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119872" y="1993392"/>
            <a:ext cx="1024128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Gross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44000" y="1993392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65%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857232" y="1993392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70%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70464" y="1993392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75%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19872" y="2834639"/>
            <a:ext cx="1024128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Gross $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144000" y="2834639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$1.30M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857232" y="2834639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$5.60M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570464" y="2834639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$21.00M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19872" y="3675886"/>
            <a:ext cx="1024128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EBITDA 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144000" y="3675886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–50%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857232" y="3675886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–15%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570464" y="3675886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15%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119872" y="4517133"/>
            <a:ext cx="1024128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EBITDA $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144000" y="4517133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–$1.00M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857232" y="4517133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–$1.20M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570464" y="4517133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$4.20M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119872" y="5358380"/>
            <a:ext cx="1024128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300" b="1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Result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144000" y="5358380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Loss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857232" y="5358380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Loss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570464" y="5358380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Profit</a:t>
            </a:r>
          </a:p>
        </p:txBody>
      </p:sp>
      <p:pic>
        <p:nvPicPr>
          <p:cNvPr id="84" name="Picture 83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47472"/>
            <a:ext cx="886968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THE OFFERING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8869680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AI + Human +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50976"/>
            <a:ext cx="886968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The next generation of career services will not be any one of these alone.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98448"/>
            <a:ext cx="517550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" y="1554480"/>
            <a:ext cx="4736592" cy="42062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0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Generative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084832"/>
            <a:ext cx="4736592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Professional content creation is now cheap, fast, and widely adopted.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0488" y="1298448"/>
            <a:ext cx="517550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9944" y="1554480"/>
            <a:ext cx="4736592" cy="42062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0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Global employment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9944" y="2084832"/>
            <a:ext cx="4736592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Talent is mobile. English-language careers travel across markets.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401568"/>
            <a:ext cx="517550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657600"/>
            <a:ext cx="4736592" cy="42062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0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Career services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" y="4187952"/>
            <a:ext cx="4736592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Advice is still manual, expensive, and hard to scale.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0488" y="3401568"/>
            <a:ext cx="517550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3657600"/>
            <a:ext cx="4736592" cy="42062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0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Digital acquisition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9944" y="4187952"/>
            <a:ext cx="4736592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A free AI Resume is a low-friction, global top of funnel.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687568"/>
            <a:ext cx="10543032" cy="69494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742432"/>
            <a:ext cx="10177272" cy="1828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THE OPPORTUNITY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943600"/>
            <a:ext cx="10177272" cy="34747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The AI Resume is the entry point. The ambition is the global AI career platform.</a:t>
            </a:r>
          </a:p>
        </p:txBody>
      </p:sp>
      <p:pic>
        <p:nvPicPr>
          <p:cNvPr id="20" name="Picture 19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47472"/>
            <a:ext cx="886968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FINANCING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8869680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Current Financing 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50976"/>
            <a:ext cx="886968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RMB 20 million at RMB 180 million pre / RMB 200 million post. 10% equity.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98448"/>
            <a:ext cx="339242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481328"/>
            <a:ext cx="2990088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RAISE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1810512"/>
            <a:ext cx="2990088" cy="6400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2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RMB 20 million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542032"/>
            <a:ext cx="2990088" cy="50292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≈ US$2.97 million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8264" y="1298448"/>
            <a:ext cx="339242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9432" y="1481328"/>
            <a:ext cx="2990088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PRE-MONEY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9432" y="1810512"/>
            <a:ext cx="2990088" cy="6400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2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RMB 180 million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9432" y="2542032"/>
            <a:ext cx="2990088" cy="50292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≈ US$26.7 million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73568" y="1298448"/>
            <a:ext cx="339242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74736" y="1481328"/>
            <a:ext cx="2990088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POST-MONEY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4736" y="1810512"/>
            <a:ext cx="2990088" cy="6400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2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RMB 200 million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74736" y="2542032"/>
            <a:ext cx="2990088" cy="50292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≈ US$29.7 million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401568"/>
            <a:ext cx="339242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" y="3584448"/>
            <a:ext cx="2990088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EQUITY OFFERED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3913632"/>
            <a:ext cx="2990088" cy="6400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2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10%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" y="4645152"/>
            <a:ext cx="2990088" cy="50292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Primary preferred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98264" y="3401568"/>
            <a:ext cx="339242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99432" y="3584448"/>
            <a:ext cx="2990088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STRUCTURE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99432" y="3913632"/>
            <a:ext cx="2990088" cy="6400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2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Preferred equity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99432" y="4645152"/>
            <a:ext cx="2990088" cy="50292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Indicative; subject to docs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73568" y="3401568"/>
            <a:ext cx="339242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74736" y="3584448"/>
            <a:ext cx="2990088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USE OF CAPITAL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74736" y="3913632"/>
            <a:ext cx="2990088" cy="6400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2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Product, users, GTM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74736" y="4645152"/>
            <a:ext cx="2990088" cy="50292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Monetization + ecosystem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5687568"/>
            <a:ext cx="10543032" cy="69494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5840" y="5742432"/>
            <a:ext cx="10177272" cy="1828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USE OF PROCEEDS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5943600"/>
            <a:ext cx="10177272" cy="34747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Build the product, acquire users, expand globally, and develop the career ecosystem.</a:t>
            </a:r>
          </a:p>
        </p:txBody>
      </p:sp>
      <p:pic>
        <p:nvPicPr>
          <p:cNvPr id="32" name="Picture 31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47472"/>
            <a:ext cx="886968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INVESTOR OUTCOMES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8869680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12–18 Month Targets This Round Funds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50976"/>
            <a:ext cx="886968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What RMB 20 million is designed to produce before the next raise.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98448"/>
            <a:ext cx="2560320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69264" y="1444752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1444752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" y="1883664"/>
            <a:ext cx="2267712" cy="36576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Public launch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" y="2322576"/>
            <a:ext cx="2267712" cy="7863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AI Resume live for users in China and the U.S.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83864" y="1298448"/>
            <a:ext cx="2560320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30168" y="1444752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30168" y="1444752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30168" y="1883664"/>
            <a:ext cx="2267712" cy="36576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50–100k users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2322576"/>
            <a:ext cx="2267712" cy="7863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Registered users; funnel instrumented end-to-end.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44768" y="1298448"/>
            <a:ext cx="2560320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91072" y="1444752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91072" y="1444752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1072" y="1883664"/>
            <a:ext cx="2267712" cy="36576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Blind A/B tests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91072" y="2322576"/>
            <a:ext cx="2267712" cy="7863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Statistically meaningful quality vs. general models.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05672" y="1298448"/>
            <a:ext cx="2560320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51976" y="1444752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51976" y="1444752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51976" y="1883664"/>
            <a:ext cx="2267712" cy="36576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Unit economics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51976" y="2322576"/>
            <a:ext cx="2267712" cy="7863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CAC, conversion, ARPU, and payback benchmarks.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3401568"/>
            <a:ext cx="2560320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69264" y="3547872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9264" y="3547872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264" y="3986784"/>
            <a:ext cx="2267712" cy="36576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U.S. acquisition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9264" y="4425696"/>
            <a:ext cx="2267712" cy="7863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Paid digital + university/offline channels live.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83864" y="3401568"/>
            <a:ext cx="2560320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30168" y="3547872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30168" y="3547872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30168" y="3986784"/>
            <a:ext cx="2267712" cy="36576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First paid cohort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30168" y="4425696"/>
            <a:ext cx="2267712" cy="7863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AI subscriptions and career-services attach live.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44768" y="3401568"/>
            <a:ext cx="2560320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91072" y="3547872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91072" y="3547872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91072" y="3986784"/>
            <a:ext cx="2267712" cy="36576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B2B pipeline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91072" y="4425696"/>
            <a:ext cx="2267712" cy="7863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Employer and education-partner conversations.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805672" y="3401568"/>
            <a:ext cx="2560320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951976" y="3547872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951976" y="3547872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51976" y="3986784"/>
            <a:ext cx="2267712" cy="36576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Next-round pack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51976" y="4425696"/>
            <a:ext cx="2267712" cy="7863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Traction, model, and data room ready to raise.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22960" y="5687568"/>
            <a:ext cx="10543032" cy="69494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05840" y="5742432"/>
            <a:ext cx="10177272" cy="1828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RMB 20M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840" y="5943600"/>
            <a:ext cx="10177272" cy="34747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Product + users + benchmarks  →  revenue  →  next round  →  valuation step-up</a:t>
            </a:r>
          </a:p>
        </p:txBody>
      </p:sp>
      <p:pic>
        <p:nvPicPr>
          <p:cNvPr id="48" name="Picture 47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51careers_logo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685800"/>
            <a:ext cx="2514600" cy="7132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481328"/>
            <a:ext cx="10241280" cy="23774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6FBCE8"/>
                </a:solidFill>
                <a:latin typeface="Garamond"/>
                <a:ea typeface="Garamond"/>
                <a:cs typeface="Garamond"/>
              </a:rPr>
              <a:t>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55648"/>
            <a:ext cx="10241280" cy="43891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4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We are not building another AI resume tool.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12848"/>
            <a:ext cx="10241280" cy="43891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400" b="1" i="0">
                <a:solidFill>
                  <a:srgbClr val="6FBCE8"/>
                </a:solidFill>
                <a:latin typeface="Garamond"/>
                <a:ea typeface="Garamond"/>
                <a:cs typeface="Garamond"/>
              </a:rPr>
              <a:t>We are building the Global AI Career Platform.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34640"/>
            <a:ext cx="3392424" cy="2606040"/>
          </a:xfrm>
          <a:prstGeom prst="roundRect">
            <a:avLst>
              <a:gd name="adj" fmla="val 4000"/>
            </a:avLst>
          </a:prstGeom>
          <a:solidFill>
            <a:srgbClr val="0E2233"/>
          </a:solidFill>
          <a:ln w="9525">
            <a:solidFill>
              <a:srgbClr val="3C5A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3035808"/>
            <a:ext cx="2990088" cy="38404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600" b="1" i="0">
                <a:solidFill>
                  <a:srgbClr val="6FBCE8"/>
                </a:solidFill>
                <a:latin typeface="Garamond"/>
                <a:ea typeface="Garamond"/>
                <a:cs typeface="Garamond"/>
              </a:rPr>
              <a:t>China R&amp;D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3511296"/>
            <a:ext cx="2990088" cy="1691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DCE8F1"/>
                </a:solidFill>
                <a:latin typeface="Garamond"/>
                <a:ea typeface="Garamond"/>
                <a:cs typeface="Garamond"/>
              </a:rPr>
              <a:t>Product, design, engineering, and AI built from the China base.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8264" y="2834640"/>
            <a:ext cx="3392424" cy="2606040"/>
          </a:xfrm>
          <a:prstGeom prst="roundRect">
            <a:avLst>
              <a:gd name="adj" fmla="val 4000"/>
            </a:avLst>
          </a:prstGeom>
          <a:solidFill>
            <a:srgbClr val="0E2233"/>
          </a:solidFill>
          <a:ln w="9525">
            <a:solidFill>
              <a:srgbClr val="3C5A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9432" y="3035808"/>
            <a:ext cx="2990088" cy="38404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600" b="1" i="0">
                <a:solidFill>
                  <a:srgbClr val="6FBCE8"/>
                </a:solidFill>
                <a:latin typeface="Garamond"/>
                <a:ea typeface="Garamond"/>
                <a:cs typeface="Garamond"/>
              </a:rPr>
              <a:t>U.S. commercialization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9432" y="3511296"/>
            <a:ext cx="2990088" cy="1691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DCE8F1"/>
                </a:solidFill>
                <a:latin typeface="Garamond"/>
                <a:ea typeface="Garamond"/>
                <a:cs typeface="Garamond"/>
              </a:rPr>
              <a:t>The first international growth market for acquisition and brand.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73568" y="2834640"/>
            <a:ext cx="3392424" cy="2606040"/>
          </a:xfrm>
          <a:prstGeom prst="roundRect">
            <a:avLst>
              <a:gd name="adj" fmla="val 4000"/>
            </a:avLst>
          </a:prstGeom>
          <a:solidFill>
            <a:srgbClr val="0E2233"/>
          </a:solidFill>
          <a:ln w="9525">
            <a:solidFill>
              <a:srgbClr val="3C5A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74736" y="3035808"/>
            <a:ext cx="2990088" cy="38404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600" b="1" i="0">
                <a:solidFill>
                  <a:srgbClr val="6FBCE8"/>
                </a:solidFill>
                <a:latin typeface="Garamond"/>
                <a:ea typeface="Garamond"/>
                <a:cs typeface="Garamond"/>
              </a:rPr>
              <a:t>Global distribution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4736" y="3511296"/>
            <a:ext cx="2990088" cy="1691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DCE8F1"/>
                </a:solidFill>
                <a:latin typeface="Garamond"/>
                <a:ea typeface="Garamond"/>
                <a:cs typeface="Garamond"/>
              </a:rPr>
              <a:t>A resume product that can serve English-speaking labor markets from day one.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614416"/>
            <a:ext cx="10543032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0" i="0">
                <a:solidFill>
                  <a:srgbClr val="9FC5DE"/>
                </a:solidFill>
                <a:latin typeface="Garamond"/>
                <a:ea typeface="Garamond"/>
                <a:cs typeface="Garamond"/>
              </a:rPr>
              <a:t>AI   ×   CAREER   ×   TALENT   ×   OPPORTUNITY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126480"/>
            <a:ext cx="7772400" cy="23774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000" b="0" i="0">
                <a:solidFill>
                  <a:srgbClr val="B9C7D2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64240" y="612648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 i="0">
                <a:solidFill>
                  <a:srgbClr val="B9C7D2"/>
                </a:solidFill>
                <a:latin typeface="Garamond"/>
                <a:ea typeface="Garamond"/>
                <a:cs typeface="Garamond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51careers_logo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685800"/>
            <a:ext cx="2514600" cy="7132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481328"/>
            <a:ext cx="10241280" cy="23774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6FBCE8"/>
                </a:solidFill>
                <a:latin typeface="Garamond"/>
                <a:ea typeface="Garamond"/>
                <a:cs typeface="Garamond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55648"/>
            <a:ext cx="10241280" cy="51206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3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Questions and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04288"/>
            <a:ext cx="10241280" cy="32918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600" b="0" i="0">
                <a:solidFill>
                  <a:srgbClr val="DCE8F1"/>
                </a:solidFill>
                <a:latin typeface="Garamond"/>
                <a:ea typeface="Garamond"/>
                <a:cs typeface="Garamond"/>
              </a:rPr>
              <a:t>“Our mission is to make great jobs accessible to everyone.”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34640"/>
            <a:ext cx="5175504" cy="1828800"/>
          </a:xfrm>
          <a:prstGeom prst="roundRect">
            <a:avLst>
              <a:gd name="adj" fmla="val 4000"/>
            </a:avLst>
          </a:prstGeom>
          <a:solidFill>
            <a:srgbClr val="0E2233"/>
          </a:solidFill>
          <a:ln w="9525">
            <a:solidFill>
              <a:srgbClr val="3C5A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3035808"/>
            <a:ext cx="466344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200" b="1" i="0">
                <a:solidFill>
                  <a:srgbClr val="6FBCE8"/>
                </a:solidFill>
                <a:latin typeface="Garamond"/>
                <a:ea typeface="Garamond"/>
                <a:cs typeface="Garamond"/>
              </a:rPr>
              <a:t>EMAIL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3401568"/>
            <a:ext cx="4663440" cy="10058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rocky.chen@51careers.com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0488" y="2834640"/>
            <a:ext cx="5175504" cy="1828800"/>
          </a:xfrm>
          <a:prstGeom prst="roundRect">
            <a:avLst>
              <a:gd name="adj" fmla="val 4000"/>
            </a:avLst>
          </a:prstGeom>
          <a:solidFill>
            <a:srgbClr val="0E2233"/>
          </a:solidFill>
          <a:ln w="9525">
            <a:solidFill>
              <a:srgbClr val="3C5A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3035808"/>
            <a:ext cx="466344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200" b="1" i="0">
                <a:solidFill>
                  <a:srgbClr val="6FBCE8"/>
                </a:solidFill>
                <a:latin typeface="Garamond"/>
                <a:ea typeface="Garamond"/>
                <a:cs typeface="Garamond"/>
              </a:rPr>
              <a:t>PHONE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3401568"/>
            <a:ext cx="4663440" cy="10058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(631) 704-4533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828032"/>
            <a:ext cx="10543032" cy="1207008"/>
          </a:xfrm>
          <a:prstGeom prst="roundRect">
            <a:avLst>
              <a:gd name="adj" fmla="val 4000"/>
            </a:avLst>
          </a:prstGeom>
          <a:solidFill>
            <a:srgbClr val="0E2233"/>
          </a:solidFill>
          <a:ln w="9525">
            <a:solidFill>
              <a:srgbClr val="3C5A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4128" y="4974336"/>
            <a:ext cx="10140696" cy="32918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6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Rocky Chen  ·  Founder &amp; Chief Executive Officer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5376672"/>
            <a:ext cx="10140696" cy="43891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0" i="0">
                <a:solidFill>
                  <a:srgbClr val="DCE8F1"/>
                </a:solidFill>
                <a:latin typeface="Garamond"/>
                <a:ea typeface="Garamond"/>
                <a:cs typeface="Garamond"/>
              </a:rPr>
              <a:t>rocky.chen@51careers.com   ·   (631) 704-4533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6473952"/>
            <a:ext cx="2057400" cy="237744"/>
          </a:xfrm>
          <a:prstGeom prst="rect">
            <a:avLst/>
          </a:prstGeom>
          <a:noFill/>
        </p:spPr>
        <p:txBody>
          <a:bodyPr wrap="none" anchor="t"/>
          <a:lstStyle/>
          <a:p>
            <a:pPr algn="r"/>
            <a:r>
              <a:rPr sz="850" b="0" i="0">
                <a:solidFill>
                  <a:srgbClr val="B9C7D2"/>
                </a:solidFill>
                <a:latin typeface="Garamond"/>
                <a:ea typeface="Garamond"/>
                <a:cs typeface="Garamond"/>
              </a:rPr>
              <a:t>Proprietary and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