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54480"/>
            <a:ext cx="10058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CONFIDENTIAL INVESTOR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2412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51 Careers.AI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42032"/>
            <a:ext cx="10241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Building the global AI career platform — from resume to opportunity.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44368"/>
            <a:ext cx="10241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9FC5DE"/>
                </a:solidFill>
                <a:latin typeface="Garamond"/>
                <a:ea typeface="Garamond"/>
                <a:cs typeface="Garamond"/>
              </a:rPr>
              <a:t>AI RESUME   ×   AI CAREER   ×   GLOBAL TALENT ECOSYSTEM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383280"/>
            <a:ext cx="3392424" cy="178308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547872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PRE-MONEY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840480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180M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498848"/>
            <a:ext cx="29900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US$26.7 million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3383280"/>
            <a:ext cx="3392424" cy="178308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3547872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RAISE  ·  10% EQUITY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840480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4498848"/>
            <a:ext cx="29900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US$2.97 million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3383280"/>
            <a:ext cx="3392424" cy="178308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3547872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POST-MONEY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840480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200M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4498848"/>
            <a:ext cx="29900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US$29.7 million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49240"/>
            <a:ext cx="1054303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26480"/>
            <a:ext cx="105430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September 2026    |    New York  ·  Shanghai    |    China R&amp;D  ·  U.S. commercialization  ·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51 Careers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19072"/>
            <a:ext cx="5669280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865376"/>
            <a:ext cx="5266944" cy="3456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This round</a:t>
            </a:r>
          </a:p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19072"/>
            <a:ext cx="4690872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65376"/>
            <a:ext cx="4343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Investment highlights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12848"/>
            <a:ext cx="4343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01    AI Resume demo already developed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596896"/>
            <a:ext cx="4343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02    Initial testing completed with promising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980944"/>
            <a:ext cx="4343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03    Stronger professional positioning vs. general-purpose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364992"/>
            <a:ext cx="4343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04    Product can serve users globally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749040"/>
            <a:ext cx="4343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05    Existing career-services business: expertise + monetization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133088"/>
            <a:ext cx="4343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06    U.S. market as the first international growth beachhead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517136"/>
            <a:ext cx="4343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07    Multiple revenue streams beyond AI Resume subscriptions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901184"/>
            <a:ext cx="4343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08    RMB 20M to fund product, acquisition, and global GTM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77840"/>
            <a:ext cx="2560320" cy="76809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5632704"/>
            <a:ext cx="23042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5943600"/>
            <a:ext cx="230428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Founded in New York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83864" y="5577840"/>
            <a:ext cx="2560320" cy="76809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5632704"/>
            <a:ext cx="23042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5943600"/>
            <a:ext cx="230428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Growth capital this round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5577840"/>
            <a:ext cx="2560320" cy="76809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5632704"/>
            <a:ext cx="23042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5943600"/>
            <a:ext cx="230428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Equity at RMB 200M post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05672" y="5577840"/>
            <a:ext cx="2560320" cy="76809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3688" y="5632704"/>
            <a:ext cx="23042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180M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3688" y="5943600"/>
            <a:ext cx="2304288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Pre-money valuation</a:t>
            </a:r>
          </a:p>
        </p:txBody>
      </p:sp>
      <p:pic>
        <p:nvPicPr>
          <p:cNvPr id="29" name="Picture 2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202082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9202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202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423160"/>
            <a:ext cx="169164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91840"/>
            <a:ext cx="169164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53512" y="1737360"/>
            <a:ext cx="202082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18104" y="19202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9202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8104" y="2423160"/>
            <a:ext cx="169164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3291840"/>
            <a:ext cx="169164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737360"/>
            <a:ext cx="202082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8656" y="19202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8656" y="19202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8656" y="2423160"/>
            <a:ext cx="169164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48656" y="3291840"/>
            <a:ext cx="169164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4616" y="1737360"/>
            <a:ext cx="202082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79208" y="19202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9202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2423160"/>
            <a:ext cx="169164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3291840"/>
            <a:ext cx="169164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45168" y="1737360"/>
            <a:ext cx="202082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9202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19202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69164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291840"/>
            <a:ext cx="169164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Low-quality applications  →  Low interview rates  →  Long job searches  →  High frustration</a:t>
            </a:r>
          </a:p>
        </p:txBody>
      </p:sp>
      <p:pic>
        <p:nvPicPr>
          <p:cNvPr id="33" name="Picture 3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Is Reshaping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8406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20240"/>
            <a:ext cx="47548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Traditional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286000"/>
            <a:ext cx="4754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43200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55264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767328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279392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791456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737360"/>
            <a:ext cx="508406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1920240"/>
            <a:ext cx="47548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AI-enabled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286000"/>
            <a:ext cx="4754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743200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255264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3767328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279392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791456"/>
            <a:ext cx="47548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Transform high-cost, labor-intensive career services into a scalable AI-powered platform.</a:t>
            </a:r>
          </a:p>
        </p:txBody>
      </p:sp>
      <p:pic>
        <p:nvPicPr>
          <p:cNvPr id="24" name="Picture 2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adoption, data-driven hiring, and fragmented career services are moving at the same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39242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9202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02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450592"/>
            <a:ext cx="2990088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Generative AI has reached mass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611880"/>
            <a:ext cx="2990088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Consumers are increasingly comfortable using AI for professional and personal tasks. That adoption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737360"/>
            <a:ext cx="339242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9432" y="19202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9202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450592"/>
            <a:ext cx="2990088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Recruiting is becoming more data-driven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611880"/>
            <a:ext cx="2990088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Employers rely on structured information, keywords, measurable achievements, and automated screening. Candidates need a product that writes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737360"/>
            <a:ext cx="3392424" cy="374903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9202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9202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450592"/>
            <a:ext cx="2990088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 remain fragmented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3611880"/>
            <a:ext cx="2990088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industry is still dependent on manual services and fragmented providers.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  ×   Employment   ×   Career Services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TAM  →  SAM  →  SOM  →  Three-Year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3392424" cy="233172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865376"/>
            <a:ext cx="29900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121408"/>
            <a:ext cx="29900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US$ 200B+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596896"/>
            <a:ext cx="29900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1.35T+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89504"/>
            <a:ext cx="2990088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Global recruitment, talent-acquisition, and career-development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737360"/>
            <a:ext cx="3392424" cy="233172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865376"/>
            <a:ext cx="29900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121408"/>
            <a:ext cx="29900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US$ 30B+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596896"/>
            <a:ext cx="29900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889504"/>
            <a:ext cx="2990088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Digital / AI-enabled hiring tools, resume products, and online career preparation.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737360"/>
            <a:ext cx="3392424" cy="233172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865376"/>
            <a:ext cx="29900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121408"/>
            <a:ext cx="29900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US$ 1.5B+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596896"/>
            <a:ext cx="299008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10B+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889504"/>
            <a:ext cx="2990088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AI resume and career-assistant demand in China, the U.S., and English-speaking Asia.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187952"/>
            <a:ext cx="10543032" cy="12984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279392"/>
            <a:ext cx="1014069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  ·  2027E–2029E 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553712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754880"/>
            <a:ext cx="3200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US$ 2.0M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13892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13.5M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553712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754880"/>
            <a:ext cx="3200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US$ 8.0M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513892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53.8M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4553712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4754880"/>
            <a:ext cx="32004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US$ 28.0M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8" y="513892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188.4M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LOGIC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job seekers  →  addressable AI Resume users  →  paid conversion  →  stacked revenue (AI + services + commission + B2B + ads).</a:t>
            </a:r>
          </a:p>
        </p:txBody>
      </p:sp>
      <p:pic>
        <p:nvPicPr>
          <p:cNvPr id="34" name="Picture 3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6537960" cy="590441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85884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85884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737360"/>
            <a:ext cx="5669280" cy="59044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00953"/>
            <a:ext cx="6537960" cy="590441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" y="2522437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522437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400953"/>
            <a:ext cx="5669280" cy="59044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64546"/>
            <a:ext cx="6537960" cy="590441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" y="318603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8603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064546"/>
            <a:ext cx="5669280" cy="59044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28139"/>
            <a:ext cx="6537960" cy="590441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7552" y="3849623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849623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728139"/>
            <a:ext cx="5669280" cy="59044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391732"/>
            <a:ext cx="6537960" cy="590441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552" y="4513217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13217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391732"/>
            <a:ext cx="5669280" cy="59044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055325"/>
            <a:ext cx="6537960" cy="590441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7552" y="517681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7681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055325"/>
            <a:ext cx="5669280" cy="59044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718918"/>
            <a:ext cx="6537960" cy="590441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5840403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5840403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718918"/>
            <a:ext cx="5669280" cy="59044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1737360"/>
            <a:ext cx="3822191" cy="4572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44968" y="1901952"/>
            <a:ext cx="343814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4968" y="2212848"/>
            <a:ext cx="34381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8" y="2971800"/>
            <a:ext cx="3438144" cy="3108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resume is the first touchpoint between the user and the 51 Careers ecosystem — the on-ramp to AI Career tools, services, matching, and the marketplace.
One product. One profile. Multiple monetization paths across the career journey.</a:t>
            </a:r>
          </a:p>
        </p:txBody>
      </p:sp>
      <p:pic>
        <p:nvPicPr>
          <p:cNvPr id="37" name="Picture 36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383280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72768"/>
            <a:ext cx="30175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Users provide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1938528"/>
            <a:ext cx="3017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542032"/>
            <a:ext cx="3017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Work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145536"/>
            <a:ext cx="3017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749040"/>
            <a:ext cx="3017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352544"/>
            <a:ext cx="3017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956048"/>
            <a:ext cx="3017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goals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5559552"/>
            <a:ext cx="30175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job descriptions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417320"/>
            <a:ext cx="3383280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572768"/>
            <a:ext cx="30175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AI generates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011680"/>
            <a:ext cx="301752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Professional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+  Quantified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+  Job-specific</a:t>
            </a:r>
          </a:p>
          <a:p>
            <a:pPr algn="l"/>
            <a:r>
              <a:rPr sz="16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resume content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4754880"/>
            <a:ext cx="30175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Optimized for ATS, role, employer, and geography — so one career profile can serve many applications.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417320"/>
            <a:ext cx="3410712" cy="5669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1417320"/>
            <a:ext cx="31089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Generation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2034540"/>
            <a:ext cx="3410712" cy="5669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2" y="2034540"/>
            <a:ext cx="31089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Optimization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2651760"/>
            <a:ext cx="3410712" cy="5669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2651760"/>
            <a:ext cx="31089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Job-Specific Customization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268980"/>
            <a:ext cx="3410712" cy="5669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3268980"/>
            <a:ext cx="31089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Quantification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3886200"/>
            <a:ext cx="3410712" cy="5669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9872" y="3886200"/>
            <a:ext cx="31089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 Optimization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4503420"/>
            <a:ext cx="3410712" cy="5669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503420"/>
            <a:ext cx="31089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Resume Versions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79" y="5120640"/>
            <a:ext cx="3410712" cy="5669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5120640"/>
            <a:ext cx="31089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Cover Letter Generation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79" y="5737860"/>
            <a:ext cx="3410712" cy="5669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9872" y="5737860"/>
            <a:ext cx="310896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Profile Creation</a:t>
            </a:r>
          </a:p>
        </p:txBody>
      </p:sp>
      <p:pic>
        <p:nvPicPr>
          <p:cNvPr id="33" name="Picture 3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392424" cy="1783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54480"/>
            <a:ext cx="299008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1993392"/>
            <a:ext cx="2990088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3392424" cy="1783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554480"/>
            <a:ext cx="299008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1993392"/>
            <a:ext cx="2990088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1417320"/>
            <a:ext cx="3392424" cy="1783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1554480"/>
            <a:ext cx="299008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4736" y="1993392"/>
            <a:ext cx="2990088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28416"/>
            <a:ext cx="105430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57600"/>
            <a:ext cx="2020824" cy="1783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4069080"/>
            <a:ext cx="176479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53512" y="3657600"/>
            <a:ext cx="2020824" cy="1783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81528" y="4069080"/>
            <a:ext cx="176479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4064" y="3657600"/>
            <a:ext cx="2020824" cy="1783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4069080"/>
            <a:ext cx="176479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4616" y="3657600"/>
            <a:ext cx="2020824" cy="1783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2" y="4069080"/>
            <a:ext cx="176479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45168" y="3657600"/>
            <a:ext cx="2020824" cy="1783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4069080"/>
            <a:ext cx="176479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Current results are internal. Next: larger-scale, structured, blind A/B tests versus general-purpose models.</a:t>
            </a:r>
          </a:p>
        </p:txBody>
      </p:sp>
      <p:pic>
        <p:nvPicPr>
          <p:cNvPr id="27" name="Picture 26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43032" cy="713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54480"/>
            <a:ext cx="10140696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2560320" cy="8412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468880"/>
            <a:ext cx="2267712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3864" y="2286000"/>
            <a:ext cx="2560320" cy="8412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2468880"/>
            <a:ext cx="2267712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2286000"/>
            <a:ext cx="2560320" cy="8412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2468880"/>
            <a:ext cx="2267712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05672" y="2286000"/>
            <a:ext cx="2560320" cy="8412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1976" y="2468880"/>
            <a:ext cx="2267712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46120"/>
            <a:ext cx="2560320" cy="8412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429000"/>
            <a:ext cx="2267712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3246120"/>
            <a:ext cx="2560320" cy="8412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30168" y="3429000"/>
            <a:ext cx="2267712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246120"/>
            <a:ext cx="2560320" cy="8412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3429000"/>
            <a:ext cx="2267712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3246120"/>
            <a:ext cx="2560320" cy="84124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3429000"/>
            <a:ext cx="2267712" cy="49377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1054303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590288"/>
            <a:ext cx="1234440" cy="89611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663440"/>
            <a:ext cx="1097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919472"/>
            <a:ext cx="10972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4590288"/>
            <a:ext cx="1234440" cy="89611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21992" y="4663440"/>
            <a:ext cx="1097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21992" y="4919472"/>
            <a:ext cx="10972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4590288"/>
            <a:ext cx="1234440" cy="89611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7872" y="4663440"/>
            <a:ext cx="1097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7872" y="4919472"/>
            <a:ext cx="10972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4590288"/>
            <a:ext cx="1234440" cy="89611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73752" y="4663440"/>
            <a:ext cx="1097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73752" y="4919472"/>
            <a:ext cx="10972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4590288"/>
            <a:ext cx="1234440" cy="89611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4663440"/>
            <a:ext cx="1097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4919472"/>
            <a:ext cx="10972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52360" y="4590288"/>
            <a:ext cx="1234440" cy="89611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4663440"/>
            <a:ext cx="1097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4919472"/>
            <a:ext cx="10972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78240" y="4590288"/>
            <a:ext cx="1234440" cy="89611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1392" y="4663440"/>
            <a:ext cx="1097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4919472"/>
            <a:ext cx="10972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04120" y="4590288"/>
            <a:ext cx="1234440" cy="89611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77272" y="4663440"/>
            <a:ext cx="10972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77272" y="4919472"/>
            <a:ext cx="10972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More users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COMPOUNDING ADVANTAGE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Each cycle builds proprietary career intelligence that generic chat models do not accumulate.</a:t>
            </a:r>
          </a:p>
        </p:txBody>
      </p:sp>
      <p:pic>
        <p:nvPicPr>
          <p:cNvPr id="50" name="Picture 49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GLOBAL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3512" y="17373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22860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7373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93792" y="22860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14616" y="17373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24344" y="22860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45168" y="17373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54896" y="22860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5661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1148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53512" y="35661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3240" y="41148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4064" y="35661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41148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14616" y="35661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24344" y="41148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45168" y="3566160"/>
            <a:ext cx="2020824" cy="169164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4896" y="4114800"/>
            <a:ext cx="18013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“How do I present my professional value to employers?” — a global problem with a scalable product.</a:t>
            </a:r>
          </a:p>
        </p:txBody>
      </p:sp>
      <p:pic>
        <p:nvPicPr>
          <p:cNvPr id="28" name="Picture 2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43032" cy="87782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27048"/>
            <a:ext cx="246888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27048"/>
            <a:ext cx="74066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U.S.  ·  Canada  ·  Central America  ·  U.K.  ·  Australia  ·  Europe  ·  Asia  ·  Middle East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86584"/>
            <a:ext cx="10543032" cy="87782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246888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Industry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496312"/>
            <a:ext cx="74066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55848"/>
            <a:ext cx="10543032" cy="87782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465576"/>
            <a:ext cx="246888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465576"/>
            <a:ext cx="74066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Student / Graduate / Professional / Manager / Executive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325112"/>
            <a:ext cx="10543032" cy="87782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434840"/>
            <a:ext cx="246888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434840"/>
            <a:ext cx="74066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Software Engineer / PM / Data Scientist / Marketing / Finance / more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294376"/>
            <a:ext cx="10543032" cy="87782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5404104"/>
            <a:ext cx="246888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employer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404104"/>
            <a:ext cx="7406640" cy="6583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Startup / SME / Enterprise / Multinational</a:t>
            </a:r>
          </a:p>
        </p:txBody>
      </p:sp>
      <p:pic>
        <p:nvPicPr>
          <p:cNvPr id="19" name="Picture 1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52" y="157276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57276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84831"/>
            <a:ext cx="2231136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395728"/>
            <a:ext cx="223113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2231136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“Help me create a better resume.”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3864" y="141732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8456" y="157276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157276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2084831"/>
            <a:ext cx="2231136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395728"/>
            <a:ext cx="223113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200400"/>
            <a:ext cx="2231136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“What jobs should I apply for?”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41732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7276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7276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084831"/>
            <a:ext cx="2231136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395728"/>
            <a:ext cx="223113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00400"/>
            <a:ext cx="2231136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“Help me manage my entire job search.”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05672" y="141732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4" y="157276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0264" y="157276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0264" y="2084831"/>
            <a:ext cx="2231136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0264" y="2395728"/>
            <a:ext cx="2231136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0264" y="3200400"/>
            <a:ext cx="2231136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Job seekers × employers × services × education × talent ecosystem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663440"/>
            <a:ext cx="1417320" cy="15544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983480"/>
            <a:ext cx="127101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creation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40864" y="4663440"/>
            <a:ext cx="1417320" cy="15544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14016" y="4983480"/>
            <a:ext cx="127101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discovery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58768" y="4663440"/>
            <a:ext cx="1417320" cy="15544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4983480"/>
            <a:ext cx="127101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matching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76672" y="4663440"/>
            <a:ext cx="1417320" cy="15544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49824" y="4983480"/>
            <a:ext cx="127101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Application optimization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94576" y="4663440"/>
            <a:ext cx="1417320" cy="15544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4983480"/>
            <a:ext cx="127101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Cover letters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4663440"/>
            <a:ext cx="1417320" cy="15544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85632" y="4983480"/>
            <a:ext cx="127101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Interview prep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30384" y="4663440"/>
            <a:ext cx="1417320" cy="15544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03536" y="4983480"/>
            <a:ext cx="127101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planning</a:t>
            </a:r>
          </a:p>
        </p:txBody>
      </p:sp>
      <p:pic>
        <p:nvPicPr>
          <p:cNvPr id="42" name="Picture 41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61848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1848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61848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Subscription, premium AI features, resume packages, AI Career tools.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41732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161848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161848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6632" y="161848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19456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Resume consulting, career consulting, interview coaching, premium services.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41732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6448" y="161848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1848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161848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Referral &amp; commission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19456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CPA / CPS / revenue share with education, training, and recruitment partners.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4048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0416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04164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B2B / employers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1772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Talent acquisition, employer branding, recruitment campaigns, job promotion.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98264" y="384048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81144" y="40416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81144" y="40416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6632" y="404164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461772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As traffic scales: relevant brands → targeted career audience.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73568" y="384048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40416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8" y="40416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1936" y="404164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Sponsorship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617720"/>
            <a:ext cx="301752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fairs, conferences, recruitment events, AI career events.</a:t>
            </a:r>
          </a:p>
        </p:txBody>
      </p:sp>
      <p:pic>
        <p:nvPicPr>
          <p:cNvPr id="34" name="Picture 3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158191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96596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3512" y="141732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58191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1528" y="196596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41732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58191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6596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14616" y="141732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2" y="158191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42632" y="196596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45168" y="141732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73184" y="158191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3184" y="196596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42900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59359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397764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3512" y="342900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81528" y="359359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81528" y="397764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342900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59359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97764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14616" y="342900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42632" y="359359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2" y="397764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45168" y="3429000"/>
            <a:ext cx="20208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73184" y="3593592"/>
            <a:ext cx="176479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3184" y="3977640"/>
            <a:ext cx="176479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Revenue is not limited to the first AI Resume transaction. The objective is lifetime value per career user.</a:t>
            </a:r>
          </a:p>
        </p:txBody>
      </p:sp>
      <p:pic>
        <p:nvPicPr>
          <p:cNvPr id="37" name="Picture 36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392424" cy="4069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72768"/>
            <a:ext cx="29900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011680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Google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87168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962656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438144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913632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389120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Search / social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864608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Content marketing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8264" y="1417320"/>
            <a:ext cx="3392424" cy="4069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1572768"/>
            <a:ext cx="29900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Organic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011680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487168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AI-search optimization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2962656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3438144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Educational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913632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Referral programs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4389120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Affiliate partnerships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1417320"/>
            <a:ext cx="3392424" cy="40690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572768"/>
            <a:ext cx="2990088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Offline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2011680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Universities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2487168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fairs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2962656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Student organizations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3438144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orgs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913632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Community events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4389120"/>
            <a:ext cx="2990088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events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CORE GROWTH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Free AI product  →  Low-friction acquisition  →  Registration  →  Engagement  →  Monetization</a:t>
            </a:r>
          </a:p>
        </p:txBody>
      </p:sp>
      <p:pic>
        <p:nvPicPr>
          <p:cNvPr id="32" name="Picture 31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43032" cy="151790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61848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61848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81912"/>
            <a:ext cx="95097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 ·  R&amp;D and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039112"/>
            <a:ext cx="950976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Product, design, engineering, AI, testing, marketing operations, B2B business development.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44952"/>
            <a:ext cx="10543032" cy="151790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4128" y="324612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209544"/>
            <a:ext cx="95097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States  ·  International GTM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666744"/>
            <a:ext cx="950976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672584"/>
            <a:ext cx="10543032" cy="151790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128" y="4873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873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837176"/>
            <a:ext cx="95097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294376"/>
            <a:ext cx="950976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Once product-market fit is established: North America → UK → Australia → Europe → Asia → other markets.</a:t>
            </a:r>
          </a:p>
        </p:txBody>
      </p:sp>
      <p:pic>
        <p:nvPicPr>
          <p:cNvPr id="19" name="Picture 1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517550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1673352"/>
            <a:ext cx="473659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67128"/>
            <a:ext cx="473659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417320"/>
            <a:ext cx="517550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9944" y="1673352"/>
            <a:ext cx="473659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2167128"/>
            <a:ext cx="473659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29000"/>
            <a:ext cx="517550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685032"/>
            <a:ext cx="473659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4178808"/>
            <a:ext cx="473659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429000"/>
            <a:ext cx="517550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3685032"/>
            <a:ext cx="473659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4178808"/>
            <a:ext cx="473659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career expertise + services + marketplace. We are building career infrastructure, not another resume builder.</a:t>
            </a:r>
          </a:p>
        </p:txBody>
      </p:sp>
      <p:pic>
        <p:nvPicPr>
          <p:cNvPr id="19" name="Picture 1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COMPETITIVE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Why Customers Will Choose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61848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1848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30552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Existing career-services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07208"/>
            <a:ext cx="30175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We understand the industry from an operating perspective.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41732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161848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161848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130552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product already in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807208"/>
            <a:ext cx="30175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Not a concept or a slide-deck company. Demo built and tested.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41732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6448" y="161848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1848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130552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scalability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807208"/>
            <a:ext cx="30175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can be distributed worldwide through digital channels.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4048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0416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553712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monetization paths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230368"/>
            <a:ext cx="30175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Subscription + services + commission + B2B + ads + sponsorship.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98264" y="384048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81144" y="40416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81144" y="40416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553712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human hybrid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5230368"/>
            <a:ext cx="30175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for scalable work; humans for high-value, complex services.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73568" y="3840480"/>
            <a:ext cx="3392424" cy="228600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40416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8" y="40416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4553712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Platform potential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5230368"/>
            <a:ext cx="30175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long-term opportunity extends beyond resumes into the career ecosystem.</a:t>
            </a:r>
          </a:p>
        </p:txBody>
      </p:sp>
      <p:pic>
        <p:nvPicPr>
          <p:cNvPr id="34" name="Picture 3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Executive Leadership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Founder-led. Globally distributed.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19072"/>
            <a:ext cx="3392424" cy="21945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828800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Rocky 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121408"/>
            <a:ext cx="3063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377440"/>
            <a:ext cx="3063240" cy="1408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Founded 51 Careers in New York in 2016 and built it from a boutique consultancy into a multi-market career-services and technology business. Founder of 51 Careers.AI; investor and Managing Director at publicly listed Helio. Architect of the AI-first strategy, including the 2025 Alibaba Cloud AI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719072"/>
            <a:ext cx="3392424" cy="21945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828800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Stephanie 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121408"/>
            <a:ext cx="3063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CO-FOUNDER &amp; CFO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377440"/>
            <a:ext cx="3063240" cy="1408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Co-founder since 2016. U.S. CPA; M.S. Accounting, Pace University. Oversees financial strategy, corporate governance, and sustainable growth for 51 Careers and 51 Careers.AI.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719072"/>
            <a:ext cx="3392424" cy="21945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828800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Gavin 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121408"/>
            <a:ext cx="3063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CO-FOUNDER, CTO &amp; COO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77440"/>
            <a:ext cx="3063240" cy="1408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Serial entrepreneur (10+ years) across SaaS, AI, and digital business; B.S. Computer Science, ECUST. Prior CTO roles and multiple co-founded ventures. Leads technology, operations, and AI.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023360"/>
            <a:ext cx="3392424" cy="21945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133088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Robin Zhu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425696"/>
            <a:ext cx="3063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HEAD OF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681728"/>
            <a:ext cx="3063240" cy="1408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Leads product strategy, architecture, and development of the AI-powered career platform. Former CTO &amp; Director of Product at Ci Finance; senior product roles at CPIC, Allinpay, and Noah.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8264" y="4023360"/>
            <a:ext cx="3392424" cy="21945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4133088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Chris Lin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4425696"/>
            <a:ext cx="3063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NORTH AMERICAN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4681728"/>
            <a:ext cx="3063240" cy="1408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Full-stack engineer; previously at Amazon Web Services (AWS). B.S. Northwestern; M.S. Robotics. Extensive hiring-panel experience and professional mentorship.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4023360"/>
            <a:ext cx="3392424" cy="21945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4133088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Jon Serbin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425696"/>
            <a:ext cx="3063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SENIOR ADVISOR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681728"/>
            <a:ext cx="3063240" cy="1408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Harvard and MIT; former senior executive at Morgan Stanley; founder of Cedar. 40+ years in technology M&amp;A and capital raising. Advises 51 Careers on growth and expansion.</a:t>
            </a:r>
          </a:p>
        </p:txBody>
      </p:sp>
      <p:pic>
        <p:nvPicPr>
          <p:cNvPr id="29" name="Picture 2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383280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72768"/>
            <a:ext cx="3017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Existing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1828800"/>
            <a:ext cx="3017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Founding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212848"/>
            <a:ext cx="30175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971800"/>
            <a:ext cx="30175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 place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721608"/>
            <a:ext cx="30175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Product, capital, and go-to-market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471416"/>
            <a:ext cx="30175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Additional roles are not yet hired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5221224"/>
            <a:ext cx="3017520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This round funds the planned operating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2377440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1554480"/>
            <a:ext cx="2084831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792224"/>
            <a:ext cx="2084831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technology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267712"/>
            <a:ext cx="2084831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788920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788920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319272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Designer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319272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849624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QA /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3849624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4379976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Front-End Engineer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379976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4910328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Back-End Engineers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910328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5440680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5440680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1417320"/>
            <a:ext cx="2377440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1554480"/>
            <a:ext cx="2084831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0024" y="1792224"/>
            <a:ext cx="2084831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growth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0024" y="2267712"/>
            <a:ext cx="2084831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2788920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Marketing /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2788920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0024" y="3319272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B2B Business Development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319272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1+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18320" y="1417320"/>
            <a:ext cx="2377440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64624" y="1554480"/>
            <a:ext cx="2084831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64624" y="1792224"/>
            <a:ext cx="2084831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U.S. growth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2267712"/>
            <a:ext cx="2084831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64624" y="2788920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Performance Marketing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2788920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64624" y="3319272"/>
            <a:ext cx="1554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Local / Field Marketing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64240" y="3319272"/>
            <a:ext cx="566928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pic>
        <p:nvPicPr>
          <p:cNvPr id="44" name="Picture 4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719072"/>
          <a:ext cx="4754880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120640" y="1737360"/>
            <a:ext cx="4389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737360"/>
            <a:ext cx="19019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121408"/>
            <a:ext cx="4389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2121408"/>
            <a:ext cx="19019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505456"/>
            <a:ext cx="4389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505456"/>
            <a:ext cx="19019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889504"/>
            <a:ext cx="4389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2889504"/>
            <a:ext cx="19019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273552"/>
            <a:ext cx="4389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3273552"/>
            <a:ext cx="19019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657600"/>
            <a:ext cx="4389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657600"/>
            <a:ext cx="19019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041648"/>
            <a:ext cx="4389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041648"/>
            <a:ext cx="19019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617720"/>
            <a:ext cx="2560320" cy="17373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718304"/>
            <a:ext cx="22677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956048"/>
            <a:ext cx="22677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376672"/>
            <a:ext cx="226771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hiring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83864" y="4617720"/>
            <a:ext cx="2560320" cy="17373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718304"/>
            <a:ext cx="22677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0168" y="4956048"/>
            <a:ext cx="22677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5376672"/>
            <a:ext cx="226771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4768" y="4617720"/>
            <a:ext cx="2560320" cy="17373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1072" y="4718304"/>
            <a:ext cx="22677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4956048"/>
            <a:ext cx="22677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5376672"/>
            <a:ext cx="226771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05672" y="4617720"/>
            <a:ext cx="2560320" cy="17373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1976" y="4718304"/>
            <a:ext cx="22677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1976" y="4956048"/>
            <a:ext cx="22677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5376672"/>
            <a:ext cx="226771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personnel + advertising</a:t>
            </a:r>
          </a:p>
        </p:txBody>
      </p:sp>
      <p:pic>
        <p:nvPicPr>
          <p:cNvPr id="36" name="Picture 35" descr="51careers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392424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57276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7276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57276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1  ·  0–6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48256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42032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Launch AI Resume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27248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Improve AI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12464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Structured A/B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80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Initial CAC benchmarks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82896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Conversion funnel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468112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Validate pricing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8264" y="1417320"/>
            <a:ext cx="3392424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57276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144" y="157276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2" y="157276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2  ·  6–12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1144" y="2048256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542032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Scale paid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3127248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Build SEO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712464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Expand 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4297680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B2B partnerships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4882896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More AI Career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5468112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Expand monetization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1417320"/>
            <a:ext cx="3392424" cy="493776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6448" y="157276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157276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1572768"/>
            <a:ext cx="254203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3  ·  12–24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048256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expansion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542032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More English-speaking markets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127248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Localized products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3712464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Global partnerships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4297680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ecosystem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56448" y="4882896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Marketplace capabilities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8" y="5468112"/>
            <a:ext cx="3026664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Central America expansion</a:t>
            </a:r>
          </a:p>
        </p:txBody>
      </p:sp>
      <p:pic>
        <p:nvPicPr>
          <p:cNvPr id="37" name="Picture 36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303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5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19072"/>
            <a:ext cx="3392424" cy="463600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828800"/>
            <a:ext cx="3099816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395728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95728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395728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3.0M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163824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Registered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63824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300K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163824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63824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2.5M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931920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Monthly active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931920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31920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931920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1.25M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700016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0016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700016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700016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180K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468112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68112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468112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5468112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1719072"/>
            <a:ext cx="3392424" cy="463600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1828800"/>
            <a:ext cx="3099816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Revenue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4104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4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2395728"/>
            <a:ext cx="91440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AI revenue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4104" y="239572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$0.70M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1344" y="239572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$2.40M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58584" y="239572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$8.40M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4568" y="3035808"/>
            <a:ext cx="91440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04104" y="303580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$0.50M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1344" y="303580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$1.60M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58584" y="303580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$5.60M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3675888"/>
            <a:ext cx="91440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Commission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4104" y="367588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$0.30M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1344" y="367588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$1.20M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58584" y="367588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$4.20M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44568" y="4315968"/>
            <a:ext cx="91440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04104" y="431596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$0.20M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81344" y="431596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$0.80M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431596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$2.80M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4956048"/>
            <a:ext cx="91440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B2B revenue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04104" y="495604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$0.30M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81344" y="495604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$2.00M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8584" y="495604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$7.00M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44568" y="5596128"/>
            <a:ext cx="91440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Total revenue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04104" y="559612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$2.00M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81344" y="559612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$8.00M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58584" y="5596128"/>
            <a:ext cx="777240" cy="6035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$28.00M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73568" y="1719072"/>
            <a:ext cx="3392424" cy="463600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19872" y="1828800"/>
            <a:ext cx="3099816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Profitability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79408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56648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33888" y="2121408"/>
            <a:ext cx="7772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9872" y="2395728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Gross margin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79408" y="2395728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56648" y="2395728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33888" y="2395728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19872" y="3163824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Gross profit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79408" y="3163824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$1.30M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56648" y="3163824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$5.60M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33888" y="3163824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$21.00M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19872" y="3931920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EBITDA margin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79408" y="3931920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–50%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56648" y="3931920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–15%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33888" y="3931920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19872" y="4700016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EBITDA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79408" y="4700016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–$1.00M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56648" y="4700016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–$1.20M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33888" y="4700016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$4.20M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19872" y="5468112"/>
            <a:ext cx="914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Profitability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79408" y="5468112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Loss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56648" y="5468112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Loss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33888" y="5468112"/>
            <a:ext cx="7772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Profitable</a:t>
            </a:r>
          </a:p>
        </p:txBody>
      </p:sp>
      <p:pic>
        <p:nvPicPr>
          <p:cNvPr id="84" name="Picture 8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OFFERING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517550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6" y="1673352"/>
            <a:ext cx="47365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203704"/>
            <a:ext cx="473659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content creation is now cheap, fast, and widely adopted.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417320"/>
            <a:ext cx="517550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9944" y="1673352"/>
            <a:ext cx="47365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2203704"/>
            <a:ext cx="473659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Talent is mobile. English-language careers travel across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29000"/>
            <a:ext cx="517550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685032"/>
            <a:ext cx="47365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4215384"/>
            <a:ext cx="473659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Advice is still manual, expensive, and hard to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429000"/>
            <a:ext cx="517550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3685032"/>
            <a:ext cx="47365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 user acquisition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4215384"/>
            <a:ext cx="473659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free AI Resume is a low-friction, global top-of-funnel.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The AI Resume is the entry point; the ambition is the global AI career platform.</a:t>
            </a:r>
          </a:p>
        </p:txBody>
      </p:sp>
      <p:pic>
        <p:nvPicPr>
          <p:cNvPr id="19" name="Picture 1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9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3924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600200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RAISE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1911096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 million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587752"/>
            <a:ext cx="299008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US$2.97 million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417320"/>
            <a:ext cx="33924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600200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PRE-MONEY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1911096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180 million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2587752"/>
            <a:ext cx="299008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US$26.7 million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417320"/>
            <a:ext cx="33924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600200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POST-MONEY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1911096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200 million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587752"/>
            <a:ext cx="299008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US$29.7 million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429000"/>
            <a:ext cx="33924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11880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EQUITY OFFERED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22776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599432"/>
            <a:ext cx="299008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Primary preferred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98264" y="3429000"/>
            <a:ext cx="33924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3611880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3922776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Preferred equity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4599432"/>
            <a:ext cx="299008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Indicative; subject to docs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3568" y="3429000"/>
            <a:ext cx="3392424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4736" y="3611880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CAPITAL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3922776"/>
            <a:ext cx="299008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Product, users, global GTM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4599432"/>
            <a:ext cx="299008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Monetization + ecosystem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PROCEEDS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the product, acquire users, expand globally, build monetization, and develop the career ecosystem.</a:t>
            </a:r>
          </a:p>
        </p:txBody>
      </p:sp>
      <p:pic>
        <p:nvPicPr>
          <p:cNvPr id="31" name="Picture 30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INVESTOR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896112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2560320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9264" y="156362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5636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2002536"/>
            <a:ext cx="22677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Public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478024"/>
            <a:ext cx="2267712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live for users in China and the U.S.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1417320"/>
            <a:ext cx="2560320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30168" y="156362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15636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002536"/>
            <a:ext cx="22677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50–100k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2478024"/>
            <a:ext cx="2267712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Registered users; funnel instrumented end-to-end.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417320"/>
            <a:ext cx="2560320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156362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5636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2" y="2002536"/>
            <a:ext cx="22677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Blind A/B 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2478024"/>
            <a:ext cx="2267712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Statistically meaningful quality vs. general-purpose models.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417320"/>
            <a:ext cx="2560320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56362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1976" y="15636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2002536"/>
            <a:ext cx="22677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 economics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1976" y="2478024"/>
            <a:ext cx="2267712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CAC, conversion, ARPU, and payback benchmarks.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429000"/>
            <a:ext cx="2560320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9264" y="357530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357530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4014216"/>
            <a:ext cx="22677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U.S.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4489704"/>
            <a:ext cx="2267712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Paid digital + university/offline channels operating.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83864" y="3429000"/>
            <a:ext cx="2560320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30168" y="357530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357530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4014216"/>
            <a:ext cx="22677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First paid cohort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0168" y="4489704"/>
            <a:ext cx="2267712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subscriptions and career-services attach live.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3429000"/>
            <a:ext cx="2560320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91072" y="357530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357530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014216"/>
            <a:ext cx="22677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B2B pipeline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1072" y="4489704"/>
            <a:ext cx="2267712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and education-partner conversations in market.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05672" y="3429000"/>
            <a:ext cx="2560320" cy="1874519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51976" y="357530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1976" y="357530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51976" y="4014216"/>
            <a:ext cx="22677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Next-round pack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489704"/>
            <a:ext cx="2267712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Traction, model, and data room ready for the following raise.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650992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5705856"/>
            <a:ext cx="10177272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5907024"/>
            <a:ext cx="101772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+ users + benchmarks  →  revenue  →  next round  →  valuation step-up.</a:t>
            </a:r>
          </a:p>
        </p:txBody>
      </p:sp>
      <p:pic>
        <p:nvPicPr>
          <p:cNvPr id="47" name="Picture 46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54480"/>
            <a:ext cx="10241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2412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2412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We are building the Global AI Career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66160"/>
            <a:ext cx="3392424" cy="196596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730752"/>
            <a:ext cx="29900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China R&amp;D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160520"/>
            <a:ext cx="2990088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Product, design, engineering, and AI built from the China 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3566160"/>
            <a:ext cx="3392424" cy="196596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3730752"/>
            <a:ext cx="29900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U.S. commercialization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4160520"/>
            <a:ext cx="2990088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The first international growth market for acquisition and brand.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3566160"/>
            <a:ext cx="3392424" cy="196596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3730752"/>
            <a:ext cx="299008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Global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4160520"/>
            <a:ext cx="2990088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A resume product that can serve English-speaking labor markets from day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4303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9FC5DE"/>
                </a:solidFill>
                <a:latin typeface="Garamond"/>
                <a:ea typeface="Garamond"/>
                <a:cs typeface="Garamond"/>
              </a:rPr>
              <a:t>AI   ×   CAREER   ×   TALENT   ×  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2648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12648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54480"/>
            <a:ext cx="102412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241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Questions and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10241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“Our mission is to make great jobs accessible to everyone.”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08960"/>
            <a:ext cx="3392424" cy="16916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273552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657600"/>
            <a:ext cx="29900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rocky@helio.space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3108960"/>
            <a:ext cx="3392424" cy="16916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3273552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3657600"/>
            <a:ext cx="29900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19921169641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3108960"/>
            <a:ext cx="3392424" cy="16916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3273552"/>
            <a:ext cx="299008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WEB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3657600"/>
            <a:ext cx="29900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www.helio.space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983480"/>
            <a:ext cx="10543032" cy="109728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5120640"/>
            <a:ext cx="10140696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Rocky Chen  ·  Founder &amp; Chief Executive Officer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5486400"/>
            <a:ext cx="101406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info@helio.space   ·   (510) 545-2666   ·   2448 Sixth Street, Berkeley, CA 94710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6473952"/>
            <a:ext cx="2057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Proprietary and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