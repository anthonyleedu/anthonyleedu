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CONFIDENTIAL INVESTOR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51 Careers.AI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Building the global AI career platform — from resume to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61488"/>
            <a:ext cx="102412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RESUME   ×   AI CAREER   ×   GLOBAL TALENT ECOSYSTEM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RAISE  ·  10% EQUITY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resume is the entry point. The ambition is the global AI career platform.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14416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Connecting job seekers, employers, career services, education, and the talent ecosystem.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September 2026    |    New York  ·  Shanghai    |    China R&amp;D  ·  U.S. GTM  ·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services  →  AI Resume  →  AI Career Platform  →  Global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669280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5266944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51 Careers is building a global AI Career Platform to help job seekers create better resumes, discover opportunities, improve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An AI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This round</a:t>
            </a:r>
          </a:p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(10% of RMB 200 million post-money) to fund product, acquisition, and global commercialization.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298448"/>
            <a:ext cx="4690872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408176"/>
            <a:ext cx="4343400" cy="2743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Investment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01    AI Resume demo already developed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031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02    Initial testing with promising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03    Stronger positioning vs. general AI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3464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04    Global product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20040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05    Existing career-services expertise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5661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06    U.S. as first international beachhead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319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07    Multiple revenue streams beyond AI Resume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976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08    RMB 20M for product, users, and GTM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Founded in New York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83864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0168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Growth capital this round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Equity at RMB 200M post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Pre-money valuation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Most candidates struggle to present experience as professional, results-oriented work. The first impression is weaker than the career behind it, and ATS systems under-rank the file.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9816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People describe responsibilities rather than measurable achievements. Hiring teams cannot see impact, scale, or outcomes, so strong operators look interchangeable.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generic resume rarely works across jobs and employers. Candidates lose interviews because the document is not written to the role they actually want.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6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Candidates apply without a clear view of actual fit. Volume goes up, interview rates stay low, and the search takes longer than it should.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45168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guidance remains expensive and consultant-dependent. Most people never get structured help on positioning, targeting, or next-step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Low-quality applications  →  low interview rates  →  long searches  →  high frustration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Is Reshaping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cost per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AI-enabled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Intelligent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Turn high-cost, labor-intensive career services into a scalable AI-powered platform.</a:t>
            </a:r>
          </a:p>
        </p:txBody>
      </p:sp>
      <p:pic>
        <p:nvPicPr>
          <p:cNvPr id="24" name="Picture 2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adoption, data-driven hiring, and fragmented career services are moving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Mass AI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Consumers now use AI for professional work. That habit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Data-driven hiring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Employers screen on keywords, structure, and measurable results. Candidates need a product written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Fragmented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local.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  ×   Employment   ×   Career Services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TAM, SAM, SOM, and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US$ 200B+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1.35T+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Global recruitment, talent-acquisition, and career-development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US$ 30B+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Digital and AI-enabled hiring tools, resume products, and online career prep.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US$ 1.5B+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10B+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 resume and career-assistant demand in China, the U.S., and English-speaking Asia.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95344"/>
            <a:ext cx="10543032" cy="16276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005072"/>
            <a:ext cx="10140696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 ·  2027E–2029E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13.5M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53.8M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US$ 28.0M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188.4M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LOGIC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seekers  →  AI Resume users  →  paid conversion  →  stacked revenue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29844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3519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3519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7193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77193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50868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50868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542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4542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98217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98217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71891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71891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1298448"/>
            <a:ext cx="3822191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4968" y="1444752"/>
            <a:ext cx="3438144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4968" y="1755648"/>
            <a:ext cx="3438144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8" y="2468880"/>
            <a:ext cx="3438144" cy="3566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is the first touchpoint with the 51 Careers ecosystem — the on-ramp to AI Career tools, services, matching, and the marketplace.
One product. One profile. Multiple monetization paths across the career journey.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From Experience to Professional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Users provide career facts. Our AI generates professional, quantified, job-specific resumes.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Professional 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Quantified achievements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ATS-ready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and employer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 conventions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profile, many versions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129844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29844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93395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193395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256946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256946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Versions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3204972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3204972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3840480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2" y="3840480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47598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9872" y="447598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Resume Versions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511149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511149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 Generation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574700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9872" y="574700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 Creation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Built, Tested, and Internally Benchmarked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Working demo in hand. Early tests vs. general-purpose models are encouraging.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Demo developed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working AI Resume product is available for demonstration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Initial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Early users and internal reviews show promising output quality.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Internal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Compared against direct outputs from leading general-purpose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01568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Initial testing indicates stronger performance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framing of the candidate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512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Measurable achievements, not duties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4064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relevance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Language matched to the target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616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42632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facts pulled from messy input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73184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ATS-ready resume architecture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IMPORTANT NOTE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Results are internal. Next: larger-scale, structured, blind A/B tests vs. general-purpose models.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Not Simply an LLM Wrapper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LLM  +  career knowledge  +  resume framework  +  job intelligence  +  user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Experience extract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JD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 terms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requirements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 conventions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47872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Data feedback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488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Analysis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Feedback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Upgrade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2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Outcomes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041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COMPOUNDING ADVANTAGE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Each cycle builds proprietary career intelligence that generic chat models do not accumulate.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GLOBAL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First beachhead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Canada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English-speaking 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Adjacent 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2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Kingdom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2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European English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Australia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English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Singapore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hub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1528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Hong Kong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1528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Greater China English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R&amp;D and users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42632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Europe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Localized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73184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Middle East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3184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 professional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UNIVERSAL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How do I present my professional value to employers? A global problem. A scalable product.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Platform. Multiple Labor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career profile can be localized across geography, industry, level, role, and employer.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298448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98448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 · Canada · Central America · UK · Australia · Europe · Asia ·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57984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57984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57984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Tech, Fintech, Finance, Manufacturing, Consulting, Healthcare, Marketing, Education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017520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 ·  Graduate  ·  Professional  ·  Manager  ·  Executive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77056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77056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Software Engineer  ·  PM  ·  Data Scientist  ·  Marketing  ·  Finance  · 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36592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736592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36592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Startup  ·  SME  ·  Enterprise  ·  Multinational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DESIGN PRINCIPLE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once. Localize the output. Serve many labor markets from a single platform.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Is the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on-ramps the user. The destination is the global AI career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create a better resume.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jobs should I apply for?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manage my job search.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672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4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0264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Seekers × employers × services × education.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4086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1401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58768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76672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9824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Applications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94576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Interviews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3038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353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SEQUENCE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creation  →  job discovery  →  matching  →  applications  →  interviews  →  career planning</a:t>
            </a:r>
          </a:p>
        </p:txBody>
      </p:sp>
      <p:pic>
        <p:nvPicPr>
          <p:cNvPr id="46" name="Picture 45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Monetization Across the Career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user. Multiple revenue paths. Not a single AI Resume transaction.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Subscription, premium AI features, resume packages, and AI Career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2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 consulting, career consulting, interview coaching, premium services.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CPA / CPS / revenue share with education, training, and recruitment partners.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/ employers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acquisition, employer branding, recruitment campaigns, job promotion.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As traffic scales: relevant brands reaching a targeted career audience.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31936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Sponsorship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fairs, conferences, recruitment events, and AI career events.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Stack AI + services + commission + B2B + ads + sponsorship on a single career profile.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User, Multiple Revenue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Free AI Resume is the top of funnel. Lifetime value is the objective.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Top of funnel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81528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Acquisition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and organic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Persistent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2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2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Repeat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conversion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Human attach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Job fit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Partner take-rate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2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2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2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Audience scale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 demand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THEREFORE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 is not limited to the first AI Resume transaction. Optimize for lifetime value.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 +  Offline  +  Organic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product is a low-friction, globally distributable top of funnel.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Organic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AI-search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Educational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Referral programs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Affiliate partners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Universities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organizations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orgs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Campus ambassadors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product  →  acquisition  →  registration  →  engagement  →  monetization</a:t>
            </a:r>
          </a:p>
        </p:txBody>
      </p:sp>
      <p:pic>
        <p:nvPicPr>
          <p:cNvPr id="35" name="Picture 34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R&amp;D · U.S.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in China. Commercialize in the U.S. Expand globally from product-market fit.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 ·  R&amp;D and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10512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design, engineering, AI, testing, marketing operations, and B2B business development — the cost-efficient build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37104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83408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  ·  International GTM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49168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 acquisition, local partnerships, employer and university relationships, offline events, and brand building — the first growth market.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5760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322064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87824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Once product-market fit is proven: North America  →  U.K.  →  Australia  →  Europe  →  Asia  →  other English-speaking markets.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OPERATING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builds the product. The U.S. proves GTM. Global distribution follows.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Infrastructure, Not a Resume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Each category has a strength. None combine AI, career expertise, services, and marketplace.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platforms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Large user base. Limited personalized career intelligence.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General-purpose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AI capability. Limited career specialization.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human service. Low scalability.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Resume-focused. Limited ecosystem beyond the document.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career expertise + services + marketplace. Infrastructure, not another resume builder.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Why Customers Will Choose 51 Careers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Operating experience, a working product, and a platform that monetizes beyond the resume.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Career-services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We understand the industry from an operating perspective, not a slide deck.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already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 concept company. Demo built, tested, and internally benchmarked.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can be distributed worldwide through digital channels from day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monetization paths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 + services + commission + B2B + ads + sponsorship.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hybrid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for scalable work. Humans for high-value, complex career services.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 potential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long-term opportunity extends beyond resumes into the career ecosystem.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 working AI product on a career-services operating base — built to become infrastructure.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Executive Leadership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Founder-led. Globally distributed. All six in 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Founded 51 Careers in New York in 2016 and built a multi-market career-services and technology business.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 of 51 Careers.AI; Managing Director at listed Helio. Architect of the AI-first strategy and 2025 Alibaba Cloud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Stephanie 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 &amp; CFO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Co-founder since 2016. U.S. CPA; M.S. Accounting, Pace University.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Oversees financial strategy, corporate governance, and sustainable growth for 51 Careers and 51 Careers.AI.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Gavin 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CO-FOUNDER, CTO &amp; COO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Serial entrepreneur (10+ years) across SaaS, AI, and digital business; B.S. Computer Science, ECUST.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Prior CTO roles and multiple co-founded ventures. Leads technology, operations, and 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Robin Zhu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HEAD OF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Leads product strategy, architecture, and development of the AI-powered career platform.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Former CTO &amp; Director of Product at Ci Finance; senior product roles at CPIC, Allinpay, and Noah.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Chris Lin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NORTH AMERICAN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Full-stack engineer; previously at Amazon Web Services (AWS). B.S. Northwestern; M.S. Robotics.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Extensive hiring-panel experience and professional mentorship across North America.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Jon Serbin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SENIOR ADVISOR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Harvard and MIT; former senior executive at Morgan Stanley; founder of Cedar.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40+ years in technology M&amp;A and capital raising. Advises 51 Careers on growth and expansion.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 in Place · Planned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Four founders in place. This round funds China tech, China growth, and U.S. growth.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301752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04825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0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70662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 place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273552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capital, and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Additional seats not yet hired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This round funds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974336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tech, growth, U.S.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4126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Hire against product and GTM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4140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140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05409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Designer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05409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369417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QA /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69417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33425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Front-End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3425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97433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Back-End Engineers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97433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6144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Engineer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6144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17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317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growth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317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17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317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campus, content, partnerships, and China brand operations.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63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463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463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 /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universities, employer events, English brand, and community.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13.1M is planned P+A. Remaining capital funds product, ops, events, and runway.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438912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5331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Marketing &amp;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5331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40%  ·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77393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77393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22.5%  ·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94560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194560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12.5%  ·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615184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615184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035808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5643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45643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7705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87705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hiring, not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83864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0168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1976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Personnel + advertising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CAPITAL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prove unit economics, and keep a cash reserve.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Validation → Growth → Global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Twelve to twenty-four months from launch to multi-market distribution.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Launch AI 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Improve AI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Structured A/B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Initial CAC benchmarks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Conversion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Validate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8344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  ·  6–12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Scale paid 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SEO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U.S. acquisition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partnerships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AI Career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monetization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  ·  12–24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English markets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Localized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partnerships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ecosystem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Marketplace capabilities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6448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662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Registered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662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1.25M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9856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180K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/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869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19933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8696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$0.70M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$2.40M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$8.40M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269443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8696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$0.50M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1928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$1.60M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339547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Commission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68696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$1.20M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409651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8696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$0.20M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1928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$0.80M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$2.80M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479755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68696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81928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$7.00M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4568" y="54985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68696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81928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$28.00M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9872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Profitability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5723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7046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5723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7046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872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$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$1.30M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5723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$21.00M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0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–50%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5723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–15%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7046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$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0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–$1.00M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5723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–$1.20M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7046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19872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Result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5723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7046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Profit</a:t>
            </a:r>
          </a:p>
        </p:txBody>
      </p:sp>
      <p:pic>
        <p:nvPicPr>
          <p:cNvPr id="84" name="Picture 8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OFFERING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+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next generation of career services will not be any one of these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content creation is now cheap, fast, and widely adopted.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is mobile. English-language careers travel across markets.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hard to scale.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Resume is a low-friction, global top of funnel.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AI Resume is the entry point. The ambition is the global AI career platform.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Current Financing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at RMB 180 million pre / RMB 200 million post. 10% equity.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180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200 million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EQUITY OFFERED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Primary preferred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Preferred equity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Indicative; subject to docs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CAPITAL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Product, users, GTM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Monetization + ecosystem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PROCEEDS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expand globally, and develop the career ecosystem.</a:t>
            </a:r>
          </a:p>
        </p:txBody>
      </p:sp>
      <p:pic>
        <p:nvPicPr>
          <p:cNvPr id="32" name="Picture 31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INVESTOR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12–18 Month Targets This Round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RMB 20 million is designed to produce before the next raise.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Public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live for users in China and the U.S.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3864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50–100k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Registered users; funnel instrumented end-to-end.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Blind A/B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Statistically meaningful quality vs. general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 economics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CAC, conversion, ARPU, and payback benchmarks.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acquisition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Paid digital + university/offline channels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83864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First paid cohort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0168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subscriptions and career-services attach live.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1072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and education-partner conversations.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05672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Next-round pack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51976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Traction, model, and data room ready to raise.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+ users + benchmarks  →  revenue  →  next round  →  valuation step-up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 are building the Global AI Career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China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Product, design, engineering, and AI built from the China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U.S. commercialization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first international growth market for acquisition and brand.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Global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A resume product that can serve English-speaking labor markets from day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14416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  ×   CAREER   ×   TALENT   ×  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7772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12648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Questions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“Our mission is to make great jobs accessible to everyone.”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03580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01568"/>
            <a:ext cx="2990088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rocky@helio.space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283464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03580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401568"/>
            <a:ext cx="2990088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19921169641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83464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03580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401568"/>
            <a:ext cx="2990088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www.helio.space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28032"/>
            <a:ext cx="10543032" cy="120700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974336"/>
            <a:ext cx="10140696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 Chen  ·  Founder &amp; Chief Executive Officer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5376672"/>
            <a:ext cx="10140696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info@helio.space   ·   (510) 545-2666   ·   2448 Sixth Street, Berkeley, CA 94710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473952"/>
            <a:ext cx="2057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85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Proprietary and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