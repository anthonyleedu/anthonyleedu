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Marketing &amp; user acquisition</c:v>
                </c:pt>
                <c:pt idx="1">
                  <c:v>Product &amp; AI development</c:v>
                </c:pt>
                <c:pt idx="2">
                  <c:v>U.S. market expansion</c:v>
                </c:pt>
                <c:pt idx="3">
                  <c:v>China market &amp; B2B</c:v>
                </c:pt>
                <c:pt idx="4">
                  <c:v>Brand &amp; events</c:v>
                </c:pt>
                <c:pt idx="5">
                  <c:v>Operations / legal / finance</c:v>
                </c:pt>
                <c:pt idx="6">
                  <c:v>Cash reserve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22.5</c:v>
                </c:pt>
                <c:pt idx="2">
                  <c:v>12.5</c:v>
                </c:pt>
                <c:pt idx="3">
                  <c:v>7.5</c:v>
                </c:pt>
                <c:pt idx="4">
                  <c:v>7.5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51careers_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51460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06040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6FBCE8"/>
                </a:solidFill>
                <a:latin typeface="Garamond"/>
                <a:ea typeface="Garamond"/>
                <a:cs typeface="Garamond"/>
              </a:rPr>
              <a:t>CONFIDENTIAL INVESTOR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2412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6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51 Careers.AI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8138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DCE8F1"/>
                </a:solidFill>
                <a:latin typeface="Garamond"/>
                <a:ea typeface="Garamond"/>
                <a:cs typeface="Garamond"/>
              </a:rPr>
              <a:t>Building the global AI career platform — from resume to opportunity.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FC5DE"/>
                </a:solidFill>
                <a:latin typeface="Garamond"/>
                <a:ea typeface="Garamond"/>
                <a:cs typeface="Garamond"/>
              </a:rPr>
              <a:t>AI RESUME   ×   AI CAREER   ×   GLOBAL TALENT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B9C7D2"/>
                </a:solidFill>
                <a:latin typeface="Garamond"/>
                <a:ea typeface="Garamond"/>
                <a:cs typeface="Garamond"/>
              </a:rPr>
              <a:t>September 2026    |    New York  ·  Shanghai    |    Proprietary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51 Careers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Career services  →  AI Resume  →  AI Career Platform  →  Global Career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6692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51 Careers is building a global AI Career Platform to help job seekers create better resumes, discover opportunities, improve job-search outcomes, and access professional career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56692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The entry point is an AI-powered Resume Platform that turns unstructured career experience into professional, quantified, job-specific resumes. This round raises RMB 20 million (10% of RMB 200 million post-money) to accelerate product, acquisition, and global commercialization.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2697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82896"/>
            <a:ext cx="2697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founded in New York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480560"/>
            <a:ext cx="2697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RMB 20M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882896"/>
            <a:ext cx="2697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growth capital this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2697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97296"/>
            <a:ext cx="2697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equity at RMB 200M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394960"/>
            <a:ext cx="2697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RMB 180M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797296"/>
            <a:ext cx="2697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pre-money 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737360"/>
            <a:ext cx="4599432" cy="44348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901952"/>
            <a:ext cx="4251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Investment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67712"/>
            <a:ext cx="4251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01   AI Resume demo already developed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24912"/>
            <a:ext cx="4251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02   Initial testing completed with promising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182112"/>
            <a:ext cx="4251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03   Stronger professional positioning vs. general-purpose models in internal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39312"/>
            <a:ext cx="4251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04   Product can serve users globally from day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96512"/>
            <a:ext cx="4251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05   Existing career-services business: domain expertise + monetization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553712"/>
            <a:ext cx="4251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06   U.S. market as the first international growth beachhead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010912"/>
            <a:ext cx="4251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07   Multiple revenue streams beyond AI Resume subscriptions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468112"/>
            <a:ext cx="4251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08   RMB 20M to fund product, acquisition, and global go-to-market</a:t>
            </a:r>
          </a:p>
        </p:txBody>
      </p:sp>
      <p:pic>
        <p:nvPicPr>
          <p:cNvPr id="25" name="Picture 24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Job Seeking Is Still Highly Inefficient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For millions of candidates the process remains fragmented, expensive, and low-signal.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3736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Resume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48256"/>
            <a:ext cx="10058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Most candidates struggle to communicate experience in a professional, results-oriented 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24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0604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Quantification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16936"/>
            <a:ext cx="10058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People describe responsibilities rather than measurable achievements.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9300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9300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747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Personalization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85616"/>
            <a:ext cx="10058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One generic resume rarely works across jobs and employers.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6168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6168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4340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Job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54296"/>
            <a:ext cx="10058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Candidates apply without a clear view of actual fit.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3036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3036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1208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22976"/>
            <a:ext cx="10058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Professional advice remains expensive and consultant-dependent.</a:t>
            </a:r>
          </a:p>
        </p:txBody>
      </p:sp>
      <p:pic>
        <p:nvPicPr>
          <p:cNvPr id="25" name="Picture 24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Is Reshaping Career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Generative AI has changed how people create, communicate, and consume professional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84064" cy="41605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65960"/>
            <a:ext cx="4754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Traditional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Human consultant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788920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Manual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19272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Manual resume 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849624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Manual job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379976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High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910328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Limited scalability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783080"/>
            <a:ext cx="5084064" cy="41605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965960"/>
            <a:ext cx="4754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AI-enabled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331720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Career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788920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Automated career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319272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AI resume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849624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Job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379976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Continuous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910328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Global scalability</a:t>
            </a:r>
          </a:p>
        </p:txBody>
      </p:sp>
      <p:pic>
        <p:nvPicPr>
          <p:cNvPr id="21" name="Picture 20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Three Structural Trends Are Converging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41605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755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55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0"/>
            <a:ext cx="298094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Generative AI has reached mass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474720"/>
            <a:ext cx="298094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Consumers are increasingly comfortable using AI for professional and personal tasks. That adoption is the distribution opening for an AI career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1605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0288" y="1755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55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86000"/>
            <a:ext cx="298094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Recruiting is becoming more data-driven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474720"/>
            <a:ext cx="298094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Employers rely on structured information, keywords, measurable achievements, and automated screening. Candidates need a product that writes to that standard.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554480"/>
            <a:ext cx="3383280" cy="41605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755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755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286000"/>
            <a:ext cx="298094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services remain fragmented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3474720"/>
            <a:ext cx="298094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The industry is still dependent on manual services and fragmented providers. That gap is the opening for a scalable AI + human platform.</a:t>
            </a:r>
          </a:p>
        </p:txBody>
      </p:sp>
      <p:pic>
        <p:nvPicPr>
          <p:cNvPr id="19" name="Picture 18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TAM  →  SAM  →  SOM  →  Three-Year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From global job seekers to paid AI career users. Illustrative, for discussion.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83280" cy="26060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20240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29809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US$ 200B+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88336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RMB 1.35T+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017520"/>
            <a:ext cx="2980944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Global recruitment, talent-acquisition, and career-development spend.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26060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20240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12848"/>
            <a:ext cx="29809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US$ 30B+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688336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RMB 200B+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17520"/>
            <a:ext cx="2980944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Digital / AI-enabled hiring tools, resume products, and online career preparation.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783080"/>
            <a:ext cx="3383280" cy="26060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920240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212848"/>
            <a:ext cx="29809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US$ 1.5B+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688336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RMB 10B+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017520"/>
            <a:ext cx="2980944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AI resume and career-assistant demand in China, the U.S., and English-speaking Asia.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33832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2027E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28032"/>
            <a:ext cx="33832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US$ 2.0M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66944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≈ RMB 13.5M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33832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2028E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28032"/>
            <a:ext cx="33832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US$ 8.0M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266944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≈ RMB 53.8M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4572000"/>
            <a:ext cx="33832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2029E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828032"/>
            <a:ext cx="33832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US$ 28.0M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5266944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≈ RMB 188.4M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105430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Logic: global job seekers  →  addressable AI Resume users  →  paid conversion  →  stacked revenue (AI + services + commission + B2B + ads).</a:t>
            </a:r>
          </a:p>
        </p:txBody>
      </p:sp>
      <p:pic>
        <p:nvPicPr>
          <p:cNvPr id="30" name="Picture 29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51 Careers AI Career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Not another AI writing tool — an AI-powered career infrastructure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1051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5852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Understand professional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5059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5852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Build a stronger professional 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906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9067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5852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Generate optimized resumes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30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3075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5852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Match with relevant opportunities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7083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708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5852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Prepare for interviews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1091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1091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5852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Make better career decisions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65099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509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77840"/>
            <a:ext cx="5852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Access professional 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737360"/>
            <a:ext cx="3867912" cy="43891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1938528"/>
            <a:ext cx="3474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Starting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2267712"/>
            <a:ext cx="3474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Resume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3017520"/>
            <a:ext cx="3474720" cy="2834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The resume is the first touchpoint between the user and the 51 Careers ecosystem — the on-ramp to AI Career tools, services, matching, and the marketplace.
One product. One profile. Multiple monetization paths across the career journey.</a:t>
            </a:r>
          </a:p>
        </p:txBody>
      </p:sp>
      <p:pic>
        <p:nvPicPr>
          <p:cNvPr id="30" name="Picture 29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From Career Experience to Quantified Professional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37360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Users provide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3017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33472"/>
            <a:ext cx="3017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Work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163824"/>
            <a:ext cx="3017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694176"/>
            <a:ext cx="3017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224528"/>
            <a:ext cx="3017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754880"/>
            <a:ext cx="3017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Career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285232"/>
            <a:ext cx="30175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Target job descriptions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37360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Our AI generates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9456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Professional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+  Quantified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+  Job-specific</a:t>
            </a:r>
          </a:p>
          <a:p>
            <a:pPr algn="l"/>
            <a:r>
              <a:rPr sz="14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resume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663440"/>
            <a:ext cx="30175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Optimized for ATS, role, employer, and geography — so one career profile can serve many applications.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554480"/>
            <a:ext cx="33832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5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Resume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121408"/>
            <a:ext cx="33832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5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Resume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88336"/>
            <a:ext cx="33832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5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Job-Specific Customization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255264"/>
            <a:ext cx="33832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5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Achievement Quantification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822192"/>
            <a:ext cx="33832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5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ATS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389120"/>
            <a:ext cx="33832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5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Multiple Resume Versions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956048"/>
            <a:ext cx="33832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5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Cover Letter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522976"/>
            <a:ext cx="33832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5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Profile Creation</a:t>
            </a:r>
          </a:p>
        </p:txBody>
      </p:sp>
      <p:pic>
        <p:nvPicPr>
          <p:cNvPr id="25" name="Picture 24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PRODUCT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The Product Has Already Been Built and Tested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16916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19072"/>
            <a:ext cx="298094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Demo developed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21408"/>
            <a:ext cx="29809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 working AI Resume product is available for demonstration.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16916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719072"/>
            <a:ext cx="298094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Initial testing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121408"/>
            <a:ext cx="29809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Early users and internal reviews show promising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54480"/>
            <a:ext cx="3383280" cy="16916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719072"/>
            <a:ext cx="298094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Internal benchmark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121408"/>
            <a:ext cx="29809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Compared against direct outputs from leading general-purpose AI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054303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Initial testing indicates stronger performance 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2011680" cy="1097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23360"/>
            <a:ext cx="179222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Professional positioning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44368" y="3794760"/>
            <a:ext cx="2011680" cy="1097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4023360"/>
            <a:ext cx="179222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Achievement quantification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3794760"/>
            <a:ext cx="2011680" cy="1097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4023360"/>
            <a:ext cx="179222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Job relevance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87184" y="3794760"/>
            <a:ext cx="2011680" cy="1097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4023360"/>
            <a:ext cx="179222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Career-experience extraction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8592" y="3794760"/>
            <a:ext cx="2011680" cy="1097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023360"/>
            <a:ext cx="179222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Resume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1054303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Current results are based on internal testing. The next stage is larger-scale, structured, blind A/B testing to establish statistically meaningful benchmarks versus general-purpose models.</a:t>
            </a:r>
          </a:p>
        </p:txBody>
      </p:sp>
      <p:pic>
        <p:nvPicPr>
          <p:cNvPr id="25" name="Picture 24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We Are Not Simply Building an LLM Wrapper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LLM  +  Career Knowledge  +  Resume Framework  +  Job Intelligence  +  User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267712"/>
            <a:ext cx="22219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Career-experience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03120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2267712"/>
            <a:ext cx="22219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Achievement quantification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103120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2267712"/>
            <a:ext cx="22219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Job-description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103120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2267712"/>
            <a:ext cx="22219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Resume 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71800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136392"/>
            <a:ext cx="22219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Industry terminology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971800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3136392"/>
            <a:ext cx="22219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Role-specific requirements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971800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3136392"/>
            <a:ext cx="22219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Geographic resume conventions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971800"/>
            <a:ext cx="2514600" cy="7498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4544" y="3136392"/>
            <a:ext cx="22219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ATS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105430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Data feedback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70832"/>
            <a:ext cx="1261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45152"/>
            <a:ext cx="1261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User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370832"/>
            <a:ext cx="1261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645152"/>
            <a:ext cx="1261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370832"/>
            <a:ext cx="1261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645152"/>
            <a:ext cx="1261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Resume gen.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370832"/>
            <a:ext cx="1261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645152"/>
            <a:ext cx="1261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370832"/>
            <a:ext cx="1261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45152"/>
            <a:ext cx="1261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370832"/>
            <a:ext cx="1261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645152"/>
            <a:ext cx="1261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Model upgrade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370832"/>
            <a:ext cx="1261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45152"/>
            <a:ext cx="1261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Better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370832"/>
            <a:ext cx="1261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4645152"/>
            <a:ext cx="12618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More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394960"/>
            <a:ext cx="10543032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Each cycle compounds proprietary career intelligence that generic chat models do not accumulate.</a:t>
            </a:r>
          </a:p>
        </p:txBody>
      </p:sp>
      <p:pic>
        <p:nvPicPr>
          <p:cNvPr id="39" name="Picture 38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GLOBAL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Resume Is a Naturally Global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 resume is a universal component of the global employment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2199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United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4368" y="178308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4096" y="222199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Canada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78308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222199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Central America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87184" y="178308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222199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United Kingdom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8592" y="178308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22199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Australia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3756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Singapore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4368" y="333756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377647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Hong Kong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333756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4" y="377647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China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87184" y="333756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377647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Europe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8592" y="3337560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776472"/>
            <a:ext cx="177393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Middle East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10543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The universal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10543032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“How do I present my professional value to employers?”  That shared problem gives AI Resume a fundamentally different scalability profile from traditional, local career-consulting businesses.</a:t>
            </a:r>
          </a:p>
        </p:txBody>
      </p:sp>
      <p:pic>
        <p:nvPicPr>
          <p:cNvPr id="27" name="Picture 26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PRODUCT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One Platform. Multiple Labor Markets.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21945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08760"/>
            <a:ext cx="81381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U.S.  ·  Canada  ·  Central America  ·  U.K.  ·  Australia  ·  Europe  ·  Asia  ·  Middle East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21945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41448"/>
            <a:ext cx="81381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Applicable across industries — including Technology, Fintech, Financial Services, Advanced Manufacturing, Consulting, Healthcare, Marketing, Education, and 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74136"/>
            <a:ext cx="21945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374136"/>
            <a:ext cx="81381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Student / Graduate / Professional / Manager / Executive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06824"/>
            <a:ext cx="21945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Target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306824"/>
            <a:ext cx="81381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Software Engineer / PM / Data Scientist / Marketing / Finance / 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39512"/>
            <a:ext cx="21945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Target employer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39512"/>
            <a:ext cx="81381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Startup / SME / Enterprise / Multinational</a:t>
            </a:r>
          </a:p>
        </p:txBody>
      </p:sp>
      <p:pic>
        <p:nvPicPr>
          <p:cNvPr id="14" name="Picture 13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Resume Is the Entry Point — Not the Destination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514600" cy="29260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" y="17373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6771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2194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337560"/>
            <a:ext cx="21945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“Help me create a better resume.”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514600" cy="29260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9312" y="17373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7373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26771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560320"/>
            <a:ext cx="2194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Career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337560"/>
            <a:ext cx="21945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“What jobs should I apply for?”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2514600" cy="29260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17373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7373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26771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560320"/>
            <a:ext cx="2194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Career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337560"/>
            <a:ext cx="21945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“Help me manage my entire job search.”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554480"/>
            <a:ext cx="2514600" cy="29260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7373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17373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26771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2560320"/>
            <a:ext cx="2194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Global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3337560"/>
            <a:ext cx="21945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Job seekers × employers × services × education × talent 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Resume creation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75488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Job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75488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Job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75488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Application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75488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Cover letters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75488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Interview prep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75488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Career planning</a:t>
            </a:r>
          </a:p>
        </p:txBody>
      </p:sp>
      <p:pic>
        <p:nvPicPr>
          <p:cNvPr id="35" name="Picture 34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Multiple Monetization Layers Across the Career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755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755648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Subscription, premium AI features, resume packages, AI Career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755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55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755648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Resume consulting, career consulting, interview coaching, premium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554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55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55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1755648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Referral &amp; commission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317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CPA / CPS / revenue share with education, training, and recruitment partners.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041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41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41648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B2B / employers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Talent acquisition, employer branding, recruitment campaigns, job promotion.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4041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041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4041648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Advertising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As traffic scales: relevant brands → targeted career audience.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84048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0416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0416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4041648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Sponsorship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6177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Career fairs, conferences, recruitment events, AI career events.</a:t>
            </a:r>
          </a:p>
        </p:txBody>
      </p:sp>
      <p:pic>
        <p:nvPicPr>
          <p:cNvPr id="34" name="Picture 33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THE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One User Can Generate Multiple Revenue 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1907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05740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Free AI Resume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4368" y="155448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2384" y="171907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205740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User acquisition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55448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71907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205740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155448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71907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5740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Career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08592" y="155448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608" y="171907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205740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Premium subscription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4612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41071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74904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324612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2384" y="341071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384" y="374904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Job 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5776" y="324612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341071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374904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Recruitment / referral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87184" y="324612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341071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74904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Advertising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08592" y="3246120"/>
            <a:ext cx="1993392" cy="15544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36608" y="341071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3749040"/>
            <a:ext cx="17373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Employer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074920"/>
            <a:ext cx="1054303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Revenue is not limited to the first AI Resume transaction. The long-term objective is to maximize lifetime value per career user.</a:t>
            </a:r>
          </a:p>
        </p:txBody>
      </p:sp>
      <p:pic>
        <p:nvPicPr>
          <p:cNvPr id="35" name="Picture 34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USER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Digital  +  Offline  +  Organic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3977639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19072"/>
            <a:ext cx="29809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57984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Google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96896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35808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TikTok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74720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913632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352544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Search / 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791456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Content marketing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83280" cy="3977639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19072"/>
            <a:ext cx="29809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Organic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57984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96896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AI-search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035808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Career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474720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Educational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913632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Referral programs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352544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Affiliate partnerships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554480"/>
            <a:ext cx="3383280" cy="3977639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1719072"/>
            <a:ext cx="29809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Offline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157984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Universities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596896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Career fairs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035808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Student organizations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3474720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Professional orgs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913632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Community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4352544"/>
            <a:ext cx="2980944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Employer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1054303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Core growth strategy: Free AI product  →  Low-friction acquisition  →  Registration  →  Engagement  →  Monetization</a:t>
            </a:r>
          </a:p>
        </p:txBody>
      </p:sp>
      <p:pic>
        <p:nvPicPr>
          <p:cNvPr id="30" name="Picture 29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China as R&amp;D Base  ·  U.S. as Commercialization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4303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80136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0136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64792"/>
            <a:ext cx="9509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China  ·  R&amp;D and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6712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Product, design, engineering, AI, testing, marketing operations, B2B business development.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08960"/>
            <a:ext cx="1054303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33101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3101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73552"/>
            <a:ext cx="9509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United States  ·  International GTM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7588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User acquisition, local partnerships, employer and university relationships, offline events, brand building.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17720"/>
            <a:ext cx="10543032" cy="13716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" y="481888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81888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82312"/>
            <a:ext cx="9509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Global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18464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Once product-market fit is established: North America → UK → Australia → Europe → Asia → other markets.</a:t>
            </a:r>
          </a:p>
        </p:txBody>
      </p:sp>
      <p:pic>
        <p:nvPicPr>
          <p:cNvPr id="19" name="Picture 18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Infrastructure — Not Another Resume Builder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166360" cy="157276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1755648"/>
            <a:ext cx="47274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Job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94560"/>
            <a:ext cx="472744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Large user base  ·  Limited personalized career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166360" cy="157276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1755648"/>
            <a:ext cx="47274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General-purpose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6" y="2194560"/>
            <a:ext cx="472744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High AI capability  ·  Limited career specialization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5166360" cy="157276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493008"/>
            <a:ext cx="47274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Traditional career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931920"/>
            <a:ext cx="472744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High human service  ·  Low scalability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291840"/>
            <a:ext cx="5166360" cy="157276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3493008"/>
            <a:ext cx="47274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resume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931920"/>
            <a:ext cx="472744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Resume-focused  ·  Limited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1054303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51 Careers combines AI, career expertise, services, and marketplace. We are not competing only with resume builders — we are building career infrastructure.</a:t>
            </a:r>
          </a:p>
        </p:txBody>
      </p:sp>
      <p:pic>
        <p:nvPicPr>
          <p:cNvPr id="17" name="Picture 16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COMPETITIVE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Why Customers Will Choose 51 Careers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9047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Existing career-services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013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We understand the industry from an operating perspective.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6771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product already in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7860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Not a concept or a slide-deck company. Demo built and tested.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6324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4495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Global 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5584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AI Resume can be distributed worldwide through digital channels.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4048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2219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Multiple monetization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3308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Subscription + services + commission + B2B + ads + sponsorship.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61772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9943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AI + human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91032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AI for scalable work; humans for high-value, complex services.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3949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7667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Platform potential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6875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The long-term opportunity extends beyond resumes into the career ecosystem.</a:t>
            </a:r>
          </a:p>
        </p:txBody>
      </p:sp>
      <p:pic>
        <p:nvPicPr>
          <p:cNvPr id="28" name="Picture 27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Executive Leadership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Founder-led. Globally distributed.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65376"/>
            <a:ext cx="3054096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Rocky 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57984"/>
            <a:ext cx="30540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50592"/>
            <a:ext cx="305409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Founded 51 Careers in New York in 2016 and built it from a boutique consultancy into a multi-market career-services and technology business. Founder of 51 Careers.AI; investor and Managing Director at publicly listed Helio. Architect of the AI-first strategy, including the 2025 Alibaba Cloud AI partnership.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65376"/>
            <a:ext cx="3054096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Stephanie 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57984"/>
            <a:ext cx="30540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CO-FOUNDER &amp; CFO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450592"/>
            <a:ext cx="305409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Co-founder since 2016. U.S. CPA; M.S. Accounting, Pace University. Oversees financial strategy, corporate governance, and sustainable growth for 51 Careers and 51 Careers.AI.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7373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1865376"/>
            <a:ext cx="3054096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Gavin 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157984"/>
            <a:ext cx="30540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CO-FOUNDER, CTO &amp; COO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450592"/>
            <a:ext cx="305409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Serial entrepreneur (10+ years) across SaaS, AI, and digital business; B.S. Computer Science, ECUST. Prior CTO roles and multiple co-founded ventures. Leads technology, operations, and 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233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151376"/>
            <a:ext cx="3054096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Robin Zhu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443984"/>
            <a:ext cx="30540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HEAD OF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736592"/>
            <a:ext cx="305409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Leads product strategy, architecture, and development of the AI-powered career platform. Former CTO &amp; Director of Product at Ci Finance; senior product roles at CPIC, Allinpay, and Noah.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233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4151376"/>
            <a:ext cx="3054096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Chris 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443984"/>
            <a:ext cx="30540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NORTH AMERICAN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736592"/>
            <a:ext cx="305409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Full-stack engineer; previously at Amazon Web Services (AWS). B.S. Northwestern; M.S. Robotics. Extensive hiring-panel experience and professional mentorship.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402336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2" y="4151376"/>
            <a:ext cx="3054096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Jon Serbin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4443984"/>
            <a:ext cx="305409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SENIOR ADVISOR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4736592"/>
            <a:ext cx="305409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Harvard and MIT; former senior executive at Morgan Stanley; founder of Cedar. 40+ years in technology M&amp;A and capital raising. Advises 51 Careers on growth and expansion.</a:t>
            </a:r>
          </a:p>
        </p:txBody>
      </p:sp>
      <p:pic>
        <p:nvPicPr>
          <p:cNvPr id="29" name="Picture 28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Core Founding Team in Place  ·  Planned Hiring Funded by This 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4526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37360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Existing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029968"/>
            <a:ext cx="3017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Founding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200400"/>
            <a:ext cx="30175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In place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840480"/>
            <a:ext cx="30175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Product, capital, and go-to-market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480560"/>
            <a:ext cx="30175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Additional roles are not yet hired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120640"/>
            <a:ext cx="30175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This round funds the planned operating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2377440" cy="4526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737360"/>
            <a:ext cx="2084831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Planned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93392"/>
            <a:ext cx="2084831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China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487168"/>
            <a:ext cx="2084831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999232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Product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999232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438144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Designer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438144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877056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QA /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77056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4315968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Front-End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315968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754880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Back-End Engineers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754880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5193792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AI Engineer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193792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1554480"/>
            <a:ext cx="2377440" cy="4526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0024" y="1737360"/>
            <a:ext cx="2084831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1993392"/>
            <a:ext cx="2084831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China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2487168"/>
            <a:ext cx="2084831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2+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2999232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Marketing /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999232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0024" y="3438144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B2B Business 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438144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1554480"/>
            <a:ext cx="2377440" cy="45262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64624" y="1737360"/>
            <a:ext cx="2084831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4624" y="1993392"/>
            <a:ext cx="2084831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U.S.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24" y="2487168"/>
            <a:ext cx="2084831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2999232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Performance Marketing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2999232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4624" y="3438144"/>
            <a:ext cx="1554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Local / Field Marketing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3438144"/>
            <a:ext cx="566928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pic>
        <p:nvPicPr>
          <p:cNvPr id="44" name="Picture 43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RMB 20 Million Growth Financing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RMB 13.1M is a planned personnel + advertising budget. Remaining capital funds infrastructure, AI, operations, events, expansion and working capital.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91640"/>
          <a:ext cx="466344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12080" y="1691640"/>
            <a:ext cx="4297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Marketing &amp; user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691640"/>
            <a:ext cx="17830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40%   ·   RMB 8.0M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130552"/>
            <a:ext cx="4297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Product &amp; AI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130552"/>
            <a:ext cx="17830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22.5%   ·   RMB 4.5M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69464"/>
            <a:ext cx="4297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U.S. market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569464"/>
            <a:ext cx="17830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12.5%   ·   RMB 2.5M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008376"/>
            <a:ext cx="4297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China market &amp;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008376"/>
            <a:ext cx="17830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7.5%   ·   RMB 1.5M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447288"/>
            <a:ext cx="4297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Brand &amp;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447288"/>
            <a:ext cx="17830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7.5%   ·   RMB 1.5M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86200"/>
            <a:ext cx="4297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Operations / legal /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886200"/>
            <a:ext cx="17830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5%   ·   RMB 1.0M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325112"/>
            <a:ext cx="4297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Cash 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325112"/>
            <a:ext cx="17830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5%   ·   RMB 1.0M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2514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PERSONNEL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RMB 5.1M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Planned hiring — not current payroll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92040"/>
            <a:ext cx="2514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CHINA 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1206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RMB 1.0M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53212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Planned annual spend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892040"/>
            <a:ext cx="2514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U.S. 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1206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RMB 7.0M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53212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Planned annual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892040"/>
            <a:ext cx="2514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P+A 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1206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RMB 13.1M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53212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Planned personnel + advertising</a:t>
            </a:r>
          </a:p>
        </p:txBody>
      </p:sp>
      <p:pic>
        <p:nvPicPr>
          <p:cNvPr id="32" name="Picture 31" descr="51careers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GROWTH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Validation  →  Growth  →  Global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7373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737360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Phase 1  ·  0–6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Product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Launch AI Resume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Improve AI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Structured A/B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Initial CAC benchmarks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Conversion 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Validate pricing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55448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7373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373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737360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Phase 2  ·  6–12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Scale paid 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004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Build SEO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03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Expand U.S. acquisition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B2B 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091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More AI Career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120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Expand monetization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55448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73736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7373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1737360"/>
            <a:ext cx="2542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Phase 3  ·  12–24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240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Global expansion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6974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More English-speaking markets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2004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Localized products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703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Global partnerships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2062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Employer ecosystem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7091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Marketplace capabilities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2120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Central America expansion</a:t>
            </a:r>
          </a:p>
        </p:txBody>
      </p:sp>
      <p:pic>
        <p:nvPicPr>
          <p:cNvPr id="37" name="Picture 36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FINANCIAL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Users, Revenue, and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303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5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Illustrative 2027E–2029E operating plan. Figures in US$.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83280" cy="4297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901952"/>
            <a:ext cx="3090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2027E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2028E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2029E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68880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3.0M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7.0M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035808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Registered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300K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1.0M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2.5M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602736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Monthly active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150K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500K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1.25M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169664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Paid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60K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180K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736592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Paid 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6.0%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7.2%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1783080"/>
            <a:ext cx="3383280" cy="4297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1901952"/>
            <a:ext cx="3090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2027E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2028E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2029E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2468880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AI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$0.70M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$2.40M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$8.40M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3035808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Career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$0.50M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$1.60M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$5.60M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5424" y="3602736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Commission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$0.30M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$1.20M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$4.20M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35424" y="4169664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Advertising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$0.20M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$0.80M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$2.80M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35424" y="4736592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B2B revenue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$0.30M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$2.00M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$7.00M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35424" y="5303520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Total revenue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530352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$2.00M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530352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$8.00M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530352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$28.00M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55280" y="1783080"/>
            <a:ext cx="3383280" cy="4297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01584" y="1901952"/>
            <a:ext cx="3090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Profitability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2027E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3836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2028E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2194560"/>
            <a:ext cx="7772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2029E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1584" y="2468880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Gross margin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65%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3836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70%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2468880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01584" y="3035808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Gross profit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$1.30M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3836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$5.60M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3035808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$21.00M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602736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EBITDA margin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–50%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836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–15%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3602736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01584" y="4169664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EBITDA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–$1.00M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3836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–$1.20M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0" y="4169664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$4.20M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01584" y="4736592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Profitability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2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Loss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3836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Loss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4736592"/>
            <a:ext cx="777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Profitable</a:t>
            </a:r>
          </a:p>
        </p:txBody>
      </p:sp>
      <p:pic>
        <p:nvPicPr>
          <p:cNvPr id="84" name="Picture 83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THE OFFERING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The Next Generation of Career Services Will Be AI + Human +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166360" cy="16642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1755648"/>
            <a:ext cx="4727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212848"/>
            <a:ext cx="4727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Professional content creation is now cheap, fast, and widely adopted.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166360" cy="16642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1755648"/>
            <a:ext cx="4727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Global employment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6" y="2212848"/>
            <a:ext cx="4727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Talent is mobile. English-language careers travel across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83280"/>
            <a:ext cx="5166360" cy="16642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584448"/>
            <a:ext cx="4727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Career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041648"/>
            <a:ext cx="4727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Advice is still manual, expensive, and hard to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166360" cy="1664208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3584448"/>
            <a:ext cx="472744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Digital user 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4041648"/>
            <a:ext cx="4727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 free AI Resume is a low-friction, global top-of-funnel.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543032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The AI Resume is the entry point; the ambition is the global AI career platform.</a:t>
            </a:r>
          </a:p>
        </p:txBody>
      </p:sp>
      <p:pic>
        <p:nvPicPr>
          <p:cNvPr id="17" name="Picture 16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FINANCING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9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Current Financing 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55648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RAISE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084832"/>
            <a:ext cx="29809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RMB 20 million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88920"/>
            <a:ext cx="298094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≈ US$2.97 million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755648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PRE-MONEY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84832"/>
            <a:ext cx="29809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RMB 180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788920"/>
            <a:ext cx="298094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≈ US$26.7 million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554480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755648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POST-MONEY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2"/>
            <a:ext cx="29809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RMB 200 million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788920"/>
            <a:ext cx="298094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≈ US$29.7 million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904488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EQUITY OFFERED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233672"/>
            <a:ext cx="29809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937760"/>
            <a:ext cx="298094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Primary preferred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03320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904488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233672"/>
            <a:ext cx="29809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Preferred equity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937760"/>
            <a:ext cx="298094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Indicative; subject to docs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703320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3904488"/>
            <a:ext cx="29809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USE OF 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4233672"/>
            <a:ext cx="29809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Product, users, global GTM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937760"/>
            <a:ext cx="298094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Monetization + ecosystem</a:t>
            </a:r>
          </a:p>
        </p:txBody>
      </p:sp>
      <p:pic>
        <p:nvPicPr>
          <p:cNvPr id="28" name="Picture 27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7BCB"/>
                </a:solidFill>
                <a:latin typeface="Garamond"/>
                <a:ea typeface="Garamond"/>
                <a:cs typeface="Garamond"/>
              </a:rPr>
              <a:t>INVESTOR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12–18 Month Targets This Round Is Designed to Fund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" y="17190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1907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194560"/>
            <a:ext cx="22219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Public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670048"/>
            <a:ext cx="22219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AI Resume live for users in China and the U.S.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21024" y="17190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71907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194560"/>
            <a:ext cx="22219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50–100k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70048"/>
            <a:ext cx="22219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Registered users; funnel instrumented end-to-end.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5448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7190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71907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194560"/>
            <a:ext cx="22219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Blind A/B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670048"/>
            <a:ext cx="22219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Statistically meaningful quality vs. general-purpose models.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55448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544" y="17190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4544" y="171907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194560"/>
            <a:ext cx="22219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Unit 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670048"/>
            <a:ext cx="22219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CAC, conversion, ARPU, and payback benchmarks.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4904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" y="391363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9136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4389120"/>
            <a:ext cx="22219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U.S.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4864608"/>
            <a:ext cx="22219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Paid digital + university/offline channels operating.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374904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21024" y="391363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21024" y="39136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1024" y="4389120"/>
            <a:ext cx="22219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First paid cohort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1024" y="4864608"/>
            <a:ext cx="22219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AI subscriptions and career-services attach live.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74904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72784" y="391363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39136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4389120"/>
            <a:ext cx="22219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B2B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864608"/>
            <a:ext cx="22219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Employer and education-partner conversations in market.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3749040"/>
            <a:ext cx="2514600" cy="201168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24544" y="391363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4544" y="39136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544" y="4389120"/>
            <a:ext cx="222199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0222F"/>
                </a:solidFill>
                <a:latin typeface="Garamond"/>
                <a:ea typeface="Garamond"/>
                <a:cs typeface="Garamond"/>
              </a:rPr>
              <a:t>Next-round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24544" y="4864608"/>
            <a:ext cx="22219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2A33"/>
                </a:solidFill>
                <a:latin typeface="Garamond"/>
                <a:ea typeface="Garamond"/>
                <a:cs typeface="Garamond"/>
              </a:rPr>
              <a:t>Traction, model, and data room ready for the following raise.</a:t>
            </a:r>
          </a:p>
        </p:txBody>
      </p:sp>
      <p:pic>
        <p:nvPicPr>
          <p:cNvPr id="44" name="Picture 43" descr="51career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51 Careers.AI   |   Proprietary and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5C6B76"/>
                </a:solidFill>
                <a:latin typeface="Garamond"/>
                <a:ea typeface="Garamond"/>
                <a:cs typeface="Garamon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51careers_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51460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331720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6FBCE8"/>
                </a:solidFill>
                <a:latin typeface="Garamond"/>
                <a:ea typeface="Garamond"/>
                <a:cs typeface="Garamond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2412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We are not building another AI resume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2412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6FBCE8"/>
                </a:solidFill>
                <a:latin typeface="Garamond"/>
                <a:ea typeface="Garamond"/>
                <a:cs typeface="Garamond"/>
              </a:rPr>
              <a:t>We are building the Global AI Career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9601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9FC5DE"/>
                </a:solidFill>
                <a:latin typeface="Garamond"/>
                <a:ea typeface="Garamond"/>
                <a:cs typeface="Garamond"/>
              </a:rPr>
              <a:t>AI   ×   CAREER   ×   TALENT   ×  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9C7D2"/>
                </a:solidFill>
                <a:latin typeface="Garamond"/>
                <a:ea typeface="Garamond"/>
                <a:cs typeface="Garamond"/>
              </a:rPr>
              <a:t>China R&amp;D   ·   U.S. commercialization   ·   Global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B9C7D2"/>
                </a:solidFill>
                <a:latin typeface="Garamond"/>
                <a:ea typeface="Garamond"/>
                <a:cs typeface="Garamon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51careers_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51460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331720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6FBCE8"/>
                </a:solidFill>
                <a:latin typeface="Garamond"/>
                <a:ea typeface="Garamond"/>
                <a:cs typeface="Garamon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2412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Questions and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0E2233"/>
          </a:solidFill>
          <a:ln w="9525">
            <a:solidFill>
              <a:srgbClr val="3C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512064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Rocky Chen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6FBCE8"/>
                </a:solidFill>
                <a:latin typeface="Garamond"/>
                <a:ea typeface="Garamond"/>
                <a:cs typeface="Garamond"/>
              </a:rPr>
              <a:t>Founder &amp; Chief Executive Officer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DCE8F1"/>
                </a:solidFill>
                <a:latin typeface="Garamond"/>
                <a:ea typeface="Garamond"/>
                <a:cs typeface="Garamond"/>
              </a:rPr>
              <a:t>rocky@helio.space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DCE8F1"/>
                </a:solidFill>
                <a:latin typeface="Garamond"/>
                <a:ea typeface="Garamond"/>
                <a:cs typeface="Garamond"/>
              </a:rPr>
              <a:t>19921169641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9C7D2"/>
                </a:solidFill>
                <a:latin typeface="Garamond"/>
                <a:ea typeface="Garamond"/>
                <a:cs typeface="Garamond"/>
              </a:rPr>
              <a:t>info@helio.space  ·  (510) 545-2666</a:t>
            </a:r>
          </a:p>
          <a:p>
            <a:pPr algn="l"/>
            <a:r>
              <a:rPr sz="1200" b="0" i="0">
                <a:solidFill>
                  <a:srgbClr val="B9C7D2"/>
                </a:solidFill>
                <a:latin typeface="Garamond"/>
                <a:ea typeface="Garamond"/>
                <a:cs typeface="Garamond"/>
              </a:rPr>
              <a:t>2448 Sixth Street, Berkeley, CA 94710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73952"/>
            <a:ext cx="2057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B9C7D2"/>
                </a:solidFill>
                <a:latin typeface="Garamond"/>
                <a:ea typeface="Garamond"/>
                <a:cs typeface="Garamond"/>
              </a:rPr>
              <a:t>Proprietary and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