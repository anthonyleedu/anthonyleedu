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Use of Funds</c:v>
                </c:pt>
              </c:strCache>
            </c:strRef>
          </c:tx>
          <c:cat>
            <c:strRef>
              <c:f>Sheet1!$A$2:$A$8</c:f>
              <c:strCache>
                <c:ptCount val="7"/>
                <c:pt idx="0">
                  <c:v>Marketing &amp; user acquisition</c:v>
                </c:pt>
                <c:pt idx="1">
                  <c:v>Product &amp; AI development</c:v>
                </c:pt>
                <c:pt idx="2">
                  <c:v>U.S. market expansion</c:v>
                </c:pt>
                <c:pt idx="3">
                  <c:v>China market &amp; B2B</c:v>
                </c:pt>
                <c:pt idx="4">
                  <c:v>Brand &amp; events</c:v>
                </c:pt>
                <c:pt idx="5">
                  <c:v>Operations / legal / finance</c:v>
                </c:pt>
                <c:pt idx="6">
                  <c:v>Cash reserve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40</c:v>
                </c:pt>
                <c:pt idx="1">
                  <c:v>22.5</c:v>
                </c:pt>
                <c:pt idx="2">
                  <c:v>12.5</c:v>
                </c:pt>
                <c:pt idx="3">
                  <c:v>7.5</c:v>
                </c:pt>
                <c:pt idx="4">
                  <c:v>7.5</c:v>
                </c:pt>
                <c:pt idx="5">
                  <c:v>5</c:v>
                </c:pt>
                <c:pt idx="6">
                  <c:v>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08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D7EBE8"/>
                </a:solidFill>
                <a:latin typeface="Segoe UI"/>
              </a:rPr>
              <a:t>CONFIDENTIAL INVESTOR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4200" b="1" i="0">
                <a:solidFill>
                  <a:srgbClr val="FFFFFF"/>
                </a:solidFill>
                <a:latin typeface="Georgia"/>
              </a:rPr>
              <a:t>51 CAREERS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44752"/>
            <a:ext cx="10972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0" i="0">
                <a:solidFill>
                  <a:srgbClr val="D7EBE8"/>
                </a:solidFill>
                <a:latin typeface="Segoe UI"/>
              </a:rPr>
              <a:t>Building the Global AI Career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A6B63"/>
                </a:solidFill>
                <a:latin typeface="Segoe UI"/>
              </a:rPr>
              <a:t>AI Resume  →  AI Career  →  Global Talent Ecosystem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31720"/>
            <a:ext cx="109728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Seeking RMB 20 Million in Growth Capital   ·   ≈ US$2.97 Million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788920"/>
            <a:ext cx="3520440" cy="1965960"/>
          </a:xfrm>
          <a:prstGeom prst="roundRect">
            <a:avLst>
              <a:gd name="adj" fmla="val 6000"/>
            </a:avLst>
          </a:prstGeom>
          <a:solidFill>
            <a:srgbClr val="08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788920"/>
            <a:ext cx="3520440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2999232"/>
            <a:ext cx="3154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PRE-MONEY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3310128"/>
            <a:ext cx="31546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 i="0">
                <a:solidFill>
                  <a:srgbClr val="FFFFFF"/>
                </a:solidFill>
                <a:latin typeface="Georgia"/>
              </a:rPr>
              <a:t>RMB 180M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4023360"/>
            <a:ext cx="31546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D7EBE8"/>
                </a:solidFill>
                <a:latin typeface="Segoe UI"/>
              </a:rPr>
              <a:t>≈ US$26.7 million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2788920"/>
            <a:ext cx="3520440" cy="1965960"/>
          </a:xfrm>
          <a:prstGeom prst="roundRect">
            <a:avLst>
              <a:gd name="adj" fmla="val 6000"/>
            </a:avLst>
          </a:prstGeom>
          <a:solidFill>
            <a:srgbClr val="08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3400" y="2788920"/>
            <a:ext cx="3520440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44568" y="2999232"/>
            <a:ext cx="3154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RAISE  ·  10% EQUITY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44568" y="3310128"/>
            <a:ext cx="31546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 i="0">
                <a:solidFill>
                  <a:srgbClr val="FFFFFF"/>
                </a:solidFill>
                <a:latin typeface="Georgia"/>
              </a:rPr>
              <a:t>RMB 20M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44568" y="4023360"/>
            <a:ext cx="31546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D7EBE8"/>
                </a:solidFill>
                <a:latin typeface="Segoe UI"/>
              </a:rPr>
              <a:t>≈ US$2.97 million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2788920"/>
            <a:ext cx="3520440" cy="1965960"/>
          </a:xfrm>
          <a:prstGeom prst="roundRect">
            <a:avLst>
              <a:gd name="adj" fmla="val 6000"/>
            </a:avLst>
          </a:prstGeom>
          <a:solidFill>
            <a:srgbClr val="08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2788920"/>
            <a:ext cx="3520440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47888" y="2999232"/>
            <a:ext cx="3154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POST-MONEY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47888" y="3310128"/>
            <a:ext cx="315468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 i="0">
                <a:solidFill>
                  <a:srgbClr val="FFFFFF"/>
                </a:solidFill>
                <a:latin typeface="Georgia"/>
              </a:rPr>
              <a:t>RMB 200M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023360"/>
            <a:ext cx="315468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D7EBE8"/>
                </a:solidFill>
                <a:latin typeface="Segoe UI"/>
              </a:rPr>
              <a:t>≈ US$29.7 million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919472"/>
            <a:ext cx="1097280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C5D5E0"/>
                </a:solidFill>
                <a:latin typeface="Segoe UI"/>
              </a:rPr>
              <a:t>The resume is the entry point. The ambition is the global AI career platform — connecting job seekers, employers, career services, education, and the talent ecosystem.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172200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9AB0C0"/>
                </a:solidFill>
                <a:latin typeface="Segoe UI"/>
              </a:rPr>
              <a:t>CHINA R&amp;D   ·   U.S. COMMERCIALIZATION   ·   GLOBAL DISTRIBUTION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01  ·  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Building the AI-Powered Future of Career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41248"/>
            <a:ext cx="11183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</a:rPr>
              <a:t>Career Services  →  AI Resume  →  AI Career Platform  →  Global Career Marketplace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70432"/>
            <a:ext cx="5212080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170432"/>
            <a:ext cx="73152" cy="507492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53312"/>
            <a:ext cx="4709160" cy="4709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B1F33"/>
                </a:solidFill>
                <a:latin typeface="Segoe UI"/>
              </a:rPr>
              <a:t>Who we are</a:t>
            </a:r>
          </a:p>
          <a:p>
            <a:pPr algn="l">
              <a:spcAft>
                <a:spcPts val="1200"/>
              </a:spcAft>
            </a:pPr>
            <a:r>
              <a:rPr sz="1300" b="0" i="0">
                <a:solidFill>
                  <a:srgbClr val="2C3A4B"/>
                </a:solidFill>
                <a:latin typeface="Segoe UI"/>
              </a:rPr>
              <a:t>51 Careers is building a global AI Career Platform to help job seekers create better resumes, discover opportunities, improve job-search outcomes, and access professional career services.</a:t>
            </a:r>
          </a:p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B1F33"/>
                </a:solidFill>
                <a:latin typeface="Segoe UI"/>
              </a:rPr>
              <a:t>Entry point</a:t>
            </a:r>
          </a:p>
          <a:p>
            <a:pPr algn="l">
              <a:spcAft>
                <a:spcPts val="1200"/>
              </a:spcAft>
            </a:pPr>
            <a:r>
              <a:rPr sz="1300" b="0" i="0">
                <a:solidFill>
                  <a:srgbClr val="2C3A4B"/>
                </a:solidFill>
                <a:latin typeface="Segoe UI"/>
              </a:rPr>
              <a:t>An AI-powered Resume Platform that turns unstructured career experience into professional, quantified, job-specific resumes.</a:t>
            </a:r>
          </a:p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B1F33"/>
                </a:solidFill>
                <a:latin typeface="Segoe UI"/>
              </a:rPr>
              <a:t>This round</a:t>
            </a:r>
          </a:p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RMB 20 million (10% of RMB 200 million post-money) to accelerate product development, user acquisition, and global commercialization. Pre-money RMB 180 million.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0" y="1170432"/>
            <a:ext cx="274320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71616" y="1261872"/>
            <a:ext cx="2487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Georgia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71616" y="1536192"/>
            <a:ext cx="2487168" cy="6766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</a:rPr>
              <a:t>AI Resume demo already developed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23960" y="1170432"/>
            <a:ext cx="274320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51976" y="1261872"/>
            <a:ext cx="2487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Georgia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51976" y="1536192"/>
            <a:ext cx="2487168" cy="6766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</a:rPr>
              <a:t>Initial testing completed with promising results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0" y="2432304"/>
            <a:ext cx="274320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71616" y="2523744"/>
            <a:ext cx="2487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Georgia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71616" y="2798064"/>
            <a:ext cx="2487168" cy="6766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</a:rPr>
              <a:t>Stronger professional positioning &amp; quantification vs. general-purpose models in internal tests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23960" y="2432304"/>
            <a:ext cx="274320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51976" y="2523744"/>
            <a:ext cx="2487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Georgia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51976" y="2798064"/>
            <a:ext cx="2487168" cy="6766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</a:rPr>
              <a:t>Product can serve users globally from day one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0" y="3694176"/>
            <a:ext cx="274320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616" y="3785616"/>
            <a:ext cx="2487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Georgia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71616" y="4059936"/>
            <a:ext cx="2487168" cy="6766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</a:rPr>
              <a:t>Existing career-services business: domain expertise + monetization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23960" y="3694176"/>
            <a:ext cx="274320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51976" y="3785616"/>
            <a:ext cx="2487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Georgia"/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51976" y="4059936"/>
            <a:ext cx="2487168" cy="6766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</a:rPr>
              <a:t>U.S. market as the first international growth beachhead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0" y="4956048"/>
            <a:ext cx="274320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71616" y="5047488"/>
            <a:ext cx="2487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Georgia"/>
              </a:rPr>
              <a:t>07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71616" y="5321808"/>
            <a:ext cx="2487168" cy="6766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</a:rPr>
              <a:t>Multiple revenue streams beyond AI Resume subscriptions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23960" y="4956048"/>
            <a:ext cx="274320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51976" y="5047488"/>
            <a:ext cx="2487168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Georgia"/>
              </a:rPr>
              <a:t>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51976" y="5321808"/>
            <a:ext cx="2487168" cy="6766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2C3A4B"/>
                </a:solidFill>
                <a:latin typeface="Segoe UI"/>
              </a:rPr>
              <a:t>RMB 20M to fund product, acquisition, and global go-to-market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02  ·  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Job Seeking Is Still Highly Inefficient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41248"/>
            <a:ext cx="11183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</a:rPr>
              <a:t>For millions of candidates the process remains fragmented, expensive, and low-signal.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15568"/>
            <a:ext cx="2139696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2139696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1353312"/>
            <a:ext cx="1883664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A6B63"/>
                </a:solidFill>
                <a:latin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" y="1874519"/>
            <a:ext cx="1883664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Resume Quality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" y="2697480"/>
            <a:ext cx="1883664" cy="2148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Most candidates struggle to communicate experience in a professional, results-oriented way.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52344" y="1115568"/>
            <a:ext cx="2139696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52344" y="1115568"/>
            <a:ext cx="2139696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80360" y="1353312"/>
            <a:ext cx="1883664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A6B63"/>
                </a:solidFill>
                <a:latin typeface="Georgia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360" y="1874519"/>
            <a:ext cx="1883664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Quantification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2697480"/>
            <a:ext cx="1883664" cy="2148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People describe responsibilities rather than measurable achievements.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01768" y="1115568"/>
            <a:ext cx="2139696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01768" y="1115568"/>
            <a:ext cx="2139696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9784" y="1353312"/>
            <a:ext cx="1883664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A6B63"/>
                </a:solidFill>
                <a:latin typeface="Georgia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9784" y="1874519"/>
            <a:ext cx="1883664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Personalization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9784" y="2697480"/>
            <a:ext cx="1883664" cy="2148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One generic resume rarely works across jobs and employers.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51192" y="1115568"/>
            <a:ext cx="2139696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51192" y="1115568"/>
            <a:ext cx="2139696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79208" y="1353312"/>
            <a:ext cx="1883664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A6B63"/>
                </a:solidFill>
                <a:latin typeface="Georgia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79208" y="1874519"/>
            <a:ext cx="1883664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Job Matching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79208" y="2697480"/>
            <a:ext cx="1883664" cy="2148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Candidates apply without a clear view of actual fit.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0616" y="1115568"/>
            <a:ext cx="2139696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500616" y="1115568"/>
            <a:ext cx="2139696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28632" y="1353312"/>
            <a:ext cx="1883664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A6B63"/>
                </a:solidFill>
                <a:latin typeface="Georgia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28632" y="1874519"/>
            <a:ext cx="1883664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Career Guidance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28632" y="2697480"/>
            <a:ext cx="1883664" cy="2148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Professional advice remains expensive and consultant-dependent.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5212080"/>
            <a:ext cx="11183112" cy="1078992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321808"/>
            <a:ext cx="1069848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THE RESULT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614416"/>
            <a:ext cx="1069848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FFFFFF"/>
                </a:solidFill>
                <a:latin typeface="Segoe UI"/>
              </a:rPr>
              <a:t>Low-quality applications  →  Low interview rates  →  Long job searches  →  High frustration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03  ·  THE OPPORTUNITY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AI Is Reshaping the Career Services Industry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41248"/>
            <a:ext cx="11183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</a:rPr>
              <a:t>Generative AI has changed how people create, communicate, and consume professional information.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15568"/>
            <a:ext cx="5394960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5394960" cy="91440"/>
          </a:xfrm>
          <a:prstGeom prst="rect">
            <a:avLst/>
          </a:prstGeom>
          <a:solidFill>
            <a:srgbClr val="8A6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1371600"/>
            <a:ext cx="4937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8A6D3B"/>
                </a:solidFill>
                <a:latin typeface="Segoe UI"/>
              </a:rPr>
              <a:t>TRADITIONAL MODEL  ·  HUMAN CONSULTANT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1847088"/>
            <a:ext cx="493776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>
                <a:solidFill>
                  <a:srgbClr val="2C3A4B"/>
                </a:solidFill>
                <a:latin typeface="Segoe UI"/>
              </a:rPr>
              <a:t>→   Manual 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432304"/>
            <a:ext cx="493776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>
                <a:solidFill>
                  <a:srgbClr val="2C3A4B"/>
                </a:solidFill>
                <a:latin typeface="Segoe UI"/>
              </a:rPr>
              <a:t>→   Manual resume writing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017520"/>
            <a:ext cx="493776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>
                <a:solidFill>
                  <a:srgbClr val="2C3A4B"/>
                </a:solidFill>
                <a:latin typeface="Segoe UI"/>
              </a:rPr>
              <a:t>→   Manual job 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3602736"/>
            <a:ext cx="493776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>
                <a:solidFill>
                  <a:srgbClr val="2C3A4B"/>
                </a:solidFill>
                <a:latin typeface="Segoe UI"/>
              </a:rPr>
              <a:t>→   High cost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" y="4187952"/>
            <a:ext cx="493776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>
                <a:solidFill>
                  <a:srgbClr val="2C3A4B"/>
                </a:solidFill>
                <a:latin typeface="Segoe UI"/>
              </a:rPr>
              <a:t>→   Limited scalability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115568"/>
            <a:ext cx="5394960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115568"/>
            <a:ext cx="5394960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65392" y="1371600"/>
            <a:ext cx="4937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AI-ENABLED MODEL  ·  CAREER PLATFORM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5392" y="1847088"/>
            <a:ext cx="493776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</a:rPr>
              <a:t>→   Automated career analysis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65392" y="2432304"/>
            <a:ext cx="493776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</a:rPr>
              <a:t>→   AI resume generation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65392" y="3017520"/>
            <a:ext cx="493776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</a:rPr>
              <a:t>→   Job matching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65392" y="3602736"/>
            <a:ext cx="493776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</a:rPr>
              <a:t>→   Continuous optimization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65392" y="4187952"/>
            <a:ext cx="493776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</a:rPr>
              <a:t>→   Global scalability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212080"/>
            <a:ext cx="11183112" cy="1078992"/>
          </a:xfrm>
          <a:prstGeom prst="roundRect">
            <a:avLst>
              <a:gd name="adj" fmla="val 6000"/>
            </a:avLst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340096"/>
            <a:ext cx="1069848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OUR OPPORTUNITY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632704"/>
            <a:ext cx="1069848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FFFFFF"/>
                </a:solidFill>
                <a:latin typeface="Georgia"/>
              </a:rPr>
              <a:t>Transform high-cost, labor-intensive career services into a scalable AI-powered platform.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04  ·  WHY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Three Structural Trends Are Converging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3584448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1353312"/>
            <a:ext cx="3145536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600" b="1" i="0">
                <a:solidFill>
                  <a:srgbClr val="0A6B63"/>
                </a:solidFill>
                <a:latin typeface="Georgi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2029968"/>
            <a:ext cx="3145536" cy="1051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3"/>
                </a:solidFill>
                <a:latin typeface="Segoe UI"/>
              </a:rPr>
              <a:t>Generative AI has reached mass adoption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3154680"/>
            <a:ext cx="3145536" cy="1691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Consumers are increasingly comfortable using AI for professional and personal tasks. That adoption is the distribution opening for an AI career product.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33672" y="1115568"/>
            <a:ext cx="3584448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33672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53128" y="1353312"/>
            <a:ext cx="3145536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600" b="1" i="0">
                <a:solidFill>
                  <a:srgbClr val="0A6B63"/>
                </a:solidFill>
                <a:latin typeface="Georgi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3128" y="2029968"/>
            <a:ext cx="3145536" cy="1051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3"/>
                </a:solidFill>
                <a:latin typeface="Segoe UI"/>
              </a:rPr>
              <a:t>Recruiting is becoming more data-driven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3128" y="3154680"/>
            <a:ext cx="3145536" cy="1691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Employers rely on structured information, keywords, measurable achievements, and automated screening. Candidates need a product that writes to that standard.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64424" y="1115568"/>
            <a:ext cx="3584448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64424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83880" y="1353312"/>
            <a:ext cx="3145536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600" b="1" i="0">
                <a:solidFill>
                  <a:srgbClr val="0A6B63"/>
                </a:solidFill>
                <a:latin typeface="Georgia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2029968"/>
            <a:ext cx="3145536" cy="1051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3"/>
                </a:solidFill>
                <a:latin typeface="Segoe UI"/>
              </a:rPr>
              <a:t>Career services remain fragmented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80" y="3154680"/>
            <a:ext cx="3145536" cy="1691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The industry is still dependent on manual services and fragmented providers. That gap is the opening for a scalable AI + human platform.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212080"/>
            <a:ext cx="11183112" cy="1078992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5340096"/>
            <a:ext cx="1069848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51 CAREERS SITS AT THE INTERSECTION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632704"/>
            <a:ext cx="1069848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FFFFFF"/>
                </a:solidFill>
                <a:latin typeface="Georgia"/>
              </a:rPr>
              <a:t>AI   ×   Employment   ×   Career Services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MARKET SIZE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TAM  →  SAM  →  SOM  →  Three-Year Revenue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41248"/>
            <a:ext cx="11183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</a:rPr>
              <a:t>From global job seekers to paid AI career users. Illustrative, for discussion.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15568"/>
            <a:ext cx="3584448" cy="2999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316736"/>
            <a:ext cx="3182112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</a:rPr>
              <a:t>TAM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1609344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>
                <a:solidFill>
                  <a:srgbClr val="0B1F33"/>
                </a:solidFill>
                <a:latin typeface="Georgia"/>
              </a:rPr>
              <a:t>US$200B+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176272"/>
            <a:ext cx="3182112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14283C"/>
                </a:solidFill>
                <a:latin typeface="Segoe UI"/>
              </a:rPr>
              <a:t>RMB 1.35 trillion+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523744"/>
            <a:ext cx="3182112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Global recruitment, talent-acquisition, and career-development spend.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33672" y="1115568"/>
            <a:ext cx="3584448" cy="2999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33672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1316736"/>
            <a:ext cx="3182112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</a:rPr>
              <a:t>SAM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1609344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>
                <a:solidFill>
                  <a:srgbClr val="0B1F33"/>
                </a:solidFill>
                <a:latin typeface="Georgia"/>
              </a:rPr>
              <a:t>US$30B+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176272"/>
            <a:ext cx="3182112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14283C"/>
                </a:solidFill>
                <a:latin typeface="Segoe UI"/>
              </a:rPr>
              <a:t>RMB 200 billion+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2523744"/>
            <a:ext cx="3182112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Digital / AI-enabled hiring tools, resume products, and online career preparation.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64424" y="1115568"/>
            <a:ext cx="3584448" cy="2999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64424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65592" y="1316736"/>
            <a:ext cx="3182112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</a:rPr>
              <a:t>SOM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65592" y="1609344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000" b="1" i="0">
                <a:solidFill>
                  <a:srgbClr val="0B1F33"/>
                </a:solidFill>
                <a:latin typeface="Georgia"/>
              </a:rPr>
              <a:t>US$1.5B+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65592" y="2176272"/>
            <a:ext cx="3182112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14283C"/>
                </a:solidFill>
                <a:latin typeface="Segoe UI"/>
              </a:rPr>
              <a:t>RMB 10 billion+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65592" y="2523744"/>
            <a:ext cx="3182112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AI resume &amp; career-assistant demand in initial markets: China, U.S., and English-speaking Asia.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224528"/>
            <a:ext cx="11183112" cy="206654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4224528"/>
            <a:ext cx="73152" cy="2066543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370832"/>
            <a:ext cx="106070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51 CAREERS  ·  ILLUSTRATIVE 3-YEAR REVENUE OPPORTUNITY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4736592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</a:rPr>
              <a:t>2027E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4956048"/>
            <a:ext cx="32918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US$  2.0M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5440680"/>
            <a:ext cx="32918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</a:rPr>
              <a:t>≈  RMB  13.5M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4736592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</a:rPr>
              <a:t>2028E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4956048"/>
            <a:ext cx="32918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US$  8.0M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5440680"/>
            <a:ext cx="32918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</a:rPr>
              <a:t>≈  RMB  53.8M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0" y="4736592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</a:rPr>
              <a:t>2029E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4956048"/>
            <a:ext cx="329184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US$  28.0M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0" y="5440680"/>
            <a:ext cx="32918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</a:rPr>
              <a:t>≈  RMB  188M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806440"/>
            <a:ext cx="1060704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 i="0">
                <a:solidFill>
                  <a:srgbClr val="5E6E80"/>
                </a:solidFill>
                <a:latin typeface="Segoe UI"/>
              </a:rPr>
              <a:t>Logic: global job seekers → addressable AI Resume users → paid conversion → stacked revenue (AI + services + commission + B2B + ads).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05  ·  OUR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51 Careers AI Career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41248"/>
            <a:ext cx="11183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</a:rPr>
              <a:t>Not another AI writing tool — an AI-powered career infrastructure layer.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15568"/>
            <a:ext cx="694944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73152" cy="5486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225296"/>
            <a:ext cx="4572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A6B63"/>
                </a:solidFill>
                <a:latin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1225296"/>
            <a:ext cx="585216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Understand professional experience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694944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737360"/>
            <a:ext cx="73152" cy="5486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847088"/>
            <a:ext cx="4572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A6B63"/>
                </a:solidFill>
                <a:latin typeface="Georgia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1847088"/>
            <a:ext cx="585216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Build a stronger professional profile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359152"/>
            <a:ext cx="694944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359152"/>
            <a:ext cx="73152" cy="5486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468880"/>
            <a:ext cx="4572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A6B63"/>
                </a:solidFill>
                <a:latin typeface="Georgia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2468880"/>
            <a:ext cx="585216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Generate optimized resumes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980944"/>
            <a:ext cx="694944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2980944"/>
            <a:ext cx="73152" cy="5486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090672"/>
            <a:ext cx="4572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A6B63"/>
                </a:solidFill>
                <a:latin typeface="Georgia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3090672"/>
            <a:ext cx="585216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Match with relevant opportunities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602736"/>
            <a:ext cx="694944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3602736"/>
            <a:ext cx="73152" cy="5486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3712464"/>
            <a:ext cx="4572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A6B63"/>
                </a:solidFill>
                <a:latin typeface="Georgia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3712464"/>
            <a:ext cx="585216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Prepare for interviews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224528"/>
            <a:ext cx="694944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4224528"/>
            <a:ext cx="73152" cy="5486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4334256"/>
            <a:ext cx="4572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A6B63"/>
                </a:solidFill>
                <a:latin typeface="Georgia"/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25880" y="4334256"/>
            <a:ext cx="585216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Make better career decisions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4846320"/>
            <a:ext cx="6949440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4846320"/>
            <a:ext cx="73152" cy="5486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4956048"/>
            <a:ext cx="4572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A6B63"/>
                </a:solidFill>
                <a:latin typeface="Georgia"/>
              </a:rPr>
              <a:t>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25880" y="4956048"/>
            <a:ext cx="585216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Access professional services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680960" y="1115568"/>
            <a:ext cx="4005072" cy="5102352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09560" y="1371600"/>
            <a:ext cx="36118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STARTING POINT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09560" y="1737360"/>
            <a:ext cx="36118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 i="0">
                <a:solidFill>
                  <a:srgbClr val="FFFFFF"/>
                </a:solidFill>
                <a:latin typeface="Georgia"/>
              </a:rPr>
              <a:t>AI Resume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09560" y="2651760"/>
            <a:ext cx="3611880" cy="3200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D7EBE8"/>
                </a:solidFill>
                <a:latin typeface="Segoe UI"/>
              </a:rPr>
              <a:t>The resume is the first touchpoint between the user and the 51 Careers ecosystem — the on-ramp to AI Career tools, services, matching, and the marketplace.
One product. One profile. Multiple monetization paths across the career journey.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06  ·  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From Career Experience to Quantified Professional Value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078992"/>
            <a:ext cx="3703320" cy="5138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078992"/>
            <a:ext cx="3703320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43584"/>
            <a:ext cx="32461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USERS PROVIDE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27632"/>
            <a:ext cx="32461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0B1F33"/>
                </a:solidFill>
                <a:latin typeface="Segoe UI"/>
              </a:rPr>
              <a:t>▸  Education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231136"/>
            <a:ext cx="32461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0B1F33"/>
                </a:solidFill>
                <a:latin typeface="Segoe UI"/>
              </a:rPr>
              <a:t>▸  Work experience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34640"/>
            <a:ext cx="32461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0B1F33"/>
                </a:solidFill>
                <a:latin typeface="Segoe UI"/>
              </a:rPr>
              <a:t>▸  Projects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438144"/>
            <a:ext cx="32461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0B1F33"/>
                </a:solidFill>
                <a:latin typeface="Segoe UI"/>
              </a:rPr>
              <a:t>▸  Skills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041648"/>
            <a:ext cx="32461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0B1F33"/>
                </a:solidFill>
                <a:latin typeface="Segoe UI"/>
              </a:rPr>
              <a:t>▸  Achievements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645152"/>
            <a:ext cx="32461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0B1F33"/>
                </a:solidFill>
                <a:latin typeface="Segoe UI"/>
              </a:rPr>
              <a:t>▸  Career goals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248656"/>
            <a:ext cx="324612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0B1F33"/>
                </a:solidFill>
                <a:latin typeface="Segoe UI"/>
              </a:rPr>
              <a:t>▸  Target job descriptions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1078992"/>
            <a:ext cx="3246120" cy="5138928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1371600"/>
            <a:ext cx="28346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OUR AI GENERATES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1828800"/>
            <a:ext cx="2834640" cy="2834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1000"/>
              </a:spcAft>
            </a:pPr>
            <a:r>
              <a:rPr sz="2400" b="1" i="0">
                <a:solidFill>
                  <a:srgbClr val="FFFFFF"/>
                </a:solidFill>
                <a:latin typeface="Georgia"/>
              </a:rPr>
              <a:t>Professional</a:t>
            </a:r>
          </a:p>
          <a:p>
            <a:pPr algn="l">
              <a:spcAft>
                <a:spcPts val="1000"/>
              </a:spcAft>
            </a:pPr>
            <a:r>
              <a:rPr sz="2400" b="1" i="0">
                <a:solidFill>
                  <a:srgbClr val="FFFFFF"/>
                </a:solidFill>
                <a:latin typeface="Georgia"/>
              </a:rPr>
              <a:t>+  Quantified</a:t>
            </a:r>
          </a:p>
          <a:p>
            <a:pPr algn="l">
              <a:spcAft>
                <a:spcPts val="1000"/>
              </a:spcAft>
            </a:pPr>
            <a:r>
              <a:rPr sz="2400" b="1" i="0">
                <a:solidFill>
                  <a:srgbClr val="FFFFFF"/>
                </a:solidFill>
                <a:latin typeface="Georgia"/>
              </a:rPr>
              <a:t>+  Job-specific</a:t>
            </a:r>
          </a:p>
          <a:p>
            <a:pPr algn="l"/>
            <a:r>
              <a:rPr sz="1600" b="0" i="0">
                <a:solidFill>
                  <a:srgbClr val="D7EBE8"/>
                </a:solidFill>
                <a:latin typeface="Segoe UI"/>
              </a:rPr>
              <a:t>resume content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4754880"/>
            <a:ext cx="2834640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D7EBE8"/>
                </a:solidFill>
                <a:latin typeface="Segoe UI"/>
              </a:rPr>
              <a:t>Optimized for ATS, role, employer, and geography — so one career profile can serve many applications.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18120" y="1078992"/>
            <a:ext cx="192024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27848" y="1335024"/>
            <a:ext cx="1700784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AI Resume Generation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848088" y="1078992"/>
            <a:ext cx="192024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57816" y="1335024"/>
            <a:ext cx="1700784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Resume Optimization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18120" y="2359152"/>
            <a:ext cx="192024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27848" y="2615184"/>
            <a:ext cx="1700784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Job-Specific Customization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848088" y="2359152"/>
            <a:ext cx="192024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57816" y="2615184"/>
            <a:ext cx="1700784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Achievement Quantification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18120" y="3639312"/>
            <a:ext cx="192024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27848" y="3895344"/>
            <a:ext cx="1700784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ATS Optimization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848088" y="3639312"/>
            <a:ext cx="192024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957816" y="3895344"/>
            <a:ext cx="1700784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Multiple Resume Versions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818120" y="4919472"/>
            <a:ext cx="192024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27848" y="5175504"/>
            <a:ext cx="1700784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Cover Letter Generation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848088" y="4919472"/>
            <a:ext cx="1920240" cy="11521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957816" y="5175504"/>
            <a:ext cx="1700784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Career Profile Creation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07  ·  PRODUCT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The Product Has Already Been Built and Tested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3584448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" y="1298448"/>
            <a:ext cx="318211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Segoe UI"/>
              </a:rPr>
              <a:t>✓   Demo developed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1737360"/>
            <a:ext cx="3182112" cy="1051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A working AI Resume product is available for demonstration.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33672" y="1115568"/>
            <a:ext cx="3584448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34840" y="1298448"/>
            <a:ext cx="318211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Segoe UI"/>
              </a:rPr>
              <a:t>✓   Initial testing completed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1737360"/>
            <a:ext cx="3182112" cy="1051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Early users and internal reviews show promising quality.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64424" y="1115568"/>
            <a:ext cx="3584448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65592" y="1298448"/>
            <a:ext cx="318211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Segoe UI"/>
              </a:rPr>
              <a:t>✓   Internal benchmark testing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65592" y="1737360"/>
            <a:ext cx="3182112" cy="10515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Compared against direct outputs from leading general-purpose AI models.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108960"/>
            <a:ext cx="11183112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INITIAL TESTING INDICATES STRONGER PERFORMANCE IN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438144"/>
            <a:ext cx="2139696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" y="3749039"/>
            <a:ext cx="192024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Professional positioning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52344" y="3438144"/>
            <a:ext cx="2139696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62072" y="3749039"/>
            <a:ext cx="192024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Achievement quantification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01768" y="3438144"/>
            <a:ext cx="2139696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11496" y="3749039"/>
            <a:ext cx="192024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Job relevance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51192" y="3438144"/>
            <a:ext cx="2139696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60920" y="3749039"/>
            <a:ext cx="192024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Career-experience extraction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500616" y="3438144"/>
            <a:ext cx="2139696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10344" y="3749039"/>
            <a:ext cx="192024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0B1F33"/>
                </a:solidFill>
                <a:latin typeface="Segoe UI"/>
              </a:rPr>
              <a:t>Resume structure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919472"/>
            <a:ext cx="11183112" cy="1371600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5010912"/>
            <a:ext cx="106984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IMPORTANT NOTE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321808"/>
            <a:ext cx="10698480" cy="7132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Current results are based on internal testing. The next stage is larger-scale, structured, blind A/B testing to establish statistically meaningful benchmarks versus general-purpose models.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08  ·  TECHNOLOGY ADVANTAGE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We Are Not Simply Building an LLM Wrapper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078992"/>
            <a:ext cx="11183112" cy="960120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98448"/>
            <a:ext cx="1069848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FFFFFF"/>
                </a:solidFill>
                <a:latin typeface="Georgia"/>
              </a:rPr>
              <a:t>LLM  +  Career Knowledge  +  Resume Framework  +  Job Intelligence  +  User 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76272"/>
            <a:ext cx="2697480" cy="7680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2377440"/>
            <a:ext cx="2441448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</a:rPr>
              <a:t>Career-experience extraction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19272" y="2176272"/>
            <a:ext cx="2697480" cy="7680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47288" y="2377440"/>
            <a:ext cx="2441448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</a:rPr>
              <a:t>Achievement quantification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35624" y="2176272"/>
            <a:ext cx="2697480" cy="7680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377440"/>
            <a:ext cx="2441448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</a:rPr>
              <a:t>Job-description analysis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51976" y="2176272"/>
            <a:ext cx="2697480" cy="7680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79992" y="2377440"/>
            <a:ext cx="2441448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</a:rPr>
              <a:t>Resume optimization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044952"/>
            <a:ext cx="2697480" cy="7680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" y="3246120"/>
            <a:ext cx="2441448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</a:rPr>
              <a:t>Industry terminology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19272" y="3044952"/>
            <a:ext cx="2697480" cy="7680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47288" y="3246120"/>
            <a:ext cx="2441448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</a:rPr>
              <a:t>Role-specific requirements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35624" y="3044952"/>
            <a:ext cx="2697480" cy="7680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3640" y="3246120"/>
            <a:ext cx="2441448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</a:rPr>
              <a:t>Geographic resume conventions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51976" y="3044952"/>
            <a:ext cx="2697480" cy="7680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79992" y="3246120"/>
            <a:ext cx="2441448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</a:rPr>
              <a:t>ATS optimization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005072"/>
            <a:ext cx="11183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DATA FEEDBACK LOOP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297680"/>
            <a:ext cx="1298448" cy="12618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7784" y="4443984"/>
            <a:ext cx="11887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7784" y="4773168"/>
            <a:ext cx="11887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User input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901952" y="4297680"/>
            <a:ext cx="1298448" cy="12618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956816" y="4443984"/>
            <a:ext cx="11887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56816" y="4773168"/>
            <a:ext cx="11887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AI analysis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300984" y="4297680"/>
            <a:ext cx="1298448" cy="12618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55848" y="4443984"/>
            <a:ext cx="11887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55848" y="4773168"/>
            <a:ext cx="11887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Resume gen.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00016" y="4297680"/>
            <a:ext cx="1298448" cy="12618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54880" y="4443984"/>
            <a:ext cx="11887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54880" y="4773168"/>
            <a:ext cx="11887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Application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099048" y="4297680"/>
            <a:ext cx="1298448" cy="12618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53912" y="4443984"/>
            <a:ext cx="11887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53912" y="4773168"/>
            <a:ext cx="11887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Feedback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498080" y="4297680"/>
            <a:ext cx="1298448" cy="12618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52944" y="4443984"/>
            <a:ext cx="11887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06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52944" y="4773168"/>
            <a:ext cx="11887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Model upgrade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897112" y="4297680"/>
            <a:ext cx="1298448" cy="12618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951976" y="4443984"/>
            <a:ext cx="11887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07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51976" y="4773168"/>
            <a:ext cx="11887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Better outcomes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296144" y="4297680"/>
            <a:ext cx="1298448" cy="12618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351008" y="4443984"/>
            <a:ext cx="11887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08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351008" y="4773168"/>
            <a:ext cx="118872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More users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" y="5669280"/>
            <a:ext cx="1118311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5E6E80"/>
                </a:solidFill>
                <a:latin typeface="Segoe UI"/>
              </a:rPr>
              <a:t>Each cycle compounds proprietary career intelligence that generic chat models do not accumulate.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09  ·  GLOBAL MARKET OPPORTUNITY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AI Resume Is a Naturally Global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41248"/>
            <a:ext cx="11183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</a:rPr>
              <a:t>A resume is a universal component of the global employment market.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15568"/>
            <a:ext cx="2139696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0936" y="1709928"/>
            <a:ext cx="188366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United States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52344" y="1115568"/>
            <a:ext cx="2139696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80360" y="1709928"/>
            <a:ext cx="188366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Canada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01768" y="1115568"/>
            <a:ext cx="2139696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9784" y="1709928"/>
            <a:ext cx="188366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Central America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51192" y="1115568"/>
            <a:ext cx="2139696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79208" y="1709928"/>
            <a:ext cx="188366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United Kingdom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00616" y="1115568"/>
            <a:ext cx="2139696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28632" y="1709928"/>
            <a:ext cx="188366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Australia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081528"/>
            <a:ext cx="2139696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3675888"/>
            <a:ext cx="188366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Singapore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52344" y="3081528"/>
            <a:ext cx="2139696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80360" y="3675888"/>
            <a:ext cx="188366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Hong Kong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01768" y="3081528"/>
            <a:ext cx="2139696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9784" y="3675888"/>
            <a:ext cx="188366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China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51192" y="3081528"/>
            <a:ext cx="2139696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79208" y="3675888"/>
            <a:ext cx="188366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Europe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500616" y="3081528"/>
            <a:ext cx="2139696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28632" y="3675888"/>
            <a:ext cx="1883664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Middle East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102352"/>
            <a:ext cx="11183112" cy="1188720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212080"/>
            <a:ext cx="106070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THE UNIVERSAL QUESTION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5468112"/>
            <a:ext cx="1060704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FFFFFF"/>
                </a:solidFill>
                <a:latin typeface="Georgia"/>
              </a:rPr>
              <a:t>“How do I present my professional value to employers?”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833872"/>
            <a:ext cx="1060704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D7EBE8"/>
                </a:solidFill>
                <a:latin typeface="Segoe UI"/>
              </a:rPr>
              <a:t>That shared problem gives AI Resume a fundamentally different scalability profile from traditional, local career-consulting businesses.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10  ·  GLOBAL PRODUCT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One Platform. Multiple Labor Markets.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097280"/>
            <a:ext cx="11183112" cy="9692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097280"/>
            <a:ext cx="73152" cy="969264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243584"/>
            <a:ext cx="2926080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</a:rPr>
              <a:t>Geography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43584"/>
            <a:ext cx="7498079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U.S.  ·  Canada  ·  Central America  ·  U.K.  ·  Australia  ·  Europe  ·  Asia  ·  Middle East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39695"/>
            <a:ext cx="11183112" cy="9692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139695"/>
            <a:ext cx="73152" cy="969264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285999"/>
            <a:ext cx="2926080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</a:rPr>
              <a:t>Industry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2285999"/>
            <a:ext cx="7498079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Applicable across industries — including Technology, Fintech, Financial Services, Advanced Manufacturing, Consulting, Healthcare, Marketing, Education, and more.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182110"/>
            <a:ext cx="11183112" cy="9692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3182110"/>
            <a:ext cx="73152" cy="969264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328414"/>
            <a:ext cx="2926080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</a:rPr>
              <a:t>Career level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3328414"/>
            <a:ext cx="7498079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Student / Graduate / Professional / Manager / Executive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224525"/>
            <a:ext cx="11183112" cy="9692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4224525"/>
            <a:ext cx="73152" cy="969264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370829"/>
            <a:ext cx="2926080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</a:rPr>
              <a:t>Target role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4370829"/>
            <a:ext cx="7498079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Software Engineer / PM / Data Scientist / Marketing / Finance / more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266940"/>
            <a:ext cx="11183112" cy="9692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5266940"/>
            <a:ext cx="73152" cy="969264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413244"/>
            <a:ext cx="2926080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</a:rPr>
              <a:t>Target employer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5413244"/>
            <a:ext cx="7498079" cy="67665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Startup / SME / Enterprise / Multinational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11  ·  FROM AI RESUME TO AI CAREER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Resume Is the Entry Point — Not the Destination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2697480" cy="3383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2697480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" y="1353312"/>
            <a:ext cx="240487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PHASE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1719072"/>
            <a:ext cx="2404872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</a:rPr>
              <a:t>AI Resume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2697480"/>
            <a:ext cx="2404872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“Help me create a better resume.”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19272" y="1115568"/>
            <a:ext cx="2697480" cy="3383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19272" y="1115568"/>
            <a:ext cx="2697480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65576" y="1353312"/>
            <a:ext cx="240487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PHASE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65576" y="1719072"/>
            <a:ext cx="2404872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</a:rPr>
              <a:t>AI Career Assistant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65576" y="2697480"/>
            <a:ext cx="2404872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“What jobs should I apply for?”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35624" y="1115568"/>
            <a:ext cx="2697480" cy="3383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35624" y="1115568"/>
            <a:ext cx="2697480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81928" y="1353312"/>
            <a:ext cx="240487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PHASE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81928" y="1719072"/>
            <a:ext cx="2404872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</a:rPr>
              <a:t>AI Career Agent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81928" y="2697480"/>
            <a:ext cx="2404872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“Help me manage my entire job search.”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51976" y="1115568"/>
            <a:ext cx="2697480" cy="3383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51976" y="1115568"/>
            <a:ext cx="2697480" cy="91440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98280" y="1353312"/>
            <a:ext cx="240487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PHASE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98280" y="1719072"/>
            <a:ext cx="2404872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</a:rPr>
              <a:t>Global Platform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98280" y="2697480"/>
            <a:ext cx="2404872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Job seekers × employers × services × education × talent ecosystem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645152"/>
            <a:ext cx="1508760" cy="1627632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6072" y="5010912"/>
            <a:ext cx="1362456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</a:rPr>
              <a:t>Resume creation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103120" y="4645152"/>
            <a:ext cx="1508760" cy="1627632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176272" y="5010912"/>
            <a:ext cx="1362456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</a:rPr>
              <a:t>Job discovery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703320" y="4645152"/>
            <a:ext cx="1508760" cy="1627632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76472" y="5010912"/>
            <a:ext cx="1362456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</a:rPr>
              <a:t>Job matching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03520" y="4645152"/>
            <a:ext cx="1508760" cy="1627632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76672" y="5010912"/>
            <a:ext cx="1362456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</a:rPr>
              <a:t>Application optimization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903720" y="4645152"/>
            <a:ext cx="1508760" cy="1627632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76872" y="5010912"/>
            <a:ext cx="1362456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</a:rPr>
              <a:t>Cover letters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503920" y="4645152"/>
            <a:ext cx="1508760" cy="1627632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77072" y="5010912"/>
            <a:ext cx="1362456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</a:rPr>
              <a:t>Interview prep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104120" y="4645152"/>
            <a:ext cx="1508760" cy="1627632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77272" y="5010912"/>
            <a:ext cx="1362456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B1F33"/>
                </a:solidFill>
                <a:latin typeface="Segoe UI"/>
              </a:rPr>
              <a:t>Career planning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12  ·  BUSINESS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Multiple Monetization Layers Across the Career Journey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3584448" cy="2450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408176"/>
            <a:ext cx="3182112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01  AI PRODUCT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2167128"/>
            <a:ext cx="3182112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Subscription, premium AI features, resume packages, AI Career tools.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33672" y="1115568"/>
            <a:ext cx="3584448" cy="2450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33672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34840" y="1408176"/>
            <a:ext cx="3182112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02  CAREER SERVICES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2167128"/>
            <a:ext cx="3182112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Resume consulting, career consulting, interview coaching, premium services.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64424" y="1115568"/>
            <a:ext cx="3584448" cy="2450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64424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65592" y="1408176"/>
            <a:ext cx="3182112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03  REFERRAL &amp; COMMISSION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65592" y="2167128"/>
            <a:ext cx="3182112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CPA / CPS / revenue share with education, training, and recruitment partners.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675888"/>
            <a:ext cx="3584448" cy="2450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67588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" y="3968496"/>
            <a:ext cx="3182112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04  B2B / EMPLOYERS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4727448"/>
            <a:ext cx="3182112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Talent acquisition, employer branding, recruitment campaigns, job promotion.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33672" y="3675888"/>
            <a:ext cx="3584448" cy="2450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33672" y="367588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34840" y="3968496"/>
            <a:ext cx="3182112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05  ADVERTISING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4727448"/>
            <a:ext cx="3182112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As traffic scales: relevant brands → targeted career audience.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64424" y="3675888"/>
            <a:ext cx="3584448" cy="2450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64424" y="367588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65592" y="3968496"/>
            <a:ext cx="3182112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06  SPONSORSHIP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65592" y="4727448"/>
            <a:ext cx="3182112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Career fairs, conferences, recruitment events, AI career events.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13  ·  THE CAREER MONETIZATION FLYWHEEL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One User Can Generate Multiple Revenue Opportunities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2139696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936" y="1316736"/>
            <a:ext cx="188366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" y="1709928"/>
            <a:ext cx="1883664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Free AI Resume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52344" y="1115568"/>
            <a:ext cx="2139696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80360" y="1316736"/>
            <a:ext cx="188366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1709928"/>
            <a:ext cx="1883664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User acquisition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01768" y="1115568"/>
            <a:ext cx="2139696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9784" y="1316736"/>
            <a:ext cx="188366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9784" y="1709928"/>
            <a:ext cx="1883664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Career profile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51192" y="1115568"/>
            <a:ext cx="2139696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79208" y="1316736"/>
            <a:ext cx="188366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79208" y="1709928"/>
            <a:ext cx="1883664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AI Career tools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00616" y="1115568"/>
            <a:ext cx="2139696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28632" y="1316736"/>
            <a:ext cx="188366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28632" y="1709928"/>
            <a:ext cx="1883664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Premium subscription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2898648"/>
            <a:ext cx="2139696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3099816"/>
            <a:ext cx="188366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</a:rP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493008"/>
            <a:ext cx="1883664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Career services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52344" y="2898648"/>
            <a:ext cx="2139696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80360" y="3099816"/>
            <a:ext cx="188366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</a:rPr>
              <a:t>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0360" y="3493008"/>
            <a:ext cx="1883664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Job matching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01768" y="2898648"/>
            <a:ext cx="2139696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9784" y="3099816"/>
            <a:ext cx="188366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</a:rPr>
              <a:t>08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29784" y="3493008"/>
            <a:ext cx="1883664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Recruitment / referral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51192" y="2898648"/>
            <a:ext cx="2139696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79208" y="3099816"/>
            <a:ext cx="188366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</a:rPr>
              <a:t>09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79208" y="3493008"/>
            <a:ext cx="1883664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Advertising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0616" y="2898648"/>
            <a:ext cx="2139696" cy="16642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28632" y="3099816"/>
            <a:ext cx="1883664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</a:rPr>
              <a:t>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28632" y="3493008"/>
            <a:ext cx="1883664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Segoe UI"/>
              </a:rPr>
              <a:t>Employer services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4773168"/>
            <a:ext cx="11183112" cy="1517904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4919472"/>
            <a:ext cx="106984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THEREFORE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230368"/>
            <a:ext cx="1069848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FFFFFF"/>
                </a:solidFill>
                <a:latin typeface="Georgia"/>
              </a:rPr>
              <a:t>Revenue is not limited to the first AI Resume transaction. The long-term objective is to maximize lifetime value per career user.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14  ·  USER ACQUISITION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Digital  +  Offline  +  Organic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3584448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335024"/>
            <a:ext cx="318211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Segoe UI"/>
              </a:rPr>
              <a:t>DIGITAL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1810512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▸  Google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249424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▸  Meta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688336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▸  TikTok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3127248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▸  YouTube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3566160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▸  LinkedIn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4005072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▸  Search / social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4443984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▸  Content marketing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33672" y="1115568"/>
            <a:ext cx="3584448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33672" y="1115568"/>
            <a:ext cx="3584448" cy="91440"/>
          </a:xfrm>
          <a:prstGeom prst="rect">
            <a:avLst/>
          </a:prstGeom>
          <a:solidFill>
            <a:srgbClr val="2F5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34840" y="1335024"/>
            <a:ext cx="318211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2F5D8A"/>
                </a:solidFill>
                <a:latin typeface="Segoe UI"/>
              </a:rPr>
              <a:t>ORGANIC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1810512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▸  SEO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2249424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▸  AI-search optimization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2688336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▸  Career content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3127248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▸  Educational content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3566160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▸  Referral programs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40" y="4005072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▸  Affiliate partnerships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64424" y="1115568"/>
            <a:ext cx="3584448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964424" y="1115568"/>
            <a:ext cx="3584448" cy="91440"/>
          </a:xfrm>
          <a:prstGeom prst="rect">
            <a:avLst/>
          </a:prstGeom>
          <a:solidFill>
            <a:srgbClr val="8A6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65592" y="1335024"/>
            <a:ext cx="318211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8A6D3B"/>
                </a:solidFill>
                <a:latin typeface="Segoe UI"/>
              </a:rPr>
              <a:t>OFFLINE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65592" y="1810512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▸  Universities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65592" y="2249424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▸  Career fairs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65592" y="2688336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▸  Student organizations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65592" y="3127248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▸  Professional orgs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65592" y="3566160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▸  Community events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65592" y="4005072"/>
            <a:ext cx="3182112" cy="4023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2C3A4B"/>
                </a:solidFill>
                <a:latin typeface="Segoe UI"/>
              </a:rPr>
              <a:t>▸  Employer events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212080"/>
            <a:ext cx="11183112" cy="1078992"/>
          </a:xfrm>
          <a:prstGeom prst="roundRect">
            <a:avLst>
              <a:gd name="adj" fmla="val 6000"/>
            </a:avLst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5340096"/>
            <a:ext cx="1069848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CORE GROWTH STRATEGY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32704"/>
            <a:ext cx="10698480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Free AI product  →  Low-friction acquisition  →  Registration  →  Engagement  →  Monetization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15  ·  CHINA + U.S. + GLOBAL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China as R&amp;D Base  ·  U.S. as Commercialization Market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11183112" cy="16093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73152" cy="1609344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16736"/>
            <a:ext cx="1051560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3"/>
                </a:solidFill>
                <a:latin typeface="Segoe UI"/>
              </a:rPr>
              <a:t>CHINA  ·  R&amp;D AND PRODUCT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773936"/>
            <a:ext cx="105156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2C3A4B"/>
                </a:solidFill>
                <a:latin typeface="Segoe UI"/>
              </a:rPr>
              <a:t>Product, design, engineering, AI, testing, marketing operations, B2B business development.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816352"/>
            <a:ext cx="11183112" cy="16093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816352"/>
            <a:ext cx="73152" cy="1609344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017520"/>
            <a:ext cx="1051560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3"/>
                </a:solidFill>
                <a:latin typeface="Segoe UI"/>
              </a:rPr>
              <a:t>UNITED STATES  ·  INTERNATIONAL GTM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474720"/>
            <a:ext cx="105156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2C3A4B"/>
                </a:solidFill>
                <a:latin typeface="Segoe UI"/>
              </a:rPr>
              <a:t>User acquisition, local partnerships, employer and university relationships, offline events, brand building.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517136"/>
            <a:ext cx="11183112" cy="16093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4517136"/>
            <a:ext cx="73152" cy="1609344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718304"/>
            <a:ext cx="1051560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0B1F33"/>
                </a:solidFill>
                <a:latin typeface="Segoe UI"/>
              </a:rPr>
              <a:t>GLOBAL EXPANSION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175504"/>
            <a:ext cx="105156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2C3A4B"/>
                </a:solidFill>
                <a:latin typeface="Segoe UI"/>
              </a:rPr>
              <a:t>Once product-market fit is established: North America → UK → Australia → Europe → Asia → other markets.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16  ·  COMPETITIVE LANDSCAPE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Career Infrastructure — Not Another Resume Builder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097280"/>
            <a:ext cx="539496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353312"/>
            <a:ext cx="4956048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5E6E80"/>
                </a:solidFill>
                <a:latin typeface="Segoe UI"/>
              </a:rPr>
              <a:t>JOB PLATFORMS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28800"/>
            <a:ext cx="4956048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>
                <a:solidFill>
                  <a:srgbClr val="2C3A4B"/>
                </a:solidFill>
                <a:latin typeface="Segoe UI"/>
              </a:rPr>
              <a:t>Large user base  ·  Limited personalized career intelligence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097280"/>
            <a:ext cx="539496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28816" y="1353312"/>
            <a:ext cx="4956048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5E6E80"/>
                </a:solidFill>
                <a:latin typeface="Segoe UI"/>
              </a:rPr>
              <a:t>GENERAL-PURPOSE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28816" y="1828800"/>
            <a:ext cx="4956048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>
                <a:solidFill>
                  <a:srgbClr val="2C3A4B"/>
                </a:solidFill>
                <a:latin typeface="Segoe UI"/>
              </a:rPr>
              <a:t>High AI capability  ·  Limited career specialization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99232"/>
            <a:ext cx="539496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" y="3255264"/>
            <a:ext cx="4956048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5E6E80"/>
                </a:solidFill>
                <a:latin typeface="Segoe UI"/>
              </a:rPr>
              <a:t>TRADITIONAL CAREER SERVICES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3730752"/>
            <a:ext cx="4956048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>
                <a:solidFill>
                  <a:srgbClr val="2C3A4B"/>
                </a:solidFill>
                <a:latin typeface="Segoe UI"/>
              </a:rPr>
              <a:t>High human service  ·  Low scalability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2999232"/>
            <a:ext cx="539496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28816" y="3255264"/>
            <a:ext cx="4956048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>
                <a:solidFill>
                  <a:srgbClr val="5E6E80"/>
                </a:solidFill>
                <a:latin typeface="Segoe UI"/>
              </a:rPr>
              <a:t>AI RESUME TOOLS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28816" y="3730752"/>
            <a:ext cx="4956048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>
                <a:solidFill>
                  <a:srgbClr val="2C3A4B"/>
                </a:solidFill>
                <a:latin typeface="Segoe UI"/>
              </a:rPr>
              <a:t>Resume-focused  ·  Limited ecosystem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919472"/>
            <a:ext cx="11183112" cy="1371600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5047488"/>
            <a:ext cx="106984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51 CAREERS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358384"/>
            <a:ext cx="10698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FFFFFF"/>
                </a:solidFill>
                <a:latin typeface="Segoe UI"/>
              </a:rPr>
              <a:t>AI  +  Career expertise  +  Services  +  Marketplace. We are not competing only with resume builders — we are building career infrastructure.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17  ·  COMPETITIVE ADVANTAGES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Why 51 Careers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3584448" cy="2450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" y="1316736"/>
            <a:ext cx="31821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A6B63"/>
                </a:solidFill>
                <a:latin typeface="Georgia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1755648"/>
            <a:ext cx="3182112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</a:rPr>
              <a:t>Existing career-services foundation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2487168"/>
            <a:ext cx="318211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We understand the industry from an operating perspective.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33672" y="1115568"/>
            <a:ext cx="3584448" cy="2450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1316736"/>
            <a:ext cx="31821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A6B63"/>
                </a:solidFill>
                <a:latin typeface="Georgia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755648"/>
            <a:ext cx="3182112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</a:rPr>
              <a:t>AI product already in development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2487168"/>
            <a:ext cx="318211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Not a concept or a slide-deck company. Demo built and tested.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64424" y="1115568"/>
            <a:ext cx="3584448" cy="2450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65592" y="1316736"/>
            <a:ext cx="31821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A6B63"/>
                </a:solidFill>
                <a:latin typeface="Georgia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65592" y="1755648"/>
            <a:ext cx="3182112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</a:rPr>
              <a:t>Global scalability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65592" y="2487168"/>
            <a:ext cx="318211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AI Resume can be distributed worldwide through digital channels.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675888"/>
            <a:ext cx="3584448" cy="2450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" y="3877056"/>
            <a:ext cx="31821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A6B63"/>
                </a:solidFill>
                <a:latin typeface="Georgia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" y="4315968"/>
            <a:ext cx="3182112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</a:rPr>
              <a:t>Multiple monetization paths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5047488"/>
            <a:ext cx="318211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Subscription + services + commission + B2B + ads + sponsorship.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33672" y="3675888"/>
            <a:ext cx="3584448" cy="2450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34840" y="3877056"/>
            <a:ext cx="31821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A6B63"/>
                </a:solidFill>
                <a:latin typeface="Georgia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40" y="4315968"/>
            <a:ext cx="3182112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</a:rPr>
              <a:t>AI + human hybrid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5047488"/>
            <a:ext cx="318211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AI for scalable work; humans for high-value, complex services.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64424" y="3675888"/>
            <a:ext cx="3584448" cy="24505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65592" y="3877056"/>
            <a:ext cx="3182112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A6B63"/>
                </a:solidFill>
                <a:latin typeface="Georgia"/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65592" y="4315968"/>
            <a:ext cx="3182112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</a:rPr>
              <a:t>Platform potential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65592" y="5047488"/>
            <a:ext cx="318211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The long-term opportunity extends beyond resumes into the career ecosystem.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18  ·  TEAM &amp; OPERATING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Core founding team in place  ·  Planned hiring funded by this round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097280"/>
            <a:ext cx="3584448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097280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298448"/>
            <a:ext cx="3200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</a:rPr>
              <a:t>EXISTING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72768"/>
            <a:ext cx="3200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B1F33"/>
                </a:solidFill>
                <a:latin typeface="Georgia"/>
              </a:rPr>
              <a:t>FOUNDING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93392"/>
            <a:ext cx="32004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4400" b="1" i="0">
                <a:solidFill>
                  <a:srgbClr val="0B1F33"/>
                </a:solidFill>
                <a:latin typeface="Georgia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697480"/>
            <a:ext cx="32004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2C3A4B"/>
                </a:solidFill>
                <a:latin typeface="Segoe UI"/>
              </a:rPr>
              <a:t>Core founding team members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108960"/>
            <a:ext cx="320040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In place today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584448"/>
            <a:ext cx="320040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Product, capital, and go-to-market leadership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059936"/>
            <a:ext cx="320040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Additional roles are not yet hired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535424"/>
            <a:ext cx="320040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This round funds the planned operating team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097280"/>
            <a:ext cx="246888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80" y="1097280"/>
            <a:ext cx="2468880" cy="91440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25696" y="1280160"/>
            <a:ext cx="2212848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5E6E80"/>
                </a:solidFill>
                <a:latin typeface="Segoe UI"/>
              </a:rPr>
              <a:t>PLANNED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5696" y="1481328"/>
            <a:ext cx="221284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CHINA TECHNOLOGY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25696" y="1938528"/>
            <a:ext cx="2212848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>
                <a:solidFill>
                  <a:srgbClr val="0B1F33"/>
                </a:solidFill>
                <a:latin typeface="Georgia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25696" y="2340864"/>
            <a:ext cx="2212848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5E6E80"/>
                </a:solidFill>
                <a:latin typeface="Segoe UI"/>
              </a:rPr>
              <a:t>Product, design, engineering, and AI.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25696" y="3017520"/>
            <a:ext cx="1691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2C3A4B"/>
                </a:solidFill>
                <a:latin typeface="Segoe UI"/>
              </a:rPr>
              <a:t>Product Manager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60" y="3017520"/>
            <a:ext cx="53035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>
                <a:solidFill>
                  <a:srgbClr val="0A6B63"/>
                </a:solidFill>
                <a:latin typeface="Segoe U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25696" y="3401568"/>
            <a:ext cx="1691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2C3A4B"/>
                </a:solidFill>
                <a:latin typeface="Segoe UI"/>
              </a:rPr>
              <a:t>Designer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3401568"/>
            <a:ext cx="53035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>
                <a:solidFill>
                  <a:srgbClr val="0A6B63"/>
                </a:solidFill>
                <a:latin typeface="Segoe UI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25696" y="3785616"/>
            <a:ext cx="1691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2C3A4B"/>
                </a:solidFill>
                <a:latin typeface="Segoe UI"/>
              </a:rPr>
              <a:t>QA / Testing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0760" y="3785616"/>
            <a:ext cx="53035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>
                <a:solidFill>
                  <a:srgbClr val="0A6B63"/>
                </a:solidFill>
                <a:latin typeface="Segoe UI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25696" y="4169664"/>
            <a:ext cx="1691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2C3A4B"/>
                </a:solidFill>
                <a:latin typeface="Segoe UI"/>
              </a:rPr>
              <a:t>Front-End Engineer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80760" y="4169664"/>
            <a:ext cx="53035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>
                <a:solidFill>
                  <a:srgbClr val="0A6B63"/>
                </a:solidFill>
                <a:latin typeface="Segoe UI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25696" y="4553712"/>
            <a:ext cx="1691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2C3A4B"/>
                </a:solidFill>
                <a:latin typeface="Segoe UI"/>
              </a:rPr>
              <a:t>Back-End Engineers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80760" y="4553712"/>
            <a:ext cx="53035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>
                <a:solidFill>
                  <a:srgbClr val="0A6B63"/>
                </a:solidFill>
                <a:latin typeface="Segoe UI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25696" y="4937760"/>
            <a:ext cx="1691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2C3A4B"/>
                </a:solidFill>
                <a:latin typeface="Segoe UI"/>
              </a:rPr>
              <a:t>AI Engineer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80760" y="4937760"/>
            <a:ext cx="53035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>
                <a:solidFill>
                  <a:srgbClr val="0A6B63"/>
                </a:solidFill>
                <a:latin typeface="Segoe UI"/>
              </a:rPr>
              <a:t>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76288" y="1097280"/>
            <a:ext cx="246888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876288" y="1097280"/>
            <a:ext cx="2468880" cy="91440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04304" y="1280160"/>
            <a:ext cx="2212848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5E6E80"/>
                </a:solidFill>
                <a:latin typeface="Segoe UI"/>
              </a:rPr>
              <a:t>PLANNED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04304" y="1481328"/>
            <a:ext cx="221284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CHINA GROWTH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04304" y="1938528"/>
            <a:ext cx="2212848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>
                <a:solidFill>
                  <a:srgbClr val="0B1F33"/>
                </a:solidFill>
                <a:latin typeface="Georgia"/>
              </a:rPr>
              <a:t>2+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04304" y="2340864"/>
            <a:ext cx="2212848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5E6E80"/>
                </a:solidFill>
                <a:latin typeface="Segoe UI"/>
              </a:rPr>
              <a:t>Performance marketing and B2B development.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04304" y="3017520"/>
            <a:ext cx="1691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2C3A4B"/>
                </a:solidFill>
                <a:latin typeface="Segoe UI"/>
              </a:rPr>
              <a:t>Marketing / Performance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59368" y="3017520"/>
            <a:ext cx="53035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>
                <a:solidFill>
                  <a:srgbClr val="0A6B63"/>
                </a:solidFill>
                <a:latin typeface="Segoe UI"/>
              </a:rP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04304" y="3401568"/>
            <a:ext cx="1691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2C3A4B"/>
                </a:solidFill>
                <a:latin typeface="Segoe UI"/>
              </a:rPr>
              <a:t>B2B Business Development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59368" y="3401568"/>
            <a:ext cx="53035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>
                <a:solidFill>
                  <a:srgbClr val="0A6B63"/>
                </a:solidFill>
                <a:latin typeface="Segoe UI"/>
              </a:rPr>
              <a:t>1+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454896" y="1097280"/>
            <a:ext cx="246888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454896" y="1097280"/>
            <a:ext cx="2468880" cy="91440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582912" y="1280160"/>
            <a:ext cx="2212848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5E6E80"/>
                </a:solidFill>
                <a:latin typeface="Segoe UI"/>
              </a:rPr>
              <a:t>PLANNED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582912" y="1481328"/>
            <a:ext cx="221284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B1F33"/>
                </a:solidFill>
                <a:latin typeface="Segoe UI"/>
              </a:rPr>
              <a:t>U.S. GROWTH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82912" y="1938528"/>
            <a:ext cx="2212848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>
                <a:solidFill>
                  <a:srgbClr val="0B1F33"/>
                </a:solidFill>
                <a:latin typeface="Georgia"/>
              </a:rPr>
              <a:t>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582912" y="2340864"/>
            <a:ext cx="2212848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>
                <a:solidFill>
                  <a:srgbClr val="5E6E80"/>
                </a:solidFill>
                <a:latin typeface="Segoe UI"/>
              </a:rPr>
              <a:t>Paid digital and local field marketing.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82912" y="3017520"/>
            <a:ext cx="1691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2C3A4B"/>
                </a:solidFill>
                <a:latin typeface="Segoe UI"/>
              </a:rPr>
              <a:t>Performance Marketing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237976" y="3017520"/>
            <a:ext cx="53035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>
                <a:solidFill>
                  <a:srgbClr val="0A6B63"/>
                </a:solidFill>
                <a:latin typeface="Segoe UI"/>
              </a:rPr>
              <a:t>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582912" y="3401568"/>
            <a:ext cx="1691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2C3A4B"/>
                </a:solidFill>
                <a:latin typeface="Segoe UI"/>
              </a:rPr>
              <a:t>Local / Field Marketing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237976" y="3401568"/>
            <a:ext cx="53035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>
                <a:solidFill>
                  <a:srgbClr val="0A6B63"/>
                </a:solidFill>
                <a:latin typeface="Segoe UI"/>
              </a:rPr>
              <a:t>2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02920" y="5779008"/>
            <a:ext cx="11183112" cy="530352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1520" y="5852160"/>
            <a:ext cx="10698480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Only the core founding team is in place today. China technology, China growth, and U.S. growth roles are planned hires — not current headcount.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19  ·  USE OF FUNDS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RMB 20 Million Growth Financing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41248"/>
            <a:ext cx="11183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</a:rPr>
              <a:t>RMB 13.1M is a planned personnel + advertising budget. Remaining capital funds infrastructure, AI, operations, events, expansion and working capital.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365760" y="1207008"/>
          <a:ext cx="493776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349240" y="1261872"/>
            <a:ext cx="402336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Marketing &amp; user acquisition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1261872"/>
            <a:ext cx="22402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300" b="1" i="0">
                <a:solidFill>
                  <a:srgbClr val="0B1F33"/>
                </a:solidFill>
                <a:latin typeface="Segoe UI"/>
              </a:rPr>
              <a:t>40%   ·   RMB 8.0M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49240" y="1719072"/>
            <a:ext cx="402336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Product &amp; AI development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1719072"/>
            <a:ext cx="22402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300" b="1" i="0">
                <a:solidFill>
                  <a:srgbClr val="0B1F33"/>
                </a:solidFill>
                <a:latin typeface="Segoe UI"/>
              </a:rPr>
              <a:t>22.5%   ·   RMB 4.5M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2176272"/>
            <a:ext cx="402336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U.S. market expansion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0" y="2176272"/>
            <a:ext cx="22402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300" b="1" i="0">
                <a:solidFill>
                  <a:srgbClr val="0B1F33"/>
                </a:solidFill>
                <a:latin typeface="Segoe UI"/>
              </a:rPr>
              <a:t>12.5%   ·   RMB 2.5M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9240" y="2633472"/>
            <a:ext cx="402336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China market &amp; B2B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2633472"/>
            <a:ext cx="22402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300" b="1" i="0">
                <a:solidFill>
                  <a:srgbClr val="0B1F33"/>
                </a:solidFill>
                <a:latin typeface="Segoe UI"/>
              </a:rPr>
              <a:t>7.5%   ·   RMB 1.5M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9240" y="3090672"/>
            <a:ext cx="402336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Brand &amp; events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3090672"/>
            <a:ext cx="22402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300" b="1" i="0">
                <a:solidFill>
                  <a:srgbClr val="0B1F33"/>
                </a:solidFill>
                <a:latin typeface="Segoe UI"/>
              </a:rPr>
              <a:t>7.5%   ·   RMB 1.5M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9240" y="3547872"/>
            <a:ext cx="402336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Operations / legal / finance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0" y="3547872"/>
            <a:ext cx="22402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300" b="1" i="0">
                <a:solidFill>
                  <a:srgbClr val="0B1F33"/>
                </a:solidFill>
                <a:latin typeface="Segoe UI"/>
              </a:rPr>
              <a:t>5%   ·   RMB 1.0M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4005072"/>
            <a:ext cx="402336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2C3A4B"/>
                </a:solidFill>
                <a:latin typeface="Segoe UI"/>
              </a:rPr>
              <a:t>Cash reserve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0" y="4005072"/>
            <a:ext cx="22402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300" b="1" i="0">
                <a:solidFill>
                  <a:srgbClr val="0B1F33"/>
                </a:solidFill>
                <a:latin typeface="Segoe UI"/>
              </a:rPr>
              <a:t>5%   ·   RMB 1.0M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553712"/>
            <a:ext cx="269748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4663440"/>
            <a:ext cx="2404872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</a:rPr>
              <a:t>PERSONNEL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" y="4937760"/>
            <a:ext cx="2404872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B1F33"/>
                </a:solidFill>
                <a:latin typeface="Georgia"/>
              </a:rPr>
              <a:t>RMB 5.1M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" y="5468112"/>
            <a:ext cx="240487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</a:rPr>
              <a:t>Planned hiring budget — not current payroll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19272" y="4553712"/>
            <a:ext cx="269748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65576" y="4663440"/>
            <a:ext cx="2404872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</a:rPr>
              <a:t>CHINA ADS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65576" y="4937760"/>
            <a:ext cx="2404872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B1F33"/>
                </a:solidFill>
                <a:latin typeface="Georgia"/>
              </a:rPr>
              <a:t>RMB 1.0M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65576" y="5468112"/>
            <a:ext cx="240487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</a:rPr>
              <a:t>Planned annual spend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35624" y="4553712"/>
            <a:ext cx="269748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81928" y="4663440"/>
            <a:ext cx="2404872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</a:rPr>
              <a:t>U.S. ADS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1928" y="4937760"/>
            <a:ext cx="2404872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B1F33"/>
                </a:solidFill>
                <a:latin typeface="Georgia"/>
              </a:rPr>
              <a:t>RMB 7.0M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1928" y="5468112"/>
            <a:ext cx="240487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</a:rPr>
              <a:t>Planned annual spend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51976" y="4553712"/>
            <a:ext cx="269748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98280" y="4663440"/>
            <a:ext cx="2404872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0A6B63"/>
                </a:solidFill>
                <a:latin typeface="Segoe UI"/>
              </a:rPr>
              <a:t>P+A BUDGET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98280" y="4937760"/>
            <a:ext cx="2404872" cy="4754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B1F33"/>
                </a:solidFill>
                <a:latin typeface="Georgia"/>
              </a:rPr>
              <a:t>RMB 13.1M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98280" y="5468112"/>
            <a:ext cx="2404872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</a:rPr>
              <a:t>Planned personnel + advertising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20  ·  GROWTH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Validation  →  Growth  →  Global Expansion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3584448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3584448" cy="82296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207008"/>
            <a:ext cx="3182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PHASE 1  ·  0–6 MONTHS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1481328"/>
            <a:ext cx="3182112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FFFFFF"/>
                </a:solidFill>
                <a:latin typeface="Georgia"/>
              </a:rPr>
              <a:t>Product validation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14884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Launch AI Resume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74320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Improve AI quality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333756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Structured A/B testing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393192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Initial CAC benchmarks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452628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Conversion funnel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512064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Validate pricing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33672" y="1115568"/>
            <a:ext cx="3584448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33672" y="1115568"/>
            <a:ext cx="3584448" cy="82296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34840" y="1207008"/>
            <a:ext cx="3182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PHASE 2  ·  6–12 MONTHS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1481328"/>
            <a:ext cx="3182112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FFFFFF"/>
                </a:solidFill>
                <a:latin typeface="Georgia"/>
              </a:rPr>
              <a:t>Growth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214884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Scale paid acquisition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274320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Build SEO engine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333756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Expand U.S. acquisition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393192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B2B partnerships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40" y="452628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More AI Career features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512064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Expand monetization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64424" y="1115568"/>
            <a:ext cx="3584448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64424" y="1115568"/>
            <a:ext cx="3584448" cy="822960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65592" y="1207008"/>
            <a:ext cx="3182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PHASE 3  ·  12–24 MONTHS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65592" y="1481328"/>
            <a:ext cx="3182112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 i="0">
                <a:solidFill>
                  <a:srgbClr val="FFFFFF"/>
                </a:solidFill>
                <a:latin typeface="Georgia"/>
              </a:rPr>
              <a:t>Global expansion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65592" y="214884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More English-speaking markets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65592" y="274320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Localized products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65592" y="333756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Global partnerships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65592" y="393192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Employer ecosystem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65592" y="452628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Marketplace capabilities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65592" y="5120640"/>
            <a:ext cx="318211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▸  Central America expansion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21  ·  THREE-YEAR FINANCIAL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Users, Revenue, and Profitability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41248"/>
            <a:ext cx="11183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E6E80"/>
                </a:solidFill>
                <a:latin typeface="Segoe UI"/>
              </a:rPr>
              <a:t>Illustrative 2027E–2029E operating plan. Figures in US$.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15568"/>
            <a:ext cx="3584448" cy="50109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115568"/>
            <a:ext cx="3584448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" y="1261872"/>
            <a:ext cx="32918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</a:rPr>
              <a:t>USERS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1554480"/>
            <a:ext cx="1060704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>
                <a:solidFill>
                  <a:srgbClr val="5E6E80"/>
                </a:solidFill>
                <a:latin typeface="Segoe UI"/>
              </a:rPr>
              <a:t>2027E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19656" y="1554480"/>
            <a:ext cx="1060704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>
                <a:solidFill>
                  <a:srgbClr val="5E6E80"/>
                </a:solidFill>
                <a:latin typeface="Segoe UI"/>
              </a:rPr>
              <a:t>2028E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1554480"/>
            <a:ext cx="1060704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>
                <a:solidFill>
                  <a:srgbClr val="5E6E80"/>
                </a:solidFill>
                <a:latin typeface="Segoe UI"/>
              </a:rPr>
              <a:t>2029E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1828800"/>
            <a:ext cx="3401568" cy="649224"/>
          </a:xfrm>
          <a:prstGeom prst="rect">
            <a:avLst/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" y="186537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</a:rPr>
              <a:t>Users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" y="2103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</a:rPr>
              <a:t>1.0M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2103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</a:rPr>
              <a:t>3.0M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360" y="2103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</a:rPr>
              <a:t>7.0M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" y="255117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</a:rPr>
              <a:t>Registered users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2" y="27889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</a:rPr>
              <a:t>300K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19656" y="27889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</a:rPr>
              <a:t>1.0M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80360" y="27889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</a:rPr>
              <a:t>2.5M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" y="323697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</a:rPr>
              <a:t>Monthly active users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" y="34747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</a:rPr>
              <a:t>150K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34747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</a:rPr>
              <a:t>500K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80360" y="34747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</a:rPr>
              <a:t>1.25M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" y="392277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</a:rPr>
              <a:t>Paid users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" y="41605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</a:rPr>
              <a:t>15K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19656" y="41605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</a:rPr>
              <a:t>60K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80360" y="41605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</a:rPr>
              <a:t>180K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" y="460857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</a:rPr>
              <a:t>Paid conversion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8952" y="48463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</a:rPr>
              <a:t>5.0%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19656" y="48463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</a:rPr>
              <a:t>6.0%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80360" y="48463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</a:rPr>
              <a:t>7.2%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" y="529437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</a:rPr>
              <a:t>MAU / registered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952" y="5532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</a:rPr>
              <a:t>50%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19656" y="5532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</a:rPr>
              <a:t>50%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80360" y="5532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</a:rPr>
              <a:t>50%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33672" y="1115568"/>
            <a:ext cx="3584448" cy="50109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233672" y="1115568"/>
            <a:ext cx="3584448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79976" y="1261872"/>
            <a:ext cx="32918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</a:rPr>
              <a:t>REVENUE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89704" y="1554480"/>
            <a:ext cx="1060704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>
                <a:solidFill>
                  <a:srgbClr val="5E6E80"/>
                </a:solidFill>
                <a:latin typeface="Segoe UI"/>
              </a:rPr>
              <a:t>2027E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550408" y="1554480"/>
            <a:ext cx="1060704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>
                <a:solidFill>
                  <a:srgbClr val="5E6E80"/>
                </a:solidFill>
                <a:latin typeface="Segoe UI"/>
              </a:rPr>
              <a:t>2028E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11112" y="1554480"/>
            <a:ext cx="1060704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>
                <a:solidFill>
                  <a:srgbClr val="5E6E80"/>
                </a:solidFill>
                <a:latin typeface="Segoe UI"/>
              </a:rPr>
              <a:t>2029E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79976" y="186537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</a:rPr>
              <a:t>AI revenue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89704" y="2103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</a:rPr>
              <a:t>$0.70M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550408" y="2103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</a:rPr>
              <a:t>$2.40M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11112" y="2103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</a:rPr>
              <a:t>$8.40M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79976" y="255117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</a:rPr>
              <a:t>Career services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89704" y="27889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</a:rPr>
              <a:t>$0.50M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50408" y="27889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</a:rPr>
              <a:t>$1.60M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611112" y="27889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</a:rPr>
              <a:t>$5.60M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379976" y="323697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</a:rPr>
              <a:t>Commission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489704" y="34747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</a:rPr>
              <a:t>$0.30M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50408" y="34747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</a:rPr>
              <a:t>$1.20M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11112" y="34747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</a:rPr>
              <a:t>$4.20M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379976" y="392277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</a:rPr>
              <a:t>Advertising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489704" y="41605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</a:rPr>
              <a:t>$0.20M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550408" y="41605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</a:rPr>
              <a:t>$0.80M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611112" y="41605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</a:rPr>
              <a:t>$2.80M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379976" y="460857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</a:rPr>
              <a:t>B2B revenue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489704" y="48463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</a:rPr>
              <a:t>$0.30M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550408" y="48463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</a:rPr>
              <a:t>$2.00M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611112" y="48463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</a:rPr>
              <a:t>$7.00M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325112" y="5257800"/>
            <a:ext cx="3401568" cy="649224"/>
          </a:xfrm>
          <a:prstGeom prst="rect">
            <a:avLst/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379976" y="529437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</a:rPr>
              <a:t>Total revenue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489704" y="5532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</a:rPr>
              <a:t>$2.00M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550408" y="5532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</a:rPr>
              <a:t>$8.00M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611112" y="5532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</a:rPr>
              <a:t>$28.00M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7964424" y="1115568"/>
            <a:ext cx="3584448" cy="50109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964424" y="1115568"/>
            <a:ext cx="3584448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110728" y="1261872"/>
            <a:ext cx="32918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>
                <a:solidFill>
                  <a:srgbClr val="0A6B63"/>
                </a:solidFill>
                <a:latin typeface="Segoe UI"/>
              </a:rPr>
              <a:t>PROFITABILITY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220456" y="1554480"/>
            <a:ext cx="1060704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>
                <a:solidFill>
                  <a:srgbClr val="5E6E80"/>
                </a:solidFill>
                <a:latin typeface="Segoe UI"/>
              </a:rPr>
              <a:t>2027E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281160" y="1554480"/>
            <a:ext cx="1060704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>
                <a:solidFill>
                  <a:srgbClr val="5E6E80"/>
                </a:solidFill>
                <a:latin typeface="Segoe UI"/>
              </a:rPr>
              <a:t>2028E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341864" y="1554480"/>
            <a:ext cx="1060704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>
                <a:solidFill>
                  <a:srgbClr val="5E6E80"/>
                </a:solidFill>
                <a:latin typeface="Segoe UI"/>
              </a:rPr>
              <a:t>2029E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110728" y="186537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</a:rPr>
              <a:t>Gross margin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220456" y="2103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</a:rPr>
              <a:t>65%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281160" y="2103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</a:rPr>
              <a:t>70%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341864" y="210312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</a:rPr>
              <a:t>75%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10728" y="268833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</a:rPr>
              <a:t>Gross profit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220456" y="292608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</a:rPr>
              <a:t>$1.30M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281160" y="292608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</a:rPr>
              <a:t>$5.60M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341864" y="292608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</a:rPr>
              <a:t>$21.00M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110728" y="351129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</a:rPr>
              <a:t>EBITDA margin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220456" y="374904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</a:rPr>
              <a:t>–50%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281160" y="374904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</a:rPr>
              <a:t>–15%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341864" y="374904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</a:rPr>
              <a:t>15%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110728" y="433425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</a:rPr>
              <a:t>EBITDA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20456" y="457200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</a:rPr>
              <a:t>–$1.00M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281160" y="457200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</a:rPr>
              <a:t>–$1.20M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341864" y="457200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</a:rPr>
              <a:t>$4.20M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055864" y="5120640"/>
            <a:ext cx="3401568" cy="786384"/>
          </a:xfrm>
          <a:prstGeom prst="rect">
            <a:avLst/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110728" y="5157216"/>
            <a:ext cx="32918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5E6E80"/>
                </a:solidFill>
                <a:latin typeface="Segoe UI"/>
              </a:rPr>
              <a:t>Profitability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220456" y="539496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</a:rPr>
              <a:t>Loss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281160" y="539496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B1F33"/>
                </a:solidFill>
                <a:latin typeface="Georgia"/>
              </a:rPr>
              <a:t>Loss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341864" y="5394960"/>
            <a:ext cx="106070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>
                <a:solidFill>
                  <a:srgbClr val="0A6B63"/>
                </a:solidFill>
                <a:latin typeface="Georgia"/>
              </a:rPr>
              <a:t>Profitable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02920" y="6163056"/>
            <a:ext cx="11183112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>
                <a:solidFill>
                  <a:srgbClr val="5E6E80"/>
                </a:solidFill>
                <a:latin typeface="Segoe UI"/>
              </a:rPr>
              <a:t>Management projections for discussion. Not a forecast. Paid conversion is paid users / registered users.</a:t>
            </a:r>
          </a:p>
        </p:txBody>
      </p:sp>
      <p:sp>
        <p:nvSpPr>
          <p:cNvPr id="95" name="Rectangle 94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22  ·  INVESTMENT OPPORTUNITY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The Next Generation of Career Services Will Be AI + Human + Platform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5486400" cy="1847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316736"/>
            <a:ext cx="504748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</a:rPr>
              <a:t>Generative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65376"/>
            <a:ext cx="5047488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2C3A4B"/>
                </a:solidFill>
                <a:latin typeface="Segoe UI"/>
              </a:rPr>
              <a:t>Professional content creation is now cheap, fast, and widely adopted.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35624" y="1115568"/>
            <a:ext cx="5486400" cy="1847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316736"/>
            <a:ext cx="504748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</a:rPr>
              <a:t>Global employment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1865376"/>
            <a:ext cx="5047488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2C3A4B"/>
                </a:solidFill>
                <a:latin typeface="Segoe UI"/>
              </a:rPr>
              <a:t>Talent is mobile. English-language careers travel across markets.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081528"/>
            <a:ext cx="5486400" cy="1847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" y="3282696"/>
            <a:ext cx="504748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</a:rPr>
              <a:t>Career services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3831336"/>
            <a:ext cx="5047488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2C3A4B"/>
                </a:solidFill>
                <a:latin typeface="Segoe UI"/>
              </a:rPr>
              <a:t>Advice is still manual, expensive, and hard to scale.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35624" y="3081528"/>
            <a:ext cx="5486400" cy="18470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3282696"/>
            <a:ext cx="5047488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>
                <a:solidFill>
                  <a:srgbClr val="0B1F33"/>
                </a:solidFill>
                <a:latin typeface="Georgia"/>
              </a:rPr>
              <a:t>Digital user acquisition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3831336"/>
            <a:ext cx="5047488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2C3A4B"/>
                </a:solidFill>
                <a:latin typeface="Segoe UI"/>
              </a:rPr>
              <a:t>A free AI Resume is a low-friction, global top-of-funnel.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138928"/>
            <a:ext cx="11183112" cy="1152144"/>
          </a:xfrm>
          <a:prstGeom prst="roundRect">
            <a:avLst>
              <a:gd name="adj" fmla="val 6000"/>
            </a:avLst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248656"/>
            <a:ext cx="1060704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THE OPPORTUNITY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504688"/>
            <a:ext cx="1060704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FFFFFF"/>
                </a:solidFill>
                <a:latin typeface="Georgia"/>
              </a:rPr>
              <a:t>The next generation of career services will be AI + human + platform. The AI Resume is the entry point; the ambition is the global AI career platform.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23  ·  FINANCING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Current Financing Round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15568"/>
            <a:ext cx="3584448" cy="2029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335024"/>
            <a:ext cx="3182112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RAISE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1664208"/>
            <a:ext cx="3182112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B1F33"/>
                </a:solidFill>
                <a:latin typeface="Georgia"/>
              </a:rPr>
              <a:t>RMB 20 million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322576"/>
            <a:ext cx="3182112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E6E80"/>
                </a:solidFill>
                <a:latin typeface="Segoe UI"/>
              </a:rPr>
              <a:t>≈ US$2.97 million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33672" y="1115568"/>
            <a:ext cx="3584448" cy="2029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33672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1335024"/>
            <a:ext cx="3182112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PRE-MONEY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1664208"/>
            <a:ext cx="3182112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B1F33"/>
                </a:solidFill>
                <a:latin typeface="Georgia"/>
              </a:rPr>
              <a:t>RMB 180 million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2322576"/>
            <a:ext cx="3182112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E6E80"/>
                </a:solidFill>
                <a:latin typeface="Segoe UI"/>
              </a:rPr>
              <a:t>≈ US$26.7 million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64424" y="1115568"/>
            <a:ext cx="3584448" cy="2029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64424" y="111556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65592" y="1335024"/>
            <a:ext cx="3182112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POST-MONEY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65592" y="1664208"/>
            <a:ext cx="3182112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B1F33"/>
                </a:solidFill>
                <a:latin typeface="Georgia"/>
              </a:rPr>
              <a:t>RMB 200 million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65592" y="2322576"/>
            <a:ext cx="3182112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E6E80"/>
                </a:solidFill>
                <a:latin typeface="Segoe UI"/>
              </a:rPr>
              <a:t>≈ US$29.7 million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264408"/>
            <a:ext cx="3584448" cy="2029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326440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" y="3483864"/>
            <a:ext cx="3182112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EQUITY OFFERED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" y="3813048"/>
            <a:ext cx="3182112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B1F33"/>
                </a:solidFill>
                <a:latin typeface="Georgia"/>
              </a:rPr>
              <a:t>10%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" y="4471416"/>
            <a:ext cx="3182112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E6E80"/>
                </a:solidFill>
                <a:latin typeface="Segoe UI"/>
              </a:rPr>
              <a:t>Primary preferred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33672" y="3264408"/>
            <a:ext cx="3584448" cy="2029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33672" y="326440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34840" y="3483864"/>
            <a:ext cx="3182112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STRUCTURE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3813048"/>
            <a:ext cx="3182112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B1F33"/>
                </a:solidFill>
                <a:latin typeface="Georgia"/>
              </a:rPr>
              <a:t>Preferred equity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4840" y="4471416"/>
            <a:ext cx="3182112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E6E80"/>
                </a:solidFill>
                <a:latin typeface="Segoe UI"/>
              </a:rPr>
              <a:t>Indicative; subject to docs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964424" y="3264408"/>
            <a:ext cx="3584448" cy="20299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964424" y="3264408"/>
            <a:ext cx="3584448" cy="9144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65592" y="3483864"/>
            <a:ext cx="3182112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>
                <a:solidFill>
                  <a:srgbClr val="0A6B63"/>
                </a:solidFill>
                <a:latin typeface="Segoe UI"/>
              </a:rPr>
              <a:t>USE OF CAPITAL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65592" y="3813048"/>
            <a:ext cx="3182112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0B1F33"/>
                </a:solidFill>
                <a:latin typeface="Georgia"/>
              </a:rPr>
              <a:t>Product, users, global GTM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65592" y="4471416"/>
            <a:ext cx="3182112" cy="594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5E6E80"/>
                </a:solidFill>
                <a:latin typeface="Segoe UI"/>
              </a:rPr>
              <a:t>Monetization + ecosystem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5486400"/>
            <a:ext cx="11183112" cy="804672"/>
          </a:xfrm>
          <a:prstGeom prst="roundRect">
            <a:avLst>
              <a:gd name="adj" fmla="val 6000"/>
            </a:avLst>
          </a:prstGeom>
          <a:solidFill>
            <a:srgbClr val="EEF3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5632704"/>
            <a:ext cx="10698480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2C3A4B"/>
                </a:solidFill>
                <a:latin typeface="Segoe UI"/>
              </a:rPr>
              <a:t>Capital will be used to build the product, acquire users, expand globally, build monetization, and develop the career ecosystem.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11183112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0A6B63"/>
                </a:solidFill>
                <a:latin typeface="Segoe UI"/>
              </a:rPr>
              <a:t>RMB 20M  →  WHAT INVESTORS GET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02336"/>
            <a:ext cx="11183112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400" b="1" i="0">
                <a:solidFill>
                  <a:srgbClr val="0B1F33"/>
                </a:solidFill>
                <a:latin typeface="Georgia"/>
              </a:rPr>
              <a:t>12–18 month targets this round is designed to fund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097280"/>
            <a:ext cx="269748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9224" y="1243584"/>
            <a:ext cx="2404872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Georgia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" y="1591056"/>
            <a:ext cx="240487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</a:rPr>
              <a:t>Public launch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2176272"/>
            <a:ext cx="240487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AI Resume live for users in China and the U.S.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19272" y="1097280"/>
            <a:ext cx="269748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65576" y="1243584"/>
            <a:ext cx="2404872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Georgia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65576" y="1591056"/>
            <a:ext cx="240487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</a:rPr>
              <a:t>50–100k users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65576" y="2176272"/>
            <a:ext cx="240487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Registered users; funnel instrumented end-to-end.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35624" y="1097280"/>
            <a:ext cx="269748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81928" y="1243584"/>
            <a:ext cx="2404872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Georgia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81928" y="1591056"/>
            <a:ext cx="240487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</a:rPr>
              <a:t>Blind A/B tests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81928" y="2176272"/>
            <a:ext cx="240487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Statistically meaningful quality vs. general-purpose models.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51976" y="1097280"/>
            <a:ext cx="269748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98280" y="1243584"/>
            <a:ext cx="2404872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Georgia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98280" y="1591056"/>
            <a:ext cx="240487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</a:rPr>
              <a:t>Unit economics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98280" y="2176272"/>
            <a:ext cx="240487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CAC, conversion, ARPU, and payback benchmarks.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337560"/>
            <a:ext cx="269748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3483864"/>
            <a:ext cx="2404872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Georgia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" y="3831336"/>
            <a:ext cx="240487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</a:rPr>
              <a:t>U.S. acquisition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" y="4416552"/>
            <a:ext cx="240487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Paid digital + university/offline channels operating.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19272" y="3337560"/>
            <a:ext cx="269748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65576" y="3483864"/>
            <a:ext cx="2404872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Georgia"/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65576" y="3831336"/>
            <a:ext cx="240487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</a:rPr>
              <a:t>First paid cohort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65576" y="4416552"/>
            <a:ext cx="240487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AI subscriptions and career-services attach live.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35624" y="3337560"/>
            <a:ext cx="269748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81928" y="3483864"/>
            <a:ext cx="2404872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Georgia"/>
              </a:rPr>
              <a:t>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1928" y="3831336"/>
            <a:ext cx="240487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</a:rPr>
              <a:t>B2B pipeline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1928" y="4416552"/>
            <a:ext cx="240487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Employer and education-partner conversations in market.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51976" y="3337560"/>
            <a:ext cx="2697480" cy="21214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98280" y="3483864"/>
            <a:ext cx="2404872" cy="31089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0A6B63"/>
                </a:solidFill>
                <a:latin typeface="Georgia"/>
              </a:rPr>
              <a:t>08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98280" y="3831336"/>
            <a:ext cx="240487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1" i="0">
                <a:solidFill>
                  <a:srgbClr val="0B1F33"/>
                </a:solidFill>
                <a:latin typeface="Segoe UI"/>
              </a:rPr>
              <a:t>Next-round pack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98280" y="4416552"/>
            <a:ext cx="2404872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2C3A4B"/>
                </a:solidFill>
                <a:latin typeface="Segoe UI"/>
              </a:rPr>
              <a:t>Traction, model, and data room ready for the following raise.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5650992"/>
            <a:ext cx="11183112" cy="640080"/>
          </a:xfrm>
          <a:prstGeom prst="roundRect">
            <a:avLst>
              <a:gd name="adj" fmla="val 6000"/>
            </a:avLst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5760720"/>
            <a:ext cx="106984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RMB 20M  →  product + users + benchmarks  →  revenue  →  next round  →  valuation step-up.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6473952"/>
            <a:ext cx="12191695" cy="9144"/>
          </a:xfrm>
          <a:prstGeom prst="rect">
            <a:avLst/>
          </a:prstGeom>
          <a:solidFill>
            <a:srgbClr val="D4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6528816"/>
            <a:ext cx="77724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00" b="1" i="0">
                <a:solidFill>
                  <a:srgbClr val="5E6E80"/>
                </a:solidFill>
                <a:latin typeface="Segoe UI"/>
              </a:rPr>
              <a:t>51 CAREERS   ·   CONFIDENTIAL INVESTOR PRESENTATION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155680" y="6528816"/>
            <a:ext cx="640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900" b="0" i="0">
                <a:solidFill>
                  <a:srgbClr val="5E6E80"/>
                </a:solidFill>
                <a:latin typeface="Segoe U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A6B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>
                <a:solidFill>
                  <a:srgbClr val="0A6B63"/>
                </a:solidFill>
                <a:latin typeface="Segoe UI"/>
              </a:rPr>
              <a:t>24  ·  VISION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1051560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 i="0">
                <a:solidFill>
                  <a:srgbClr val="FFFFFF"/>
                </a:solidFill>
                <a:latin typeface="Georgia"/>
              </a:rPr>
              <a:t>We are not building another AI resume tool.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71800"/>
            <a:ext cx="1051560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 i="0">
                <a:solidFill>
                  <a:srgbClr val="0A6B63"/>
                </a:solidFill>
                <a:latin typeface="Georgia"/>
              </a:rPr>
              <a:t>We are building the Global AI Career Platform.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43400"/>
            <a:ext cx="10515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0" i="0">
                <a:solidFill>
                  <a:srgbClr val="D7EBE8"/>
                </a:solidFill>
                <a:latin typeface="Segoe UI"/>
              </a:rPr>
              <a:t>AI   ×   Career   ×   Talent   ×  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029200"/>
            <a:ext cx="10515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 i="0">
                <a:solidFill>
                  <a:srgbClr val="FFFFFF"/>
                </a:solidFill>
                <a:latin typeface="Georgia"/>
              </a:rPr>
              <a:t>51 CAREERS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126480"/>
            <a:ext cx="105156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1" i="0">
                <a:solidFill>
                  <a:srgbClr val="6B7C8F"/>
                </a:solidFill>
                <a:latin typeface="Segoe UI"/>
              </a:rPr>
              <a:t>51 CAREERS   ·   CONFIDENTIAL   ·   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