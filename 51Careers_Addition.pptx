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Marketing &amp; user acquisition</c:v>
                </c:pt>
                <c:pt idx="1">
                  <c:v>Product &amp; AI development</c:v>
                </c:pt>
                <c:pt idx="2">
                  <c:v>U.S. market expansion</c:v>
                </c:pt>
                <c:pt idx="3">
                  <c:v>China market &amp; B2B</c:v>
                </c:pt>
                <c:pt idx="4">
                  <c:v>Brand &amp; events</c:v>
                </c:pt>
                <c:pt idx="5">
                  <c:v>Operations / legal / finance</c:v>
                </c:pt>
                <c:pt idx="6">
                  <c:v>Cash reserve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22.5</c:v>
                </c:pt>
                <c:pt idx="2">
                  <c:v>12.5</c:v>
                </c:pt>
                <c:pt idx="3">
                  <c:v>7.5</c:v>
                </c:pt>
                <c:pt idx="4">
                  <c:v>7.5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CONFIDENTIAL INVESTOR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51 CAREERS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Building the Global AI Career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AI Resume  →  AI Career  →  Global Talent Ecosystem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10972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Seeking RMB 20 Million in Growth Capital   ·   ≈ US$2.97 Million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PRE-MONEY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RMB 180M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≈ US$26.7 million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RAISE  ·  10% EQUITY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RMB 20M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≈ US$2.97 million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POST-MONEY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RMB 200M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≈ US$29.7 million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19472"/>
            <a:ext cx="10972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C5D5E0"/>
                </a:solidFill>
                <a:latin typeface="Segoe UI"/>
                <a:ea typeface="Segoe UI"/>
                <a:cs typeface="Segoe UI"/>
              </a:rPr>
              <a:t>The resume is the entry point. The ambition is the global AI career platform — connecting job seekers, employers, career services, education, and the talent ecosystem.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1722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9AB0C0"/>
                </a:solidFill>
                <a:latin typeface="Segoe UI"/>
                <a:ea typeface="Segoe UI"/>
                <a:cs typeface="Segoe UI"/>
              </a:rPr>
              <a:t>CHINA R&amp;D   ·   U.S. COMMERCIALIZATION   ·   GLOBAL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01  ·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Building the AI-Powered Future of Career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Career Services  →  AI Resume  →  AI Career Platform  →  Global Career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52120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73152" cy="507492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53312"/>
            <a:ext cx="4709160" cy="4709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Who we are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51 Careers is building a global AI Career Platform to help job seekers create better resumes, discover opportunities, improve job-search outcomes, and access professional career services.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Entry point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An AI-powered Resume Platform that turns unstructured career experience into professional, quantified, job-specific resumes.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This round</a:t>
            </a:r>
          </a:p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RMB 20 million (10% of RMB 200 million post-money) to accelerate product development, user acquisition, and global commercialization. Pre-money RMB 180 million.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demo already developed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Initial testing completed with promising results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Stronger professional positioning &amp; quantification vs. general-purpose models in internal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5197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 can serve users globally from day 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7161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Existing career-services business: domain expertise + monetization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5197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U.S. market as the first international growth beachhead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Multiple revenue streams beyond AI Resume subscriptions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2396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5197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RMB 20M to fund product, acquisition, and global go-to-market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02  · 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Job Seeking Is Still Highly Inefficient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For millions of candidates the process remains fragmented, expensive, and low-signal.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Most candidates struggle to communicate experience in a professional, results-oriented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52344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Quantification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People describe responsibilities rather than measurable achievements.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1768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01768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9784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Personalization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One generic resume rarely works across jobs and employers.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51192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208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Candidates apply without a clear view of actual fit.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616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28632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8632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Guidance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8632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Professional advice remains expensive and consultant-dependent.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21808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14416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Low-quality applications  →  Low interview rates  →  Long job searches  →  High frustration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03  · 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Is Reshaping the Career Services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Generative AI has changed how people create, communicate, and consume professional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53949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394960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37160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8A6D3B"/>
                </a:solidFill>
                <a:latin typeface="Segoe UI"/>
                <a:ea typeface="Segoe UI"/>
                <a:cs typeface="Segoe UI"/>
              </a:rPr>
              <a:t>TRADITIONAL MODEL  ·  HUMAN CONSULTANT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847088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Manual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32304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Manual resume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17520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Manual job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602736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High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187952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Limited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115568"/>
            <a:ext cx="53949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115568"/>
            <a:ext cx="539496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137160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AI-ENABLED MODEL  ·  CAREER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1847088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Automated career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432304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AI resume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3017520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Job matching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602736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Continuous optimization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4187952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Global scalability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OUR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Transform high-cost, labor-intensive career services into a scalable AI-powered platform.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04  · 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Three Structural Trends Are Converging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AI adoption, data-driven hiring, and fragmented career services are moving at the same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335024"/>
            <a:ext cx="314553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755648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Generative AI has reached mass adoption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834640"/>
            <a:ext cx="3145536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Consumers are increasingly comfortable using AI for professional and personal tasks. That adoption is the distribution opening for an AI career product.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335024"/>
            <a:ext cx="314553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755648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Recruiting is becoming more data-driven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834640"/>
            <a:ext cx="3145536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Employers rely on structured information, keywords, measurable achievements, and automated screening. Candidates need a product that writes to that standard.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335024"/>
            <a:ext cx="314553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1755648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services remain fragmented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834640"/>
            <a:ext cx="3145536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The industry is still dependent on manual services and fragmented providers. That gap is the opening for a scalable AI + human platform.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51 CAREERS SITS AT THE INTERSECTION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AI   ×   Employment   ×   Career Services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MARKET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TAM  →  SAM  →  SOM  →  Three-Year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From global job seekers to paid AI career users. Illustrative, for discussion.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2801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   ·   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91056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US$ 200B+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5798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Georgia"/>
                <a:ea typeface="Georgia"/>
                <a:cs typeface="Georgia"/>
              </a:rPr>
              <a:t>RMB 1.35T+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05456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Global recruitment, talent-acquisition, and career-development spend.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2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801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   ·   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591056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US$ 30B+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5798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Georgia"/>
                <a:ea typeface="Georgia"/>
                <a:cs typeface="Georgia"/>
              </a:rPr>
              <a:t>RMB 200B+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05456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Digital / AI-enabled hiring tools, resume products, and online career preparation.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12801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   ·   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1591056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US$ 1.5B+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215798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Georgia"/>
                <a:ea typeface="Georgia"/>
                <a:cs typeface="Georgia"/>
              </a:rPr>
              <a:t>RMB 10B+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505456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and career-assistant demand in initial markets: China, the U.S., and English-speaking Asia.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24528"/>
            <a:ext cx="11183112" cy="20665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224528"/>
            <a:ext cx="73152" cy="2066543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34256"/>
            <a:ext cx="10607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51 CAREERS  ·  2027E–2029E REVENUE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663440"/>
            <a:ext cx="3383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2027E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901184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US$ 2.0M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5394960"/>
            <a:ext cx="3383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Georgia"/>
                <a:ea typeface="Georgia"/>
                <a:cs typeface="Georgia"/>
              </a:rPr>
              <a:t>≈ RMB 13.5M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663440"/>
            <a:ext cx="3383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2028E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3984" y="4901184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US$ 8.0M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43984" y="5394960"/>
            <a:ext cx="3383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Georgia"/>
                <a:ea typeface="Georgia"/>
                <a:cs typeface="Georgia"/>
              </a:rPr>
              <a:t>≈ RMB 53.8M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4736" y="4663440"/>
            <a:ext cx="3383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2029E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4736" y="4901184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US$ 28.0M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74736" y="5394960"/>
            <a:ext cx="3383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Georgia"/>
                <a:ea typeface="Georgia"/>
                <a:cs typeface="Georgia"/>
              </a:rPr>
              <a:t>≈ RMB 188.4M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5779008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Logic: global job seekers  →  addressable AI Resume users  →  paid conversion  →  stacked revenue (AI + services + commission + B2B + ads).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05  ·  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51 Careers AI Career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Not another AI writing tool — an AI-powered career infrastructure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271016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15568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Understand professional 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65376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65376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2020824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865376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Build a stronger professional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15184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615184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13232" y="2770632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15184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Generate optimized resumes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64991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364991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3232" y="3520439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364991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Match with relevant 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14800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3232" y="4270248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114800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Prepare for interviews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64607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64607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13232" y="5020055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64607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Make better career decisions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14416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614416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13232" y="5769864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614416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Access professional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1115568"/>
            <a:ext cx="4005072" cy="517550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09560" y="1371600"/>
            <a:ext cx="3611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STARTING POINT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1737360"/>
            <a:ext cx="36118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AI Resume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2651760"/>
            <a:ext cx="36118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The resume is the first touchpoint between the user and the 51 Careers ecosystem — the on-ramp to AI Career tools, services, matching, and the marketplace.
One product. One profile. Multiple monetization paths across the career journey.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06  · 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From Career Experience to Quantified Professional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3703320" cy="5138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370332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43584"/>
            <a:ext cx="3246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USERS PROVIDE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Work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38144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41648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Achievements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4515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Career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4865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Target job descriptions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078992"/>
            <a:ext cx="3246120" cy="5138928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371600"/>
            <a:ext cx="2834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OUR AI GENERATES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828800"/>
            <a:ext cx="2834640" cy="2834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Professional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+  Quantified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+  Job-specific</a:t>
            </a:r>
          </a:p>
          <a:p>
            <a:pPr algn="l"/>
            <a:r>
              <a:rPr sz="16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resume content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754880"/>
            <a:ext cx="283464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Optimized for ATS, role, employer, and geography — so one career profile can serve many applications.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Resume Generation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48088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57816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Optimization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7848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Job-Specific Customization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48088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57816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Achievement Quantification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27848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ATS Optimization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8088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57816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Multiple Resume Versions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Cover Letter Generation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48088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57816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Profile Creation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07  ·  PRODUCT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The Product Has Already Been Built and Tested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✓   Demo developed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 working AI Resume product is available for demonstration.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✓   Initial testing 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Early users and internal reviews show promising 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✓   Internal benchmark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Compared against direct outputs from leading general-purpose AI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08960"/>
            <a:ext cx="111831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INITIAL TESTING INDICATES STRONGER PERFORMANCE 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Professional positioning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52344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62072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Achievement quantification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1768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relevance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Career-experience extraction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0616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0344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structure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19472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1091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IMPORTANT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21808"/>
            <a:ext cx="1069848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Current results are based on internal testing. The next stage is larger-scale, structured, blind A/B testing to establish statistically meaningful benchmarks versus general-purpose models.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08  ·  TECHNOLOGY ADVANTAGE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We Are Not Simply Building an LLM Wrapper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11183112" cy="9601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LLM  +  Career Knowledge  +  Resume Framework  +  Job Intelligence  +  User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Career-experience extraction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47288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Achievement quantification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Job-description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1976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9992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optimization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Industry terminology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Role-specific requirements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5624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Geographic resume conventions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51976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ATS optimization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005072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DATA FEEDBACK LOOP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User input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01952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56816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6816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analysis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00984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55848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5848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gen.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0016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0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Application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9048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3912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Feedback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0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2944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Model upgrade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97112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51976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Better outcomes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96144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51008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More users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669280"/>
            <a:ext cx="1118311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Each cycle compounds proprietary career intelligence that generic chat models do not accumulate.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09  ·  GLOBAL 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Resume Is a Naturally Global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 resume is a universal component of the global employment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United States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1768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9784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Central America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51192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79208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United Kingdom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0616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8632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Australia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Singapore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52344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360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Hong Kong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1768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9784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1192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Europe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0616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8632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Middle East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02352"/>
            <a:ext cx="11183112" cy="11887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212080"/>
            <a:ext cx="106070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 UNIVERSAL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468112"/>
            <a:ext cx="106070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“How do I present my professional value to employers?”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33872"/>
            <a:ext cx="106070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That shared problem gives AI Resume a fundamentally different scalability profile from traditional, local career-consulting businesses.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10  ·  GLOBAL PRODUCT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One Platform. Multiple Labor Markets.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4358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Geography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4358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U.S.  ·  Canada  ·  Central America  ·  U.K.  ·  Australia  ·  Europe  ·  Asia  ·  Middle East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39695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39695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85999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Industry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85999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Applicable across industries — including Technology, Fintech, Financial Services, Advanced Manufacturing, Consulting, Healthcare, Marketing, Education, and more.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8211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18211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2841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32841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Student / Graduate / Professional / Manager / Executive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5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224525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29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Target 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370829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Software Engineer / PM / Data Scientist / Marketing / Finance / more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6694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26694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41324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Target employer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41324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Startup / SME / Enterprise / Multinational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11  ·  FROM AI RESUME TO AI CAREER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Resume Is the Entry Point — Not the Destination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“Help me create a better resume.”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Career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“What jobs should I apply for?”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5624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Career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1928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“Help me manage my entire job search.”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1976" y="1115568"/>
            <a:ext cx="2697480" cy="9144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Global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Job seekers × employers × services × education × talent ecosystem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creation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31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762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discovery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764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matching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66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Application optimization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Cover letters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770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Interview prep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772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planning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12  · 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Multiple Monetization Layers Across the Career Journey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01  AI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Subscription, premium AI features, resume packages, AI Career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02  CAREER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Resume consulting, career consulting, interview coaching, premium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03  REFERRAL &amp; COMMISSION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CPA / CPS / revenue share with education, training, and recruitment partners.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04  B2B / EMPLOYERS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Talent acquisition, employer branding, recruitment campaigns, job promotion.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3672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05  ADVERTISING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As traffic scales: relevant brands → targeted career audience.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06  SPONSORSHIP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Career fairs, conferences, recruitment events, AI career events.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13  ·  THE CAREER MONETIZATION FLYWHEEL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One User Can Generate Multiple Revenue 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Free AI Resume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User acquisition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1768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9784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51192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9208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9208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Career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28632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8632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Premium subscription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services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52344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0360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01768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9784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9784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Recruitment / referral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8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Advertising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0616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28632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8632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Employer services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773168"/>
            <a:ext cx="11183112" cy="151790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91947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THEREFORE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230368"/>
            <a:ext cx="1069848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Revenue is not limited to the first AI Resume transaction. The long-term objective is to maximize lifetime value per career user.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14  ·  USER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Digital  +  Offline  +  Organic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Google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TikTok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YouTube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LinkedIn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Search /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44398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Content marketing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2F5D8A"/>
                </a:solidFill>
                <a:latin typeface="Segoe UI"/>
                <a:ea typeface="Segoe UI"/>
                <a:cs typeface="Segoe UI"/>
              </a:rPr>
              <a:t>ORGANIC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AI-search optimization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Career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Educational content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Referral programs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Affiliate partnerships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64424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A6D3B"/>
                </a:solidFill>
                <a:latin typeface="Segoe UI"/>
                <a:ea typeface="Segoe UI"/>
                <a:cs typeface="Segoe UI"/>
              </a:rPr>
              <a:t>OFFLINE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Universities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Career fairs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Student organizations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Professional orgs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Community 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Employer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CORE GROWTH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Free AI product  →  Low-friction acquisition  →  Registration  →  Engagement  →  Monetization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15  ·  CHINA + U.S. + GLOBAL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China as R&amp;D Base  ·  U.S. as Commercialization Market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16736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  ·  R&amp;D AND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Product, design, engineering, AI, testing, marketing operations, B2B business development.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16352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816352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UNITED STATES  ·  INTERNATIONAL GTM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User acquisition, local partnerships, employer and university relationships, offline events, brand building.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17136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517136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718304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GLOBAL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75504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Once product-market fit is established: North America → UK → Australia → Europe → Asia → other markets.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16  ·  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Infrastructure — Not Another Resume Builder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JOB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28800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Large user base  ·  Limited personalized career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GENERAL-PURPOSE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8816" y="1828800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High AI capability  ·  Limited career specialization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255264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TRADITIONAL 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730752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High human service  ·  Low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999232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3255264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AI RESUME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3730752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Resume-focused  ·  Limited ecosystem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19472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047488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51 CAREERS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58384"/>
            <a:ext cx="10698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 +  Career expertise  +  Services  +  Marketplace. We are not competing only with resume builders — we are building career infrastructure.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17  ·  COMPETITIVE ADVANTAGES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Why 51 Careers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Existing career-services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We understand the industry from an operating perspective.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product already in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Not a concept or a slide-deck company. Demo built and tested.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65592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Global scalability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can be distributed worldwide through digital channels.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Multiple monetization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Subscription + services + commission + B2B + ads + sponsorship.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+ human hybrid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for scalable work; humans for high-value, complex services.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Platform potential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The long-term opportunity extends beyond resumes into the career ecosystem.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18  ·  LEADERSHIP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51 Careers.AI Executive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Founder-led. Globally distributed.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3152" cy="245059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225296"/>
            <a:ext cx="32004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Rocky 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FOUNDER &amp; CEO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28800"/>
            <a:ext cx="3200400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Founded 51 Careers in New York in 2016 and built it from a boutique consultancy into a multi-market career-services and technology business.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651760"/>
            <a:ext cx="3200400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Founder of 51 Careers.AI; investor and Managing Director at publicly listed Helio. Architect of the AI-first strategy, including the 2025 Alibaba Cloud AI partnership.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2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33672" y="1115568"/>
            <a:ext cx="73152" cy="245059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25296"/>
            <a:ext cx="32004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Stephanie 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536192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CO-FOUNDER &amp; CFO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1828800"/>
            <a:ext cx="3200400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Co-founder since 2016. U.S. CPA; M.S. Accounting, Pace University.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651760"/>
            <a:ext cx="3200400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Oversees financial strategy, corporate governance, and sustainable growth for 51 Careers and 51 Careers.AI.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64424" y="1115568"/>
            <a:ext cx="73152" cy="245059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1225296"/>
            <a:ext cx="32004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Gavin 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1536192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CO-FOUNDER, CTO &amp; COO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1828800"/>
            <a:ext cx="3200400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Serial entrepreneur (10+ years) across SaaS, AI, and digital business; B.S. Computer Science, ECUST.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651760"/>
            <a:ext cx="3200400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Prior CTO roles and multiple co-founded ventures. Leads technology, operations, and AI.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675888"/>
            <a:ext cx="73152" cy="245059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3785616"/>
            <a:ext cx="32004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Robin Zhu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4096512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HEAD OF PRODUCT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4389120"/>
            <a:ext cx="3200400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Leads product strategy, architecture, and development of the AI-powered career platform.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" y="5212080"/>
            <a:ext cx="3200400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Former CTO &amp; Director of Product at Ci Finance; senior product roles at CPIC, Allinpay, and Noah.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33672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33672" y="3675888"/>
            <a:ext cx="73152" cy="245059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4840" y="3785616"/>
            <a:ext cx="32004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Chris Lin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4096512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NORTH AMERICAN PARTNER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389120"/>
            <a:ext cx="3200400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Full-stack engineer; previously at Amazon Web Services (AWS).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5212080"/>
            <a:ext cx="3200400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B.S. Northwestern; M.S. Robotics. Extensive hiring-panel experience and professional mentorship.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64424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64424" y="3675888"/>
            <a:ext cx="73152" cy="245059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65592" y="3785616"/>
            <a:ext cx="32004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Jon Serbin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65592" y="4096512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SENIOR ADVISOR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65592" y="4389120"/>
            <a:ext cx="3200400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Harvard and MIT; former senior executive at Morgan Stanley; founder of Cedar.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65592" y="5212080"/>
            <a:ext cx="3200400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40+ years in technology M&amp;A and capital raising. Advises 51 Careers on growth and expansion.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19  ·  TEAM &amp; OPERATING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Core founding team in place  ·  Planned hiring funded by this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3584448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EXISTING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FOUNDING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93392"/>
            <a:ext cx="3200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Core founding team 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In place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84448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Product, capital, and go-to-market leadership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59936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Additional roles are not yet hired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35424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This round funds the planned operating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Product, design, engineering, and AI.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 Manager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Designer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3785616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QA /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785616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4169664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Front-End Engineer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4169664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4553712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Back-End Engineers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553712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493776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Engineer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93776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76288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76288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04304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04304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 GROWTH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04304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2+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04304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Performance marketing and B2B development.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4304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Marketing / Performance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04304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B2B Business Development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59368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1+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54896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54896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82912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82912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U.S. GROWTH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82912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82912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Paid digital and local field marketing.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82912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Performance Marketing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7976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82912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Local / Field Marketing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37976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5779008"/>
            <a:ext cx="11183112" cy="53035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852160"/>
            <a:ext cx="106984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Only the core founding team is in place today. China technology, China growth, and U.S. growth roles are planned hires — not current headcount.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20  ·  USE OF FUNDS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20 Million Growth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RMB 13.1M is a planned personnel + advertising budget. Remaining capital funds infrastructure, AI, operations, events, expansion and working capital.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07008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49240" y="1261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Marketing &amp; user acquisition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1261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40%   ·   RMB 8.0M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719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 &amp; AI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19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22.5%   ·   RMB 4.5M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1762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U.S. market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21762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12.5%   ·   RMB 2.5M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6334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China market &amp;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6334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7.5%   ·   RMB 1.5M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906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Brand &amp;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0906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7.5%   ·   RMB 1.5M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547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Operations / legal /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547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5%   ·   RMB 1.0M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05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Cash reserve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4005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5%   ·   RMB 1.0M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PERSONNEL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5.1M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hiring budget — not current payroll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CHINA 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1.0M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annual spend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U.S. 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7.0M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annual spend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P+A BUDGET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13.1M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personnel + advertising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21  ·  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Validation  →  Growth  →  Global Expansion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PHASE 1  ·  0–6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Product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Launch AI Resume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Improve AI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Structured A/B testing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Initial CAC benchmarks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Conversion funnel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Validate pricing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PHASE 2  ·  6–12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Scale paid acquisition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Build SEO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Expand U.S. acquisition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B2B partnerships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More AI Career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Expand monetization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1115568"/>
            <a:ext cx="3584448" cy="82296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PHASE 3  ·  12–24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Global expansion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More English-speaking markets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Localized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Global partnerships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Employer ecosystem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Marketplace capabilities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Central America expansion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22  ·  THREE-YEAR FINANCIAL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Users, Revenue,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Illustrative 2027E–2029E operating plan. Figures in US$.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2027E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2028E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2029E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828800"/>
            <a:ext cx="3401568" cy="64922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1.0M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3.0M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7.0M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25511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Registered users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300K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9656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1.0M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2.5M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2369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Monthly active users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150K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1.25M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39227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Paid users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15K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19656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60K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180K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" y="46085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Paid 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19656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6.0%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5294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MAU / registered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19656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360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33672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33672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9976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REVENUE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9704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2027E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50408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2028E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1112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2029E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9976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AI revenue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9704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$0.70M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50408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$2.40M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$8.40M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79976" y="25511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Career services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9704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$0.50M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50408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$1.60M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11112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$5.60M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79976" y="32369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Commission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9704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$0.30M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50408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$1.20M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$4.20M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79976" y="39227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Advertising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9704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$0.20M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50408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$0.80M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11112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$2.80M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79976" y="46085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B2B revenue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89704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$0.30M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50408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$2.00M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11112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$7.00M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5112" y="5257800"/>
            <a:ext cx="3401568" cy="64922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79976" y="5294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Total revenue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9704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$2.00M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50408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$8.00M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11112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$28.00M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964424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964424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10728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PROFITABILITY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0456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2027E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2028E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341864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2029E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10728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Gross margin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0456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65%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81160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1864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10728" y="268833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Gross profit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0456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$1.30M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81160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$5.60M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41864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$21.00M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10728" y="351129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EBITDA margin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0456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–50%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81160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–15%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41864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10728" y="433425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EBITDA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0456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–$1.00M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81160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–$1.20M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41864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$4.20M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55864" y="5120640"/>
            <a:ext cx="3401568" cy="78638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10728" y="515721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Profitability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0456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Loss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81160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Loss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341864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Profitable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920" y="6163056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Management projections for discussion. Not a forecast. Paid conversion is paid users / registered users.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23  ·  INVESTMENT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The Next Generation of Career Services Will Be AI + Human +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1673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Generative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Professional content creation is now cheap, fast, and widely adopted.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35624" y="111556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31673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Global employment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86537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Talent is mobile. English-language careers travel across markets.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8152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28269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3133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Advice is still manual, expensive, and hard to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308152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28269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Digital user acquisition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83133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 free AI Resume is a low-friction, global top-of-funnel.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38928"/>
            <a:ext cx="11183112" cy="115214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248656"/>
            <a:ext cx="106070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 OPPORTUNITY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04688"/>
            <a:ext cx="106070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next generation of career services will be AI + human + platform. The AI Resume is the entry point; the ambition is the global AI career platform.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24  ·  FINANCING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Current Financing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20 million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US$2.97 million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PRE-MONEY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180 million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US$26.7 million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POST-MONEY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200 million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US$29.7 million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EQUITY OFFERED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Primary preferred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3672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Preferred equity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Indicative; subject to docs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64424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4424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2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USE OF CAPITAL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Product, users, global GTM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Monetization + ecosystem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486400"/>
            <a:ext cx="11183112" cy="80467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632704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Capital will be used to build the product, acquire users, expand globally, build monetization, and develop the career ecosystem.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RMB 20M  →  WHAT INVESTORS 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12–18 month targets this round is designed to fund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Public 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live for users in China and the U.S.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5576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5576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50–100k 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5576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Registered users; funnel instrumented end-to-end.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Blind A/B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Statistically meaningful quality vs. general-purpose models.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 economics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CAC, conversion, ARPU, and payback benchmarks.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U.S. acquisition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Paid digital + university/offline channels operating.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First paid cohort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subscriptions and career-services attach live.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B2B pipeline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Employer and education-partner conversations in market.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Next-round pack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Traction, model, and data room ready for the following raise.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650992"/>
            <a:ext cx="11183112" cy="640080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760720"/>
            <a:ext cx="106984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RMB 20M  →  product + users + benchmarks  →  revenue  →  next round  →  valuation step-up.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25  · 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We are not building another AI resume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We are building the Global AI Career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AI   ×   Career   ×   Talent   ×  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51 CAREERS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016752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CHINA R&amp;D   ·   U.S. COMMERCIALIZATION   ·   GLOBAL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6B7C8F"/>
                </a:solidFill>
                <a:latin typeface="Segoe UI"/>
                <a:ea typeface="Segoe UI"/>
                <a:cs typeface="Segoe UI"/>
              </a:rPr>
              <a:t>51 CAREERS   ·   CONFIDENTIAL   ·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“Our mission is to make great jobs accessible to everyone.”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D7EBE8"/>
                </a:solidFill>
                <a:latin typeface="Georgia"/>
                <a:ea typeface="Georgia"/>
                <a:cs typeface="Georgia"/>
              </a:rPr>
              <a:t>Rocky Chen  ·  Founder &amp; Chief Executive Officer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5468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347472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364992"/>
            <a:ext cx="307238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EMAIL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703320"/>
            <a:ext cx="307238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rocky@helio.space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15468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3154680"/>
            <a:ext cx="347472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3364992"/>
            <a:ext cx="307238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3703320"/>
            <a:ext cx="307238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19921169641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15468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3154680"/>
            <a:ext cx="347472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3364992"/>
            <a:ext cx="307238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3703320"/>
            <a:ext cx="307238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www.helio.space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info@helio.space   ·   (510) 545-2666   ·   2448 Sixth Street, Berkeley, CA 94710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016752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ROCKY CHEN   ·   ROCKY@HELIO.SPACE   ·   19921169641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6B7C8F"/>
                </a:solidFill>
                <a:latin typeface="Segoe UI"/>
                <a:ea typeface="Segoe UI"/>
                <a:cs typeface="Segoe UI"/>
              </a:rPr>
              <a:t>51 CAREERS   ·   CONFIDENTIAL   ·  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