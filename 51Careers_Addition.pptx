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Use of Funds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Marketing &amp; user acquisition</c:v>
                </c:pt>
                <c:pt idx="1">
                  <c:v>Product &amp; AI development</c:v>
                </c:pt>
                <c:pt idx="2">
                  <c:v>U.S. market expansion</c:v>
                </c:pt>
                <c:pt idx="3">
                  <c:v>China market &amp; B2B</c:v>
                </c:pt>
                <c:pt idx="4">
                  <c:v>Brand &amp; events</c:v>
                </c:pt>
                <c:pt idx="5">
                  <c:v>Operations / legal / finance</c:v>
                </c:pt>
                <c:pt idx="6">
                  <c:v>Cash reserve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</c:v>
                </c:pt>
                <c:pt idx="1">
                  <c:v>22.5</c:v>
                </c:pt>
                <c:pt idx="2">
                  <c:v>12.5</c:v>
                </c:pt>
                <c:pt idx="3">
                  <c:v>7.5</c:v>
                </c:pt>
                <c:pt idx="4">
                  <c:v>7.5</c:v>
                </c:pt>
                <c:pt idx="5">
                  <c:v>5</c:v>
                </c:pt>
                <c:pt idx="6">
                  <c:v>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CONFIDENTIAL INVESTOR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51 CAREERS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44752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Building the Global AI Career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AI Resume  →  AI Career  →  Global Talent Ecosystem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31720"/>
            <a:ext cx="109728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Seeking RMB 20 Million in Growth Capital   ·   ≈ US$2.97 Million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88920"/>
            <a:ext cx="3520440" cy="1965960"/>
          </a:xfrm>
          <a:prstGeom prst="roundRect">
            <a:avLst>
              <a:gd name="adj" fmla="val 6000"/>
            </a:avLst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788920"/>
            <a:ext cx="352044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999232"/>
            <a:ext cx="3154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PRE-MONEY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310128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RMB 180M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02336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≈ US$26.7 million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2788920"/>
            <a:ext cx="3520440" cy="1965960"/>
          </a:xfrm>
          <a:prstGeom prst="roundRect">
            <a:avLst>
              <a:gd name="adj" fmla="val 6000"/>
            </a:avLst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2788920"/>
            <a:ext cx="352044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44568" y="2999232"/>
            <a:ext cx="3154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RAISE  ·  10% EQUITY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3310128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RMB 20M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4568" y="402336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≈ US$2.97 million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2788920"/>
            <a:ext cx="3520440" cy="1965960"/>
          </a:xfrm>
          <a:prstGeom prst="roundRect">
            <a:avLst>
              <a:gd name="adj" fmla="val 6000"/>
            </a:avLst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2788920"/>
            <a:ext cx="352044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47888" y="2999232"/>
            <a:ext cx="3154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POST-MONEY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8" y="3310128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RMB 200M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02336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≈ US$29.7 million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919472"/>
            <a:ext cx="1097280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C5D5E0"/>
                </a:solidFill>
                <a:latin typeface="Segoe UI"/>
                <a:ea typeface="Segoe UI"/>
                <a:cs typeface="Segoe UI"/>
              </a:rPr>
              <a:t>The resume is the entry point. The ambition is the global AI career platform — connecting job seekers, employers, career services, education, and the talent ecosystem.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17220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9AB0C0"/>
                </a:solidFill>
                <a:latin typeface="Segoe UI"/>
                <a:ea typeface="Segoe UI"/>
                <a:cs typeface="Segoe UI"/>
              </a:rPr>
              <a:t>CHINA R&amp;D   ·   U.S. COMMERCIALIZATION   ·   GLOBAL DISTRIBUTION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01  ·  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Building the AI-Powered Future of Career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Career Services  →  AI Resume  →  AI Career Platform  →  Global Career Marketplace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70432"/>
            <a:ext cx="5212080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70432"/>
            <a:ext cx="73152" cy="507492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53312"/>
            <a:ext cx="4709160" cy="4709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Who we are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51 Careers is building a global AI Career Platform to help job seekers create better resumes, discover opportunities, improve job-search outcomes, and access professional career services.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Entry point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An AI-powered Resume Platform that turns unstructured career experience into professional, quantified, job-specific resumes.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This round</a:t>
            </a:r>
          </a:p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RMB 20 million (10% of RMB 200 million post-money) to accelerate product development, user acquisition, and global commercialization. Pre-money RMB 180 million.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170432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71616" y="1261872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1616" y="1536192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AI Resume demo already developed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170432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51976" y="1261872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1976" y="1536192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Initial testing completed with promising results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2432304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2523744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1616" y="2798064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Stronger professional positioning &amp; quantification vs. general-purpose models in internal tests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2432304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51976" y="2523744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1976" y="2798064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Product can serve users globally from day 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0" y="3694176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616" y="3785616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71616" y="4059936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Existing career-services business: domain expertise + monetization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23960" y="3694176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51976" y="3785616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51976" y="4059936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U.S. market as the first international growth beachhead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4956048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1616" y="5047488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1616" y="5321808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Multiple revenue streams beyond AI Resume subscriptions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23960" y="4956048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51976" y="5047488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51976" y="5321808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RMB 20M to fund product, acquisition, and global go-to-market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02  · 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Job Seeking Is Still Highly Inefficient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For millions of candidates the process remains fragmented, expensive, and low-signal.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2139696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2139696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353312"/>
            <a:ext cx="188366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874519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Resume Quality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2697480"/>
            <a:ext cx="1883664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Most candidates struggle to communicate experience in a professional, results-oriented way.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52344" y="1115568"/>
            <a:ext cx="2139696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52344" y="1115568"/>
            <a:ext cx="2139696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1353312"/>
            <a:ext cx="188366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1874519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Quantification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697480"/>
            <a:ext cx="1883664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People describe responsibilities rather than measurable achievements.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01768" y="1115568"/>
            <a:ext cx="2139696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01768" y="1115568"/>
            <a:ext cx="2139696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9784" y="1353312"/>
            <a:ext cx="188366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9784" y="1874519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Personalization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9784" y="2697480"/>
            <a:ext cx="1883664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One generic resume rarely works across jobs and employers.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51192" y="1115568"/>
            <a:ext cx="2139696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51192" y="1115568"/>
            <a:ext cx="2139696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9208" y="1353312"/>
            <a:ext cx="188366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9208" y="1874519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Job Matching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2697480"/>
            <a:ext cx="1883664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Candidates apply without a clear view of actual fit.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0616" y="1115568"/>
            <a:ext cx="2139696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00616" y="1115568"/>
            <a:ext cx="2139696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28632" y="1353312"/>
            <a:ext cx="188366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28632" y="1874519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Career Guidance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28632" y="2697480"/>
            <a:ext cx="1883664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Professional advice remains expensive and consultant-dependent.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212080"/>
            <a:ext cx="11183112" cy="1078992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321808"/>
            <a:ext cx="106984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THE RESULT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614416"/>
            <a:ext cx="106984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Low-quality applications  →  Low interview rates  →  Long job searches  →  High frustration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03  ·  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AI Is Reshaping the Career Services Industry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Generative AI has changed how people create, communicate, and consume professional information.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539496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5394960" cy="91440"/>
          </a:xfrm>
          <a:prstGeom prst="rect">
            <a:avLst/>
          </a:prstGeom>
          <a:solidFill>
            <a:srgbClr val="8A6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371600"/>
            <a:ext cx="4937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8A6D3B"/>
                </a:solidFill>
                <a:latin typeface="Segoe UI"/>
                <a:ea typeface="Segoe UI"/>
                <a:cs typeface="Segoe UI"/>
              </a:rPr>
              <a:t>TRADITIONAL MODEL  ·  HUMAN CONSULTANT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1847088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→   Manual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432304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→   Manual resume writing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017520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→   Manual job 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602736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→   High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4187952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→   Limited scalability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115568"/>
            <a:ext cx="539496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115568"/>
            <a:ext cx="539496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5392" y="1371600"/>
            <a:ext cx="4937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AI-ENABLED MODEL  ·  CAREER PLATFORM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5392" y="1847088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→   Automated career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5392" y="2432304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→   AI resume generation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3017520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→   Job matching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3602736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→   Continuous optimization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4187952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→   Global scalability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12080"/>
            <a:ext cx="11183112" cy="1078992"/>
          </a:xfrm>
          <a:prstGeom prst="roundRect">
            <a:avLst>
              <a:gd name="adj" fmla="val 6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340096"/>
            <a:ext cx="106984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OUR OPPORTUNITY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32704"/>
            <a:ext cx="106984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Transform high-cost, labor-intensive career services into a scalable AI-powered platform.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04  ·  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Three Structural Trends Are Converging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AI adoption, data-driven hiring, and fragmented career services are moving at the same 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1335024"/>
            <a:ext cx="314553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1755648"/>
            <a:ext cx="314553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Generative AI has reached mass adoption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834640"/>
            <a:ext cx="3145536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Consumers are increasingly comfortable using AI for professional and personal tasks. That adoption is the distribution opening for an AI career product.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33672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1335024"/>
            <a:ext cx="314553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755648"/>
            <a:ext cx="314553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Recruiting is becoming more data-driven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2834640"/>
            <a:ext cx="3145536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Employers rely on structured information, keywords, measurable achievements, and automated screening. Candidates need a product that writes to that standard.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4424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1335024"/>
            <a:ext cx="314553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1755648"/>
            <a:ext cx="314553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Career services remain fragmented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2834640"/>
            <a:ext cx="3145536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The industry is still dependent on manual services and fragmented providers. That gap is the opening for a scalable AI + human platform.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12080"/>
            <a:ext cx="11183112" cy="1078992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340096"/>
            <a:ext cx="106984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51 CAREERS SITS AT THE INTERSECTION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632704"/>
            <a:ext cx="106984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AI   ×   Employment   ×   Career Services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MARKET 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TAM  →  SAM  →  SOM  →  Three-Year Revenue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From global job seekers to paid AI career users. Illustrative, for discussion.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3584448" cy="2999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280160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01   ·   TAM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591056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US$ 200B+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15798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4283C"/>
                </a:solidFill>
                <a:latin typeface="Georgia"/>
                <a:ea typeface="Georgia"/>
                <a:cs typeface="Georgia"/>
              </a:rPr>
              <a:t>RMB 1.35T+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505456"/>
            <a:ext cx="3182112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Global recruitment, talent-acquisition, and career-development spend.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33672" y="1115568"/>
            <a:ext cx="3584448" cy="2999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280160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02   ·   SAM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591056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US$ 30B+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15798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4283C"/>
                </a:solidFill>
                <a:latin typeface="Georgia"/>
                <a:ea typeface="Georgia"/>
                <a:cs typeface="Georgia"/>
              </a:rPr>
              <a:t>RMB 200B+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505456"/>
            <a:ext cx="3182112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Digital / AI-enabled hiring tools, resume products, and online career preparation.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64424" y="1115568"/>
            <a:ext cx="3584448" cy="2999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65592" y="1280160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03   ·   SOM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5592" y="1591056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US$ 1.5B+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5592" y="215798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4283C"/>
                </a:solidFill>
                <a:latin typeface="Georgia"/>
                <a:ea typeface="Georgia"/>
                <a:cs typeface="Georgia"/>
              </a:rPr>
              <a:t>RMB 10B+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2505456"/>
            <a:ext cx="3182112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AI resume and career-assistant demand in initial markets: China, the U.S., and English-speaking Asia.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24528"/>
            <a:ext cx="11183112" cy="20665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224528"/>
            <a:ext cx="73152" cy="2066543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334256"/>
            <a:ext cx="10607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51 CAREERS  ·  2027E–2029E REVENUE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663440"/>
            <a:ext cx="33832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2027E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4901184"/>
            <a:ext cx="33832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US$ 2.0M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5394960"/>
            <a:ext cx="33832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E6E80"/>
                </a:solidFill>
                <a:latin typeface="Georgia"/>
                <a:ea typeface="Georgia"/>
                <a:cs typeface="Georgia"/>
              </a:rPr>
              <a:t>≈ RMB 13.5M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3984" y="4663440"/>
            <a:ext cx="33832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2028E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43984" y="4901184"/>
            <a:ext cx="33832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US$ 8.0M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43984" y="5394960"/>
            <a:ext cx="33832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E6E80"/>
                </a:solidFill>
                <a:latin typeface="Georgia"/>
                <a:ea typeface="Georgia"/>
                <a:cs typeface="Georgia"/>
              </a:rPr>
              <a:t>≈ RMB 53.8M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74736" y="4663440"/>
            <a:ext cx="33832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2029E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74736" y="4901184"/>
            <a:ext cx="33832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US$ 28.0M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74736" y="5394960"/>
            <a:ext cx="33832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E6E80"/>
                </a:solidFill>
                <a:latin typeface="Georgia"/>
                <a:ea typeface="Georgia"/>
                <a:cs typeface="Georgia"/>
              </a:rPr>
              <a:t>≈ RMB 188.4M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" y="5779008"/>
            <a:ext cx="106984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Logic: global job seekers  →  addressable AI Resume users  →  paid conversion  →  stacked revenue (AI + services + commission + B2B + ads).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05  ·  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51 Careers AI Career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Not another AI writing tool — an AI-powered career infrastructure layer.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69037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73152" cy="676656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271016"/>
            <a:ext cx="512064" cy="365760"/>
          </a:xfrm>
          <a:prstGeom prst="roundRect">
            <a:avLst>
              <a:gd name="adj" fmla="val 25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115568"/>
            <a:ext cx="585216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Understand professional experience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65376"/>
            <a:ext cx="69037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865376"/>
            <a:ext cx="73152" cy="676656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13232" y="2020824"/>
            <a:ext cx="512064" cy="365760"/>
          </a:xfrm>
          <a:prstGeom prst="roundRect">
            <a:avLst>
              <a:gd name="adj" fmla="val 25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865376"/>
            <a:ext cx="585216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Build a stronger professional 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615184"/>
            <a:ext cx="69037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615184"/>
            <a:ext cx="73152" cy="676656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13232" y="2770632"/>
            <a:ext cx="512064" cy="365760"/>
          </a:xfrm>
          <a:prstGeom prst="roundRect">
            <a:avLst>
              <a:gd name="adj" fmla="val 25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615184"/>
            <a:ext cx="585216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Generate optimized resumes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364991"/>
            <a:ext cx="69037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364991"/>
            <a:ext cx="73152" cy="676656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13232" y="3520439"/>
            <a:ext cx="512064" cy="365760"/>
          </a:xfrm>
          <a:prstGeom prst="roundRect">
            <a:avLst>
              <a:gd name="adj" fmla="val 25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364991"/>
            <a:ext cx="585216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Match with relevant opportunities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114800"/>
            <a:ext cx="69037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114800"/>
            <a:ext cx="73152" cy="676656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13232" y="4270248"/>
            <a:ext cx="512064" cy="365760"/>
          </a:xfrm>
          <a:prstGeom prst="roundRect">
            <a:avLst>
              <a:gd name="adj" fmla="val 25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114800"/>
            <a:ext cx="585216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Prepare for interviews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64607"/>
            <a:ext cx="69037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864607"/>
            <a:ext cx="73152" cy="676656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13232" y="5020055"/>
            <a:ext cx="512064" cy="365760"/>
          </a:xfrm>
          <a:prstGeom prst="roundRect">
            <a:avLst>
              <a:gd name="adj" fmla="val 25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64607"/>
            <a:ext cx="585216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Make better career decisions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14416"/>
            <a:ext cx="69037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5614416"/>
            <a:ext cx="73152" cy="676656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13232" y="5769864"/>
            <a:ext cx="512064" cy="365760"/>
          </a:xfrm>
          <a:prstGeom prst="roundRect">
            <a:avLst>
              <a:gd name="adj" fmla="val 25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5614416"/>
            <a:ext cx="585216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Access professional services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0960" y="1115568"/>
            <a:ext cx="4005072" cy="5175504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09560" y="1371600"/>
            <a:ext cx="36118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STARTING POINT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09560" y="1737360"/>
            <a:ext cx="36118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AI Resume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2651760"/>
            <a:ext cx="3611880" cy="3200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The resume is the first touchpoint between the user and the 51 Careers ecosystem — the on-ramp to AI Career tools, services, matching, and the marketplace.
One product. One profile. Multiple monetization paths across the career journey.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06  · 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From Career Experience to Quantified Professional Value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78992"/>
            <a:ext cx="3703320" cy="5138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370332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43584"/>
            <a:ext cx="3246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USERS PROVIDE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▸  Education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31136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▸  Work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▸  Projects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38144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▸  Skills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41648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▸  Achievements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45152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▸  Career goals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248656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▸  Target job descriptions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078992"/>
            <a:ext cx="3246120" cy="5138928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371600"/>
            <a:ext cx="28346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OUR AI GENERATES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1828800"/>
            <a:ext cx="2834640" cy="2834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Professional</a:t>
            </a:r>
          </a:p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+  Quantified</a:t>
            </a:r>
          </a:p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+  Job-specific</a:t>
            </a:r>
          </a:p>
          <a:p>
            <a:pPr algn="l"/>
            <a:r>
              <a:rPr sz="16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resume content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4754880"/>
            <a:ext cx="283464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Optimized for ATS, role, employer, and geography — so one career profile can serve many applications.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107899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133502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AI Resume Generation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48088" y="107899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57816" y="133502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Resume Optimization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235915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27848" y="261518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Job-Specific Customization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48088" y="235915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57816" y="261518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Achievement Quantification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363931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27848" y="389534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ATS Optimization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48088" y="363931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57816" y="389534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Multiple Resume Versions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18120" y="491947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27848" y="517550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Cover Letter Generation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848088" y="491947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57816" y="517550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Career Profile Creation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07  ·  PRODUCT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The Product Has Already Been Built and Tested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298448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✓   Demo developed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1737360"/>
            <a:ext cx="3182112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 working AI Resume product is available for demonstration.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33672" y="1115568"/>
            <a:ext cx="3584448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298448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✓   Initial testing completed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737360"/>
            <a:ext cx="3182112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Early users and internal reviews show promising quality.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4424" y="1115568"/>
            <a:ext cx="3584448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65592" y="1298448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✓   Internal benchmark testing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5592" y="1737360"/>
            <a:ext cx="3182112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Compared against direct outputs from leading general-purpose AI models.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108960"/>
            <a:ext cx="111831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INITIAL TESTING INDICATES STRONGER PERFORMANCE 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438144"/>
            <a:ext cx="2139696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3749039"/>
            <a:ext cx="19202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Professional positioning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52344" y="3438144"/>
            <a:ext cx="2139696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62072" y="3749039"/>
            <a:ext cx="19202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Achievement quantification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01768" y="3438144"/>
            <a:ext cx="2139696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11496" y="3749039"/>
            <a:ext cx="19202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Job relevance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51192" y="3438144"/>
            <a:ext cx="2139696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60920" y="3749039"/>
            <a:ext cx="19202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Career-experience extraction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0616" y="3438144"/>
            <a:ext cx="2139696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10344" y="3749039"/>
            <a:ext cx="19202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Resume structure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919472"/>
            <a:ext cx="11183112" cy="13716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010912"/>
            <a:ext cx="10698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IMPORTANT NOTE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321808"/>
            <a:ext cx="1069848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Current results are based on internal testing. The next stage is larger-scale, structured, blind A/B testing to establish statistically meaningful benchmarks versus general-purpose models.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08  ·  TECHNOLOGY ADVANTAGE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We Are Not Simply Building an LLM Wrapper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78992"/>
            <a:ext cx="11183112" cy="960120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LLM  +  Career Knowledge  +  Resume Framework  +  Job Intelligence  +  User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7627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237744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Career-experience extraction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9272" y="217627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47288" y="237744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Achievement quantification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217627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37744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Job-description analysis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51976" y="217627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79992" y="237744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Resume optimization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04495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324612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Industry terminology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9272" y="304495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47288" y="324612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Role-specific requirements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35624" y="304495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324612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Geographic resume conventions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51976" y="304495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79992" y="324612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ATS optimization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005072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DATA FEEDBACK LOOP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7784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User input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01952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56816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56816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AI analysis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00984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55848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55848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Resume gen.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00016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0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Application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99048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53912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53912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Feedback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0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52944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Model upgrade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897112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51976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51976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Better outcomes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296144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351008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51008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More users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5669280"/>
            <a:ext cx="1118311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Each cycle compounds proprietary career intelligence that generic chat models do not accumulate.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09  ·  GLOBAL MARKET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AI Resume Is a Naturally Global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A resume is a universal component of the global employment market.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170992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United States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52344" y="111556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170992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Canada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01768" y="111556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9784" y="170992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Central America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51192" y="111556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79208" y="170992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United Kingdom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0616" y="111556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28632" y="170992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Australia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08152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67588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Singapore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52344" y="308152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80360" y="367588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Hong Kong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01768" y="308152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9784" y="367588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China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51192" y="308152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9208" y="367588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Europe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0616" y="308152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28632" y="367588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Middle East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102352"/>
            <a:ext cx="11183112" cy="1188720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212080"/>
            <a:ext cx="106070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THE UNIVERSAL QUESTION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468112"/>
            <a:ext cx="1060704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“How do I present my professional value to employers?”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833872"/>
            <a:ext cx="1060704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That shared problem gives AI Resume a fundamentally different scalability profile from traditional, local career-consulting businesses.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10  ·  GLOBAL PRODUCT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One Platform. Multiple Labor Markets.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11183112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73152" cy="96926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43584"/>
            <a:ext cx="292608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Geography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43584"/>
            <a:ext cx="7498079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U.S.  ·  Canada  ·  Central America  ·  U.K.  ·  Australia  ·  Europe  ·  Asia  ·  Middle East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39695"/>
            <a:ext cx="11183112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139695"/>
            <a:ext cx="73152" cy="96926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285999"/>
            <a:ext cx="292608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Industry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285999"/>
            <a:ext cx="7498079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Applicable across industries — including Technology, Fintech, Financial Services, Advanced Manufacturing, Consulting, Healthcare, Marketing, Education, and more.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82110"/>
            <a:ext cx="11183112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3182110"/>
            <a:ext cx="73152" cy="96926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328414"/>
            <a:ext cx="292608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Career level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328414"/>
            <a:ext cx="7498079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Student / Graduate / Professional / Manager / Executive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224525"/>
            <a:ext cx="11183112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224525"/>
            <a:ext cx="73152" cy="96926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370829"/>
            <a:ext cx="292608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Target role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4370829"/>
            <a:ext cx="7498079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Software Engineer / PM / Data Scientist / Marketing / Finance / more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66940"/>
            <a:ext cx="11183112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5266940"/>
            <a:ext cx="73152" cy="96926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413244"/>
            <a:ext cx="292608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Target employer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5413244"/>
            <a:ext cx="7498079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Startup / SME / Enterprise / Multinational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11  ·  FROM AI RESUME TO AI CAREER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Resume Is the Entry Point — Not the Destination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269748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PHASE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1719072"/>
            <a:ext cx="2404872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AI Resume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2697480"/>
            <a:ext cx="2404872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“Help me create a better resume.”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9272" y="1115568"/>
            <a:ext cx="269748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19272" y="1115568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65576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PHASE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65576" y="1719072"/>
            <a:ext cx="2404872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AI Career Assistant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5576" y="2697480"/>
            <a:ext cx="2404872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“What jobs should I apply for?”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35624" y="1115568"/>
            <a:ext cx="269748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35624" y="1115568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1928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PHASE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1928" y="1719072"/>
            <a:ext cx="2404872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AI Career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1928" y="2697480"/>
            <a:ext cx="2404872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“Help me manage my entire job search.”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51976" y="1115568"/>
            <a:ext cx="269748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51976" y="1115568"/>
            <a:ext cx="2697480" cy="9144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98280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PHASE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1719072"/>
            <a:ext cx="2404872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Global Platform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2697480"/>
            <a:ext cx="2404872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Job seekers × employers × services × education × talent ecosystem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0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Resume creation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031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762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Job discovery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033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764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Job matching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766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Application optimization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037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768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Cover letters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039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770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Interview prep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772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Career planning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12  ·  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Multiple Monetization Layers Across the Career Journey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40817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01  AI 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16712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Subscription, premium AI features, resume packages, AI Career tools.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33672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40817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02  CAREER SERVICES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16712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Resume consulting, career consulting, interview coaching, premium services.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64424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5592" y="140817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03  REFERRAL &amp; COMMISSION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216712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CPA / CPS / revenue share with education, training, and recruitment partners.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67588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96849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04  B2B / EMPLOYERS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72744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Talent acquisition, employer branding, recruitment campaigns, job promotion.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33672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33672" y="367588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396849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05  ADVERTISING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72744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As traffic scales: relevant brands → targeted career audience.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64424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64424" y="367588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65592" y="396849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06  SPONSORSHIP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472744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Career fairs, conferences, recruitment events, AI career events.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13  ·  THE CAREER MONETIZATION FLYWHEEL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One User Can Generate Multiple Revenue Opportunities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31673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" y="170992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Free AI Resume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52344" y="111556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131673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170992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User acquisition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01768" y="111556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9784" y="131673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9784" y="170992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Career 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51192" y="111556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9208" y="131673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9208" y="170992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AI Career tools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0616" y="111556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28632" y="131673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28632" y="170992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Premium subscription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89864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309981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49300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Career services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52344" y="289864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80360" y="309981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349300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Job matching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01768" y="289864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9784" y="309981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9784" y="349300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Recruitment / referral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51192" y="289864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79208" y="309981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9208" y="349300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Advertising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0616" y="289864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28632" y="309981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28632" y="349300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Employer services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773168"/>
            <a:ext cx="11183112" cy="1517904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4919472"/>
            <a:ext cx="10698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THEREFORE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230368"/>
            <a:ext cx="1069848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Revenue is not limited to the first AI Resume transaction. The long-term objective is to maximize lifetime value per career user.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14  ·  USER ACQUISITION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Digital  +  Offline  +  Organic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335024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DIGITAL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81051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Google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249424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Meta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688336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TikTok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3127248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YouTube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566160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LinkedIn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00507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Search / social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443984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Content marketing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33672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2F5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335024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2F5D8A"/>
                </a:solidFill>
                <a:latin typeface="Segoe UI"/>
                <a:ea typeface="Segoe UI"/>
                <a:cs typeface="Segoe UI"/>
              </a:rPr>
              <a:t>ORGANIC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181051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SEO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249424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AI-search optimization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2688336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Career content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127248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Educational content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3566160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Referral programs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00507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Affiliate partnerships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64424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8A6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65592" y="1335024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8A6D3B"/>
                </a:solidFill>
                <a:latin typeface="Segoe UI"/>
                <a:ea typeface="Segoe UI"/>
                <a:cs typeface="Segoe UI"/>
              </a:rPr>
              <a:t>OFFLINE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5592" y="181051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Universities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2249424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Career fairs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5592" y="2688336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Student organizations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5592" y="3127248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Professional orgs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5592" y="3566160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Community events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5592" y="400507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Employer events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212080"/>
            <a:ext cx="11183112" cy="1078992"/>
          </a:xfrm>
          <a:prstGeom prst="roundRect">
            <a:avLst>
              <a:gd name="adj" fmla="val 6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340096"/>
            <a:ext cx="106984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CORE GROWTH STRATEGY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32704"/>
            <a:ext cx="106984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Free AI product  →  Low-friction acquisition  →  Registration  →  Engagement  →  Monetization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15  ·  CHINA + U.S. + GLOBAL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China as R&amp;D Base  ·  U.S. as Commercialization Market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11183112" cy="16093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73152" cy="160934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16736"/>
            <a:ext cx="105156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CHINA  ·  R&amp;D AND 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73936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Product, design, engineering, AI, testing, marketing operations, B2B business development.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816352"/>
            <a:ext cx="11183112" cy="16093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816352"/>
            <a:ext cx="73152" cy="160934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017520"/>
            <a:ext cx="105156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UNITED STATES  ·  INTERNATIONAL GTM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74720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User acquisition, local partnerships, employer and university relationships, offline events, brand building.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517136"/>
            <a:ext cx="11183112" cy="16093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4517136"/>
            <a:ext cx="73152" cy="160934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718304"/>
            <a:ext cx="105156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GLOBAL EXPANSION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175504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Once product-market fit is established: North America → UK → Australia → Europe → Asia → other markets.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16  ·  COMPETITIVE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Career Infrastructure — Not Another Resume Builder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353312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JOB PLATFORMS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28800"/>
            <a:ext cx="4956048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Large user base  ·  Limited personalized career intelligence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097280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28816" y="1353312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GENERAL-PURPOSE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28816" y="1828800"/>
            <a:ext cx="4956048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High AI capability  ·  Limited career specialization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255264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TRADITIONAL CAREER SERVICES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730752"/>
            <a:ext cx="4956048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High human service  ·  Low scalability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999232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28816" y="3255264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AI RESUME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3730752"/>
            <a:ext cx="4956048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Resume-focused  ·  Limited ecosystem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919472"/>
            <a:ext cx="11183112" cy="1371600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047488"/>
            <a:ext cx="10698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51 CAREERS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358384"/>
            <a:ext cx="10698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 +  Career expertise  +  Services  +  Marketplace. We are not competing only with resume builders — we are building career infrastructure.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17  ·  COMPETITIVE ADVANTAGES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Why 51 Careers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31673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175564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Existing career-services foundation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48716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We understand the industry from an operating perspective.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33672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31673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75564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AI product already in development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48716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Not a concept or a slide-deck company. Demo built and tested.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64424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65592" y="131673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5592" y="175564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Global scalability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248716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AI Resume can be distributed worldwide through digital channels.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387705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" y="431596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Multiple monetization paths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504748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Subscription + services + commission + B2B + ads + sponsorship.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33672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387705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31596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AI + human hybrid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504748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AI for scalable work; humans for high-value, complex services.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64424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65592" y="387705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5592" y="431596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Platform potential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504748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The long-term opportunity extends beyond resumes into the career ecosystem.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18  ·  LEADERSHIP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51 Careers.AI Executive 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Founder-led. Globally distributed. Full biographies available in the data room.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73152" cy="245059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28016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Rocky Chen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645920"/>
            <a:ext cx="3200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FOUNDER &amp; CEO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993392"/>
            <a:ext cx="320040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Founder of 51 Careers and 51 Careers.AI; investor and Managing Director at publicly listed Helio. Decade of international business, capital markets, and global resource integration.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33672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33672" y="1115568"/>
            <a:ext cx="73152" cy="245059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28016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Stephanie 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645920"/>
            <a:ext cx="3200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CO-FOUNDER &amp; CFO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993392"/>
            <a:ext cx="320040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Co-founder since 2016. U.S. CPA; M.S. Accounting, Pace University. Oversees financial strategy, corporate governance, and sustainable growth.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4424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64424" y="1115568"/>
            <a:ext cx="73152" cy="245059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65592" y="128016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Gavin 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1645920"/>
            <a:ext cx="3200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CO-FOUNDER, CTO &amp; COO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5592" y="1993392"/>
            <a:ext cx="320040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Serial entrepreneur (10+ years) across SaaS, AI, and digital business; B.S. Computer Science, ECUST. Leads technology, operations, and AI.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675888"/>
            <a:ext cx="73152" cy="245059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384048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Robin Zhu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3200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HEAD OF PRODUCT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" y="4553712"/>
            <a:ext cx="320040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Leads product strategy, architecture, and development of the AI-powered platform. Former CTO &amp; Director of Product, Ci Finance; senior roles at CPIC, Allinpay, and Noah.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33672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33672" y="3675888"/>
            <a:ext cx="73152" cy="245059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4840" y="384048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Chris Lin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206240"/>
            <a:ext cx="3200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NORTH AMERICAN PARTNER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553712"/>
            <a:ext cx="320040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Full-stack engineer; previously at Amazon Web Services (AWS). B.S. Northwestern; M.S. Robotics. Extensive hiring-panel experience and mentorship.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64424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64424" y="3675888"/>
            <a:ext cx="73152" cy="245059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65592" y="384048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Jon Serbin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4206240"/>
            <a:ext cx="3200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SENIOR ADVISOR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65592" y="4553712"/>
            <a:ext cx="320040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Harvard and MIT; former senior executive at Morgan Stanley; founder of Cedar. 40+ years in tech M&amp;A and capital raising; advises on growth and expansion.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19  ·  TEAM &amp; OPERATING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Core founding team in place  ·  Planned hiring funded by this 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3584448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98448"/>
            <a:ext cx="3200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EXISTING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72768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FOUNDING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93392"/>
            <a:ext cx="32004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97480"/>
            <a:ext cx="32004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Core founding team members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320040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In place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84448"/>
            <a:ext cx="320040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Product, capital, and go-to-market leadership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059936"/>
            <a:ext cx="320040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Additional roles are not yet hired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35424"/>
            <a:ext cx="320040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This round funds the planned operating team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097280"/>
            <a:ext cx="246888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097280"/>
            <a:ext cx="2468880" cy="91440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5696" y="1280160"/>
            <a:ext cx="2212848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PLANNED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1481328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CHINA TECHNOLOGY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5696" y="1938528"/>
            <a:ext cx="221284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5696" y="2340864"/>
            <a:ext cx="221284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Product, design, engineering, and AI.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6" y="3017520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Product Manager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3017520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5696" y="3401568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Designer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3401568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5696" y="3785616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QA / Testing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3785616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25696" y="4169664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Front-End Engineer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4169664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25696" y="4553712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Back-End Engineers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4553712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5696" y="4937760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AI Engineer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4937760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76288" y="1097280"/>
            <a:ext cx="246888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76288" y="1097280"/>
            <a:ext cx="2468880" cy="91440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04304" y="1280160"/>
            <a:ext cx="2212848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PLANNED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04304" y="1481328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CHINA GROWTH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04304" y="1938528"/>
            <a:ext cx="221284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2+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04304" y="2340864"/>
            <a:ext cx="221284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Performance marketing and B2B development.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04304" y="3017520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Marketing / Performance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59368" y="3017520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04304" y="3401568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B2B Business Development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59368" y="3401568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1+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54896" y="1097280"/>
            <a:ext cx="246888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454896" y="1097280"/>
            <a:ext cx="2468880" cy="91440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82912" y="1280160"/>
            <a:ext cx="2212848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PLANNED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82912" y="1481328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U.S. GROWTH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82912" y="1938528"/>
            <a:ext cx="221284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82912" y="2340864"/>
            <a:ext cx="221284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Paid digital and local field marketing.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82912" y="3017520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Performance Marketing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37976" y="3017520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582912" y="3401568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Local / Field Marketing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237976" y="3401568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5779008"/>
            <a:ext cx="11183112" cy="53035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5852160"/>
            <a:ext cx="1069848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Only the core founding team is in place today. China technology, China growth, and U.S. growth roles are planned hires — not current headcount.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20  ·  USE OF FUNDS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20 Million Growth Financing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RMB 13.1M is a planned personnel + advertising budget. Remaining capital funds infrastructure, AI, operations, events, expansion and working capital.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207008"/>
          <a:ext cx="493776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349240" y="12618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Marketing &amp; user acquisition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12618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40%   ·   RMB 8.0M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17190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Product &amp; AI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7190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22.5%   ·   RMB 4.5M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21762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U.S. market expansion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21762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12.5%   ·   RMB 2.5M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26334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China market &amp; B2B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6334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7.5%   ·   RMB 1.5M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30906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Brand &amp; 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0906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7.5%   ·   RMB 1.5M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35478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Operations / legal / finance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35478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5%   ·   RMB 1.0M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40050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Cash reserve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40050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5%   ·   RMB 1.0M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553712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4663440"/>
            <a:ext cx="240487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PERSONNEL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" y="4937760"/>
            <a:ext cx="2404872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5.1M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" y="5468112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Planned hiring budget — not current payroll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19272" y="4553712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65576" y="4663440"/>
            <a:ext cx="240487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CHINA ADS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65576" y="4937760"/>
            <a:ext cx="2404872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1.0M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65576" y="5468112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Planned annual spend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35624" y="4553712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1928" y="4663440"/>
            <a:ext cx="240487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U.S. ADS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1928" y="4937760"/>
            <a:ext cx="2404872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7.0M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1928" y="5468112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Planned annual spend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51976" y="4553712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98280" y="4663440"/>
            <a:ext cx="240487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P+A BUDGET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937760"/>
            <a:ext cx="2404872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13.1M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5468112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Planned personnel + advertising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21  ·  GROWTH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Validation  →  Growth  →  Global Expansion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82296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207008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PHASE 1  ·  0–6 MONTHS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481328"/>
            <a:ext cx="31821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Product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1488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Launch AI Resume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74320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Improve AI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333756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Structured A/B testing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93192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Initial CAC benchmarks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52628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Conversion funnel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51206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Validate pricing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33672" y="1115568"/>
            <a:ext cx="3584448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33672" y="1115568"/>
            <a:ext cx="3584448" cy="82296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207008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PHASE 2  ·  6–12 MONTHS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1481328"/>
            <a:ext cx="31821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Growth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1488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Scale paid acquisition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274320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Build SEO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33756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Expand U.S. acquisition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393192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B2B partnerships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52628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More AI Career features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51206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Expand monetization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64424" y="1115568"/>
            <a:ext cx="3584448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64424" y="1115568"/>
            <a:ext cx="3584448" cy="82296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65592" y="1207008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PHASE 3  ·  12–24 MONTHS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1481328"/>
            <a:ext cx="31821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Global expansion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5592" y="21488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More English-speaking markets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5592" y="274320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Localized products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5592" y="333756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Global partnerships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5592" y="393192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Employer ecosystem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5592" y="452628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Marketplace capabilities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51206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Central America expansion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22  ·  THREE-YEAR FINANCIAL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Users, Revenue,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Illustrative 2027E–2029E operating plan. Figures in US$.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3584448" cy="5010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1261872"/>
            <a:ext cx="3291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USERS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2027E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2028E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2029E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828800"/>
            <a:ext cx="3401568" cy="649224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18653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Users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1.0M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3.0M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7.0M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" y="25511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Registered users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300K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19656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1.0M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60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2.5M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" y="32369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Monthly active users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150K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500K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1.25M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" y="39227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Paid users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15K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19656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60K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360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180K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" y="46085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Paid conversion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5.0%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19656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6.0%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0360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7.2%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" y="52943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MAU / registered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50%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19656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50%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80360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50%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33672" y="1115568"/>
            <a:ext cx="3584448" cy="5010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33672" y="111556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79976" y="1261872"/>
            <a:ext cx="3291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REVENUE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9704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2027E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50408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2028E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11112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2029E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79976" y="18653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AI revenue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89704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$0.70M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50408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$2.40M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11112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$8.40M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79976" y="25511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Career services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89704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$0.50M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50408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$1.60M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11112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$5.60M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79976" y="32369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Commission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89704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$0.30M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50408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$1.20M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11112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$4.20M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79976" y="39227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Advertising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89704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$0.20M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50408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$0.80M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11112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$2.80M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79976" y="46085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B2B revenue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89704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$0.30M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550408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$2.00M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11112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$7.00M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25112" y="5257800"/>
            <a:ext cx="3401568" cy="649224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379976" y="52943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Total revenue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89704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$2.00M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550408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$8.00M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611112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$28.00M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964424" y="1115568"/>
            <a:ext cx="3584448" cy="5010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964424" y="111556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10728" y="1261872"/>
            <a:ext cx="3291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PROFITABILITY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20456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2027E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81160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2028E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341864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2029E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10728" y="18653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Gross margin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20456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65%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81160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70%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341864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75%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10728" y="268833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Gross profit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20456" y="292608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$1.30M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281160" y="292608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$5.60M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341864" y="292608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$21.00M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110728" y="351129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EBITDA margin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0456" y="374904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–50%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81160" y="374904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–15%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341864" y="374904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15%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110728" y="433425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EBITDA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0456" y="457200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–$1.00M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81160" y="457200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–$1.20M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341864" y="457200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$4.20M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055864" y="5120640"/>
            <a:ext cx="3401568" cy="786384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10728" y="515721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Profitability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220456" y="539496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Loss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281160" y="539496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Loss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341864" y="539496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Profitable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920" y="6163056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Management projections for discussion. Not a forecast. Paid conversion is paid users / registered users.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23  ·  INVESTMENT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The Next Generation of Career Services Will Be AI + Human + Platform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5486400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316736"/>
            <a:ext cx="50474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Generative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5047488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Professional content creation is now cheap, fast, and widely adopted.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35624" y="1115568"/>
            <a:ext cx="5486400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316736"/>
            <a:ext cx="50474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Global employment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865376"/>
            <a:ext cx="5047488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Talent is mobile. English-language careers travel across markets.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081528"/>
            <a:ext cx="5486400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282696"/>
            <a:ext cx="50474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Career services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831336"/>
            <a:ext cx="5047488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Advice is still manual, expensive, and hard to scale.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5624" y="3081528"/>
            <a:ext cx="5486400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282696"/>
            <a:ext cx="50474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Digital user acquisition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831336"/>
            <a:ext cx="5047488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 free AI Resume is a low-friction, global top-of-funnel.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138928"/>
            <a:ext cx="11183112" cy="1152144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248656"/>
            <a:ext cx="106070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THE OPPORTUNITY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04688"/>
            <a:ext cx="106070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The next generation of career services will be AI + human + platform. The AI Resume is the entry point; the ambition is the global AI career platform.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24  ·  FINANCING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Current Financing 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33502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RAISE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66420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20 million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32257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≈ US$2.97 million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33672" y="111556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33502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PRE-MONEY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66420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180 million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32257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≈ US$26.7 million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4424" y="111556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65592" y="133502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POST-MONEY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5592" y="166420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200 million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232257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≈ US$29.7 million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26440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26440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348386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EQUITY OFFERED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" y="381304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447141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Primary preferred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33672" y="326440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33672" y="326440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348386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STRUCTURE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381304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Preferred equity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47141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Indicative; subject to docs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64424" y="326440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64424" y="326440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65592" y="348386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USE OF CAPITAL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5592" y="381304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Product, users, global GTM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447141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Monetization + ecosystem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486400"/>
            <a:ext cx="11183112" cy="80467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632704"/>
            <a:ext cx="106984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Capital will be used to build the product, acquire users, expand globally, build monetization, and develop the career ecosystem.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RMB 20M  →  WHAT INVESTORS 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12–18 month targets this round is designed to fund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" y="124358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159105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Public launch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17627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AI Resume live for users in China and the U.S.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9272" y="109728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65576" y="124358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5576" y="159105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50–100k users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5576" y="217627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Registered users; funnel instrumented end-to-end.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35624" y="109728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81928" y="124358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159105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Blind A/B 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1928" y="217627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Statistically meaningful quality vs. general-purpose models.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51976" y="109728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8280" y="124358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159105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Unit economics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17627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CAC, conversion, ARPU, and payback benchmarks.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33756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48386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" y="383133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U.S. acquisition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" y="441655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Paid digital + university/offline channels operating.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19272" y="333756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65576" y="348386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65576" y="383133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First paid cohort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65576" y="441655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AI subscriptions and career-services attach live.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35624" y="333756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1928" y="348386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1928" y="383133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B2B pipeline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1928" y="441655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Employer and education-partner conversations in market.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51976" y="333756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98280" y="348386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383133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Next-round pack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441655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Traction, model, and data room ready for the following raise.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650992"/>
            <a:ext cx="11183112" cy="640080"/>
          </a:xfrm>
          <a:prstGeom prst="roundRect">
            <a:avLst>
              <a:gd name="adj" fmla="val 6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760720"/>
            <a:ext cx="106984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RMB 20M  →  product + users + benchmarks  →  revenue  →  next round  →  valuation step-up.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25  · 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156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We are not building another AI resume tool.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5156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We are building the Global AI Career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AI   ×   Career   ×   Talent   ×  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83480"/>
            <a:ext cx="10515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51 CAREERS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016752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CHINA R&amp;D   ·   U.S. COMMERCIALIZATION   ·   GLOBAL DISTRIBUTION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6B7C8F"/>
                </a:solidFill>
                <a:latin typeface="Segoe UI"/>
                <a:ea typeface="Segoe UI"/>
                <a:cs typeface="Segoe UI"/>
              </a:rPr>
              <a:t>51 CAREERS   ·   CONFIDENTIAL   ·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CONTACT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“Our mission is to make great jobs accessible to everyone.”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5156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D7EBE8"/>
                </a:solidFill>
                <a:latin typeface="Georgia"/>
                <a:ea typeface="Georgia"/>
                <a:cs typeface="Georgia"/>
              </a:rPr>
              <a:t>Rocky Chen  ·  Founder &amp; Chief Executive Officer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15468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3154680"/>
            <a:ext cx="347472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364992"/>
            <a:ext cx="3072384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EMAIL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703320"/>
            <a:ext cx="307238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rocky@helio.space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315468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60" y="3154680"/>
            <a:ext cx="347472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8" y="3364992"/>
            <a:ext cx="3072384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PHONE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3703320"/>
            <a:ext cx="307238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19921169641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15468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3154680"/>
            <a:ext cx="347472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3364992"/>
            <a:ext cx="3072384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WEB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8" y="3703320"/>
            <a:ext cx="307238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www.helio.space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info@helio.space   ·   (510) 545-2666   ·   2448 Sixth Street, Berkeley, CA 94710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016752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ROCKY CHEN   ·   ROCKY@HELIO.SPACE   ·   19921169641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6B7C8F"/>
                </a:solidFill>
                <a:latin typeface="Segoe UI"/>
                <a:ea typeface="Segoe UI"/>
                <a:cs typeface="Segoe UI"/>
              </a:rPr>
              <a:t>51 CAREERS   ·   CONFIDENTIAL   ·  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