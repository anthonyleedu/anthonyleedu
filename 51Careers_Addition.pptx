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Marketing &amp; user acquisition</c:v>
                </c:pt>
                <c:pt idx="1">
                  <c:v>Product &amp; AI development</c:v>
                </c:pt>
                <c:pt idx="2">
                  <c:v>U.S. market expansion</c:v>
                </c:pt>
                <c:pt idx="3">
                  <c:v>China market &amp; B2B</c:v>
                </c:pt>
                <c:pt idx="4">
                  <c:v>Brand &amp; events</c:v>
                </c:pt>
                <c:pt idx="5">
                  <c:v>Operations / legal / finance</c:v>
                </c:pt>
                <c:pt idx="6">
                  <c:v>Cash reserve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</c:v>
                </c:pt>
                <c:pt idx="1">
                  <c:v>22.5</c:v>
                </c:pt>
                <c:pt idx="2">
                  <c:v>12.5</c:v>
                </c:pt>
                <c:pt idx="3">
                  <c:v>7.5</c:v>
                </c:pt>
                <c:pt idx="4">
                  <c:v>7.5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7EBE8"/>
                </a:solidFill>
                <a:latin typeface="Segoe UI"/>
              </a:rPr>
              <a:t>CONFIDENTIAL INVESTOR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200" b="1" i="0">
                <a:solidFill>
                  <a:srgbClr val="FFFFFF"/>
                </a:solidFill>
                <a:latin typeface="Georgia"/>
              </a:rPr>
              <a:t>51 CAREERS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D7EBE8"/>
                </a:solidFill>
                <a:latin typeface="Segoe UI"/>
              </a:rPr>
              <a:t>Building the Global AI Career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A6B63"/>
                </a:solidFill>
                <a:latin typeface="Segoe UI"/>
              </a:rPr>
              <a:t>AI Resume  →  AI Career  →  Global Talent Ecosystem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10972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Seeking RMB 20 Million in Growth Capital   ·   ≈ US$2.97 Million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2608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92608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108960"/>
            <a:ext cx="31546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PRE-MONEY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383280"/>
            <a:ext cx="3154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RMB 180M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005072"/>
            <a:ext cx="31546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D7EBE8"/>
                </a:solidFill>
                <a:latin typeface="Segoe UI"/>
              </a:rPr>
              <a:t>≈ US$26.7 million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92608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92608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3108960"/>
            <a:ext cx="31546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RAISE  ·  10% EQUITY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3383280"/>
            <a:ext cx="3154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RMB 20M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4005072"/>
            <a:ext cx="31546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D7EBE8"/>
                </a:solidFill>
                <a:latin typeface="Segoe UI"/>
              </a:rPr>
              <a:t>≈ US$2.97 million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92608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292608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3108960"/>
            <a:ext cx="31546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POST-MONEY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3383280"/>
            <a:ext cx="3154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RMB 200M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005072"/>
            <a:ext cx="31546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D7EBE8"/>
                </a:solidFill>
                <a:latin typeface="Segoe UI"/>
              </a:rPr>
              <a:t>≈ US$29.7 million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84632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C5D5E0"/>
                </a:solidFill>
                <a:latin typeface="Segoe UI"/>
              </a:rPr>
              <a:t>The resume is the entry point. The ambition is the global AI career platform — connecting job seekers, employers, career services, education, and the talent ecosystem.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1722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9AB0C0"/>
                </a:solidFill>
                <a:latin typeface="Segoe UI"/>
              </a:rPr>
              <a:t>CHINA R&amp;D   ·   U.S. COMMERCIALIZATION   ·   GLOBAL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01  · 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Building the AI-Powered Future of Career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Career Services  →  AI Resume  →  AI Career Platform  →  Global Career Marketplace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70432"/>
            <a:ext cx="52120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73152" cy="507492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53312"/>
            <a:ext cx="4709160" cy="4709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</a:rPr>
              <a:t>Who we are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C3A4B"/>
                </a:solidFill>
                <a:latin typeface="Segoe UI"/>
              </a:rPr>
              <a:t>51 Careers is building a global AI Career Platform to help job seekers create better resumes, discover opportunities, improve job-search outcomes, and access professional career services.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</a:rPr>
              <a:t>Entry point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C3A4B"/>
                </a:solidFill>
                <a:latin typeface="Segoe UI"/>
              </a:rPr>
              <a:t>An AI-powered Resume Platform that turns unstructured career experience into professional, quantified, job-specific resumes.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</a:rPr>
              <a:t>This round</a:t>
            </a:r>
          </a:p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RMB 20 million (10% of RMB 200 million post-money) to accelerate product development, user acquisition, and global commercialization. Pre-money RMB 180 million.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170432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1261872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6" y="1536192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AI Resume demo already developed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170432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261872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536192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Initial testing completed with promising results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2432304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2523744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1616" y="2798064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Stronger professional positioning &amp; quantification vs. general-purpose models in internal tests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2432304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51976" y="2523744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2798064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Product can serve users globally from day 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694176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616" y="3785616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71616" y="4059936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Existing career-services business: domain expertise + monetization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3694176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51976" y="3785616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1976" y="4059936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U.S. market as the first international growth beachhead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4956048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5047488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1616" y="5321808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Multiple revenue streams beyond AI Resume subscriptions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23960" y="4956048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51976" y="5047488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51976" y="5321808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RMB 20M to fund product, acquisition, and global go-to-market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02  · 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Job Seeking Is Still Highly Inefficient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For millions of candidates the process remains fragmented, expensive, and low-signal.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07008"/>
            <a:ext cx="2139696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07008"/>
            <a:ext cx="2139696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389888"/>
            <a:ext cx="1883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828800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Resume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2514600"/>
            <a:ext cx="1883664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Most candidates struggle to communicate experience in a professional, results-oriented 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2344" y="1207008"/>
            <a:ext cx="2139696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52344" y="1207008"/>
            <a:ext cx="2139696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389888"/>
            <a:ext cx="1883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828800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Quantification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514600"/>
            <a:ext cx="1883664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People describe responsibilities rather than measurable achievements.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1768" y="1207008"/>
            <a:ext cx="2139696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01768" y="1207008"/>
            <a:ext cx="2139696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9784" y="1389888"/>
            <a:ext cx="1883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9784" y="1828800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Personalization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9784" y="2514600"/>
            <a:ext cx="1883664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One generic resume rarely works across jobs and employers.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1207008"/>
            <a:ext cx="2139696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51192" y="1207008"/>
            <a:ext cx="2139696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1389888"/>
            <a:ext cx="1883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9208" y="1828800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Job Matching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514600"/>
            <a:ext cx="1883664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Candidates apply without a clear view of actual fit.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0616" y="1207008"/>
            <a:ext cx="2139696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0616" y="1207008"/>
            <a:ext cx="2139696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28632" y="1389888"/>
            <a:ext cx="1883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28632" y="1828800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Career Guidance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8632" y="2514600"/>
            <a:ext cx="1883664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Professional advice remains expensive and consultant-dependent.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16636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85232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THE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Low-quality applications  →  Low interview rates  →  Long job searches  →  High frustration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03  ·  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AI Is Reshaping the Career Services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Generative AI has changed how people create, communicate, and consume professional information.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07008"/>
            <a:ext cx="539496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07008"/>
            <a:ext cx="5394960" cy="91440"/>
          </a:xfrm>
          <a:prstGeom prst="rect">
            <a:avLst/>
          </a:prstGeom>
          <a:solidFill>
            <a:srgbClr val="8A6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463040"/>
            <a:ext cx="4937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8A6D3B"/>
                </a:solidFill>
                <a:latin typeface="Segoe UI"/>
              </a:rPr>
              <a:t>TRADITIONAL MODEL  ·  HUMAN CONSULTANT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938528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→   Manual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68880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→   Manual resume writing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999232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→   Manual job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529584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→   High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4059936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→   Limited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207008"/>
            <a:ext cx="539496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207008"/>
            <a:ext cx="539496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1463040"/>
            <a:ext cx="4937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AI-ENABLED MODEL  ·  CAREER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1938528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→   Automated career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2468880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→   AI resume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2999232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→   Job matching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3529584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→   Continuous optimization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4059936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→   Global scalability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102352"/>
            <a:ext cx="11183112" cy="1143000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230368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OUR OPPORTUNITY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532120"/>
            <a:ext cx="106984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Transform high-cost, labor-intensive career services into a scalable AI-powered platform.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04  ·  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Three Structural Trends Are Converging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371600"/>
            <a:ext cx="3145536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0A6B63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03120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</a:rPr>
              <a:t>Generative AI has reached mass adoption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00400"/>
            <a:ext cx="314553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Consumers are increasingly comfortable using AI for professional and personal tasks.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3672" y="1115568"/>
            <a:ext cx="35844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1371600"/>
            <a:ext cx="3145536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0A6B63"/>
                </a:solidFill>
                <a:latin typeface="Georg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2103120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</a:rPr>
              <a:t>Recruiting is becoming more data-driven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3200400"/>
            <a:ext cx="314553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Employers rely on structured information, keywords, measurable achievements, and automated screening.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4" y="1115568"/>
            <a:ext cx="35844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1371600"/>
            <a:ext cx="3145536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0A6B63"/>
                </a:solidFill>
                <a:latin typeface="Georg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103120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</a:rPr>
              <a:t>Career services remain fragmented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3200400"/>
            <a:ext cx="314553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The industry is still dependent on manual services and fragmented providers.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74920"/>
            <a:ext cx="11183112" cy="117043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230368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51 CAREERS SITS AT THE INTERSECTION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559552"/>
            <a:ext cx="106984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</a:rPr>
              <a:t>AI   ×   Employment   ×   Career Services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MARKET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TAM  →  SAM  →  SOM  →  Three-Year Revenue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From global job seekers to paid AI career users. Illustrative, for discussion.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70432"/>
            <a:ext cx="3584448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371600"/>
            <a:ext cx="3182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66420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B1F33"/>
                </a:solidFill>
                <a:latin typeface="Georgia"/>
              </a:rPr>
              <a:t>US$200B+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194560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4283C"/>
                </a:solidFill>
                <a:latin typeface="Segoe UI"/>
              </a:rPr>
              <a:t>RMB 1.35 trillion+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542032"/>
            <a:ext cx="3182112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Global recruitment, talent-acquisition, and career-development spend.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33672" y="1170432"/>
            <a:ext cx="3584448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33672" y="1170432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371600"/>
            <a:ext cx="3182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66420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B1F33"/>
                </a:solidFill>
                <a:latin typeface="Georgia"/>
              </a:rPr>
              <a:t>US$30B+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194560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4283C"/>
                </a:solidFill>
                <a:latin typeface="Segoe UI"/>
              </a:rPr>
              <a:t>RMB 200 billion+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542032"/>
            <a:ext cx="3182112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Digital / AI-enabled hiring tools, resume products, and online career preparation.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64424" y="1170432"/>
            <a:ext cx="3584448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64424" y="1170432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65592" y="1371600"/>
            <a:ext cx="3182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SOM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166420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B1F33"/>
                </a:solidFill>
                <a:latin typeface="Georgia"/>
              </a:rPr>
              <a:t>US$1.5B+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5592" y="2194560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4283C"/>
                </a:solidFill>
                <a:latin typeface="Segoe UI"/>
              </a:rPr>
              <a:t>RMB 10 billion+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2542032"/>
            <a:ext cx="3182112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AI resume &amp; career-assistant demand in initial markets: China, U.S., and English-speaking Asia.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06240"/>
            <a:ext cx="11183112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206240"/>
            <a:ext cx="73152" cy="20299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70832"/>
            <a:ext cx="10607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51 CAREERS  ·  ILLUSTRATIVE 3-YEAR REVENUE OPPORTUNITY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736592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2027E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956048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US$  2.0M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440680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≈  RMB  13.5M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36592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2028E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956048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US$  8.0M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440680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≈  RMB  53.8M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4736592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2029E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4956048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US$  28.0M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5440680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≈  RMB  188M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806440"/>
            <a:ext cx="10607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E6E80"/>
                </a:solidFill>
                <a:latin typeface="Segoe UI"/>
              </a:rPr>
              <a:t>Logic: global job seekers → addressable AI Resume users → paid conversion → stacked revenue (AI + services + commission + B2B + ads).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05  ·  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51 Careers AI Career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Not another AI writing tool — an AI-powered career infrastructure layer.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25296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225296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Understand professional experience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47088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847088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Build a stronger professional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359152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359152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468880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468880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Generate optimized resumes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80944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980944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090672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090672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Match with relevant opportunities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02736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602736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712464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712464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Prepare for interviews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224528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224528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334256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334256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Make better career decisions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846320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846320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956048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4956048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Access professional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1115568"/>
            <a:ext cx="4005072" cy="510235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09560" y="1371600"/>
            <a:ext cx="36118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STARTING POINT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1737360"/>
            <a:ext cx="36118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AI Resume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2651760"/>
            <a:ext cx="3611880" cy="3108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</a:rPr>
              <a:t>The resume is the first touchpoint between the user and the 51 Careers ecosystem — the on-ramp to AI Career tools, services, matching, and the marketplace.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06  · 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From Career Experience to Quantified Professional Value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78992"/>
            <a:ext cx="3703320" cy="5138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370332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43584"/>
            <a:ext cx="3246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USERS PROVIDE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Education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31136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Work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Projects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38144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Skills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41648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Achievements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45152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Career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48656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Target job descriptions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078992"/>
            <a:ext cx="3246120" cy="5138928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371600"/>
            <a:ext cx="2834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OUR AI GENERATES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1828800"/>
            <a:ext cx="283464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Professional</a:t>
            </a:r>
          </a:p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+  Quantified</a:t>
            </a:r>
          </a:p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+  Job-specific</a:t>
            </a:r>
          </a:p>
          <a:p>
            <a:pPr algn="l"/>
            <a:r>
              <a:rPr sz="1600" b="0" i="0">
                <a:solidFill>
                  <a:srgbClr val="D7EBE8"/>
                </a:solidFill>
                <a:latin typeface="Segoe UI"/>
              </a:rPr>
              <a:t>resume content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4937760"/>
            <a:ext cx="283464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D7EBE8"/>
                </a:solidFill>
                <a:latin typeface="Segoe UI"/>
              </a:rPr>
              <a:t>Optimized for ATS, role, employer, and geography.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107899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33502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AI Resume Generation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48088" y="107899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57816" y="133502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Resume Optimization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235915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7848" y="261518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Job-Specific Customization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48088" y="235915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57816" y="261518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Achievement Quantification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363931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27848" y="389534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ATS Optimization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8088" y="363931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57816" y="389534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Multiple Resume Versions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491947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517550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Cover Letter Generation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48088" y="491947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57816" y="517550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Career Profile Creation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07  ·  PRODUCT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The Product Has Already Been Built and Tested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280160"/>
            <a:ext cx="31821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A6B63"/>
                </a:solidFill>
                <a:latin typeface="Segoe UI"/>
              </a:rPr>
              <a:t>✓   Demo developed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691640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A working AI Resume product is available for demonstration.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33672" y="1115568"/>
            <a:ext cx="358444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280160"/>
            <a:ext cx="31821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A6B63"/>
                </a:solidFill>
                <a:latin typeface="Segoe UI"/>
              </a:rPr>
              <a:t>✓   Initial testing completed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691640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Early users and internal reviews show promising quality.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4424" y="1115568"/>
            <a:ext cx="358444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65592" y="1280160"/>
            <a:ext cx="31821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A6B63"/>
                </a:solidFill>
                <a:latin typeface="Segoe UI"/>
              </a:rPr>
              <a:t>✓   Internal benchmark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1691640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Compared against direct outputs from leading general-purpose AI models.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44368"/>
            <a:ext cx="111831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INITIAL TESTING INDICATES STRONGER PERFORMANCE 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73552"/>
            <a:ext cx="2139696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3566160"/>
            <a:ext cx="1920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Professional positioning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52344" y="3273552"/>
            <a:ext cx="2139696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62072" y="3566160"/>
            <a:ext cx="1920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Achievement quantification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1768" y="3273552"/>
            <a:ext cx="2139696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1496" y="3566160"/>
            <a:ext cx="1920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Job relevance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3273552"/>
            <a:ext cx="2139696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3566160"/>
            <a:ext cx="1920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Career-experience extraction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0616" y="3273552"/>
            <a:ext cx="2139696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0344" y="3566160"/>
            <a:ext cx="1920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Resume structure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46320"/>
            <a:ext cx="11183112" cy="138988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010912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IMPORTANT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21808"/>
            <a:ext cx="1069848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Current results are based on internal testing. The next stage is larger-scale, structured, blind A/B testing to establish statistically meaningful benchmarks versus general-purpose models.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08  ·  TECHNOLOGY ADVANTAGE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We Are Not Simply Building an LLM Wrapper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78992"/>
            <a:ext cx="11183112" cy="96012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LLM  +  Career Knowledge  +  Resume Framework  +  Job Intelligence  +  User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35915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Career-experience extraction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219456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47288" y="235915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Achievement quantification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219456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35915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Job-description analysis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51976" y="219456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9992" y="235915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Resume optimization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7180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313639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Industry terminology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9272" y="297180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313639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Role-specific requirements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35624" y="297180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13639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Geographic resume conventions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51976" y="297180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9992" y="313639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ATS optimization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840480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DATA FEEDBACK LOOP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User input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01952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56816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56816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AI analysis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00984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55848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55848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Resume gen.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0016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0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Application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9048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53912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3912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Feedback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0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52944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Model upgrade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97112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51976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1976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Better outcomes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296144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51008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8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More users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5486400"/>
            <a:ext cx="1118311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Each cycle compounds proprietary career intelligence that generic chat models do not accumulate.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09  ·  GLOBAL 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AI Resume Is a Naturally Global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A resume is a universal component of the global employment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7043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51790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United States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52344" y="117043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51790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Canada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01768" y="117043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9784" y="151790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Central America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51192" y="117043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79208" y="151790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United Kingdom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0616" y="117043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28632" y="151790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Australia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9631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84378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Singapore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52344" y="249631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0360" y="284378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Hong Kong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01768" y="249631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9784" y="284378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China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51192" y="249631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284378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Europe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0616" y="249631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8632" y="284378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Middle East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977639"/>
            <a:ext cx="11183112" cy="226771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160520"/>
            <a:ext cx="10607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THE UNIVERSAL QUESTION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526280"/>
            <a:ext cx="106070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</a:rPr>
              <a:t>“How do I present my professional value to employers?”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25780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</a:rPr>
              <a:t>That shared problem gives AI Resume a fundamentally different scalability profile from traditional, local career-consulting businesses.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10  ·  GLOBAL PRODUCT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One Platform. Multiple Labor Markets.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73152" cy="9144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25296"/>
            <a:ext cx="2926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Geography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25296"/>
            <a:ext cx="749807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U.S.  ·  Canada  ·  Central America  ·  U.K.  ·  Australia  ·  Europe  ·  Asia  ·  Middle East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03120"/>
            <a:ext cx="73152" cy="9144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31136"/>
            <a:ext cx="2926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Industry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231136"/>
            <a:ext cx="749807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Applicable across industries — including Technology, Fintech, Financial Services, Advanced Manufacturing, Consulting, Healthcare, Marketing, Education, and more.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108960"/>
            <a:ext cx="73152" cy="9144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236976"/>
            <a:ext cx="2926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Career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236976"/>
            <a:ext cx="749807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Student / Graduate / Professional / Manager / Executive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11480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114800"/>
            <a:ext cx="73152" cy="9144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242816"/>
            <a:ext cx="2926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Target 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242816"/>
            <a:ext cx="749807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Software Engineer / PM / Data Scientist / Marketing / Finance / more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120640"/>
            <a:ext cx="73152" cy="9144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48656"/>
            <a:ext cx="2926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Target employer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248656"/>
            <a:ext cx="749807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Startup / SME / Enterprise / Multinational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11  ·  FROM AI RESUME TO AI CAREER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Resume Is the Entry Point — Not the Destination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169164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AI Resume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606040"/>
            <a:ext cx="2404872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“Help me create a better resume.”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1115568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19272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65576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PHASE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5576" y="169164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AI Career Assistant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5576" y="2606040"/>
            <a:ext cx="2404872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“What jobs should I apply for?”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115568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35624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1928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169164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AI Career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1928" y="2606040"/>
            <a:ext cx="2404872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“Help me manage my entire job search.”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1115568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51976" y="1115568"/>
            <a:ext cx="2697480" cy="9144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169164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Global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2606040"/>
            <a:ext cx="2404872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Job seekers × employers × services × education × talent ecosystem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526280"/>
            <a:ext cx="1508760" cy="16916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" y="4937760"/>
            <a:ext cx="1362456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Resume creation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03120" y="4526280"/>
            <a:ext cx="1508760" cy="16916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76272" y="4937760"/>
            <a:ext cx="1362456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Job discovery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526280"/>
            <a:ext cx="1508760" cy="16916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76472" y="4937760"/>
            <a:ext cx="1362456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Job matching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4526280"/>
            <a:ext cx="1508760" cy="16916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6672" y="4937760"/>
            <a:ext cx="1362456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Application optimization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3720" y="4526280"/>
            <a:ext cx="1508760" cy="16916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76872" y="4937760"/>
            <a:ext cx="1362456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Cover letters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03920" y="4526280"/>
            <a:ext cx="1508760" cy="16916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77072" y="4937760"/>
            <a:ext cx="1362456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Interview prep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4526280"/>
            <a:ext cx="1508760" cy="16916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77272" y="4937760"/>
            <a:ext cx="1362456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Career planning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12  ·  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Multiple Monetization Layers Across the Career Journey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408176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01  AI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121408"/>
            <a:ext cx="318211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Subscription, premium AI features, resume packages, AI Career tools.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1155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08176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02  CAREER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121408"/>
            <a:ext cx="318211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Resume consulting, career consulting, interview coaching, premium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4" y="11155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408176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03  REFERRAL &amp; COMMISSION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121408"/>
            <a:ext cx="318211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CPA / CPS / revenue share with education, training, and recruitment partners.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301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6301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922776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04  B2B / EMPLOYERS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636008"/>
            <a:ext cx="318211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Talent acquisition, employer branding, recruitment campaigns, job promotion.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3672" y="36301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33672" y="36301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3922776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05  ADVERTISING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636008"/>
            <a:ext cx="318211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As traffic scales: relevant brands → targeted career audience.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36301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64424" y="36301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5592" y="3922776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06  SPONSORSHIP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4636008"/>
            <a:ext cx="318211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Career fairs, conferences, recruitment events, AI career events.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13  ·  THE CAREER MONETIZATION FLYWHEEL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One User Can Generate Multiple Revenue Opportunities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1673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166420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Free AI Resume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52344" y="111556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31673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66420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User acquisition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01768" y="111556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9784" y="131673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9784" y="166420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Career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51192" y="111556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9208" y="131673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9208" y="166420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AI Career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0616" y="111556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28632" y="131673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28632" y="166420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Premium subscription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80720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00837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35584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Career services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52344" y="280720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80360" y="300837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35584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Job matching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01768" y="280720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9784" y="300837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9784" y="335584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Recruitment / referral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1192" y="280720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9208" y="300837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9208" y="335584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Advertising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0616" y="280720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28632" y="300837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8632" y="335584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Employer services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663440"/>
            <a:ext cx="11183112" cy="1572768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828032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THEREFORE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138928"/>
            <a:ext cx="1069848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Revenue is not limited to the first AI Resume transaction. The long-term objective is to maximize lifetime value per career user.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14  ·  USER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Digital  +  Offline  +  Organic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335024"/>
            <a:ext cx="31821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Segoe UI"/>
              </a:rPr>
              <a:t>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783080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Google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18541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Meta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587752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TikTok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990088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YouTube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392424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LinkedIn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794760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Search / social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19709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Content marketing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3672" y="1115568"/>
            <a:ext cx="35844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335024"/>
            <a:ext cx="31821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2F5D8A"/>
                </a:solidFill>
                <a:latin typeface="Segoe UI"/>
              </a:rPr>
              <a:t>ORGANIC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783080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SEO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18541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AI-search optimization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587752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Career content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990088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Educational content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392424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Referral programs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3794760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Affiliate partnerships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64424" y="1115568"/>
            <a:ext cx="35844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8A6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1335024"/>
            <a:ext cx="31821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8A6D3B"/>
                </a:solidFill>
                <a:latin typeface="Segoe UI"/>
              </a:rPr>
              <a:t>OFFLINE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1783080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Universities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218541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Career fairs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2587752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Student organizations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2" y="2990088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Professional orgs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5592" y="3392424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Community events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5592" y="3794760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Employer events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47488"/>
            <a:ext cx="11183112" cy="1188720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193792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CORE GROWTH STRATEGY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486400"/>
            <a:ext cx="106984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Free AI product  →  Low-friction acquisition  →  Registration  →  Engagement  →  Monetization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15  ·  CHINA + U.S. + GLOBAL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China as R&amp;D Base  ·  U.S. as Commercialization Market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1118311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73152" cy="15087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16736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CHINA  ·  R&amp;D AND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73936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Product, design, engineering, AI, testing, marketing operations, B2B business development.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761488"/>
            <a:ext cx="1118311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761488"/>
            <a:ext cx="73152" cy="15087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962656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UNITED STATES  ·  INTERNATIONAL GTM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19856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User acquisition, local partnerships, employer and university relationships, offline events, brand building.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407408"/>
            <a:ext cx="1118311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407408"/>
            <a:ext cx="73152" cy="15087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608576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GLOBAL EXPANSION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065776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Once product-market fit is established: North America → UK → Australia → Europe → Asia → other markets.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16  ·  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Career Infrastructure — Not Another Resume Builder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35331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5E6E80"/>
                </a:solidFill>
                <a:latin typeface="Segoe UI"/>
              </a:rPr>
              <a:t>JOB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10512"/>
            <a:ext cx="495604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Large user base  ·  Limited personalized career intelligence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097280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28816" y="135331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5E6E80"/>
                </a:solidFill>
                <a:latin typeface="Segoe UI"/>
              </a:rPr>
              <a:t>GENERAL-PURPOSE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28816" y="1810512"/>
            <a:ext cx="495604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High AI capability  ·  Limited career specialization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80360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5E6E80"/>
                </a:solidFill>
                <a:latin typeface="Segoe UI"/>
              </a:rPr>
              <a:t>TRADITIONAL CAREER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593592"/>
            <a:ext cx="495604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High human service  ·  Low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880360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8816" y="313639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5E6E80"/>
                </a:solidFill>
                <a:latin typeface="Segoe UI"/>
              </a:rPr>
              <a:t>AI RESUME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3593592"/>
            <a:ext cx="495604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Resume-focused  ·  Limited ecosystem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81728"/>
            <a:ext cx="11183112" cy="155448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846320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51 CAREERS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38928"/>
            <a:ext cx="1069848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AI  +  Career expertise  +  Services  +  Marketplace. We are not competing only with resume builders — we are building career infrastructure.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17  ·  COMPETITIVE ADVANTAGES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Why 51 Careers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316736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755648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Existing career-services 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441448"/>
            <a:ext cx="318211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We understand the industry from an operating perspective.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1155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316736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755648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AI product already in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441448"/>
            <a:ext cx="318211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Not a concept or a slide-deck company. Demo built and tested.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4" y="11155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65592" y="1316736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1755648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Global scalability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441448"/>
            <a:ext cx="318211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AI Resume can be distributed worldwide through digital channels.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301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3831336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4270248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Multiple monetization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956048"/>
            <a:ext cx="318211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Subscription + services + commission + B2B + ads + sponsorship.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3672" y="36301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3831336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270248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AI + human hybrid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956048"/>
            <a:ext cx="318211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AI for scalable work; humans for high-value, complex services.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36301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3831336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4270248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Platform potential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4956048"/>
            <a:ext cx="318211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The long-term opportunity extends beyond resumes into the career ecosystem.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18  ·  TEAM &amp; OPERATING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Core founding team in place  ·  Planned hiring funded by this 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3584448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3200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EXISTING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72768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Georgia"/>
              </a:rPr>
              <a:t>FOUNDING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93392"/>
            <a:ext cx="3200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400" b="1" i="0">
                <a:solidFill>
                  <a:srgbClr val="0B1F33"/>
                </a:solidFill>
                <a:latin typeface="Georgia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32004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2C3A4B"/>
                </a:solidFill>
                <a:latin typeface="Segoe UI"/>
              </a:rPr>
              <a:t>Core founding team members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32004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▸  In place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39312"/>
            <a:ext cx="32004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▸  Product, capital, and go-to-market leadership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78224"/>
            <a:ext cx="32004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▸  Additional roles are not yet hired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5696" y="1298448"/>
            <a:ext cx="221284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PLANNED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696" y="1536192"/>
            <a:ext cx="221284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CHINA TECHNOLOGY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2029968"/>
            <a:ext cx="221284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5696" y="2560320"/>
            <a:ext cx="16916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Product Manager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2560320"/>
            <a:ext cx="53035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980944"/>
            <a:ext cx="16916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Designer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980944"/>
            <a:ext cx="53035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5696" y="3401568"/>
            <a:ext cx="16916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QA / Testing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401568"/>
            <a:ext cx="53035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5696" y="3822192"/>
            <a:ext cx="16916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Front-End 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3822192"/>
            <a:ext cx="53035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4242816"/>
            <a:ext cx="16916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Back-End Engineers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4242816"/>
            <a:ext cx="53035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5696" y="4663440"/>
            <a:ext cx="16916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AI Engineer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663440"/>
            <a:ext cx="53035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76288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76288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04304" y="1298448"/>
            <a:ext cx="221284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PLANNED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04304" y="1536192"/>
            <a:ext cx="221284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CHINA GROWTH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04304" y="2029968"/>
            <a:ext cx="221284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</a:rPr>
              <a:t>2+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04304" y="2560320"/>
            <a:ext cx="16916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Marketing / Performance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59368" y="2560320"/>
            <a:ext cx="53035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04304" y="2980944"/>
            <a:ext cx="16916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B2B Business Development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59368" y="2980944"/>
            <a:ext cx="53035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54896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454896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82912" y="1298448"/>
            <a:ext cx="221284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PLANNED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82912" y="1536192"/>
            <a:ext cx="221284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U.S. GROWTH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82912" y="2029968"/>
            <a:ext cx="221284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82912" y="2560320"/>
            <a:ext cx="16916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Performance Marketing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37976" y="2560320"/>
            <a:ext cx="53035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82912" y="2980944"/>
            <a:ext cx="16916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Local / Field Marketing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37976" y="2980944"/>
            <a:ext cx="53035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5779008"/>
            <a:ext cx="11183112" cy="53035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852160"/>
            <a:ext cx="106984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Only the core founding team is in place today. China technology, China growth, and U.S. growth roles are planned hires — not current headcount.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19  ·  USE OF FUNDS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RMB 20 Million Growth Financing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RMB 13.1M is a planned personnel + advertising budget. Remaining capital funds infrastructure, AI, operations, events, expansion and working capital.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07008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349240" y="12618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Marketing &amp; user acquisition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12618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40%   ·   RMB 8.0M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7190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Product &amp; AI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7190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22.5%   ·   RMB 4.5M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21762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U.S. market expansion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21762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12.5%   ·   RMB 2.5M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6334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China market &amp; B2B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6334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7.5%   ·   RMB 1.5M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0906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Brand &amp;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0906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7.5%   ·   RMB 1.5M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5478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Operations / legal /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5478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5%   ·   RMB 1.0M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40050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Cash reserve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40050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5%   ·   RMB 1.0M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72000"/>
            <a:ext cx="2697480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4681728"/>
            <a:ext cx="240487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PERSONNEL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4919472"/>
            <a:ext cx="240487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RMB 5.1M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" y="5440680"/>
            <a:ext cx="240487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</a:rPr>
              <a:t>Planned hiring budget — not current payroll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19272" y="4572000"/>
            <a:ext cx="2697480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65576" y="4681728"/>
            <a:ext cx="240487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CHINA 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4919472"/>
            <a:ext cx="240487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RMB 1.0M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5576" y="5440680"/>
            <a:ext cx="240487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</a:rPr>
              <a:t>Planned annual spend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4572000"/>
            <a:ext cx="2697480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4681728"/>
            <a:ext cx="240487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U.S. 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4919472"/>
            <a:ext cx="240487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RMB 7.0M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1928" y="5440680"/>
            <a:ext cx="240487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</a:rPr>
              <a:t>Planned annual spend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51976" y="4572000"/>
            <a:ext cx="2697480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4681728"/>
            <a:ext cx="240487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P+A BUDGET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919472"/>
            <a:ext cx="240487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RMB 13.1M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5440680"/>
            <a:ext cx="240487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</a:rPr>
              <a:t>Planned personnel + advertising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20  ·  GROWTH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Validation  →  Growth  →  Global Expansion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8229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PHASE 1  ·  0–6 MONTHS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Product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Launch AI Resume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Improve AI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Structured A/B testing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Initial CAC benchmarks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Conversion funnel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Validate pricing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3672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115568"/>
            <a:ext cx="3584448" cy="8229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PHASE 2  ·  6–12 MONTHS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Scale paid acquisition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Build SEO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Expand U.S. acquisition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B2B partnerships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More AI Career 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Expand monetization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64424" y="1115568"/>
            <a:ext cx="3584448" cy="82296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5592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PHASE 3  ·  12–24 MONTHS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Global expansion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More English-speaking markets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2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Localized products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5592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Global partnerships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5592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Employer ecosystem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Marketplace capabilities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21  ·  THREE-YEAR FINANCIAL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Users, Revenue,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Illustrative 2027E–2029E operating plan. Figures in US$.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2027E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2028E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2029E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847088"/>
            <a:ext cx="3401568" cy="621792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084832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1.0M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2084832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3.0M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084832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7.0M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2523744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Registered users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2743200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300K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9656" y="2743200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1.0M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2743200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2.5M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" y="3182112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Monthly active users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401568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150K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3401568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500K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401568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1.25M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" y="3840480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Paid users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" y="4059936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15K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19656" y="4059936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60K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4059936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180K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" y="4498848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Paid conversion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" y="4718304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5.0%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19656" y="4718304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6.0%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4718304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7.2%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515721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MAU / registered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376672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50%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19656" y="5376672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0360" y="5376672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50%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33672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33672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9976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REVENUE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9704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2027E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50408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2028E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11112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2029E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79976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AI revenue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9704" y="2084832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$0.70M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50408" y="2084832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$2.40M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1112" y="2084832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$8.40M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79976" y="2523744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Career services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89704" y="2743200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$0.50M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50408" y="2743200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$1.60M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11112" y="2743200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$5.60M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79976" y="3182112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Commission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9704" y="3401568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$0.30M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50408" y="3401568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$1.20M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1112" y="3401568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$4.20M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79976" y="3840480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Advertising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89704" y="4059936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$0.20M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50408" y="4059936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$0.80M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11112" y="4059936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$2.80M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79976" y="4498848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B2B revenue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89704" y="4718304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$0.30M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50408" y="4718304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$2.00M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11112" y="4718304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$7.00M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25112" y="5138928"/>
            <a:ext cx="3401568" cy="621792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79976" y="515721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Total revenue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9704" y="5376672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$2.00M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50408" y="5376672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$8.00M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11112" y="5376672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$28.00M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964424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964424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10728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PROFITABILITY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0456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2027E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81160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2028E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341864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2029E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10728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Gross margin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0456" y="2084832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65%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81160" y="2084832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70%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41864" y="2084832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75%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10728" y="2523744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Gross profit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20456" y="2743200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$1.30M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81160" y="2743200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$5.60M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41864" y="2743200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$21.00M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10728" y="3182112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EBITDA margin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0456" y="3401568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–50%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81160" y="3401568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–15%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341864" y="3401568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15%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10728" y="3840480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EBITDA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0456" y="4059936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–$1.00M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81160" y="4059936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–$1.20M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341864" y="4059936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$4.20M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055864" y="4480560"/>
            <a:ext cx="3401568" cy="621792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10728" y="4498848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Profitability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0456" y="4718304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Loss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81160" y="4718304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B1F33"/>
                </a:solidFill>
                <a:latin typeface="Georgia"/>
              </a:rPr>
              <a:t>Loss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341864" y="4718304"/>
            <a:ext cx="1060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A6B63"/>
                </a:solidFill>
                <a:latin typeface="Georgia"/>
              </a:rPr>
              <a:t>Profitable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920" y="6163056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E6E80"/>
                </a:solidFill>
                <a:latin typeface="Segoe UI"/>
              </a:rPr>
              <a:t>Management projections for discussion. Not a forecast. Paid conversion is paid users / registered users.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22  ·  INVESTMENT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The Next Generation of Career Services Will Be AI + Human +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155448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Generative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19272" y="1115568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65576" y="155448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Global employment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35624" y="1115568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1928" y="155448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Career services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51976" y="1115568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155448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Digital user acquisition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99232"/>
            <a:ext cx="11183112" cy="3218688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218688"/>
            <a:ext cx="10607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THE OPPORTUNITY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1060704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We believe the next generation of career services will not be purely human. It will be AI + human + platform.</a:t>
            </a:r>
          </a:p>
          <a:p>
            <a:pPr algn="l"/>
            <a:r>
              <a:rPr sz="1600" b="0" i="0">
                <a:solidFill>
                  <a:srgbClr val="D7EBE8"/>
                </a:solidFill>
                <a:latin typeface="Segoe UI"/>
              </a:rPr>
              <a:t>Our initial product is the AI Resume. Our ambition is larger: build the global AI career platform.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23  ·  FINANCING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Current Financing 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316736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RAISE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61848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RMB 20 million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21284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</a:rPr>
              <a:t>≈ US$2.97 million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3672" y="1115568"/>
            <a:ext cx="3584448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33672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16736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PRE-MONEY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61848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RMB 180 million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21284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</a:rPr>
              <a:t>≈ US$26.7 million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4" y="1115568"/>
            <a:ext cx="3584448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4424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1316736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POST-MONEY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161848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RMB 200 million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221284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</a:rPr>
              <a:t>≈ US$29.7 million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27248"/>
            <a:ext cx="3584448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12724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3328416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EQUITY OFFERED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363016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22452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</a:rPr>
              <a:t>Primary preferred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33672" y="3127248"/>
            <a:ext cx="3584448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33672" y="312724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328416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63016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Preferred equity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22452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</a:rPr>
              <a:t>Indicative; subject to docs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64424" y="3127248"/>
            <a:ext cx="3584448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64424" y="312724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65592" y="3328416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USE OF CAPITAL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363016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Product, users, global GTM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422452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</a:rPr>
              <a:t>Monetization + ecosystem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257800"/>
            <a:ext cx="11183112" cy="98755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440680"/>
            <a:ext cx="10698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Capital will be used to build the product, acquire users, expand globally, build monetization, and develop the career ecosystem.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RMB 20M  →  WHAT INVESTORS 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12–18 month targets this round is designed to fund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124358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157276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Public launch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12140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AI Resume live for users in China and the U.S.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109728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65576" y="124358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5576" y="157276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50–100k 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5576" y="212140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Registered users; funnel instrumented end-to-end.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5624" y="109728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124358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157276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Blind A/B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1928" y="212140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Statistically meaningful quality vs. general-purpose models.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109728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124358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157276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Unit economics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12140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CAC, conversion, ARPU, and payback benchmarks.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24612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39242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372160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U.S. acquisition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" y="427024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Paid digital + university/offline channels operating.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19272" y="324612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65576" y="339242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372160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First paid cohort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5576" y="427024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AI subscriptions and career-services attach live.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324612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339242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372160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B2B pipeline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1928" y="427024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Employer and education-partner conversations in market.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51976" y="324612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339242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72160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Next-round pack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427024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Traction, model, and data room ready for the following raise.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440680"/>
            <a:ext cx="11183112" cy="804672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596128"/>
            <a:ext cx="106984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RMB 20M  →  product + users + benchmarks  →  revenue  →  next round  →  valuation step-up.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24  · 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We are not building another AI resume tool.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105156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A6B63"/>
                </a:solidFill>
                <a:latin typeface="Georgia"/>
              </a:rPr>
              <a:t>We are building the Global AI Career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D7EBE8"/>
                </a:solidFill>
                <a:latin typeface="Segoe UI"/>
              </a:rPr>
              <a:t>AI   ×   Career   ×   Talent   ×  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51 CAREERS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6B7C8F"/>
                </a:solidFill>
                <a:latin typeface="Segoe UI"/>
              </a:rPr>
              <a:t>51 CAREERS   ·   CONFIDENTIAL   ·  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