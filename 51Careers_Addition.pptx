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user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Operations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CONFIDENTIAL INVESTOR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51 CAREERS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Building the Global AI Career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AI Resume  →  AI Career  →  Global Talent Ecosystem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10972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Seeking RMB 20 Million in Growth Capital   ·   ≈ US$2.97 Million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PRE-MONEY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180M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US$26.7 million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RAISE  ·  10% EQUITY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20M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US$2.97 million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POST-MONEY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200M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US$29.7 million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19472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C5D5E0"/>
                </a:solidFill>
                <a:latin typeface="Segoe UI"/>
                <a:ea typeface="Segoe UI"/>
                <a:cs typeface="Segoe UI"/>
              </a:rPr>
              <a:t>The resume is the entry point. The ambition is the global AI career platform — connecting job seekers, employers, career services, education, and the talent ecosystem.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1722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9AB0C0"/>
                </a:solidFill>
                <a:latin typeface="Segoe UI"/>
                <a:ea typeface="Segoe UI"/>
                <a:cs typeface="Segoe UI"/>
              </a:rPr>
              <a:t>CHINA R&amp;D   ·   U.S. COMMERCIALIZATION   · 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  ·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Building the AI-Powered Future of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Career Services  →  AI Resume  →  AI Career Platform  →  Global Career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52120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73152" cy="507492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53312"/>
            <a:ext cx="470916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51 Careers is building a global AI Career Platform to help job seekers create better resumes, discover opportunities, improve job-search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An AI-powered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This round</a:t>
            </a:r>
          </a:p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RMB 20 million (10% of RMB 200 million post-money) to accelerate product development, user acquisition, and global commercialization. Pre-money RMB 180 million.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demo already developed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Initial testing completed with promising results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Stronger professional positioning &amp; quantification vs. general-purpose models in internal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5197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can serve users globally from day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161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Existing career-services business: domain expertise + monetization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market as the first international growth beachhead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Multiple revenue streams beyond AI Resume subscriptions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2396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5197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RMB 20M to fund product, acquisition, and global go-to-market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  ·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Most candidates struggle to communicate experience in a professional, results-oriented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52344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People describe responsibilities rather than measurable achievements.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1768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01768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9784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Personalization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One generic resume rarely works across jobs and employers.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51192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Candidates apply without a clear view of actual fit.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6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8632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Professional advice remains expensive and consultant-dependent.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21808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Low-quality applications  →  Low interview rates  →  Long job searches  →  High frustration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  · 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Is Reshaping the Career Services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394960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8A6D3B"/>
                </a:solidFill>
                <a:latin typeface="Segoe UI"/>
                <a:ea typeface="Segoe UI"/>
                <a:cs typeface="Segoe UI"/>
              </a:rPr>
              <a:t>TRADITIONAL MODEL  ·  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High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115568"/>
            <a:ext cx="539496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AI-ENABLED MODEL  ·  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Transform high-cost, labor-intensive career services into a scalable AI-powered platform.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  · 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Three Structural Trends Are Converging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adoption, data-driven hiring, and fragmented career services are moving at the same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Generative AI has reached mass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Consumers are increasingly comfortable using AI for professional and personal tasks. That adoption is the distribution opening for an AI career product.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Recruiting is becoming more data-driven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Employers rely on structured information, keywords, measurable achievements, and automated screening. Candidates need a product that writes to that standard.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services remain fragmented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The industry is still dependent on manual services and fragmented providers. That gap is the opening for a scalable AI + human platform.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 SITS AT THE INTERSECTION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  ×   Employment   ×   Career Services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TAM  →  SAM  →  SOM  →  Three-Year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2801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   ·   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91056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US$ 200B+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5798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Georgia"/>
                <a:ea typeface="Georgia"/>
                <a:cs typeface="Georgia"/>
              </a:rPr>
              <a:t>RMB 1.35T+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05456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Global recruitment, talent-acquisition, and career-development spend.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2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801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   ·   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591056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US$ 30B+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5798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Georgia"/>
                <a:ea typeface="Georgia"/>
                <a:cs typeface="Georgia"/>
              </a:rPr>
              <a:t>RMB 200B+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05456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Digital / AI-enabled hiring tools, resume products, and online career preparation.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12801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   ·   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1591056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US$ 1.5B+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15798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Georgia"/>
                <a:ea typeface="Georgia"/>
                <a:cs typeface="Georgia"/>
              </a:rPr>
              <a:t>RMB 10B+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505456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and career-assistant demand in initial markets: China, the U.S., and English-speaking Asia.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24528"/>
            <a:ext cx="11183112" cy="20665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224528"/>
            <a:ext cx="73152" cy="2066543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34256"/>
            <a:ext cx="10607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  ·  2027E–2029E REVENUE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663440"/>
            <a:ext cx="3383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2027E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901184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US$ 2.0M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394960"/>
            <a:ext cx="3383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Georgia"/>
                <a:ea typeface="Georgia"/>
                <a:cs typeface="Georgia"/>
              </a:rPr>
              <a:t>≈ RMB 13.5M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663440"/>
            <a:ext cx="3383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2028E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3984" y="4901184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US$ 8.0M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43984" y="5394960"/>
            <a:ext cx="3383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Georgia"/>
                <a:ea typeface="Georgia"/>
                <a:cs typeface="Georgia"/>
              </a:rPr>
              <a:t>≈ RMB 53.8M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6" y="4663440"/>
            <a:ext cx="3383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2029E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4736" y="4901184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US$ 28.0M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4736" y="5394960"/>
            <a:ext cx="3383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Georgia"/>
                <a:ea typeface="Georgia"/>
                <a:cs typeface="Georgia"/>
              </a:rPr>
              <a:t>≈ RMB 188.4M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779008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Logic: global job seekers  →  addressable AI Resume users  →  paid conversion  →  stacked revenue (AI + services + commission + B2B + ads).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  ·  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61872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261872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75104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975104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42032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688336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688336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255264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01568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401568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68496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14800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114800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81728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681728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828032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828032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394960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394960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541264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541264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1115568"/>
            <a:ext cx="4005072" cy="517550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1371600"/>
            <a:ext cx="3611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1737360"/>
            <a:ext cx="3611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651760"/>
            <a:ext cx="36118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The resume is the first touchpoint between the user and the 51 Careers ecosystem — the on-ramp to AI Career tools, services, matching, and the marketplace.
One product. One profile. Multiple monetization paths across the career journey.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  · 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From Career Experience to Quantified Professional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3703320" cy="5138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37033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43584"/>
            <a:ext cx="3246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USERS PROVIDE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Work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38144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41648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4515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Career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4865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Target job descriptions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078992"/>
            <a:ext cx="3246120" cy="513892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371600"/>
            <a:ext cx="2834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OUR AI GENERATES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828800"/>
            <a:ext cx="2834640" cy="2834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Professional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+  Quantified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+  Job-specific</a:t>
            </a:r>
          </a:p>
          <a:p>
            <a:pPr algn="l"/>
            <a:r>
              <a:rPr sz="16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resume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754880"/>
            <a:ext cx="283464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Optimized for ATS, role, employer, and geography — so one career profile can serve many applications.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Resume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48088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Optimization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7848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Job-Specific Customization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48088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57816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7848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ATS Optimization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7816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Multiple Resume Versions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Cover Letter Generation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48088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57816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Profile Creation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  ·  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The Product Has Already Been Built and Tested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Demo developed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 working AI Resume product is available for demonstration.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Initial testing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Early users and internal reviews show promising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Internal benchmark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Compared against direct outputs from leading general-purpose AI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111831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INITIAL TESTING INDICATES STRONGER PERFORMANCE 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Professional positioning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2344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1768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relevance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Career-experience extraction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0616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0344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structure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1091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IMPORTANT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21808"/>
            <a:ext cx="1069848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Current results are based on internal testing. The next stage is larger-scale, structured, blind A/B testing to establish statistically meaningful benchmarks versus general-purpose models.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  ·  TECHNOLOGY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We Are Not Simply Building an LLM Wrapper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11183112" cy="9601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LLM  +  Career Knowledge  +  Resume Framework  +  Job Intelligence  +  User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Career-experience extraction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7288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Job-description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976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optimization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Industry terminology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Role-specific requirements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5624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Geographic resume conventions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1976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ATS optimization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DATA FEEDBACK LOOP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User input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0195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5681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analysis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0098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584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584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gen.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0016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0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Feedback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294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Model upgrade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9711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Better outcomes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9614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100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More users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669280"/>
            <a:ext cx="1118311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Each cycle compounds proprietary career intelligence that generic chat models do not accumulate.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09  ·  GLOBAL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States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1768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9784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Central America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1192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79208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Kingdom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0616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Australia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Singapore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2344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Hong Kong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1768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9784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Europe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0616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8632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Middle East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02352"/>
            <a:ext cx="11183112" cy="11887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12080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UNIVERSAL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68112"/>
            <a:ext cx="106070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“How do I present my professional value to employers?”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33872"/>
            <a:ext cx="106070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That shared problem gives AI Resume a fundamentally different scalability profile from traditional, local career-consulting businesses.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10  ·  GLOBAL 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One Platform. Multiple Labor Markets.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4358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4358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 ·  Canada  ·  Central America  ·  U.K.  ·  Australia  ·  Europe  ·  Asia  ·  Middle East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3969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3969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8599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Industry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8599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Applicable across industries — including Technology, Fintech, Financial Services, Advanced Manufacturing, Consulting, Healthcare, Marketing, Education, and more.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8211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18211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2841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32841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Student / Graduate / Professional / Manager / Executive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2452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2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Target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37082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Software Engineer / PM / Data Scientist / Marketing / Finance / more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6694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26694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41324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Target employer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41324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Startup / SME / Enterprise / Multinational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11  ·  FROM AI RESUME TO AI CAREER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Resume Is the Entry Point — Not the Destination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“Help me create a better resume.”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Career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“What jobs should I apply for?”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5624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Career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“Help me manage my entire job search.”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1115568"/>
            <a:ext cx="2697480" cy="9144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Global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Job seekers × employers × services × education × talent ecosystem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creation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3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discovery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Application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Cover letters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77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Interview prep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77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planning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12  ·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Multiple Monetization Layers Across the Career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01  AI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Subscription, premium AI features, resume packages, AI Career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02  CAREER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Resume consulting, career consulting, interview coaching, premium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03  REFERRAL &amp; COMMISSION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CPA / CPS / revenue share with education, training, and recruitment partners.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04  B2B / EMPLOYERS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Talent acquisition, employer branding, recruitment campaigns, job promotion.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3672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05  ADVERTISING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As traffic scales: relevant brands → targeted career audience.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06  SPONSORSHIP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Career fairs, conferences, recruitment events, AI career events.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13  ·  THE CAREER MONETIZATION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One User Can Generate Multiple Revenue 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Free AI 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User acquisition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1768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9784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51192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208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Career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2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2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Premium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52344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01768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9784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9784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Recruitment / referral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Advertising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0616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8632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8632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Employer services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773168"/>
            <a:ext cx="11183112" cy="151790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91947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THEREFORE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230368"/>
            <a:ext cx="106984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Revenue is not limited to the first AI Resume transaction. The long-term objective is to maximize lifetime value per career user.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14  ·  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Digital  +  Offline  +  Organic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TikTok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Search /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44398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Content 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2F5D8A"/>
                </a:solidFill>
                <a:latin typeface="Segoe UI"/>
                <a:ea typeface="Segoe UI"/>
                <a:cs typeface="Segoe UI"/>
              </a:rPr>
              <a:t>ORGANIC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AI-search optimization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Career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Educational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Referral programs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Affiliate partnerships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A6D3B"/>
                </a:solidFill>
                <a:latin typeface="Segoe UI"/>
                <a:ea typeface="Segoe UI"/>
                <a:cs typeface="Segoe UI"/>
              </a:rPr>
              <a:t>OFFLINE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Universities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Career fairs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Student organizations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Professional orgs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Community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Employer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CORE GROWTH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Free AI product  →  Low-friction acquisition  →  Registration  →  Engagement  →  Monetization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15  ·  CHINA + U.S. + GLOBAL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China as R&amp;D Base  ·  U.S. as Commercialization 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16736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 ·  R&amp;D AND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Product, design, engineering, AI, testing, marketing operations, B2B business development.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16352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816352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STATES  ·  INTERNATIONAL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User acquisition, local partnerships, employer and university relationships, offline events, brand building.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17136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517136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18304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GLOBAL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75504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Once product-market fit is established: North America → UK → Australia → Europe → Asia → other markets.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16  ·  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Infrastructure — Not Another Resume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JOB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Large user base  ·  Limited personalized career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GENERAL-PURPOSE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881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High AI capability  ·  Limited career specialization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TRADITIONAL 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High human service  ·  Low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RESUME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Resume-focused  ·  Limited ecosystem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47488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58384"/>
            <a:ext cx="10698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 +  Career expertise  +  Services  +  Marketplace. We are not competing only with resume builders — we are building career infrastructure.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17  ·  COMPETITIVE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Why 51 Careers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Existing career-services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We understand the industry from an operating perspective.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product already in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Not a concept or a slide-deck company. Demo built and tested.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65592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Global 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can be distributed worldwide through digital channels.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Multiple monetization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Subscription + services + commission + B2B + ads + sponsorship.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+ human 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for scalable work; humans for high-value, complex services.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Platform potential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The long-term opportunity extends beyond resumes into the career ecosystem.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18  ·  TEAM &amp; OPERATING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Core founding team in place  ·  Planned hiring funded by this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3584448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EXISTING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FOUNDING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3200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Core founding team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In place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84448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Product, capital, and go-to-market leadership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59936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Additional roles are not yet hired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35424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This round funds the planned operating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Product, design, engineering, and AI.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Designer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785616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QA /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785616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4169664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Front-End Engineer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4169664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553712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Back-End Engineers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553712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493776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Engineer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93776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76288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76288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04304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4304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GROWTH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04304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2+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4304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Performance marketing and B2B development.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Marketing / Performance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04304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B2B Business Development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8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1+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54896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54896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82912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82912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U.S. GROWTH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82912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82912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digital and local field marketing.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82912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Performance Marketing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7976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82912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Local / Field Marketing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37976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5779008"/>
            <a:ext cx="11183112" cy="53035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Only the core founding team is in place today. China technology, China growth, and U.S. growth roles are planned hires — not current headcount.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19  ·  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RMB 13.1M is a planned personnel + advertising budget. Remaining capital funds infrastructure, AI, operations, events, expansion and working capital.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07008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49240" y="1261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Marketing &amp; user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261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40%   · 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719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19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22.5%   · 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762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1762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12.5%   · 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6334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6334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7.5%   · 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906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0906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7.5%   · 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547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Operations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547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5%   · 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05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4005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5%   · 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hiring budget — not current payroll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personnel + advertising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20  ·  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Validation  →  Growth  →  Global Expansion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1  ·  0–6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Product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Launch AI 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Improve AI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Structured A/B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Initial CAC benchmarks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Conversion funnel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Validate 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2  ·  6–12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Scale paid acquisition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Build SEO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Expand U.S. 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B2B partnerships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More AI Career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Expand monetization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1115568"/>
            <a:ext cx="3584448" cy="82296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3  ·  12–24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Global expansion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More English-speaking 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Localized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Global partnerships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Employer ecosystem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Marketplace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Central America expansion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21  ·  THREE-YEAR FINANCIAL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Users, Revenue,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Illustrative 2027E–2029E operating plan. Figures in US$.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828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7.0M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Registered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9656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2.5M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Monthly active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1.25M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19656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180K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19656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MAU / registered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19656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33672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33672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9976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970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0408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9976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revenue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970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$0.70M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50408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$2.40M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$8.40M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79976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Career services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9704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$0.50M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50408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$1.60M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$5.60M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9976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Commission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9704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$0.30M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50408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$1.20M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$4.20M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79976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Advertising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9704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$0.20M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50408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$0.80M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1111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$2.80M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9976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B2B revenue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89704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$0.30M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50408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$2.00M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111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$7.00M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5112" y="5257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9976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Total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9704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$2.00M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50408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$8.00M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1111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$28.00M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964424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964424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10728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PROFITABILITY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04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34186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10728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Gross margin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04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811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186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10728" y="268833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Gross profit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0456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$1.30M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81160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$5.60M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41864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$21.00M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10728" y="351129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EBITDA margin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0456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–50%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81160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–15%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41864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10728" y="433425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EBITDA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0456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–$1.00M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81160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–$1.20M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41864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$4.20M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55864" y="5120640"/>
            <a:ext cx="3401568" cy="78638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10728" y="515721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Profitability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0456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Loss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Loss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41864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Profitable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" y="6163056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Management projections for discussion. Not a forecast. Paid conversion is paid users / registered users.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22  ·  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The Next Generation of Career Services Will Be AI + Human +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Generative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Professional content creation is now cheap, fast, and widely adopted.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35624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Global employment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Talent is mobile. English-language careers travel across markets.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Advice is still manual, expensive, and hard to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Digital user acquisition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 free AI Resume is a low-friction, global top-of-funnel.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38928"/>
            <a:ext cx="11183112" cy="115214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248656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04688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next generation of career services will be AI + human + platform. The AI Resume is the entry point; the ambition is the global AI career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23  ·  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Current Financing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US$2.97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PRE-MONEY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180 million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US$26.7 million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POST-MONEY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200 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US$29.7 million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EQUITY OFFERED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Primary preferred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Preferred equity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Indicative; subject to docs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4424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4424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 OF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Product, users, global GTM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Monetization + ecosystem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486400"/>
            <a:ext cx="11183112" cy="80467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632704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Capital will be used to build the product, acquire users, expand globally, build monetization, and develop the career ecosystem.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RMB 20M  →  WHAT INVESTORS 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12–18 month targets this round is designed to fund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Public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live for users in China and the U.S.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5576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50–100k 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Registered users; funnel instrumented end-to-end.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Blind A/B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Statistically meaningful quality vs. general-purpose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CAC, conversion, ARPU, and payback benchmarks.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U.S. acquisition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Paid digital + university/offline channels operating.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First paid cohort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subscriptions and career-services attach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B2B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Employer and education-partner conversations in market.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Next-round pack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Traction, model, and data room ready for the following raise.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650992"/>
            <a:ext cx="11183112" cy="640080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760720"/>
            <a:ext cx="106984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RMB 20M  →  product + users + benchmarks  →  revenue  →  next round  →  valuation step-up.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24  · 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We are building the Global AI Career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AI   ×   Career   ×   Talent   ×  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51 CAREERS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016752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CHINA R&amp;D   ·   U.S. COMMERCIALIZATION   ·   GLOBAL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6B7C8F"/>
                </a:solidFill>
                <a:latin typeface="Segoe UI"/>
                <a:ea typeface="Segoe UI"/>
                <a:cs typeface="Segoe UI"/>
              </a:rPr>
              <a:t>51 CAREERS   ·   CONFIDENTIAL   ·  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