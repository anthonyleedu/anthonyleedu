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926080"/>
            <a:ext cx="3520440" cy="169164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92608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3108960"/>
            <a:ext cx="31546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83280"/>
            <a:ext cx="3154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05072"/>
            <a:ext cx="31546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C5D5E0"/>
                </a:solidFill>
                <a:latin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207008"/>
            <a:ext cx="2139696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207008"/>
            <a:ext cx="2139696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89888"/>
            <a:ext cx="1883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28800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514600"/>
            <a:ext cx="1883664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16636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28523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07008"/>
            <a:ext cx="53949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0700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46304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938528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6888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999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529584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059936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207008"/>
            <a:ext cx="539496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0700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46304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938528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68880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999232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529584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059936"/>
            <a:ext cx="4937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02352"/>
            <a:ext cx="11183112" cy="114300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3212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Three Structural Trends Are Converging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Generative AI has reached mass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Consumers are increasingly comfortable using AI for professional and personal tasks.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Recruiting is becoming more data-driven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Employers rely on structured information, keywords, measurable achievements, and automated screening.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371600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103120"/>
            <a:ext cx="314553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Career services remain fragmented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200400"/>
            <a:ext cx="3145536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The industry is still dependent on manual services and fragmented providers.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11183112" cy="117043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23036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51 CAREERS SITS AT THE INTERSECTION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59552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AI   ×   Employment   ×   Career Services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TAM  →  SAM  →  SOM  →  Three-Year Revenue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1.35 trillion+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200 billion+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70432"/>
            <a:ext cx="358444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70432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371600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66420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B1F33"/>
                </a:solidFill>
                <a:latin typeface="Georgia"/>
              </a:rPr>
              <a:t>US$1.5B+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94560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14283C"/>
                </a:solidFill>
                <a:latin typeface="Segoe UI"/>
              </a:rPr>
              <a:t>RMB 10 billion+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42032"/>
            <a:ext cx="318211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&amp; career-assistant demand in initial markets: China,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06240"/>
            <a:ext cx="11183112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06240"/>
            <a:ext cx="73152" cy="202996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70832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  ·  ILLUSTRATIVE 3-YEAR REVENUE 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Year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 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US$  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Year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 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US$  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Year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 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US$  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06440"/>
            <a:ext cx="10607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E6E80"/>
                </a:solidFill>
                <a:latin typeface="Segoe UI"/>
              </a:rPr>
              <a:t>Logic: global job seekers → addressable AI Resume users → paid conversion → stacked revenue (AI + services + commission + B2B + ads). Revenue figures to be completed.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25296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25296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47088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847088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59152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59152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68880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468880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80944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980944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90672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090672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02736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02736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12464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712464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24528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24528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34256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34256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846320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846320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956048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956048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0235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108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The resume is the first touchpoint between the user and the 51 Careers ecosystem — the on-ramp to AI Career tools, services, matching, and the marketplace.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Professional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+  Quantified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937760"/>
            <a:ext cx="28346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Optimized for ATS, role, employer, and geography.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80160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691640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44368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273552"/>
            <a:ext cx="2139696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566160"/>
            <a:ext cx="1920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46320"/>
            <a:ext cx="11183112" cy="138988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9456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5915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2971800"/>
            <a:ext cx="269748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136392"/>
            <a:ext cx="24414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160520"/>
            <a:ext cx="1298448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297680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617720"/>
            <a:ext cx="11887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B1F33"/>
                </a:solidFill>
                <a:latin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United Kingdom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Australia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7043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51790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Singapore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Hong Kong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China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Europe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Middle East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2496312"/>
            <a:ext cx="2139696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2843784"/>
            <a:ext cx="1883664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Other markets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977639"/>
            <a:ext cx="11183112" cy="226771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160520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26280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2529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2529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US / Canada / UK / Australia / Europe / Asia /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3113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3113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Technology / Finance / Consulting / Healthcare / Marketing / Education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0896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0896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23697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23697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148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11480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24281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24281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120640"/>
            <a:ext cx="73152" cy="9144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48656"/>
            <a:ext cx="2926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248656"/>
            <a:ext cx="749807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69164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06040"/>
            <a:ext cx="2404872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526280"/>
            <a:ext cx="1508760" cy="16916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4937760"/>
            <a:ext cx="1362456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214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301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22776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636008"/>
            <a:ext cx="3182112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66420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07208"/>
            <a:ext cx="2139696" cy="15361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08376"/>
            <a:ext cx="1883664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355848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663440"/>
            <a:ext cx="11183112" cy="157276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82803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13892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19709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F5D8A"/>
                </a:solidFill>
                <a:latin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8A6D3B"/>
                </a:solidFill>
                <a:latin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78308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18541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587752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990088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92424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794760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47488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193792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8640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6148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76148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6265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1985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07408"/>
            <a:ext cx="1118311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07408"/>
            <a:ext cx="73152" cy="15087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0857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65776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1051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1051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9359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88036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13639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5E6E80"/>
                </a:solidFill>
                <a:latin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593592"/>
            <a:ext cx="495604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1728"/>
            <a:ext cx="11183112" cy="155448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3892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414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30168"/>
            <a:ext cx="3584448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31336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270248"/>
            <a:ext cx="318211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956048"/>
            <a:ext cx="318211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18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Global Business  +  China Technology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9844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CHINA 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83080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28600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Product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28600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724912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Designer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24912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63824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QA /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163824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602736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Front-End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602736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4041648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Back-End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041648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448056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AI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48056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9272" y="1097280"/>
            <a:ext cx="26974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19272" y="1097280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65576" y="129844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CHINA GROWTH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576" y="1783080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2+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65576" y="228600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Marketing /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228600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2724912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B2B Business Development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0952" y="2724912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1097280"/>
            <a:ext cx="26974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35624" y="1097280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81928" y="129844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U.S. GROWTH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1783080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1928" y="228600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Performance Marketing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7304" y="228600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1928" y="2724912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Local / Field Marketing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724912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51976" y="1097280"/>
            <a:ext cx="26974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51976" y="1097280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98280" y="129844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FOUNDING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1783080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8280" y="2286000"/>
            <a:ext cx="192024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Founders / core management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63656" y="2286000"/>
            <a:ext cx="502920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 i="0">
                <a:solidFill>
                  <a:srgbClr val="0A6B63"/>
                </a:solidFill>
                <a:latin typeface="Segoe UI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394960"/>
            <a:ext cx="11183112" cy="8412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577840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Existing annual core personnel cost  ≈  RMB 5.1 million (≈ US$758K). Additional hires as needed.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19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After RMB 13.1M personnel + advertising,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Existing annual core team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72000"/>
            <a:ext cx="269748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81728"/>
            <a:ext cx="240487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19472"/>
            <a:ext cx="2404872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40680"/>
            <a:ext cx="240487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20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Marketplace capabilities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21  ·  KEY METRICS WE WILL OPTIMIZE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Growth, monetization, unit economics, and platform health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920240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Registered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70048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MAU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419856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AI Resume generations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4169664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User retention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491947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Organic traffic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9272" y="1115568"/>
            <a:ext cx="26974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5576" y="1353312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MONETIZATION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1920240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Conversion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2670048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Paid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3419856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4169664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65576" y="491947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Gross margin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1115568"/>
            <a:ext cx="26974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1353312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UNIT ECONOMICS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1920240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2670048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LTV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3419856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LTV / CAC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1928" y="4169664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Payback period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976" y="1115568"/>
            <a:ext cx="26974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280" y="1353312"/>
            <a:ext cx="24048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1920240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Employer partners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670048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Career-service partners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419856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listings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4169664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Referral GMV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1947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Commission revenue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FINANCIAL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Three-Year Financial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Path from free AI Resume to a paid multi-stream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11183112" cy="5102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3112" cy="402336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73152" cy="51023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179576"/>
            <a:ext cx="3383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179576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Year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179576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Year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179576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Year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609344"/>
            <a:ext cx="10515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837943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0B1F33"/>
                </a:solidFill>
                <a:latin typeface="Segoe UI"/>
              </a:rPr>
              <a:t>Registered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828800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1828800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1828800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" y="2121408"/>
            <a:ext cx="11036808" cy="29260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130551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0B1F33"/>
                </a:solidFill>
                <a:latin typeface="Segoe UI"/>
              </a:rPr>
              <a:t>Monthly active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121408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121408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2121408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423159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0B1F33"/>
                </a:solidFill>
                <a:latin typeface="Segoe UI"/>
              </a:rPr>
              <a:t>Paid users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414015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414015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2414015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" y="2724911"/>
            <a:ext cx="10515600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779775"/>
            <a:ext cx="10515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REVENUE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008375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0B1F33"/>
                </a:solidFill>
                <a:latin typeface="Segoe UI"/>
              </a:rPr>
              <a:t>AI 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2999231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999231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0" y="2999231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6072" y="3291839"/>
            <a:ext cx="11036808" cy="29260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300983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0B1F33"/>
                </a:solidFill>
                <a:latin typeface="Segoe UI"/>
              </a:rPr>
              <a:t>Career services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3291839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291839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291839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593591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0B1F33"/>
                </a:solidFill>
                <a:latin typeface="Segoe UI"/>
              </a:rPr>
              <a:t>Commission revenue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3584447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3584447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3584447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" y="3877055"/>
            <a:ext cx="11036808" cy="29260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3886199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0B1F33"/>
                </a:solidFill>
                <a:latin typeface="Segoe UI"/>
              </a:rPr>
              <a:t>Advertising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3877055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3877055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3877055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178807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0B1F33"/>
                </a:solidFill>
                <a:latin typeface="Segoe UI"/>
              </a:rPr>
              <a:t>B2B revenue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4169663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4169663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4169663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" y="4480560"/>
            <a:ext cx="10515600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" y="4535424"/>
            <a:ext cx="105156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PROFITABILITY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" y="4754880"/>
            <a:ext cx="11036808" cy="292608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9808" y="4764024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Total revenue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4754880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754880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4754880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6072" y="5047488"/>
            <a:ext cx="11036808" cy="292608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5056632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Gross profit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047488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03720" y="5047488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09760" y="5047488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6072" y="5340096"/>
            <a:ext cx="11036808" cy="292608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" y="5349240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EBITDA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97680" y="5340096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03720" y="5340096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09760" y="5340096"/>
            <a:ext cx="23774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>
                <a:solidFill>
                  <a:srgbClr val="0A6B63"/>
                </a:solidFill>
                <a:latin typeface="Georgia"/>
              </a:rPr>
              <a:t>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8" y="5833872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</a:rPr>
              <a:t>Confidential discussion framework. Year 1 is the first 12 months post-financing. Figures to be completed in diligence.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22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Generative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19272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65576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Global employment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Career services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115568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554480"/>
            <a:ext cx="2404872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Georgia"/>
              </a:rPr>
              <a:t>Digital user acquisition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99232"/>
            <a:ext cx="11183112" cy="321868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We believe the next generation of career services will not be purely human. It will be AI + human + platform.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Our initial product is the AI Resume. Our ambition is larger: build the global AI career platform.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23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1673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1848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21284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127248"/>
            <a:ext cx="3584448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12724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328416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63016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224528"/>
            <a:ext cx="318211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57800"/>
            <a:ext cx="11183112" cy="9875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106984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7276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2140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246120"/>
            <a:ext cx="2697480" cy="19933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392424"/>
            <a:ext cx="240487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721608"/>
            <a:ext cx="240487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270248"/>
            <a:ext cx="2404872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068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596128"/>
            <a:ext cx="106984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24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0A6B63"/>
                </a:solidFill>
                <a:latin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</a:rPr>
              <a:t>51 CAREERS   ·   CONFIDENTIAL   ·  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