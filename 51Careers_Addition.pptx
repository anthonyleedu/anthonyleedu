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user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Operations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7EBE8"/>
                </a:solidFill>
                <a:latin typeface="Segoe UI"/>
              </a:rPr>
              <a:t>CONFIDENTIAL INVESTOR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51 CAREERS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</a:rPr>
              <a:t>Building the Global AI Career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AI Resume  →  AI Career  →  Global Talent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10972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Seeking RMB 20 Million in Growth Capital   ·   ≈ US$2.97 Million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92608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108960"/>
            <a:ext cx="31546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PRE-MONEY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383280"/>
            <a:ext cx="3154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RMB 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05072"/>
            <a:ext cx="31546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≈ US$26.7 million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9260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92608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3108960"/>
            <a:ext cx="31546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RAISE  ·  10%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3383280"/>
            <a:ext cx="3154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RMB 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4005072"/>
            <a:ext cx="31546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≈ US$2.97 million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9260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92608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3108960"/>
            <a:ext cx="31546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POST-MONEY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383280"/>
            <a:ext cx="3154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RMB 200M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005072"/>
            <a:ext cx="31546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≈ US$29.7 million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C5D5E0"/>
                </a:solidFill>
                <a:latin typeface="Segoe UI"/>
              </a:rPr>
              <a:t>The resume is the entry point. The ambition is the global AI career platform — connecting job seekers, employers, career services, education, and the talent ecosystem.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1722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9AB0C0"/>
                </a:solidFill>
                <a:latin typeface="Segoe UI"/>
              </a:rPr>
              <a:t>CHINA R&amp;D   ·   U.S. COMMERCIALIZATION   · 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01  ·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Building the AI-Powered Future of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Career Services  →  AI Resume  →  AI Career Platform  →  Global Career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52120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73152" cy="507492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470916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</a:rPr>
              <a:t>51 Careers is building a global AI Career Platform to help job seekers create better resumes, discover opportunities, improve job-search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</a:rPr>
              <a:t>An AI-powered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This round</a:t>
            </a:r>
          </a:p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RMB 20 million (10% of RMB 200 million post-money) to accelerate product development, user acquisition, and global commercialization. Pre-money RMB 180 million.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AI Resume demo already developed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Initial testing completed with promising results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Stronger professional positioning &amp; quantification vs. general-purpose models in internal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5197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Product can serve users globally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Existing career-services business: domain expertise + monetization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U.S. market as the first international growth beachhead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Multiple revenue streams beyond AI Resume subscriptions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5197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RMB 20M to fund product, acquisition, and global go-to-market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02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Most candidates struggle to communicate experience in a professional, results-oriented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52344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People describe responsibilities rather than measurable achievements.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01768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One generic resume rarely works across jobs and employers.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51192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Candidates apply without a clear view of actual fit.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Professional advice remains expensive and consultant-dependent.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Low-quality applications  →  Low interview rates  →  Long job searches  →  High frustration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03  · 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AI Is Reshaping the Career Services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07008"/>
            <a:ext cx="539496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5394960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46304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8A6D3B"/>
                </a:solidFill>
                <a:latin typeface="Segoe UI"/>
              </a:rPr>
              <a:t>TRADITIONAL MODEL  ·  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938528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6888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999232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529584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High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059936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207008"/>
            <a:ext cx="539496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207008"/>
            <a:ext cx="539496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46304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AI-ENABLED MODEL  ·  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938528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46888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999232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529584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059936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02352"/>
            <a:ext cx="11183112" cy="114300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23036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532120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Transform high-cost, labor-intensive career services into a scalable AI-powered platform.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04  · 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Three Structural Trends Are Converging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371600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03120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Generative AI has reached mass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00400"/>
            <a:ext cx="314553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Consumers are increasingly comfortable using AI for professional and personal tasks.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371600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103120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Recruiting is becoming more data-driven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3200400"/>
            <a:ext cx="314553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Employers rely on structured information, keywords, measurable achievements, and automated screening.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371600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103120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Career services remain fragmented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200400"/>
            <a:ext cx="314553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The industry is still dependent on manual services and fragmented providers.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74920"/>
            <a:ext cx="11183112" cy="117043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23036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51 CAREERS SITS AT THE INTERSECTION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559552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AI   ×   Employment   ×   Career Services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TAM  →  SAM  →  SOM  →  Three-Year Revenue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358444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71600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66420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</a:rPr>
              <a:t>US$200B+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945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4283C"/>
                </a:solidFill>
                <a:latin typeface="Segoe UI"/>
              </a:rPr>
              <a:t>RMB 1.35 trillion+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42032"/>
            <a:ext cx="318211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Global recruitment, talent-acquisition, and career-development spend.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170432"/>
            <a:ext cx="358444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170432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371600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6420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</a:rPr>
              <a:t>US$30B+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945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4283C"/>
                </a:solidFill>
                <a:latin typeface="Segoe UI"/>
              </a:rPr>
              <a:t>RMB 200 billion+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42032"/>
            <a:ext cx="318211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Digital / AI-enabled hiring tools, resume products, and online career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1170432"/>
            <a:ext cx="358444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170432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371600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166420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</a:rPr>
              <a:t>US$1.5B+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1945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4283C"/>
                </a:solidFill>
                <a:latin typeface="Segoe UI"/>
              </a:rPr>
              <a:t>RMB 10 billion+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542032"/>
            <a:ext cx="318211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resume &amp; career-assistant demand in initial markets: China, U.S., and English-speaking Asia.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06240"/>
            <a:ext cx="11183112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06240"/>
            <a:ext cx="73152" cy="20299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70832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  ·  ILLUSTRATIVE 3-YEAR REVENUE OPPORTUNITY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Year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RMB 6.2M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US$0.9M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Year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RMB 25.9M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US$3.8M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Year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RMB 74.5M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US$11.1M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806440"/>
            <a:ext cx="10607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E6E80"/>
                </a:solidFill>
                <a:latin typeface="Segoe UI"/>
              </a:rPr>
              <a:t>Logic: global job seekers → addressable AI Resume users → paid conversion → stacked revenue (AI + services + commission + B2B + ads).  USD at an illustrative RMB 6.73 / US$1. Figures labeled illustrative are management projections, not forecasts.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05  · 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25296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225296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47088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847088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59152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59152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68880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468880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80944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980944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90672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090672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02736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602736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12464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712464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224528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24528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34256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34256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846320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846320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956048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4956048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1115568"/>
            <a:ext cx="4005072" cy="510235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1371600"/>
            <a:ext cx="3611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1737360"/>
            <a:ext cx="3611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651760"/>
            <a:ext cx="3611880" cy="3108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The resume is the first touchpoint between the user and the 51 Careers ecosystem — the on-ramp to AI Career tools, services, matching, and the marketplace.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06  · 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From Career Experience to Quantified Professional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3703320" cy="5138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37033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43584"/>
            <a:ext cx="3246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38144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4865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078992"/>
            <a:ext cx="3246120" cy="513892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71600"/>
            <a:ext cx="2834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828800"/>
            <a:ext cx="283464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Professional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+  Quantified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+  Job-specific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resume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937760"/>
            <a:ext cx="28346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Optimized for ATS, role, employer, and geography.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AI Resume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48088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Optimization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7848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Job-Specific Customization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48088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57816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7848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ATS Optimization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7816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Multiple Resume 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Cover Letter Generation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7816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Career Profile Creation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07  ·  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The Product Has Already Been Built and Tested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80160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✓   Demo developed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91640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 working AI Resume product is available for demonstration.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115568"/>
            <a:ext cx="35844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80160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✓   Initial testing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691640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Early users and internal reviews show promising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115568"/>
            <a:ext cx="35844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280160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✓   Internal benchmark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691640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Compared against direct outputs from leading general-purpose AI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44368"/>
            <a:ext cx="111831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INITIAL TESTING INDICATES STRONGER PERFORMANCE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Professional positioning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2344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Job relevance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Career-experience extraction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0616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0344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Resume 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46320"/>
            <a:ext cx="11183112" cy="138988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1091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IMPORTANT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21808"/>
            <a:ext cx="1069848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Current results are based on internal testing. The next stage is larger-scale, structured, blind A/B testing to establish statistically meaningful benchmarks versus general-purpose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08  ·  TECHNOLOGY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We Are Not Simply Building an LLM Wrapper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183112" cy="9601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LLM  +  Career Knowledge  +  Resume Framework  +  Job Intelligence  +  User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Career-experience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Job-description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976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Industry terminology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Role-specific 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Geographic resume conventions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ATS 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840480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DATA FEEDBACK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User input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01952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56816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AI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00984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848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Resume 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0016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0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2944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Model upgrade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97112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Better outcomes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96144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1008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More users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Each cycle compounds proprietary career intelligence that generic chat models do not accumulate.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09  ·  GLOBAL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United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1768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9784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United Kingdom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1192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79208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Australia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0616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Singapore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Hong Kong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2344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China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1768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Europe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Middle East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0616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8632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Other markets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977639"/>
            <a:ext cx="11183112" cy="226771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160520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UNIVERSAL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“How do I present my professional value to employers?”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That shared problem gives AI Resume a fundamentally different scalability profile from traditional, local career-consulting businesses.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10  ·  GLOBAL 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One Platform. Multiple Labor Markets.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2529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2529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US / Canada / UK / Australia / Europe / Asia / Middle East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Industry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3113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Technology / Finance / Consulting / Healthcare / Marketing / Education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0896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23697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Career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23697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Student / Graduate / Professional / Manager / Executive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148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11480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4281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Target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24281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Software Engineer / PM / Data Scientist / Marketing / Finance / more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12064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4865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Target employer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24865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Startup / SME / Enterprise / Multinational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11  ·  FROM AI RESUME TO AI CAREER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Resume Is the Entry Point — Not the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“Help me create a better resume.”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AI Career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“What jobs should I apply for?”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AI Career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“Help me manage my entire job search.”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Global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Job seekers × employers × services × education × talent ecosystem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creation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 discovery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Application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Cover letters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Interview prep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72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Career planning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12  ·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Multiple Monetization Layers Across the Career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081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01  AI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214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Subscription, premium AI features, resume packages, AI Career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081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02  CAREER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214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Resume consulting, career consulting, interview coaching, premium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4081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03  REFERRAL &amp; 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214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CPA / CPS / revenue share with education, training, and recruitment partners.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301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227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04  B2B / EMPLOYERS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6360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Talent acquisition, employer branding, recruitment campaigns, job promotion.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36301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9227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05  ADVERTISING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6360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As traffic scales: relevant brands → targeted career audience.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36301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9227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06  SPONSORSHIP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6360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Career fairs, conferences, recruitment events, AI career events.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13  ·  THE CAREER MONETIZATION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One User Can Generate Multiple Revenue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Free AI 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User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1768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9784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192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AI Career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2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2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Premium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2344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01768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9784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Recruitment / referral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Advertising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0616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8632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8632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Employer services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663440"/>
            <a:ext cx="11183112" cy="157276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82803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THEREFORE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13892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Revenue is not limited to the first AI Resume transaction. The long-term objective is to maximize lifetime value per career user.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14  ·  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Digital  +  Offline  +  Organic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78308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8541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87752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990088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392424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79476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19709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335024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F5D8A"/>
                </a:solidFill>
                <a:latin typeface="Segoe UI"/>
              </a:rPr>
              <a:t>ORGANIC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78308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8541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AI-search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587752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Career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990088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Educational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392424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Referral programs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379476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Affiliate partnerships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64424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1335024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8A6D3B"/>
                </a:solidFill>
                <a:latin typeface="Segoe UI"/>
              </a:rPr>
              <a:t>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178308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Universities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218541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Career fairs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587752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Student organizations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990088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Professional orgs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92424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Community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79476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Employer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47488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193792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486400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Free AI product  →  Low-friction acquisition  →  Registration  →  Engagement  →  Monetization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15  ·  CHINA + U.S. + GLOBAL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China as R&amp;D Base  ·  U.S. as Commercialization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1118311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73152" cy="15087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1673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CHINA  ·  R&amp;D AND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Product, design, engineering, AI, testing, marketing operations, B2B business development.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61488"/>
            <a:ext cx="1118311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761488"/>
            <a:ext cx="73152" cy="15087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6265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UNITED STATES  ·  INTERNATIONAL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19856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User acquisition, local partnerships, employer and university relationships, offline events, brand building.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07408"/>
            <a:ext cx="1118311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407408"/>
            <a:ext cx="73152" cy="15087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0857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GLOBAL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065776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Once product-market fit is established: North America → UK → Australia → Europe → Asia → other markets.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16  · 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Career Infrastructure — Not Another Resume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JOB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1051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Large user base  ·  Limited personalized career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GENERAL-PURPOSE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181051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High AI capability  ·  Limited career specialization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036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TRADITIONAL 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9359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High human service  ·  Low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88036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313639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AI RESUME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359359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Resume-focused  ·  Limited ecosystem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81728"/>
            <a:ext cx="11183112" cy="155448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3892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AI  +  Career expertise  +  Services  +  Marketplace. We are not competing only with resume builders — we are building career infrastructure.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17  ·  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Why 51 Careers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167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556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Existing career-services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4414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We understand the industry from an operating perspective.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167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556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AI product already in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414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Not a concept or a slide-deck company. Demo built and tested.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3167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17556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Global 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414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Resume can be distributed worldwide through digital channels.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313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2702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Multiple monetization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9560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Subscription + services + commission + B2B + ads + sponsorship.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8313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2702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AI + human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9560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for scalable work; humans for high-value, complex services.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38313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2702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Platform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9560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The long-term opportunity extends beyond resumes into the career ecosystem.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18  ·  TEAM &amp; OPERATING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Global Business  +  China Technology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9844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CHINA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783080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286000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Product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286000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724912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Designer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724912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63824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QA /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163824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602736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Front-End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602736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4041648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Back-End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041648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4480560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AI 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480560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9272" y="1097280"/>
            <a:ext cx="26974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19272" y="1097280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65576" y="129844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CHINA 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5576" y="1783080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2+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5576" y="2286000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Marketing / 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2286000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2724912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B2B Business Development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0952" y="2724912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1097280"/>
            <a:ext cx="26974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35624" y="1097280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1928" y="129844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U.S. GROWTH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1783080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1928" y="2286000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Performance Marketing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47304" y="2286000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1928" y="2724912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Local / Field Marketing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2724912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51976" y="1097280"/>
            <a:ext cx="26974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51976" y="1097280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98280" y="129844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FOUNDING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1783080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98280" y="2286000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Founders / core management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63656" y="2286000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394960"/>
            <a:ext cx="11183112" cy="8412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577840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Existing annual core personnel cost  ≈  RMB 5.1 million (≈ US$758K). Additional hires as needed.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19  ·  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After RMB 13.1M personnel + advertising, remaining capital funds infrastructure, AI, operations, events, expansion and working capital.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07008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49240" y="1261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Marketing &amp; user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261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40%   · 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719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19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22.5%   · 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762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1762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12.5%   · 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6334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6334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7.5%   · 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906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0906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7.5%   · 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47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Operations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547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5%   · 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05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005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5%   · 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Existing annual core team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Personnel + advertising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20  ·  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Validation  →  Growth  →  Global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1  ·  0–6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Product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Launch AI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Improve AI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Structured A/B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Initial CAC benchmarks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Conversion 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Validate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2  ·  6–12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Scale paid 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Build SEO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Expand U.S.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B2B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More AI Career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Expand monetization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1115568"/>
            <a:ext cx="3584448" cy="82296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3  ·  12–24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Global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More English-speaking 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Localized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Global partnerships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Employer ecosystem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Marketplace capabilities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21  ·  KEY METRICS WE WILL OPTIMIZE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Growth, monetization, unit economics, and platform health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920240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Registered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70048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MAU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419856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AI Resume generations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4169664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User retention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491947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Organic traffic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9272" y="1115568"/>
            <a:ext cx="26974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5576" y="1353312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MONETIZATION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920240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Conversion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2670048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Paid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576" y="3419856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ARPU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4169664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5576" y="491947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Gross margin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5624" y="1115568"/>
            <a:ext cx="26974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1353312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UNIT ECONOMICS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1920240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2670048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LTV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3419856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LTV / CAC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1928" y="4169664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Payback period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1976" y="1115568"/>
            <a:ext cx="26974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280" y="1353312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1920240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Employer partners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670048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Career-service partners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419856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Job listings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4169664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Referral GMV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1947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Commission revenue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THREE-YEAR 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Illustrative path from free AI Resume to a paid multi-stream platform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78992"/>
          <a:ext cx="11173968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2642616"/>
                <a:gridCol w="2642616"/>
                <a:gridCol w="2642616"/>
              </a:tblGrid>
              <a:tr h="407670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anchor="ctr">
                    <a:solidFill>
                      <a:srgbClr val="0A6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Year 1</a:t>
                      </a:r>
                    </a:p>
                  </a:txBody>
                  <a:tcPr anchor="ctr">
                    <a:solidFill>
                      <a:srgbClr val="0A6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Year 2</a:t>
                      </a:r>
                    </a:p>
                  </a:txBody>
                  <a:tcPr anchor="ctr">
                    <a:solidFill>
                      <a:srgbClr val="0A6B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Year 3</a:t>
                      </a:r>
                    </a:p>
                  </a:txBody>
                  <a:tcPr anchor="ctr">
                    <a:solidFill>
                      <a:srgbClr val="0A6B63"/>
                    </a:solidFill>
                  </a:tcPr>
                </a:tc>
              </a:tr>
              <a:tr h="40767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B1F33"/>
                          </a:solidFill>
                          <a:latin typeface="Segoe UI"/>
                        </a:rPr>
                        <a:t>Registered 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80,000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400,000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1,200,000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B1F33"/>
                          </a:solidFill>
                          <a:latin typeface="Segoe UI"/>
                        </a:rPr>
                        <a:t>MAU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20,000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80,000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220,000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0767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B1F33"/>
                          </a:solidFill>
                          <a:latin typeface="Segoe UI"/>
                        </a:rPr>
                        <a:t>Paid 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1,600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16,000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60,000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B1F33"/>
                          </a:solidFill>
                          <a:latin typeface="Segoe UI"/>
                        </a:rPr>
                        <a:t>AI revenue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1.6M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12.8M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42.0M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0767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B1F33"/>
                          </a:solidFill>
                          <a:latin typeface="Segoe UI"/>
                        </a:rPr>
                        <a:t>Career services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4.0M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6.5M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9.0M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B1F33"/>
                          </a:solidFill>
                          <a:latin typeface="Segoe UI"/>
                        </a:rPr>
                        <a:t>Commission revenue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0.2M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2.4M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8.5M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0767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B1F33"/>
                          </a:solidFill>
                          <a:latin typeface="Segoe UI"/>
                        </a:rPr>
                        <a:t>Advertising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1.2M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5.0M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B1F33"/>
                          </a:solidFill>
                          <a:latin typeface="Segoe UI"/>
                        </a:rPr>
                        <a:t>B2B revenue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0.4M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3.0M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B1F33"/>
                          </a:solidFill>
                          <a:latin typeface="Segoe UI"/>
                        </a:rPr>
                        <a:t>RMB 10.0M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40767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Total revenue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RMB 6.2M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RMB 25.9M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RMB 74.5M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</a:tr>
              <a:tr h="40767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Gross profit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RMB 3.5M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RMB 16.8M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RMB 50.0M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</a:tr>
              <a:tr h="40767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EBITDA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(RMB 9.0M)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RMB 0.8M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RMB 16.5M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016752"/>
            <a:ext cx="11183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E6E80"/>
                </a:solidFill>
                <a:latin typeface="Segoe UI"/>
              </a:rPr>
              <a:t>Illustrative management projections only — not a forecast. Year 1 is the first 12 months post-financing.  USD at an illustrative RMB 6.73 / US$1. Figures labeled illustrative are management projections, not forecasts.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22  ·  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The Next Generation of Career Services Will Be AI + Human +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Generative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19272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65576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Global employment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Career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1976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Digital user acquisition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99232"/>
            <a:ext cx="11183112" cy="321868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18688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OPPORTUNITY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We believe the next generation of career services will not be purely human. It will be AI + human + platform.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Our initial product is the AI Resume. Our ambition is larger: build the global AI career platform.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23  ·  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Current Financing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1673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61848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1284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1673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PRE-MONEY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1848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180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1284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≈ US$26.7 million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31673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161848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200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21284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≈ US$29.7 million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2724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2724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32841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EQUITY OFFERED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63016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22452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Primary preferred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312724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312724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32841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63016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Preferred equity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22452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Indicative; subject to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4424" y="312724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4424" y="312724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32841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USE OF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63016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Product, users, global 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22452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Monetization + ecosystem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57800"/>
            <a:ext cx="11183112" cy="98755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Capital will be used to build the product, acquire users, expand globally, build monetization, and develop the career ecosystem.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RMB 20M  →  WHAT INVESTORS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12–18 month targets this round is designed to fund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Public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Resume live for users in China and the U.S.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50–100k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Registered users; funnel instrumented end-to-end.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Blind A/B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Statistically meaningful quality vs. general-purpose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Unit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CAC, conversion, ARPU, and payback benchmarks.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U.S.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Paid digital + university/offline channels operating.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First paid cohort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subscriptions and career-services attach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B2B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Employer and education-partner conversations in market.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Next-round pack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Traction, model, and data room ready for the following raise.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0680"/>
            <a:ext cx="11183112" cy="80467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596128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RMB 20M  →  product + users + benchmarks  →  revenue  →  next round  →  valuation step-up.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24  · 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A6B63"/>
                </a:solidFill>
                <a:latin typeface="Georgia"/>
              </a:rPr>
              <a:t>We are building the Global AI Career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AI   ×   Career   ×   Talent   ×  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51 CAREERS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</a:rPr>
              <a:t>51 CAREERS   ·   CONFIDENTIAL   ·  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