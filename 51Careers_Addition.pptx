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Marketing &amp; user acquisition</c:v>
                </c:pt>
                <c:pt idx="1">
                  <c:v>Product &amp; AI development</c:v>
                </c:pt>
                <c:pt idx="2">
                  <c:v>U.S. market expansion</c:v>
                </c:pt>
                <c:pt idx="3">
                  <c:v>China market &amp; B2B</c:v>
                </c:pt>
                <c:pt idx="4">
                  <c:v>Brand &amp; events</c:v>
                </c:pt>
                <c:pt idx="5">
                  <c:v>Operations / legal / finance</c:v>
                </c:pt>
                <c:pt idx="6">
                  <c:v>Cash reserve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</c:v>
                </c:pt>
                <c:pt idx="1">
                  <c:v>22.5</c:v>
                </c:pt>
                <c:pt idx="2">
                  <c:v>12.5</c:v>
                </c:pt>
                <c:pt idx="3">
                  <c:v>7.5</c:v>
                </c:pt>
                <c:pt idx="4">
                  <c:v>7.5</c:v>
                </c:pt>
                <c:pt idx="5">
                  <c:v>5</c:v>
                </c:pt>
                <c:pt idx="6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D7EBE8"/>
                </a:solidFill>
                <a:latin typeface="Segoe UI"/>
                <a:ea typeface="Segoe UI"/>
                <a:cs typeface="Segoe UI"/>
              </a:rPr>
              <a:t>CONFIDENTIAL INVESTOR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2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51 CAREERS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D7EBE8"/>
                </a:solidFill>
                <a:latin typeface="Segoe UI"/>
                <a:ea typeface="Segoe UI"/>
                <a:cs typeface="Segoe UI"/>
              </a:rPr>
              <a:t>Building the Global AI Career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AI Resume  →  AI Career  →  Global Talent Ecosystem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10972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Seeking RMB 20 Million in Growth Capital   ·   ≈ US$2.97 Million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8892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788920"/>
            <a:ext cx="3520440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999232"/>
            <a:ext cx="3154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PRE-MONEY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310128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RMB 180M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02336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D7EBE8"/>
                </a:solidFill>
                <a:latin typeface="Segoe UI"/>
                <a:ea typeface="Segoe UI"/>
                <a:cs typeface="Segoe UI"/>
              </a:rPr>
              <a:t>≈ US$26.7 million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78892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788920"/>
            <a:ext cx="3520440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2999232"/>
            <a:ext cx="3154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RAISE  ·  10% EQUITY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310128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RMB 20M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402336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D7EBE8"/>
                </a:solidFill>
                <a:latin typeface="Segoe UI"/>
                <a:ea typeface="Segoe UI"/>
                <a:cs typeface="Segoe UI"/>
              </a:rPr>
              <a:t>≈ US$2.97 million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78892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2788920"/>
            <a:ext cx="3520440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2999232"/>
            <a:ext cx="3154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POST-MONEY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3310128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RMB 200M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02336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D7EBE8"/>
                </a:solidFill>
                <a:latin typeface="Segoe UI"/>
                <a:ea typeface="Segoe UI"/>
                <a:cs typeface="Segoe UI"/>
              </a:rPr>
              <a:t>≈ US$29.7 million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19472"/>
            <a:ext cx="109728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C5D5E0"/>
                </a:solidFill>
                <a:latin typeface="Segoe UI"/>
                <a:ea typeface="Segoe UI"/>
                <a:cs typeface="Segoe UI"/>
              </a:rPr>
              <a:t>The resume is the entry point. The ambition is the global AI career platform — connecting job seekers, employers, career services, education, and the talent ecosystem.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17220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9AB0C0"/>
                </a:solidFill>
                <a:latin typeface="Segoe UI"/>
                <a:ea typeface="Segoe UI"/>
                <a:cs typeface="Segoe UI"/>
              </a:rPr>
              <a:t>CHINA R&amp;D   ·   U.S. COMMERCIALIZATION   ·   GLOBAL DISTRIBUTION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01  · 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Building the AI-Powered Future of Career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83112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Career Services  →  AI Resume  →  AI Career Platform  →  Global Career Marketplace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5212080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73152" cy="507492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53312"/>
            <a:ext cx="4709160" cy="4709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Who we are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51 Careers is building a global AI Career Platform to help job seekers create better resumes, discover opportunities, improve job-search outcomes, and access professional career services.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Entry point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An AI-powered Resume Platform that turns unstructured career experience into professional, quantified, job-specific resumes.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This round</a:t>
            </a:r>
          </a:p>
          <a:p>
            <a:pPr algn="l"/>
            <a:r>
              <a:rPr sz="13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RMB 20 million (10% of RMB 200 million post-money) to accelerate product development, user acquisition, and global commercialization. Pre-money RMB 180 million.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170432"/>
            <a:ext cx="274320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71616" y="1261872"/>
            <a:ext cx="2487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71616" y="1536192"/>
            <a:ext cx="2487168" cy="6766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AI Resume demo already developed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170432"/>
            <a:ext cx="274320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1976" y="1261872"/>
            <a:ext cx="2487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1976" y="1536192"/>
            <a:ext cx="2487168" cy="6766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Initial testing completed with promising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432304"/>
            <a:ext cx="274320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2523744"/>
            <a:ext cx="2487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1616" y="2798064"/>
            <a:ext cx="2487168" cy="6766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Stronger professional positioning &amp; quantification vs. general-purpose models in internal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2432304"/>
            <a:ext cx="274320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51976" y="2523744"/>
            <a:ext cx="2487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1976" y="2798064"/>
            <a:ext cx="2487168" cy="6766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Product can serve users globally from day 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694176"/>
            <a:ext cx="274320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71616" y="3785616"/>
            <a:ext cx="2487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1616" y="4059936"/>
            <a:ext cx="2487168" cy="6766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Existing career-services business: domain expertise + monetization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3694176"/>
            <a:ext cx="274320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51976" y="3785616"/>
            <a:ext cx="2487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1976" y="4059936"/>
            <a:ext cx="2487168" cy="6766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U.S. market as the first international growth beachhead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4956048"/>
            <a:ext cx="274320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71616" y="5047488"/>
            <a:ext cx="2487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71616" y="5321808"/>
            <a:ext cx="2487168" cy="6766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Multiple revenue streams beyond AI Resume subscriptions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23960" y="4956048"/>
            <a:ext cx="274320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51976" y="5047488"/>
            <a:ext cx="2487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51976" y="5321808"/>
            <a:ext cx="2487168" cy="6766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RMB 20M to fund product, acquisition, and global go-to-market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02  ·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Job Seeking Is Still Highly Inefficient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83112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For millions of candidates the process remains fragmented, expensive, and low-signal.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2139696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2139696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353312"/>
            <a:ext cx="188366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1874519"/>
            <a:ext cx="188366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Resume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2697480"/>
            <a:ext cx="1883664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Most candidates struggle to communicate experience in a professional, results-oriented 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52344" y="1115568"/>
            <a:ext cx="2139696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52344" y="1115568"/>
            <a:ext cx="2139696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353312"/>
            <a:ext cx="188366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1874519"/>
            <a:ext cx="188366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Quantification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697480"/>
            <a:ext cx="1883664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People describe responsibilities rather than measurable achievements.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1768" y="1115568"/>
            <a:ext cx="2139696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01768" y="1115568"/>
            <a:ext cx="2139696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9784" y="1353312"/>
            <a:ext cx="188366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4" y="1874519"/>
            <a:ext cx="188366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Personalization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9784" y="2697480"/>
            <a:ext cx="1883664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One generic resume rarely works across jobs and employers.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51192" y="1115568"/>
            <a:ext cx="2139696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51192" y="1115568"/>
            <a:ext cx="2139696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1353312"/>
            <a:ext cx="188366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1874519"/>
            <a:ext cx="188366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Job Matching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9208" y="2697480"/>
            <a:ext cx="1883664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Candidates apply without a clear view of actual fit.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0616" y="1115568"/>
            <a:ext cx="2139696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0616" y="1115568"/>
            <a:ext cx="2139696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28632" y="1353312"/>
            <a:ext cx="188366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8632" y="1874519"/>
            <a:ext cx="188366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Career Guidance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28632" y="2697480"/>
            <a:ext cx="1883664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Professional advice remains expensive and consultant-dependent.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212080"/>
            <a:ext cx="11183112" cy="1078992"/>
          </a:xfrm>
          <a:prstGeom prst="roundRect">
            <a:avLst>
              <a:gd name="adj" fmla="val 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321808"/>
            <a:ext cx="10698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THE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614416"/>
            <a:ext cx="106984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Low-quality applications  →  Low interview rates  →  Long job searches  →  High frustration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03  · 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AI Is Reshaping the Career Services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83112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Generative AI has changed how people create, communicate, and consume professional information.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539496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5394960" cy="91440"/>
          </a:xfrm>
          <a:prstGeom prst="rect">
            <a:avLst/>
          </a:prstGeom>
          <a:solidFill>
            <a:srgbClr val="8A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371600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8A6D3B"/>
                </a:solidFill>
                <a:latin typeface="Segoe UI"/>
                <a:ea typeface="Segoe UI"/>
                <a:cs typeface="Segoe UI"/>
              </a:rPr>
              <a:t>TRADITIONAL MODEL  ·  HUMAN CONSULTANT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847088"/>
            <a:ext cx="493776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→   Manual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432304"/>
            <a:ext cx="493776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→   Manual resume writing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17520"/>
            <a:ext cx="493776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→   Manual job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602736"/>
            <a:ext cx="493776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→   High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4187952"/>
            <a:ext cx="493776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→   Limited scalability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115568"/>
            <a:ext cx="539496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115568"/>
            <a:ext cx="5394960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1371600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AI-ENABLED MODEL  ·  CAREER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1847088"/>
            <a:ext cx="493776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→   Automated career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432304"/>
            <a:ext cx="493776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→   AI resume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3017520"/>
            <a:ext cx="493776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→   Job matching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3602736"/>
            <a:ext cx="493776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→   Continuous optimization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4187952"/>
            <a:ext cx="493776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→   Global scalability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212080"/>
            <a:ext cx="11183112" cy="1078992"/>
          </a:xfrm>
          <a:prstGeom prst="roundRect">
            <a:avLst>
              <a:gd name="adj" fmla="val 6000"/>
            </a:avLst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40096"/>
            <a:ext cx="10698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OUR OPPORTUNITY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32704"/>
            <a:ext cx="106984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Transform high-cost, labor-intensive career services into a scalable AI-powered platform.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04  · 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Three Structural Trends Are Converging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83112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AI adoption, data-driven hiring, and fragmented career services are moving at the same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3584448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3584448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335024"/>
            <a:ext cx="314553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1755648"/>
            <a:ext cx="3145536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Generative AI has reached mass adoption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834640"/>
            <a:ext cx="3145536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Consumers are increasingly comfortable using AI for professional and personal tasks. That adoption is the distribution opening for an AI career product.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1115568"/>
            <a:ext cx="3584448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33672" y="1115568"/>
            <a:ext cx="3584448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335024"/>
            <a:ext cx="314553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755648"/>
            <a:ext cx="3145536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Recruiting is becoming more data-driven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834640"/>
            <a:ext cx="3145536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Employers rely on structured information, keywords, measurable achievements, and automated screening. Candidates need a product that writes to that standard.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4424" y="1115568"/>
            <a:ext cx="3584448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4424" y="1115568"/>
            <a:ext cx="3584448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335024"/>
            <a:ext cx="314553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755648"/>
            <a:ext cx="3145536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Career services remain fragmented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834640"/>
            <a:ext cx="3145536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The industry is still dependent on manual services and fragmented providers. That gap is the opening for a scalable AI + human platform.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212080"/>
            <a:ext cx="11183112" cy="1078992"/>
          </a:xfrm>
          <a:prstGeom prst="roundRect">
            <a:avLst>
              <a:gd name="adj" fmla="val 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340096"/>
            <a:ext cx="10698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51 CAREERS SITS AT THE INTERSECTION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32704"/>
            <a:ext cx="106984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AI   ×   Employment   ×   Career Services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MARKET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TAM  →  SAM  →  SOM  →  Three-Year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83112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From global job seekers to paid AI career users. Illustrative, for discussion.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3584448" cy="2999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3584448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280160"/>
            <a:ext cx="31821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01   ·   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591056"/>
            <a:ext cx="31821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US$ 200B+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157984"/>
            <a:ext cx="318211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4283C"/>
                </a:solidFill>
                <a:latin typeface="Georgia"/>
                <a:ea typeface="Georgia"/>
                <a:cs typeface="Georgia"/>
              </a:rPr>
              <a:t>RMB 1.35T+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505456"/>
            <a:ext cx="3182112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Global recruitment, talent-acquisition, and career-development spend.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3672" y="1115568"/>
            <a:ext cx="3584448" cy="2999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33672" y="1115568"/>
            <a:ext cx="3584448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80160"/>
            <a:ext cx="31821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02   ·   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591056"/>
            <a:ext cx="31821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US$ 30B+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57984"/>
            <a:ext cx="318211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4283C"/>
                </a:solidFill>
                <a:latin typeface="Georgia"/>
                <a:ea typeface="Georgia"/>
                <a:cs typeface="Georgia"/>
              </a:rPr>
              <a:t>RMB 200B+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505456"/>
            <a:ext cx="3182112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Digital / AI-enabled hiring tools, resume products, and online career preparation.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64424" y="1115568"/>
            <a:ext cx="3584448" cy="2999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64424" y="1115568"/>
            <a:ext cx="3584448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1280160"/>
            <a:ext cx="31821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03   ·   SOM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1591056"/>
            <a:ext cx="31821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US$ 1.5B+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2157984"/>
            <a:ext cx="318211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4283C"/>
                </a:solidFill>
                <a:latin typeface="Georgia"/>
                <a:ea typeface="Georgia"/>
                <a:cs typeface="Georgia"/>
              </a:rPr>
              <a:t>RMB 10B+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2505456"/>
            <a:ext cx="3182112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AI resume and career-assistant demand in initial markets: China, the U.S., and English-speaking Asia.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224528"/>
            <a:ext cx="11183112" cy="206654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224528"/>
            <a:ext cx="73152" cy="2066543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34256"/>
            <a:ext cx="10607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51 CAREERS  ·  2027E–2029E REVENUE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663440"/>
            <a:ext cx="3383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2027E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901184"/>
            <a:ext cx="3383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US$ 2.0M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394960"/>
            <a:ext cx="3383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E6E80"/>
                </a:solidFill>
                <a:latin typeface="Georgia"/>
                <a:ea typeface="Georgia"/>
                <a:cs typeface="Georgia"/>
              </a:rPr>
              <a:t>≈ RMB 13.5M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984" y="4663440"/>
            <a:ext cx="3383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2028E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3984" y="4901184"/>
            <a:ext cx="3383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US$ 8.0M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43984" y="5394960"/>
            <a:ext cx="3383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E6E80"/>
                </a:solidFill>
                <a:latin typeface="Georgia"/>
                <a:ea typeface="Georgia"/>
                <a:cs typeface="Georgia"/>
              </a:rPr>
              <a:t>≈ RMB 53.8M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6" y="4663440"/>
            <a:ext cx="3383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2029E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6" y="4901184"/>
            <a:ext cx="3383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US$ 28.0M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5394960"/>
            <a:ext cx="3383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E6E80"/>
                </a:solidFill>
                <a:latin typeface="Georgia"/>
                <a:ea typeface="Georgia"/>
                <a:cs typeface="Georgia"/>
              </a:rPr>
              <a:t>≈ RMB 188.4M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5779008"/>
            <a:ext cx="106984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Logic: global job seekers  →  addressable AI Resume users  →  paid conversion  →  stacked revenue (AI + services + commission + B2B + ads).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05  · 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51 Careers AI Career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83112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Not another AI writing tool — an AI-powered career infrastructure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690372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73152" cy="676656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271016"/>
            <a:ext cx="512064" cy="365760"/>
          </a:xfrm>
          <a:prstGeom prst="roundRect">
            <a:avLst>
              <a:gd name="adj" fmla="val 25000"/>
            </a:avLst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115568"/>
            <a:ext cx="585216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Understand professional experience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65376"/>
            <a:ext cx="690372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65376"/>
            <a:ext cx="73152" cy="676656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2020824"/>
            <a:ext cx="512064" cy="365760"/>
          </a:xfrm>
          <a:prstGeom prst="roundRect">
            <a:avLst>
              <a:gd name="adj" fmla="val 25000"/>
            </a:avLst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65376"/>
            <a:ext cx="585216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Build a stronger professional profile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15184"/>
            <a:ext cx="690372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615184"/>
            <a:ext cx="73152" cy="676656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" y="2770632"/>
            <a:ext cx="512064" cy="365760"/>
          </a:xfrm>
          <a:prstGeom prst="roundRect">
            <a:avLst>
              <a:gd name="adj" fmla="val 25000"/>
            </a:avLst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15184"/>
            <a:ext cx="585216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Generate optimized resumes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64991"/>
            <a:ext cx="690372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364991"/>
            <a:ext cx="73152" cy="676656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520439"/>
            <a:ext cx="512064" cy="365760"/>
          </a:xfrm>
          <a:prstGeom prst="roundRect">
            <a:avLst>
              <a:gd name="adj" fmla="val 25000"/>
            </a:avLst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64991"/>
            <a:ext cx="585216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Match with relevant opportunities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14800"/>
            <a:ext cx="690372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114800"/>
            <a:ext cx="73152" cy="676656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270248"/>
            <a:ext cx="512064" cy="365760"/>
          </a:xfrm>
          <a:prstGeom prst="roundRect">
            <a:avLst>
              <a:gd name="adj" fmla="val 25000"/>
            </a:avLst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114800"/>
            <a:ext cx="585216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Prepare for interviews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864607"/>
            <a:ext cx="690372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864607"/>
            <a:ext cx="73152" cy="676656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3232" y="5020055"/>
            <a:ext cx="512064" cy="365760"/>
          </a:xfrm>
          <a:prstGeom prst="roundRect">
            <a:avLst>
              <a:gd name="adj" fmla="val 25000"/>
            </a:avLst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864607"/>
            <a:ext cx="585216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Make better career decisions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614416"/>
            <a:ext cx="690372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614416"/>
            <a:ext cx="73152" cy="676656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13232" y="5769864"/>
            <a:ext cx="512064" cy="365760"/>
          </a:xfrm>
          <a:prstGeom prst="roundRect">
            <a:avLst>
              <a:gd name="adj" fmla="val 25000"/>
            </a:avLst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614416"/>
            <a:ext cx="585216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Access professional services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0" y="1115568"/>
            <a:ext cx="4005072" cy="5175504"/>
          </a:xfrm>
          <a:prstGeom prst="roundRect">
            <a:avLst>
              <a:gd name="adj" fmla="val 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9560" y="1371600"/>
            <a:ext cx="3611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STARTING 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1737360"/>
            <a:ext cx="36118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AI Resume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2651760"/>
            <a:ext cx="361188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D7EBE8"/>
                </a:solidFill>
                <a:latin typeface="Segoe UI"/>
                <a:ea typeface="Segoe UI"/>
                <a:cs typeface="Segoe UI"/>
              </a:rPr>
              <a:t>The resume is the first touchpoint between the user and the 51 Careers ecosystem — the on-ramp to AI Career tools, services, matching, and the marketplace.
One product. One profile. Multiple monetization paths across the career journey.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06  · 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From Career Experience to Quantified Professional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78992"/>
            <a:ext cx="370332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3703320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43584"/>
            <a:ext cx="3246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USERS PROVIDE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3246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▸ 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31136"/>
            <a:ext cx="3246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▸  Work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3246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▸  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38144"/>
            <a:ext cx="3246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▸ 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41648"/>
            <a:ext cx="3246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▸  Achievements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45152"/>
            <a:ext cx="3246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▸  Career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48656"/>
            <a:ext cx="3246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▸  Target job descriptions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078992"/>
            <a:ext cx="3246120" cy="5138928"/>
          </a:xfrm>
          <a:prstGeom prst="roundRect">
            <a:avLst>
              <a:gd name="adj" fmla="val 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371600"/>
            <a:ext cx="2834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OUR AI GENERATES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828800"/>
            <a:ext cx="2834640" cy="2834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Professional</a:t>
            </a:r>
          </a:p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+  Quantified</a:t>
            </a:r>
          </a:p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+  Job-specific</a:t>
            </a:r>
          </a:p>
          <a:p>
            <a:pPr algn="l"/>
            <a:r>
              <a:rPr sz="1600" b="0" i="0">
                <a:solidFill>
                  <a:srgbClr val="D7EBE8"/>
                </a:solidFill>
                <a:latin typeface="Segoe UI"/>
                <a:ea typeface="Segoe UI"/>
                <a:cs typeface="Segoe UI"/>
              </a:rPr>
              <a:t>resume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754880"/>
            <a:ext cx="283464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D7EBE8"/>
                </a:solidFill>
                <a:latin typeface="Segoe UI"/>
                <a:ea typeface="Segoe UI"/>
                <a:cs typeface="Segoe UI"/>
              </a:rPr>
              <a:t>Optimized for ATS, role, employer, and geography — so one career profile can serve many applications.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078992"/>
            <a:ext cx="192024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1335024"/>
            <a:ext cx="1700784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AI Resume Generation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48088" y="1078992"/>
            <a:ext cx="192024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57816" y="1335024"/>
            <a:ext cx="1700784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Resume Optimization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2359152"/>
            <a:ext cx="192024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7848" y="2615184"/>
            <a:ext cx="1700784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Job-Specific Customization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48088" y="2359152"/>
            <a:ext cx="192024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57816" y="2615184"/>
            <a:ext cx="1700784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Achievement Quantification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3639312"/>
            <a:ext cx="192024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7848" y="3895344"/>
            <a:ext cx="1700784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ATS Optimization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48088" y="3639312"/>
            <a:ext cx="192024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57816" y="3895344"/>
            <a:ext cx="1700784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Multiple Resume Versions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4919472"/>
            <a:ext cx="192024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7848" y="5175504"/>
            <a:ext cx="1700784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Cover Letter Generation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48088" y="4919472"/>
            <a:ext cx="192024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57816" y="5175504"/>
            <a:ext cx="1700784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Career Profile Creation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07  ·  PRODUCT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The Product Has Already Been Built and Tested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15568"/>
            <a:ext cx="3584448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298448"/>
            <a:ext cx="318211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✓   Demo developed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737360"/>
            <a:ext cx="3182112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A working AI Resume product is available for demonstration.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33672" y="1115568"/>
            <a:ext cx="3584448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298448"/>
            <a:ext cx="318211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✓   Initial testing 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737360"/>
            <a:ext cx="3182112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Early users and internal reviews show promising 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64424" y="1115568"/>
            <a:ext cx="3584448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1298448"/>
            <a:ext cx="318211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✓   Internal benchmark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592" y="1737360"/>
            <a:ext cx="3182112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Compared against direct outputs from leading general-purpose AI models.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INITIAL TESTING INDICATES STRONGER PERFORMANCE 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38144"/>
            <a:ext cx="2139696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749039"/>
            <a:ext cx="192024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Professional positioning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52344" y="3438144"/>
            <a:ext cx="2139696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62072" y="3749039"/>
            <a:ext cx="192024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Achievement quantification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01768" y="3438144"/>
            <a:ext cx="2139696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11496" y="3749039"/>
            <a:ext cx="192024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Job relevance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51192" y="3438144"/>
            <a:ext cx="2139696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3749039"/>
            <a:ext cx="192024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Career-experience extraction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0616" y="3438144"/>
            <a:ext cx="2139696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10344" y="3749039"/>
            <a:ext cx="192024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Resume structure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919472"/>
            <a:ext cx="11183112" cy="13716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010912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IMPORTANT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21808"/>
            <a:ext cx="10698480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Current results are based on internal testing. The next stage is larger-scale, structured, blind A/B testing to establish statistically meaningful benchmarks versus general-purpose models.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08  ·  TECHNOLOGY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We Are Not Simply Building an LLM Wrapper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78992"/>
            <a:ext cx="11183112" cy="960120"/>
          </a:xfrm>
          <a:prstGeom prst="roundRect">
            <a:avLst>
              <a:gd name="adj" fmla="val 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LLM  +  Career Knowledge  +  Resume Framework  +  Job Intelligence  +  User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76272"/>
            <a:ext cx="269748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2377440"/>
            <a:ext cx="2441448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Career-experience extraction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9272" y="2176272"/>
            <a:ext cx="269748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7288" y="2377440"/>
            <a:ext cx="2441448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Achievement quantification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35624" y="2176272"/>
            <a:ext cx="269748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377440"/>
            <a:ext cx="2441448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Job-description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1976" y="2176272"/>
            <a:ext cx="269748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2377440"/>
            <a:ext cx="2441448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Resume optimization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44952"/>
            <a:ext cx="269748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3246120"/>
            <a:ext cx="2441448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Industry terminology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9272" y="3044952"/>
            <a:ext cx="269748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3246120"/>
            <a:ext cx="2441448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Role-specific requirements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35624" y="3044952"/>
            <a:ext cx="269748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246120"/>
            <a:ext cx="2441448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Geographic resume conventions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3044952"/>
            <a:ext cx="269748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9992" y="3246120"/>
            <a:ext cx="2441448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ATS 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005072"/>
            <a:ext cx="111831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DATA FEEDBACK LOOP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297680"/>
            <a:ext cx="1298448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" y="4443984"/>
            <a:ext cx="11887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" y="4773168"/>
            <a:ext cx="1188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User input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01952" y="4297680"/>
            <a:ext cx="1298448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56816" y="4443984"/>
            <a:ext cx="11887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6816" y="4773168"/>
            <a:ext cx="1188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AI 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00984" y="4297680"/>
            <a:ext cx="1298448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55848" y="4443984"/>
            <a:ext cx="11887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55848" y="4773168"/>
            <a:ext cx="1188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Resume gen.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00016" y="4297680"/>
            <a:ext cx="1298448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4443984"/>
            <a:ext cx="11887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773168"/>
            <a:ext cx="1188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Application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99048" y="4297680"/>
            <a:ext cx="1298448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53912" y="4443984"/>
            <a:ext cx="11887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53912" y="4773168"/>
            <a:ext cx="1188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Feedback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0" y="4297680"/>
            <a:ext cx="1298448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4443984"/>
            <a:ext cx="11887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52944" y="4773168"/>
            <a:ext cx="1188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Model upgrade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97112" y="4297680"/>
            <a:ext cx="1298448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51976" y="4443984"/>
            <a:ext cx="11887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51976" y="4773168"/>
            <a:ext cx="1188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Better outcomes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296144" y="4297680"/>
            <a:ext cx="1298448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51008" y="4443984"/>
            <a:ext cx="11887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51008" y="4773168"/>
            <a:ext cx="1188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More users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669280"/>
            <a:ext cx="11183112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Each cycle compounds proprietary career intelligence that generic chat models do not accumulate.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09  ·  GLOBAL 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AI Resume Is a Naturally Global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83112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A resume is a universal component of the global employment market.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213969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709928"/>
            <a:ext cx="188366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United States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52344" y="1115568"/>
            <a:ext cx="213969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709928"/>
            <a:ext cx="188366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Canada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1768" y="1115568"/>
            <a:ext cx="213969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9784" y="1709928"/>
            <a:ext cx="188366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Central America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51192" y="1115568"/>
            <a:ext cx="213969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9208" y="1709928"/>
            <a:ext cx="188366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United Kingdom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0616" y="1115568"/>
            <a:ext cx="213969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28632" y="1709928"/>
            <a:ext cx="188366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Australia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081528"/>
            <a:ext cx="213969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3675888"/>
            <a:ext cx="188366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Singapore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52344" y="3081528"/>
            <a:ext cx="213969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3675888"/>
            <a:ext cx="188366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Hong Kong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01768" y="3081528"/>
            <a:ext cx="213969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9784" y="3675888"/>
            <a:ext cx="188366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China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51192" y="3081528"/>
            <a:ext cx="213969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3675888"/>
            <a:ext cx="188366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Europe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0616" y="3081528"/>
            <a:ext cx="213969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8632" y="3675888"/>
            <a:ext cx="188366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Middle East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02352"/>
            <a:ext cx="11183112" cy="1188720"/>
          </a:xfrm>
          <a:prstGeom prst="roundRect">
            <a:avLst>
              <a:gd name="adj" fmla="val 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212080"/>
            <a:ext cx="10607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THE UNIVERSAL QUESTION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468112"/>
            <a:ext cx="106070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“How do I present my professional value to employers?”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833872"/>
            <a:ext cx="106070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D7EBE8"/>
                </a:solidFill>
                <a:latin typeface="Segoe UI"/>
                <a:ea typeface="Segoe UI"/>
                <a:cs typeface="Segoe UI"/>
              </a:rPr>
              <a:t>That shared problem gives AI Resume a fundamentally different scalability profile from traditional, local career-consulting businesses.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10  ·  GLOBAL PRODUCT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One Platform. Multiple Labor Markets.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11183112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73152" cy="969264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43584"/>
            <a:ext cx="292608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Geography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43584"/>
            <a:ext cx="7498079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U.S.  ·  Canada  ·  Central America  ·  U.K.  ·  Australia  ·  Europe  ·  Asia  ·  Middle East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39695"/>
            <a:ext cx="11183112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39695"/>
            <a:ext cx="73152" cy="969264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85999"/>
            <a:ext cx="292608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Industry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285999"/>
            <a:ext cx="7498079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Applicable across industries — including Technology, Fintech, Financial Services, Advanced Manufacturing, Consulting, Healthcare, Marketing, Education, and more.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82110"/>
            <a:ext cx="11183112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182110"/>
            <a:ext cx="73152" cy="969264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28414"/>
            <a:ext cx="292608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Career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328414"/>
            <a:ext cx="7498079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Student / Graduate / Professional / Manager / Executive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24525"/>
            <a:ext cx="11183112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224525"/>
            <a:ext cx="73152" cy="969264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70829"/>
            <a:ext cx="292608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Target 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370829"/>
            <a:ext cx="7498079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Software Engineer / PM / Data Scientist / Marketing / Finance / more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266940"/>
            <a:ext cx="11183112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266940"/>
            <a:ext cx="73152" cy="969264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413244"/>
            <a:ext cx="292608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Target employer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413244"/>
            <a:ext cx="7498079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Startup / SME / Enterprise / Multinational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11  ·  FROM AI RESUME TO AI CAREER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Resume Is the Entry Point — Not the Destination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15568"/>
            <a:ext cx="269748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2697480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1353312"/>
            <a:ext cx="24048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719072"/>
            <a:ext cx="2404872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AI Resume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697480"/>
            <a:ext cx="2404872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“Help me create a better resume.”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115568"/>
            <a:ext cx="269748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19272" y="1115568"/>
            <a:ext cx="2697480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5576" y="1353312"/>
            <a:ext cx="24048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1719072"/>
            <a:ext cx="2404872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AI Career 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5576" y="2697480"/>
            <a:ext cx="2404872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“What jobs should I apply for?”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35624" y="1115568"/>
            <a:ext cx="269748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35624" y="1115568"/>
            <a:ext cx="2697480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353312"/>
            <a:ext cx="24048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1719072"/>
            <a:ext cx="2404872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AI Career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2697480"/>
            <a:ext cx="2404872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“Help me manage my entire job search.”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1115568"/>
            <a:ext cx="269748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51976" y="1115568"/>
            <a:ext cx="2697480" cy="914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353312"/>
            <a:ext cx="24048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1719072"/>
            <a:ext cx="2404872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Global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697480"/>
            <a:ext cx="2404872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Job seekers × employers × services × education × talent ecosystem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645152"/>
            <a:ext cx="1508760" cy="1627632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5010912"/>
            <a:ext cx="1362456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Resume creation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03120" y="4645152"/>
            <a:ext cx="1508760" cy="1627632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76272" y="5010912"/>
            <a:ext cx="1362456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Job discovery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4645152"/>
            <a:ext cx="1508760" cy="1627632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76472" y="5010912"/>
            <a:ext cx="1362456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Job matching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4645152"/>
            <a:ext cx="1508760" cy="1627632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76672" y="5010912"/>
            <a:ext cx="1362456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Application optimization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03720" y="4645152"/>
            <a:ext cx="1508760" cy="1627632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5010912"/>
            <a:ext cx="1362456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Cover letters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0" y="4645152"/>
            <a:ext cx="1508760" cy="1627632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77072" y="5010912"/>
            <a:ext cx="1362456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Interview prep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4645152"/>
            <a:ext cx="1508760" cy="1627632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77272" y="5010912"/>
            <a:ext cx="1362456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Career planning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12  · 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Multiple Monetization Layers Across the Career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15568"/>
            <a:ext cx="3584448" cy="2450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3584448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08176"/>
            <a:ext cx="318211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01  AI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167128"/>
            <a:ext cx="3182112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Subscription, premium AI features, resume packages, AI Career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3672" y="1115568"/>
            <a:ext cx="3584448" cy="2450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33672" y="1115568"/>
            <a:ext cx="3584448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08176"/>
            <a:ext cx="318211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02  CAREER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67128"/>
            <a:ext cx="3182112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Resume consulting, career consulting, interview coaching, premium services.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64424" y="1115568"/>
            <a:ext cx="3584448" cy="2450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4424" y="1115568"/>
            <a:ext cx="3584448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1408176"/>
            <a:ext cx="318211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03  REFERRAL &amp; COMMISSION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167128"/>
            <a:ext cx="3182112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CPA / CPS / revenue share with education, training, and recruitment partners.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75888"/>
            <a:ext cx="3584448" cy="2450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675888"/>
            <a:ext cx="3584448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968496"/>
            <a:ext cx="318211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04  B2B / EMPLOYERS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727448"/>
            <a:ext cx="3182112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Talent acquisition, employer branding, recruitment campaigns, job promotion.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33672" y="3675888"/>
            <a:ext cx="3584448" cy="2450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33672" y="3675888"/>
            <a:ext cx="3584448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968496"/>
            <a:ext cx="318211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05  ADVERTISING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727448"/>
            <a:ext cx="3182112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As traffic scales: relevant brands → targeted career audience.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64424" y="3675888"/>
            <a:ext cx="3584448" cy="2450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64424" y="3675888"/>
            <a:ext cx="3584448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5592" y="3968496"/>
            <a:ext cx="318211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06  SPONSORSHIP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5592" y="4727448"/>
            <a:ext cx="3182112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Career fairs, conferences, recruitment events, AI career events.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13  ·  THE CAREER MONETIZATION FLYWHEEL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One User Can Generate Multiple Revenue Opportunities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15568"/>
            <a:ext cx="2139696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" y="1316736"/>
            <a:ext cx="188366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709928"/>
            <a:ext cx="188366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Free AI Resume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52344" y="1115568"/>
            <a:ext cx="2139696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316736"/>
            <a:ext cx="188366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709928"/>
            <a:ext cx="188366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User acquisition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1768" y="1115568"/>
            <a:ext cx="2139696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9784" y="1316736"/>
            <a:ext cx="188366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9784" y="1709928"/>
            <a:ext cx="188366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Career profile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51192" y="1115568"/>
            <a:ext cx="2139696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1316736"/>
            <a:ext cx="188366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9208" y="1709928"/>
            <a:ext cx="188366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AI Career 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0616" y="1115568"/>
            <a:ext cx="2139696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28632" y="1316736"/>
            <a:ext cx="188366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8632" y="1709928"/>
            <a:ext cx="188366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Premium subscription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898648"/>
            <a:ext cx="2139696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3099816"/>
            <a:ext cx="188366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3493008"/>
            <a:ext cx="188366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Career services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52344" y="2898648"/>
            <a:ext cx="2139696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3099816"/>
            <a:ext cx="188366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3493008"/>
            <a:ext cx="188366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Job matching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01768" y="2898648"/>
            <a:ext cx="2139696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9784" y="3099816"/>
            <a:ext cx="188366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9784" y="3493008"/>
            <a:ext cx="188366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Recruitment / referral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1192" y="2898648"/>
            <a:ext cx="2139696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9208" y="3099816"/>
            <a:ext cx="188366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9208" y="3493008"/>
            <a:ext cx="188366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Advertising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0616" y="2898648"/>
            <a:ext cx="2139696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28632" y="3099816"/>
            <a:ext cx="188366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8632" y="3493008"/>
            <a:ext cx="188366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Employer services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773168"/>
            <a:ext cx="11183112" cy="1517904"/>
          </a:xfrm>
          <a:prstGeom prst="roundRect">
            <a:avLst>
              <a:gd name="adj" fmla="val 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919472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THEREFORE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230368"/>
            <a:ext cx="106984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Revenue is not limited to the first AI Resume transaction. The long-term objective is to maximize lifetime value per career user.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14  ·  USER ACQUISITION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Digital  +  Offline  +  Organic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15568"/>
            <a:ext cx="3584448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3584448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335024"/>
            <a:ext cx="318211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810512"/>
            <a:ext cx="318211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Google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249424"/>
            <a:ext cx="318211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Meta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688336"/>
            <a:ext cx="318211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TikTok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127248"/>
            <a:ext cx="318211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YouTube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566160"/>
            <a:ext cx="318211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LinkedIn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05072"/>
            <a:ext cx="318211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Search / social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443984"/>
            <a:ext cx="318211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Content marketing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3672" y="1115568"/>
            <a:ext cx="3584448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3672" y="1115568"/>
            <a:ext cx="3584448" cy="9144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335024"/>
            <a:ext cx="318211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2F5D8A"/>
                </a:solidFill>
                <a:latin typeface="Segoe UI"/>
                <a:ea typeface="Segoe UI"/>
                <a:cs typeface="Segoe UI"/>
              </a:rPr>
              <a:t>ORGANIC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810512"/>
            <a:ext cx="318211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SEO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249424"/>
            <a:ext cx="318211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AI-search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688336"/>
            <a:ext cx="318211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Career 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127248"/>
            <a:ext cx="318211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Educational 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566160"/>
            <a:ext cx="318211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Referral programs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005072"/>
            <a:ext cx="318211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Affiliate partnerships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64424" y="1115568"/>
            <a:ext cx="3584448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64424" y="1115568"/>
            <a:ext cx="3584448" cy="91440"/>
          </a:xfrm>
          <a:prstGeom prst="rect">
            <a:avLst/>
          </a:prstGeom>
          <a:solidFill>
            <a:srgbClr val="8A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1335024"/>
            <a:ext cx="318211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8A6D3B"/>
                </a:solidFill>
                <a:latin typeface="Segoe UI"/>
                <a:ea typeface="Segoe UI"/>
                <a:cs typeface="Segoe UI"/>
              </a:rPr>
              <a:t>OFFLINE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5592" y="1810512"/>
            <a:ext cx="318211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Universities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5592" y="2249424"/>
            <a:ext cx="318211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Career fairs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2688336"/>
            <a:ext cx="318211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Student organizations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3127248"/>
            <a:ext cx="318211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Professional orgs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3566160"/>
            <a:ext cx="318211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Community events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5592" y="4005072"/>
            <a:ext cx="318211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Employer events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212080"/>
            <a:ext cx="11183112" cy="1078992"/>
          </a:xfrm>
          <a:prstGeom prst="roundRect">
            <a:avLst>
              <a:gd name="adj" fmla="val 6000"/>
            </a:avLst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340096"/>
            <a:ext cx="10698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CORE GROWTH STRATEGY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32704"/>
            <a:ext cx="106984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Free AI product  →  Low-friction acquisition  →  Registration  →  Engagement  →  Monetization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15  ·  CHINA + U.S. + GLOBAL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China as R&amp;D Base  ·  U.S. as Commercialization Market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15568"/>
            <a:ext cx="11183112" cy="16093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73152" cy="1609344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16736"/>
            <a:ext cx="10515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CHINA  ·  R&amp;D AND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73936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Product, design, engineering, AI, testing, marketing operations, B2B business development.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816352"/>
            <a:ext cx="11183112" cy="16093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816352"/>
            <a:ext cx="73152" cy="1609344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10515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UNITED STATES  ·  INTERNATIONAL GTM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7472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User acquisition, local partnerships, employer and university relationships, offline events, brand building.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17136"/>
            <a:ext cx="11183112" cy="16093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4517136"/>
            <a:ext cx="73152" cy="1609344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718304"/>
            <a:ext cx="10515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GLOBAL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75504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Once product-market fit is established: North America → UK → Australia → Europe → Asia → other markets.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16  · 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Career Infrastructure — Not Another Resume Builder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353312"/>
            <a:ext cx="495604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JOB PLATFORMS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828800"/>
            <a:ext cx="495604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Large user base  ·  Limited personalized career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97280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1353312"/>
            <a:ext cx="495604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GENERAL-PURPOSE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1828800"/>
            <a:ext cx="495604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High AI capability  ·  Limited career specialization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99232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255264"/>
            <a:ext cx="495604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TRADITIONAL CAREER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730752"/>
            <a:ext cx="495604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High human service  ·  Low scalability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999232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8816" y="3255264"/>
            <a:ext cx="495604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AI RESUME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3730752"/>
            <a:ext cx="495604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Resume-focused  ·  Limited ecosystem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919472"/>
            <a:ext cx="11183112" cy="1371600"/>
          </a:xfrm>
          <a:prstGeom prst="roundRect">
            <a:avLst>
              <a:gd name="adj" fmla="val 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047488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51 CAREERS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58384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AI  +  Career expertise  +  Services  +  Marketplace. We are not competing only with resume builders — we are building career infrastructure.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17  ·  COMPETITIVE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Why 51 Careers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15568"/>
            <a:ext cx="3584448" cy="2450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316736"/>
            <a:ext cx="318211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755648"/>
            <a:ext cx="318211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Existing career-services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487168"/>
            <a:ext cx="318211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We understand the industry from an operating perspective.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3672" y="1115568"/>
            <a:ext cx="3584448" cy="2450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316736"/>
            <a:ext cx="318211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755648"/>
            <a:ext cx="318211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AI product already in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487168"/>
            <a:ext cx="318211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Not a concept or a slide-deck company. Demo built and tested.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64424" y="1115568"/>
            <a:ext cx="3584448" cy="2450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316736"/>
            <a:ext cx="318211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1755648"/>
            <a:ext cx="318211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Global scalability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487168"/>
            <a:ext cx="318211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AI Resume can be distributed worldwide through digital channels.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75888"/>
            <a:ext cx="3584448" cy="2450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877056"/>
            <a:ext cx="318211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315968"/>
            <a:ext cx="318211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Multiple monetization paths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5047488"/>
            <a:ext cx="318211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Subscription + services + commission + B2B + ads + sponsorship.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33672" y="3675888"/>
            <a:ext cx="3584448" cy="2450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877056"/>
            <a:ext cx="318211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315968"/>
            <a:ext cx="318211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AI + human hybrid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5047488"/>
            <a:ext cx="318211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AI for scalable work; humans for high-value, complex services.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64424" y="3675888"/>
            <a:ext cx="3584448" cy="2450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3877056"/>
            <a:ext cx="318211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5592" y="4315968"/>
            <a:ext cx="318211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Platform potential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5592" y="5047488"/>
            <a:ext cx="318211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The long-term opportunity extends beyond resumes into the career ecosystem.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18  ·  LEADERSHIP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51 Careers.AI Executive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83112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Founder-led. Globally distributed. Full biographies available in the data room.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3584448" cy="2450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73152" cy="245059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28016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Rocky 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64592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FOUNDER &amp;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993392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Founder of 51 Careers and 51 Careers.AI; investor and Managing Director at publicly listed Helio. Decade of international business, capital markets, and global resource integration.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1115568"/>
            <a:ext cx="3584448" cy="2450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33672" y="1115568"/>
            <a:ext cx="73152" cy="245059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8016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Stephanie 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4592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CO-FOUNDER &amp; CFO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93392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Co-founder since 2016. U.S. CPA; M.S. Accounting, Pace University. Oversees financial strategy, corporate governance, and sustainable growth.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4424" y="1115568"/>
            <a:ext cx="3584448" cy="2450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4424" y="1115568"/>
            <a:ext cx="73152" cy="245059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128016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Gavin 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164592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CO-FOUNDER, CTO &amp; COO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1993392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Serial entrepreneur (10+ years) across SaaS, AI, and digital business; B.S. Computer Science, ECUST. Leads technology, operations, and AI.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675888"/>
            <a:ext cx="3584448" cy="2450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675888"/>
            <a:ext cx="73152" cy="245059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84048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Robin Zhu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420624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HEAD OF PRODUCT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553712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Leads product strategy, architecture, and development of the AI-powered platform. Former CTO &amp; Director of Product, Ci Finance; senior roles at CPIC, Allinpay, and Noah.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33672" y="3675888"/>
            <a:ext cx="3584448" cy="2450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33672" y="3675888"/>
            <a:ext cx="73152" cy="245059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384048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Chris Lin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0624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NORTH AMERICAN PARTNER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553712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Full-stack engineer; previously at Amazon Web Services (AWS). B.S. Northwestern; M.S. Robotics. Extensive hiring-panel experience and mentorship.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64424" y="3675888"/>
            <a:ext cx="3584448" cy="2450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64424" y="3675888"/>
            <a:ext cx="73152" cy="245059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2" y="384048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Jon Serbin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420624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SENIOR ADVISOR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5592" y="4553712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Harvard and MIT; former senior executive at Morgan Stanley; founder of Cedar. 40+ years in tech M&amp;A and capital raising; advises on growth and expansion.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19  ·  TEAM &amp; OPERATING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Core founding team in place  ·  Planned hiring funded by this round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3584448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3584448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3200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EXISTING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FOUNDING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93392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Core founding 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3200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In place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84448"/>
            <a:ext cx="3200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Product, capital, and go-to-market leadership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59936"/>
            <a:ext cx="3200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Additional roles are not yet hired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35424"/>
            <a:ext cx="3200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This round funds the planned operating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097280"/>
            <a:ext cx="24688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097280"/>
            <a:ext cx="2468880" cy="91440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1280160"/>
            <a:ext cx="221284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PLANNED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1481328"/>
            <a:ext cx="22128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CHINA TECHNOLOGY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1938528"/>
            <a:ext cx="221284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340864"/>
            <a:ext cx="221284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Product, design, engineering, and AI.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3017520"/>
            <a:ext cx="1691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Product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017520"/>
            <a:ext cx="53035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3401568"/>
            <a:ext cx="1691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Designer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401568"/>
            <a:ext cx="53035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5696" y="3785616"/>
            <a:ext cx="1691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QA /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785616"/>
            <a:ext cx="53035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4169664"/>
            <a:ext cx="1691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Front-End Engineer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4169664"/>
            <a:ext cx="53035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5696" y="4553712"/>
            <a:ext cx="1691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Back-End Engineers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4553712"/>
            <a:ext cx="53035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5696" y="4937760"/>
            <a:ext cx="1691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AI Engineer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4937760"/>
            <a:ext cx="53035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76288" y="1097280"/>
            <a:ext cx="24688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76288" y="1097280"/>
            <a:ext cx="2468880" cy="91440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04304" y="1280160"/>
            <a:ext cx="221284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PLANNED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04304" y="1481328"/>
            <a:ext cx="22128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CHINA GROWTH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04304" y="1938528"/>
            <a:ext cx="221284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2+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04304" y="2340864"/>
            <a:ext cx="221284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Performance marketing and B2B development.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017520"/>
            <a:ext cx="1691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Marketing / Performance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9368" y="3017520"/>
            <a:ext cx="53035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04304" y="3401568"/>
            <a:ext cx="1691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B2B Business Development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59368" y="3401568"/>
            <a:ext cx="53035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1+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54896" y="1097280"/>
            <a:ext cx="24688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454896" y="1097280"/>
            <a:ext cx="2468880" cy="91440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82912" y="1280160"/>
            <a:ext cx="221284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PLANNED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82912" y="1481328"/>
            <a:ext cx="22128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U.S. GROWTH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82912" y="1938528"/>
            <a:ext cx="221284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82912" y="2340864"/>
            <a:ext cx="221284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Paid digital and local field marketing.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82912" y="3017520"/>
            <a:ext cx="1691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Performance Marketing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37976" y="3017520"/>
            <a:ext cx="53035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82912" y="3401568"/>
            <a:ext cx="1691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Local / Field Marketing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37976" y="3401568"/>
            <a:ext cx="53035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5779008"/>
            <a:ext cx="11183112" cy="530352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5852160"/>
            <a:ext cx="106984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Only the core founding team is in place today. China technology, China growth, and U.S. growth roles are planned hires — not current headcount.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20  ·  USE OF FUNDS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RMB 20 Million Growth Financing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83112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RMB 13.1M is a planned personnel + advertising budget. Remaining capital funds infrastructure, AI, operations, events, expansion and working capital.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207008"/>
          <a:ext cx="493776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49240" y="1261872"/>
            <a:ext cx="40233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Marketing &amp; user acquisition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1261872"/>
            <a:ext cx="22402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40%   ·   RMB 8.0M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719072"/>
            <a:ext cx="40233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Product &amp; AI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719072"/>
            <a:ext cx="22402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22.5%   ·   RMB 4.5M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2176272"/>
            <a:ext cx="40233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U.S. market expansion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176272"/>
            <a:ext cx="22402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12.5%   ·   RMB 2.5M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633472"/>
            <a:ext cx="40233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China market &amp; B2B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633472"/>
            <a:ext cx="22402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7.5%   ·   RMB 1.5M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090672"/>
            <a:ext cx="40233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Brand &amp;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3090672"/>
            <a:ext cx="22402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7.5%   ·   RMB 1.5M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3547872"/>
            <a:ext cx="40233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Operations / legal / 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3547872"/>
            <a:ext cx="22402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5%   ·   RMB 1.0M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4005072"/>
            <a:ext cx="40233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Cash reserve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4005072"/>
            <a:ext cx="22402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5%   ·   RMB 1.0M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553712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4663440"/>
            <a:ext cx="2404872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PERSONNEL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4937760"/>
            <a:ext cx="240487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RMB 5.1M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" y="5468112"/>
            <a:ext cx="240487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Planned hiring budget — not current payroll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19272" y="4553712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65576" y="4663440"/>
            <a:ext cx="2404872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CHINA 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5576" y="4937760"/>
            <a:ext cx="240487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RMB 1.0M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65576" y="5468112"/>
            <a:ext cx="240487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Planned annual spend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35624" y="4553712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4663440"/>
            <a:ext cx="2404872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U.S. 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928" y="4937760"/>
            <a:ext cx="240487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RMB 7.0M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5468112"/>
            <a:ext cx="240487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Planned annual spend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51976" y="4553712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4663440"/>
            <a:ext cx="2404872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P+A BUDGET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4937760"/>
            <a:ext cx="240487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RMB 13.1M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5468112"/>
            <a:ext cx="240487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Planned personnel + advertising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21  ·  GROWTH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Validation  →  Growth  →  Global Expansion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15568"/>
            <a:ext cx="3584448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3584448" cy="82296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207008"/>
            <a:ext cx="31821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PHASE 1  ·  0–6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481328"/>
            <a:ext cx="318211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Product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148840"/>
            <a:ext cx="31821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Launch AI Resume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743200"/>
            <a:ext cx="31821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Improve AI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337560"/>
            <a:ext cx="31821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Structured A/B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931920"/>
            <a:ext cx="31821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Initial CAC 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526280"/>
            <a:ext cx="31821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Conversion funnel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120640"/>
            <a:ext cx="31821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Validate pricing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3672" y="1115568"/>
            <a:ext cx="3584448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3672" y="1115568"/>
            <a:ext cx="3584448" cy="82296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207008"/>
            <a:ext cx="31821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PHASE 2  ·  6–12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481328"/>
            <a:ext cx="318211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148840"/>
            <a:ext cx="31821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Scale paid acquisition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743200"/>
            <a:ext cx="31821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Build SEO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337560"/>
            <a:ext cx="31821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Expand U.S. acquisition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931920"/>
            <a:ext cx="31821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B2B partnerships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526280"/>
            <a:ext cx="31821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More AI Career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5120640"/>
            <a:ext cx="31821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Expand monetization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64424" y="1115568"/>
            <a:ext cx="3584448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64424" y="1115568"/>
            <a:ext cx="3584448" cy="8229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5592" y="1207008"/>
            <a:ext cx="31821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PHASE 3  ·  12–24 MONTHS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5592" y="1481328"/>
            <a:ext cx="318211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Global expansion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2148840"/>
            <a:ext cx="31821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More English-speaking markets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2743200"/>
            <a:ext cx="31821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Localized products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3337560"/>
            <a:ext cx="31821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Global partnerships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5592" y="3931920"/>
            <a:ext cx="31821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Employer ecosystem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5592" y="4526280"/>
            <a:ext cx="31821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Marketplace capabilities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5120640"/>
            <a:ext cx="31821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▸  Central America expansion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22  ·  THREE-YEAR FINANCIAL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Users, Revenue, and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83112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Illustrative 2027E–2029E operating plan. Figures in US$.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3584448" cy="5010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3584448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26187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554480"/>
            <a:ext cx="106070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2027E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" y="1554480"/>
            <a:ext cx="106070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2028E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554480"/>
            <a:ext cx="106070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2029E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3401568" cy="649224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1865376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1031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1.0M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9656" y="21031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3.0M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1031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7.0M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2551176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Registered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27889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300K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9656" y="27889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1.0M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7889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2.5M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3236976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Monthly active 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4747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150K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9656" y="34747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500K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34747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1.25M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3922776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Paid 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1605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15K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19656" y="41605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60K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41605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180K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" y="4608576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Paid conversion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8463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19656" y="48463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6.0%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48463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7.2%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5294376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MAU / registered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55321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50%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19656" y="55321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50%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55321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50%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33672" y="1115568"/>
            <a:ext cx="3584448" cy="5010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33672" y="1115568"/>
            <a:ext cx="3584448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79976" y="126187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REVENUE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9704" y="1554480"/>
            <a:ext cx="106070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2027E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50408" y="1554480"/>
            <a:ext cx="106070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2028E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11112" y="1554480"/>
            <a:ext cx="106070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2029E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9976" y="1865376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AI revenue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9704" y="21031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$0.70M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50408" y="21031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$2.40M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11112" y="21031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$8.40M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9976" y="2551176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Career services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9704" y="27889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$0.50M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50408" y="27889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$1.60M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11112" y="27889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$5.60M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79976" y="3236976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Commission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9704" y="34747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$0.30M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50408" y="34747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$1.20M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11112" y="34747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$4.20M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79976" y="3922776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Advertising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89704" y="41605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$0.20M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50408" y="41605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$0.80M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11112" y="41605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$2.80M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79976" y="4608576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B2B revenue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89704" y="48463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$0.30M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50408" y="48463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$2.00M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11112" y="48463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$7.00M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25112" y="5257800"/>
            <a:ext cx="3401568" cy="649224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79976" y="5294376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Total revenue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89704" y="55321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$2.00M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50408" y="55321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$8.00M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11112" y="55321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$28.00M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964424" y="1115568"/>
            <a:ext cx="3584448" cy="5010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964424" y="1115568"/>
            <a:ext cx="3584448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10728" y="126187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PROFITABILITY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0456" y="1554480"/>
            <a:ext cx="106070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2027E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81160" y="1554480"/>
            <a:ext cx="106070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2028E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41864" y="1554480"/>
            <a:ext cx="106070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2029E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10728" y="1865376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Gross margin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0456" y="21031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65%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81160" y="21031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70%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41864" y="210312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75%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10728" y="2688336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Gross profit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20456" y="292608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$1.30M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81160" y="292608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$5.60M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41864" y="292608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$21.00M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110728" y="3511296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EBITDA margin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0456" y="374904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–50%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81160" y="374904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–15%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41864" y="374904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15%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10728" y="4334256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EBITDA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20456" y="457200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–$1.00M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81160" y="457200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–$1.20M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341864" y="457200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$4.20M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055864" y="5120640"/>
            <a:ext cx="3401568" cy="786384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110728" y="5157216"/>
            <a:ext cx="3291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Profitability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20456" y="539496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Loss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81160" y="539496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Loss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341864" y="5394960"/>
            <a:ext cx="106070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Profitable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2920" y="6163056"/>
            <a:ext cx="111831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Management projections for discussion. Not a forecast. Paid conversion is paid users / registered users.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23  ·  INVESTMENT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The Next Generation of Career Services Will Be AI + Human +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15568"/>
            <a:ext cx="548640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316736"/>
            <a:ext cx="504748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865376"/>
            <a:ext cx="504748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Professional content creation is now cheap, fast, and widely adopted.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115568"/>
            <a:ext cx="548640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316736"/>
            <a:ext cx="504748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Global employment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865376"/>
            <a:ext cx="504748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Talent is mobile. English-language careers travel across markets.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81528"/>
            <a:ext cx="548640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282696"/>
            <a:ext cx="504748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Career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831336"/>
            <a:ext cx="504748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Advice is still manual, expensive, and hard to scale.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5624" y="3081528"/>
            <a:ext cx="548640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282696"/>
            <a:ext cx="504748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Digital user acquisition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831336"/>
            <a:ext cx="504748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A free AI Resume is a low-friction, global top-of-funnel.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138928"/>
            <a:ext cx="11183112" cy="1152144"/>
          </a:xfrm>
          <a:prstGeom prst="roundRect">
            <a:avLst>
              <a:gd name="adj" fmla="val 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248656"/>
            <a:ext cx="10607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THE OPPORTUNITY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04688"/>
            <a:ext cx="106070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next generation of career services will be AI + human + platform. The AI Resume is the entry point; the ambition is the global AI career platform.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24  ·  FINANCING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Current Financing Round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15568"/>
            <a:ext cx="3584448" cy="2029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3584448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335024"/>
            <a:ext cx="318211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RAISE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664208"/>
            <a:ext cx="3182112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RMB 20 million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322576"/>
            <a:ext cx="3182112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≈ US$2.97 million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3672" y="1115568"/>
            <a:ext cx="3584448" cy="2029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33672" y="1115568"/>
            <a:ext cx="3584448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335024"/>
            <a:ext cx="318211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PRE-MONEY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64208"/>
            <a:ext cx="3182112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RMB 180 million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322576"/>
            <a:ext cx="3182112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≈ US$26.7 million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64424" y="1115568"/>
            <a:ext cx="3584448" cy="2029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64424" y="1115568"/>
            <a:ext cx="3584448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1335024"/>
            <a:ext cx="318211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POST-MONEY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1664208"/>
            <a:ext cx="3182112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RMB 200 million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2322576"/>
            <a:ext cx="3182112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≈ US$29.7 million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264408"/>
            <a:ext cx="3584448" cy="2029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264408"/>
            <a:ext cx="3584448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3483864"/>
            <a:ext cx="318211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EQUITY OFFERED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3813048"/>
            <a:ext cx="3182112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4471416"/>
            <a:ext cx="3182112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Primary preferred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33672" y="3264408"/>
            <a:ext cx="3584448" cy="2029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33672" y="3264408"/>
            <a:ext cx="3584448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483864"/>
            <a:ext cx="318211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813048"/>
            <a:ext cx="3182112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Preferred equity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471416"/>
            <a:ext cx="3182112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Indicative; subject to docs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64424" y="3264408"/>
            <a:ext cx="3584448" cy="2029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64424" y="3264408"/>
            <a:ext cx="3584448" cy="9144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65592" y="3483864"/>
            <a:ext cx="318211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USE OF CAPITAL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5592" y="3813048"/>
            <a:ext cx="3182112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Product, users, global GTM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4471416"/>
            <a:ext cx="3182112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Monetization + ecosystem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486400"/>
            <a:ext cx="11183112" cy="804672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632704"/>
            <a:ext cx="106984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Capital will be used to build the product, acquire users, expand globally, build monetization, and develop the career ecosystem.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RMB 20M  →  WHAT INVESTORS 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B1F33"/>
                </a:solidFill>
                <a:latin typeface="Georgia"/>
                <a:ea typeface="Georgia"/>
                <a:cs typeface="Georgia"/>
              </a:rPr>
              <a:t>12–18 month targets this round is designed to fund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26974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1243584"/>
            <a:ext cx="2404872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" y="1591056"/>
            <a:ext cx="240487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Public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2176272"/>
            <a:ext cx="240487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AI Resume live for users in China and the U.S.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9272" y="1097280"/>
            <a:ext cx="26974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65576" y="1243584"/>
            <a:ext cx="2404872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5576" y="1591056"/>
            <a:ext cx="240487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50–100k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5576" y="2176272"/>
            <a:ext cx="240487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Registered users; funnel instrumented end-to-end.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35624" y="1097280"/>
            <a:ext cx="26974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243584"/>
            <a:ext cx="2404872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1591056"/>
            <a:ext cx="240487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Blind A/B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2176272"/>
            <a:ext cx="240487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Statistically meaningful quality vs. general-purpose models.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976" y="1097280"/>
            <a:ext cx="26974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243584"/>
            <a:ext cx="2404872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591056"/>
            <a:ext cx="240487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Unit economics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176272"/>
            <a:ext cx="240487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CAC, conversion, ARPU, and payback benchmarks.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337560"/>
            <a:ext cx="26974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3483864"/>
            <a:ext cx="2404872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3831336"/>
            <a:ext cx="240487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U.S. acquisition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" y="4416552"/>
            <a:ext cx="240487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Paid digital + university/offline channels operating.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19272" y="3337560"/>
            <a:ext cx="26974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65576" y="3483864"/>
            <a:ext cx="2404872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5576" y="3831336"/>
            <a:ext cx="240487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First paid cohort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65576" y="4416552"/>
            <a:ext cx="240487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AI subscriptions and career-services attach live.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35624" y="3337560"/>
            <a:ext cx="26974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3483864"/>
            <a:ext cx="2404872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928" y="3831336"/>
            <a:ext cx="240487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B2B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4416552"/>
            <a:ext cx="240487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Employer and education-partner conversations in market.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51976" y="3337560"/>
            <a:ext cx="26974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3483864"/>
            <a:ext cx="2404872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831336"/>
            <a:ext cx="240487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0B1F33"/>
                </a:solidFill>
                <a:latin typeface="Segoe UI"/>
                <a:ea typeface="Segoe UI"/>
                <a:cs typeface="Segoe UI"/>
              </a:rPr>
              <a:t>Next-round pack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4416552"/>
            <a:ext cx="240487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A4B"/>
                </a:solidFill>
                <a:latin typeface="Segoe UI"/>
                <a:ea typeface="Segoe UI"/>
                <a:cs typeface="Segoe UI"/>
              </a:rPr>
              <a:t>Traction, model, and data room ready for the following raise.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650992"/>
            <a:ext cx="11183112" cy="640080"/>
          </a:xfrm>
          <a:prstGeom prst="roundRect">
            <a:avLst>
              <a:gd name="adj" fmla="val 6000"/>
            </a:avLst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760720"/>
            <a:ext cx="106984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RMB 20M  →  product + users + benchmarks  →  revenue  →  next round  →  valuation step-up.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52881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51 CAREERS   ·   CONFIDENTIAL INVESTOR PRESENTATION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528816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5E6E80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25  · 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We are not building another AI resume tool.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5156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A6B63"/>
                </a:solidFill>
                <a:latin typeface="Georgia"/>
                <a:ea typeface="Georgia"/>
                <a:cs typeface="Georgia"/>
              </a:rPr>
              <a:t>We are building the Global AI Career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D7EBE8"/>
                </a:solidFill>
                <a:latin typeface="Segoe UI"/>
                <a:ea typeface="Segoe UI"/>
                <a:cs typeface="Segoe UI"/>
              </a:rPr>
              <a:t>AI   ×   Career   ×   Talent   ×  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8348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51 CAREERS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D7EBE8"/>
                </a:solidFill>
                <a:latin typeface="Segoe UI"/>
                <a:ea typeface="Segoe UI"/>
                <a:cs typeface="Segoe UI"/>
              </a:rPr>
              <a:t>CHINA R&amp;D   ·   U.S. COMMERCIALIZATION   ·   GLOBAL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6B7C8F"/>
                </a:solidFill>
                <a:latin typeface="Segoe UI"/>
                <a:ea typeface="Segoe UI"/>
                <a:cs typeface="Segoe UI"/>
              </a:rPr>
              <a:t>51 CAREERS   ·   CONFIDENTIAL   · 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“Our mission is to make great jobs accessible to everyone.”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D7EBE8"/>
                </a:solidFill>
                <a:latin typeface="Georgia"/>
                <a:ea typeface="Georgia"/>
                <a:cs typeface="Georgia"/>
              </a:rPr>
              <a:t>Rocky Chen  ·  Founder &amp; Chief Executive Officer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54680"/>
            <a:ext cx="3474720" cy="1691640"/>
          </a:xfrm>
          <a:prstGeom prst="roundRect">
            <a:avLst>
              <a:gd name="adj" fmla="val 6000"/>
            </a:avLst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154680"/>
            <a:ext cx="3474720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364992"/>
            <a:ext cx="307238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703320"/>
            <a:ext cx="307238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info@51careers.com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154680"/>
            <a:ext cx="3474720" cy="1691640"/>
          </a:xfrm>
          <a:prstGeom prst="roundRect">
            <a:avLst>
              <a:gd name="adj" fmla="val 6000"/>
            </a:avLst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3154680"/>
            <a:ext cx="3474720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3364992"/>
            <a:ext cx="307238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3703320"/>
            <a:ext cx="307238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www.51careers.ai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154680"/>
            <a:ext cx="3474720" cy="1691640"/>
          </a:xfrm>
          <a:prstGeom prst="roundRect">
            <a:avLst>
              <a:gd name="adj" fmla="val 6000"/>
            </a:avLst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3154680"/>
            <a:ext cx="3474720" cy="73152"/>
          </a:xfrm>
          <a:prstGeom prst="rect">
            <a:avLst/>
          </a:prstGeom>
          <a:solidFill>
            <a:srgbClr val="0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3364992"/>
            <a:ext cx="307238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6B63"/>
                </a:solidFill>
                <a:latin typeface="Segoe UI"/>
                <a:ea typeface="Segoe UI"/>
                <a:cs typeface="Segoe UI"/>
              </a:rPr>
              <a:t>OFFICE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3703320"/>
            <a:ext cx="307238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48 Wall Street, 11th Floor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D7EBE8"/>
                </a:solidFill>
                <a:latin typeface="Segoe UI"/>
                <a:ea typeface="Segoe UI"/>
                <a:cs typeface="Segoe UI"/>
              </a:rPr>
              <a:t>New York, NY 10005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016752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D7EBE8"/>
                </a:solidFill>
                <a:latin typeface="Segoe UI"/>
                <a:ea typeface="Segoe UI"/>
                <a:cs typeface="Segoe UI"/>
              </a:rPr>
              <a:t>51 CAREERS.AI   ·   ROCKY CHEN   ·   INFO@51CAREERS.COM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6B7C8F"/>
                </a:solidFill>
                <a:latin typeface="Segoe UI"/>
                <a:ea typeface="Segoe UI"/>
                <a:cs typeface="Segoe UI"/>
              </a:rPr>
              <a:t>51 CAREERS   ·   CONFIDENTIAL   ·  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