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2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EVENT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North American International Students: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High-End Employment &amp; Commercial Space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Industry Opportunities Forum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In-person keynote presentations + networking salon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7D2"/>
                </a:solidFill>
                <a:latin typeface="Garamond"/>
              </a:rPr>
              <a:t>Presented by 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C7D2"/>
                </a:solidFill>
                <a:latin typeface="Garamond"/>
              </a:rPr>
              <a:t>August 18, 2026  |  2:00 PM–5:00 PM  |  Proprietary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Event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22F"/>
                </a:solidFill>
                <a:latin typeface="Garamond"/>
              </a:rPr>
              <a:t>Event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302666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North American International Students: High-End Employment &amp; Commercial Space Industry Opportunities Forum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55448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73736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22F"/>
                </a:solidFill>
                <a:latin typeface="Garamond"/>
              </a:rPr>
              <a:t>Date &amp;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148840"/>
            <a:ext cx="302666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August 18, 2026 (Tuesday)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2:00 PM–5:00 PM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155448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3736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22F"/>
                </a:solidFill>
                <a:latin typeface="Garamond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148840"/>
            <a:ext cx="302666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In-person keynote presentations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+ networking salon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60520"/>
            <a:ext cx="10543032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43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Five Major Segments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006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1  Registration &amp; Networking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2  High-End Employment &amp; Career Planning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3  Networking Break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4  Commercial Space Industry Session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5  Open Networking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Target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This forum brings together stakeholders across education, immigration, aerospace, and early-career talent.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130551"/>
            <a:ext cx="4718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Parents of International 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97479"/>
            <a:ext cx="47183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Parents of students currently studying in the United States seeking practical career guidance.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874519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30551"/>
            <a:ext cx="4718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Education &amp; Immigration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97479"/>
            <a:ext cx="47183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North American education and immigration service providers exploring growth and value-added services.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14800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114800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370832"/>
            <a:ext cx="4718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Aerospace &amp; Space Professionals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937760"/>
            <a:ext cx="47183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Professionals and enthusiasts in the aerospace and space innovation industries.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4114800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4114800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70832"/>
            <a:ext cx="4718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Students &amp; Young Professionals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37760"/>
            <a:ext cx="47183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International students and young professionals focused on careers, technology, and entrepreneurship.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Event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175504" cy="4663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517550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BCB"/>
                </a:solidFill>
                <a:latin typeface="Garamond"/>
              </a:rPr>
              <a:t>First Half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031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2F"/>
                </a:solidFill>
                <a:latin typeface="Garamond"/>
              </a:rPr>
              <a:t>Career Challenges &amp; Pathways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 challenges facing international students in North America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Career-track selection and pathways in the U.S. and China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Practical guidance for building careers in the United States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Growth opportunities for education and immigration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463040"/>
            <a:ext cx="5175504" cy="4663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463040"/>
            <a:ext cx="517550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737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BCB"/>
                </a:solidFill>
                <a:latin typeface="Garamond"/>
              </a:rPr>
              <a:t>Second Half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1031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222F"/>
                </a:solidFill>
                <a:latin typeface="Garamond"/>
              </a:rPr>
              <a:t>Commercial Space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803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Latest developments in the U.S. commercial space industry in 2026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Industry trends, tech progress, and U.S.–China comparisons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Technology and business development opportunities in China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 entry points for young professionals in a growing sector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Keynote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4023360" cy="4663440"/>
          </a:xfrm>
          <a:prstGeom prst="rect">
            <a:avLst/>
          </a:prstGeom>
          <a:solidFill>
            <a:srgbClr val="0E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KEYNOTE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aramond"/>
              </a:rPr>
              <a:t>Rocky 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Founder, 51 Careers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Founder, 51Careers.AI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Investor &amp; Managing Director, Helio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Global high-end career development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and international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544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About Rocky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05740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Rocky Chen is the Founder of 51 Careers, a global high-end career development platform, and the Founder of 51Careers.AI. He is also an investor and Managing Director at publicly listed company Helio.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Over the past decade, Rocky has been deeply engaged in international business and capital markets. He has built a diversified portfolio across career education, artificial intelligence, aerospace, entertainment and sports, luxury hospitality, and fine wine.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With extensive experience in business operations, strategic investment, and global resource integration, Rocky brings a unique perspective at the intersection of industry, capital, technology, and international talent development.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2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III. SESSION I  ·  2:10–3:20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aramond"/>
              </a:rPr>
              <a:t>Career Planning for International</a:t>
            </a:r>
          </a:p>
          <a:p>
            <a:pPr algn="l"/>
            <a:r>
              <a:rPr sz="2800" b="1">
                <a:solidFill>
                  <a:srgbClr val="FFFFFF"/>
                </a:solidFill>
                <a:latin typeface="Garamond"/>
              </a:rPr>
              <a:t>Students in the U.S.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Featured Topic: Career Pathways for International Students in the Post-Pandemic Era —</a:t>
            </a:r>
          </a:p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Building a Career in the U.S. vs. Returning to China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C7D2"/>
                </a:solidFill>
                <a:latin typeface="Garamond"/>
              </a:rPr>
              <a:t>Keynote presentation + live Q&amp;A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CAREER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Key Discussion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Five focus areas for the 2:10–3:20 PM 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10543032" cy="777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8424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BCB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89280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U.S. Job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9456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2026 employment landscape, visas, and high-growth tracks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51760"/>
            <a:ext cx="10543032" cy="777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BCB"/>
                </a:solidFill>
                <a:latin typeface="Garamon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76148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Career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06324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Stage-specific strategies and four major pathways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520440"/>
            <a:ext cx="10543032" cy="777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216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BCB"/>
                </a:solidFill>
                <a:latin typeface="Garamon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3016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Job-Search Playbook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9319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Practical tactics for high-growth industries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89120"/>
            <a:ext cx="10543032" cy="777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5902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BCB"/>
                </a:solidFill>
                <a:latin typeface="Garamon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4988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Return to China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80060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Talent programs, incentives, and emerging sectors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45896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BCB"/>
                </a:solidFill>
                <a:latin typeface="Garamon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36752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Live Q&amp;A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66928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Individual career questions and interactive discussion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1) JOB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The Current U.S. Job Market for International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An analysis of the 2026 U.S. employment landscape — policies affecting new graduates, visa considerations, and high-growth career tracks.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Priority Industries for International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77440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3774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Science &amp;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Core STEM hiring and research-to-industry pipelines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2377440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23774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Aerospace &amp;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Commercial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971800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Launch, satellites, and space systems demand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8" y="2377440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8" y="23774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25603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Internet &amp;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971800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Software, AI, platforms, and product roles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51959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251959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34839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Business &amp;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846319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Corporate, consulting, and capital-markets paths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4251959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98264" y="4251959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4434839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Advanced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Manufacturing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846319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Hardware, robotics, and industrial tech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3568" y="4251959"/>
            <a:ext cx="3392424" cy="17373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4251959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8" y="4434839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Emerging</a:t>
            </a:r>
          </a:p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Industries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4846319"/>
            <a:ext cx="302666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E2A33"/>
                </a:solidFill>
                <a:latin typeface="Garamond"/>
              </a:rPr>
              <a:t>New sectors defining the next hiring wave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1) JOB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What Employers Are Looking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Hiring trends and the skills and qualifications that matter most for international candidates.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392424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94560"/>
            <a:ext cx="29900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Policy &amp; Visa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80360"/>
            <a:ext cx="299008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How graduate employment policies shape offer timing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CPT / OPT and sponsorship realities by industry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Planning early for immigration-sensitive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392424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192024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194560"/>
            <a:ext cx="29900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High-Growth Career Tracks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880360"/>
            <a:ext cx="299008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Where demand is concentrating in 2026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Roles that value international academic training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Skills that transfer across U.S. and China markets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920240"/>
            <a:ext cx="3392424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92024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2194560"/>
            <a:ext cx="29900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Employer Signal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880360"/>
            <a:ext cx="299008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Technical depth vs. applied project evidence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Communication, ownership, and teamwork signals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•  Internship and research experience that converts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2) CAREER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Stage-Specific Career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Different stages of the academic journey call for different priorities, timelines, and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2651760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265176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43200"/>
            <a:ext cx="2322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Freshmen &amp;</a:t>
            </a:r>
          </a:p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Sophomores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840480"/>
            <a:ext cx="23225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Explore industries, build foundations, and start early internship positioning.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920240"/>
            <a:ext cx="2651760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80" y="1920240"/>
            <a:ext cx="265176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2743200"/>
            <a:ext cx="2322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Juniors &amp;</a:t>
            </a:r>
          </a:p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Seniors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3840480"/>
            <a:ext cx="23225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Convert academics into offers — internships, full-time pipelines, and sponsorship timing.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920240"/>
            <a:ext cx="2651760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920240"/>
            <a:ext cx="265176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2743200"/>
            <a:ext cx="2322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Master’s</a:t>
            </a:r>
          </a:p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Students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840480"/>
            <a:ext cx="23225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Compress timelines: target roles, leverage prior experience, and clarify U.S. vs. China paths.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920240"/>
            <a:ext cx="2651760" cy="41148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920240"/>
            <a:ext cx="265176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2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2743200"/>
            <a:ext cx="2322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Ph.D.</a:t>
            </a:r>
          </a:p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Students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2" y="3840480"/>
            <a:ext cx="23225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Translate research into market value — industry roles, entrepreneurship, or return pathways.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2) CAREER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Four Major Career Pathways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Advantages, challenges, and ideal candidate profiles for each pathway.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5349240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488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Build a Career in the U.S.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974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Long-term employment and sponsorship strategy; best for candidates aligned with high-demand fields and visa-feasible roles.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349240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488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Secure U.S. Internships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974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Near-term skill-building and conversion pipeline; critical for juniors, seniors, and master’s students testing fit.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23359"/>
            <a:ext cx="5349240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2335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976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Return to China After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1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Leverage overseas credentials for domestic talent programs, high-tech roles, and entrepreneurship incentives.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023359"/>
            <a:ext cx="5349240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402335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2976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Remote &amp; Cross-Border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84631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Hybrid models spanning U.S. and China markets — flexibility with unique compliance and positioning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3) JOB-SEARCH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Practical Playbook for High-Growth Industries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Guidance for technology, aerospace, commercial space, and advanced manufacturing roles.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Resume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Position academic strength as employer-ready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Interview Preparation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Storytelling, technical depth, and sponsorship-ready clarity.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Leverage Research Experience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Turn papers, labs, and projects into professional proof.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Marketable Strengths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Translate research into skills companies actually hire for.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Referrals &amp; Internal Networks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Build channels that surface roles before public posting.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3568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Emerging Industry Mapping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Identify where new demand is forming — and enter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4) RETURN TO CHINA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Career Opportunities for 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Employment and talent-development opportunities for internationally educated graduates returning to China — and where talent gaps are opening.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Talent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Recruitment and development programs designed for overseas returnees.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Innovation Incentives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Entrepreneurship support and policy incentives for returnees.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High-Tech Industry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Demand across advanced technology and industrial upgrading.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Commercial 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Growing domestic space sector seeking global-trained talent.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Digital Economy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Platform, AI, and digital infrastructure career tracks.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3568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Emerging Tech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New sectors creating roles for internationally educated professionals.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III. SESSION I  ·  5) LIVE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Interactive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Bring individual career questions — we will work through real decisions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Career Track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How to choose the right path across industries and geographies.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Industry Transitions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How to move into a new field with transferable strengths.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92024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92024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0312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Internship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51460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Timing, targeting, and converting internships into offers.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Career &amp; Immigration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Aligning offers, visas, and long-term career design.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Return-to-China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How to position overseas experience for domestic opportunity.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3568" y="4023360"/>
            <a:ext cx="3392424" cy="19202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0222F"/>
                </a:solidFill>
                <a:latin typeface="Garamond"/>
              </a:rPr>
              <a:t>Common Pitfalls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4617720"/>
            <a:ext cx="302666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Mistakes that slow international job searches — and how to avoid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2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IV. SESSION II  ·  3:35–4:50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aramond"/>
              </a:rPr>
              <a:t>2026 U.S. Commercial Space Technology</a:t>
            </a:r>
          </a:p>
          <a:p>
            <a:pPr algn="l"/>
            <a:r>
              <a:rPr sz="2800" b="1">
                <a:solidFill>
                  <a:srgbClr val="FFFFFF"/>
                </a:solidFill>
                <a:latin typeface="Garamond"/>
              </a:rPr>
              <a:t>&amp; Opportunities in the Chinese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Featured Topic: Review of U.S. Commercial Space Developments in H1 2026 —</a:t>
            </a:r>
          </a:p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Technology, Industry Dynamics &amp; Opportunities in the Chinese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9C7D2"/>
                </a:solidFill>
                <a:latin typeface="Garamond"/>
              </a:rPr>
              <a:t>In-depth industry session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IV. SESSION II  ·  COMMERCIAL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Key Discussion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Four developments defining U.S. commercial space in H1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10543032" cy="9144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30551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BCB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039111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22F"/>
                </a:solidFill>
                <a:latin typeface="Garamond"/>
              </a:rPr>
              <a:t>Reusable Launch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377439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High-frequency launch models and falling cost of access to space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926079"/>
            <a:ext cx="10543032" cy="9144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182111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BCB"/>
                </a:solidFill>
                <a:latin typeface="Garamon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90671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22F"/>
                </a:solidFill>
                <a:latin typeface="Garamond"/>
              </a:rPr>
              <a:t>LEO Constellation Scale-Up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428999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Global broadband, direct-to-device, and integrated space-ground networks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977639"/>
            <a:ext cx="10543032" cy="9144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233671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BCB"/>
                </a:solidFill>
                <a:latin typeface="Garamon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142231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22F"/>
                </a:solidFill>
                <a:latin typeface="Garamond"/>
              </a:rPr>
              <a:t>Strategic Industry Shifts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480559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From space tourism toward infrastructure, human spaceflight, and deep 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029199"/>
            <a:ext cx="10543032" cy="9144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85231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BCB"/>
                </a:solidFill>
                <a:latin typeface="Garamon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93791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22F"/>
                </a:solidFill>
                <a:latin typeface="Garamond"/>
              </a:rPr>
              <a:t>Integrated Ecosystem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532119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Rockets → satellites → constellations → ground systems → end-user services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IV. SESSION II  ·  1) KEY DEVELOPMENTS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Reusable Rocket Technology Enters a New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Advances in reusable launch technology — high-frequency launch models and continued efforts to reduce the cost of access to space.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10543032" cy="1234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73152" cy="123444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402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Reusable Launch Vehicles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517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1E2A33"/>
                </a:solidFill>
                <a:latin typeface="Garamond"/>
              </a:rPr>
              <a:t>Evolution of reusability from milestone to operating norm, enabling higher flight rates and more predictable deployment windows.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83280"/>
            <a:ext cx="10543032" cy="1234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83280"/>
            <a:ext cx="73152" cy="123444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611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Next-Generation Heavy Lift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233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1E2A33"/>
                </a:solidFill>
                <a:latin typeface="Garamond"/>
              </a:rPr>
              <a:t>Heavy-lift systems expanding what can be launched — larger payloads, denser constellations, and more ambitious infrastructure.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754880"/>
            <a:ext cx="10543032" cy="1234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754880"/>
            <a:ext cx="73152" cy="123444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9834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Implications for the Economy of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949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1E2A33"/>
                </a:solidFill>
                <a:latin typeface="Garamond"/>
              </a:rPr>
              <a:t>Lower launch cost reshapes satellite deployment, space infrastructure build-out, and the long-term economics of launch services.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IV. SESSION II  ·  1) KEY DEVELOPMENTS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Large-Scale LEO Satellite Constellations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Rapid expansion of low-Earth-orbit networks is reshaping the global telecommunications landscape.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Global Broadband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Mass connectivity from orbit at planetary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Direct-to-Device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Satellite links reaching phones and consumer devices.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9659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9659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1488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Remote-Area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5603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Coverage where terrestrial networks cannot reach.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Emergency Communications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Resilient links for disaster and crisis response.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Space-Ground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Unified infrastructure across orbit and terrestrial systems.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3568" y="4023360"/>
            <a:ext cx="3392424" cy="1874519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4023360"/>
            <a:ext cx="3392424" cy="64008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06240"/>
            <a:ext cx="3026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Telecom Reset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4617720"/>
            <a:ext cx="3026664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Constellations redefining competition and capacity.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IV. SESSION II  ·  1) KEY DEVELOPMENTS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Strategic Shifts Among Leading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Leading U.S. commercial space companies are shifting focus from space tourism toward strategic infrastructure and deep-space exploration.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3200400" cy="4023360"/>
          </a:xfrm>
          <a:prstGeom prst="rect">
            <a:avLst/>
          </a:prstGeom>
          <a:solidFill>
            <a:srgbClr val="0E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FBCE8"/>
                </a:solidFill>
                <a:latin typeface="Garamond"/>
              </a:rPr>
              <a:t>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aramond"/>
              </a:rPr>
              <a:t>Space tourism &amp;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Garamond"/>
              </a:rPr>
              <a:t>consumer-oriented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Garamond"/>
              </a:rPr>
              <a:t>market narratives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FBCE8"/>
                </a:solidFill>
                <a:latin typeface="Garamond"/>
              </a:rPr>
              <a:t>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634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FC5DE"/>
                </a:solidFill>
                <a:latin typeface="Garamond"/>
              </a:rPr>
              <a:t>Infrastructure,</a:t>
            </a:r>
          </a:p>
          <a:p>
            <a:pPr algn="l"/>
            <a:r>
              <a:rPr sz="1600" b="1">
                <a:solidFill>
                  <a:srgbClr val="9FC5DE"/>
                </a:solidFill>
                <a:latin typeface="Garamond"/>
              </a:rPr>
              <a:t>human spaceflight &amp;</a:t>
            </a:r>
          </a:p>
          <a:p>
            <a:pPr algn="l"/>
            <a:r>
              <a:rPr sz="1600" b="1">
                <a:solidFill>
                  <a:srgbClr val="9FC5DE"/>
                </a:solidFill>
                <a:latin typeface="Garamond"/>
              </a:rPr>
              <a:t>deep-space 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068312" cy="896112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4884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Advanced Launch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Building the systems that make frequent, reliable access to space possible.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017520"/>
            <a:ext cx="7068312" cy="896112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15468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Human Spaceflight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Crewed missions moving from demonstration to durable commercial capability.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4023360"/>
            <a:ext cx="7068312" cy="896112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416052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Lunar &amp; Deep-Space Exploration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8056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Ambition extending beyond LEO toward the Moon and farther destinations.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029200"/>
            <a:ext cx="7068312" cy="896112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5166360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Large-Scale Satellite 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48640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Constellations and orbital platforms as long-lived strategic assets.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IV. SESSION II  ·  1) KEY DEVELOPMENTS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22F"/>
                </a:solidFill>
                <a:latin typeface="Garamond"/>
              </a:rPr>
              <a:t>An Integrated Commercial Space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Vertical integration, technological barriers, capital intensity, and scale are reshaping competition.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2011680" cy="21945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201168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Rocket</a:t>
            </a:r>
          </a:p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BCB"/>
                </a:solidFill>
                <a:latin typeface="Garamon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011680"/>
            <a:ext cx="2011680" cy="21945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7520" y="2011680"/>
            <a:ext cx="201168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8346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Satellite</a:t>
            </a:r>
          </a:p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Manufacturing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39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BCB"/>
                </a:solidFill>
                <a:latin typeface="Garamon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011680"/>
            <a:ext cx="2011680" cy="21945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12080" y="2011680"/>
            <a:ext cx="201168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8346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Constellation</a:t>
            </a:r>
          </a:p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599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BCB"/>
                </a:solidFill>
                <a:latin typeface="Garamond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2011680"/>
            <a:ext cx="2011680" cy="21945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2011680"/>
            <a:ext cx="201168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8346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Ground Equipment</a:t>
            </a:r>
          </a:p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&amp; Terminals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59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BCB"/>
                </a:solidFill>
                <a:latin typeface="Garamond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2011680"/>
            <a:ext cx="2011680" cy="21945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2011680"/>
            <a:ext cx="2011680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6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BCB"/>
                </a:solidFill>
                <a:latin typeface="Garamon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8346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End-User</a:t>
            </a:r>
          </a:p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Services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80560"/>
            <a:ext cx="10543032" cy="160020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2F"/>
                </a:solidFill>
                <a:latin typeface="Garamond"/>
              </a:rPr>
              <a:t>Why Integration Matters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1E2A33"/>
                </a:solidFill>
                <a:latin typeface="Garamond"/>
              </a:rPr>
              <a:t>Companies that control more of the chain can capture margin, set standards, and raise barriers for new entrants. For talent and partners in China, understanding where value concentrates — launch, manufacturing, operations, ground systems, or services — is essential for market entry and career positioning.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