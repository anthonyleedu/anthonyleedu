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554480"/>
            <a:ext cx="21945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eorgia"/>
              </a:rPr>
              <a:t>AUGUST 18, 2026  ·  2:00 – 5:00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7589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High-End Employment</a:t>
            </a:r>
          </a:p>
          <a:p>
            <a:pPr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&amp; Commercial Space</a:t>
            </a:r>
          </a:p>
          <a:p>
            <a:pPr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Opportunities Forum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6634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7EB0C8"/>
                </a:solidFill>
                <a:latin typeface="Georgia"/>
              </a:rPr>
              <a:t>North American International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212080"/>
            <a:ext cx="12801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8A"/>
                </a:solidFill>
                <a:latin typeface="Georgia"/>
              </a:rPr>
              <a:t>Presented by Rocky Chen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5216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eorgia"/>
              </a:rPr>
              <a:t>Keynote presentations  ·  Networking salon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 · EVENT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Event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3566160" cy="21488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Theme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26080"/>
            <a:ext cx="31638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North American International Students: High-End Employment &amp; Commercial Space Industry Opportunities Forum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19" y="2194560"/>
            <a:ext cx="3566160" cy="21488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19" y="21945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7" y="23957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Date &amp;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7" y="2926080"/>
            <a:ext cx="31638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August 18, 2026 (Tuesday)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2:00 PM – 5:00 PM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8" y="2194560"/>
            <a:ext cx="3566160" cy="21488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8" y="21945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6" y="23957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Format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6" y="2926080"/>
            <a:ext cx="31638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In-person keynote presentations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+ networking salon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17720"/>
            <a:ext cx="10927080" cy="15087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09270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eorgia"/>
              </a:rPr>
              <a:t>Five Major Segments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Registration &amp; Networking    ·    High-End Employment &amp; Career Planning    ·    Networking Break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Commercial Space Industry Session    ·    Open Networking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 · EVENT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Target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Stakeholders across education, immigration, aerospace, and early-career talent.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50383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Parents of International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71800"/>
            <a:ext cx="50383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Parents of students currently studying in the United States seeking practical career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4028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441448"/>
            <a:ext cx="50383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Education &amp; Immigration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971800"/>
            <a:ext cx="50383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North American education and immigration service providers exploring growth and value-added services.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453128"/>
            <a:ext cx="50383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Aerospace &amp; Space Professionals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983480"/>
            <a:ext cx="50383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Professionals and enthusiasts in the aerospace and space innovation industries.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5196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5196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453128"/>
            <a:ext cx="50383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Students &amp; Young Professionals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4983480"/>
            <a:ext cx="50383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International students and young professionals focused on careers, technology, and entrepreneurship.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 · EVENT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Event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5394960" cy="40233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53949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eorgia"/>
              </a:rPr>
              <a:t>FIRST 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889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Career Challenges &amp; Pathways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7472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 i="0">
                <a:solidFill>
                  <a:srgbClr val="7EB0C8"/>
                </a:solidFill>
                <a:latin typeface="Georgia"/>
              </a:rPr>
              <a:t>•  Challenges facing international students in North America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7EB0C8"/>
                </a:solidFill>
                <a:latin typeface="Georgia"/>
              </a:rPr>
              <a:t>•  Career-track selection across the U.S. and China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7EB0C8"/>
                </a:solidFill>
                <a:latin typeface="Georgia"/>
              </a:rPr>
              <a:t>•  Practical guidance for building careers in the U.S.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7EB0C8"/>
                </a:solidFill>
                <a:latin typeface="Georgia"/>
              </a:rPr>
              <a:t>•  Growth opportunities for education &amp; immigration providers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148840"/>
            <a:ext cx="5303520" cy="40233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148840"/>
            <a:ext cx="53035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SECOND 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E141C"/>
                </a:solidFill>
                <a:latin typeface="Georgia"/>
              </a:rPr>
              <a:t>Commercial Space Opportunities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663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 i="0">
                <a:solidFill>
                  <a:srgbClr val="3D4A58"/>
                </a:solidFill>
                <a:latin typeface="Georgia"/>
              </a:rPr>
              <a:t>•  U.S. commercial space developments in 2026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3D4A58"/>
                </a:solidFill>
                <a:latin typeface="Georgia"/>
              </a:rPr>
              <a:t>•  Industry trends and U.S.–China comparisons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3D4A58"/>
                </a:solidFill>
                <a:latin typeface="Georgia"/>
              </a:rPr>
              <a:t>•  Technology &amp; business opportunities in China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3D4A58"/>
                </a:solidFill>
                <a:latin typeface="Georgia"/>
              </a:rPr>
              <a:t>•  Career entry points in a rapidly growing sector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 · EVENT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Keynote Speaker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4297680" cy="40233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44450" cy="402336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eorgia"/>
              </a:rPr>
              <a:t>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eorgia"/>
              </a:rPr>
              <a:t>Rocky Chen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749039"/>
            <a:ext cx="137160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069080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7EB0C8"/>
                </a:solidFill>
                <a:latin typeface="Georgia"/>
              </a:rPr>
              <a:t>Founder, 51 Careers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7EB0C8"/>
                </a:solidFill>
                <a:latin typeface="Georgia"/>
              </a:rPr>
              <a:t>Founder, 51Careers.AI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7EB0C8"/>
                </a:solidFill>
                <a:latin typeface="Georgia"/>
              </a:rPr>
              <a:t>Investor &amp; Managing Director, Helio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2402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About Rocky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43200"/>
            <a:ext cx="6126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eorgia"/>
              </a:rPr>
              <a:t>Rocky Chen is the Founder of 51 Careers, a global high-end career development platform, and the Founder of 51Careers.AI. He is also an investor and Managing Director at publicly listed company Helio.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eorgia"/>
              </a:rPr>
              <a:t>Over the past decade, Rocky has been deeply engaged in international business and capital markets — with a diversified portfolio across career education, artificial intelligence, aerospace, entertainment and sports, luxury hospitality, and fine wine.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eorgia"/>
              </a:rPr>
              <a:t>He brings a unique perspective at the intersection of industry, capital, technology, and international talent development.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54864" cy="6096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38100" cy="237744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eorgia"/>
              </a:rPr>
              <a:t>III · SESSION I  ·  2:10 – 3:20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79552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Career Planning for</a:t>
            </a:r>
          </a:p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International Students</a:t>
            </a:r>
          </a:p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in the U.S.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25196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480560"/>
            <a:ext cx="79552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Featured Topic</a:t>
            </a:r>
          </a:p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Career Pathways for International Students in the Post-Pandemic Era</a:t>
            </a:r>
          </a:p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Building a Career in the U.S. vs. Returning to China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9436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A8A"/>
                </a:solidFill>
                <a:latin typeface="Georgia"/>
              </a:rPr>
              <a:t>Keynote presentation + live Q&amp;A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Key Discussion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Five focus areas for the afternoon 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092708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860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U.S. Job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7860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2026 employment landscape, visas, and high-growth tracks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9232"/>
            <a:ext cx="1092708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6382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0906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Career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3832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Stage-specific strategies and four major pathways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03904"/>
            <a:ext cx="1092708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684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89534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Job-Search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18795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Practical tactics for high-growth industries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08576"/>
            <a:ext cx="1092708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7316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700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Return to China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926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Talent programs, incentives, and emerging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413248"/>
            <a:ext cx="1092708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77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5046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Live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797296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Individual career questions and interactive discussion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1)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The Current U.S. Job Market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Policies affecting new graduates, visa considerations, and high-growth career tracks.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Science &amp;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STEM hiring and research-to-industry pipelines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8600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Aerospace &amp; Commercial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Launch, satellites, and space systems demand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8600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Internet &amp;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Software, AI, platforms, and product roles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6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4531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Business &amp;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8348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Corporate, consulting, and capital-markets paths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5196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519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7" y="44531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Advanced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7" y="498348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Hardware, robotics, and industrial tech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51960"/>
            <a:ext cx="3566160" cy="1783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5196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45312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Emerging Industries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4983480"/>
            <a:ext cx="31638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New sectors defining the next hiring wave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1)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What Employers Are Looking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Hiring trends and the skills that matter most for international candidates.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56616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Policy &amp; Visa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How graduate employment policies shape offer timing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CPT / OPT and sponsorship realities by industry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Planning early for immigration-sensitive roles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40280"/>
            <a:ext cx="3566160" cy="38404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402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19" y="25146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High-Growth Career Tracks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19" y="320040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eorgia"/>
              </a:rPr>
              <a:t>•  Where demand is concentrating in 2026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eorgia"/>
              </a:rPr>
              <a:t>•  Roles that value international academic training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eorgia"/>
              </a:rPr>
              <a:t>•  Skills that transfer across U.S. and China markets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40280"/>
            <a:ext cx="356616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402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25146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Employer Signal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320040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Technical depth vs. applied project evidence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Communication, ownership, and teamwork signals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•  Internship and research experience that converts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Stage-Specific Career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Different stages of the academic journey call for different priorities.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274320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Freshmen &amp;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Sophomores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Explore industries, build foundations, and start early internship positioning.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240280"/>
            <a:ext cx="274320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22402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971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Juniors &amp;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Seniors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114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Convert academics into offers — internships, full-time pipelines, and sponsorship timing.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40280"/>
            <a:ext cx="274320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Master’s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Students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14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Compress timelines: target roles, leverage prior experience, and clarify U.S. vs. China paths.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2240280"/>
            <a:ext cx="2743200" cy="38404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22402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971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Ph.D.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114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Translate research into market value — industry roles, entrepreneurship, or return pathways.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Four Major Career Pathways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Advantages, challenges, and ideal candidate profiles for each 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2316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43200"/>
            <a:ext cx="5038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Build a Career in the U.S.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91840"/>
            <a:ext cx="50383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Long-term employment and sponsorship strategy — best for candidates aligned with high-demand fields and visa-feasible roles.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24028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42316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743200"/>
            <a:ext cx="5038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Secure U.S. Internships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291840"/>
            <a:ext cx="50383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Near-term skill-building and conversion pipeline — critical for juniors, seniors, and master’s students testing fit.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5196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5196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4348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754880"/>
            <a:ext cx="5038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Return to China After Graduation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03520"/>
            <a:ext cx="50383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Leverage overseas credentials for domestic talent programs, high-tech roles, and entrepreneurship incentives.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251960"/>
            <a:ext cx="544068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25196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4348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4754880"/>
            <a:ext cx="5038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Remote &amp; Cross-Border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5303520"/>
            <a:ext cx="50383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Hybrid models spanning U.S. and China markets — flexibility with unique compliance and positioning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Practical Playbook for High-Growth Industries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Guidance for technology, aerospace, commercial space, and advanced manufacturing.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Resume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Position academic strength as employer-ready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Interview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Storytelling, technical depth, and sponsorship-ready clarity.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Leverage Research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Turn papers, labs, and projects into professional proof.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Marketable Strengths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Translate research into skills companies actually hire for.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7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Referrals &amp; Networks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7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Build channels that surface roles before public posting.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Emerging Industry Mapping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Identify where new demand is forming — and enter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Career Opportunities for International Talent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Where talent gaps are opening for internationally educated professionals.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Talent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Recruitment and development programs designed for overseas returnees.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Innovation Incentives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Entrepreneurship support and policy incentives for returnees.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High-Tech Industry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Demand across advanced technology and industrial upgrading.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Commercial 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Growing domestic space sector seeking global-trained talent.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7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Digital Economy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7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Platform, AI, and digital infrastructure career tracks.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Emerging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New sectors creating roles for internationally educated professionals.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III · SESSION I · 5) LIVE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Interactive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Bring individual career questions — we will work through real decisions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Career Track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How to choose the right path across industries and geographies.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Industry Transitions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How to move into a new field with transferable strengths.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Internship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Timing, targeting, and converting internships into offers.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Career &amp; Immigration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Aligning offers, visas, and long-term career design.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7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Return-to-China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7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How to position overseas experience for domestic opportunity.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Common Pitfalls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Mistakes that slow international job searches — and how to avoid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54864" cy="6096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38100" cy="237744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eorgia"/>
              </a:rPr>
              <a:t>IV · SESSION II  ·  3:35 – 4:50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79552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2026 U.S. Commercial Space</a:t>
            </a:r>
          </a:p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Technology &amp; Opportunities</a:t>
            </a:r>
          </a:p>
          <a:p>
            <a:pPr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Georgia"/>
              </a:rPr>
              <a:t>in the Chinese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25196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480560"/>
            <a:ext cx="79552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Featured Topic</a:t>
            </a:r>
          </a:p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Review of U.S. Commercial Space Developments in H1 2026</a:t>
            </a:r>
          </a:p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eorgia"/>
              </a:rPr>
              <a:t>Technology, Industry Dynamics &amp; Opportunities in the Chinese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9436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A8A"/>
                </a:solidFill>
                <a:latin typeface="Georgia"/>
              </a:rPr>
              <a:t>In-depth industry session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IV · SESSION II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Key Discussion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Four developments defining U.S. commercial space in H1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92708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A7A92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231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Reusable Launch Maturity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74320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High-frequency launch models and falling cost of access to 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1092708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472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A7A92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832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LEO Constellation Scale-Up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033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Global broadband, direct-to-device, and integrated space-ground networks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2708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A7A92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4340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Strategic Industry Shifts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66344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From space tourism toward infrastructure, human spaceflight, and deep space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66360"/>
            <a:ext cx="1092708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6752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A7A92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035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eorgia"/>
              </a:rPr>
              <a:t>Integrated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6235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Rockets → satellites → constellations → ground systems → end-user services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IV · SESSION II · 1) KEY DEVELOPMENTS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Reusable Rocket Technology Enters a New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High-frequency launch models and continued efforts to reduce the cost of access to space.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927080" cy="11430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44450" cy="1143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Reusable Launch Vehicles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eorgia"/>
              </a:rPr>
              <a:t>Evolution of reusability from milestone to operating norm — enabling higher flight rates and more predictable deployment windows.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10927080" cy="11430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44450" cy="1143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Next-Generation Heavy 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6052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eorgia"/>
              </a:rPr>
              <a:t>Heavy-lift systems expanding what can be launched — larger payloads, denser constellations, and more ambitious infrastructure.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10927080" cy="11430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44450" cy="1143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47488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eorgia"/>
              </a:rPr>
              <a:t>Economics of Access to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4068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eorgia"/>
              </a:rPr>
              <a:t>Lower launch cost reshapes satellite deployment, space infrastructure build-out, and the long-term economics of launch services.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IV · SESSION II · 1) KEY DEVELOPMENTS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Large-Scale LEO Satellite Constellations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Rapid expansion of low-Earth-orbit networks is reshaping global telecommunications.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Global Broadband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Mass connectivity from orbit at planetary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Direct-to-Device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Satellite links reaching phones and consumer devices.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28600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2860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8716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Remote-Area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Coverage where terrestrial networks cannot reach.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Emergency Communications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Resilient links for disaster and crisis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7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Space-Ground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7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Unified infrastructure across orbit and terrestrial systems.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97680"/>
            <a:ext cx="3566160" cy="18288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9768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49884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eorgia"/>
              </a:rPr>
              <a:t>Telecom Reset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5029200"/>
            <a:ext cx="31638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eorgia"/>
              </a:rPr>
              <a:t>Constellations redefining competition and capacity.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IV · SESSION II · 1) KEY DEVELOPMENTS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Strategic Shifts Among Leading Companies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From space tourism toward strategic infrastructure and deep-space exploration.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474720" cy="38404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44450" cy="38404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eorgia"/>
              </a:rPr>
              <a:t>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</a:rPr>
              <a:t>Space tourism &amp;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eorgia"/>
              </a:rPr>
              <a:t>consumer-oriented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eorgia"/>
              </a:rPr>
              <a:t>market narratives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297680"/>
            <a:ext cx="128016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eorgia"/>
              </a:rPr>
              <a:t>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377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EB0C8"/>
                </a:solidFill>
                <a:latin typeface="Georgia"/>
              </a:rPr>
              <a:t>Infrastructure, human</a:t>
            </a:r>
          </a:p>
          <a:p>
            <a:pPr algn="l"/>
            <a:r>
              <a:rPr sz="1500" b="1" i="0">
                <a:solidFill>
                  <a:srgbClr val="7EB0C8"/>
                </a:solidFill>
                <a:latin typeface="Georgia"/>
              </a:rPr>
              <a:t>spaceflight &amp; deep space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240280"/>
            <a:ext cx="717804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37744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Advanced Launch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9748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Systems that make frequent, reliable access to space possible.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00400"/>
            <a:ext cx="717804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33756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Human Spaceflight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657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Crewed missions moving from demonstration to durable capability.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4160520"/>
            <a:ext cx="717804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Lunar &amp; Deep-Space Exploration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6177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Ambition extending beyond LEO toward the Moon and farther.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5120640"/>
            <a:ext cx="717804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525780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eorgia"/>
              </a:rPr>
              <a:t>Large-Scale Satellite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557784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eorgia"/>
              </a:rPr>
              <a:t>Constellations and orbital platforms as strategic assets.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eorgia"/>
              </a:rPr>
              <a:t>IV · SESSION II · 1) KEY DEVELOPMENTS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49808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E141C"/>
                </a:solidFill>
                <a:latin typeface="Georgia"/>
              </a:rPr>
              <a:t>An Integrated Commercial Space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eorgia"/>
              </a:rPr>
              <a:t>Vertical integration, technological barriers, capital intensity, and scale reshape competition.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103120" cy="21488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031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EB0C8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Rocket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07792" y="2286000"/>
            <a:ext cx="2103120" cy="21488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07792" y="2286000"/>
            <a:ext cx="21031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7A92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30175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eorgia"/>
              </a:rPr>
              <a:t>Satellite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eorgia"/>
              </a:rPr>
              <a:t>Manufacturing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5504" y="2286000"/>
            <a:ext cx="2103120" cy="21488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5504" y="2286000"/>
            <a:ext cx="21031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664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EB0C8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2664" y="30175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Constellation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43216" y="2286000"/>
            <a:ext cx="2103120" cy="21488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43216" y="2286000"/>
            <a:ext cx="21031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0376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7A92"/>
                </a:solidFill>
                <a:latin typeface="Georgia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0376" y="30175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eorgia"/>
              </a:rPr>
              <a:t>Ground Equipment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eorgia"/>
              </a:rPr>
              <a:t>&amp; Terminals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0928" y="2286000"/>
            <a:ext cx="2103120" cy="21488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10928" y="2286000"/>
            <a:ext cx="210312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48088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EB0C8"/>
                </a:solidFill>
                <a:latin typeface="Georgia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48088" y="30175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End-User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Services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927080" cy="13716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9377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eorgia"/>
              </a:rPr>
              <a:t>Why Integration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0352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eorgia"/>
              </a:rPr>
              <a:t>Companies that control more of the chain capture margin, set standards, and raise barriers. For talent and partners engaging the Chinese market, knowing where value concentrates — launch, manufacturing, operations, ground systems, or services — is essential.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