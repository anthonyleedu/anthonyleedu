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778240" y="0"/>
            <a:ext cx="3413455" cy="6858000"/>
          </a:xfrm>
          <a:prstGeom prst="rect">
            <a:avLst/>
          </a:prstGeom>
          <a:solidFill>
            <a:srgbClr val="151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68680" y="1234440"/>
            <a:ext cx="2194560" cy="15875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463040"/>
            <a:ext cx="74980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7EB0C8"/>
                </a:solidFill>
                <a:latin typeface="Garamond"/>
              </a:rPr>
              <a:t>2026 CAREER DEVELOPMENT &amp; INTERNATIONAL STUDENT FORUM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920240"/>
            <a:ext cx="7680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Garamond"/>
              </a:rPr>
              <a:t>Career Pathways for</a:t>
            </a:r>
          </a:p>
          <a:p>
            <a:pPr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Garamond"/>
              </a:rPr>
              <a:t>International Students</a:t>
            </a:r>
          </a:p>
          <a:p>
            <a:pPr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Garamond"/>
              </a:rPr>
              <a:t>in the Post-Pandemic Era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840480"/>
            <a:ext cx="74980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7EB0C8"/>
                </a:solidFill>
                <a:latin typeface="Garamond"/>
              </a:rPr>
              <a:t>Building Your Career in the U.S.</a:t>
            </a:r>
          </a:p>
          <a:p>
            <a:pPr algn="l"/>
            <a:r>
              <a:rPr sz="1800" b="0" i="1">
                <a:solidFill>
                  <a:srgbClr val="7EB0C8"/>
                </a:solidFill>
                <a:latin typeface="Garamond"/>
              </a:rPr>
              <a:t>vs. Returning to China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4617720"/>
            <a:ext cx="1280160" cy="15875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937760"/>
            <a:ext cx="74980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B7A8A"/>
                </a:solidFill>
                <a:latin typeface="Garamond"/>
              </a:rPr>
              <a:t>U.S. Job Market  ·  Career Strategy</a:t>
            </a:r>
          </a:p>
          <a:p>
            <a:pPr algn="l"/>
            <a:r>
              <a:rPr sz="1300" b="0" i="0">
                <a:solidFill>
                  <a:srgbClr val="6B7A8A"/>
                </a:solidFill>
                <a:latin typeface="Garamond"/>
              </a:rPr>
              <a:t>Emerging Industries  ·  Global Opportunities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5852160"/>
            <a:ext cx="74980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A8A"/>
                </a:solidFill>
                <a:latin typeface="Garamond"/>
              </a:rPr>
              <a:t>Session I  ·  2:10 – 3:20 PM  ·  Presented by Rocky Chen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7A92"/>
                </a:solidFill>
                <a:latin typeface="Garamond"/>
              </a:rPr>
              <a:t>THE BIG QUESTION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77724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E141C"/>
                </a:solidFill>
                <a:latin typeface="Garamond"/>
              </a:rPr>
              <a:t>Stay in the U.S. or Return to China?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6187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6B7A8A"/>
                </a:solidFill>
                <a:latin typeface="Garamond"/>
              </a:rPr>
              <a:t>For international students, career decisions are no longer simply about where to work.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10927080" cy="53035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92808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A7A92"/>
                </a:solidFill>
                <a:latin typeface="Garamon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1892808"/>
            <a:ext cx="9509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E141C"/>
                </a:solidFill>
                <a:latin typeface="Garamond"/>
              </a:rPr>
              <a:t>Where can I build long-term career value?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404872"/>
            <a:ext cx="10927080" cy="53035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5146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A7A92"/>
                </a:solidFill>
                <a:latin typeface="Garamon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2514600"/>
            <a:ext cx="9509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E141C"/>
                </a:solidFill>
                <a:latin typeface="Garamond"/>
              </a:rPr>
              <a:t>Which market matches my skills and background?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026664"/>
            <a:ext cx="10927080" cy="53035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13639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A7A92"/>
                </a:solidFill>
                <a:latin typeface="Garamond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3136392"/>
            <a:ext cx="9509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E141C"/>
                </a:solidFill>
                <a:latin typeface="Garamond"/>
              </a:rPr>
              <a:t>How should I plan around immigration and work authorization?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648456"/>
            <a:ext cx="10927080" cy="53035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758184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A7A92"/>
                </a:solidFill>
                <a:latin typeface="Garamond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3758184"/>
            <a:ext cx="9509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E141C"/>
                </a:solidFill>
                <a:latin typeface="Garamond"/>
              </a:rPr>
              <a:t>Which industries offer the strongest opportunities?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270248"/>
            <a:ext cx="10927080" cy="53035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379976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A7A92"/>
                </a:solidFill>
                <a:latin typeface="Garamond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379976"/>
            <a:ext cx="9509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E141C"/>
                </a:solidFill>
                <a:latin typeface="Garamond"/>
              </a:rPr>
              <a:t>When should I make the decision?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5029200"/>
            <a:ext cx="10927080" cy="1097280"/>
          </a:xfrm>
          <a:prstGeom prst="rect">
            <a:avLst/>
          </a:prstGeom>
          <a:solidFill>
            <a:srgbClr val="0B1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5029200"/>
            <a:ext cx="1092708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5212080"/>
            <a:ext cx="10241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EB0C8"/>
                </a:solidFill>
                <a:latin typeface="Garamond"/>
              </a:rPr>
              <a:t>KEY MESSAGE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5532120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1">
                <a:solidFill>
                  <a:srgbClr val="FFFFFF"/>
                </a:solidFill>
                <a:latin typeface="Garamond"/>
              </a:rPr>
              <a:t>Don’t choose a country first. Choose a career strategy first.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7A92"/>
                </a:solidFill>
                <a:latin typeface="Garamond"/>
              </a:rPr>
              <a:t>THE 2026 CAREER LANDSCAPE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77724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E141C"/>
                </a:solidFill>
                <a:latin typeface="Garamond"/>
              </a:rPr>
              <a:t>What Has Changed in the Job Market?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783080"/>
            <a:ext cx="5440680" cy="352044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5440680" cy="3175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4892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E141C"/>
                </a:solidFill>
                <a:latin typeface="Garamond"/>
              </a:rPr>
              <a:t>U.S. Market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68880"/>
            <a:ext cx="48920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0" i="0">
                <a:solidFill>
                  <a:srgbClr val="3D4A58"/>
                </a:solidFill>
                <a:latin typeface="Garamond"/>
              </a:rPr>
              <a:t>•  Increasing competition for entry-level positions</a:t>
            </a:r>
          </a:p>
          <a:p>
            <a:pPr>
              <a:spcAft>
                <a:spcPts val="700"/>
              </a:spcAft>
            </a:pPr>
            <a:r>
              <a:rPr sz="1300" b="0" i="0">
                <a:solidFill>
                  <a:srgbClr val="3D4A58"/>
                </a:solidFill>
                <a:latin typeface="Garamond"/>
              </a:rPr>
              <a:t>•  Growing importance of specialized technical skills</a:t>
            </a:r>
          </a:p>
          <a:p>
            <a:pPr>
              <a:spcAft>
                <a:spcPts val="700"/>
              </a:spcAft>
            </a:pPr>
            <a:r>
              <a:rPr sz="1300" b="0" i="0">
                <a:solidFill>
                  <a:srgbClr val="3D4A58"/>
                </a:solidFill>
                <a:latin typeface="Garamond"/>
              </a:rPr>
              <a:t>•  Employer focus on measurable impact and practical experience</a:t>
            </a:r>
          </a:p>
          <a:p>
            <a:pPr>
              <a:spcAft>
                <a:spcPts val="700"/>
              </a:spcAft>
            </a:pPr>
            <a:r>
              <a:rPr sz="1300" b="0" i="0">
                <a:solidFill>
                  <a:srgbClr val="3D4A58"/>
                </a:solidFill>
                <a:latin typeface="Garamond"/>
              </a:rPr>
              <a:t>•  Work authorization remains an important consideration</a:t>
            </a:r>
          </a:p>
          <a:p>
            <a:pPr>
              <a:spcAft>
                <a:spcPts val="700"/>
              </a:spcAft>
            </a:pPr>
            <a:r>
              <a:rPr sz="1300" b="0" i="0">
                <a:solidFill>
                  <a:srgbClr val="3D4A58"/>
                </a:solidFill>
                <a:latin typeface="Garamond"/>
              </a:rPr>
              <a:t>•  AI is reshaping hiring across industries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783080"/>
            <a:ext cx="5257800" cy="3520440"/>
          </a:xfrm>
          <a:prstGeom prst="rect">
            <a:avLst/>
          </a:prstGeom>
          <a:solidFill>
            <a:srgbClr val="0B1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783080"/>
            <a:ext cx="5257800" cy="3175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011680"/>
            <a:ext cx="4709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Garamond"/>
              </a:rPr>
              <a:t>China Market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7091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 i="0">
                <a:solidFill>
                  <a:srgbClr val="7EB0C8"/>
                </a:solidFill>
                <a:latin typeface="Garamond"/>
              </a:rPr>
              <a:t>•  Strong demand for technology and engineering talent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7EB0C8"/>
                </a:solidFill>
                <a:latin typeface="Garamond"/>
              </a:rPr>
              <a:t>•  Rapid growth in strategic emerging industries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7EB0C8"/>
                </a:solidFill>
                <a:latin typeface="Garamond"/>
              </a:rPr>
              <a:t>•  Increasing opportunities in AI, aerospace,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7EB0C8"/>
                </a:solidFill>
                <a:latin typeface="Garamond"/>
              </a:rPr>
              <a:t>    advanced manufacturing and the digital economy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7EB0C8"/>
                </a:solidFill>
                <a:latin typeface="Garamond"/>
              </a:rPr>
              <a:t>•  International education and experience can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7EB0C8"/>
                </a:solidFill>
                <a:latin typeface="Garamond"/>
              </a:rPr>
              <a:t>    provide differentiated value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5532120"/>
            <a:ext cx="10927080" cy="86868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5623560"/>
            <a:ext cx="10241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7A92"/>
                </a:solidFill>
                <a:latin typeface="Garamond"/>
              </a:rPr>
              <a:t>TAKEAWAY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5870448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1">
                <a:solidFill>
                  <a:srgbClr val="0E141C"/>
                </a:solidFill>
                <a:latin typeface="Garamond"/>
              </a:rPr>
              <a:t>The market is changing — and career preparation must start earlier.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7A92"/>
                </a:solidFill>
                <a:latin typeface="Garamond"/>
              </a:rPr>
              <a:t>FOUR CAREER PATHWAYS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77724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E141C"/>
                </a:solidFill>
                <a:latin typeface="Garamond"/>
              </a:rPr>
              <a:t>Which Path Is Right for You?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28800"/>
            <a:ext cx="2743200" cy="425196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2743200" cy="3175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2057400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A7A92"/>
                </a:solidFill>
                <a:latin typeface="Garamon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468880"/>
            <a:ext cx="2423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E141C"/>
                </a:solidFill>
                <a:latin typeface="Garamond"/>
              </a:rPr>
              <a:t>Build a Career</a:t>
            </a:r>
          </a:p>
          <a:p>
            <a:pPr algn="l"/>
            <a:r>
              <a:rPr sz="1700" b="1" i="0">
                <a:solidFill>
                  <a:srgbClr val="0E141C"/>
                </a:solidFill>
                <a:latin typeface="Garamond"/>
              </a:rPr>
              <a:t>in the U.S.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3703320"/>
            <a:ext cx="24231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4A58"/>
                </a:solidFill>
                <a:latin typeface="Garamond"/>
              </a:rPr>
              <a:t>Long-term employment strategy for durable roles in high-demand fields — with visa and sponsorship planning built in.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20440" y="1828800"/>
            <a:ext cx="2743200" cy="4251960"/>
          </a:xfrm>
          <a:prstGeom prst="rect">
            <a:avLst/>
          </a:prstGeom>
          <a:solidFill>
            <a:srgbClr val="0B1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520440" y="1828800"/>
            <a:ext cx="2743200" cy="3175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85032" y="2057400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7EB0C8"/>
                </a:solidFill>
                <a:latin typeface="Garamon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85032" y="2468880"/>
            <a:ext cx="2423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Garamond"/>
              </a:rPr>
              <a:t>Secure U.S.</a:t>
            </a:r>
          </a:p>
          <a:p>
            <a:pPr algn="l"/>
            <a:r>
              <a:rPr sz="1700" b="1" i="0">
                <a:solidFill>
                  <a:srgbClr val="FFFFFF"/>
                </a:solidFill>
                <a:latin typeface="Garamond"/>
              </a:rPr>
              <a:t>Internships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85032" y="3703320"/>
            <a:ext cx="24231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EB0C8"/>
                </a:solidFill>
                <a:latin typeface="Garamond"/>
              </a:rPr>
              <a:t>Near-term conversion pipeline. The highest-leverage bridge for most students testing fit and building proof.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1828800"/>
            <a:ext cx="2743200" cy="425196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1828800"/>
            <a:ext cx="2743200" cy="3175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65392" y="2057400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A7A92"/>
                </a:solidFill>
                <a:latin typeface="Garamond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65392" y="2468880"/>
            <a:ext cx="2423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E141C"/>
                </a:solidFill>
                <a:latin typeface="Garamond"/>
              </a:rPr>
              <a:t>Return to China</a:t>
            </a:r>
          </a:p>
          <a:p>
            <a:pPr algn="l"/>
            <a:r>
              <a:rPr sz="1700" b="1" i="0">
                <a:solidFill>
                  <a:srgbClr val="0E141C"/>
                </a:solidFill>
                <a:latin typeface="Garamond"/>
              </a:rPr>
              <a:t>After Graduation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65392" y="3703320"/>
            <a:ext cx="24231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4A58"/>
                </a:solidFill>
                <a:latin typeface="Garamond"/>
              </a:rPr>
              <a:t>Apply overseas credentials to domestic talent programs, high-tech sectors, and entrepreneurship pathways.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281160" y="1828800"/>
            <a:ext cx="2743200" cy="4251960"/>
          </a:xfrm>
          <a:prstGeom prst="rect">
            <a:avLst/>
          </a:prstGeom>
          <a:solidFill>
            <a:srgbClr val="0B1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281160" y="1828800"/>
            <a:ext cx="2743200" cy="3175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45752" y="2057400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7EB0C8"/>
                </a:solidFill>
                <a:latin typeface="Garamon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45752" y="2468880"/>
            <a:ext cx="2423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Garamond"/>
              </a:rPr>
              <a:t>Remote &amp;</a:t>
            </a:r>
          </a:p>
          <a:p>
            <a:pPr algn="l"/>
            <a:r>
              <a:rPr sz="1700" b="1" i="0">
                <a:solidFill>
                  <a:srgbClr val="FFFFFF"/>
                </a:solidFill>
                <a:latin typeface="Garamond"/>
              </a:rPr>
              <a:t>Cross-Border Work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45752" y="3703320"/>
            <a:ext cx="24231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EB0C8"/>
                </a:solidFill>
                <a:latin typeface="Garamond"/>
              </a:rPr>
              <a:t>Hybrid models spanning U.S. and China markets — flexibility with unique compliance and positioning needs.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7A92"/>
                </a:solidFill>
                <a:latin typeface="Garamond"/>
              </a:rPr>
              <a:t>BUILDING A CAREER IN THE U.S.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77724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E141C"/>
                </a:solidFill>
                <a:latin typeface="Garamond"/>
              </a:rPr>
              <a:t>Who Should Consider Staying in the U.S.?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783080"/>
            <a:ext cx="6858000" cy="324612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6858000" cy="3175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6309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E141C"/>
                </a:solidFill>
                <a:latin typeface="Garamond"/>
              </a:rPr>
              <a:t>Potentially Strong Fit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68880"/>
            <a:ext cx="6309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50" b="0" i="0">
                <a:solidFill>
                  <a:srgbClr val="3D4A58"/>
                </a:solidFill>
                <a:latin typeface="Garamond"/>
              </a:rPr>
              <a:t>•  Strong technical or specialized skills</a:t>
            </a:r>
          </a:p>
          <a:p>
            <a:pPr>
              <a:spcAft>
                <a:spcPts val="500"/>
              </a:spcAft>
            </a:pPr>
            <a:r>
              <a:rPr sz="1350" b="0" i="0">
                <a:solidFill>
                  <a:srgbClr val="3D4A58"/>
                </a:solidFill>
                <a:latin typeface="Garamond"/>
              </a:rPr>
              <a:t>•  Research or engineering experience</a:t>
            </a:r>
          </a:p>
          <a:p>
            <a:pPr>
              <a:spcAft>
                <a:spcPts val="500"/>
              </a:spcAft>
            </a:pPr>
            <a:r>
              <a:rPr sz="1350" b="0" i="0">
                <a:solidFill>
                  <a:srgbClr val="3D4A58"/>
                </a:solidFill>
                <a:latin typeface="Garamond"/>
              </a:rPr>
              <a:t>•  Relevant U.S. internship experience</a:t>
            </a:r>
          </a:p>
          <a:p>
            <a:pPr>
              <a:spcAft>
                <a:spcPts val="500"/>
              </a:spcAft>
            </a:pPr>
            <a:r>
              <a:rPr sz="1350" b="0" i="0">
                <a:solidFill>
                  <a:srgbClr val="3D4A58"/>
                </a:solidFill>
                <a:latin typeface="Garamond"/>
              </a:rPr>
              <a:t>•  Strong English communication skills</a:t>
            </a:r>
          </a:p>
          <a:p>
            <a:pPr>
              <a:spcAft>
                <a:spcPts val="500"/>
              </a:spcAft>
            </a:pPr>
            <a:r>
              <a:rPr sz="1350" b="0" i="0">
                <a:solidFill>
                  <a:srgbClr val="3D4A58"/>
                </a:solidFill>
                <a:latin typeface="Garamond"/>
              </a:rPr>
              <a:t>•  A clear target industry</a:t>
            </a:r>
          </a:p>
          <a:p>
            <a:pPr>
              <a:spcAft>
                <a:spcPts val="500"/>
              </a:spcAft>
            </a:pPr>
            <a:r>
              <a:rPr sz="1350" b="0" i="0">
                <a:solidFill>
                  <a:srgbClr val="3D4A58"/>
                </a:solidFill>
                <a:latin typeface="Garamond"/>
              </a:rPr>
              <a:t>•  Access to employers that hire international talent</a:t>
            </a:r>
          </a:p>
          <a:p>
            <a:pPr>
              <a:spcAft>
                <a:spcPts val="500"/>
              </a:spcAft>
            </a:pPr>
            <a:r>
              <a:rPr sz="1350" b="0" i="0">
                <a:solidFill>
                  <a:srgbClr val="3D4A58"/>
                </a:solidFill>
                <a:latin typeface="Garamond"/>
              </a:rPr>
              <a:t>•  Long-term interest in the U.S. innovation ecosystem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0" y="1783080"/>
            <a:ext cx="3794760" cy="3246120"/>
          </a:xfrm>
          <a:prstGeom prst="rect">
            <a:avLst/>
          </a:prstGeom>
          <a:solidFill>
            <a:srgbClr val="0B1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0" y="1783080"/>
            <a:ext cx="3794760" cy="3175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0" y="2057400"/>
            <a:ext cx="3246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Garamond"/>
              </a:rPr>
              <a:t>High-Value</a:t>
            </a:r>
          </a:p>
          <a:p>
            <a:pPr algn="l"/>
            <a:r>
              <a:rPr sz="1600" b="1" i="0">
                <a:solidFill>
                  <a:srgbClr val="FFFFFF"/>
                </a:solidFill>
                <a:latin typeface="Garamond"/>
              </a:rPr>
              <a:t>Career Assets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2788920"/>
            <a:ext cx="3246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 i="0">
                <a:solidFill>
                  <a:srgbClr val="7EB0C8"/>
                </a:solidFill>
                <a:latin typeface="Garamond"/>
              </a:rPr>
              <a:t>Technical Skills</a:t>
            </a:r>
          </a:p>
          <a:p>
            <a:pPr>
              <a:spcAft>
                <a:spcPts val="600"/>
              </a:spcAft>
            </a:pPr>
            <a:r>
              <a:rPr sz="1400" b="0" i="0">
                <a:solidFill>
                  <a:srgbClr val="7EB0C8"/>
                </a:solidFill>
                <a:latin typeface="Garamond"/>
              </a:rPr>
              <a:t>→  Research</a:t>
            </a:r>
          </a:p>
          <a:p>
            <a:pPr>
              <a:spcAft>
                <a:spcPts val="600"/>
              </a:spcAft>
            </a:pPr>
            <a:r>
              <a:rPr sz="1400" b="0" i="0">
                <a:solidFill>
                  <a:srgbClr val="7EB0C8"/>
                </a:solidFill>
                <a:latin typeface="Garamond"/>
              </a:rPr>
              <a:t>→  Internship</a:t>
            </a:r>
          </a:p>
          <a:p>
            <a:pPr>
              <a:spcAft>
                <a:spcPts val="600"/>
              </a:spcAft>
            </a:pPr>
            <a:r>
              <a:rPr sz="1400" b="0" i="0">
                <a:solidFill>
                  <a:srgbClr val="7EB0C8"/>
                </a:solidFill>
                <a:latin typeface="Garamond"/>
              </a:rPr>
              <a:t>→  Network</a:t>
            </a:r>
          </a:p>
          <a:p>
            <a:pPr>
              <a:spcAft>
                <a:spcPts val="600"/>
              </a:spcAft>
            </a:pPr>
            <a:r>
              <a:rPr sz="1400" b="0" i="0">
                <a:solidFill>
                  <a:srgbClr val="7EB0C8"/>
                </a:solidFill>
                <a:latin typeface="Garamond"/>
              </a:rPr>
              <a:t>→  Industry Experience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5257800"/>
            <a:ext cx="10927080" cy="91440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5486400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E141C"/>
                </a:solidFill>
                <a:latin typeface="Garamond"/>
              </a:rPr>
              <a:t>Technical Skills  →  Research  →  Internship  →  Network  →  Industry Experience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7A92"/>
                </a:solidFill>
                <a:latin typeface="Garamond"/>
              </a:rPr>
              <a:t>BUILDING A CAREER IN CHINA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77724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E141C"/>
                </a:solidFill>
                <a:latin typeface="Garamond"/>
              </a:rPr>
              <a:t>Who Should Consider Returning to China?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783080"/>
            <a:ext cx="6858000" cy="3246120"/>
          </a:xfrm>
          <a:prstGeom prst="rect">
            <a:avLst/>
          </a:prstGeom>
          <a:solidFill>
            <a:srgbClr val="0B1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6858000" cy="3175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6309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Garamond"/>
              </a:rPr>
              <a:t>Potentially Strong Fit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68880"/>
            <a:ext cx="6309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50" b="0" i="0">
                <a:solidFill>
                  <a:srgbClr val="7EB0C8"/>
                </a:solidFill>
                <a:latin typeface="Garamond"/>
              </a:rPr>
              <a:t>•  Strong academic backgrounds but limited U.S. work authorization options</a:t>
            </a:r>
          </a:p>
          <a:p>
            <a:pPr>
              <a:spcAft>
                <a:spcPts val="800"/>
              </a:spcAft>
            </a:pPr>
            <a:r>
              <a:rPr sz="1350" b="0" i="0">
                <a:solidFill>
                  <a:srgbClr val="7EB0C8"/>
                </a:solidFill>
                <a:latin typeface="Garamond"/>
              </a:rPr>
              <a:t>•  Want to enter China’s rapidly growing emerging industries</a:t>
            </a:r>
          </a:p>
          <a:p>
            <a:pPr>
              <a:spcAft>
                <a:spcPts val="800"/>
              </a:spcAft>
            </a:pPr>
            <a:r>
              <a:rPr sz="1350" b="0" i="0">
                <a:solidFill>
                  <a:srgbClr val="7EB0C8"/>
                </a:solidFill>
                <a:latin typeface="Garamond"/>
              </a:rPr>
              <a:t>•  Research or technical expertise that matches domestic industry needs</a:t>
            </a:r>
          </a:p>
          <a:p>
            <a:pPr>
              <a:spcAft>
                <a:spcPts val="800"/>
              </a:spcAft>
            </a:pPr>
            <a:r>
              <a:rPr sz="1350" b="0" i="0">
                <a:solidFill>
                  <a:srgbClr val="7EB0C8"/>
                </a:solidFill>
                <a:latin typeface="Garamond"/>
              </a:rPr>
              <a:t>•  Strong China-based professional networks</a:t>
            </a:r>
          </a:p>
          <a:p>
            <a:pPr>
              <a:spcAft>
                <a:spcPts val="800"/>
              </a:spcAft>
            </a:pPr>
            <a:r>
              <a:rPr sz="1350" b="0" i="0">
                <a:solidFill>
                  <a:srgbClr val="7EB0C8"/>
                </a:solidFill>
                <a:latin typeface="Garamond"/>
              </a:rPr>
              <a:t>•  Want to build a career closer to family or China’s business ecosystem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0" y="1783080"/>
            <a:ext cx="3794760" cy="324612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0" y="1783080"/>
            <a:ext cx="3794760" cy="3175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0" y="2057400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E141C"/>
                </a:solidFill>
                <a:latin typeface="Garamond"/>
              </a:rPr>
              <a:t>Potential Advantage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2606040"/>
            <a:ext cx="32461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3D4A58"/>
                </a:solidFill>
                <a:latin typeface="Garamond"/>
              </a:rPr>
              <a:t>International Education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3D4A58"/>
                </a:solidFill>
                <a:latin typeface="Garamond"/>
              </a:rPr>
              <a:t>+  Global Perspective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3D4A58"/>
                </a:solidFill>
                <a:latin typeface="Garamond"/>
              </a:rPr>
              <a:t>+  Specialized Skills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5257800"/>
            <a:ext cx="10927080" cy="91440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5486400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E141C"/>
                </a:solidFill>
                <a:latin typeface="Garamond"/>
              </a:rPr>
              <a:t>International Education + Global Perspective + Specialized Skills  =  a strong differentiator.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7A92"/>
                </a:solidFill>
                <a:latin typeface="Garamond"/>
              </a:rPr>
              <a:t>WHERE ARE THE OPPORTUNITIES?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77724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E141C"/>
                </a:solidFill>
                <a:latin typeface="Garamond"/>
              </a:rPr>
              <a:t>High-Potential Career Tracks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28800"/>
            <a:ext cx="2743200" cy="4251960"/>
          </a:xfrm>
          <a:prstGeom prst="rect">
            <a:avLst/>
          </a:prstGeom>
          <a:solidFill>
            <a:srgbClr val="0B1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2743200" cy="3175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2057400"/>
            <a:ext cx="2423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Garamond"/>
              </a:rPr>
              <a:t>Aerospace &amp; Space Technology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3154680"/>
            <a:ext cx="24231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7EB0C8"/>
                </a:solidFill>
                <a:latin typeface="Garamond"/>
              </a:rPr>
              <a:t>Commercial space</a:t>
            </a:r>
          </a:p>
          <a:p>
            <a:pPr algn="l"/>
            <a:r>
              <a:rPr sz="1350" b="0" i="0">
                <a:solidFill>
                  <a:srgbClr val="7EB0C8"/>
                </a:solidFill>
                <a:latin typeface="Garamond"/>
              </a:rPr>
              <a:t>Satellite technology</a:t>
            </a:r>
          </a:p>
          <a:p>
            <a:pPr algn="l"/>
            <a:r>
              <a:rPr sz="1350" b="0" i="0">
                <a:solidFill>
                  <a:srgbClr val="7EB0C8"/>
                </a:solidFill>
                <a:latin typeface="Garamond"/>
              </a:rPr>
              <a:t>Advanced propulsion</a:t>
            </a:r>
          </a:p>
          <a:p>
            <a:pPr algn="l"/>
            <a:r>
              <a:rPr sz="1350" b="0" i="0">
                <a:solidFill>
                  <a:srgbClr val="7EB0C8"/>
                </a:solidFill>
                <a:latin typeface="Garamond"/>
              </a:rPr>
              <a:t>Aerospace engineering</a:t>
            </a:r>
          </a:p>
          <a:p>
            <a:pPr algn="l"/>
            <a:r>
              <a:rPr sz="1350" b="0" i="0">
                <a:solidFill>
                  <a:srgbClr val="7EB0C8"/>
                </a:solidFill>
                <a:latin typeface="Garamond"/>
              </a:rPr>
              <a:t>Space data &amp; applications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3520440" y="1828800"/>
            <a:ext cx="2743200" cy="425196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20440" y="1828800"/>
            <a:ext cx="2743200" cy="3175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85032" y="2057400"/>
            <a:ext cx="2423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E141C"/>
                </a:solidFill>
                <a:latin typeface="Garamond"/>
              </a:rPr>
              <a:t>Technology &amp; 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85032" y="3154680"/>
            <a:ext cx="24231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3D4A58"/>
                </a:solidFill>
                <a:latin typeface="Garamond"/>
              </a:rPr>
              <a:t>Artificial Intelligence</a:t>
            </a:r>
          </a:p>
          <a:p>
            <a:pPr algn="l"/>
            <a:r>
              <a:rPr sz="1350" b="0" i="0">
                <a:solidFill>
                  <a:srgbClr val="3D4A58"/>
                </a:solidFill>
                <a:latin typeface="Garamond"/>
              </a:rPr>
              <a:t>Machine Learning</a:t>
            </a:r>
          </a:p>
          <a:p>
            <a:pPr algn="l"/>
            <a:r>
              <a:rPr sz="1350" b="0" i="0">
                <a:solidFill>
                  <a:srgbClr val="3D4A58"/>
                </a:solidFill>
                <a:latin typeface="Garamond"/>
              </a:rPr>
              <a:t>Robotics</a:t>
            </a:r>
          </a:p>
          <a:p>
            <a:pPr algn="l"/>
            <a:r>
              <a:rPr sz="1350" b="0" i="0">
                <a:solidFill>
                  <a:srgbClr val="3D4A58"/>
                </a:solidFill>
                <a:latin typeface="Garamond"/>
              </a:rPr>
              <a:t>Semiconductors</a:t>
            </a:r>
          </a:p>
          <a:p>
            <a:pPr algn="l"/>
            <a:r>
              <a:rPr sz="1350" b="0" i="0">
                <a:solidFill>
                  <a:srgbClr val="3D4A58"/>
                </a:solidFill>
                <a:latin typeface="Garamond"/>
              </a:rPr>
              <a:t>Cloud &amp; computing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1828800"/>
            <a:ext cx="2743200" cy="4251960"/>
          </a:xfrm>
          <a:prstGeom prst="rect">
            <a:avLst/>
          </a:prstGeom>
          <a:solidFill>
            <a:srgbClr val="0B1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1828800"/>
            <a:ext cx="2743200" cy="3175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65392" y="2057400"/>
            <a:ext cx="2423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Garamond"/>
              </a:rPr>
              <a:t>Advanced Manufacturing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5392" y="3154680"/>
            <a:ext cx="24231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7EB0C8"/>
                </a:solidFill>
                <a:latin typeface="Garamond"/>
              </a:rPr>
              <a:t>Automation</a:t>
            </a:r>
          </a:p>
          <a:p>
            <a:pPr algn="l"/>
            <a:r>
              <a:rPr sz="1350" b="0" i="0">
                <a:solidFill>
                  <a:srgbClr val="7EB0C8"/>
                </a:solidFill>
                <a:latin typeface="Garamond"/>
              </a:rPr>
              <a:t>Robotics</a:t>
            </a:r>
          </a:p>
          <a:p>
            <a:pPr algn="l"/>
            <a:r>
              <a:rPr sz="1350" b="0" i="0">
                <a:solidFill>
                  <a:srgbClr val="7EB0C8"/>
                </a:solidFill>
                <a:latin typeface="Garamond"/>
              </a:rPr>
              <a:t>EV &amp; mobility</a:t>
            </a:r>
          </a:p>
          <a:p>
            <a:pPr algn="l"/>
            <a:r>
              <a:rPr sz="1350" b="0" i="0">
                <a:solidFill>
                  <a:srgbClr val="7EB0C8"/>
                </a:solidFill>
                <a:latin typeface="Garamond"/>
              </a:rPr>
              <a:t>Industrial technology</a:t>
            </a:r>
          </a:p>
          <a:p>
            <a:pPr algn="l"/>
            <a:r>
              <a:rPr sz="1350" b="0" i="0">
                <a:solidFill>
                  <a:srgbClr val="7EB0C8"/>
                </a:solidFill>
                <a:latin typeface="Garamond"/>
              </a:rPr>
              <a:t>Smart manufacturing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81160" y="1828800"/>
            <a:ext cx="2743200" cy="425196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281160" y="1828800"/>
            <a:ext cx="2743200" cy="3175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45752" y="2057400"/>
            <a:ext cx="2423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E141C"/>
                </a:solidFill>
                <a:latin typeface="Garamond"/>
              </a:rPr>
              <a:t>Business &amp; Finance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45752" y="3154680"/>
            <a:ext cx="24231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3D4A58"/>
                </a:solidFill>
                <a:latin typeface="Garamond"/>
              </a:rPr>
              <a:t>Consulting</a:t>
            </a:r>
          </a:p>
          <a:p>
            <a:pPr algn="l"/>
            <a:r>
              <a:rPr sz="1350" b="0" i="0">
                <a:solidFill>
                  <a:srgbClr val="3D4A58"/>
                </a:solidFill>
                <a:latin typeface="Garamond"/>
              </a:rPr>
              <a:t>Investment &amp; finance</a:t>
            </a:r>
          </a:p>
          <a:p>
            <a:pPr algn="l"/>
            <a:r>
              <a:rPr sz="1350" b="0" i="0">
                <a:solidFill>
                  <a:srgbClr val="3D4A58"/>
                </a:solidFill>
                <a:latin typeface="Garamond"/>
              </a:rPr>
              <a:t>Business analytics</a:t>
            </a:r>
          </a:p>
          <a:p>
            <a:pPr algn="l"/>
            <a:r>
              <a:rPr sz="1350" b="0" i="0">
                <a:solidFill>
                  <a:srgbClr val="3D4A58"/>
                </a:solidFill>
                <a:latin typeface="Garamond"/>
              </a:rPr>
              <a:t>Product management</a:t>
            </a:r>
          </a:p>
          <a:p>
            <a:pPr algn="l"/>
            <a:r>
              <a:rPr sz="1350" b="0" i="0">
                <a:solidFill>
                  <a:srgbClr val="3D4A58"/>
                </a:solidFill>
                <a:latin typeface="Garamond"/>
              </a:rPr>
              <a:t>Technology strategy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7A92"/>
                </a:solidFill>
                <a:latin typeface="Garamond"/>
              </a:rPr>
              <a:t>WHAT DO EMPLOYERS REALLY WANT?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77724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E141C"/>
                </a:solidFill>
                <a:latin typeface="Garamond"/>
              </a:rPr>
              <a:t>From “Good Student” to “Competitive Candidate”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6187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6B7A8A"/>
                </a:solidFill>
                <a:latin typeface="Garamond"/>
              </a:rPr>
              <a:t>Academic credentials are only the starting point.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74519"/>
            <a:ext cx="2743200" cy="420624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874519"/>
            <a:ext cx="2743200" cy="3175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2057400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A7A92"/>
                </a:solidFill>
                <a:latin typeface="Garamon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423160"/>
            <a:ext cx="2423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E141C"/>
                </a:solidFill>
                <a:latin typeface="Garamond"/>
              </a:rPr>
              <a:t>Technical Capability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3200400"/>
            <a:ext cx="24231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4A58"/>
                </a:solidFill>
                <a:latin typeface="Garamond"/>
              </a:rPr>
              <a:t>Programming</a:t>
            </a:r>
          </a:p>
          <a:p>
            <a:pPr algn="l"/>
            <a:r>
              <a:rPr sz="1300" b="0" i="0">
                <a:solidFill>
                  <a:srgbClr val="3D4A58"/>
                </a:solidFill>
                <a:latin typeface="Garamond"/>
              </a:rPr>
              <a:t>Data analysis</a:t>
            </a:r>
          </a:p>
          <a:p>
            <a:pPr algn="l"/>
            <a:r>
              <a:rPr sz="1300" b="0" i="0">
                <a:solidFill>
                  <a:srgbClr val="3D4A58"/>
                </a:solidFill>
                <a:latin typeface="Garamond"/>
              </a:rPr>
              <a:t>Engineering</a:t>
            </a:r>
          </a:p>
          <a:p>
            <a:pPr algn="l"/>
            <a:r>
              <a:rPr sz="1300" b="0" i="0">
                <a:solidFill>
                  <a:srgbClr val="3D4A58"/>
                </a:solidFill>
                <a:latin typeface="Garamond"/>
              </a:rPr>
              <a:t>AI / ML</a:t>
            </a:r>
          </a:p>
          <a:p>
            <a:pPr algn="l"/>
            <a:r>
              <a:rPr sz="1300" b="0" i="0">
                <a:solidFill>
                  <a:srgbClr val="3D4A58"/>
                </a:solidFill>
                <a:latin typeface="Garamond"/>
              </a:rPr>
              <a:t>Industry-specific expertise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20440" y="1874519"/>
            <a:ext cx="2743200" cy="420624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20440" y="1874519"/>
            <a:ext cx="2743200" cy="3175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85032" y="2057400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A7A92"/>
                </a:solidFill>
                <a:latin typeface="Garamond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85032" y="2423160"/>
            <a:ext cx="2423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E141C"/>
                </a:solidFill>
                <a:latin typeface="Garamond"/>
              </a:rPr>
              <a:t>Practical Experience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85032" y="3200400"/>
            <a:ext cx="24231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4A58"/>
                </a:solidFill>
                <a:latin typeface="Garamond"/>
              </a:rPr>
              <a:t>Internships</a:t>
            </a:r>
          </a:p>
          <a:p>
            <a:pPr algn="l"/>
            <a:r>
              <a:rPr sz="1300" b="0" i="0">
                <a:solidFill>
                  <a:srgbClr val="3D4A58"/>
                </a:solidFill>
                <a:latin typeface="Garamond"/>
              </a:rPr>
              <a:t>Research projects</a:t>
            </a:r>
          </a:p>
          <a:p>
            <a:pPr algn="l"/>
            <a:r>
              <a:rPr sz="1300" b="0" i="0">
                <a:solidFill>
                  <a:srgbClr val="3D4A58"/>
                </a:solidFill>
                <a:latin typeface="Garamond"/>
              </a:rPr>
              <a:t>Industry projects</a:t>
            </a:r>
          </a:p>
          <a:p>
            <a:pPr algn="l"/>
            <a:r>
              <a:rPr sz="1300" b="0" i="0">
                <a:solidFill>
                  <a:srgbClr val="3D4A58"/>
                </a:solidFill>
                <a:latin typeface="Garamond"/>
              </a:rPr>
              <a:t>Startups</a:t>
            </a:r>
          </a:p>
          <a:p>
            <a:pPr algn="l"/>
            <a:r>
              <a:rPr sz="1300" b="0" i="0">
                <a:solidFill>
                  <a:srgbClr val="3D4A58"/>
                </a:solidFill>
                <a:latin typeface="Garamond"/>
              </a:rPr>
              <a:t>Competitions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1874519"/>
            <a:ext cx="2743200" cy="420624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0" y="1874519"/>
            <a:ext cx="2743200" cy="3175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65392" y="2057400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A7A92"/>
                </a:solidFill>
                <a:latin typeface="Garamon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65392" y="2423160"/>
            <a:ext cx="2423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E141C"/>
                </a:solidFill>
                <a:latin typeface="Garamond"/>
              </a:rPr>
              <a:t>Communication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65392" y="3200400"/>
            <a:ext cx="24231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4A58"/>
                </a:solidFill>
                <a:latin typeface="Garamond"/>
              </a:rPr>
              <a:t>Storytelling</a:t>
            </a:r>
          </a:p>
          <a:p>
            <a:pPr algn="l"/>
            <a:r>
              <a:rPr sz="1300" b="0" i="0">
                <a:solidFill>
                  <a:srgbClr val="3D4A58"/>
                </a:solidFill>
                <a:latin typeface="Garamond"/>
              </a:rPr>
              <a:t>Presentation</a:t>
            </a:r>
          </a:p>
          <a:p>
            <a:pPr algn="l"/>
            <a:r>
              <a:rPr sz="1300" b="0" i="0">
                <a:solidFill>
                  <a:srgbClr val="3D4A58"/>
                </a:solidFill>
                <a:latin typeface="Garamond"/>
              </a:rPr>
              <a:t>Cross-cultural communication</a:t>
            </a:r>
          </a:p>
          <a:p>
            <a:pPr algn="l"/>
            <a:r>
              <a:rPr sz="1300" b="0" i="0">
                <a:solidFill>
                  <a:srgbClr val="3D4A58"/>
                </a:solidFill>
                <a:latin typeface="Garamond"/>
              </a:rPr>
              <a:t>Teamwork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81160" y="1874519"/>
            <a:ext cx="2743200" cy="4206240"/>
          </a:xfrm>
          <a:prstGeom prst="rect">
            <a:avLst/>
          </a:prstGeom>
          <a:solidFill>
            <a:srgbClr val="0B1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81160" y="1874519"/>
            <a:ext cx="2743200" cy="3175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45752" y="2057400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7EB0C8"/>
                </a:solidFill>
                <a:latin typeface="Garamond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45752" y="2423160"/>
            <a:ext cx="2423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Garamond"/>
              </a:rPr>
              <a:t>Evidence of Impact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5752" y="3200400"/>
            <a:ext cx="24231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EB0C8"/>
                </a:solidFill>
                <a:latin typeface="Garamond"/>
              </a:rPr>
              <a:t>Don’t just tell employers what you learned.</a:t>
            </a:r>
          </a:p>
          <a:p>
            <a:pPr algn="l"/>
            <a:r>
              <a:rPr sz="1300" b="0" i="0">
                <a:solidFill>
                  <a:srgbClr val="7EB0C8"/>
                </a:solidFill>
                <a:latin typeface="Garamond"/>
              </a:rPr>
              <a:t/>
            </a:r>
          </a:p>
          <a:p>
            <a:pPr algn="l"/>
            <a:r>
              <a:rPr sz="1300" b="0" i="0">
                <a:solidFill>
                  <a:srgbClr val="7EB0C8"/>
                </a:solidFill>
                <a:latin typeface="Garamond"/>
              </a:rPr>
              <a:t>Show what you built, solved, improved, or achieved.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7A92"/>
                </a:solidFill>
                <a:latin typeface="Garamond"/>
              </a:rPr>
              <a:t>TURNING RESEARCH INTO CAREER CAPITAL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77724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E141C"/>
                </a:solidFill>
                <a:latin typeface="Garamond"/>
              </a:rPr>
              <a:t>How to Make Research Work for Your Career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6187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6B7A8A"/>
                </a:solidFill>
                <a:latin typeface="Garamond"/>
              </a:rPr>
              <a:t>Research experience can become a powerful career asset — if you know how to present 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5440680" cy="219456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544068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4892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A7A92"/>
                </a:solidFill>
                <a:latin typeface="Garamond"/>
              </a:rPr>
              <a:t>INSTEAD OF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23160"/>
            <a:ext cx="4892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3D4A58"/>
                </a:solidFill>
                <a:latin typeface="Garamond"/>
              </a:rPr>
              <a:t>“Conducted research on AI algorithms.”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783080"/>
            <a:ext cx="5257800" cy="2194560"/>
          </a:xfrm>
          <a:prstGeom prst="rect">
            <a:avLst/>
          </a:prstGeom>
          <a:solidFill>
            <a:srgbClr val="0B1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0" y="1783080"/>
            <a:ext cx="525780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709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7EB0C8"/>
                </a:solidFill>
                <a:latin typeface="Garamond"/>
              </a:rPr>
              <a:t>SHOW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377440"/>
            <a:ext cx="4709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Garamond"/>
              </a:rPr>
              <a:t>Problem → Method → Technical Contribution → Result → Impact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206240"/>
            <a:ext cx="10927080" cy="1874519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389120"/>
            <a:ext cx="10241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A7A92"/>
                </a:solidFill>
                <a:latin typeface="Garamond"/>
              </a:rPr>
              <a:t>EXAMPLE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4754880"/>
            <a:ext cx="10241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E141C"/>
                </a:solidFill>
                <a:latin typeface="Garamond"/>
              </a:rPr>
              <a:t>Developed an ML-based optimization model that improved prediction accuracy by XX%</a:t>
            </a:r>
          </a:p>
          <a:p>
            <a:pPr algn="l"/>
            <a:r>
              <a:rPr sz="1500" b="0" i="0">
                <a:solidFill>
                  <a:srgbClr val="0E141C"/>
                </a:solidFill>
                <a:latin typeface="Garamond"/>
              </a:rPr>
              <a:t>and reduced processing time by XX%.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5486400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3D4A58"/>
                </a:solidFill>
                <a:latin typeface="Garamond"/>
              </a:rPr>
              <a:t>Research  →  Resume  →  Interview  →  Job    ·    Connect your research story directly to the role you want.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7A92"/>
                </a:solidFill>
                <a:latin typeface="Garamond"/>
              </a:rPr>
              <a:t>THE INTERNATIONAL STUDENT CAREER PLAYBOOK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77724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E141C"/>
                </a:solidFill>
                <a:latin typeface="Garamond"/>
              </a:rPr>
              <a:t>Build Your Career Before You Need a Job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783080"/>
            <a:ext cx="2743200" cy="429768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2743200" cy="3175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2011680"/>
            <a:ext cx="2423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A7A92"/>
                </a:solidFill>
                <a:latin typeface="Garamond"/>
              </a:rPr>
              <a:t>Freshman /</a:t>
            </a:r>
          </a:p>
          <a:p>
            <a:pPr algn="l"/>
            <a:r>
              <a:rPr sz="1400" b="1" i="0">
                <a:solidFill>
                  <a:srgbClr val="4A7A92"/>
                </a:solidFill>
                <a:latin typeface="Garamond"/>
              </a:rPr>
              <a:t>Sophomore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83464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E141C"/>
                </a:solidFill>
                <a:latin typeface="Garamond"/>
              </a:rPr>
              <a:t>Explore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3429000"/>
            <a:ext cx="24231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4A58"/>
                </a:solidFill>
                <a:latin typeface="Garamond"/>
              </a:rPr>
              <a:t>Identify industries</a:t>
            </a:r>
          </a:p>
          <a:p>
            <a:pPr algn="l"/>
            <a:r>
              <a:rPr sz="1300" b="0" i="0">
                <a:solidFill>
                  <a:srgbClr val="3D4A58"/>
                </a:solidFill>
                <a:latin typeface="Garamond"/>
              </a:rPr>
              <a:t>Build foundational skills</a:t>
            </a:r>
          </a:p>
          <a:p>
            <a:pPr algn="l"/>
            <a:r>
              <a:rPr sz="1300" b="0" i="0">
                <a:solidFill>
                  <a:srgbClr val="3D4A58"/>
                </a:solidFill>
                <a:latin typeface="Garamond"/>
              </a:rPr>
              <a:t>Join research / projects</a:t>
            </a:r>
          </a:p>
          <a:p>
            <a:pPr algn="l"/>
            <a:r>
              <a:rPr sz="1300" b="0" i="0">
                <a:solidFill>
                  <a:srgbClr val="3D4A58"/>
                </a:solidFill>
                <a:latin typeface="Garamond"/>
              </a:rPr>
              <a:t>Start networking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20440" y="1783080"/>
            <a:ext cx="2743200" cy="4297680"/>
          </a:xfrm>
          <a:prstGeom prst="rect">
            <a:avLst/>
          </a:prstGeom>
          <a:solidFill>
            <a:srgbClr val="0B1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520440" y="1783080"/>
            <a:ext cx="2743200" cy="3175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85032" y="2011680"/>
            <a:ext cx="2423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7EB0C8"/>
                </a:solidFill>
                <a:latin typeface="Garamond"/>
              </a:rPr>
              <a:t>Junior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85032" y="283464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Garamond"/>
              </a:rPr>
              <a:t>Differentiate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85032" y="3429000"/>
            <a:ext cx="24231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EB0C8"/>
                </a:solidFill>
                <a:latin typeface="Garamond"/>
              </a:rPr>
              <a:t>Secure internships</a:t>
            </a:r>
          </a:p>
          <a:p>
            <a:pPr algn="l"/>
            <a:r>
              <a:rPr sz="1300" b="0" i="0">
                <a:solidFill>
                  <a:srgbClr val="7EB0C8"/>
                </a:solidFill>
                <a:latin typeface="Garamond"/>
              </a:rPr>
              <a:t>Develop specialized expertise</a:t>
            </a:r>
          </a:p>
          <a:p>
            <a:pPr algn="l"/>
            <a:r>
              <a:rPr sz="1300" b="0" i="0">
                <a:solidFill>
                  <a:srgbClr val="7EB0C8"/>
                </a:solidFill>
                <a:latin typeface="Garamond"/>
              </a:rPr>
              <a:t>Build a strong resume</a:t>
            </a:r>
          </a:p>
          <a:p>
            <a:pPr algn="l"/>
            <a:r>
              <a:rPr sz="1300" b="0" i="0">
                <a:solidFill>
                  <a:srgbClr val="7EB0C8"/>
                </a:solidFill>
                <a:latin typeface="Garamond"/>
              </a:rPr>
              <a:t>Expand professional network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1783080"/>
            <a:ext cx="2743200" cy="429768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1783080"/>
            <a:ext cx="2743200" cy="3175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65392" y="2011680"/>
            <a:ext cx="2423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A7A92"/>
                </a:solidFill>
                <a:latin typeface="Garamond"/>
              </a:rPr>
              <a:t>Senior /</a:t>
            </a:r>
          </a:p>
          <a:p>
            <a:pPr algn="l"/>
            <a:r>
              <a:rPr sz="1400" b="1" i="0">
                <a:solidFill>
                  <a:srgbClr val="4A7A92"/>
                </a:solidFill>
                <a:latin typeface="Garamond"/>
              </a:rPr>
              <a:t>Master’s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65392" y="283464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E141C"/>
                </a:solidFill>
                <a:latin typeface="Garamond"/>
              </a:rPr>
              <a:t>Convert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65392" y="3429000"/>
            <a:ext cx="24231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4A58"/>
                </a:solidFill>
                <a:latin typeface="Garamond"/>
              </a:rPr>
              <a:t>Target specific employers</a:t>
            </a:r>
          </a:p>
          <a:p>
            <a:pPr algn="l"/>
            <a:r>
              <a:rPr sz="1300" b="0" i="0">
                <a:solidFill>
                  <a:srgbClr val="3D4A58"/>
                </a:solidFill>
                <a:latin typeface="Garamond"/>
              </a:rPr>
              <a:t>Apply strategically</a:t>
            </a:r>
          </a:p>
          <a:p>
            <a:pPr algn="l"/>
            <a:r>
              <a:rPr sz="1300" b="0" i="0">
                <a:solidFill>
                  <a:srgbClr val="3D4A58"/>
                </a:solidFill>
                <a:latin typeface="Garamond"/>
              </a:rPr>
              <a:t>Leverage referrals</a:t>
            </a:r>
          </a:p>
          <a:p>
            <a:pPr algn="l"/>
            <a:r>
              <a:rPr sz="1300" b="0" i="0">
                <a:solidFill>
                  <a:srgbClr val="3D4A58"/>
                </a:solidFill>
                <a:latin typeface="Garamond"/>
              </a:rPr>
              <a:t>Prepare for interviews</a:t>
            </a:r>
          </a:p>
          <a:p>
            <a:pPr algn="l"/>
            <a:r>
              <a:rPr sz="1300" b="0" i="0">
                <a:solidFill>
                  <a:srgbClr val="3D4A58"/>
                </a:solidFill>
                <a:latin typeface="Garamond"/>
              </a:rPr>
              <a:t>Evaluate U.S. vs. China options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281160" y="1783080"/>
            <a:ext cx="2743200" cy="4297680"/>
          </a:xfrm>
          <a:prstGeom prst="rect">
            <a:avLst/>
          </a:prstGeom>
          <a:solidFill>
            <a:srgbClr val="0B1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281160" y="1783080"/>
            <a:ext cx="2743200" cy="3175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45752" y="2011680"/>
            <a:ext cx="2423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7EB0C8"/>
                </a:solidFill>
                <a:latin typeface="Garamond"/>
              </a:rPr>
              <a:t>PhD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45752" y="283464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Garamond"/>
              </a:rPr>
              <a:t>Position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45752" y="3429000"/>
            <a:ext cx="24231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EB0C8"/>
                </a:solidFill>
                <a:latin typeface="Garamond"/>
              </a:rPr>
              <a:t>Research → Industry</a:t>
            </a:r>
          </a:p>
          <a:p>
            <a:pPr algn="l"/>
            <a:r>
              <a:rPr sz="1300" b="0" i="0">
                <a:solidFill>
                  <a:srgbClr val="7EB0C8"/>
                </a:solidFill>
                <a:latin typeface="Garamond"/>
              </a:rPr>
              <a:t>Research → Academia</a:t>
            </a:r>
          </a:p>
          <a:p>
            <a:pPr algn="l"/>
            <a:r>
              <a:rPr sz="1300" b="0" i="0">
                <a:solidFill>
                  <a:srgbClr val="7EB0C8"/>
                </a:solidFill>
                <a:latin typeface="Garamond"/>
              </a:rPr>
              <a:t>Startup / Entrepreneurship</a:t>
            </a:r>
          </a:p>
          <a:p>
            <a:pPr algn="l"/>
            <a:r>
              <a:rPr sz="1300" b="0" i="0">
                <a:solidFill>
                  <a:srgbClr val="7EB0C8"/>
                </a:solidFill>
                <a:latin typeface="Garamond"/>
              </a:rPr>
              <a:t>U.S. vs. China research ecosystems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7A92"/>
                </a:solidFill>
                <a:latin typeface="Garamond"/>
              </a:rPr>
              <a:t>YOUR 90-DAY CAREER ACTION PLAN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77724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E141C"/>
                </a:solidFill>
                <a:latin typeface="Garamond"/>
              </a:rPr>
              <a:t>What Should You Do Next?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783080"/>
            <a:ext cx="3566160" cy="352044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3566160" cy="3175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2011680"/>
            <a:ext cx="3154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A7A92"/>
                </a:solidFill>
                <a:latin typeface="Garamond"/>
              </a:rPr>
              <a:t>MONTH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377440"/>
            <a:ext cx="3154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E141C"/>
                </a:solidFill>
                <a:latin typeface="Garamond"/>
              </a:rPr>
              <a:t>Position Yourself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971800"/>
            <a:ext cx="31546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3D4A58"/>
                </a:solidFill>
                <a:latin typeface="Garamond"/>
              </a:rPr>
              <a:t>•  Define your target industry</a:t>
            </a:r>
          </a:p>
          <a:p>
            <a:pPr algn="l"/>
            <a:r>
              <a:rPr sz="1350" b="0" i="0">
                <a:solidFill>
                  <a:srgbClr val="3D4A58"/>
                </a:solidFill>
                <a:latin typeface="Garamond"/>
              </a:rPr>
              <a:t>•  Identify 10–20 target companies</a:t>
            </a:r>
          </a:p>
          <a:p>
            <a:pPr algn="l"/>
            <a:r>
              <a:rPr sz="1350" b="0" i="0">
                <a:solidFill>
                  <a:srgbClr val="3D4A58"/>
                </a:solidFill>
                <a:latin typeface="Garamond"/>
              </a:rPr>
              <a:t>•  Audit your resume and LinkedIn</a:t>
            </a:r>
          </a:p>
          <a:p>
            <a:pPr algn="l"/>
            <a:r>
              <a:rPr sz="1350" b="0" i="0">
                <a:solidFill>
                  <a:srgbClr val="3D4A58"/>
                </a:solidFill>
                <a:latin typeface="Garamond"/>
              </a:rPr>
              <a:t>•  Identify skill gaps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19" y="1783080"/>
            <a:ext cx="3566160" cy="3520440"/>
          </a:xfrm>
          <a:prstGeom prst="rect">
            <a:avLst/>
          </a:prstGeom>
          <a:solidFill>
            <a:srgbClr val="0B1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19" y="1783080"/>
            <a:ext cx="3566160" cy="3175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0287" y="2011680"/>
            <a:ext cx="3154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7EB0C8"/>
                </a:solidFill>
                <a:latin typeface="Garamond"/>
              </a:rPr>
              <a:t>MONTH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0287" y="2377440"/>
            <a:ext cx="3154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Garamond"/>
              </a:rPr>
              <a:t>Build Your Evidence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0287" y="2971800"/>
            <a:ext cx="31546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7EB0C8"/>
                </a:solidFill>
                <a:latin typeface="Garamond"/>
              </a:rPr>
              <a:t>•  Complete a relevant project</a:t>
            </a:r>
          </a:p>
          <a:p>
            <a:pPr algn="l"/>
            <a:r>
              <a:rPr sz="1350" b="0" i="0">
                <a:solidFill>
                  <a:srgbClr val="7EB0C8"/>
                </a:solidFill>
                <a:latin typeface="Garamond"/>
              </a:rPr>
              <a:t>•  Strengthen technical skills</a:t>
            </a:r>
          </a:p>
          <a:p>
            <a:pPr algn="l"/>
            <a:r>
              <a:rPr sz="1350" b="0" i="0">
                <a:solidFill>
                  <a:srgbClr val="7EB0C8"/>
                </a:solidFill>
                <a:latin typeface="Garamond"/>
              </a:rPr>
              <a:t>•  Connect with alumni and professionals</a:t>
            </a:r>
          </a:p>
          <a:p>
            <a:pPr algn="l"/>
            <a:r>
              <a:rPr sz="1350" b="0" i="0">
                <a:solidFill>
                  <a:srgbClr val="7EB0C8"/>
                </a:solidFill>
                <a:latin typeface="Garamond"/>
              </a:rPr>
              <a:t>•  Start informational interviews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38158" y="1783080"/>
            <a:ext cx="3566160" cy="352044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8158" y="1783080"/>
            <a:ext cx="3566160" cy="3175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6" y="2011680"/>
            <a:ext cx="3154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A7A92"/>
                </a:solidFill>
                <a:latin typeface="Garamond"/>
              </a:rPr>
              <a:t>MONTH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9326" y="2377440"/>
            <a:ext cx="3154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E141C"/>
                </a:solidFill>
                <a:latin typeface="Garamond"/>
              </a:rPr>
              <a:t>Enter the Market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9326" y="2971800"/>
            <a:ext cx="31546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3D4A58"/>
                </a:solidFill>
                <a:latin typeface="Garamond"/>
              </a:rPr>
              <a:t>•  Apply to targeted positions</a:t>
            </a:r>
          </a:p>
          <a:p>
            <a:pPr algn="l"/>
            <a:r>
              <a:rPr sz="1350" b="0" i="0">
                <a:solidFill>
                  <a:srgbClr val="3D4A58"/>
                </a:solidFill>
                <a:latin typeface="Garamond"/>
              </a:rPr>
              <a:t>•  Ask for referrals</a:t>
            </a:r>
          </a:p>
          <a:p>
            <a:pPr algn="l"/>
            <a:r>
              <a:rPr sz="1350" b="0" i="0">
                <a:solidFill>
                  <a:srgbClr val="3D4A58"/>
                </a:solidFill>
                <a:latin typeface="Garamond"/>
              </a:rPr>
              <a:t>•  Practice interviews</a:t>
            </a:r>
          </a:p>
          <a:p>
            <a:pPr algn="l"/>
            <a:r>
              <a:rPr sz="1350" b="0" i="0">
                <a:solidFill>
                  <a:srgbClr val="3D4A58"/>
                </a:solidFill>
                <a:latin typeface="Garamond"/>
              </a:rPr>
              <a:t>•  Track applications and networking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532120"/>
            <a:ext cx="10927080" cy="868680"/>
          </a:xfrm>
          <a:prstGeom prst="rect">
            <a:avLst/>
          </a:prstGeom>
          <a:solidFill>
            <a:srgbClr val="0B1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5623560"/>
            <a:ext cx="10241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EB0C8"/>
                </a:solidFill>
                <a:latin typeface="Garamond"/>
              </a:rPr>
              <a:t>THE GOAL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5870448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1">
                <a:solidFill>
                  <a:srgbClr val="FFFFFF"/>
                </a:solidFill>
                <a:latin typeface="Garamond"/>
              </a:rPr>
              <a:t>From “I need a job”  →  “I have a clear career strategy.”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7A92"/>
                </a:solidFill>
                <a:latin typeface="Garamond"/>
              </a:rPr>
              <a:t>FINAL 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77724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E141C"/>
                </a:solidFill>
                <a:latin typeface="Garamond"/>
              </a:rPr>
              <a:t>5 Things to Remember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10927080" cy="77724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38528"/>
            <a:ext cx="594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4A7A92"/>
                </a:solidFill>
                <a:latin typeface="Garamon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184708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E141C"/>
                </a:solidFill>
                <a:latin typeface="Garamond"/>
              </a:rPr>
              <a:t>Start early.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148840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4A58"/>
                </a:solidFill>
                <a:latin typeface="Garamond"/>
              </a:rPr>
              <a:t>Career planning should begin years before graduation.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606040"/>
            <a:ext cx="10927080" cy="77724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807208"/>
            <a:ext cx="594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4A7A92"/>
                </a:solidFill>
                <a:latin typeface="Garamon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271576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E141C"/>
                </a:solidFill>
                <a:latin typeface="Garamond"/>
              </a:rPr>
              <a:t>Skills matter more than labels.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3017520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4A58"/>
                </a:solidFill>
                <a:latin typeface="Garamond"/>
              </a:rPr>
              <a:t>Your degree opens the door; your capabilities get you hired.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474720"/>
            <a:ext cx="10927080" cy="77724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675888"/>
            <a:ext cx="594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4A7A92"/>
                </a:solidFill>
                <a:latin typeface="Garamond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358444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E141C"/>
                </a:solidFill>
                <a:latin typeface="Garamond"/>
              </a:rPr>
              <a:t>Experience beats intention.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3886200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4A58"/>
                </a:solidFill>
                <a:latin typeface="Garamond"/>
              </a:rPr>
              <a:t>Internships, research and projects create evidence of your value.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343400"/>
            <a:ext cx="10927080" cy="77724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44568"/>
            <a:ext cx="594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4A7A92"/>
                </a:solidFill>
                <a:latin typeface="Garamond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445312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E141C"/>
                </a:solidFill>
                <a:latin typeface="Garamond"/>
              </a:rPr>
              <a:t>Build two options.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754880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4A58"/>
                </a:solidFill>
                <a:latin typeface="Garamond"/>
              </a:rPr>
              <a:t>Don’t wait until graduation to decide between the U.S. and China.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5212080"/>
            <a:ext cx="10927080" cy="77724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413248"/>
            <a:ext cx="594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4A7A92"/>
                </a:solidFill>
                <a:latin typeface="Garamond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45920" y="532180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E141C"/>
                </a:solidFill>
                <a:latin typeface="Garamond"/>
              </a:rPr>
              <a:t>Choose strategically, not emotionally.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5920" y="5623560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4A58"/>
                </a:solidFill>
                <a:latin typeface="Garamond"/>
              </a:rPr>
              <a:t>The best path maximizes long-term career capital — not only today’s salary.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