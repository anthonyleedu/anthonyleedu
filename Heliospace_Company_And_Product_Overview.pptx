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0" y="0"/>
            <a:ext cx="341345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417320"/>
            <a:ext cx="21945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74980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AUGUST 18, 2026  ·  SESSION I  ·  2:10 – 3:20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7589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aramond"/>
              </a:rPr>
              <a:t>Career Planning for</a:t>
            </a:r>
          </a:p>
          <a:p>
            <a:pPr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aramond"/>
              </a:rPr>
              <a:t>International Students</a:t>
            </a:r>
          </a:p>
          <a:p>
            <a:pPr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Garamond"/>
              </a:rPr>
              <a:t>in the U.S.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7200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7EB0C8"/>
                </a:solidFill>
                <a:latin typeface="Garamond"/>
              </a:rPr>
              <a:t>North American International Students:</a:t>
            </a:r>
          </a:p>
          <a:p>
            <a:pPr algn="l"/>
            <a:r>
              <a:rPr sz="1400" b="0" i="1">
                <a:solidFill>
                  <a:srgbClr val="7EB0C8"/>
                </a:solidFill>
                <a:latin typeface="Garamond"/>
              </a:rPr>
              <a:t>High-End Employment &amp; Commercial Space Opportunities Forum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5303520"/>
            <a:ext cx="1280160" cy="15875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577840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7A8A"/>
                </a:solidFill>
                <a:latin typeface="Garamond"/>
              </a:rPr>
              <a:t>Presented by Rocky Chen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897880"/>
            <a:ext cx="74980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Keynote presentation + live Q&amp;A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III · SESSION I · 2:10 – 3:20 PM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Featured Topic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27080" cy="402336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270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688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FEATURED TOPIC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9966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Garamond"/>
              </a:rPr>
              <a:t>Career Pathways for International Students</a:t>
            </a:r>
          </a:p>
          <a:p>
            <a:pPr algn="l"/>
            <a:r>
              <a:rPr sz="2600" b="1" i="0">
                <a:solidFill>
                  <a:srgbClr val="FFFFFF"/>
                </a:solidFill>
                <a:latin typeface="Garamond"/>
              </a:rPr>
              <a:t>in the Post-Pandemic Era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389120"/>
            <a:ext cx="146304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709160"/>
            <a:ext cx="9966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7EB0C8"/>
                </a:solidFill>
                <a:latin typeface="Garamond"/>
              </a:rPr>
              <a:t>Building a Career in the U.S.  vs.  Returning to China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III · SESSION I · 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Key Discussion Topics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Five focus areas across the 2:10 – 3:20 PM 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27080" cy="74980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762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139696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The Current U.S. Job 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45059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2026 employment landscape, policies, visas, industries, and what employers seek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834640"/>
            <a:ext cx="10927080" cy="74980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962656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Customized Career Planning Strategies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7355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Stage-specific guidance and four major pathways — with advantages and ideal profiles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657600"/>
            <a:ext cx="10927080" cy="74980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221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3785616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Practical Job-Search Strategies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409651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Resume, interviews, research translation, referrals, and emerging-industry entry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480560"/>
            <a:ext cx="10927080" cy="74980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4515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608576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Career Opportunities Returning to China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91947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Talent programs, incentives, high-tech, commercial space, digital economy, and gaps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03520"/>
            <a:ext cx="10927080" cy="74980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681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7A92"/>
                </a:solidFill>
                <a:latin typeface="Garamond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5431536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Live Q&amp;A &amp; Interactive Discussion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742432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Individual career questions on tracks, transitions, immigration, and common pitfalls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8100" cy="246888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1) THE CURRENT U.S. JOB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2316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2026 Employment Landscape</a:t>
            </a:r>
          </a:p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for International Students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20624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aramond"/>
              </a:rPr>
              <a:t>Policies  ·  Visas  ·  High-growth tracks  ·  Employer demand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Session I  ·  2:10 – 3:20 PM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1) U.S.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The 2026 Employment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An analysis of policies affecting new graduates, visa considerations, and high-growth career tracks.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03120"/>
            <a:ext cx="3566160" cy="39319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3774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Policy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17520"/>
            <a:ext cx="3154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Graduate hiring is shaped by evolving immigration and labor rules. Timing of offers, start dates, and sponsorship decisions increasingly depend on how employers interpret policy risk — not only candidate quality.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103120"/>
            <a:ext cx="3566160" cy="393192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10312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3774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Visa Considerations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3017520"/>
            <a:ext cx="3154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CPT, OPT, STEM OPT extension, and H-1B pathways remain central. Candidates must align internship timing, degree program, and employer sponsorship capacity early — ideally before senior-year recruiting peaks.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103120"/>
            <a:ext cx="3566160" cy="39319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10312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37744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High-Growth Tracks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3017520"/>
            <a:ext cx="3154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Demand concentrates in roles where technical depth, applied projects, and cross-border fluency create leverage: AI-adjacent tech, aerospace systems, advanced manufacturing, and specialized finance.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1) U.S.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Priority Industries for International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Fields where international academic training is especially relevant in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3566160" cy="2011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Science &amp; 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7919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Core STEM pipelines from research labs into product, data, and R&amp;D roles. Strong fit for candidates with rigorous academic credentials and applied project evidence.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057400"/>
            <a:ext cx="3566160" cy="2011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2219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Aerospace &amp;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Commercial 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7919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Launch systems, satellites, space infrastructure, and mission support. Growing demand for engineering, systems, and operations talent with global exposure.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057400"/>
            <a:ext cx="3566160" cy="2011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2219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Internet &amp;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7919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Software, AI, platforms, product, and infrastructure roles. Competitive, but still among the highest-volume paths for OPT-eligible graduates.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3566160" cy="2011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7083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Business &amp;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82803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Corporate strategy, consulting, markets, and fintech. Values analytical rigor, communication, and internship conversion — sponsorship varies sharply by firm.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206240"/>
            <a:ext cx="3566160" cy="2011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1999" y="437083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Advanced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Manufacturing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482803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Hardware, robotics, semiconductors, and industrial tech. Opportunity for candidates who can bridge research, process engineering, and scaled production.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206240"/>
            <a:ext cx="3566160" cy="2011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38" y="437083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Emerging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Industries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8" y="4828032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D4A58"/>
                </a:solidFill>
                <a:latin typeface="Garamond"/>
              </a:rPr>
              <a:t>New sectors forming around climate tech, autonomy, dual-use systems, and space-enabled services — often less crowded entry points with higher upside.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1) U.S. JOB MARKET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Hiring Trends &amp; Employer Qualifications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What employers are actively screening for — beyond the degree line on a résumé.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22199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22199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Technical &amp; Applied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6060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Coursework alone is rarely enough — projects, labs, and shipped work matter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Evidence of ownership: design decisions, tradeoffs, measurable outcomes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Domain relevance to the team’s product or mission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05740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205740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8" y="222199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22199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Communication &amp; Judgment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60604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Ability to explain complex work to non-specialists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Cross-functional collaboration signals in team settings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Clear, concise storytelling in interviews and written materials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0624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37083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3708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Sponsorship &amp; Timeline Fit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7548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Employers weigh visa feasibility against role urgency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Candidates who plan CPT/OPT timing reduce friction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Intern-to-full-time conversion remains a preferred risk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20624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20624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10528" y="4370832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4370832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Differentiated Strengths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0528" y="475488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Research that maps to market problems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Bilingual / cross-market fluency as a strategic asset</a:t>
            </a:r>
          </a:p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•  Emerging-industry curiosity with concrete entry experiments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8100" cy="246888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2) CUSTOMIZED CAREER PLANNING STRATEGIES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2316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Stage-Specific Planning</a:t>
            </a:r>
          </a:p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&amp; Four Major Pathways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20624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aramond"/>
              </a:rPr>
              <a:t>Freshmen to Ph.D.  ·  U.S. careers  ·  Internships  ·  Return  ·  Cross-border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Session I  ·  2:10 – 3:20 PM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Stage-Specific Strategies: Undergraduates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Priorities shift sharply between exploration years and conversion years.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01  ·  FRESHMEN &amp; SOPHOMORES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Explore, Build Foundations, Position Early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48920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Map industries of interest — tech, aerospace, finance, manufacturing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Build GPA and core skills without over-specializing too early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Seek research assistants, student orgs, and first project portfolios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Learn CPT rules and summer internship calendars before junior year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Begin light networking: alumni, faculty, and campus career services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Ideal outcome: clarity on 2–3 target tracks + one internship attempt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2578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2578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B0C8"/>
                </a:solidFill>
                <a:latin typeface="Garamond"/>
              </a:rPr>
              <a:t>02  ·  JUNIORS &amp; SENIORS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23160"/>
            <a:ext cx="4709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Convert Academics into Offers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71800"/>
            <a:ext cx="4709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Treat recruiting as a project with milestones and deadlines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Prioritize internship → return-offer pipelines where possible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Align major projects with target industry language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Model sponsorship likelihood by company and role type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Prepare a dual plan: U.S. full-time vs. return-to-China options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Ideal outcome: at least one strong offer path with visa clarity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Stage-Specific Strategies: Graduate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Master’s and Ph.D. timelines compress — strategy must be sharper.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44068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92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7EB0C8"/>
                </a:solidFill>
                <a:latin typeface="Garamond"/>
              </a:rPr>
              <a:t>03  ·  MASTER’S 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4892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Compress Timelines,</a:t>
            </a:r>
          </a:p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Leverage Prior Experience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54680"/>
            <a:ext cx="4892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Many programs are 1–2 years — recruiting starts almost immediately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Convert prior work/research into a U.S.-market narrative quickly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Target roles that match both degree focus and visa-feasible hiring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Decide early: U.S. stay, internship first, or return pathway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Use career fairs, alumni, and faculty intros with precision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Ideal outcome: a defined pathway within the first semester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25780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828800"/>
            <a:ext cx="52578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4709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04  ·  PH.D. STUDENTS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23160"/>
            <a:ext cx="4709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Translate Research into</a:t>
            </a:r>
          </a:p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Market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54680"/>
            <a:ext cx="47091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Reframe publications as problem-solving proof for industry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Choose among industry R&amp;D, applied roles, or entrepreneurship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Map lab skills to commercial space, AI, hardware, or deep tech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Evaluate return-to-China talent programs with research leverage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Build a non-academic network before the final year</a:t>
            </a:r>
          </a:p>
          <a:p>
            <a:pPr>
              <a:spcAft>
                <a:spcPts val="7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Ideal outcome: a market narrative that stands without academia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Four Major Career Pathways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Each pathway has distinct advantages, challenges, and ideal candidate profiles.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78024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Build a Career in the U.S.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5074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Long-term employment and sponsorship strategy for candidates targeting durable U.S. roles.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205740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205740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78024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Secure U.S. Internships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926080"/>
            <a:ext cx="5074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Near-term conversion pipeline — the most important bridge for many students.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0624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525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626864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Return to China After Graduation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74920"/>
            <a:ext cx="5074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Overseas credentials applied to domestic talent programs, high-tech, and entrepreneurship.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206240"/>
            <a:ext cx="544068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206240"/>
            <a:ext cx="544068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3525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626864"/>
            <a:ext cx="5074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Remote &amp; Cross-Border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5074920"/>
            <a:ext cx="5074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Hybrid models spanning U.S. and China markets with unique compliance and positioning needs.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 · PATHWAY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Building a Career in the United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Advantages, challenges, and who this path fits best.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Access to leading firms and deep technical ecosystems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Strong compensation in high-growth sectors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Internship-to-full-time conversion culture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Long-term compounding of U.S. experience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Challenges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Visa and sponsorship uncertainty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Highly competitive recruiting cycles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Role/geography constraints for sponsorship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Longer planning horizon under policy risk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828800"/>
            <a:ext cx="356616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Ideal Candidate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Strong fit for high-demand technical or analytical roles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Clear internship or project evidence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Comfortable navigating multi-year immigration planning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Targets employers with proven sponsorship history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 · PATHWAY 02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Securing Internships in the United States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The highest-leverage near-term move for most international students.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6616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Low-risk way to test industry fit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Primary conversion path to full-time offers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Builds U.S. work references and vocabulary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Clarifies sponsorship reality before graduation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Challenges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Early application deadlines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CPT/OPT timing constraints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Limited slots at brand-name employers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Requires polished materials while still studying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Ideal Candidate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Freshmen–master’s students in conversion windows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Has projects or coursework mapped to role families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Willing to pursue both brand and high-fit mid-size firms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Treats summer as a strategic career investment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 · PATHWAY 03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Returning to China After Graduation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Overseas education as leverage for domestic opportunity.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Access to returnee talent programs and incentives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Strong demand in high-tech and emerging sectors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Cultural and language fluency as an asset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Faster path to leadership in growth companies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828800"/>
            <a:ext cx="356616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Challenges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Need to retranslate U.S. experience for local markets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Network rebuilding after years abroad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Industry and city choices matter enormously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Timing return around market and policy cycles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Ideal Candidate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Clear industry thesis for the China market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Can articulate overseas differentiation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Open to entrepreneurship or high-growth tech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Values long-term China career compounding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2) CAREER PLANNING · PATHWAY 04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Remote &amp; Cross-Border Employment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Flexibility across markets — with non-trivial complexity.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Access to opportunity without a single-country bet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Useful for consulting, research, product, and startups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Can bridge U.S. employers and China operations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Preserves optionality during policy uncertainty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1828800"/>
            <a:ext cx="356616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7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E141C"/>
                </a:solidFill>
                <a:latin typeface="Garamond"/>
              </a:rPr>
              <a:t>Challenges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7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Compliance, tax, and work-authorization complexity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Harder to build deep local networks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Employers may undervalue fully remote international profiles</a:t>
            </a:r>
          </a:p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•  Requires unusually strong self-management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1828800"/>
            <a:ext cx="356616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1828800"/>
            <a:ext cx="356616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10312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Garamond"/>
              </a:rPr>
              <a:t>Ideal Candidate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6" y="2697480"/>
            <a:ext cx="3154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Independent operators with proven remote delivery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Roles that are outcome-based rather than location-based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Comfortable with dual-market communication</a:t>
            </a:r>
          </a:p>
          <a:p>
            <a:pPr algn="l"/>
            <a:r>
              <a:rPr sz="1300" b="0" i="0">
                <a:solidFill>
                  <a:srgbClr val="7EB0C8"/>
                </a:solidFill>
                <a:latin typeface="Garamond"/>
              </a:rPr>
              <a:t>•  Often pairs this path with a longer-term geographic 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8100" cy="246888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3) PRACTICAL JOB-SEARCH STRATEGIES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2316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High-Growth Industry</a:t>
            </a:r>
          </a:p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Playbook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20624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aramond"/>
              </a:rPr>
              <a:t>Technology  ·  Aerospace  ·  Commercial space  ·  Advanced manufacturing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Session I  ·  2:10 – 3:20 PM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Six Levers That Move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Practical guidance for cutting-edge sectors — executed as a system, not a checklist.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Resume Optimization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Translate academics into employer-ready impact statements.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19" y="205740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19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Interview 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Technical depth, storytelling, and sponsorship-ready clarity.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8" y="205740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58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Leverage Academic &amp; Research Experience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292608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Turn labs, papers, and projects into proof.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0624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3525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6268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Marketable Professional Strengths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0749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Map research skills to hired capabilities.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19" y="420624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19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1999" y="43525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46268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Referrals &amp; Internal Networks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1999" y="50749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Access roles before they hit public boards.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58" y="420624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58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38" y="435254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8" y="462686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Emerging Industry Mapping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38" y="50749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Enter new demand pockets while they are still forming.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Resume Optimization &amp; Interview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Two surfaces where most international candidates lose or win opportunities.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57400"/>
            <a:ext cx="4892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Resume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48920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Lead with outcomes, not course lists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Quantify scope: scale, speed, accuracy, ownership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Mirror role-family language (systems, product, research, ops)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Put visa-eligible work authorization status clearly when helpful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Cut generic soft-skill filler; keep proof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Tailor one master résumé into 2–3 industry variants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3D4A58"/>
                </a:solidFill>
                <a:latin typeface="Garamond"/>
              </a:rPr>
              <a:t>•  For aerospace/space: emphasize systems, reliability, testing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525780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25780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4709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Interview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560320"/>
            <a:ext cx="4709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Prepare a 60-second career narrative with a clear thesis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Practice technical depth and tradeoff explanations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Build STAR stories for ownership and collaboration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Anticipate sponsorship questions with calm specificity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Research the team’s product/mission — not only the brand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Prepare thoughtful questions that signal judgment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7EB0C8"/>
                </a:solidFill>
                <a:latin typeface="Garamond"/>
              </a:rPr>
              <a:t>•  Rehearse aloud; polish pacing and clarity under pressure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From Research to Marketable Strengths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Academic excellence only converts when translated into employer language.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983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Leverage Academic &amp;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Research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49834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Inventory methods, tools, datasets, and systems you actually used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Identify decisions you owned — not only tasks completed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Extract transferable themes: modeling, experimentation, reliability, optimization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Package thesis/capstone as a case study with problem → approach →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544068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83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Translate Research into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Professional Strengths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017520"/>
            <a:ext cx="49834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Map lab skills to job families: ML eng, systems, hardware, analyst, PM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Replace publication counts with business-relevant impact where possible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Show speed of learning and comfort with ambiguity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Demonstrate that research habits produce production-quality judgment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3) JOB-SEARCH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Networks &amp; Emerging Industry Entry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Many of the best roles never become fair fights on public job boards.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44068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983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Building Referral &amp;</a:t>
            </a:r>
          </a:p>
          <a:p>
            <a:pPr algn="l"/>
            <a:r>
              <a:rPr sz="1700" b="1" i="0">
                <a:solidFill>
                  <a:srgbClr val="FFFFFF"/>
                </a:solidFill>
                <a:latin typeface="Garamond"/>
              </a:rPr>
              <a:t>Internal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49834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Prioritize warm paths: alumni, lab mates, prior intern managers, faculty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Offer specific asks — target team, role family, timeline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Maintain a light CRM of contacts and follow-ups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Convert informational conversations into internal advocates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In aerospace/space: mission-focused communities matter more than mass apps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83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Identifying Opportunities</a:t>
            </a:r>
          </a:p>
          <a:p>
            <a:pPr algn="l"/>
            <a:r>
              <a:rPr sz="1700" b="1" i="0">
                <a:solidFill>
                  <a:srgbClr val="0E141C"/>
                </a:solidFill>
                <a:latin typeface="Garamond"/>
              </a:rPr>
              <a:t>in Emerging Industries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017520"/>
            <a:ext cx="49834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Track capital, policy, and hiring signals — not only brand names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Watch commercial space, AI infrastructure, advanced manufacturing, dual-use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Enter via adjacent skills when exact titles are scarce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Prefer teams building infrastructure over pure narrative hype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Build a 90-day experiment: learn, project, outreach, apply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8100" cy="246888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4) CAREER OPPORTUNITIES RETURNING TO CHINA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2316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International Talent,</a:t>
            </a:r>
          </a:p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Domestic Opportunity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20624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aramond"/>
              </a:rPr>
              <a:t>Talent programs  ·  Incentives  ·  High-tech  ·  Space  ·  Digital  ·  Emerging sectors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Session I  ·  2:10 – 3:20 PM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4) RETURN TO CHINA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The Opportunity Landscape for Returnees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International graduates can enter through programs, incentives, and sector demand — not only open job boards.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3566160" cy="40233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Talent Recruitment &amp;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Development Programs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3200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Structured returnee programs that accelerate placement, benefits, and local integration for overseas-educated talent.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19" y="2057400"/>
            <a:ext cx="3566160" cy="40233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19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1999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1999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Innovation &amp;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Entrepreneurship Incentives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926080"/>
            <a:ext cx="3200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Policy support, incubation resources, and startup incentives designed to attract returnees into venture building.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8" y="2057400"/>
            <a:ext cx="3566160" cy="40233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58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38" y="2203704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8" y="247802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High-Tech Industry</a:t>
            </a:r>
          </a:p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Opportunities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38" y="2926080"/>
            <a:ext cx="32004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Demand across advanced technology, industrial upgrading, and roles that value global training plus local execution.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4) RETURN TO CHINA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Priority Sectors for Internationally Educated Talent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Where overseas training creates distinctive leverage in the domestic market.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10927080" cy="11887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44450" cy="118872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5856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Commercial Space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A rapidly developing sector seeking globally trained engineers, operators, and business talent who understand both U.S. industry practice and China market entry dynamics.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83280"/>
            <a:ext cx="10927080" cy="11887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44450" cy="118872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58444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Digital Economy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Platform, AI, data, and digital infrastructure roles where international exposure to product, research, and operating systems is a competitive advantage.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09160"/>
            <a:ext cx="10927080" cy="118872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709160"/>
            <a:ext cx="44450" cy="118872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910328"/>
            <a:ext cx="10149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Emerging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25780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New sectors forming around autonomy, advanced materials, climate tech, and dual-use innovation — often with acute talent shortages at the mid-to-senior technical layer.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47472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4) RETURN TO CHINA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21792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E141C"/>
                </a:solidFill>
                <a:latin typeface="Garamond"/>
              </a:rPr>
              <a:t>Emerging Talent Gaps &amp; Positioning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6B7A8A"/>
                </a:solidFill>
                <a:latin typeface="Garamond"/>
              </a:rPr>
              <a:t>International education is an advantage only when paired with a clear domestic thesis.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5440680" cy="4297680"/>
          </a:xfrm>
          <a:prstGeom prst="rect">
            <a:avLst/>
          </a:prstGeom>
          <a:solidFill>
            <a:srgbClr val="0B10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</a:rPr>
              <a:t>Where Gaps Are Opening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97480"/>
            <a:ext cx="4983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Cross-border product and market roles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Systems engineering talent with space/aerospace exposure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AI application talent who can ship, not only publish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Operators who can translate global practice into local execution</a:t>
            </a:r>
          </a:p>
          <a:p>
            <a:pPr algn="l"/>
            <a:r>
              <a:rPr sz="1350" b="0" i="0">
                <a:solidFill>
                  <a:srgbClr val="7EB0C8"/>
                </a:solidFill>
                <a:latin typeface="Garamond"/>
              </a:rPr>
              <a:t>•  Founder-operators with technical depth and overseas networks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5440680" cy="429768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828800"/>
            <a:ext cx="5440680" cy="317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03120"/>
            <a:ext cx="4983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How Returnees Should 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697480"/>
            <a:ext cx="4983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Lead with problem ownership, not degree prestige alone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Show China-market relevance: customers, regulation, supply chain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Choose city + sector combinations deliberately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Use talent programs as accelerators, not substitutes for fit</a:t>
            </a:r>
          </a:p>
          <a:p>
            <a:pPr algn="l"/>
            <a:r>
              <a:rPr sz="1350" b="0" i="0">
                <a:solidFill>
                  <a:srgbClr val="3D4A58"/>
                </a:solidFill>
                <a:latin typeface="Garamond"/>
              </a:rPr>
              <a:t>•  Build a 12-month plan: role family, network, and proof points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8100" cy="246888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011680"/>
            <a:ext cx="7863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5) LIVE Q&amp;A &amp; INTERACTIVE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23160"/>
            <a:ext cx="795527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Your Questions,</a:t>
            </a:r>
          </a:p>
          <a:p>
            <a:pPr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Garamond"/>
              </a:rPr>
              <a:t>Real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20624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434840"/>
            <a:ext cx="7955279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50" b="0" i="1">
                <a:solidFill>
                  <a:srgbClr val="7EB0C8"/>
                </a:solidFill>
                <a:latin typeface="Garamond"/>
              </a:rPr>
              <a:t>Tracks  ·  Transitions  ·  Internships  ·  Immigration  ·  Return strategies  ·  Pitfalls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9788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Session I  ·  2:10 – 3:20 PM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5) LIVE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Discussion Themes We Will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Bring individual situations — the most useful answers are specific.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5740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219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Career Track Selection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79192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How to choose among industries, role families, and geographies with incomplete information.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19" y="205740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19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1999" y="22219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Industry Transitions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1999" y="2679192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How to move into a new field by reframing transferable strengths and proof points.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58" y="205740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8" y="205740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38" y="222199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Internship Planning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38" y="2679192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Timing, targeting, CPT/OPT sequencing, and converting internships into offers.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0624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7083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Career &amp; Immigration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828032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Aligning offers, visas, employer risk tolerance, and long-term career design.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19" y="420624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89119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1999" y="437083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Return-to-China Strategies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1999" y="4828032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How to position overseas experience for domestic programs, sectors, and cities.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8" y="4206240"/>
            <a:ext cx="3566160" cy="1965960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58" y="4206240"/>
            <a:ext cx="356616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38" y="4370832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E141C"/>
                </a:solidFill>
                <a:latin typeface="Garamond"/>
              </a:rPr>
              <a:t>Common Pitfalls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38" y="4828032"/>
            <a:ext cx="3200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3D4A58"/>
                </a:solidFill>
                <a:latin typeface="Garamond"/>
              </a:rPr>
              <a:t>Mistakes that slow international job searches — late planning, generic materials, single-path bets.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A7A92"/>
                </a:solidFill>
                <a:latin typeface="Garamond"/>
              </a:rPr>
              <a:t>5) LIVE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676656"/>
            <a:ext cx="777240" cy="254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804672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E141C"/>
                </a:solidFill>
                <a:latin typeface="Garamond"/>
              </a:rPr>
              <a:t>How to Get the Most from This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1">
                <a:solidFill>
                  <a:srgbClr val="6B7A8A"/>
                </a:solidFill>
                <a:latin typeface="Garamond"/>
              </a:rPr>
              <a:t>A few prompts to sharpen your question before you ask 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677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17627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State your stage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48716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Freshman, senior, master’s, Ph.D., parent, or service provider — stage changes the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31927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22783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Name the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53872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U.S. vs. China, internship vs. full-time, industry A vs. B — frame a real fork.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1480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7083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27939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Share constraints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459028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Visa timing, city preference, risk tolerance, family considerations, and timeline.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166360"/>
            <a:ext cx="10927080" cy="932688"/>
          </a:xfrm>
          <a:prstGeom prst="rect">
            <a:avLst/>
          </a:prstGeom>
          <a:solidFill>
            <a:srgbClr val="EE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4A7A92"/>
                </a:solidFill>
                <a:latin typeface="Garamon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330952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141C"/>
                </a:solidFill>
                <a:latin typeface="Garamond"/>
              </a:rPr>
              <a:t>Ask for a next step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5641848"/>
            <a:ext cx="9326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4A58"/>
                </a:solidFill>
                <a:latin typeface="Garamond"/>
              </a:rPr>
              <a:t>The best questions end with: what should I do in the next 30–90 days?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51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194560"/>
            <a:ext cx="38100" cy="219456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19456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7EB0C8"/>
                </a:solidFill>
                <a:latin typeface="Garamond"/>
              </a:rPr>
              <a:t>SESSION I  ·  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651760"/>
            <a:ext cx="79552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</a:rPr>
              <a:t>From Path Selection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Garamond"/>
              </a:rPr>
              <a:t>to Practical Execution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4023360"/>
            <a:ext cx="1645920" cy="19050"/>
          </a:xfrm>
          <a:prstGeom prst="rect">
            <a:avLst/>
          </a:prstGeom>
          <a:solidFill>
            <a:srgbClr val="7EB0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297680"/>
            <a:ext cx="795527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 i="1">
                <a:solidFill>
                  <a:srgbClr val="7EB0C8"/>
                </a:solidFill>
                <a:latin typeface="Garamond"/>
              </a:rPr>
              <a:t>Choose a pathway with intention.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7EB0C8"/>
                </a:solidFill>
                <a:latin typeface="Garamond"/>
              </a:rPr>
              <a:t>Translate credentials into proof.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7EB0C8"/>
                </a:solidFill>
                <a:latin typeface="Garamond"/>
              </a:rPr>
              <a:t>Build the network that opens the door.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85216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A8A"/>
                </a:solidFill>
                <a:latin typeface="Garamond"/>
              </a:rPr>
              <a:t>Next: Networking Break  ·  then Session II at 3:35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