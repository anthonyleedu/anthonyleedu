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EB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778240" y="0"/>
            <a:ext cx="3413455" cy="6858000"/>
          </a:xfrm>
          <a:prstGeom prst="rect">
            <a:avLst/>
          </a:prstGeom>
          <a:solidFill>
            <a:srgbClr val="151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68680" y="1371600"/>
            <a:ext cx="2194560" cy="15875"/>
          </a:xfrm>
          <a:prstGeom prst="rect">
            <a:avLst/>
          </a:prstGeom>
          <a:solidFill>
            <a:srgbClr val="7EB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600200"/>
            <a:ext cx="74980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7EB0C8"/>
                </a:solidFill>
                <a:latin typeface="Garamond"/>
              </a:rPr>
              <a:t>AUGUST 18, 2026  ·  SESSION I  ·  2:10 – 3:20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057400"/>
            <a:ext cx="75895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3400" b="1" i="0">
                <a:solidFill>
                  <a:srgbClr val="FFFFFF"/>
                </a:solidFill>
                <a:latin typeface="Garamond"/>
              </a:rPr>
              <a:t>Career Planning for</a:t>
            </a:r>
          </a:p>
          <a:p>
            <a:pPr>
              <a:spcAft>
                <a:spcPts val="200"/>
              </a:spcAft>
            </a:pPr>
            <a:r>
              <a:rPr sz="3400" b="1" i="0">
                <a:solidFill>
                  <a:srgbClr val="FFFFFF"/>
                </a:solidFill>
                <a:latin typeface="Garamond"/>
              </a:rPr>
              <a:t>International Students</a:t>
            </a:r>
          </a:p>
          <a:p>
            <a:pPr>
              <a:spcAft>
                <a:spcPts val="200"/>
              </a:spcAft>
            </a:pPr>
            <a:r>
              <a:rPr sz="3400" b="1" i="0">
                <a:solidFill>
                  <a:srgbClr val="FFFFFF"/>
                </a:solidFill>
                <a:latin typeface="Garamond"/>
              </a:rPr>
              <a:t>in the U.S.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4389120"/>
            <a:ext cx="749807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7EB0C8"/>
                </a:solidFill>
                <a:latin typeface="Garamond"/>
              </a:rPr>
              <a:t>North American International Students:</a:t>
            </a:r>
          </a:p>
          <a:p>
            <a:pPr algn="l"/>
            <a:r>
              <a:rPr sz="1400" b="0" i="1">
                <a:solidFill>
                  <a:srgbClr val="7EB0C8"/>
                </a:solidFill>
                <a:latin typeface="Garamond"/>
              </a:rPr>
              <a:t>High-End Employment &amp; Commercial Space Opportunities Forum</a:t>
            </a:r>
          </a:p>
        </p:txBody>
      </p:sp>
      <p:sp>
        <p:nvSpPr>
          <p:cNvPr id="8" name="Rectangle 7"/>
          <p:cNvSpPr/>
          <p:nvPr/>
        </p:nvSpPr>
        <p:spPr>
          <a:xfrm>
            <a:off x="868680" y="5120640"/>
            <a:ext cx="1280160" cy="15875"/>
          </a:xfrm>
          <a:prstGeom prst="rect">
            <a:avLst/>
          </a:prstGeom>
          <a:solidFill>
            <a:srgbClr val="7EB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5394960"/>
            <a:ext cx="74980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6B7A8A"/>
                </a:solidFill>
                <a:latin typeface="Garamond"/>
              </a:rPr>
              <a:t>Presented by Rocky Chen  ·  Keynote + live Q&amp;A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4A7A92"/>
                </a:solidFill>
                <a:latin typeface="Garamond"/>
              </a:rPr>
              <a:t>III · SESSION I · 2:10 – 3:20 PM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640080"/>
            <a:ext cx="777240" cy="25400"/>
          </a:xfrm>
          <a:prstGeom prst="rect">
            <a:avLst/>
          </a:prstGeom>
          <a:solidFill>
            <a:srgbClr val="7EB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E141C"/>
                </a:solidFill>
                <a:latin typeface="Garamond"/>
              </a:rPr>
              <a:t>Featured Topic &amp; Discussion Agenda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783080"/>
            <a:ext cx="10927080" cy="1417320"/>
          </a:xfrm>
          <a:prstGeom prst="rect">
            <a:avLst/>
          </a:prstGeom>
          <a:solidFill>
            <a:srgbClr val="0B1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783080"/>
            <a:ext cx="10927080" cy="25400"/>
          </a:xfrm>
          <a:prstGeom prst="rect">
            <a:avLst/>
          </a:prstGeom>
          <a:solidFill>
            <a:srgbClr val="7EB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965960"/>
            <a:ext cx="10241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7EB0C8"/>
                </a:solidFill>
                <a:latin typeface="Garamond"/>
              </a:rPr>
              <a:t>FEATURED TOPIC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286000"/>
            <a:ext cx="10241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Garamond"/>
              </a:rPr>
              <a:t>Career Pathways for International Students in the Post-Pandemic Era:</a:t>
            </a:r>
          </a:p>
          <a:p>
            <a:pPr algn="l"/>
            <a:r>
              <a:rPr sz="1600" b="1" i="0">
                <a:solidFill>
                  <a:srgbClr val="FFFFFF"/>
                </a:solidFill>
                <a:latin typeface="Garamond"/>
              </a:rPr>
              <a:t>Building a Career in the U.S. vs. Returning to China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474720"/>
            <a:ext cx="2084831" cy="2514600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3474720"/>
            <a:ext cx="2084831" cy="25400"/>
          </a:xfrm>
          <a:prstGeom prst="rect">
            <a:avLst/>
          </a:prstGeom>
          <a:solidFill>
            <a:srgbClr val="7EB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3703320"/>
            <a:ext cx="1783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4A7A92"/>
                </a:solidFill>
                <a:latin typeface="Garamond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069080"/>
            <a:ext cx="1783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E141C"/>
                </a:solidFill>
                <a:latin typeface="Garamond"/>
              </a:rPr>
              <a:t>U.S. Job Market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800600"/>
            <a:ext cx="1783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D4A58"/>
                </a:solidFill>
                <a:latin typeface="Garamond"/>
              </a:rPr>
              <a:t>Policies, visas, industries, employer demand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852928" y="3474720"/>
            <a:ext cx="2084831" cy="2514600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852928" y="3474720"/>
            <a:ext cx="2084831" cy="25400"/>
          </a:xfrm>
          <a:prstGeom prst="rect">
            <a:avLst/>
          </a:prstGeom>
          <a:solidFill>
            <a:srgbClr val="7EB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90088" y="3703320"/>
            <a:ext cx="1783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4A7A92"/>
                </a:solidFill>
                <a:latin typeface="Garamond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90088" y="4069080"/>
            <a:ext cx="1783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E141C"/>
                </a:solidFill>
                <a:latin typeface="Garamond"/>
              </a:rPr>
              <a:t>Career Planning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90088" y="4800600"/>
            <a:ext cx="1783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D4A58"/>
                </a:solidFill>
                <a:latin typeface="Garamond"/>
              </a:rPr>
              <a:t>Stage strategies + four major pathways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65776" y="3474720"/>
            <a:ext cx="2084831" cy="2514600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65776" y="3474720"/>
            <a:ext cx="2084831" cy="25400"/>
          </a:xfrm>
          <a:prstGeom prst="rect">
            <a:avLst/>
          </a:prstGeom>
          <a:solidFill>
            <a:srgbClr val="7EB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202936" y="3703320"/>
            <a:ext cx="1783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4A7A92"/>
                </a:solidFill>
                <a:latin typeface="Garamond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02936" y="4069080"/>
            <a:ext cx="1783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E141C"/>
                </a:solidFill>
                <a:latin typeface="Garamond"/>
              </a:rPr>
              <a:t>Job-Search Playbook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02936" y="4800600"/>
            <a:ext cx="1783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D4A58"/>
                </a:solidFill>
                <a:latin typeface="Garamond"/>
              </a:rPr>
              <a:t>Resume, interviews, research, networks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278624" y="3474720"/>
            <a:ext cx="2084831" cy="2514600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278624" y="3474720"/>
            <a:ext cx="2084831" cy="25400"/>
          </a:xfrm>
          <a:prstGeom prst="rect">
            <a:avLst/>
          </a:prstGeom>
          <a:solidFill>
            <a:srgbClr val="7EB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15784" y="3703320"/>
            <a:ext cx="1783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4A7A92"/>
                </a:solidFill>
                <a:latin typeface="Garamond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15784" y="4069080"/>
            <a:ext cx="1783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E141C"/>
                </a:solidFill>
                <a:latin typeface="Garamond"/>
              </a:rPr>
              <a:t>Return to China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15784" y="4800600"/>
            <a:ext cx="1783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D4A58"/>
                </a:solidFill>
                <a:latin typeface="Garamond"/>
              </a:rPr>
              <a:t>Programs, incentives, high-tech &amp; space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491472" y="3474720"/>
            <a:ext cx="2084831" cy="2514600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491472" y="3474720"/>
            <a:ext cx="2084831" cy="25400"/>
          </a:xfrm>
          <a:prstGeom prst="rect">
            <a:avLst/>
          </a:prstGeom>
          <a:solidFill>
            <a:srgbClr val="7EB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628632" y="3703320"/>
            <a:ext cx="1783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4A7A92"/>
                </a:solidFill>
                <a:latin typeface="Garamond"/>
              </a:rPr>
              <a:t>05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28632" y="4069080"/>
            <a:ext cx="1783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E141C"/>
                </a:solidFill>
                <a:latin typeface="Garamond"/>
              </a:rPr>
              <a:t>Live Q&amp;A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28632" y="4800600"/>
            <a:ext cx="1783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D4A58"/>
                </a:solidFill>
                <a:latin typeface="Garamond"/>
              </a:rPr>
              <a:t>Tracks, transitions, immigration, pitfalls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4A7A92"/>
                </a:solidFill>
                <a:latin typeface="Garamond"/>
              </a:rPr>
              <a:t>SESSION I · KEYNOTE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640080"/>
            <a:ext cx="777240" cy="25400"/>
          </a:xfrm>
          <a:prstGeom prst="rect">
            <a:avLst/>
          </a:prstGeom>
          <a:solidFill>
            <a:srgbClr val="7EB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E141C"/>
                </a:solidFill>
                <a:latin typeface="Garamond"/>
              </a:rPr>
              <a:t>Rocky Chen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783080"/>
            <a:ext cx="4114800" cy="4297680"/>
          </a:xfrm>
          <a:prstGeom prst="rect">
            <a:avLst/>
          </a:prstGeom>
          <a:solidFill>
            <a:srgbClr val="0B1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783080"/>
            <a:ext cx="44450" cy="4297680"/>
          </a:xfrm>
          <a:prstGeom prst="rect">
            <a:avLst/>
          </a:prstGeom>
          <a:solidFill>
            <a:srgbClr val="7EB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94560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7EB0C8"/>
                </a:solidFill>
                <a:latin typeface="Garamond"/>
              </a:rPr>
              <a:t>KEYNOTE SPEAKER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651760"/>
            <a:ext cx="3474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Garamond"/>
              </a:rPr>
              <a:t>Rocky Chen</a:t>
            </a:r>
          </a:p>
        </p:txBody>
      </p:sp>
      <p:sp>
        <p:nvSpPr>
          <p:cNvPr id="9" name="Rectangle 8"/>
          <p:cNvSpPr/>
          <p:nvPr/>
        </p:nvSpPr>
        <p:spPr>
          <a:xfrm>
            <a:off x="1005840" y="3291840"/>
            <a:ext cx="1280160" cy="19050"/>
          </a:xfrm>
          <a:prstGeom prst="rect">
            <a:avLst/>
          </a:prstGeom>
          <a:solidFill>
            <a:srgbClr val="7EB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3611880"/>
            <a:ext cx="34747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 i="0">
                <a:solidFill>
                  <a:srgbClr val="7EB0C8"/>
                </a:solidFill>
                <a:latin typeface="Garamond"/>
              </a:rPr>
              <a:t>Founder, 51 Careers</a:t>
            </a:r>
          </a:p>
          <a:p>
            <a:pPr>
              <a:spcAft>
                <a:spcPts val="800"/>
              </a:spcAft>
            </a:pPr>
            <a:r>
              <a:rPr sz="1400" b="0" i="0">
                <a:solidFill>
                  <a:srgbClr val="7EB0C8"/>
                </a:solidFill>
                <a:latin typeface="Garamond"/>
              </a:rPr>
              <a:t>Founder, 51Careers.AI</a:t>
            </a:r>
          </a:p>
          <a:p>
            <a:pPr>
              <a:spcAft>
                <a:spcPts val="800"/>
              </a:spcAft>
            </a:pPr>
            <a:r>
              <a:rPr sz="1400" b="0" i="0">
                <a:solidFill>
                  <a:srgbClr val="7EB0C8"/>
                </a:solidFill>
                <a:latin typeface="Garamond"/>
              </a:rPr>
              <a:t>Investor &amp; Managing Director, Helio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66360" y="1874519"/>
            <a:ext cx="6309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E141C"/>
                </a:solidFill>
                <a:latin typeface="Garamond"/>
              </a:rPr>
              <a:t>Perspective for Today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66360" y="2377440"/>
            <a:ext cx="63093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350" b="0" i="0">
                <a:solidFill>
                  <a:srgbClr val="3D4A58"/>
                </a:solidFill>
                <a:latin typeface="Garamond"/>
              </a:rPr>
              <a:t>Rocky Chen founded 51 Careers, a global high-end career development platform, and 51Careers.AI. He is also an investor and Managing Director at publicly listed company Helio.</a:t>
            </a:r>
          </a:p>
          <a:p>
            <a:pPr>
              <a:spcAft>
                <a:spcPts val="1200"/>
              </a:spcAft>
            </a:pPr>
            <a:r>
              <a:rPr sz="1350" b="0" i="0">
                <a:solidFill>
                  <a:srgbClr val="3D4A58"/>
                </a:solidFill>
                <a:latin typeface="Garamond"/>
              </a:rPr>
              <a:t>Over the past decade he has worked across international business and capital markets — with a portfolio spanning career education, AI, aerospace, entertainment and sports, luxury hospitality, and fine wine.</a:t>
            </a:r>
          </a:p>
          <a:p>
            <a:pPr>
              <a:spcAft>
                <a:spcPts val="1200"/>
              </a:spcAft>
            </a:pPr>
            <a:r>
              <a:rPr sz="1350" b="0" i="0">
                <a:solidFill>
                  <a:srgbClr val="3D4A58"/>
                </a:solidFill>
                <a:latin typeface="Garamond"/>
              </a:rPr>
              <a:t>Today’s session sits at the intersection of industry, capital, technology, and international talent development: how students choose pathways, and how those choices connect to high-growth sectors including commercial space.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4A7A92"/>
                </a:solidFill>
                <a:latin typeface="Garamond"/>
              </a:rPr>
              <a:t>1) U.S. JOB MARKET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640080"/>
            <a:ext cx="777240" cy="25400"/>
          </a:xfrm>
          <a:prstGeom prst="rect">
            <a:avLst/>
          </a:prstGeom>
          <a:solidFill>
            <a:srgbClr val="7EB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E141C"/>
                </a:solidFill>
                <a:latin typeface="Garamond"/>
              </a:rPr>
              <a:t>The 2026 Employment Landscape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26187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1">
                <a:solidFill>
                  <a:srgbClr val="6B7A8A"/>
                </a:solidFill>
                <a:latin typeface="Garamond"/>
              </a:rPr>
              <a:t>Policies affecting new graduates, visa considerations, and high-growth career tracks.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920240"/>
            <a:ext cx="3566160" cy="4160520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920240"/>
            <a:ext cx="3566160" cy="31750"/>
          </a:xfrm>
          <a:prstGeom prst="rect">
            <a:avLst/>
          </a:prstGeom>
          <a:solidFill>
            <a:srgbClr val="7EB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" y="2194560"/>
            <a:ext cx="3154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E141C"/>
                </a:solidFill>
                <a:latin typeface="Garamond"/>
              </a:rPr>
              <a:t>Policy Environment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2788920"/>
            <a:ext cx="315468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D4A58"/>
                </a:solidFill>
                <a:latin typeface="Garamond"/>
              </a:rPr>
              <a:t>Graduate hiring is shaped by evolving immigration and labor rules. Offer timing, start dates, and sponsorship decisions increasingly depend on how employers interpret policy risk — not only candidate quality.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119" y="1920240"/>
            <a:ext cx="3566160" cy="4160520"/>
          </a:xfrm>
          <a:prstGeom prst="rect">
            <a:avLst/>
          </a:prstGeom>
          <a:solidFill>
            <a:srgbClr val="0B1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89119" y="1920240"/>
            <a:ext cx="3566160" cy="31750"/>
          </a:xfrm>
          <a:prstGeom prst="rect">
            <a:avLst/>
          </a:prstGeom>
          <a:solidFill>
            <a:srgbClr val="7EB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90287" y="2194560"/>
            <a:ext cx="3154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Garamond"/>
              </a:rPr>
              <a:t>Visa Considerations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90287" y="2788920"/>
            <a:ext cx="315468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7EB0C8"/>
                </a:solidFill>
                <a:latin typeface="Garamond"/>
              </a:rPr>
              <a:t>CPT, OPT, STEM OPT extension, and H-1B pathways remain central. Align internship timing, degree program, and employer sponsorship capacity early — before senior-year recruiting peaks.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38158" y="1920240"/>
            <a:ext cx="3566160" cy="4160520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138158" y="1920240"/>
            <a:ext cx="3566160" cy="31750"/>
          </a:xfrm>
          <a:prstGeom prst="rect">
            <a:avLst/>
          </a:prstGeom>
          <a:solidFill>
            <a:srgbClr val="7EB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39326" y="2194560"/>
            <a:ext cx="3154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E141C"/>
                </a:solidFill>
                <a:latin typeface="Garamond"/>
              </a:rPr>
              <a:t>High-Growth Tracks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39326" y="2788920"/>
            <a:ext cx="315468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D4A58"/>
                </a:solidFill>
                <a:latin typeface="Garamond"/>
              </a:rPr>
              <a:t>Demand concentrates where technical depth, applied projects, and cross-border fluency create leverage: AI-adjacent tech, aerospace systems, advanced manufacturing, and specialized finance.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4A7A92"/>
                </a:solidFill>
                <a:latin typeface="Garamond"/>
              </a:rPr>
              <a:t>1) U.S. JOB MARKET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640080"/>
            <a:ext cx="777240" cy="25400"/>
          </a:xfrm>
          <a:prstGeom prst="rect">
            <a:avLst/>
          </a:prstGeom>
          <a:solidFill>
            <a:srgbClr val="7EB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E141C"/>
                </a:solidFill>
                <a:latin typeface="Garamond"/>
              </a:rPr>
              <a:t>Priority Industries for International Students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26187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1">
                <a:solidFill>
                  <a:srgbClr val="6B7A8A"/>
                </a:solidFill>
                <a:latin typeface="Garamond"/>
              </a:rPr>
              <a:t>Fields where international academic training is especially relevant in 2026.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874519"/>
            <a:ext cx="3566160" cy="2057400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874519"/>
            <a:ext cx="3566160" cy="25400"/>
          </a:xfrm>
          <a:prstGeom prst="rect">
            <a:avLst/>
          </a:prstGeom>
          <a:solidFill>
            <a:srgbClr val="7EB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2020823"/>
            <a:ext cx="323697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 i="0">
                <a:solidFill>
                  <a:srgbClr val="0E141C"/>
                </a:solidFill>
                <a:latin typeface="Garamond"/>
              </a:rPr>
              <a:t>Science &amp; Technology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2441447"/>
            <a:ext cx="3236976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D4A58"/>
                </a:solidFill>
                <a:latin typeface="Garamond"/>
              </a:rPr>
              <a:t>STEM pipelines from research into product, data, and R&amp;D. Strong fit for rigorous credentials plus applied project evidence.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119" y="1874519"/>
            <a:ext cx="3566160" cy="2057400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89119" y="1874519"/>
            <a:ext cx="3566160" cy="25400"/>
          </a:xfrm>
          <a:prstGeom prst="rect">
            <a:avLst/>
          </a:prstGeom>
          <a:solidFill>
            <a:srgbClr val="7EB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53711" y="2020823"/>
            <a:ext cx="323697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 i="0">
                <a:solidFill>
                  <a:srgbClr val="0E141C"/>
                </a:solidFill>
                <a:latin typeface="Garamond"/>
              </a:rPr>
              <a:t>Aerospace &amp; Commercial Space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53711" y="2441447"/>
            <a:ext cx="3236976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D4A58"/>
                </a:solidFill>
                <a:latin typeface="Garamond"/>
              </a:rPr>
              <a:t>Launch, satellites, space infrastructure, and mission support — demand for engineering, systems, and operations talent.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38158" y="1874519"/>
            <a:ext cx="3566160" cy="2057400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138158" y="1874519"/>
            <a:ext cx="3566160" cy="25400"/>
          </a:xfrm>
          <a:prstGeom prst="rect">
            <a:avLst/>
          </a:prstGeom>
          <a:solidFill>
            <a:srgbClr val="7EB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02750" y="2020823"/>
            <a:ext cx="323697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 i="0">
                <a:solidFill>
                  <a:srgbClr val="0E141C"/>
                </a:solidFill>
                <a:latin typeface="Garamond"/>
              </a:rPr>
              <a:t>Internet &amp; Technology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02750" y="2441447"/>
            <a:ext cx="3236976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D4A58"/>
                </a:solidFill>
                <a:latin typeface="Garamond"/>
              </a:rPr>
              <a:t>Software, AI, platforms, and product roles. Still among the highest-volume paths for OPT-eligible graduates.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4114799"/>
            <a:ext cx="3566160" cy="2057400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4114799"/>
            <a:ext cx="3566160" cy="25400"/>
          </a:xfrm>
          <a:prstGeom prst="rect">
            <a:avLst/>
          </a:prstGeom>
          <a:solidFill>
            <a:srgbClr val="7EB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2" y="4261103"/>
            <a:ext cx="323697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 i="0">
                <a:solidFill>
                  <a:srgbClr val="0E141C"/>
                </a:solidFill>
                <a:latin typeface="Garamond"/>
              </a:rPr>
              <a:t>Business &amp; Finance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" y="4681727"/>
            <a:ext cx="3236976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D4A58"/>
                </a:solidFill>
                <a:latin typeface="Garamond"/>
              </a:rPr>
              <a:t>Corporate strategy, consulting, markets, and fintech. Sponsorship varies sharply by firm and role type.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119" y="4114799"/>
            <a:ext cx="3566160" cy="2057400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389119" y="4114799"/>
            <a:ext cx="3566160" cy="25400"/>
          </a:xfrm>
          <a:prstGeom prst="rect">
            <a:avLst/>
          </a:prstGeom>
          <a:solidFill>
            <a:srgbClr val="7EB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53711" y="4261103"/>
            <a:ext cx="323697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 i="0">
                <a:solidFill>
                  <a:srgbClr val="0E141C"/>
                </a:solidFill>
                <a:latin typeface="Garamond"/>
              </a:rPr>
              <a:t>Advanced Manufacturing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53711" y="4681727"/>
            <a:ext cx="3236976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D4A58"/>
                </a:solidFill>
                <a:latin typeface="Garamond"/>
              </a:rPr>
              <a:t>Hardware, robotics, semiconductors, and industrial tech bridging research and scaled production.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138158" y="4114799"/>
            <a:ext cx="3566160" cy="2057400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138158" y="4114799"/>
            <a:ext cx="3566160" cy="25400"/>
          </a:xfrm>
          <a:prstGeom prst="rect">
            <a:avLst/>
          </a:prstGeom>
          <a:solidFill>
            <a:srgbClr val="7EB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302750" y="4261103"/>
            <a:ext cx="323697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 i="0">
                <a:solidFill>
                  <a:srgbClr val="0E141C"/>
                </a:solidFill>
                <a:latin typeface="Garamond"/>
              </a:rPr>
              <a:t>Emerging Industries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02750" y="4681727"/>
            <a:ext cx="3236976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D4A58"/>
                </a:solidFill>
                <a:latin typeface="Garamond"/>
              </a:rPr>
              <a:t>Climate tech, autonomy, dual-use systems, and space-enabled services — often less crowded entry points.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4A7A92"/>
                </a:solidFill>
                <a:latin typeface="Garamond"/>
              </a:rPr>
              <a:t>1) U.S. JOB MARKET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640080"/>
            <a:ext cx="777240" cy="25400"/>
          </a:xfrm>
          <a:prstGeom prst="rect">
            <a:avLst/>
          </a:prstGeom>
          <a:solidFill>
            <a:srgbClr val="7EB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E141C"/>
                </a:solidFill>
                <a:latin typeface="Garamond"/>
              </a:rPr>
              <a:t>Hiring Trends &amp; What Employers Seek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26187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1">
                <a:solidFill>
                  <a:srgbClr val="6B7A8A"/>
                </a:solidFill>
                <a:latin typeface="Garamond"/>
              </a:rPr>
              <a:t>What employers screen for — beyond the degree line on a résumé.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874519"/>
            <a:ext cx="5440680" cy="2057400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874519"/>
            <a:ext cx="5440680" cy="25400"/>
          </a:xfrm>
          <a:prstGeom prst="rect">
            <a:avLst/>
          </a:prstGeom>
          <a:solidFill>
            <a:srgbClr val="7EB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2002535"/>
            <a:ext cx="457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4A7A92"/>
                </a:solidFill>
                <a:latin typeface="Garamond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2258567"/>
            <a:ext cx="511149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 i="0">
                <a:solidFill>
                  <a:srgbClr val="0E141C"/>
                </a:solidFill>
                <a:latin typeface="Garamond"/>
              </a:rPr>
              <a:t>Technical &amp; Applied Depth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" y="2679191"/>
            <a:ext cx="5111496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3D4A58"/>
                </a:solidFill>
                <a:latin typeface="Garamond"/>
              </a:rPr>
              <a:t>•  Projects, labs, and shipped work — not coursework alone</a:t>
            </a:r>
          </a:p>
          <a:p>
            <a:pPr algn="l"/>
            <a:r>
              <a:rPr sz="1250" b="0" i="0">
                <a:solidFill>
                  <a:srgbClr val="3D4A58"/>
                </a:solidFill>
                <a:latin typeface="Garamond"/>
              </a:rPr>
              <a:t>•  Ownership: design decisions, tradeoffs, outcomes</a:t>
            </a:r>
          </a:p>
          <a:p>
            <a:pPr algn="l"/>
            <a:r>
              <a:rPr sz="1250" b="0" i="0">
                <a:solidFill>
                  <a:srgbClr val="3D4A58"/>
                </a:solidFill>
                <a:latin typeface="Garamond"/>
              </a:rPr>
              <a:t>•  Domain relevance to the team’s product or mission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09360" y="1874519"/>
            <a:ext cx="5440680" cy="2057400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09360" y="1874519"/>
            <a:ext cx="5440680" cy="25400"/>
          </a:xfrm>
          <a:prstGeom prst="rect">
            <a:avLst/>
          </a:prstGeom>
          <a:solidFill>
            <a:srgbClr val="7EB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73952" y="2002535"/>
            <a:ext cx="457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4A7A92"/>
                </a:solidFill>
                <a:latin typeface="Garamond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73952" y="2258567"/>
            <a:ext cx="511149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 i="0">
                <a:solidFill>
                  <a:srgbClr val="0E141C"/>
                </a:solidFill>
                <a:latin typeface="Garamond"/>
              </a:rPr>
              <a:t>Communication &amp; Judgment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73952" y="2679191"/>
            <a:ext cx="5111496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3D4A58"/>
                </a:solidFill>
                <a:latin typeface="Garamond"/>
              </a:rPr>
              <a:t>•  Explain complex work to non-specialists</a:t>
            </a:r>
          </a:p>
          <a:p>
            <a:pPr algn="l"/>
            <a:r>
              <a:rPr sz="1250" b="0" i="0">
                <a:solidFill>
                  <a:srgbClr val="3D4A58"/>
                </a:solidFill>
                <a:latin typeface="Garamond"/>
              </a:rPr>
              <a:t>•  Cross-functional collaboration signals</a:t>
            </a:r>
          </a:p>
          <a:p>
            <a:pPr algn="l"/>
            <a:r>
              <a:rPr sz="1250" b="0" i="0">
                <a:solidFill>
                  <a:srgbClr val="3D4A58"/>
                </a:solidFill>
                <a:latin typeface="Garamond"/>
              </a:rPr>
              <a:t>•  Clear storytelling in interviews and writing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4114799"/>
            <a:ext cx="5440680" cy="2057400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4114799"/>
            <a:ext cx="5440680" cy="25400"/>
          </a:xfrm>
          <a:prstGeom prst="rect">
            <a:avLst/>
          </a:prstGeom>
          <a:solidFill>
            <a:srgbClr val="7EB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4672" y="4242815"/>
            <a:ext cx="457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4A7A92"/>
                </a:solidFill>
                <a:latin typeface="Garamon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" y="4498847"/>
            <a:ext cx="511149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 i="0">
                <a:solidFill>
                  <a:srgbClr val="0E141C"/>
                </a:solidFill>
                <a:latin typeface="Garamond"/>
              </a:rPr>
              <a:t>Sponsorship &amp; Timeline Fit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" y="4919471"/>
            <a:ext cx="5111496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3D4A58"/>
                </a:solidFill>
                <a:latin typeface="Garamond"/>
              </a:rPr>
              <a:t>•  Visa feasibility weighed against role urgency</a:t>
            </a:r>
          </a:p>
          <a:p>
            <a:pPr algn="l"/>
            <a:r>
              <a:rPr sz="1250" b="0" i="0">
                <a:solidFill>
                  <a:srgbClr val="3D4A58"/>
                </a:solidFill>
                <a:latin typeface="Garamond"/>
              </a:rPr>
              <a:t>•  CPT/OPT planning reduces employer friction</a:t>
            </a:r>
          </a:p>
          <a:p>
            <a:pPr algn="l"/>
            <a:r>
              <a:rPr sz="1250" b="0" i="0">
                <a:solidFill>
                  <a:srgbClr val="3D4A58"/>
                </a:solidFill>
                <a:latin typeface="Garamond"/>
              </a:rPr>
              <a:t>•  Intern-to-full-time remains a preferred risk path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9360" y="4114799"/>
            <a:ext cx="5440680" cy="2057400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309360" y="4114799"/>
            <a:ext cx="5440680" cy="25400"/>
          </a:xfrm>
          <a:prstGeom prst="rect">
            <a:avLst/>
          </a:prstGeom>
          <a:solidFill>
            <a:srgbClr val="7EB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73952" y="4242815"/>
            <a:ext cx="457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4A7A92"/>
                </a:solidFill>
                <a:latin typeface="Garamond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73952" y="4498847"/>
            <a:ext cx="511149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 i="0">
                <a:solidFill>
                  <a:srgbClr val="0E141C"/>
                </a:solidFill>
                <a:latin typeface="Garamond"/>
              </a:rPr>
              <a:t>Differentiated Strengths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73952" y="4919471"/>
            <a:ext cx="5111496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3D4A58"/>
                </a:solidFill>
                <a:latin typeface="Garamond"/>
              </a:rPr>
              <a:t>•  Research mapped to market problems</a:t>
            </a:r>
          </a:p>
          <a:p>
            <a:pPr algn="l"/>
            <a:r>
              <a:rPr sz="1250" b="0" i="0">
                <a:solidFill>
                  <a:srgbClr val="3D4A58"/>
                </a:solidFill>
                <a:latin typeface="Garamond"/>
              </a:rPr>
              <a:t>•  Bilingual / cross-market fluency as an asset</a:t>
            </a:r>
          </a:p>
          <a:p>
            <a:pPr algn="l"/>
            <a:r>
              <a:rPr sz="1250" b="0" i="0">
                <a:solidFill>
                  <a:srgbClr val="3D4A58"/>
                </a:solidFill>
                <a:latin typeface="Garamond"/>
              </a:rPr>
              <a:t>•  Emerging-industry curiosity with concrete experiments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4A7A92"/>
                </a:solidFill>
                <a:latin typeface="Garamond"/>
              </a:rPr>
              <a:t>2) CAREER PLANNING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640080"/>
            <a:ext cx="777240" cy="25400"/>
          </a:xfrm>
          <a:prstGeom prst="rect">
            <a:avLst/>
          </a:prstGeom>
          <a:solidFill>
            <a:srgbClr val="7EB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E141C"/>
                </a:solidFill>
                <a:latin typeface="Garamond"/>
              </a:rPr>
              <a:t>Stage-Specific Strategies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26187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1">
                <a:solidFill>
                  <a:srgbClr val="6B7A8A"/>
                </a:solidFill>
                <a:latin typeface="Garamond"/>
              </a:rPr>
              <a:t>Priorities shift from exploration years to conversion years to research translation.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874519"/>
            <a:ext cx="2743200" cy="4206240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874519"/>
            <a:ext cx="2743200" cy="31750"/>
          </a:xfrm>
          <a:prstGeom prst="rect">
            <a:avLst/>
          </a:prstGeom>
          <a:solidFill>
            <a:srgbClr val="7EB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2103120"/>
            <a:ext cx="2423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4A7A92"/>
                </a:solidFill>
                <a:latin typeface="Garamond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2514600"/>
            <a:ext cx="2423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E141C"/>
                </a:solidFill>
                <a:latin typeface="Garamond"/>
              </a:rPr>
              <a:t>Freshmen &amp;</a:t>
            </a:r>
          </a:p>
          <a:p>
            <a:pPr algn="l"/>
            <a:r>
              <a:rPr sz="1600" b="1" i="0">
                <a:solidFill>
                  <a:srgbClr val="0E141C"/>
                </a:solidFill>
                <a:latin typeface="Garamond"/>
              </a:rPr>
              <a:t>Sophomores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" y="3657600"/>
            <a:ext cx="242316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3D4A58"/>
                </a:solidFill>
                <a:latin typeface="Garamond"/>
              </a:rPr>
              <a:t>Explore industries, build foundations, start early internship positioning, and learn CPT calendars before junior year.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520440" y="1874519"/>
            <a:ext cx="2743200" cy="4206240"/>
          </a:xfrm>
          <a:prstGeom prst="rect">
            <a:avLst/>
          </a:prstGeom>
          <a:solidFill>
            <a:srgbClr val="0B1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520440" y="1874519"/>
            <a:ext cx="2743200" cy="31750"/>
          </a:xfrm>
          <a:prstGeom prst="rect">
            <a:avLst/>
          </a:prstGeom>
          <a:solidFill>
            <a:srgbClr val="7EB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85032" y="2103120"/>
            <a:ext cx="2423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7EB0C8"/>
                </a:solidFill>
                <a:latin typeface="Garamond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85032" y="2514600"/>
            <a:ext cx="2423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Garamond"/>
              </a:rPr>
              <a:t>Juniors &amp;</a:t>
            </a:r>
          </a:p>
          <a:p>
            <a:pPr algn="l"/>
            <a:r>
              <a:rPr sz="1600" b="1" i="0">
                <a:solidFill>
                  <a:srgbClr val="FFFFFF"/>
                </a:solidFill>
                <a:latin typeface="Garamond"/>
              </a:rPr>
              <a:t>Seniors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85032" y="3657600"/>
            <a:ext cx="242316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7EB0C8"/>
                </a:solidFill>
                <a:latin typeface="Garamond"/>
              </a:rPr>
              <a:t>Convert academics into offers. Prioritize internship → return-offer pipelines and model sponsorship by employer.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0" y="1874519"/>
            <a:ext cx="2743200" cy="4206240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0" y="1874519"/>
            <a:ext cx="2743200" cy="31750"/>
          </a:xfrm>
          <a:prstGeom prst="rect">
            <a:avLst/>
          </a:prstGeom>
          <a:solidFill>
            <a:srgbClr val="7EB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65392" y="2103120"/>
            <a:ext cx="2423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4A7A92"/>
                </a:solidFill>
                <a:latin typeface="Garamon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65392" y="2514600"/>
            <a:ext cx="2423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E141C"/>
                </a:solidFill>
                <a:latin typeface="Garamond"/>
              </a:rPr>
              <a:t>Master’s</a:t>
            </a:r>
          </a:p>
          <a:p>
            <a:pPr algn="l"/>
            <a:r>
              <a:rPr sz="1600" b="1" i="0">
                <a:solidFill>
                  <a:srgbClr val="0E141C"/>
                </a:solidFill>
                <a:latin typeface="Garamond"/>
              </a:rPr>
              <a:t>Students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65392" y="3657600"/>
            <a:ext cx="242316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3D4A58"/>
                </a:solidFill>
                <a:latin typeface="Garamond"/>
              </a:rPr>
              <a:t>Compress timelines. Convert prior experience into a U.S.-market narrative in the first semester.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281160" y="1874519"/>
            <a:ext cx="2743200" cy="4206240"/>
          </a:xfrm>
          <a:prstGeom prst="rect">
            <a:avLst/>
          </a:prstGeom>
          <a:solidFill>
            <a:srgbClr val="0B1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81160" y="1874519"/>
            <a:ext cx="2743200" cy="31750"/>
          </a:xfrm>
          <a:prstGeom prst="rect">
            <a:avLst/>
          </a:prstGeom>
          <a:solidFill>
            <a:srgbClr val="7EB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445752" y="2103120"/>
            <a:ext cx="2423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7EB0C8"/>
                </a:solidFill>
                <a:latin typeface="Garamond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45752" y="2514600"/>
            <a:ext cx="2423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Garamond"/>
              </a:rPr>
              <a:t>Ph.D.</a:t>
            </a:r>
          </a:p>
          <a:p>
            <a:pPr algn="l"/>
            <a:r>
              <a:rPr sz="1600" b="1" i="0">
                <a:solidFill>
                  <a:srgbClr val="FFFFFF"/>
                </a:solidFill>
                <a:latin typeface="Garamond"/>
              </a:rPr>
              <a:t>Students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5752" y="3657600"/>
            <a:ext cx="242316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7EB0C8"/>
                </a:solidFill>
                <a:latin typeface="Garamond"/>
              </a:rPr>
              <a:t>Translate research into market value — industry R&amp;D, applied roles, entrepreneurship, or return pathways.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4A7A92"/>
                </a:solidFill>
                <a:latin typeface="Garamond"/>
              </a:rPr>
              <a:t>2) CAREER PLANNING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640080"/>
            <a:ext cx="777240" cy="25400"/>
          </a:xfrm>
          <a:prstGeom prst="rect">
            <a:avLst/>
          </a:prstGeom>
          <a:solidFill>
            <a:srgbClr val="7EB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E141C"/>
                </a:solidFill>
                <a:latin typeface="Garamond"/>
              </a:rPr>
              <a:t>Four Major Career Pathways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26187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1">
                <a:solidFill>
                  <a:srgbClr val="6B7A8A"/>
                </a:solidFill>
                <a:latin typeface="Garamond"/>
              </a:rPr>
              <a:t>Each pathway has distinct advantages, challenges, and ideal candidate profiles.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874519"/>
            <a:ext cx="5440680" cy="2057400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874519"/>
            <a:ext cx="5440680" cy="25400"/>
          </a:xfrm>
          <a:prstGeom prst="rect">
            <a:avLst/>
          </a:prstGeom>
          <a:solidFill>
            <a:srgbClr val="7EB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2002535"/>
            <a:ext cx="457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4A7A92"/>
                </a:solidFill>
                <a:latin typeface="Garamond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2258567"/>
            <a:ext cx="511149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 i="0">
                <a:solidFill>
                  <a:srgbClr val="0E141C"/>
                </a:solidFill>
                <a:latin typeface="Garamond"/>
              </a:rPr>
              <a:t>Build a Career in the U.S.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" y="2679191"/>
            <a:ext cx="5111496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D4A58"/>
                </a:solidFill>
                <a:latin typeface="Garamond"/>
              </a:rPr>
              <a:t>Long-term employment and sponsorship strategy for durable U.S. roles in high-demand fields.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09360" y="1874519"/>
            <a:ext cx="5440680" cy="2057400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09360" y="1874519"/>
            <a:ext cx="5440680" cy="25400"/>
          </a:xfrm>
          <a:prstGeom prst="rect">
            <a:avLst/>
          </a:prstGeom>
          <a:solidFill>
            <a:srgbClr val="7EB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73952" y="2002535"/>
            <a:ext cx="457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4A7A92"/>
                </a:solidFill>
                <a:latin typeface="Garamond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73952" y="2258567"/>
            <a:ext cx="511149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 i="0">
                <a:solidFill>
                  <a:srgbClr val="0E141C"/>
                </a:solidFill>
                <a:latin typeface="Garamond"/>
              </a:rPr>
              <a:t>Secure U.S. Internships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73952" y="2679191"/>
            <a:ext cx="5111496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D4A58"/>
                </a:solidFill>
                <a:latin typeface="Garamond"/>
              </a:rPr>
              <a:t>Near-term conversion pipeline — the highest-leverage bridge for most students.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4114799"/>
            <a:ext cx="5440680" cy="2057400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4114799"/>
            <a:ext cx="5440680" cy="25400"/>
          </a:xfrm>
          <a:prstGeom prst="rect">
            <a:avLst/>
          </a:prstGeom>
          <a:solidFill>
            <a:srgbClr val="7EB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4672" y="4242815"/>
            <a:ext cx="457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4A7A92"/>
                </a:solidFill>
                <a:latin typeface="Garamon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" y="4498847"/>
            <a:ext cx="511149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 i="0">
                <a:solidFill>
                  <a:srgbClr val="0E141C"/>
                </a:solidFill>
                <a:latin typeface="Garamond"/>
              </a:rPr>
              <a:t>Return to China After Graduation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" y="4919471"/>
            <a:ext cx="5111496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D4A58"/>
                </a:solidFill>
                <a:latin typeface="Garamond"/>
              </a:rPr>
              <a:t>Overseas credentials applied to domestic talent programs, high-tech, and entrepreneurship.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9360" y="4114799"/>
            <a:ext cx="5440680" cy="2057400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309360" y="4114799"/>
            <a:ext cx="5440680" cy="25400"/>
          </a:xfrm>
          <a:prstGeom prst="rect">
            <a:avLst/>
          </a:prstGeom>
          <a:solidFill>
            <a:srgbClr val="7EB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73952" y="4242815"/>
            <a:ext cx="457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4A7A92"/>
                </a:solidFill>
                <a:latin typeface="Garamond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73952" y="4498847"/>
            <a:ext cx="511149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 i="0">
                <a:solidFill>
                  <a:srgbClr val="0E141C"/>
                </a:solidFill>
                <a:latin typeface="Garamond"/>
              </a:rPr>
              <a:t>Remote &amp; Cross-Border Work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73952" y="4919471"/>
            <a:ext cx="5111496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D4A58"/>
                </a:solidFill>
                <a:latin typeface="Garamond"/>
              </a:rPr>
              <a:t>Hybrid models spanning U.S. and China markets with unique compliance and positioning needs.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4A7A92"/>
                </a:solidFill>
                <a:latin typeface="Garamond"/>
              </a:rPr>
              <a:t>2) CAREER PLANNING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640080"/>
            <a:ext cx="777240" cy="25400"/>
          </a:xfrm>
          <a:prstGeom prst="rect">
            <a:avLst/>
          </a:prstGeom>
          <a:solidFill>
            <a:srgbClr val="7EB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E141C"/>
                </a:solidFill>
                <a:latin typeface="Garamond"/>
              </a:rPr>
              <a:t>Pathways in Detail: U.S. Career &amp; Internships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783080"/>
            <a:ext cx="5440680" cy="4297680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783080"/>
            <a:ext cx="5440680" cy="31750"/>
          </a:xfrm>
          <a:prstGeom prst="rect">
            <a:avLst/>
          </a:prstGeom>
          <a:solidFill>
            <a:srgbClr val="7EB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4892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4A7A92"/>
                </a:solidFill>
                <a:latin typeface="Garamond"/>
              </a:rPr>
              <a:t>01  ·  BUILD A CAREER IN THE U.S.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423160"/>
            <a:ext cx="489204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b="1" i="0">
                <a:solidFill>
                  <a:srgbClr val="0E141C"/>
                </a:solidFill>
                <a:latin typeface="Garamond"/>
              </a:rPr>
              <a:t>Advantages</a:t>
            </a:r>
          </a:p>
          <a:p>
            <a:pPr>
              <a:spcAft>
                <a:spcPts val="500"/>
              </a:spcAft>
            </a:pPr>
            <a:r>
              <a:rPr sz="1250" b="0" i="0">
                <a:solidFill>
                  <a:srgbClr val="3D4A58"/>
                </a:solidFill>
                <a:latin typeface="Garamond"/>
              </a:rPr>
              <a:t>Access to leading firms; strong pay in growth sectors; intern conversion culture; compounding U.S. experience.</a:t>
            </a:r>
          </a:p>
          <a:p>
            <a:pPr>
              <a:spcAft>
                <a:spcPts val="500"/>
              </a:spcAft>
            </a:pPr>
            <a:r>
              <a:rPr sz="1300" b="1" i="0">
                <a:solidFill>
                  <a:srgbClr val="0E141C"/>
                </a:solidFill>
                <a:latin typeface="Garamond"/>
              </a:rPr>
              <a:t>Challenges</a:t>
            </a:r>
          </a:p>
          <a:p>
            <a:pPr>
              <a:spcAft>
                <a:spcPts val="500"/>
              </a:spcAft>
            </a:pPr>
            <a:r>
              <a:rPr sz="1250" b="0" i="0">
                <a:solidFill>
                  <a:srgbClr val="3D4A58"/>
                </a:solidFill>
                <a:latin typeface="Garamond"/>
              </a:rPr>
              <a:t>Visa uncertainty; competitive cycles; sponsorship constraints by role; multi-year planning under policy risk.</a:t>
            </a:r>
          </a:p>
          <a:p>
            <a:pPr>
              <a:spcAft>
                <a:spcPts val="500"/>
              </a:spcAft>
            </a:pPr>
            <a:r>
              <a:rPr sz="1300" b="1" i="0">
                <a:solidFill>
                  <a:srgbClr val="0E141C"/>
                </a:solidFill>
                <a:latin typeface="Garamond"/>
              </a:rPr>
              <a:t>Ideal Profile</a:t>
            </a:r>
          </a:p>
          <a:p>
            <a:pPr>
              <a:spcAft>
                <a:spcPts val="500"/>
              </a:spcAft>
            </a:pPr>
            <a:r>
              <a:rPr sz="1250" b="0" i="0">
                <a:solidFill>
                  <a:srgbClr val="3D4A58"/>
                </a:solidFill>
                <a:latin typeface="Garamond"/>
              </a:rPr>
              <a:t>High-demand technical/analytical fit; clear project proof; comfort with immigration planning; targets proven sponsors.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309360" y="1783080"/>
            <a:ext cx="5257800" cy="4297680"/>
          </a:xfrm>
          <a:prstGeom prst="rect">
            <a:avLst/>
          </a:prstGeom>
          <a:solidFill>
            <a:srgbClr val="0B1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09360" y="1783080"/>
            <a:ext cx="5257800" cy="31750"/>
          </a:xfrm>
          <a:prstGeom prst="rect">
            <a:avLst/>
          </a:prstGeom>
          <a:solidFill>
            <a:srgbClr val="7EB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2011680"/>
            <a:ext cx="4709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7EB0C8"/>
                </a:solidFill>
                <a:latin typeface="Garamond"/>
              </a:rPr>
              <a:t>02  ·  SECURE U.S. INTERNSHIPS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23160"/>
            <a:ext cx="470916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b="1" i="0">
                <a:solidFill>
                  <a:srgbClr val="FFFFFF"/>
                </a:solidFill>
                <a:latin typeface="Garamond"/>
              </a:rPr>
              <a:t>Advantages</a:t>
            </a:r>
          </a:p>
          <a:p>
            <a:pPr>
              <a:spcAft>
                <a:spcPts val="500"/>
              </a:spcAft>
            </a:pPr>
            <a:r>
              <a:rPr sz="1250" b="0" i="0">
                <a:solidFill>
                  <a:srgbClr val="7EB0C8"/>
                </a:solidFill>
                <a:latin typeface="Garamond"/>
              </a:rPr>
              <a:t>Test industry fit; primary full-time conversion path; U.S. references; clarifies sponsorship before graduation.</a:t>
            </a:r>
          </a:p>
          <a:p>
            <a:pPr>
              <a:spcAft>
                <a:spcPts val="500"/>
              </a:spcAft>
            </a:pPr>
            <a:r>
              <a:rPr sz="1300" b="1" i="0">
                <a:solidFill>
                  <a:srgbClr val="FFFFFF"/>
                </a:solidFill>
                <a:latin typeface="Garamond"/>
              </a:rPr>
              <a:t>Challenges</a:t>
            </a:r>
          </a:p>
          <a:p>
            <a:pPr>
              <a:spcAft>
                <a:spcPts val="500"/>
              </a:spcAft>
            </a:pPr>
            <a:r>
              <a:rPr sz="1250" b="0" i="0">
                <a:solidFill>
                  <a:srgbClr val="7EB0C8"/>
                </a:solidFill>
                <a:latin typeface="Garamond"/>
              </a:rPr>
              <a:t>Early deadlines; CPT/OPT timing; limited brand slots; polished materials required while still studying.</a:t>
            </a:r>
          </a:p>
          <a:p>
            <a:pPr>
              <a:spcAft>
                <a:spcPts val="500"/>
              </a:spcAft>
            </a:pPr>
            <a:r>
              <a:rPr sz="1300" b="1" i="0">
                <a:solidFill>
                  <a:srgbClr val="FFFFFF"/>
                </a:solidFill>
                <a:latin typeface="Garamond"/>
              </a:rPr>
              <a:t>Ideal Profile</a:t>
            </a:r>
          </a:p>
          <a:p>
            <a:pPr>
              <a:spcAft>
                <a:spcPts val="500"/>
              </a:spcAft>
            </a:pPr>
            <a:r>
              <a:rPr sz="1250" b="0" i="0">
                <a:solidFill>
                  <a:srgbClr val="7EB0C8"/>
                </a:solidFill>
                <a:latin typeface="Garamond"/>
              </a:rPr>
              <a:t>Freshmen–master’s in conversion windows; projects mapped to role families; pursues both brand and high-fit firms.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4A7A92"/>
                </a:solidFill>
                <a:latin typeface="Garamond"/>
              </a:rPr>
              <a:t>2) CAREER PLANNING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640080"/>
            <a:ext cx="777240" cy="25400"/>
          </a:xfrm>
          <a:prstGeom prst="rect">
            <a:avLst/>
          </a:prstGeom>
          <a:solidFill>
            <a:srgbClr val="7EB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E141C"/>
                </a:solidFill>
                <a:latin typeface="Garamond"/>
              </a:rPr>
              <a:t>Pathways in Detail: Return to China &amp; Cross-Border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783080"/>
            <a:ext cx="5440680" cy="4297680"/>
          </a:xfrm>
          <a:prstGeom prst="rect">
            <a:avLst/>
          </a:prstGeom>
          <a:solidFill>
            <a:srgbClr val="0B1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783080"/>
            <a:ext cx="5440680" cy="31750"/>
          </a:xfrm>
          <a:prstGeom prst="rect">
            <a:avLst/>
          </a:prstGeom>
          <a:solidFill>
            <a:srgbClr val="7EB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4892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7EB0C8"/>
                </a:solidFill>
                <a:latin typeface="Garamond"/>
              </a:rPr>
              <a:t>03  ·  RETURN TO CHINA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423160"/>
            <a:ext cx="489204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b="1" i="0">
                <a:solidFill>
                  <a:srgbClr val="FFFFFF"/>
                </a:solidFill>
                <a:latin typeface="Garamond"/>
              </a:rPr>
              <a:t>Advantages</a:t>
            </a:r>
          </a:p>
          <a:p>
            <a:pPr>
              <a:spcAft>
                <a:spcPts val="500"/>
              </a:spcAft>
            </a:pPr>
            <a:r>
              <a:rPr sz="1250" b="0" i="0">
                <a:solidFill>
                  <a:srgbClr val="7EB0C8"/>
                </a:solidFill>
                <a:latin typeface="Garamond"/>
              </a:rPr>
              <a:t>Returnee programs and incentives; high-tech demand; language/cultural fluency; faster leadership in growth companies.</a:t>
            </a:r>
          </a:p>
          <a:p>
            <a:pPr>
              <a:spcAft>
                <a:spcPts val="500"/>
              </a:spcAft>
            </a:pPr>
            <a:r>
              <a:rPr sz="1300" b="1" i="0">
                <a:solidFill>
                  <a:srgbClr val="FFFFFF"/>
                </a:solidFill>
                <a:latin typeface="Garamond"/>
              </a:rPr>
              <a:t>Challenges</a:t>
            </a:r>
          </a:p>
          <a:p>
            <a:pPr>
              <a:spcAft>
                <a:spcPts val="500"/>
              </a:spcAft>
            </a:pPr>
            <a:r>
              <a:rPr sz="1250" b="0" i="0">
                <a:solidFill>
                  <a:srgbClr val="7EB0C8"/>
                </a:solidFill>
                <a:latin typeface="Garamond"/>
              </a:rPr>
              <a:t>Retranslate U.S. experience; rebuild networks; city/industry choice matters; time return around market cycles.</a:t>
            </a:r>
          </a:p>
          <a:p>
            <a:pPr>
              <a:spcAft>
                <a:spcPts val="500"/>
              </a:spcAft>
            </a:pPr>
            <a:r>
              <a:rPr sz="1300" b="1" i="0">
                <a:solidFill>
                  <a:srgbClr val="FFFFFF"/>
                </a:solidFill>
                <a:latin typeface="Garamond"/>
              </a:rPr>
              <a:t>Ideal Profile</a:t>
            </a:r>
          </a:p>
          <a:p>
            <a:pPr>
              <a:spcAft>
                <a:spcPts val="500"/>
              </a:spcAft>
            </a:pPr>
            <a:r>
              <a:rPr sz="1250" b="0" i="0">
                <a:solidFill>
                  <a:srgbClr val="7EB0C8"/>
                </a:solidFill>
                <a:latin typeface="Garamond"/>
              </a:rPr>
              <a:t>Clear China-market thesis; can articulate overseas differentiation; open to entrepreneurship or high-growth tech.</a:t>
            </a:r>
          </a:p>
        </p:txBody>
      </p:sp>
      <p:sp>
        <p:nvSpPr>
          <p:cNvPr id="9" name="Rectangle 8"/>
          <p:cNvSpPr/>
          <p:nvPr/>
        </p:nvSpPr>
        <p:spPr>
          <a:xfrm>
            <a:off x="6309360" y="1783080"/>
            <a:ext cx="5257800" cy="4297680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09360" y="1783080"/>
            <a:ext cx="5257800" cy="31750"/>
          </a:xfrm>
          <a:prstGeom prst="rect">
            <a:avLst/>
          </a:prstGeom>
          <a:solidFill>
            <a:srgbClr val="7EB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2011680"/>
            <a:ext cx="4709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4A7A92"/>
                </a:solidFill>
                <a:latin typeface="Garamond"/>
              </a:rPr>
              <a:t>04  ·  REMOTE &amp; CROSS-BORDER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23160"/>
            <a:ext cx="470916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b="1" i="0">
                <a:solidFill>
                  <a:srgbClr val="0E141C"/>
                </a:solidFill>
                <a:latin typeface="Garamond"/>
              </a:rPr>
              <a:t>Advantages</a:t>
            </a:r>
          </a:p>
          <a:p>
            <a:pPr>
              <a:spcAft>
                <a:spcPts val="500"/>
              </a:spcAft>
            </a:pPr>
            <a:r>
              <a:rPr sz="1250" b="0" i="0">
                <a:solidFill>
                  <a:srgbClr val="3D4A58"/>
                </a:solidFill>
                <a:latin typeface="Garamond"/>
              </a:rPr>
              <a:t>Optionality across markets; fits consulting/research/startups; bridges U.S. employers and China operations.</a:t>
            </a:r>
          </a:p>
          <a:p>
            <a:pPr>
              <a:spcAft>
                <a:spcPts val="500"/>
              </a:spcAft>
            </a:pPr>
            <a:r>
              <a:rPr sz="1300" b="1" i="0">
                <a:solidFill>
                  <a:srgbClr val="0E141C"/>
                </a:solidFill>
                <a:latin typeface="Garamond"/>
              </a:rPr>
              <a:t>Challenges</a:t>
            </a:r>
          </a:p>
          <a:p>
            <a:pPr>
              <a:spcAft>
                <a:spcPts val="500"/>
              </a:spcAft>
            </a:pPr>
            <a:r>
              <a:rPr sz="1250" b="0" i="0">
                <a:solidFill>
                  <a:srgbClr val="3D4A58"/>
                </a:solidFill>
                <a:latin typeface="Garamond"/>
              </a:rPr>
              <a:t>Compliance/tax complexity; weaker local networks; some employers discount remote international profiles.</a:t>
            </a:r>
          </a:p>
          <a:p>
            <a:pPr>
              <a:spcAft>
                <a:spcPts val="500"/>
              </a:spcAft>
            </a:pPr>
            <a:r>
              <a:rPr sz="1300" b="1" i="0">
                <a:solidFill>
                  <a:srgbClr val="0E141C"/>
                </a:solidFill>
                <a:latin typeface="Garamond"/>
              </a:rPr>
              <a:t>Ideal Profile</a:t>
            </a:r>
          </a:p>
          <a:p>
            <a:pPr>
              <a:spcAft>
                <a:spcPts val="500"/>
              </a:spcAft>
            </a:pPr>
            <a:r>
              <a:rPr sz="1250" b="0" i="0">
                <a:solidFill>
                  <a:srgbClr val="3D4A58"/>
                </a:solidFill>
                <a:latin typeface="Garamond"/>
              </a:rPr>
              <a:t>Independent operators with proven remote delivery; outcome-based roles; dual-market communication strength.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4A7A92"/>
                </a:solidFill>
                <a:latin typeface="Garamond"/>
              </a:rPr>
              <a:t>3) JOB-SEARCH STRATEGIES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640080"/>
            <a:ext cx="777240" cy="25400"/>
          </a:xfrm>
          <a:prstGeom prst="rect">
            <a:avLst/>
          </a:prstGeom>
          <a:solidFill>
            <a:srgbClr val="7EB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E141C"/>
                </a:solidFill>
                <a:latin typeface="Garamond"/>
              </a:rPr>
              <a:t>Practical Playbook for High-Growth Industries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26187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1">
                <a:solidFill>
                  <a:srgbClr val="6B7A8A"/>
                </a:solidFill>
                <a:latin typeface="Garamond"/>
              </a:rPr>
              <a:t>Technology, aerospace, commercial space, and advanced manufacturing.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874519"/>
            <a:ext cx="3566160" cy="2057400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874519"/>
            <a:ext cx="3566160" cy="25400"/>
          </a:xfrm>
          <a:prstGeom prst="rect">
            <a:avLst/>
          </a:prstGeom>
          <a:solidFill>
            <a:srgbClr val="7EB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2002535"/>
            <a:ext cx="457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4A7A92"/>
                </a:solidFill>
                <a:latin typeface="Garamond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2258567"/>
            <a:ext cx="323697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 i="0">
                <a:solidFill>
                  <a:srgbClr val="0E141C"/>
                </a:solidFill>
                <a:latin typeface="Garamond"/>
              </a:rPr>
              <a:t>Resume Optimization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" y="2679191"/>
            <a:ext cx="3236976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D4A58"/>
                </a:solidFill>
                <a:latin typeface="Garamond"/>
              </a:rPr>
              <a:t>Translate academics into employer-ready impact statements.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19" y="1874519"/>
            <a:ext cx="3566160" cy="2057400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19" y="1874519"/>
            <a:ext cx="3566160" cy="25400"/>
          </a:xfrm>
          <a:prstGeom prst="rect">
            <a:avLst/>
          </a:prstGeom>
          <a:solidFill>
            <a:srgbClr val="7EB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53711" y="2002535"/>
            <a:ext cx="457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4A7A92"/>
                </a:solidFill>
                <a:latin typeface="Garamond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53711" y="2258567"/>
            <a:ext cx="323697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 i="0">
                <a:solidFill>
                  <a:srgbClr val="0E141C"/>
                </a:solidFill>
                <a:latin typeface="Garamond"/>
              </a:rPr>
              <a:t>Interview Preparation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53711" y="2679191"/>
            <a:ext cx="3236976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D4A58"/>
                </a:solidFill>
                <a:latin typeface="Garamond"/>
              </a:rPr>
              <a:t>Technical depth, storytelling, and sponsorship-ready clarity.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8158" y="1874519"/>
            <a:ext cx="3566160" cy="2057400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38158" y="1874519"/>
            <a:ext cx="3566160" cy="25400"/>
          </a:xfrm>
          <a:prstGeom prst="rect">
            <a:avLst/>
          </a:prstGeom>
          <a:solidFill>
            <a:srgbClr val="7EB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02750" y="2002535"/>
            <a:ext cx="457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4A7A92"/>
                </a:solidFill>
                <a:latin typeface="Garamon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02750" y="2258567"/>
            <a:ext cx="323697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 i="0">
                <a:solidFill>
                  <a:srgbClr val="0E141C"/>
                </a:solidFill>
                <a:latin typeface="Garamond"/>
              </a:rPr>
              <a:t>Leverage Research Experience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02750" y="2679191"/>
            <a:ext cx="3236976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D4A58"/>
                </a:solidFill>
                <a:latin typeface="Garamond"/>
              </a:rPr>
              <a:t>Turn labs, papers, and projects into professional proof.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4114799"/>
            <a:ext cx="3566160" cy="2057400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0080" y="4114799"/>
            <a:ext cx="3566160" cy="25400"/>
          </a:xfrm>
          <a:prstGeom prst="rect">
            <a:avLst/>
          </a:prstGeom>
          <a:solidFill>
            <a:srgbClr val="7EB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242815"/>
            <a:ext cx="457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4A7A92"/>
                </a:solidFill>
                <a:latin typeface="Garamond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" y="4498847"/>
            <a:ext cx="323697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 i="0">
                <a:solidFill>
                  <a:srgbClr val="0E141C"/>
                </a:solidFill>
                <a:latin typeface="Garamond"/>
              </a:rPr>
              <a:t>Marketable Strengths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" y="4919471"/>
            <a:ext cx="3236976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D4A58"/>
                </a:solidFill>
                <a:latin typeface="Garamond"/>
              </a:rPr>
              <a:t>Map research skills to capabilities companies hire for.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89119" y="4114799"/>
            <a:ext cx="3566160" cy="2057400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389119" y="4114799"/>
            <a:ext cx="3566160" cy="25400"/>
          </a:xfrm>
          <a:prstGeom prst="rect">
            <a:avLst/>
          </a:prstGeom>
          <a:solidFill>
            <a:srgbClr val="7EB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53711" y="4242815"/>
            <a:ext cx="457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4A7A92"/>
                </a:solidFill>
                <a:latin typeface="Garamond"/>
              </a:rPr>
              <a:t>05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53711" y="4498847"/>
            <a:ext cx="323697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 i="0">
                <a:solidFill>
                  <a:srgbClr val="0E141C"/>
                </a:solidFill>
                <a:latin typeface="Garamond"/>
              </a:rPr>
              <a:t>Referrals &amp; Networks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53711" y="4919471"/>
            <a:ext cx="3236976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D4A58"/>
                </a:solidFill>
                <a:latin typeface="Garamond"/>
              </a:rPr>
              <a:t>Access roles before they hit public job boards.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138158" y="4114799"/>
            <a:ext cx="3566160" cy="2057400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138158" y="4114799"/>
            <a:ext cx="3566160" cy="25400"/>
          </a:xfrm>
          <a:prstGeom prst="rect">
            <a:avLst/>
          </a:prstGeom>
          <a:solidFill>
            <a:srgbClr val="7EB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302750" y="4242815"/>
            <a:ext cx="457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4A7A92"/>
                </a:solidFill>
                <a:latin typeface="Garamond"/>
              </a:rPr>
              <a:t>06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02750" y="4498847"/>
            <a:ext cx="323697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 i="0">
                <a:solidFill>
                  <a:srgbClr val="0E141C"/>
                </a:solidFill>
                <a:latin typeface="Garamond"/>
              </a:rPr>
              <a:t>Emerging Industry Mapping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02750" y="4919471"/>
            <a:ext cx="3236976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D4A58"/>
                </a:solidFill>
                <a:latin typeface="Garamond"/>
              </a:rPr>
              <a:t>Enter new demand pockets while they are still forming.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4A7A92"/>
                </a:solidFill>
                <a:latin typeface="Garamond"/>
              </a:rPr>
              <a:t>3) JOB-SEARCH STRATEGIES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640080"/>
            <a:ext cx="777240" cy="25400"/>
          </a:xfrm>
          <a:prstGeom prst="rect">
            <a:avLst/>
          </a:prstGeom>
          <a:solidFill>
            <a:srgbClr val="7EB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E141C"/>
                </a:solidFill>
                <a:latin typeface="Garamond"/>
              </a:rPr>
              <a:t>Resume Optimization &amp; Interview Preparation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783080"/>
            <a:ext cx="5440680" cy="4297680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783080"/>
            <a:ext cx="5440680" cy="31750"/>
          </a:xfrm>
          <a:prstGeom prst="rect">
            <a:avLst/>
          </a:prstGeom>
          <a:solidFill>
            <a:srgbClr val="7EB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4892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E141C"/>
                </a:solidFill>
                <a:latin typeface="Garamond"/>
              </a:rPr>
              <a:t>Resume Optimization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514600"/>
            <a:ext cx="48920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 i="0">
                <a:solidFill>
                  <a:srgbClr val="3D4A58"/>
                </a:solidFill>
                <a:latin typeface="Garamond"/>
              </a:rPr>
              <a:t>•  Lead with outcomes, not course lists</a:t>
            </a:r>
          </a:p>
          <a:p>
            <a:pPr>
              <a:spcAft>
                <a:spcPts val="600"/>
              </a:spcAft>
            </a:pPr>
            <a:r>
              <a:rPr sz="1300" b="0" i="0">
                <a:solidFill>
                  <a:srgbClr val="3D4A58"/>
                </a:solidFill>
                <a:latin typeface="Garamond"/>
              </a:rPr>
              <a:t>•  Quantify scope: scale, speed, accuracy, ownership</a:t>
            </a:r>
          </a:p>
          <a:p>
            <a:pPr>
              <a:spcAft>
                <a:spcPts val="600"/>
              </a:spcAft>
            </a:pPr>
            <a:r>
              <a:rPr sz="1300" b="0" i="0">
                <a:solidFill>
                  <a:srgbClr val="3D4A58"/>
                </a:solidFill>
                <a:latin typeface="Garamond"/>
              </a:rPr>
              <a:t>•  Mirror role-family language (systems, product, research, ops)</a:t>
            </a:r>
          </a:p>
          <a:p>
            <a:pPr>
              <a:spcAft>
                <a:spcPts val="600"/>
              </a:spcAft>
            </a:pPr>
            <a:r>
              <a:rPr sz="1300" b="0" i="0">
                <a:solidFill>
                  <a:srgbClr val="3D4A58"/>
                </a:solidFill>
                <a:latin typeface="Garamond"/>
              </a:rPr>
              <a:t>•  State work authorization clearly when helpful</a:t>
            </a:r>
          </a:p>
          <a:p>
            <a:pPr>
              <a:spcAft>
                <a:spcPts val="600"/>
              </a:spcAft>
            </a:pPr>
            <a:r>
              <a:rPr sz="1300" b="0" i="0">
                <a:solidFill>
                  <a:srgbClr val="3D4A58"/>
                </a:solidFill>
                <a:latin typeface="Garamond"/>
              </a:rPr>
              <a:t>•  Cut generic soft-skill filler; keep proof</a:t>
            </a:r>
          </a:p>
          <a:p>
            <a:pPr>
              <a:spcAft>
                <a:spcPts val="600"/>
              </a:spcAft>
            </a:pPr>
            <a:r>
              <a:rPr sz="1300" b="0" i="0">
                <a:solidFill>
                  <a:srgbClr val="3D4A58"/>
                </a:solidFill>
                <a:latin typeface="Garamond"/>
              </a:rPr>
              <a:t>•  Maintain 2–3 industry-tailored variants</a:t>
            </a:r>
          </a:p>
          <a:p>
            <a:pPr>
              <a:spcAft>
                <a:spcPts val="600"/>
              </a:spcAft>
            </a:pPr>
            <a:r>
              <a:rPr sz="1300" b="0" i="0">
                <a:solidFill>
                  <a:srgbClr val="3D4A58"/>
                </a:solidFill>
                <a:latin typeface="Garamond"/>
              </a:rPr>
              <a:t>•  For aerospace/space: emphasize systems, reliability, testing</a:t>
            </a:r>
          </a:p>
        </p:txBody>
      </p:sp>
      <p:sp>
        <p:nvSpPr>
          <p:cNvPr id="9" name="Rectangle 8"/>
          <p:cNvSpPr/>
          <p:nvPr/>
        </p:nvSpPr>
        <p:spPr>
          <a:xfrm>
            <a:off x="6309360" y="1783080"/>
            <a:ext cx="5257800" cy="4297680"/>
          </a:xfrm>
          <a:prstGeom prst="rect">
            <a:avLst/>
          </a:prstGeom>
          <a:solidFill>
            <a:srgbClr val="0B1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09360" y="1783080"/>
            <a:ext cx="5257800" cy="31750"/>
          </a:xfrm>
          <a:prstGeom prst="rect">
            <a:avLst/>
          </a:prstGeom>
          <a:solidFill>
            <a:srgbClr val="7EB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2011680"/>
            <a:ext cx="4709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Garamond"/>
              </a:rPr>
              <a:t>Interview Preparation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514600"/>
            <a:ext cx="47091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 i="0">
                <a:solidFill>
                  <a:srgbClr val="7EB0C8"/>
                </a:solidFill>
                <a:latin typeface="Garamond"/>
              </a:rPr>
              <a:t>•  Prepare a 60-second career narrative with a clear thesis</a:t>
            </a:r>
          </a:p>
          <a:p>
            <a:pPr>
              <a:spcAft>
                <a:spcPts val="600"/>
              </a:spcAft>
            </a:pPr>
            <a:r>
              <a:rPr sz="1300" b="0" i="0">
                <a:solidFill>
                  <a:srgbClr val="7EB0C8"/>
                </a:solidFill>
                <a:latin typeface="Garamond"/>
              </a:rPr>
              <a:t>•  Practice technical depth and tradeoff explanations</a:t>
            </a:r>
          </a:p>
          <a:p>
            <a:pPr>
              <a:spcAft>
                <a:spcPts val="600"/>
              </a:spcAft>
            </a:pPr>
            <a:r>
              <a:rPr sz="1300" b="0" i="0">
                <a:solidFill>
                  <a:srgbClr val="7EB0C8"/>
                </a:solidFill>
                <a:latin typeface="Garamond"/>
              </a:rPr>
              <a:t>•  Build STAR stories for ownership and collaboration</a:t>
            </a:r>
          </a:p>
          <a:p>
            <a:pPr>
              <a:spcAft>
                <a:spcPts val="600"/>
              </a:spcAft>
            </a:pPr>
            <a:r>
              <a:rPr sz="1300" b="0" i="0">
                <a:solidFill>
                  <a:srgbClr val="7EB0C8"/>
                </a:solidFill>
                <a:latin typeface="Garamond"/>
              </a:rPr>
              <a:t>•  Anticipate sponsorship questions with calm specificity</a:t>
            </a:r>
          </a:p>
          <a:p>
            <a:pPr>
              <a:spcAft>
                <a:spcPts val="600"/>
              </a:spcAft>
            </a:pPr>
            <a:r>
              <a:rPr sz="1300" b="0" i="0">
                <a:solidFill>
                  <a:srgbClr val="7EB0C8"/>
                </a:solidFill>
                <a:latin typeface="Garamond"/>
              </a:rPr>
              <a:t>•  Research the team’s product/mission — not only the brand</a:t>
            </a:r>
          </a:p>
          <a:p>
            <a:pPr>
              <a:spcAft>
                <a:spcPts val="600"/>
              </a:spcAft>
            </a:pPr>
            <a:r>
              <a:rPr sz="1300" b="0" i="0">
                <a:solidFill>
                  <a:srgbClr val="7EB0C8"/>
                </a:solidFill>
                <a:latin typeface="Garamond"/>
              </a:rPr>
              <a:t>•  Ask questions that signal judgment</a:t>
            </a:r>
          </a:p>
          <a:p>
            <a:pPr>
              <a:spcAft>
                <a:spcPts val="600"/>
              </a:spcAft>
            </a:pPr>
            <a:r>
              <a:rPr sz="1300" b="0" i="0">
                <a:solidFill>
                  <a:srgbClr val="7EB0C8"/>
                </a:solidFill>
                <a:latin typeface="Garamond"/>
              </a:rPr>
              <a:t>•  Rehearse aloud; polish pacing under pressure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4A7A92"/>
                </a:solidFill>
                <a:latin typeface="Garamond"/>
              </a:rPr>
              <a:t>3) JOB-SEARCH STRATEGIES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640080"/>
            <a:ext cx="777240" cy="25400"/>
          </a:xfrm>
          <a:prstGeom prst="rect">
            <a:avLst/>
          </a:prstGeom>
          <a:solidFill>
            <a:srgbClr val="7EB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E141C"/>
                </a:solidFill>
                <a:latin typeface="Garamond"/>
              </a:rPr>
              <a:t>Research Translation, Networks &amp; Emerging Industries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783080"/>
            <a:ext cx="5440680" cy="4297680"/>
          </a:xfrm>
          <a:prstGeom prst="rect">
            <a:avLst/>
          </a:prstGeom>
          <a:solidFill>
            <a:srgbClr val="0B1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783080"/>
            <a:ext cx="5440680" cy="31750"/>
          </a:xfrm>
          <a:prstGeom prst="rect">
            <a:avLst/>
          </a:prstGeom>
          <a:solidFill>
            <a:srgbClr val="7EB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057400"/>
            <a:ext cx="4983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Garamond"/>
              </a:rPr>
              <a:t>From Research to Market Proof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651760"/>
            <a:ext cx="49834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7EB0C8"/>
                </a:solidFill>
                <a:latin typeface="Garamond"/>
              </a:rPr>
              <a:t>•  Inventory methods, tools, datasets, and systems you used</a:t>
            </a:r>
          </a:p>
          <a:p>
            <a:pPr algn="l"/>
            <a:r>
              <a:rPr sz="1350" b="0" i="0">
                <a:solidFill>
                  <a:srgbClr val="7EB0C8"/>
                </a:solidFill>
                <a:latin typeface="Garamond"/>
              </a:rPr>
              <a:t>•  Identify decisions you owned — not only tasks completed</a:t>
            </a:r>
          </a:p>
          <a:p>
            <a:pPr algn="l"/>
            <a:r>
              <a:rPr sz="1350" b="0" i="0">
                <a:solidFill>
                  <a:srgbClr val="7EB0C8"/>
                </a:solidFill>
                <a:latin typeface="Garamond"/>
              </a:rPr>
              <a:t>•  Package thesis/capstone as problem → approach → result</a:t>
            </a:r>
          </a:p>
          <a:p>
            <a:pPr algn="l"/>
            <a:r>
              <a:rPr sz="1350" b="0" i="0">
                <a:solidFill>
                  <a:srgbClr val="7EB0C8"/>
                </a:solidFill>
                <a:latin typeface="Garamond"/>
              </a:rPr>
              <a:t>•  Map lab skills to job families: ML, systems, hardware, analyst, PM</a:t>
            </a:r>
          </a:p>
          <a:p>
            <a:pPr algn="l"/>
            <a:r>
              <a:rPr sz="1350" b="0" i="0">
                <a:solidFill>
                  <a:srgbClr val="7EB0C8"/>
                </a:solidFill>
                <a:latin typeface="Garamond"/>
              </a:rPr>
              <a:t>•  Replace publication counts with business-relevant impact</a:t>
            </a:r>
          </a:p>
        </p:txBody>
      </p:sp>
      <p:sp>
        <p:nvSpPr>
          <p:cNvPr id="9" name="Rectangle 8"/>
          <p:cNvSpPr/>
          <p:nvPr/>
        </p:nvSpPr>
        <p:spPr>
          <a:xfrm>
            <a:off x="6309360" y="1783080"/>
            <a:ext cx="5440680" cy="4297680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09360" y="1783080"/>
            <a:ext cx="5440680" cy="31750"/>
          </a:xfrm>
          <a:prstGeom prst="rect">
            <a:avLst/>
          </a:prstGeom>
          <a:solidFill>
            <a:srgbClr val="7EB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7960" y="2057400"/>
            <a:ext cx="4983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E141C"/>
                </a:solidFill>
                <a:latin typeface="Garamond"/>
              </a:rPr>
              <a:t>Referrals &amp; Emerging Entry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60" y="2651760"/>
            <a:ext cx="49834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3D4A58"/>
                </a:solidFill>
                <a:latin typeface="Garamond"/>
              </a:rPr>
              <a:t>•  Prioritize alumni, lab mates, prior managers, and faculty</a:t>
            </a:r>
          </a:p>
          <a:p>
            <a:pPr algn="l"/>
            <a:r>
              <a:rPr sz="1350" b="0" i="0">
                <a:solidFill>
                  <a:srgbClr val="3D4A58"/>
                </a:solidFill>
                <a:latin typeface="Garamond"/>
              </a:rPr>
              <a:t>•  Make specific asks: team, role family, timeline</a:t>
            </a:r>
          </a:p>
          <a:p>
            <a:pPr algn="l"/>
            <a:r>
              <a:rPr sz="1350" b="0" i="0">
                <a:solidFill>
                  <a:srgbClr val="3D4A58"/>
                </a:solidFill>
                <a:latin typeface="Garamond"/>
              </a:rPr>
              <a:t>•  Track capital, policy, and hiring signals — not only brands</a:t>
            </a:r>
          </a:p>
          <a:p>
            <a:pPr algn="l"/>
            <a:r>
              <a:rPr sz="1350" b="0" i="0">
                <a:solidFill>
                  <a:srgbClr val="3D4A58"/>
                </a:solidFill>
                <a:latin typeface="Garamond"/>
              </a:rPr>
              <a:t>•  Watch commercial space, AI infrastructure, advanced manufacturing</a:t>
            </a:r>
          </a:p>
          <a:p>
            <a:pPr algn="l"/>
            <a:r>
              <a:rPr sz="1350" b="0" i="0">
                <a:solidFill>
                  <a:srgbClr val="3D4A58"/>
                </a:solidFill>
                <a:latin typeface="Garamond"/>
              </a:rPr>
              <a:t>•  Run a 90-day experiment: learn, project, outreach, apply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4A7A92"/>
                </a:solidFill>
                <a:latin typeface="Garamond"/>
              </a:rPr>
              <a:t>4) RETURN TO CHINA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640080"/>
            <a:ext cx="777240" cy="25400"/>
          </a:xfrm>
          <a:prstGeom prst="rect">
            <a:avLst/>
          </a:prstGeom>
          <a:solidFill>
            <a:srgbClr val="7EB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E141C"/>
                </a:solidFill>
                <a:latin typeface="Garamond"/>
              </a:rPr>
              <a:t>Career Opportunities for International Talent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26187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1">
                <a:solidFill>
                  <a:srgbClr val="6B7A8A"/>
                </a:solidFill>
                <a:latin typeface="Garamond"/>
              </a:rPr>
              <a:t>Employment and talent-development paths for internationally educated graduates.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874519"/>
            <a:ext cx="3566160" cy="4206240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874519"/>
            <a:ext cx="3566160" cy="25400"/>
          </a:xfrm>
          <a:prstGeom prst="rect">
            <a:avLst/>
          </a:prstGeom>
          <a:solidFill>
            <a:srgbClr val="7EB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2002535"/>
            <a:ext cx="457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4A7A92"/>
                </a:solidFill>
                <a:latin typeface="Garamond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2258567"/>
            <a:ext cx="323697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 i="0">
                <a:solidFill>
                  <a:srgbClr val="0E141C"/>
                </a:solidFill>
                <a:latin typeface="Garamond"/>
              </a:rPr>
              <a:t>Talent Recruitment &amp;</a:t>
            </a:r>
          </a:p>
          <a:p>
            <a:pPr algn="l"/>
            <a:r>
              <a:rPr sz="1350" b="1" i="0">
                <a:solidFill>
                  <a:srgbClr val="0E141C"/>
                </a:solidFill>
                <a:latin typeface="Garamond"/>
              </a:rPr>
              <a:t>Development Programs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" y="2679191"/>
            <a:ext cx="3236976" cy="3246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D4A58"/>
                </a:solidFill>
                <a:latin typeface="Garamond"/>
              </a:rPr>
              <a:t>Structured returnee programs that accelerate placement, benefits, and local integration for overseas-educated talent.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19" y="1874519"/>
            <a:ext cx="3566160" cy="4206240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19" y="1874519"/>
            <a:ext cx="3566160" cy="25400"/>
          </a:xfrm>
          <a:prstGeom prst="rect">
            <a:avLst/>
          </a:prstGeom>
          <a:solidFill>
            <a:srgbClr val="7EB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53711" y="2002535"/>
            <a:ext cx="457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4A7A92"/>
                </a:solidFill>
                <a:latin typeface="Garamond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53711" y="2258567"/>
            <a:ext cx="323697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 i="0">
                <a:solidFill>
                  <a:srgbClr val="0E141C"/>
                </a:solidFill>
                <a:latin typeface="Garamond"/>
              </a:rPr>
              <a:t>Innovation &amp;</a:t>
            </a:r>
          </a:p>
          <a:p>
            <a:pPr algn="l"/>
            <a:r>
              <a:rPr sz="1350" b="1" i="0">
                <a:solidFill>
                  <a:srgbClr val="0E141C"/>
                </a:solidFill>
                <a:latin typeface="Garamond"/>
              </a:rPr>
              <a:t>Entrepreneurship Incentives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53711" y="2679191"/>
            <a:ext cx="3236976" cy="3246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D4A58"/>
                </a:solidFill>
                <a:latin typeface="Garamond"/>
              </a:rPr>
              <a:t>Policy support, incubation resources, and startup incentives designed to attract returnee founders.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8158" y="1874519"/>
            <a:ext cx="3566160" cy="4206240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38158" y="1874519"/>
            <a:ext cx="3566160" cy="25400"/>
          </a:xfrm>
          <a:prstGeom prst="rect">
            <a:avLst/>
          </a:prstGeom>
          <a:solidFill>
            <a:srgbClr val="7EB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02750" y="2002535"/>
            <a:ext cx="457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4A7A92"/>
                </a:solidFill>
                <a:latin typeface="Garamon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02750" y="2258567"/>
            <a:ext cx="323697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 i="0">
                <a:solidFill>
                  <a:srgbClr val="0E141C"/>
                </a:solidFill>
                <a:latin typeface="Garamond"/>
              </a:rPr>
              <a:t>High-Tech Industry</a:t>
            </a:r>
          </a:p>
          <a:p>
            <a:pPr algn="l"/>
            <a:r>
              <a:rPr sz="1350" b="1" i="0">
                <a:solidFill>
                  <a:srgbClr val="0E141C"/>
                </a:solidFill>
                <a:latin typeface="Garamond"/>
              </a:rPr>
              <a:t>Opportunities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02750" y="2679191"/>
            <a:ext cx="3236976" cy="3246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D4A58"/>
                </a:solidFill>
                <a:latin typeface="Garamond"/>
              </a:rPr>
              <a:t>Demand across advanced technology and industrial upgrading that values global training plus local execution.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4A7A92"/>
                </a:solidFill>
                <a:latin typeface="Garamond"/>
              </a:rPr>
              <a:t>4) RETURN TO CHINA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640080"/>
            <a:ext cx="777240" cy="25400"/>
          </a:xfrm>
          <a:prstGeom prst="rect">
            <a:avLst/>
          </a:prstGeom>
          <a:solidFill>
            <a:srgbClr val="7EB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E141C"/>
                </a:solidFill>
                <a:latin typeface="Garamond"/>
              </a:rPr>
              <a:t>Priority Sectors &amp; Emerging Talent Gaps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783080"/>
            <a:ext cx="6766560" cy="841248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783080"/>
            <a:ext cx="38100" cy="841248"/>
          </a:xfrm>
          <a:prstGeom prst="rect">
            <a:avLst/>
          </a:prstGeom>
          <a:solidFill>
            <a:srgbClr val="7EB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92808"/>
            <a:ext cx="6126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E141C"/>
                </a:solidFill>
                <a:latin typeface="Garamond"/>
              </a:rPr>
              <a:t>Commercial Space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194560"/>
            <a:ext cx="6126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D4A58"/>
                </a:solidFill>
                <a:latin typeface="Garamond"/>
              </a:rPr>
              <a:t>Globally trained engineers, operators, and business talent who understand U.S. practice and China market dynamics.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743200"/>
            <a:ext cx="6766560" cy="841248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743200"/>
            <a:ext cx="38100" cy="841248"/>
          </a:xfrm>
          <a:prstGeom prst="rect">
            <a:avLst/>
          </a:prstGeom>
          <a:solidFill>
            <a:srgbClr val="7EB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852928"/>
            <a:ext cx="6126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E141C"/>
                </a:solidFill>
                <a:latin typeface="Garamond"/>
              </a:rPr>
              <a:t>Digital Economy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154680"/>
            <a:ext cx="6126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D4A58"/>
                </a:solidFill>
                <a:latin typeface="Garamond"/>
              </a:rPr>
              <a:t>Platform, AI, data, and digital infrastructure roles where international product/research exposure is an advantage.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3703320"/>
            <a:ext cx="6766560" cy="841248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3703320"/>
            <a:ext cx="38100" cy="841248"/>
          </a:xfrm>
          <a:prstGeom prst="rect">
            <a:avLst/>
          </a:prstGeom>
          <a:solidFill>
            <a:srgbClr val="7EB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3813048"/>
            <a:ext cx="6126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E141C"/>
                </a:solidFill>
                <a:latin typeface="Garamond"/>
              </a:rPr>
              <a:t>Emerging Technology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4114800"/>
            <a:ext cx="6126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D4A58"/>
                </a:solidFill>
                <a:latin typeface="Garamond"/>
              </a:rPr>
              <a:t>Autonomy, advanced materials, climate tech, and dual-use innovation — acute mid-to-senior technical shortages.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80960" y="1783080"/>
            <a:ext cx="3886200" cy="4297680"/>
          </a:xfrm>
          <a:prstGeom prst="rect">
            <a:avLst/>
          </a:prstGeom>
          <a:solidFill>
            <a:srgbClr val="0B1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80960" y="1783080"/>
            <a:ext cx="3886200" cy="31750"/>
          </a:xfrm>
          <a:prstGeom prst="rect">
            <a:avLst/>
          </a:prstGeom>
          <a:solidFill>
            <a:srgbClr val="7EB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55279" y="2057400"/>
            <a:ext cx="3337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Garamond"/>
              </a:rPr>
              <a:t>Positioning Strategy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55279" y="2606040"/>
            <a:ext cx="33375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 i="0">
                <a:solidFill>
                  <a:srgbClr val="7EB0C8"/>
                </a:solidFill>
                <a:latin typeface="Garamond"/>
              </a:rPr>
              <a:t>•  Lead with problem ownership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7EB0C8"/>
                </a:solidFill>
                <a:latin typeface="Garamond"/>
              </a:rPr>
              <a:t>•  Show China-market relevance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7EB0C8"/>
                </a:solidFill>
                <a:latin typeface="Garamond"/>
              </a:rPr>
              <a:t>•  Choose city + sector deliberately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7EB0C8"/>
                </a:solidFill>
                <a:latin typeface="Garamond"/>
              </a:rPr>
              <a:t>•  Use talent programs as accelerators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7EB0C8"/>
                </a:solidFill>
                <a:latin typeface="Garamond"/>
              </a:rPr>
              <a:t>•  Build a 12-month proof plan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7EB0C8"/>
                </a:solidFill>
                <a:latin typeface="Garamond"/>
              </a:rPr>
              <a:t>•  Highlight cross-border fluency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4A7A92"/>
                </a:solidFill>
                <a:latin typeface="Garamond"/>
              </a:rPr>
              <a:t>5) LIVE Q&amp;A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640080"/>
            <a:ext cx="777240" cy="25400"/>
          </a:xfrm>
          <a:prstGeom prst="rect">
            <a:avLst/>
          </a:prstGeom>
          <a:solidFill>
            <a:srgbClr val="7EB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E141C"/>
                </a:solidFill>
                <a:latin typeface="Garamond"/>
              </a:rPr>
              <a:t>Interactive Discussion Themes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26187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1">
                <a:solidFill>
                  <a:srgbClr val="6B7A8A"/>
                </a:solidFill>
                <a:latin typeface="Garamond"/>
              </a:rPr>
              <a:t>Bring individual situations — the most useful answers are specific.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874519"/>
            <a:ext cx="3566160" cy="2057400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874519"/>
            <a:ext cx="3566160" cy="25400"/>
          </a:xfrm>
          <a:prstGeom prst="rect">
            <a:avLst/>
          </a:prstGeom>
          <a:solidFill>
            <a:srgbClr val="7EB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2020823"/>
            <a:ext cx="323697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 i="0">
                <a:solidFill>
                  <a:srgbClr val="0E141C"/>
                </a:solidFill>
                <a:latin typeface="Garamond"/>
              </a:rPr>
              <a:t>Career Track Selection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2441447"/>
            <a:ext cx="3236976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D4A58"/>
                </a:solidFill>
                <a:latin typeface="Garamond"/>
              </a:rPr>
              <a:t>How to choose among industries, role families, and geographies with incomplete information.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119" y="1874519"/>
            <a:ext cx="3566160" cy="2057400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89119" y="1874519"/>
            <a:ext cx="3566160" cy="25400"/>
          </a:xfrm>
          <a:prstGeom prst="rect">
            <a:avLst/>
          </a:prstGeom>
          <a:solidFill>
            <a:srgbClr val="7EB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53711" y="2020823"/>
            <a:ext cx="323697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 i="0">
                <a:solidFill>
                  <a:srgbClr val="0E141C"/>
                </a:solidFill>
                <a:latin typeface="Garamond"/>
              </a:rPr>
              <a:t>Industry Transitions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53711" y="2441447"/>
            <a:ext cx="3236976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D4A58"/>
                </a:solidFill>
                <a:latin typeface="Garamond"/>
              </a:rPr>
              <a:t>How to move into a new field by reframing transferable strengths and proof points.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38158" y="1874519"/>
            <a:ext cx="3566160" cy="2057400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138158" y="1874519"/>
            <a:ext cx="3566160" cy="25400"/>
          </a:xfrm>
          <a:prstGeom prst="rect">
            <a:avLst/>
          </a:prstGeom>
          <a:solidFill>
            <a:srgbClr val="7EB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02750" y="2020823"/>
            <a:ext cx="323697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 i="0">
                <a:solidFill>
                  <a:srgbClr val="0E141C"/>
                </a:solidFill>
                <a:latin typeface="Garamond"/>
              </a:rPr>
              <a:t>Internship Planning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02750" y="2441447"/>
            <a:ext cx="3236976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D4A58"/>
                </a:solidFill>
                <a:latin typeface="Garamond"/>
              </a:rPr>
              <a:t>Timing, targeting, CPT/OPT sequencing, and converting internships into offers.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4114799"/>
            <a:ext cx="3566160" cy="2057400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4114799"/>
            <a:ext cx="3566160" cy="25400"/>
          </a:xfrm>
          <a:prstGeom prst="rect">
            <a:avLst/>
          </a:prstGeom>
          <a:solidFill>
            <a:srgbClr val="7EB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2" y="4261103"/>
            <a:ext cx="323697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 i="0">
                <a:solidFill>
                  <a:srgbClr val="0E141C"/>
                </a:solidFill>
                <a:latin typeface="Garamond"/>
              </a:rPr>
              <a:t>Career &amp; Immigration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" y="4681727"/>
            <a:ext cx="3236976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D4A58"/>
                </a:solidFill>
                <a:latin typeface="Garamond"/>
              </a:rPr>
              <a:t>Aligning offers, visas, employer risk tolerance, and long-term career design.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119" y="4114799"/>
            <a:ext cx="3566160" cy="2057400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389119" y="4114799"/>
            <a:ext cx="3566160" cy="25400"/>
          </a:xfrm>
          <a:prstGeom prst="rect">
            <a:avLst/>
          </a:prstGeom>
          <a:solidFill>
            <a:srgbClr val="7EB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53711" y="4261103"/>
            <a:ext cx="323697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 i="0">
                <a:solidFill>
                  <a:srgbClr val="0E141C"/>
                </a:solidFill>
                <a:latin typeface="Garamond"/>
              </a:rPr>
              <a:t>Return-to-China Strategies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53711" y="4681727"/>
            <a:ext cx="3236976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D4A58"/>
                </a:solidFill>
                <a:latin typeface="Garamond"/>
              </a:rPr>
              <a:t>How to position overseas experience for domestic programs, sectors, and cities.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138158" y="4114799"/>
            <a:ext cx="3566160" cy="2057400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138158" y="4114799"/>
            <a:ext cx="3566160" cy="25400"/>
          </a:xfrm>
          <a:prstGeom prst="rect">
            <a:avLst/>
          </a:prstGeom>
          <a:solidFill>
            <a:srgbClr val="7EB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302750" y="4261103"/>
            <a:ext cx="323697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 i="0">
                <a:solidFill>
                  <a:srgbClr val="0E141C"/>
                </a:solidFill>
                <a:latin typeface="Garamond"/>
              </a:rPr>
              <a:t>Common Pitfalls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02750" y="4681727"/>
            <a:ext cx="3236976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D4A58"/>
                </a:solidFill>
                <a:latin typeface="Garamond"/>
              </a:rPr>
              <a:t>Late planning, generic materials, single-path bets, and other search-slowing mistakes.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4A7A92"/>
                </a:solidFill>
                <a:latin typeface="Garamond"/>
              </a:rPr>
              <a:t>5) LIVE Q&amp;A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640080"/>
            <a:ext cx="777240" cy="25400"/>
          </a:xfrm>
          <a:prstGeom prst="rect">
            <a:avLst/>
          </a:prstGeom>
          <a:solidFill>
            <a:srgbClr val="7EB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E141C"/>
                </a:solidFill>
                <a:latin typeface="Garamond"/>
              </a:rPr>
              <a:t>How to Get the Most from This Discussion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28800"/>
            <a:ext cx="10927080" cy="932688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084832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4A7A92"/>
                </a:solidFill>
                <a:latin typeface="Garamond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37360" y="1993392"/>
            <a:ext cx="9326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E141C"/>
                </a:solidFill>
                <a:latin typeface="Garamond"/>
              </a:rPr>
              <a:t>State your stage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37360" y="2304288"/>
            <a:ext cx="9326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D4A58"/>
                </a:solidFill>
                <a:latin typeface="Garamond"/>
              </a:rPr>
              <a:t>Freshman, senior, master’s, Ph.D., parent, or service provider — stage changes the advice.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880360"/>
            <a:ext cx="10927080" cy="932688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136392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4A7A92"/>
                </a:solidFill>
                <a:latin typeface="Garamond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37360" y="3044952"/>
            <a:ext cx="9326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E141C"/>
                </a:solidFill>
                <a:latin typeface="Garamond"/>
              </a:rPr>
              <a:t>Name the decision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37360" y="3355848"/>
            <a:ext cx="9326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D4A58"/>
                </a:solidFill>
                <a:latin typeface="Garamond"/>
              </a:rPr>
              <a:t>U.S. vs. China, internship vs. full-time, industry A vs. B — frame a real fork.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3931920"/>
            <a:ext cx="10927080" cy="932688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4187952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4A7A92"/>
                </a:solidFill>
                <a:latin typeface="Garamond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37360" y="4096512"/>
            <a:ext cx="9326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E141C"/>
                </a:solidFill>
                <a:latin typeface="Garamond"/>
              </a:rPr>
              <a:t>Share constraints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37360" y="4407408"/>
            <a:ext cx="9326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D4A58"/>
                </a:solidFill>
                <a:latin typeface="Garamond"/>
              </a:rPr>
              <a:t>Visa timing, city preference, risk tolerance, family considerations, and timeline.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4983480"/>
            <a:ext cx="10927080" cy="932688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5239512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4A7A92"/>
                </a:solidFill>
                <a:latin typeface="Garamond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37360" y="5148072"/>
            <a:ext cx="9326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E141C"/>
                </a:solidFill>
                <a:latin typeface="Garamond"/>
              </a:rPr>
              <a:t>Ask for a next step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37360" y="5458968"/>
            <a:ext cx="9326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D4A58"/>
                </a:solidFill>
                <a:latin typeface="Garamond"/>
              </a:rPr>
              <a:t>The best questions end with: what should I do in the next 30–90 days?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4A7A92"/>
                </a:solidFill>
                <a:latin typeface="Garamond"/>
              </a:rPr>
              <a:t>SESSION I · SYNTHESIS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640080"/>
            <a:ext cx="777240" cy="25400"/>
          </a:xfrm>
          <a:prstGeom prst="rect">
            <a:avLst/>
          </a:prstGeom>
          <a:solidFill>
            <a:srgbClr val="7EB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E141C"/>
                </a:solidFill>
                <a:latin typeface="Garamond"/>
              </a:rPr>
              <a:t>Key Takeaways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783080"/>
            <a:ext cx="10927080" cy="777240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984248"/>
            <a:ext cx="594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4A7A92"/>
                </a:solidFill>
                <a:latin typeface="Garamond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45920" y="1892808"/>
            <a:ext cx="9509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1" i="0">
                <a:solidFill>
                  <a:srgbClr val="0E141C"/>
                </a:solidFill>
                <a:latin typeface="Garamond"/>
              </a:rPr>
              <a:t>Choose a pathway with intention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2194560"/>
            <a:ext cx="9509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3D4A58"/>
                </a:solidFill>
                <a:latin typeface="Garamond"/>
              </a:rPr>
              <a:t>U.S. career, internship, return, or cross-border — each has a different risk/reward profile.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651760"/>
            <a:ext cx="10927080" cy="777240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852928"/>
            <a:ext cx="594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4A7A92"/>
                </a:solidFill>
                <a:latin typeface="Garamond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45920" y="2761488"/>
            <a:ext cx="9509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1" i="0">
                <a:solidFill>
                  <a:srgbClr val="0E141C"/>
                </a:solidFill>
                <a:latin typeface="Garamond"/>
              </a:rPr>
              <a:t>Translate credentials into proof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45920" y="3063240"/>
            <a:ext cx="9509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3D4A58"/>
                </a:solidFill>
                <a:latin typeface="Garamond"/>
              </a:rPr>
              <a:t>Employers hire evidence of ownership, judgment, and domain fit — not degree lines alone.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3520440"/>
            <a:ext cx="10927080" cy="777240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3721608"/>
            <a:ext cx="594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4A7A92"/>
                </a:solidFill>
                <a:latin typeface="Garamond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45920" y="3630168"/>
            <a:ext cx="9509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1" i="0">
                <a:solidFill>
                  <a:srgbClr val="0E141C"/>
                </a:solidFill>
                <a:latin typeface="Garamond"/>
              </a:rPr>
              <a:t>Plan visas and timelines early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45920" y="3931920"/>
            <a:ext cx="9509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3D4A58"/>
                </a:solidFill>
                <a:latin typeface="Garamond"/>
              </a:rPr>
              <a:t>CPT/OPT/sponsorship constraints should shape recruiting strategy before peak season.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4389120"/>
            <a:ext cx="10927080" cy="777240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0288"/>
            <a:ext cx="594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4A7A92"/>
                </a:solidFill>
                <a:latin typeface="Garamond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45920" y="4498848"/>
            <a:ext cx="9509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1" i="0">
                <a:solidFill>
                  <a:srgbClr val="0E141C"/>
                </a:solidFill>
                <a:latin typeface="Garamond"/>
              </a:rPr>
              <a:t>Build the network that opens doors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4800600"/>
            <a:ext cx="9509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3D4A58"/>
                </a:solidFill>
                <a:latin typeface="Garamond"/>
              </a:rPr>
              <a:t>Referrals, alumni, and mission communities outperform mass applications in high-growth fields.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5257800"/>
            <a:ext cx="10927080" cy="777240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5458968"/>
            <a:ext cx="594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4A7A92"/>
                </a:solidFill>
                <a:latin typeface="Garamond"/>
              </a:rPr>
              <a:t>05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45920" y="5367528"/>
            <a:ext cx="9509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1" i="0">
                <a:solidFill>
                  <a:srgbClr val="0E141C"/>
                </a:solidFill>
                <a:latin typeface="Garamond"/>
              </a:rPr>
              <a:t>Keep a dual-market option set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45920" y="5669280"/>
            <a:ext cx="9509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3D4A58"/>
                </a:solidFill>
                <a:latin typeface="Garamond"/>
              </a:rPr>
              <a:t>U.S. and China pathways can be sequenced — optionality is a strategy, not indecision.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4A7A92"/>
                </a:solidFill>
                <a:latin typeface="Garamond"/>
              </a:rPr>
              <a:t>SESSION I · DECISION AID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640080"/>
            <a:ext cx="777240" cy="25400"/>
          </a:xfrm>
          <a:prstGeom prst="rect">
            <a:avLst/>
          </a:prstGeom>
          <a:solidFill>
            <a:srgbClr val="7EB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E141C"/>
                </a:solidFill>
                <a:latin typeface="Garamond"/>
              </a:rPr>
              <a:t>U.S. Career vs. Returning to China — At a Glance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26187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1">
                <a:solidFill>
                  <a:srgbClr val="6B7A8A"/>
                </a:solidFill>
                <a:latin typeface="Garamond"/>
              </a:rPr>
              <a:t>A practical frame for the featured topic of today’s session.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828800"/>
            <a:ext cx="3383280" cy="640080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4800" y="1828800"/>
            <a:ext cx="3749039" cy="640080"/>
          </a:xfrm>
          <a:prstGeom prst="rect">
            <a:avLst/>
          </a:prstGeom>
          <a:solidFill>
            <a:srgbClr val="0B1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955279" y="1828800"/>
            <a:ext cx="3611880" cy="640080"/>
          </a:xfrm>
          <a:prstGeom prst="rect">
            <a:avLst/>
          </a:prstGeom>
          <a:solidFill>
            <a:srgbClr val="0B1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993392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E141C"/>
                </a:solidFill>
                <a:latin typeface="Garamond"/>
              </a:rPr>
              <a:t>Dimension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0" y="1993392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Garamond"/>
              </a:rPr>
              <a:t>Build in the U.S.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38160" y="1993392"/>
            <a:ext cx="3246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Garamond"/>
              </a:rPr>
              <a:t>Return to China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2560320"/>
            <a:ext cx="3383280" cy="640080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0" y="2560320"/>
            <a:ext cx="3749039" cy="640080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955279" y="2560320"/>
            <a:ext cx="3611880" cy="640080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2724912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E141C"/>
                </a:solidFill>
                <a:latin typeface="Garamond"/>
              </a:rPr>
              <a:t>Primary leverage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97680" y="2724912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3D4A58"/>
                </a:solidFill>
                <a:latin typeface="Garamond"/>
              </a:rPr>
              <a:t>Employer brand + sponsorship path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38160" y="2724912"/>
            <a:ext cx="3246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3D4A58"/>
                </a:solidFill>
                <a:latin typeface="Garamond"/>
              </a:rPr>
              <a:t>Overseas credentials + local programs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3246120"/>
            <a:ext cx="3383280" cy="640080"/>
          </a:xfrm>
          <a:prstGeom prst="rect">
            <a:avLst/>
          </a:prstGeom>
          <a:solidFill>
            <a:srgbClr val="FBFC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114800" y="3246120"/>
            <a:ext cx="3749039" cy="640080"/>
          </a:xfrm>
          <a:prstGeom prst="rect">
            <a:avLst/>
          </a:prstGeom>
          <a:solidFill>
            <a:srgbClr val="FBFC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955279" y="3246120"/>
            <a:ext cx="3611880" cy="640080"/>
          </a:xfrm>
          <a:prstGeom prst="rect">
            <a:avLst/>
          </a:prstGeom>
          <a:solidFill>
            <a:srgbClr val="FBFC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3410712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E141C"/>
                </a:solidFill>
                <a:latin typeface="Garamond"/>
              </a:rPr>
              <a:t>Main risk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97680" y="3410712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3D4A58"/>
                </a:solidFill>
                <a:latin typeface="Garamond"/>
              </a:rPr>
              <a:t>Visa / policy uncertainty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38160" y="3410712"/>
            <a:ext cx="3246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3D4A58"/>
                </a:solidFill>
                <a:latin typeface="Garamond"/>
              </a:rPr>
              <a:t>Network rebuild + market fit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" y="3931920"/>
            <a:ext cx="3383280" cy="640080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114800" y="3931920"/>
            <a:ext cx="3749039" cy="640080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955279" y="3931920"/>
            <a:ext cx="3611880" cy="640080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4096512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E141C"/>
                </a:solidFill>
                <a:latin typeface="Garamond"/>
              </a:rPr>
              <a:t>Best early move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97680" y="4096512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3D4A58"/>
                </a:solidFill>
                <a:latin typeface="Garamond"/>
              </a:rPr>
              <a:t>Internship conversion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38160" y="4096512"/>
            <a:ext cx="3246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3D4A58"/>
                </a:solidFill>
                <a:latin typeface="Garamond"/>
              </a:rPr>
              <a:t>Sector + city thesis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" y="4617720"/>
            <a:ext cx="3383280" cy="640080"/>
          </a:xfrm>
          <a:prstGeom prst="rect">
            <a:avLst/>
          </a:prstGeom>
          <a:solidFill>
            <a:srgbClr val="FBFC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114800" y="4617720"/>
            <a:ext cx="3749039" cy="640080"/>
          </a:xfrm>
          <a:prstGeom prst="rect">
            <a:avLst/>
          </a:prstGeom>
          <a:solidFill>
            <a:srgbClr val="FBFC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955279" y="4617720"/>
            <a:ext cx="3611880" cy="640080"/>
          </a:xfrm>
          <a:prstGeom prst="rect">
            <a:avLst/>
          </a:prstGeom>
          <a:solidFill>
            <a:srgbClr val="FBFC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2960" y="4782312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E141C"/>
                </a:solidFill>
                <a:latin typeface="Garamond"/>
              </a:rPr>
              <a:t>Ideal proof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297680" y="4782312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3D4A58"/>
                </a:solidFill>
                <a:latin typeface="Garamond"/>
              </a:rPr>
              <a:t>U.S. projects &amp; referrals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138160" y="4782312"/>
            <a:ext cx="3246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3D4A58"/>
                </a:solidFill>
                <a:latin typeface="Garamond"/>
              </a:rPr>
              <a:t>Cross-border differentiation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40080" y="5303520"/>
            <a:ext cx="3383280" cy="640080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114800" y="5303520"/>
            <a:ext cx="3749039" cy="640080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955279" y="5303520"/>
            <a:ext cx="3611880" cy="640080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22960" y="5468112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E141C"/>
                </a:solidFill>
                <a:latin typeface="Garamond"/>
              </a:rPr>
              <a:t>Time horizon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297680" y="5468112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3D4A58"/>
                </a:solidFill>
                <a:latin typeface="Garamond"/>
              </a:rPr>
              <a:t>Multi-year immigration plan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138160" y="5468112"/>
            <a:ext cx="3246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3D4A58"/>
                </a:solidFill>
                <a:latin typeface="Garamond"/>
              </a:rPr>
              <a:t>12–24 month positioning plan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EB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509760" y="0"/>
            <a:ext cx="2681935" cy="6858000"/>
          </a:xfrm>
          <a:prstGeom prst="rect">
            <a:avLst/>
          </a:prstGeom>
          <a:solidFill>
            <a:srgbClr val="151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148840"/>
            <a:ext cx="38100" cy="2286000"/>
          </a:xfrm>
          <a:prstGeom prst="rect">
            <a:avLst/>
          </a:prstGeom>
          <a:solidFill>
            <a:srgbClr val="7EB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148840"/>
            <a:ext cx="7863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7EB0C8"/>
                </a:solidFill>
                <a:latin typeface="Garamond"/>
              </a:rPr>
              <a:t>SESSION I  ·  2:10 – 3:20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606040"/>
            <a:ext cx="7955279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Garamond"/>
              </a:rPr>
              <a:t>Questions &amp;</a:t>
            </a:r>
          </a:p>
          <a:p>
            <a:pPr algn="l"/>
            <a:r>
              <a:rPr sz="3400" b="1" i="0">
                <a:solidFill>
                  <a:srgbClr val="FFFFFF"/>
                </a:solidFill>
                <a:latin typeface="Garamond"/>
              </a:rPr>
              <a:t>Discussion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3977639"/>
            <a:ext cx="1645920" cy="19050"/>
          </a:xfrm>
          <a:prstGeom prst="rect">
            <a:avLst/>
          </a:prstGeom>
          <a:solidFill>
            <a:srgbClr val="7EB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4251960"/>
            <a:ext cx="7955279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500" b="0" i="1">
                <a:solidFill>
                  <a:srgbClr val="7EB0C8"/>
                </a:solidFill>
                <a:latin typeface="Garamond"/>
              </a:rPr>
              <a:t>Choose a pathway with intention.</a:t>
            </a:r>
          </a:p>
          <a:p>
            <a:pPr>
              <a:spcAft>
                <a:spcPts val="500"/>
              </a:spcAft>
            </a:pPr>
            <a:r>
              <a:rPr sz="1500" b="0" i="1">
                <a:solidFill>
                  <a:srgbClr val="7EB0C8"/>
                </a:solidFill>
                <a:latin typeface="Garamond"/>
              </a:rPr>
              <a:t>Translate credentials into proof.</a:t>
            </a:r>
          </a:p>
          <a:p>
            <a:pPr>
              <a:spcAft>
                <a:spcPts val="500"/>
              </a:spcAft>
            </a:pPr>
            <a:r>
              <a:rPr sz="1500" b="0" i="1">
                <a:solidFill>
                  <a:srgbClr val="7EB0C8"/>
                </a:solidFill>
                <a:latin typeface="Garamond"/>
              </a:rPr>
              <a:t>Build the network that opens the door.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5806440"/>
            <a:ext cx="7315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B7A8A"/>
                </a:solidFill>
                <a:latin typeface="Garamond"/>
              </a:rPr>
              <a:t>Next: Networking Break  ·  Session II begins at 3:35 PM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