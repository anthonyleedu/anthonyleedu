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73"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Space economy</c:v>
                </c:pt>
              </c:strCache>
            </c:strRef>
          </c:tx>
          <c:spPr>
            <a:solidFill>
              <a:srgbClr val="007BCB"/>
            </a:solidFill>
            <a:effectLst/>
          </c:spPr>
          <c:invertIfNegative val="0"/>
          <c:dLbls>
            <c:numFmt formatCode="&quot;$&quot;#,##0" sourceLinked="0"/>
            <c:spPr>
              <a:noFill/>
              <a:ln>
                <a:noFill/>
              </a:ln>
              <a:effectLst/>
            </c:spPr>
            <c:txPr>
              <a:bodyPr/>
              <a:lstStyle/>
              <a:p>
                <a:pPr>
                  <a:defRPr sz="1200" b="0" i="0" u="none" strike="noStrike">
                    <a:solidFill>
                      <a:srgbClr val="10222F"/>
                    </a:solidFill>
                    <a:latin typeface="Garamond"/>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2000</c:v>
                </c:pt>
                <c:pt idx="1">
                  <c:v>2023</c:v>
                </c:pt>
                <c:pt idx="2">
                  <c:v>2035E</c:v>
                </c:pt>
              </c:strCache>
            </c:strRef>
          </c:cat>
          <c:val>
            <c:numRef>
              <c:f>Sheet1!$B$2:$B$4</c:f>
              <c:numCache>
                <c:formatCode>General</c:formatCode>
                <c:ptCount val="3"/>
                <c:pt idx="0">
                  <c:v>130</c:v>
                </c:pt>
                <c:pt idx="1">
                  <c:v>630</c:v>
                </c:pt>
                <c:pt idx="2">
                  <c:v>1800</c:v>
                </c:pt>
              </c:numCache>
            </c:numRef>
          </c:val>
          <c:extLst>
            <c:ext xmlns:c16="http://schemas.microsoft.com/office/drawing/2014/chart" uri="{C3380CC4-5D6E-409C-BE32-E72D297353CC}">
              <c16:uniqueId val="{00000000-E3F6-4BC5-9A3F-458733825326}"/>
            </c:ext>
          </c:extLst>
        </c:ser>
        <c:dLbls>
          <c:dLblPos val="outEnd"/>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5C6B76"/>
                </a:solidFill>
                <a:latin typeface="Garamond"/>
              </a:defRPr>
            </a:pPr>
            <a:endParaRPr lang="en-US"/>
          </a:p>
        </c:txPr>
        <c:crossAx val="2094734552"/>
        <c:crosses val="autoZero"/>
        <c:auto val="1"/>
        <c:lblAlgn val="ctr"/>
        <c:lblOffset val="100"/>
        <c:noMultiLvlLbl val="1"/>
      </c:catAx>
      <c:valAx>
        <c:axId val="2094734552"/>
        <c:scaling>
          <c:orientation val="minMax"/>
          <c:max val="200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169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3.jpg"/><Relationship Id="rId7"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 Id="rId9" Type="http://schemas.openxmlformats.org/officeDocument/2006/relationships/image" Target="../media/image10.jp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jpg"/><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7.jpg"/><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22.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10.xml.rels><?xml version="1.0" encoding="UTF-8" standalone="yes"?>
<Relationships xmlns="http://schemas.openxmlformats.org/package/2006/relationships"><Relationship Id="rId8" Type="http://schemas.openxmlformats.org/officeDocument/2006/relationships/image" Target="../media/image27.jpg"/><Relationship Id="rId3" Type="http://schemas.openxmlformats.org/officeDocument/2006/relationships/image" Target="../media/image3.jpg"/><Relationship Id="rId7" Type="http://schemas.openxmlformats.org/officeDocument/2006/relationships/image" Target="../media/image26.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8.jpg"/></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title_bg.jpg"/>
          <p:cNvPicPr>
            <a:picLocks noChangeAspect="1"/>
          </p:cNvPicPr>
          <p:nvPr/>
        </p:nvPicPr>
        <p:blipFill>
          <a:blip r:embed="rId3"/>
          <a:stretch>
            <a:fillRect/>
          </a:stretch>
        </p:blipFill>
        <p:spPr>
          <a:xfrm>
            <a:off x="0" y="0"/>
            <a:ext cx="12191695" cy="6858000"/>
          </a:xfrm>
          <a:prstGeom prst="rect">
            <a:avLst/>
          </a:prstGeom>
        </p:spPr>
      </p:pic>
      <p:pic>
        <p:nvPicPr>
          <p:cNvPr id="3" name="Image 1" descr="assets/logo_white.png"/>
          <p:cNvPicPr>
            <a:picLocks noChangeAspect="1"/>
          </p:cNvPicPr>
          <p:nvPr/>
        </p:nvPicPr>
        <p:blipFill>
          <a:blip r:embed="rId4"/>
          <a:stretch>
            <a:fillRect/>
          </a:stretch>
        </p:blipFill>
        <p:spPr>
          <a:xfrm>
            <a:off x="822960" y="685800"/>
            <a:ext cx="2514600" cy="704088"/>
          </a:xfrm>
          <a:prstGeom prst="rect">
            <a:avLst/>
          </a:prstGeom>
        </p:spPr>
      </p:pic>
      <p:sp>
        <p:nvSpPr>
          <p:cNvPr id="4" name="Text 0"/>
          <p:cNvSpPr/>
          <p:nvPr/>
        </p:nvSpPr>
        <p:spPr>
          <a:xfrm>
            <a:off x="822960" y="2606040"/>
            <a:ext cx="5486400" cy="292608"/>
          </a:xfrm>
          <a:prstGeom prst="rect">
            <a:avLst/>
          </a:prstGeom>
          <a:noFill/>
          <a:ln/>
        </p:spPr>
        <p:txBody>
          <a:bodyPr wrap="square" lIns="0" tIns="0" rIns="0" bIns="0" rtlCol="0" anchor="ctr"/>
          <a:lstStyle/>
          <a:p>
            <a:pPr marL="0" indent="0">
              <a:buNone/>
            </a:pPr>
            <a:r>
              <a:rPr lang="en-US" sz="1200" b="1" kern="0" spc="350" dirty="0">
                <a:solidFill>
                  <a:srgbClr val="6FBCE8"/>
                </a:solidFill>
                <a:latin typeface="Garamond" pitchFamily="34" charset="0"/>
                <a:ea typeface="Garamond" pitchFamily="34" charset="-122"/>
                <a:cs typeface="Garamond" pitchFamily="34" charset="-120"/>
              </a:rPr>
              <a:t>COMPANY &amp; PRODUCT PRESENTATION</a:t>
            </a:r>
            <a:endParaRPr lang="en-US" sz="1200" dirty="0"/>
          </a:p>
        </p:txBody>
      </p:sp>
      <p:sp>
        <p:nvSpPr>
          <p:cNvPr id="5" name="Text 1"/>
          <p:cNvSpPr/>
          <p:nvPr/>
        </p:nvSpPr>
        <p:spPr>
          <a:xfrm>
            <a:off x="822960" y="2926080"/>
            <a:ext cx="10241280" cy="868680"/>
          </a:xfrm>
          <a:prstGeom prst="rect">
            <a:avLst/>
          </a:prstGeom>
          <a:noFill/>
          <a:ln/>
        </p:spPr>
        <p:txBody>
          <a:bodyPr wrap="square" lIns="0" tIns="0" rIns="0" bIns="0" rtlCol="0" anchor="ctr"/>
          <a:lstStyle/>
          <a:p>
            <a:pPr marL="0" indent="0">
              <a:buNone/>
            </a:pPr>
            <a:r>
              <a:rPr lang="en-US" sz="4600" b="1" dirty="0">
                <a:solidFill>
                  <a:srgbClr val="FFFFFF"/>
                </a:solidFill>
                <a:latin typeface="Garamond" pitchFamily="34" charset="0"/>
                <a:ea typeface="Garamond" pitchFamily="34" charset="-122"/>
                <a:cs typeface="Garamond" pitchFamily="34" charset="-120"/>
              </a:rPr>
              <a:t>Heliospace Corporation</a:t>
            </a:r>
            <a:endParaRPr lang="en-US" sz="4600" dirty="0"/>
          </a:p>
        </p:txBody>
      </p:sp>
      <p:sp>
        <p:nvSpPr>
          <p:cNvPr id="6" name="Text 2"/>
          <p:cNvSpPr/>
          <p:nvPr/>
        </p:nvSpPr>
        <p:spPr>
          <a:xfrm>
            <a:off x="822960" y="3886200"/>
            <a:ext cx="8138160" cy="777240"/>
          </a:xfrm>
          <a:prstGeom prst="rect">
            <a:avLst/>
          </a:prstGeom>
          <a:noFill/>
          <a:ln/>
        </p:spPr>
        <p:txBody>
          <a:bodyPr wrap="square" lIns="0" tIns="0" rIns="0" bIns="0" rtlCol="0" anchor="ctr"/>
          <a:lstStyle/>
          <a:p>
            <a:pPr marL="0" indent="0">
              <a:buNone/>
            </a:pPr>
            <a:r>
              <a:rPr lang="en-US" sz="1700" dirty="0">
                <a:solidFill>
                  <a:srgbClr val="DCE8F1"/>
                </a:solidFill>
                <a:latin typeface="Garamond" pitchFamily="34" charset="0"/>
                <a:ea typeface="Garamond" pitchFamily="34" charset="-122"/>
                <a:cs typeface="Garamond" pitchFamily="34" charset="-120"/>
              </a:rPr>
              <a:t>Flight proven deployable antennas, booms, and mechanisms for the expanding space economy</a:t>
            </a:r>
            <a:endParaRPr lang="en-US" sz="1700" dirty="0"/>
          </a:p>
        </p:txBody>
      </p:sp>
      <p:sp>
        <p:nvSpPr>
          <p:cNvPr id="7" name="Text 3"/>
          <p:cNvSpPr/>
          <p:nvPr/>
        </p:nvSpPr>
        <p:spPr>
          <a:xfrm>
            <a:off x="822960" y="4846320"/>
            <a:ext cx="6858000" cy="274320"/>
          </a:xfrm>
          <a:prstGeom prst="rect">
            <a:avLst/>
          </a:prstGeom>
          <a:noFill/>
          <a:ln/>
        </p:spPr>
        <p:txBody>
          <a:bodyPr wrap="square" lIns="0" tIns="0" rIns="0" bIns="0" rtlCol="0" anchor="ctr"/>
          <a:lstStyle/>
          <a:p>
            <a:pPr marL="0" indent="0">
              <a:buNone/>
            </a:pPr>
            <a:r>
              <a:rPr lang="en-US" sz="1100" kern="0" spc="250" dirty="0">
                <a:solidFill>
                  <a:srgbClr val="9FC5DE"/>
                </a:solidFill>
                <a:latin typeface="Garamond" pitchFamily="34" charset="0"/>
                <a:ea typeface="Garamond" pitchFamily="34" charset="-122"/>
                <a:cs typeface="Garamond" pitchFamily="34" charset="-120"/>
              </a:rPr>
              <a:t>NEW SPACE VISION   ×   REAL SPACE EXPERIENCE</a:t>
            </a:r>
            <a:endParaRPr lang="en-US" sz="1100" dirty="0"/>
          </a:p>
        </p:txBody>
      </p:sp>
      <p:sp>
        <p:nvSpPr>
          <p:cNvPr id="8" name="Text 4"/>
          <p:cNvSpPr/>
          <p:nvPr/>
        </p:nvSpPr>
        <p:spPr>
          <a:xfrm>
            <a:off x="822960" y="6172200"/>
            <a:ext cx="8229600" cy="274320"/>
          </a:xfrm>
          <a:prstGeom prst="rect">
            <a:avLst/>
          </a:prstGeom>
          <a:noFill/>
          <a:ln/>
        </p:spPr>
        <p:txBody>
          <a:bodyPr wrap="square" lIns="0" tIns="0" rIns="0" bIns="0" rtlCol="0" anchor="ctr"/>
          <a:lstStyle/>
          <a:p>
            <a:pPr marL="0" indent="0">
              <a:buNone/>
            </a:pPr>
            <a:r>
              <a:rPr lang="en-US" sz="1050" dirty="0">
                <a:solidFill>
                  <a:srgbClr val="B9C7D2"/>
                </a:solidFill>
                <a:latin typeface="Garamond" pitchFamily="34" charset="0"/>
                <a:ea typeface="Garamond" pitchFamily="34" charset="-122"/>
                <a:cs typeface="Garamond" pitchFamily="34" charset="-120"/>
              </a:rPr>
              <a:t>August 2026    |    Berkeley, California    |    Proprietary and Confidential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COMPANY OVERVIEW</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Heliospace at a Glance</a:t>
            </a:r>
            <a:endParaRPr lang="en-US" sz="2900" dirty="0"/>
          </a:p>
        </p:txBody>
      </p:sp>
      <p:pic>
        <p:nvPicPr>
          <p:cNvPr id="4" name="Image 0" descr="assets/logo_dark.jpg"/>
          <p:cNvPicPr>
            <a:picLocks noChangeAspect="1"/>
          </p:cNvPicPr>
          <p:nvPr/>
        </p:nvPicPr>
        <p:blipFill>
          <a:blip r:embed="rId3"/>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2</a:t>
            </a:r>
            <a:endParaRPr lang="en-US" sz="850" dirty="0"/>
          </a:p>
        </p:txBody>
      </p:sp>
      <p:sp>
        <p:nvSpPr>
          <p:cNvPr id="7" name="Text 4"/>
          <p:cNvSpPr/>
          <p:nvPr/>
        </p:nvSpPr>
        <p:spPr>
          <a:xfrm>
            <a:off x="822960" y="1463040"/>
            <a:ext cx="5440680" cy="1325880"/>
          </a:xfrm>
          <a:prstGeom prst="rect">
            <a:avLst/>
          </a:prstGeom>
          <a:noFill/>
          <a:ln/>
        </p:spPr>
        <p:txBody>
          <a:bodyPr wrap="square" lIns="0" tIns="0" rIns="0" bIns="0" rtlCol="0" anchor="t"/>
          <a:lstStyle/>
          <a:p>
            <a:pPr marL="0" indent="0">
              <a:lnSpc>
                <a:spcPct val="108000"/>
              </a:lnSpc>
              <a:buNone/>
            </a:pPr>
            <a:r>
              <a:rPr lang="en-US" sz="1350" dirty="0">
                <a:solidFill>
                  <a:srgbClr val="1E2A33"/>
                </a:solidFill>
                <a:latin typeface="Garamond" pitchFamily="34" charset="0"/>
                <a:ea typeface="Garamond" pitchFamily="34" charset="-122"/>
                <a:cs typeface="Garamond" pitchFamily="34" charset="-120"/>
              </a:rPr>
              <a:t>Helio is pioneering a new class of energy infrastructure: space based power systems, or power plants in space, that capture solar energy beyond Earth's atmosphere and beam it safely and efficiently to the surface. Our vision is to establish orbital energy platforms as a foundational layer of the global power grid, delivering uninterrupted, carbon free electricity at scale.</a:t>
            </a:r>
            <a:endParaRPr lang="en-US" sz="1350" dirty="0"/>
          </a:p>
        </p:txBody>
      </p:sp>
      <p:sp>
        <p:nvSpPr>
          <p:cNvPr id="8" name="Text 5"/>
          <p:cNvSpPr/>
          <p:nvPr/>
        </p:nvSpPr>
        <p:spPr>
          <a:xfrm>
            <a:off x="822960" y="2880360"/>
            <a:ext cx="5440680" cy="1097280"/>
          </a:xfrm>
          <a:prstGeom prst="rect">
            <a:avLst/>
          </a:prstGeom>
          <a:noFill/>
          <a:ln/>
        </p:spPr>
        <p:txBody>
          <a:bodyPr wrap="square" lIns="0" tIns="0" rIns="0" bIns="0" rtlCol="0" anchor="t"/>
          <a:lstStyle/>
          <a:p>
            <a:pPr marL="0" indent="0">
              <a:lnSpc>
                <a:spcPct val="108000"/>
              </a:lnSpc>
              <a:buNone/>
            </a:pPr>
            <a:r>
              <a:rPr lang="en-US" sz="1350" dirty="0">
                <a:solidFill>
                  <a:srgbClr val="1E2A33"/>
                </a:solidFill>
                <a:latin typeface="Garamond" pitchFamily="34" charset="0"/>
                <a:ea typeface="Garamond" pitchFamily="34" charset="-122"/>
                <a:cs typeface="Garamond" pitchFamily="34" charset="-120"/>
              </a:rPr>
              <a:t>Founded in 2018, Helio delivers cutting edge aerospace hardware, systems engineering, and mission services, supporting NASA, private companies, universities, and global space agencies. A trusted partner to more than a dozen organizations worldwide, with products operating from the Sun to Jupiter.</a:t>
            </a:r>
            <a:endParaRPr lang="en-US" sz="1350" dirty="0"/>
          </a:p>
        </p:txBody>
      </p:sp>
      <p:sp>
        <p:nvSpPr>
          <p:cNvPr id="9" name="Text 6"/>
          <p:cNvSpPr/>
          <p:nvPr/>
        </p:nvSpPr>
        <p:spPr>
          <a:xfrm>
            <a:off x="822960" y="4160520"/>
            <a:ext cx="2651760" cy="457200"/>
          </a:xfrm>
          <a:prstGeom prst="rect">
            <a:avLst/>
          </a:prstGeom>
          <a:noFill/>
          <a:ln/>
        </p:spPr>
        <p:txBody>
          <a:bodyPr wrap="square" lIns="0" tIns="0" rIns="0" bIns="0" rtlCol="0" anchor="ctr"/>
          <a:lstStyle/>
          <a:p>
            <a:pPr marL="0" indent="0">
              <a:buNone/>
            </a:pPr>
            <a:r>
              <a:rPr lang="en-US" sz="2800" b="1" dirty="0">
                <a:solidFill>
                  <a:srgbClr val="007BCB"/>
                </a:solidFill>
                <a:latin typeface="Garamond" pitchFamily="34" charset="0"/>
                <a:ea typeface="Garamond" pitchFamily="34" charset="-122"/>
                <a:cs typeface="Garamond" pitchFamily="34" charset="-120"/>
              </a:rPr>
              <a:t>40+</a:t>
            </a:r>
            <a:endParaRPr lang="en-US" sz="2800" dirty="0"/>
          </a:p>
        </p:txBody>
      </p:sp>
      <p:sp>
        <p:nvSpPr>
          <p:cNvPr id="10" name="Text 7"/>
          <p:cNvSpPr/>
          <p:nvPr/>
        </p:nvSpPr>
        <p:spPr>
          <a:xfrm>
            <a:off x="822960" y="4617720"/>
            <a:ext cx="2560320" cy="502920"/>
          </a:xfrm>
          <a:prstGeom prst="rect">
            <a:avLst/>
          </a:prstGeom>
          <a:noFill/>
          <a:ln/>
        </p:spPr>
        <p:txBody>
          <a:bodyPr wrap="square" lIns="0" tIns="0" rIns="0" bIns="0" rtlCol="0" anchor="t"/>
          <a:lstStyle/>
          <a:p>
            <a:pPr marL="0" indent="0">
              <a:buNone/>
            </a:pPr>
            <a:r>
              <a:rPr lang="en-US" sz="1050" dirty="0">
                <a:solidFill>
                  <a:srgbClr val="5C6B76"/>
                </a:solidFill>
                <a:latin typeface="Garamond" pitchFamily="34" charset="0"/>
                <a:ea typeface="Garamond" pitchFamily="34" charset="-122"/>
                <a:cs typeface="Garamond" pitchFamily="34" charset="-120"/>
              </a:rPr>
              <a:t>space flight missions supported</a:t>
            </a:r>
            <a:endParaRPr lang="en-US" sz="1050" dirty="0"/>
          </a:p>
        </p:txBody>
      </p:sp>
      <p:sp>
        <p:nvSpPr>
          <p:cNvPr id="11" name="Text 8"/>
          <p:cNvSpPr/>
          <p:nvPr/>
        </p:nvSpPr>
        <p:spPr>
          <a:xfrm>
            <a:off x="3611880" y="4160520"/>
            <a:ext cx="2651760" cy="457200"/>
          </a:xfrm>
          <a:prstGeom prst="rect">
            <a:avLst/>
          </a:prstGeom>
          <a:noFill/>
          <a:ln/>
        </p:spPr>
        <p:txBody>
          <a:bodyPr wrap="square" lIns="0" tIns="0" rIns="0" bIns="0" rtlCol="0" anchor="ctr"/>
          <a:lstStyle/>
          <a:p>
            <a:pPr marL="0" indent="0">
              <a:buNone/>
            </a:pPr>
            <a:r>
              <a:rPr lang="en-US" sz="2800" b="1" dirty="0">
                <a:solidFill>
                  <a:srgbClr val="007BCB"/>
                </a:solidFill>
                <a:latin typeface="Garamond" pitchFamily="34" charset="0"/>
                <a:ea typeface="Garamond" pitchFamily="34" charset="-122"/>
                <a:cs typeface="Garamond" pitchFamily="34" charset="-120"/>
              </a:rPr>
              <a:t>125+</a:t>
            </a:r>
            <a:endParaRPr lang="en-US" sz="2800" dirty="0"/>
          </a:p>
        </p:txBody>
      </p:sp>
      <p:sp>
        <p:nvSpPr>
          <p:cNvPr id="12" name="Text 9"/>
          <p:cNvSpPr/>
          <p:nvPr/>
        </p:nvSpPr>
        <p:spPr>
          <a:xfrm>
            <a:off x="3611880" y="4617720"/>
            <a:ext cx="2560320" cy="502920"/>
          </a:xfrm>
          <a:prstGeom prst="rect">
            <a:avLst/>
          </a:prstGeom>
          <a:noFill/>
          <a:ln/>
        </p:spPr>
        <p:txBody>
          <a:bodyPr wrap="square" lIns="0" tIns="0" rIns="0" bIns="0" rtlCol="0" anchor="t"/>
          <a:lstStyle/>
          <a:p>
            <a:pPr marL="0" indent="0">
              <a:buNone/>
            </a:pPr>
            <a:r>
              <a:rPr lang="en-US" sz="1050" dirty="0">
                <a:solidFill>
                  <a:srgbClr val="5C6B76"/>
                </a:solidFill>
                <a:latin typeface="Garamond" pitchFamily="34" charset="0"/>
                <a:ea typeface="Garamond" pitchFamily="34" charset="-122"/>
                <a:cs typeface="Garamond" pitchFamily="34" charset="-120"/>
              </a:rPr>
              <a:t>instruments and systems built</a:t>
            </a:r>
            <a:endParaRPr lang="en-US" sz="1050" dirty="0"/>
          </a:p>
        </p:txBody>
      </p:sp>
      <p:sp>
        <p:nvSpPr>
          <p:cNvPr id="13" name="Text 10"/>
          <p:cNvSpPr/>
          <p:nvPr/>
        </p:nvSpPr>
        <p:spPr>
          <a:xfrm>
            <a:off x="822960" y="5212080"/>
            <a:ext cx="2651760" cy="457200"/>
          </a:xfrm>
          <a:prstGeom prst="rect">
            <a:avLst/>
          </a:prstGeom>
          <a:noFill/>
          <a:ln/>
        </p:spPr>
        <p:txBody>
          <a:bodyPr wrap="square" lIns="0" tIns="0" rIns="0" bIns="0" rtlCol="0" anchor="ctr"/>
          <a:lstStyle/>
          <a:p>
            <a:pPr marL="0" indent="0">
              <a:buNone/>
            </a:pPr>
            <a:r>
              <a:rPr lang="en-US" sz="2800" b="1" dirty="0">
                <a:solidFill>
                  <a:srgbClr val="007BCB"/>
                </a:solidFill>
                <a:latin typeface="Garamond" pitchFamily="34" charset="0"/>
                <a:ea typeface="Garamond" pitchFamily="34" charset="-122"/>
                <a:cs typeface="Garamond" pitchFamily="34" charset="-120"/>
              </a:rPr>
              <a:t>30+</a:t>
            </a:r>
            <a:endParaRPr lang="en-US" sz="2800" dirty="0"/>
          </a:p>
        </p:txBody>
      </p:sp>
      <p:sp>
        <p:nvSpPr>
          <p:cNvPr id="14" name="Text 11"/>
          <p:cNvSpPr/>
          <p:nvPr/>
        </p:nvSpPr>
        <p:spPr>
          <a:xfrm>
            <a:off x="822960" y="5669280"/>
            <a:ext cx="2560320" cy="502920"/>
          </a:xfrm>
          <a:prstGeom prst="rect">
            <a:avLst/>
          </a:prstGeom>
          <a:noFill/>
          <a:ln/>
        </p:spPr>
        <p:txBody>
          <a:bodyPr wrap="square" lIns="0" tIns="0" rIns="0" bIns="0" rtlCol="0" anchor="t"/>
          <a:lstStyle/>
          <a:p>
            <a:pPr marL="0" indent="0">
              <a:buNone/>
            </a:pPr>
            <a:r>
              <a:rPr lang="en-US" sz="1050" dirty="0">
                <a:solidFill>
                  <a:srgbClr val="5C6B76"/>
                </a:solidFill>
                <a:latin typeface="Garamond" pitchFamily="34" charset="0"/>
                <a:ea typeface="Garamond" pitchFamily="34" charset="-122"/>
                <a:cs typeface="Garamond" pitchFamily="34" charset="-120"/>
              </a:rPr>
              <a:t>engineers on the team</a:t>
            </a:r>
            <a:endParaRPr lang="en-US" sz="1050" dirty="0"/>
          </a:p>
        </p:txBody>
      </p:sp>
      <p:sp>
        <p:nvSpPr>
          <p:cNvPr id="15" name="Text 12"/>
          <p:cNvSpPr/>
          <p:nvPr/>
        </p:nvSpPr>
        <p:spPr>
          <a:xfrm>
            <a:off x="3611880" y="5212080"/>
            <a:ext cx="2651760" cy="457200"/>
          </a:xfrm>
          <a:prstGeom prst="rect">
            <a:avLst/>
          </a:prstGeom>
          <a:noFill/>
          <a:ln/>
        </p:spPr>
        <p:txBody>
          <a:bodyPr wrap="square" lIns="0" tIns="0" rIns="0" bIns="0" rtlCol="0" anchor="ctr"/>
          <a:lstStyle/>
          <a:p>
            <a:pPr marL="0" indent="0">
              <a:buNone/>
            </a:pPr>
            <a:r>
              <a:rPr lang="en-US" sz="2800" b="1" dirty="0">
                <a:solidFill>
                  <a:srgbClr val="007BCB"/>
                </a:solidFill>
                <a:latin typeface="Garamond" pitchFamily="34" charset="0"/>
                <a:ea typeface="Garamond" pitchFamily="34" charset="-122"/>
                <a:cs typeface="Garamond" pitchFamily="34" charset="-120"/>
              </a:rPr>
              <a:t>$45M</a:t>
            </a:r>
            <a:endParaRPr lang="en-US" sz="2800" dirty="0"/>
          </a:p>
        </p:txBody>
      </p:sp>
      <p:sp>
        <p:nvSpPr>
          <p:cNvPr id="16" name="Text 13"/>
          <p:cNvSpPr/>
          <p:nvPr/>
        </p:nvSpPr>
        <p:spPr>
          <a:xfrm>
            <a:off x="3611880" y="5669280"/>
            <a:ext cx="2560320" cy="502920"/>
          </a:xfrm>
          <a:prstGeom prst="rect">
            <a:avLst/>
          </a:prstGeom>
          <a:noFill/>
          <a:ln/>
        </p:spPr>
        <p:txBody>
          <a:bodyPr wrap="square" lIns="0" tIns="0" rIns="0" bIns="0" rtlCol="0" anchor="t"/>
          <a:lstStyle/>
          <a:p>
            <a:pPr marL="0" indent="0">
              <a:buNone/>
            </a:pPr>
            <a:r>
              <a:rPr lang="en-US" sz="1050" dirty="0">
                <a:solidFill>
                  <a:srgbClr val="5C6B76"/>
                </a:solidFill>
                <a:latin typeface="Garamond" pitchFamily="34" charset="0"/>
                <a:ea typeface="Garamond" pitchFamily="34" charset="-122"/>
                <a:cs typeface="Garamond" pitchFamily="34" charset="-120"/>
              </a:rPr>
              <a:t>delivered in contracts</a:t>
            </a:r>
            <a:endParaRPr lang="en-US" sz="1050" dirty="0"/>
          </a:p>
        </p:txBody>
      </p:sp>
      <p:pic>
        <p:nvPicPr>
          <p:cNvPr id="17" name="Image 1" descr="assets/s2_hero.jpg"/>
          <p:cNvPicPr>
            <a:picLocks noChangeAspect="1"/>
          </p:cNvPicPr>
          <p:nvPr/>
        </p:nvPicPr>
        <p:blipFill>
          <a:blip r:embed="rId4"/>
          <a:stretch>
            <a:fillRect/>
          </a:stretch>
        </p:blipFill>
        <p:spPr>
          <a:xfrm>
            <a:off x="6537960" y="1463040"/>
            <a:ext cx="4828032" cy="3602736"/>
          </a:xfrm>
          <a:prstGeom prst="rect">
            <a:avLst/>
          </a:prstGeom>
        </p:spPr>
      </p:pic>
      <p:sp>
        <p:nvSpPr>
          <p:cNvPr id="18" name="Shape 14"/>
          <p:cNvSpPr/>
          <p:nvPr/>
        </p:nvSpPr>
        <p:spPr>
          <a:xfrm>
            <a:off x="6537960" y="1463040"/>
            <a:ext cx="4828032" cy="3602736"/>
          </a:xfrm>
          <a:prstGeom prst="rect">
            <a:avLst/>
          </a:prstGeom>
          <a:ln w="12700">
            <a:solidFill>
              <a:srgbClr val="C6D2DA"/>
            </a:solidFill>
            <a:prstDash val="solid"/>
          </a:ln>
        </p:spPr>
        <p:txBody>
          <a:bodyPr/>
          <a:lstStyle/>
          <a:p>
            <a:endParaRPr/>
          </a:p>
        </p:txBody>
      </p:sp>
      <p:sp>
        <p:nvSpPr>
          <p:cNvPr id="19" name="Text 15"/>
          <p:cNvSpPr/>
          <p:nvPr/>
        </p:nvSpPr>
        <p:spPr>
          <a:xfrm>
            <a:off x="6537960" y="5138928"/>
            <a:ext cx="4828032" cy="274320"/>
          </a:xfrm>
          <a:prstGeom prst="rect">
            <a:avLst/>
          </a:prstGeom>
          <a:noFill/>
          <a:ln/>
        </p:spPr>
        <p:txBody>
          <a:bodyPr wrap="square" lIns="0" tIns="0" rIns="0" bIns="0" rtlCol="0" anchor="ctr"/>
          <a:lstStyle/>
          <a:p>
            <a:pPr marL="0" indent="0">
              <a:buNone/>
            </a:pPr>
            <a:r>
              <a:rPr lang="en-US" sz="950" i="1" dirty="0">
                <a:solidFill>
                  <a:srgbClr val="5C6B76"/>
                </a:solidFill>
                <a:latin typeface="Garamond" pitchFamily="34" charset="0"/>
                <a:ea typeface="Garamond" pitchFamily="34" charset="-122"/>
                <a:cs typeface="Garamond" pitchFamily="34" charset="-120"/>
              </a:rPr>
              <a:t>Europa Clipper with Heliospace built REASON radar antennas deployed. Image credit: NASA.</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CAPABILITIES</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What We Do</a:t>
            </a:r>
            <a:endParaRPr lang="en-US" sz="2900" dirty="0"/>
          </a:p>
        </p:txBody>
      </p:sp>
      <p:pic>
        <p:nvPicPr>
          <p:cNvPr id="4" name="Image 0" descr="assets/logo_dark.jpg"/>
          <p:cNvPicPr>
            <a:picLocks noChangeAspect="1"/>
          </p:cNvPicPr>
          <p:nvPr/>
        </p:nvPicPr>
        <p:blipFill>
          <a:blip r:embed="rId3"/>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3</a:t>
            </a:r>
            <a:endParaRPr lang="en-US" sz="850" dirty="0"/>
          </a:p>
        </p:txBody>
      </p:sp>
      <p:sp>
        <p:nvSpPr>
          <p:cNvPr id="7" name="Text 4"/>
          <p:cNvSpPr/>
          <p:nvPr/>
        </p:nvSpPr>
        <p:spPr>
          <a:xfrm>
            <a:off x="822960" y="1353312"/>
            <a:ext cx="10424160" cy="320040"/>
          </a:xfrm>
          <a:prstGeom prst="rect">
            <a:avLst/>
          </a:prstGeom>
          <a:noFill/>
          <a:ln/>
        </p:spPr>
        <p:txBody>
          <a:bodyPr wrap="square" lIns="0" tIns="0" rIns="0" bIns="0" rtlCol="0" anchor="ctr"/>
          <a:lstStyle/>
          <a:p>
            <a:pPr marL="0" indent="0">
              <a:buNone/>
            </a:pPr>
            <a:r>
              <a:rPr lang="en-US" sz="1300" dirty="0">
                <a:solidFill>
                  <a:srgbClr val="5C6B76"/>
                </a:solidFill>
                <a:latin typeface="Garamond" pitchFamily="34" charset="0"/>
                <a:ea typeface="Garamond" pitchFamily="34" charset="-122"/>
                <a:cs typeface="Garamond" pitchFamily="34" charset="-120"/>
              </a:rPr>
              <a:t>Five product and revenue areas supported by a single Berkeley facility and quality system, from initial design through on orbit operations.</a:t>
            </a:r>
            <a:endParaRPr lang="en-US" sz="1300" dirty="0"/>
          </a:p>
        </p:txBody>
      </p:sp>
      <p:sp>
        <p:nvSpPr>
          <p:cNvPr id="8" name="Shape 4"/>
          <p:cNvSpPr/>
          <p:nvPr/>
        </p:nvSpPr>
        <p:spPr>
          <a:xfrm>
            <a:off x="822960" y="1874519"/>
            <a:ext cx="3392424" cy="2057400"/>
          </a:xfrm>
          <a:prstGeom prst="roundRect">
            <a:avLst>
              <a:gd name="adj" fmla="val 1724"/>
            </a:avLst>
          </a:prstGeom>
          <a:solidFill>
            <a:srgbClr val="F3F7FA"/>
          </a:solidFill>
          <a:ln/>
        </p:spPr>
        <p:txBody>
          <a:bodyPr/>
          <a:lstStyle/>
          <a:p>
            <a:endParaRPr/>
          </a:p>
        </p:txBody>
      </p:sp>
      <p:sp>
        <p:nvSpPr>
          <p:cNvPr id="9" name="Text 12"/>
          <p:cNvSpPr/>
          <p:nvPr/>
        </p:nvSpPr>
        <p:spPr>
          <a:xfrm>
            <a:off x="987552" y="2020823"/>
            <a:ext cx="3063240" cy="566928"/>
          </a:xfrm>
          <a:prstGeom prst="rect">
            <a:avLst/>
          </a:prstGeom>
          <a:noFill/>
          <a:ln/>
        </p:spPr>
        <p:txBody>
          <a:bodyPr wrap="square" lIns="0" tIns="0" rIns="0" bIns="0" rtlCol="0" anchor="ctr"/>
          <a:lstStyle/>
          <a:p>
            <a:pPr marL="0" indent="0">
              <a:buNone/>
            </a:pPr>
            <a:r>
              <a:rPr lang="en-US" sz="1550" b="1" dirty="0">
                <a:solidFill>
                  <a:srgbClr val="10222F"/>
                </a:solidFill>
                <a:latin typeface="Garamond" pitchFamily="34" charset="0"/>
                <a:ea typeface="Garamond" pitchFamily="34" charset="-122"/>
                <a:cs typeface="Garamond" pitchFamily="34" charset="-120"/>
              </a:rPr>
              <a:t>Space Qualified Hardware</a:t>
            </a:r>
            <a:endParaRPr lang="en-US" sz="1550" dirty="0"/>
          </a:p>
        </p:txBody>
      </p:sp>
      <p:sp>
        <p:nvSpPr>
          <p:cNvPr id="10" name="Text 13"/>
          <p:cNvSpPr/>
          <p:nvPr/>
        </p:nvSpPr>
        <p:spPr>
          <a:xfrm>
            <a:off x="987552" y="2660903"/>
            <a:ext cx="3063240" cy="1143000"/>
          </a:xfrm>
          <a:prstGeom prst="rect">
            <a:avLst/>
          </a:prstGeom>
          <a:noFill/>
          <a:ln/>
        </p:spPr>
        <p:txBody>
          <a:bodyPr wrap="square" lIns="0" tIns="0" rIns="0" bIns="0" rtlCol="0" anchor="t"/>
          <a:lstStyle/>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Deployable antennas</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Sensors and scientific instruments</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Mechanical systems and structures for spacecraft</a:t>
            </a:r>
            <a:endParaRPr lang="en-US" sz="1100" dirty="0"/>
          </a:p>
        </p:txBody>
      </p:sp>
      <p:sp>
        <p:nvSpPr>
          <p:cNvPr id="11" name="Shape 4"/>
          <p:cNvSpPr/>
          <p:nvPr/>
        </p:nvSpPr>
        <p:spPr>
          <a:xfrm>
            <a:off x="4398264" y="1874519"/>
            <a:ext cx="3392424" cy="2057400"/>
          </a:xfrm>
          <a:prstGeom prst="roundRect">
            <a:avLst>
              <a:gd name="adj" fmla="val 1724"/>
            </a:avLst>
          </a:prstGeom>
          <a:solidFill>
            <a:srgbClr val="F3F7FA"/>
          </a:solidFill>
          <a:ln/>
        </p:spPr>
        <p:txBody>
          <a:bodyPr/>
          <a:lstStyle/>
          <a:p>
            <a:endParaRPr/>
          </a:p>
        </p:txBody>
      </p:sp>
      <p:sp>
        <p:nvSpPr>
          <p:cNvPr id="12" name="Text 12"/>
          <p:cNvSpPr/>
          <p:nvPr/>
        </p:nvSpPr>
        <p:spPr>
          <a:xfrm>
            <a:off x="4562856" y="2020823"/>
            <a:ext cx="3063240" cy="566928"/>
          </a:xfrm>
          <a:prstGeom prst="rect">
            <a:avLst/>
          </a:prstGeom>
          <a:noFill/>
          <a:ln/>
        </p:spPr>
        <p:txBody>
          <a:bodyPr wrap="square" lIns="0" tIns="0" rIns="0" bIns="0" rtlCol="0" anchor="ctr"/>
          <a:lstStyle/>
          <a:p>
            <a:pPr marL="0" indent="0">
              <a:buNone/>
            </a:pPr>
            <a:r>
              <a:rPr lang="en-US" sz="1550" b="1" dirty="0">
                <a:solidFill>
                  <a:srgbClr val="10222F"/>
                </a:solidFill>
                <a:latin typeface="Garamond" pitchFamily="34" charset="0"/>
                <a:ea typeface="Garamond" pitchFamily="34" charset="-122"/>
                <a:cs typeface="Garamond" pitchFamily="34" charset="-120"/>
              </a:rPr>
              <a:t>Mission Systems and Engineering Services</a:t>
            </a:r>
            <a:endParaRPr lang="en-US" sz="1550" dirty="0"/>
          </a:p>
        </p:txBody>
      </p:sp>
      <p:sp>
        <p:nvSpPr>
          <p:cNvPr id="13" name="Text 13"/>
          <p:cNvSpPr/>
          <p:nvPr/>
        </p:nvSpPr>
        <p:spPr>
          <a:xfrm>
            <a:off x="4562856" y="2660903"/>
            <a:ext cx="3063240" cy="1143000"/>
          </a:xfrm>
          <a:prstGeom prst="rect">
            <a:avLst/>
          </a:prstGeom>
          <a:noFill/>
          <a:ln/>
        </p:spPr>
        <p:txBody>
          <a:bodyPr wrap="square" lIns="0" tIns="0" rIns="0" bIns="0" rtlCol="0" anchor="t"/>
          <a:lstStyle/>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Spacecraft system design</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Integration and testing</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Engineering support for government and commercial space missions</a:t>
            </a:r>
            <a:endParaRPr lang="en-US" sz="1100" dirty="0"/>
          </a:p>
        </p:txBody>
      </p:sp>
      <p:sp>
        <p:nvSpPr>
          <p:cNvPr id="14" name="Shape 4"/>
          <p:cNvSpPr/>
          <p:nvPr/>
        </p:nvSpPr>
        <p:spPr>
          <a:xfrm>
            <a:off x="7973568" y="1874519"/>
            <a:ext cx="3392424" cy="2057400"/>
          </a:xfrm>
          <a:prstGeom prst="roundRect">
            <a:avLst>
              <a:gd name="adj" fmla="val 1724"/>
            </a:avLst>
          </a:prstGeom>
          <a:solidFill>
            <a:srgbClr val="F3F7FA"/>
          </a:solidFill>
          <a:ln/>
        </p:spPr>
        <p:txBody>
          <a:bodyPr/>
          <a:lstStyle/>
          <a:p>
            <a:endParaRPr/>
          </a:p>
        </p:txBody>
      </p:sp>
      <p:sp>
        <p:nvSpPr>
          <p:cNvPr id="15" name="Text 12"/>
          <p:cNvSpPr/>
          <p:nvPr/>
        </p:nvSpPr>
        <p:spPr>
          <a:xfrm>
            <a:off x="8138160" y="2020823"/>
            <a:ext cx="3063240" cy="566928"/>
          </a:xfrm>
          <a:prstGeom prst="rect">
            <a:avLst/>
          </a:prstGeom>
          <a:noFill/>
          <a:ln/>
        </p:spPr>
        <p:txBody>
          <a:bodyPr wrap="square" lIns="0" tIns="0" rIns="0" bIns="0" rtlCol="0" anchor="ctr"/>
          <a:lstStyle/>
          <a:p>
            <a:pPr marL="0" indent="0">
              <a:buNone/>
            </a:pPr>
            <a:r>
              <a:rPr lang="en-US" sz="1550" b="1" dirty="0">
                <a:solidFill>
                  <a:srgbClr val="10222F"/>
                </a:solidFill>
                <a:latin typeface="Garamond" pitchFamily="34" charset="0"/>
                <a:ea typeface="Garamond" pitchFamily="34" charset="-122"/>
                <a:cs typeface="Garamond" pitchFamily="34" charset="-120"/>
              </a:rPr>
              <a:t>Deployable Space Systems</a:t>
            </a:r>
            <a:endParaRPr lang="en-US" sz="1550" dirty="0"/>
          </a:p>
        </p:txBody>
      </p:sp>
      <p:sp>
        <p:nvSpPr>
          <p:cNvPr id="16" name="Text 13"/>
          <p:cNvSpPr/>
          <p:nvPr/>
        </p:nvSpPr>
        <p:spPr>
          <a:xfrm>
            <a:off x="8138160" y="2660903"/>
            <a:ext cx="3063240" cy="1143000"/>
          </a:xfrm>
          <a:prstGeom prst="rect">
            <a:avLst/>
          </a:prstGeom>
          <a:noFill/>
          <a:ln/>
        </p:spPr>
        <p:txBody>
          <a:bodyPr wrap="square" lIns="0" tIns="0" rIns="0" bIns="0" rtlCol="0" anchor="t"/>
          <a:lstStyle/>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Large deployable antennas</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Solar arrays and other expandable structures</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Components for satellites, lunar missions, and deep space missions</a:t>
            </a:r>
            <a:endParaRPr lang="en-US" sz="1100" dirty="0"/>
          </a:p>
        </p:txBody>
      </p:sp>
      <p:sp>
        <p:nvSpPr>
          <p:cNvPr id="17" name="Shape 4"/>
          <p:cNvSpPr/>
          <p:nvPr/>
        </p:nvSpPr>
        <p:spPr>
          <a:xfrm>
            <a:off x="822960" y="4114800"/>
            <a:ext cx="5175504" cy="2057400"/>
          </a:xfrm>
          <a:prstGeom prst="roundRect">
            <a:avLst>
              <a:gd name="adj" fmla="val 1724"/>
            </a:avLst>
          </a:prstGeom>
          <a:solidFill>
            <a:srgbClr val="F3F7FA"/>
          </a:solidFill>
          <a:ln/>
        </p:spPr>
        <p:txBody>
          <a:bodyPr/>
          <a:lstStyle/>
          <a:p>
            <a:endParaRPr/>
          </a:p>
        </p:txBody>
      </p:sp>
      <p:sp>
        <p:nvSpPr>
          <p:cNvPr id="18" name="Text 12"/>
          <p:cNvSpPr/>
          <p:nvPr/>
        </p:nvSpPr>
        <p:spPr>
          <a:xfrm>
            <a:off x="987552" y="4261104"/>
            <a:ext cx="4846320" cy="566928"/>
          </a:xfrm>
          <a:prstGeom prst="rect">
            <a:avLst/>
          </a:prstGeom>
          <a:noFill/>
          <a:ln/>
        </p:spPr>
        <p:txBody>
          <a:bodyPr wrap="square" lIns="0" tIns="0" rIns="0" bIns="0" rtlCol="0" anchor="ctr"/>
          <a:lstStyle/>
          <a:p>
            <a:pPr marL="0" indent="0">
              <a:buNone/>
            </a:pPr>
            <a:r>
              <a:rPr lang="en-US" sz="1550" b="1" dirty="0">
                <a:solidFill>
                  <a:srgbClr val="10222F"/>
                </a:solidFill>
                <a:latin typeface="Garamond" pitchFamily="34" charset="0"/>
                <a:ea typeface="Garamond" pitchFamily="34" charset="-122"/>
                <a:cs typeface="Garamond" pitchFamily="34" charset="-120"/>
              </a:rPr>
              <a:t>Space Based Solar Power Technology</a:t>
            </a:r>
            <a:endParaRPr lang="en-US" sz="1550" dirty="0"/>
          </a:p>
        </p:txBody>
      </p:sp>
      <p:sp>
        <p:nvSpPr>
          <p:cNvPr id="19" name="Text 13"/>
          <p:cNvSpPr/>
          <p:nvPr/>
        </p:nvSpPr>
        <p:spPr>
          <a:xfrm>
            <a:off x="987552" y="4901184"/>
            <a:ext cx="4846320" cy="1143000"/>
          </a:xfrm>
          <a:prstGeom prst="rect">
            <a:avLst/>
          </a:prstGeom>
          <a:noFill/>
          <a:ln/>
        </p:spPr>
        <p:txBody>
          <a:bodyPr wrap="square" lIns="0" tIns="0" rIns="0" bIns="0" rtlCol="0" anchor="t"/>
          <a:lstStyle/>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Orbital solar power platforms, power plants in space</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Wireless energy transmission designed to beam solar energy from orbit to Earth</a:t>
            </a:r>
            <a:endParaRPr lang="en-US" sz="1100" dirty="0"/>
          </a:p>
        </p:txBody>
      </p:sp>
      <p:sp>
        <p:nvSpPr>
          <p:cNvPr id="20" name="Shape 4"/>
          <p:cNvSpPr/>
          <p:nvPr/>
        </p:nvSpPr>
        <p:spPr>
          <a:xfrm>
            <a:off x="6190488" y="4114800"/>
            <a:ext cx="5175504" cy="2057400"/>
          </a:xfrm>
          <a:prstGeom prst="roundRect">
            <a:avLst>
              <a:gd name="adj" fmla="val 1724"/>
            </a:avLst>
          </a:prstGeom>
          <a:solidFill>
            <a:srgbClr val="F3F7FA"/>
          </a:solidFill>
          <a:ln/>
        </p:spPr>
        <p:txBody>
          <a:bodyPr/>
          <a:lstStyle/>
          <a:p>
            <a:endParaRPr/>
          </a:p>
        </p:txBody>
      </p:sp>
      <p:sp>
        <p:nvSpPr>
          <p:cNvPr id="21" name="Text 12"/>
          <p:cNvSpPr/>
          <p:nvPr/>
        </p:nvSpPr>
        <p:spPr>
          <a:xfrm>
            <a:off x="6355080" y="4261104"/>
            <a:ext cx="4846320" cy="566928"/>
          </a:xfrm>
          <a:prstGeom prst="rect">
            <a:avLst/>
          </a:prstGeom>
          <a:noFill/>
          <a:ln/>
        </p:spPr>
        <p:txBody>
          <a:bodyPr wrap="square" lIns="0" tIns="0" rIns="0" bIns="0" rtlCol="0" anchor="ctr"/>
          <a:lstStyle/>
          <a:p>
            <a:pPr marL="0" indent="0">
              <a:buNone/>
            </a:pPr>
            <a:r>
              <a:rPr lang="en-US" sz="1550" b="1" dirty="0">
                <a:solidFill>
                  <a:srgbClr val="10222F"/>
                </a:solidFill>
                <a:latin typeface="Garamond" pitchFamily="34" charset="0"/>
                <a:ea typeface="Garamond" pitchFamily="34" charset="-122"/>
                <a:cs typeface="Garamond" pitchFamily="34" charset="-120"/>
              </a:rPr>
              <a:t>Future Manufacturing and Licensing</a:t>
            </a:r>
            <a:endParaRPr lang="en-US" sz="1550" dirty="0"/>
          </a:p>
        </p:txBody>
      </p:sp>
      <p:sp>
        <p:nvSpPr>
          <p:cNvPr id="22" name="Text 13"/>
          <p:cNvSpPr/>
          <p:nvPr/>
        </p:nvSpPr>
        <p:spPr>
          <a:xfrm>
            <a:off x="6355080" y="4901184"/>
            <a:ext cx="4846320" cy="1143000"/>
          </a:xfrm>
          <a:prstGeom prst="rect">
            <a:avLst/>
          </a:prstGeom>
          <a:noFill/>
          <a:ln/>
        </p:spPr>
        <p:txBody>
          <a:bodyPr wrap="square" lIns="0" tIns="0" rIns="0" bIns="0" rtlCol="0" anchor="t"/>
          <a:lstStyle/>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Mass production of space qualified hardware</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Licensing of proprietary space technologies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FLIGHT HERITAGE</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At Jupiter, the Sun, and the Moon</a:t>
            </a:r>
            <a:endParaRPr lang="en-US" sz="2900" dirty="0"/>
          </a:p>
        </p:txBody>
      </p:sp>
      <p:pic>
        <p:nvPicPr>
          <p:cNvPr id="4" name="Image 0" descr="assets/logo_dark.jpg"/>
          <p:cNvPicPr>
            <a:picLocks noChangeAspect="1"/>
          </p:cNvPicPr>
          <p:nvPr/>
        </p:nvPicPr>
        <p:blipFill>
          <a:blip r:embed="rId3"/>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4</a:t>
            </a:r>
            <a:endParaRPr lang="en-US" sz="850" dirty="0"/>
          </a:p>
        </p:txBody>
      </p:sp>
      <p:pic>
        <p:nvPicPr>
          <p:cNvPr id="7" name="Image 1" descr="assets/s4_europa.jpg"/>
          <p:cNvPicPr>
            <a:picLocks noChangeAspect="1"/>
          </p:cNvPicPr>
          <p:nvPr/>
        </p:nvPicPr>
        <p:blipFill>
          <a:blip r:embed="rId4"/>
          <a:stretch>
            <a:fillRect/>
          </a:stretch>
        </p:blipFill>
        <p:spPr>
          <a:xfrm>
            <a:off x="822960" y="1417320"/>
            <a:ext cx="3419856" cy="1764792"/>
          </a:xfrm>
          <a:prstGeom prst="rect">
            <a:avLst/>
          </a:prstGeom>
        </p:spPr>
      </p:pic>
      <p:sp>
        <p:nvSpPr>
          <p:cNvPr id="8" name="Shape 4"/>
          <p:cNvSpPr/>
          <p:nvPr/>
        </p:nvSpPr>
        <p:spPr>
          <a:xfrm>
            <a:off x="822960" y="1417320"/>
            <a:ext cx="3419856" cy="1764792"/>
          </a:xfrm>
          <a:prstGeom prst="rect">
            <a:avLst/>
          </a:prstGeom>
          <a:ln w="12700">
            <a:solidFill>
              <a:srgbClr val="C6D2DA"/>
            </a:solidFill>
            <a:prstDash val="solid"/>
          </a:ln>
        </p:spPr>
        <p:txBody>
          <a:bodyPr/>
          <a:lstStyle/>
          <a:p>
            <a:endParaRPr/>
          </a:p>
        </p:txBody>
      </p:sp>
      <p:sp>
        <p:nvSpPr>
          <p:cNvPr id="9" name="Text 5"/>
          <p:cNvSpPr/>
          <p:nvPr/>
        </p:nvSpPr>
        <p:spPr>
          <a:xfrm>
            <a:off x="822960" y="3246120"/>
            <a:ext cx="3419856" cy="219456"/>
          </a:xfrm>
          <a:prstGeom prst="rect">
            <a:avLst/>
          </a:prstGeom>
          <a:noFill/>
          <a:ln/>
        </p:spPr>
        <p:txBody>
          <a:bodyPr wrap="square" lIns="0" tIns="0" rIns="0" bIns="0" rtlCol="0" anchor="ctr"/>
          <a:lstStyle/>
          <a:p>
            <a:pPr marL="0" indent="0">
              <a:buNone/>
            </a:pPr>
            <a:r>
              <a:rPr lang="en-US" sz="1150" b="1" dirty="0">
                <a:solidFill>
                  <a:srgbClr val="10222F"/>
                </a:solidFill>
                <a:latin typeface="Garamond" pitchFamily="34" charset="0"/>
                <a:ea typeface="Garamond" pitchFamily="34" charset="-122"/>
                <a:cs typeface="Garamond" pitchFamily="34" charset="-120"/>
              </a:rPr>
              <a:t>Europa Clipper, REASON (NASA/JPL)</a:t>
            </a:r>
            <a:endParaRPr lang="en-US" sz="1150" dirty="0"/>
          </a:p>
        </p:txBody>
      </p:sp>
      <p:sp>
        <p:nvSpPr>
          <p:cNvPr id="10" name="Text 6"/>
          <p:cNvSpPr/>
          <p:nvPr/>
        </p:nvSpPr>
        <p:spPr>
          <a:xfrm>
            <a:off x="822960" y="3474720"/>
            <a:ext cx="3419856" cy="411480"/>
          </a:xfrm>
          <a:prstGeom prst="rect">
            <a:avLst/>
          </a:prstGeom>
          <a:noFill/>
          <a:ln/>
        </p:spPr>
        <p:txBody>
          <a:bodyPr wrap="square" lIns="0" tIns="0" rIns="0" bIns="0" rtlCol="0" anchor="t"/>
          <a:lstStyle/>
          <a:p>
            <a:pPr marL="0" indent="0">
              <a:buNone/>
            </a:pPr>
            <a:r>
              <a:rPr lang="en-US" sz="950" dirty="0">
                <a:solidFill>
                  <a:srgbClr val="5C6B76"/>
                </a:solidFill>
                <a:latin typeface="Garamond" pitchFamily="34" charset="0"/>
                <a:ea typeface="Garamond" pitchFamily="34" charset="-122"/>
                <a:cs typeface="Garamond" pitchFamily="34" charset="-120"/>
              </a:rPr>
              <a:t>Two 17.6 m radar dipoles, deployed and operating en route to Europa.</a:t>
            </a:r>
            <a:endParaRPr lang="en-US" sz="950" dirty="0"/>
          </a:p>
        </p:txBody>
      </p:sp>
      <p:pic>
        <p:nvPicPr>
          <p:cNvPr id="11" name="Image 2" descr="assets/s4_solo.jpg"/>
          <p:cNvPicPr>
            <a:picLocks noChangeAspect="1"/>
          </p:cNvPicPr>
          <p:nvPr/>
        </p:nvPicPr>
        <p:blipFill>
          <a:blip r:embed="rId5"/>
          <a:stretch>
            <a:fillRect/>
          </a:stretch>
        </p:blipFill>
        <p:spPr>
          <a:xfrm>
            <a:off x="4370832" y="1417320"/>
            <a:ext cx="3419856" cy="1764792"/>
          </a:xfrm>
          <a:prstGeom prst="rect">
            <a:avLst/>
          </a:prstGeom>
        </p:spPr>
      </p:pic>
      <p:sp>
        <p:nvSpPr>
          <p:cNvPr id="12" name="Shape 7"/>
          <p:cNvSpPr/>
          <p:nvPr/>
        </p:nvSpPr>
        <p:spPr>
          <a:xfrm>
            <a:off x="4370832" y="1417320"/>
            <a:ext cx="3419856" cy="1764792"/>
          </a:xfrm>
          <a:prstGeom prst="rect">
            <a:avLst/>
          </a:prstGeom>
          <a:ln w="12700">
            <a:solidFill>
              <a:srgbClr val="C6D2DA"/>
            </a:solidFill>
            <a:prstDash val="solid"/>
          </a:ln>
        </p:spPr>
        <p:txBody>
          <a:bodyPr/>
          <a:lstStyle/>
          <a:p>
            <a:endParaRPr/>
          </a:p>
        </p:txBody>
      </p:sp>
      <p:sp>
        <p:nvSpPr>
          <p:cNvPr id="13" name="Text 8"/>
          <p:cNvSpPr/>
          <p:nvPr/>
        </p:nvSpPr>
        <p:spPr>
          <a:xfrm>
            <a:off x="4370832" y="3246120"/>
            <a:ext cx="3419856" cy="219456"/>
          </a:xfrm>
          <a:prstGeom prst="rect">
            <a:avLst/>
          </a:prstGeom>
          <a:noFill/>
          <a:ln/>
        </p:spPr>
        <p:txBody>
          <a:bodyPr wrap="square" lIns="0" tIns="0" rIns="0" bIns="0" rtlCol="0" anchor="ctr"/>
          <a:lstStyle/>
          <a:p>
            <a:pPr marL="0" indent="0">
              <a:buNone/>
            </a:pPr>
            <a:r>
              <a:rPr lang="en-US" sz="1150" b="1" dirty="0">
                <a:solidFill>
                  <a:srgbClr val="10222F"/>
                </a:solidFill>
                <a:latin typeface="Garamond" pitchFamily="34" charset="0"/>
                <a:ea typeface="Garamond" pitchFamily="34" charset="-122"/>
                <a:cs typeface="Garamond" pitchFamily="34" charset="-120"/>
              </a:rPr>
              <a:t>Solar Orbiter, RPW (ESA)</a:t>
            </a:r>
            <a:endParaRPr lang="en-US" sz="1150" dirty="0"/>
          </a:p>
        </p:txBody>
      </p:sp>
      <p:sp>
        <p:nvSpPr>
          <p:cNvPr id="14" name="Text 9"/>
          <p:cNvSpPr/>
          <p:nvPr/>
        </p:nvSpPr>
        <p:spPr>
          <a:xfrm>
            <a:off x="4370832" y="3474720"/>
            <a:ext cx="3419856" cy="411480"/>
          </a:xfrm>
          <a:prstGeom prst="rect">
            <a:avLst/>
          </a:prstGeom>
          <a:noFill/>
          <a:ln/>
        </p:spPr>
        <p:txBody>
          <a:bodyPr wrap="square" lIns="0" tIns="0" rIns="0" bIns="0" rtlCol="0" anchor="t"/>
          <a:lstStyle/>
          <a:p>
            <a:pPr marL="0" indent="0">
              <a:buNone/>
            </a:pPr>
            <a:r>
              <a:rPr lang="en-US" sz="950" dirty="0">
                <a:solidFill>
                  <a:srgbClr val="5C6B76"/>
                </a:solidFill>
                <a:latin typeface="Garamond" pitchFamily="34" charset="0"/>
                <a:ea typeface="Garamond" pitchFamily="34" charset="-122"/>
                <a:cs typeface="Garamond" pitchFamily="34" charset="-120"/>
              </a:rPr>
              <a:t>Three 6.5 m antennas performing nominally near the Sun.</a:t>
            </a:r>
            <a:endParaRPr lang="en-US" sz="950" dirty="0"/>
          </a:p>
        </p:txBody>
      </p:sp>
      <p:pic>
        <p:nvPicPr>
          <p:cNvPr id="15" name="Image 3" descr="assets/s4_sunrise.jpg"/>
          <p:cNvPicPr>
            <a:picLocks noChangeAspect="1"/>
          </p:cNvPicPr>
          <p:nvPr/>
        </p:nvPicPr>
        <p:blipFill>
          <a:blip r:embed="rId6"/>
          <a:stretch>
            <a:fillRect/>
          </a:stretch>
        </p:blipFill>
        <p:spPr>
          <a:xfrm>
            <a:off x="7918704" y="1417320"/>
            <a:ext cx="3419856" cy="1764792"/>
          </a:xfrm>
          <a:prstGeom prst="rect">
            <a:avLst/>
          </a:prstGeom>
        </p:spPr>
      </p:pic>
      <p:sp>
        <p:nvSpPr>
          <p:cNvPr id="16" name="Shape 10"/>
          <p:cNvSpPr/>
          <p:nvPr/>
        </p:nvSpPr>
        <p:spPr>
          <a:xfrm>
            <a:off x="7918704" y="1417320"/>
            <a:ext cx="3419856" cy="1764792"/>
          </a:xfrm>
          <a:prstGeom prst="rect">
            <a:avLst/>
          </a:prstGeom>
          <a:ln w="12700">
            <a:solidFill>
              <a:srgbClr val="C6D2DA"/>
            </a:solidFill>
            <a:prstDash val="solid"/>
          </a:ln>
        </p:spPr>
        <p:txBody>
          <a:bodyPr/>
          <a:lstStyle/>
          <a:p>
            <a:endParaRPr/>
          </a:p>
        </p:txBody>
      </p:sp>
      <p:sp>
        <p:nvSpPr>
          <p:cNvPr id="17" name="Text 11"/>
          <p:cNvSpPr/>
          <p:nvPr/>
        </p:nvSpPr>
        <p:spPr>
          <a:xfrm>
            <a:off x="7918704" y="3246120"/>
            <a:ext cx="3419856" cy="219456"/>
          </a:xfrm>
          <a:prstGeom prst="rect">
            <a:avLst/>
          </a:prstGeom>
          <a:noFill/>
          <a:ln/>
        </p:spPr>
        <p:txBody>
          <a:bodyPr wrap="square" lIns="0" tIns="0" rIns="0" bIns="0" rtlCol="0" anchor="ctr"/>
          <a:lstStyle/>
          <a:p>
            <a:pPr marL="0" indent="0">
              <a:buNone/>
            </a:pPr>
            <a:r>
              <a:rPr lang="en-US" sz="1150" b="1" dirty="0">
                <a:solidFill>
                  <a:srgbClr val="10222F"/>
                </a:solidFill>
                <a:latin typeface="Garamond" pitchFamily="34" charset="0"/>
                <a:ea typeface="Garamond" pitchFamily="34" charset="-122"/>
                <a:cs typeface="Garamond" pitchFamily="34" charset="-120"/>
              </a:rPr>
              <a:t>SunRISE (NASA/JPL)</a:t>
            </a:r>
            <a:endParaRPr lang="en-US" sz="1150" dirty="0"/>
          </a:p>
        </p:txBody>
      </p:sp>
      <p:sp>
        <p:nvSpPr>
          <p:cNvPr id="18" name="Text 12"/>
          <p:cNvSpPr/>
          <p:nvPr/>
        </p:nvSpPr>
        <p:spPr>
          <a:xfrm>
            <a:off x="7918704" y="3474720"/>
            <a:ext cx="3419856" cy="411480"/>
          </a:xfrm>
          <a:prstGeom prst="rect">
            <a:avLst/>
          </a:prstGeom>
          <a:noFill/>
          <a:ln/>
        </p:spPr>
        <p:txBody>
          <a:bodyPr wrap="square" lIns="0" tIns="0" rIns="0" bIns="0" rtlCol="0" anchor="t"/>
          <a:lstStyle/>
          <a:p>
            <a:pPr marL="0" indent="0">
              <a:buNone/>
            </a:pPr>
            <a:r>
              <a:rPr lang="en-US" sz="950" dirty="0">
                <a:solidFill>
                  <a:srgbClr val="5C6B76"/>
                </a:solidFill>
                <a:latin typeface="Garamond" pitchFamily="34" charset="0"/>
                <a:ea typeface="Garamond" pitchFamily="34" charset="-122"/>
                <a:cs typeface="Garamond" pitchFamily="34" charset="-120"/>
              </a:rPr>
              <a:t>28 CubeSat compatible monopoles delivered at production volume.</a:t>
            </a:r>
            <a:endParaRPr lang="en-US" sz="950" dirty="0"/>
          </a:p>
        </p:txBody>
      </p:sp>
      <p:pic>
        <p:nvPicPr>
          <p:cNvPr id="19" name="Image 4" descr="assets/s4_jwst.jpg"/>
          <p:cNvPicPr>
            <a:picLocks noChangeAspect="1"/>
          </p:cNvPicPr>
          <p:nvPr/>
        </p:nvPicPr>
        <p:blipFill>
          <a:blip r:embed="rId7"/>
          <a:stretch>
            <a:fillRect/>
          </a:stretch>
        </p:blipFill>
        <p:spPr>
          <a:xfrm>
            <a:off x="822960" y="3941064"/>
            <a:ext cx="3419856" cy="1764792"/>
          </a:xfrm>
          <a:prstGeom prst="rect">
            <a:avLst/>
          </a:prstGeom>
        </p:spPr>
      </p:pic>
      <p:sp>
        <p:nvSpPr>
          <p:cNvPr id="20" name="Shape 13"/>
          <p:cNvSpPr/>
          <p:nvPr/>
        </p:nvSpPr>
        <p:spPr>
          <a:xfrm>
            <a:off x="822960" y="3941064"/>
            <a:ext cx="3419856" cy="1764792"/>
          </a:xfrm>
          <a:prstGeom prst="rect">
            <a:avLst/>
          </a:prstGeom>
          <a:ln w="12700">
            <a:solidFill>
              <a:srgbClr val="C6D2DA"/>
            </a:solidFill>
            <a:prstDash val="solid"/>
          </a:ln>
        </p:spPr>
        <p:txBody>
          <a:bodyPr/>
          <a:lstStyle/>
          <a:p>
            <a:endParaRPr/>
          </a:p>
        </p:txBody>
      </p:sp>
      <p:sp>
        <p:nvSpPr>
          <p:cNvPr id="21" name="Text 14"/>
          <p:cNvSpPr/>
          <p:nvPr/>
        </p:nvSpPr>
        <p:spPr>
          <a:xfrm>
            <a:off x="822960" y="5769864"/>
            <a:ext cx="3419856" cy="219456"/>
          </a:xfrm>
          <a:prstGeom prst="rect">
            <a:avLst/>
          </a:prstGeom>
          <a:noFill/>
          <a:ln/>
        </p:spPr>
        <p:txBody>
          <a:bodyPr wrap="square" lIns="0" tIns="0" rIns="0" bIns="0" rtlCol="0" anchor="ctr"/>
          <a:lstStyle/>
          <a:p>
            <a:pPr marL="0" indent="0">
              <a:buNone/>
            </a:pPr>
            <a:r>
              <a:rPr lang="en-US" sz="1150" b="1" dirty="0">
                <a:solidFill>
                  <a:srgbClr val="10222F"/>
                </a:solidFill>
                <a:latin typeface="Garamond" pitchFamily="34" charset="0"/>
                <a:ea typeface="Garamond" pitchFamily="34" charset="-122"/>
                <a:cs typeface="Garamond" pitchFamily="34" charset="-120"/>
              </a:rPr>
              <a:t>James Webb Space Telescope</a:t>
            </a:r>
            <a:endParaRPr lang="en-US" sz="1150" dirty="0"/>
          </a:p>
        </p:txBody>
      </p:sp>
      <p:sp>
        <p:nvSpPr>
          <p:cNvPr id="22" name="Text 15"/>
          <p:cNvSpPr/>
          <p:nvPr/>
        </p:nvSpPr>
        <p:spPr>
          <a:xfrm>
            <a:off x="822960" y="5998464"/>
            <a:ext cx="3419856" cy="411480"/>
          </a:xfrm>
          <a:prstGeom prst="rect">
            <a:avLst/>
          </a:prstGeom>
          <a:noFill/>
          <a:ln/>
        </p:spPr>
        <p:txBody>
          <a:bodyPr wrap="square" lIns="0" tIns="0" rIns="0" bIns="0" rtlCol="0" anchor="t"/>
          <a:lstStyle/>
          <a:p>
            <a:pPr marL="0" indent="0">
              <a:buNone/>
            </a:pPr>
            <a:r>
              <a:rPr lang="en-US" sz="950" dirty="0">
                <a:solidFill>
                  <a:srgbClr val="5C6B76"/>
                </a:solidFill>
                <a:latin typeface="Garamond" pitchFamily="34" charset="0"/>
                <a:ea typeface="Garamond" pitchFamily="34" charset="-122"/>
                <a:cs typeface="Garamond" pitchFamily="34" charset="-120"/>
              </a:rPr>
              <a:t>Systems engineering, integration, and test support through commissioning.</a:t>
            </a:r>
            <a:endParaRPr lang="en-US" sz="950" dirty="0"/>
          </a:p>
        </p:txBody>
      </p:sp>
      <p:pic>
        <p:nvPicPr>
          <p:cNvPr id="23" name="Image 5" descr="assets/s4_bg1.jpg"/>
          <p:cNvPicPr>
            <a:picLocks noChangeAspect="1"/>
          </p:cNvPicPr>
          <p:nvPr/>
        </p:nvPicPr>
        <p:blipFill>
          <a:blip r:embed="rId8"/>
          <a:stretch>
            <a:fillRect/>
          </a:stretch>
        </p:blipFill>
        <p:spPr>
          <a:xfrm>
            <a:off x="4370832" y="3941064"/>
            <a:ext cx="3419856" cy="1764792"/>
          </a:xfrm>
          <a:prstGeom prst="rect">
            <a:avLst/>
          </a:prstGeom>
        </p:spPr>
      </p:pic>
      <p:sp>
        <p:nvSpPr>
          <p:cNvPr id="24" name="Shape 16"/>
          <p:cNvSpPr/>
          <p:nvPr/>
        </p:nvSpPr>
        <p:spPr>
          <a:xfrm>
            <a:off x="4370832" y="3941064"/>
            <a:ext cx="3419856" cy="1764792"/>
          </a:xfrm>
          <a:prstGeom prst="rect">
            <a:avLst/>
          </a:prstGeom>
          <a:ln w="12700">
            <a:solidFill>
              <a:srgbClr val="C6D2DA"/>
            </a:solidFill>
            <a:prstDash val="solid"/>
          </a:ln>
        </p:spPr>
        <p:txBody>
          <a:bodyPr/>
          <a:lstStyle/>
          <a:p>
            <a:endParaRPr/>
          </a:p>
        </p:txBody>
      </p:sp>
      <p:sp>
        <p:nvSpPr>
          <p:cNvPr id="25" name="Text 17"/>
          <p:cNvSpPr/>
          <p:nvPr/>
        </p:nvSpPr>
        <p:spPr>
          <a:xfrm>
            <a:off x="4370832" y="5769864"/>
            <a:ext cx="3419856" cy="219456"/>
          </a:xfrm>
          <a:prstGeom prst="rect">
            <a:avLst/>
          </a:prstGeom>
          <a:noFill/>
          <a:ln/>
        </p:spPr>
        <p:txBody>
          <a:bodyPr wrap="square" lIns="0" tIns="0" rIns="0" bIns="0" rtlCol="0" anchor="ctr"/>
          <a:lstStyle/>
          <a:p>
            <a:pPr marL="0" indent="0">
              <a:buNone/>
            </a:pPr>
            <a:r>
              <a:rPr lang="en-US" sz="1150" b="1" dirty="0">
                <a:solidFill>
                  <a:srgbClr val="10222F"/>
                </a:solidFill>
                <a:latin typeface="Garamond" pitchFamily="34" charset="0"/>
                <a:ea typeface="Garamond" pitchFamily="34" charset="-122"/>
                <a:cs typeface="Garamond" pitchFamily="34" charset="-120"/>
              </a:rPr>
              <a:t>Blue Ghost Mission 1 (Firefly / SwRI)</a:t>
            </a:r>
            <a:endParaRPr lang="en-US" sz="1150" dirty="0"/>
          </a:p>
        </p:txBody>
      </p:sp>
      <p:sp>
        <p:nvSpPr>
          <p:cNvPr id="26" name="Text 18"/>
          <p:cNvSpPr/>
          <p:nvPr/>
        </p:nvSpPr>
        <p:spPr>
          <a:xfrm>
            <a:off x="4370832" y="5998464"/>
            <a:ext cx="3419856" cy="411480"/>
          </a:xfrm>
          <a:prstGeom prst="rect">
            <a:avLst/>
          </a:prstGeom>
          <a:noFill/>
          <a:ln/>
        </p:spPr>
        <p:txBody>
          <a:bodyPr wrap="square" lIns="0" tIns="0" rIns="0" bIns="0" rtlCol="0" anchor="t"/>
          <a:lstStyle/>
          <a:p>
            <a:pPr marL="0" indent="0">
              <a:buNone/>
            </a:pPr>
            <a:r>
              <a:rPr lang="en-US" sz="950" dirty="0">
                <a:solidFill>
                  <a:srgbClr val="5C6B76"/>
                </a:solidFill>
                <a:latin typeface="Garamond" pitchFamily="34" charset="0"/>
                <a:ea typeface="Garamond" pitchFamily="34" charset="-122"/>
                <a:cs typeface="Garamond" pitchFamily="34" charset="-120"/>
              </a:rPr>
              <a:t>LMS lunar science payload delivered under the NASA CLPS program.</a:t>
            </a:r>
            <a:endParaRPr lang="en-US" sz="950" dirty="0"/>
          </a:p>
        </p:txBody>
      </p:sp>
      <p:pic>
        <p:nvPicPr>
          <p:cNvPr id="27" name="Image 6" descr="assets/s4_im1.jpg"/>
          <p:cNvPicPr>
            <a:picLocks noChangeAspect="1"/>
          </p:cNvPicPr>
          <p:nvPr/>
        </p:nvPicPr>
        <p:blipFill>
          <a:blip r:embed="rId9"/>
          <a:stretch>
            <a:fillRect/>
          </a:stretch>
        </p:blipFill>
        <p:spPr>
          <a:xfrm>
            <a:off x="7918704" y="3941064"/>
            <a:ext cx="3419856" cy="1764792"/>
          </a:xfrm>
          <a:prstGeom prst="rect">
            <a:avLst/>
          </a:prstGeom>
        </p:spPr>
      </p:pic>
      <p:sp>
        <p:nvSpPr>
          <p:cNvPr id="28" name="Shape 19"/>
          <p:cNvSpPr/>
          <p:nvPr/>
        </p:nvSpPr>
        <p:spPr>
          <a:xfrm>
            <a:off x="7918704" y="3941064"/>
            <a:ext cx="3419856" cy="1764792"/>
          </a:xfrm>
          <a:prstGeom prst="rect">
            <a:avLst/>
          </a:prstGeom>
          <a:ln w="12700">
            <a:solidFill>
              <a:srgbClr val="C6D2DA"/>
            </a:solidFill>
            <a:prstDash val="solid"/>
          </a:ln>
        </p:spPr>
        <p:txBody>
          <a:bodyPr/>
          <a:lstStyle/>
          <a:p>
            <a:endParaRPr/>
          </a:p>
        </p:txBody>
      </p:sp>
      <p:sp>
        <p:nvSpPr>
          <p:cNvPr id="29" name="Text 20"/>
          <p:cNvSpPr/>
          <p:nvPr/>
        </p:nvSpPr>
        <p:spPr>
          <a:xfrm>
            <a:off x="7918704" y="5769864"/>
            <a:ext cx="3419856" cy="219456"/>
          </a:xfrm>
          <a:prstGeom prst="rect">
            <a:avLst/>
          </a:prstGeom>
          <a:noFill/>
          <a:ln/>
        </p:spPr>
        <p:txBody>
          <a:bodyPr wrap="square" lIns="0" tIns="0" rIns="0" bIns="0" rtlCol="0" anchor="ctr"/>
          <a:lstStyle/>
          <a:p>
            <a:pPr marL="0" indent="0">
              <a:buNone/>
            </a:pPr>
            <a:r>
              <a:rPr lang="en-US" sz="1150" b="1" dirty="0">
                <a:solidFill>
                  <a:srgbClr val="10222F"/>
                </a:solidFill>
                <a:latin typeface="Garamond" pitchFamily="34" charset="0"/>
                <a:ea typeface="Garamond" pitchFamily="34" charset="-122"/>
                <a:cs typeface="Garamond" pitchFamily="34" charset="-120"/>
              </a:rPr>
              <a:t>IM-1 (Intuitive Machines / NASA)</a:t>
            </a:r>
            <a:endParaRPr lang="en-US" sz="1150" dirty="0"/>
          </a:p>
        </p:txBody>
      </p:sp>
      <p:sp>
        <p:nvSpPr>
          <p:cNvPr id="30" name="Text 21"/>
          <p:cNvSpPr/>
          <p:nvPr/>
        </p:nvSpPr>
        <p:spPr>
          <a:xfrm>
            <a:off x="7918704" y="5998464"/>
            <a:ext cx="3419856" cy="411480"/>
          </a:xfrm>
          <a:prstGeom prst="rect">
            <a:avLst/>
          </a:prstGeom>
          <a:noFill/>
          <a:ln/>
        </p:spPr>
        <p:txBody>
          <a:bodyPr wrap="square" lIns="0" tIns="0" rIns="0" bIns="0" rtlCol="0" anchor="t"/>
          <a:lstStyle/>
          <a:p>
            <a:pPr marL="0" indent="0">
              <a:buNone/>
            </a:pPr>
            <a:r>
              <a:rPr lang="en-US" sz="950" dirty="0">
                <a:solidFill>
                  <a:srgbClr val="5C6B76"/>
                </a:solidFill>
                <a:latin typeface="Garamond" pitchFamily="34" charset="0"/>
                <a:ea typeface="Garamond" pitchFamily="34" charset="-122"/>
                <a:cs typeface="Garamond" pitchFamily="34" charset="-120"/>
              </a:rPr>
              <a:t>ROLSES antennas flown on the first commercial US lunar landing.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PRODUCTS</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The SABER Deployable Boom Product Line</a:t>
            </a:r>
            <a:endParaRPr lang="en-US" sz="2900" dirty="0"/>
          </a:p>
        </p:txBody>
      </p:sp>
      <p:pic>
        <p:nvPicPr>
          <p:cNvPr id="4" name="Image 0" descr="assets/logo_dark.jpg"/>
          <p:cNvPicPr>
            <a:picLocks noChangeAspect="1"/>
          </p:cNvPicPr>
          <p:nvPr/>
        </p:nvPicPr>
        <p:blipFill>
          <a:blip r:embed="rId3"/>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5</a:t>
            </a:r>
            <a:endParaRPr lang="en-US" sz="850" dirty="0"/>
          </a:p>
        </p:txBody>
      </p:sp>
      <p:sp>
        <p:nvSpPr>
          <p:cNvPr id="7" name="Text 4"/>
          <p:cNvSpPr/>
          <p:nvPr/>
        </p:nvSpPr>
        <p:spPr>
          <a:xfrm>
            <a:off x="822960" y="1353312"/>
            <a:ext cx="10424160" cy="320040"/>
          </a:xfrm>
          <a:prstGeom prst="rect">
            <a:avLst/>
          </a:prstGeom>
          <a:noFill/>
          <a:ln/>
        </p:spPr>
        <p:txBody>
          <a:bodyPr wrap="square" lIns="0" tIns="0" rIns="0" bIns="0" rtlCol="0" anchor="ctr"/>
          <a:lstStyle/>
          <a:p>
            <a:pPr marL="0" indent="0">
              <a:buNone/>
            </a:pPr>
            <a:r>
              <a:rPr lang="en-US" sz="1300" dirty="0">
                <a:solidFill>
                  <a:srgbClr val="5C6B76"/>
                </a:solidFill>
                <a:latin typeface="Garamond" pitchFamily="34" charset="0"/>
                <a:ea typeface="Garamond" pitchFamily="34" charset="-122"/>
                <a:cs typeface="Garamond" pitchFamily="34" charset="-120"/>
              </a:rPr>
              <a:t>Mission unique heritage, productized: standardized mechanisms with published interfaces, short lead times, and configurations from monopole to dipole to custom geometries.</a:t>
            </a:r>
            <a:endParaRPr lang="en-US" sz="1300" dirty="0"/>
          </a:p>
        </p:txBody>
      </p:sp>
      <p:sp>
        <p:nvSpPr>
          <p:cNvPr id="8" name="Shape 5"/>
          <p:cNvSpPr/>
          <p:nvPr/>
        </p:nvSpPr>
        <p:spPr>
          <a:xfrm>
            <a:off x="822960" y="1828800"/>
            <a:ext cx="5175504" cy="2788920"/>
          </a:xfrm>
          <a:prstGeom prst="roundRect">
            <a:avLst>
              <a:gd name="adj" fmla="val 1639"/>
            </a:avLst>
          </a:prstGeom>
          <a:solidFill>
            <a:srgbClr val="F3F7FA"/>
          </a:solidFill>
          <a:ln/>
        </p:spPr>
        <p:txBody>
          <a:bodyPr/>
          <a:lstStyle/>
          <a:p>
            <a:endParaRPr/>
          </a:p>
        </p:txBody>
      </p:sp>
      <p:sp>
        <p:nvSpPr>
          <p:cNvPr id="9" name="Text 6"/>
          <p:cNvSpPr/>
          <p:nvPr/>
        </p:nvSpPr>
        <p:spPr>
          <a:xfrm>
            <a:off x="987552" y="1956816"/>
            <a:ext cx="2743200" cy="320040"/>
          </a:xfrm>
          <a:prstGeom prst="rect">
            <a:avLst/>
          </a:prstGeom>
          <a:noFill/>
          <a:ln/>
        </p:spPr>
        <p:txBody>
          <a:bodyPr wrap="square" lIns="0" tIns="0" rIns="0" bIns="0" rtlCol="0" anchor="ctr"/>
          <a:lstStyle/>
          <a:p>
            <a:pPr marL="0" indent="0">
              <a:buNone/>
            </a:pPr>
            <a:r>
              <a:rPr lang="en-US" sz="1650" b="1" dirty="0">
                <a:solidFill>
                  <a:srgbClr val="10222F"/>
                </a:solidFill>
                <a:latin typeface="Garamond" pitchFamily="34" charset="0"/>
                <a:ea typeface="Garamond" pitchFamily="34" charset="-122"/>
                <a:cs typeface="Garamond" pitchFamily="34" charset="-120"/>
              </a:rPr>
              <a:t>Model SB1</a:t>
            </a:r>
            <a:endParaRPr lang="en-US" sz="1650" dirty="0"/>
          </a:p>
        </p:txBody>
      </p:sp>
      <p:pic>
        <p:nvPicPr>
          <p:cNvPr id="10" name="Image 1" descr="assets/s5_sb1.jpg"/>
          <p:cNvPicPr>
            <a:picLocks noChangeAspect="1"/>
          </p:cNvPicPr>
          <p:nvPr/>
        </p:nvPicPr>
        <p:blipFill>
          <a:blip r:embed="rId4"/>
          <a:stretch>
            <a:fillRect/>
          </a:stretch>
        </p:blipFill>
        <p:spPr>
          <a:xfrm>
            <a:off x="960120" y="2377440"/>
            <a:ext cx="2377440" cy="1700784"/>
          </a:xfrm>
          <a:prstGeom prst="rect">
            <a:avLst/>
          </a:prstGeom>
        </p:spPr>
      </p:pic>
      <p:sp>
        <p:nvSpPr>
          <p:cNvPr id="11" name="Shape 7"/>
          <p:cNvSpPr/>
          <p:nvPr/>
        </p:nvSpPr>
        <p:spPr>
          <a:xfrm>
            <a:off x="960120" y="2377440"/>
            <a:ext cx="2377440" cy="1700784"/>
          </a:xfrm>
          <a:prstGeom prst="rect">
            <a:avLst/>
          </a:prstGeom>
          <a:ln w="12700">
            <a:solidFill>
              <a:srgbClr val="C6D2DA"/>
            </a:solidFill>
            <a:prstDash val="solid"/>
          </a:ln>
        </p:spPr>
        <p:txBody>
          <a:bodyPr/>
          <a:lstStyle/>
          <a:p>
            <a:endParaRPr/>
          </a:p>
        </p:txBody>
      </p:sp>
      <p:sp>
        <p:nvSpPr>
          <p:cNvPr id="12" name="Text 8"/>
          <p:cNvSpPr/>
          <p:nvPr/>
        </p:nvSpPr>
        <p:spPr>
          <a:xfrm>
            <a:off x="3520440" y="2395728"/>
            <a:ext cx="2377440" cy="2103120"/>
          </a:xfrm>
          <a:prstGeom prst="rect">
            <a:avLst/>
          </a:prstGeom>
          <a:noFill/>
          <a:ln/>
        </p:spPr>
        <p:txBody>
          <a:bodyPr wrap="square" lIns="0" tIns="0" rIns="0" bIns="0" rtlCol="0" anchor="t"/>
          <a:lstStyle/>
          <a:p>
            <a:pPr marL="127000" indent="-127000" algn="l">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Deploys 1.0 m to 10.0 m</a:t>
            </a:r>
            <a:endParaRPr lang="en-US" sz="1100" dirty="0"/>
          </a:p>
          <a:p>
            <a:pPr marL="127000" indent="-127000" algn="l">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Up to 30:1 stow ratio</a:t>
            </a:r>
            <a:endParaRPr lang="en-US" sz="1100" dirty="0"/>
          </a:p>
          <a:p>
            <a:pPr marL="127000" indent="-127000" algn="l">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3.5 to 5.0 kg class mass</a:t>
            </a:r>
            <a:endParaRPr lang="en-US" sz="1100" dirty="0"/>
          </a:p>
          <a:p>
            <a:pPr marL="127000" indent="-127000" algn="l">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MAVEN, Solar Orbiter, and Europa Clipper heritage</a:t>
            </a:r>
            <a:endParaRPr lang="en-US" sz="1100" dirty="0"/>
          </a:p>
        </p:txBody>
      </p:sp>
      <p:sp>
        <p:nvSpPr>
          <p:cNvPr id="13" name="Text 9"/>
          <p:cNvSpPr/>
          <p:nvPr/>
        </p:nvSpPr>
        <p:spPr>
          <a:xfrm>
            <a:off x="960120" y="4133088"/>
            <a:ext cx="2468880" cy="274320"/>
          </a:xfrm>
          <a:prstGeom prst="rect">
            <a:avLst/>
          </a:prstGeom>
          <a:noFill/>
          <a:ln/>
        </p:spPr>
        <p:txBody>
          <a:bodyPr wrap="square" lIns="0" tIns="0" rIns="0" bIns="0" rtlCol="0" anchor="ctr"/>
          <a:lstStyle/>
          <a:p>
            <a:pPr marL="0" indent="0">
              <a:buNone/>
            </a:pPr>
            <a:r>
              <a:rPr lang="en-US" sz="950" i="1" dirty="0">
                <a:solidFill>
                  <a:srgbClr val="5C6B76"/>
                </a:solidFill>
                <a:latin typeface="Garamond" pitchFamily="34" charset="0"/>
                <a:ea typeface="Garamond" pitchFamily="34" charset="-122"/>
                <a:cs typeface="Garamond" pitchFamily="34" charset="-120"/>
              </a:rPr>
              <a:t>SB1 class flight mechanisms</a:t>
            </a:r>
            <a:endParaRPr lang="en-US" sz="950" dirty="0"/>
          </a:p>
        </p:txBody>
      </p:sp>
      <p:sp>
        <p:nvSpPr>
          <p:cNvPr id="14" name="Shape 10"/>
          <p:cNvSpPr/>
          <p:nvPr/>
        </p:nvSpPr>
        <p:spPr>
          <a:xfrm>
            <a:off x="6190488" y="1828800"/>
            <a:ext cx="5175504" cy="2788920"/>
          </a:xfrm>
          <a:prstGeom prst="roundRect">
            <a:avLst>
              <a:gd name="adj" fmla="val 1639"/>
            </a:avLst>
          </a:prstGeom>
          <a:solidFill>
            <a:srgbClr val="F3F7FA"/>
          </a:solidFill>
          <a:ln/>
        </p:spPr>
        <p:txBody>
          <a:bodyPr/>
          <a:lstStyle/>
          <a:p>
            <a:endParaRPr/>
          </a:p>
        </p:txBody>
      </p:sp>
      <p:sp>
        <p:nvSpPr>
          <p:cNvPr id="15" name="Text 11"/>
          <p:cNvSpPr/>
          <p:nvPr/>
        </p:nvSpPr>
        <p:spPr>
          <a:xfrm>
            <a:off x="6355080" y="1956816"/>
            <a:ext cx="2743200" cy="320040"/>
          </a:xfrm>
          <a:prstGeom prst="rect">
            <a:avLst/>
          </a:prstGeom>
          <a:noFill/>
          <a:ln/>
        </p:spPr>
        <p:txBody>
          <a:bodyPr wrap="square" lIns="0" tIns="0" rIns="0" bIns="0" rtlCol="0" anchor="ctr"/>
          <a:lstStyle/>
          <a:p>
            <a:pPr marL="0" indent="0">
              <a:buNone/>
            </a:pPr>
            <a:r>
              <a:rPr lang="en-US" sz="1650" b="1" dirty="0">
                <a:solidFill>
                  <a:srgbClr val="10222F"/>
                </a:solidFill>
                <a:latin typeface="Garamond" pitchFamily="34" charset="0"/>
                <a:ea typeface="Garamond" pitchFamily="34" charset="-122"/>
                <a:cs typeface="Garamond" pitchFamily="34" charset="-120"/>
              </a:rPr>
              <a:t>Model SB2</a:t>
            </a:r>
            <a:endParaRPr lang="en-US" sz="1650" dirty="0"/>
          </a:p>
        </p:txBody>
      </p:sp>
      <p:pic>
        <p:nvPicPr>
          <p:cNvPr id="16" name="Image 2" descr="assets/s5_sb2.jpg"/>
          <p:cNvPicPr>
            <a:picLocks noChangeAspect="1"/>
          </p:cNvPicPr>
          <p:nvPr/>
        </p:nvPicPr>
        <p:blipFill>
          <a:blip r:embed="rId5"/>
          <a:stretch>
            <a:fillRect/>
          </a:stretch>
        </p:blipFill>
        <p:spPr>
          <a:xfrm>
            <a:off x="6327648" y="2377440"/>
            <a:ext cx="2377440" cy="1700784"/>
          </a:xfrm>
          <a:prstGeom prst="rect">
            <a:avLst/>
          </a:prstGeom>
        </p:spPr>
      </p:pic>
      <p:sp>
        <p:nvSpPr>
          <p:cNvPr id="17" name="Shape 12"/>
          <p:cNvSpPr/>
          <p:nvPr/>
        </p:nvSpPr>
        <p:spPr>
          <a:xfrm>
            <a:off x="6327648" y="2377440"/>
            <a:ext cx="2377440" cy="1700784"/>
          </a:xfrm>
          <a:prstGeom prst="rect">
            <a:avLst/>
          </a:prstGeom>
          <a:ln w="12700">
            <a:solidFill>
              <a:srgbClr val="C6D2DA"/>
            </a:solidFill>
            <a:prstDash val="solid"/>
          </a:ln>
        </p:spPr>
        <p:txBody>
          <a:bodyPr/>
          <a:lstStyle/>
          <a:p>
            <a:endParaRPr/>
          </a:p>
        </p:txBody>
      </p:sp>
      <p:sp>
        <p:nvSpPr>
          <p:cNvPr id="18" name="Text 13"/>
          <p:cNvSpPr/>
          <p:nvPr/>
        </p:nvSpPr>
        <p:spPr>
          <a:xfrm>
            <a:off x="8887968" y="2395728"/>
            <a:ext cx="2377440" cy="2103120"/>
          </a:xfrm>
          <a:prstGeom prst="rect">
            <a:avLst/>
          </a:prstGeom>
          <a:noFill/>
          <a:ln/>
        </p:spPr>
        <p:txBody>
          <a:bodyPr wrap="square" lIns="0" tIns="0" rIns="0" bIns="0" rtlCol="0" anchor="t"/>
          <a:lstStyle/>
          <a:p>
            <a:pPr marL="127000" indent="-127000" algn="l">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Deploys 1.0 m to 6.0 m</a:t>
            </a:r>
            <a:endParaRPr lang="en-US" sz="1100" dirty="0"/>
          </a:p>
          <a:p>
            <a:pPr marL="127000" indent="-127000" algn="l">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Up to 50:1 stow ratio</a:t>
            </a:r>
            <a:endParaRPr lang="en-US" sz="1100" dirty="0"/>
          </a:p>
          <a:p>
            <a:pPr marL="127000" indent="-127000" algn="l">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200 g class mass</a:t>
            </a:r>
            <a:endParaRPr lang="en-US" sz="1100" dirty="0"/>
          </a:p>
          <a:p>
            <a:pPr marL="127000" indent="-127000" algn="l">
              <a:spcAft>
                <a:spcPts val="800"/>
              </a:spcAft>
              <a:buSzPct val="100000"/>
              <a:buChar char="•"/>
            </a:pPr>
            <a:r>
              <a:rPr lang="en-US" sz="1100" dirty="0">
                <a:solidFill>
                  <a:srgbClr val="1E2A33"/>
                </a:solidFill>
                <a:latin typeface="Garamond" pitchFamily="34" charset="0"/>
                <a:ea typeface="Garamond" pitchFamily="34" charset="-122"/>
                <a:cs typeface="Garamond" pitchFamily="34" charset="-120"/>
              </a:rPr>
              <a:t>Rated -200 C to +200 C</a:t>
            </a:r>
            <a:endParaRPr lang="en-US" sz="1100" dirty="0"/>
          </a:p>
        </p:txBody>
      </p:sp>
      <p:sp>
        <p:nvSpPr>
          <p:cNvPr id="19" name="Text 14"/>
          <p:cNvSpPr/>
          <p:nvPr/>
        </p:nvSpPr>
        <p:spPr>
          <a:xfrm>
            <a:off x="6327648" y="4133088"/>
            <a:ext cx="2468880" cy="274320"/>
          </a:xfrm>
          <a:prstGeom prst="rect">
            <a:avLst/>
          </a:prstGeom>
          <a:noFill/>
          <a:ln/>
        </p:spPr>
        <p:txBody>
          <a:bodyPr wrap="square" lIns="0" tIns="0" rIns="0" bIns="0" rtlCol="0" anchor="ctr"/>
          <a:lstStyle/>
          <a:p>
            <a:pPr marL="0" indent="0">
              <a:buNone/>
            </a:pPr>
            <a:r>
              <a:rPr lang="en-US" sz="950" i="1" dirty="0">
                <a:solidFill>
                  <a:srgbClr val="5C6B76"/>
                </a:solidFill>
                <a:latin typeface="Garamond" pitchFamily="34" charset="0"/>
                <a:ea typeface="Garamond" pitchFamily="34" charset="-122"/>
                <a:cs typeface="Garamond" pitchFamily="34" charset="-120"/>
              </a:rPr>
              <a:t>SB2 mechanism render</a:t>
            </a:r>
            <a:endParaRPr lang="en-US" sz="950" dirty="0"/>
          </a:p>
        </p:txBody>
      </p:sp>
      <p:pic>
        <p:nvPicPr>
          <p:cNvPr id="20" name="Image 3" descr="assets/s5_strip.jpg"/>
          <p:cNvPicPr>
            <a:picLocks noChangeAspect="1"/>
          </p:cNvPicPr>
          <p:nvPr/>
        </p:nvPicPr>
        <p:blipFill>
          <a:blip r:embed="rId6"/>
          <a:stretch>
            <a:fillRect/>
          </a:stretch>
        </p:blipFill>
        <p:spPr>
          <a:xfrm>
            <a:off x="822960" y="4828032"/>
            <a:ext cx="10543032" cy="1371600"/>
          </a:xfrm>
          <a:prstGeom prst="rect">
            <a:avLst/>
          </a:prstGeom>
        </p:spPr>
      </p:pic>
      <p:sp>
        <p:nvSpPr>
          <p:cNvPr id="21" name="Shape 15"/>
          <p:cNvSpPr/>
          <p:nvPr/>
        </p:nvSpPr>
        <p:spPr>
          <a:xfrm>
            <a:off x="822960" y="4828032"/>
            <a:ext cx="10543032" cy="1371600"/>
          </a:xfrm>
          <a:prstGeom prst="rect">
            <a:avLst/>
          </a:prstGeom>
          <a:ln w="12700">
            <a:solidFill>
              <a:srgbClr val="C6D2DA"/>
            </a:solidFill>
            <a:prstDash val="solid"/>
          </a:ln>
        </p:spPr>
        <p:txBody>
          <a:bodyPr/>
          <a:lstStyle/>
          <a:p>
            <a:endParaRPr/>
          </a:p>
        </p:txBody>
      </p:sp>
      <p:sp>
        <p:nvSpPr>
          <p:cNvPr id="22" name="Text 16"/>
          <p:cNvSpPr/>
          <p:nvPr/>
        </p:nvSpPr>
        <p:spPr>
          <a:xfrm>
            <a:off x="822960" y="6236208"/>
            <a:ext cx="10424160" cy="274320"/>
          </a:xfrm>
          <a:prstGeom prst="rect">
            <a:avLst/>
          </a:prstGeom>
          <a:noFill/>
          <a:ln/>
        </p:spPr>
        <p:txBody>
          <a:bodyPr wrap="square" lIns="0" tIns="0" rIns="0" bIns="0" rtlCol="0" anchor="ctr"/>
          <a:lstStyle/>
          <a:p>
            <a:pPr marL="0" indent="0">
              <a:buNone/>
            </a:pPr>
            <a:r>
              <a:rPr lang="en-US" sz="950" i="1" dirty="0">
                <a:solidFill>
                  <a:srgbClr val="5C6B76"/>
                </a:solidFill>
                <a:latin typeface="Garamond" pitchFamily="34" charset="0"/>
                <a:ea typeface="Garamond" pitchFamily="34" charset="-122"/>
                <a:cs typeface="Garamond" pitchFamily="34" charset="-120"/>
              </a:rPr>
              <a:t>Europa Clipper REASON high frequency antenna configuration: 58 ft (17.6 m) tip to tip deployed length.</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PRODUCT DETAIL</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Model SB1: The Flight Proven Workhorse</a:t>
            </a:r>
            <a:endParaRPr lang="en-US" sz="2900" dirty="0"/>
          </a:p>
        </p:txBody>
      </p:sp>
      <p:pic>
        <p:nvPicPr>
          <p:cNvPr id="4" name="Image 0" descr="assets/logo_dark.jpg"/>
          <p:cNvPicPr>
            <a:picLocks noChangeAspect="1"/>
          </p:cNvPicPr>
          <p:nvPr/>
        </p:nvPicPr>
        <p:blipFill>
          <a:blip r:embed="rId3"/>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6</a:t>
            </a:r>
            <a:endParaRPr lang="en-US" sz="850" dirty="0"/>
          </a:p>
        </p:txBody>
      </p:sp>
      <p:sp>
        <p:nvSpPr>
          <p:cNvPr id="7" name="Text 4"/>
          <p:cNvSpPr/>
          <p:nvPr/>
        </p:nvSpPr>
        <p:spPr>
          <a:xfrm>
            <a:off x="822960" y="1371600"/>
            <a:ext cx="5806440" cy="685800"/>
          </a:xfrm>
          <a:prstGeom prst="rect">
            <a:avLst/>
          </a:prstGeom>
          <a:noFill/>
          <a:ln/>
        </p:spPr>
        <p:txBody>
          <a:bodyPr wrap="square" lIns="0" tIns="0" rIns="0" bIns="0" rtlCol="0" anchor="t"/>
          <a:lstStyle/>
          <a:p>
            <a:pPr marL="0" indent="0">
              <a:lnSpc>
                <a:spcPct val="105000"/>
              </a:lnSpc>
              <a:buNone/>
            </a:pPr>
            <a:r>
              <a:rPr lang="en-US" sz="1250" dirty="0">
                <a:solidFill>
                  <a:srgbClr val="1E2A33"/>
                </a:solidFill>
                <a:latin typeface="Garamond" pitchFamily="34" charset="0"/>
                <a:ea typeface="Garamond" pitchFamily="34" charset="-122"/>
                <a:cs typeface="Garamond" pitchFamily="34" charset="-120"/>
              </a:rPr>
              <a:t>A low mass, compact, high reliability boom for antennas, sensors, and deployed hardware, with well controlled deployment to precise lengths of up to 10.0 m.</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148840"/>
          <a:ext cx="5806440" cy="914400"/>
        </p:xfrm>
        <a:graphic>
          <a:graphicData uri="http://schemas.openxmlformats.org/drawingml/2006/table">
            <a:tbl>
              <a:tblPr/>
              <a:tblGrid>
                <a:gridCol w="19659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429768">
                <a:tc>
                  <a:txBody>
                    <a:bodyPr/>
                    <a:lstStyle/>
                    <a:p>
                      <a:pPr marL="0" indent="0">
                        <a:buNone/>
                      </a:pPr>
                      <a:r>
                        <a:rPr lang="en-US" sz="1050" b="1" dirty="0">
                          <a:solidFill>
                            <a:srgbClr val="10222F"/>
                          </a:solidFill>
                          <a:latin typeface="Garamond" pitchFamily="34" charset="0"/>
                          <a:ea typeface="Garamond" pitchFamily="34" charset="-122"/>
                          <a:cs typeface="Garamond" pitchFamily="34" charset="-120"/>
                        </a:rPr>
                        <a:t>Deployed length</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marL="0" indent="0">
                        <a:buNone/>
                      </a:pPr>
                      <a:r>
                        <a:rPr lang="en-US" sz="1050" dirty="0">
                          <a:solidFill>
                            <a:srgbClr val="1E2A33"/>
                          </a:solidFill>
                          <a:latin typeface="Garamond" pitchFamily="34" charset="0"/>
                          <a:ea typeface="Garamond" pitchFamily="34" charset="-122"/>
                          <a:cs typeface="Garamond" pitchFamily="34" charset="-120"/>
                        </a:rPr>
                        <a:t>3.3 to 32.8 ft (1.0 to 10.0 m), selectable</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extLst>
                  <a:ext uri="{0D108BD9-81ED-4DB2-BD59-A6C34878D82A}">
                    <a16:rowId xmlns:a16="http://schemas.microsoft.com/office/drawing/2014/main" val="10000"/>
                  </a:ext>
                </a:extLst>
              </a:tr>
              <a:tr h="429768">
                <a:tc>
                  <a:txBody>
                    <a:bodyPr/>
                    <a:lstStyle/>
                    <a:p>
                      <a:pPr marL="0" indent="0">
                        <a:buNone/>
                      </a:pPr>
                      <a:r>
                        <a:rPr lang="en-US" sz="1050" b="1" dirty="0">
                          <a:solidFill>
                            <a:srgbClr val="10222F"/>
                          </a:solidFill>
                          <a:latin typeface="Garamond" pitchFamily="34" charset="0"/>
                          <a:ea typeface="Garamond" pitchFamily="34" charset="-122"/>
                          <a:cs typeface="Garamond" pitchFamily="34" charset="-120"/>
                        </a:rPr>
                        <a:t>Mass</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marL="0" indent="0">
                        <a:buNone/>
                      </a:pPr>
                      <a:r>
                        <a:rPr lang="en-US" sz="1050" dirty="0">
                          <a:solidFill>
                            <a:srgbClr val="1E2A33"/>
                          </a:solidFill>
                          <a:latin typeface="Garamond" pitchFamily="34" charset="0"/>
                          <a:ea typeface="Garamond" pitchFamily="34" charset="-122"/>
                          <a:cs typeface="Garamond" pitchFamily="34" charset="-120"/>
                        </a:rPr>
                        <a:t>7.7 lb (3.5 kg) at 4.0 m; 11.0 lb (5.0 kg) at 10.0 m</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050" b="1" dirty="0">
                          <a:solidFill>
                            <a:srgbClr val="10222F"/>
                          </a:solidFill>
                          <a:latin typeface="Garamond" pitchFamily="34" charset="0"/>
                          <a:ea typeface="Garamond" pitchFamily="34" charset="-122"/>
                          <a:cs typeface="Garamond" pitchFamily="34" charset="-120"/>
                        </a:rPr>
                        <a:t>Stowed envelope</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marL="0" indent="0">
                        <a:buNone/>
                      </a:pPr>
                      <a:r>
                        <a:rPr lang="en-US" sz="1050" dirty="0">
                          <a:solidFill>
                            <a:srgbClr val="1E2A33"/>
                          </a:solidFill>
                          <a:latin typeface="Garamond" pitchFamily="34" charset="0"/>
                          <a:ea typeface="Garamond" pitchFamily="34" charset="-122"/>
                          <a:cs typeface="Garamond" pitchFamily="34" charset="-120"/>
                        </a:rPr>
                        <a:t>4.2 x 5.3 x 13.6 in (11 x 13 x 35 cm)</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extLst>
                  <a:ext uri="{0D108BD9-81ED-4DB2-BD59-A6C34878D82A}">
                    <a16:rowId xmlns:a16="http://schemas.microsoft.com/office/drawing/2014/main" val="10002"/>
                  </a:ext>
                </a:extLst>
              </a:tr>
              <a:tr h="429768">
                <a:tc>
                  <a:txBody>
                    <a:bodyPr/>
                    <a:lstStyle/>
                    <a:p>
                      <a:pPr marL="0" indent="0">
                        <a:buNone/>
                      </a:pPr>
                      <a:r>
                        <a:rPr lang="en-US" sz="1050" b="1" dirty="0">
                          <a:solidFill>
                            <a:srgbClr val="10222F"/>
                          </a:solidFill>
                          <a:latin typeface="Garamond" pitchFamily="34" charset="0"/>
                          <a:ea typeface="Garamond" pitchFamily="34" charset="-122"/>
                          <a:cs typeface="Garamond" pitchFamily="34" charset="-120"/>
                        </a:rPr>
                        <a:t>Deploy power</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marL="0" indent="0">
                        <a:buNone/>
                      </a:pPr>
                      <a:r>
                        <a:rPr lang="en-US" sz="1050" dirty="0">
                          <a:solidFill>
                            <a:srgbClr val="1E2A33"/>
                          </a:solidFill>
                          <a:latin typeface="Garamond" pitchFamily="34" charset="0"/>
                          <a:ea typeface="Garamond" pitchFamily="34" charset="-122"/>
                          <a:cs typeface="Garamond" pitchFamily="34" charset="-120"/>
                        </a:rPr>
                        <a:t>25 W (+28 V at 0.9 A) for 30 s, typical</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050" b="1" dirty="0">
                          <a:solidFill>
                            <a:srgbClr val="10222F"/>
                          </a:solidFill>
                          <a:latin typeface="Garamond" pitchFamily="34" charset="0"/>
                          <a:ea typeface="Garamond" pitchFamily="34" charset="-122"/>
                          <a:cs typeface="Garamond" pitchFamily="34" charset="-120"/>
                        </a:rPr>
                        <a:t>Deployment control</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marL="0" indent="0">
                        <a:buNone/>
                      </a:pPr>
                      <a:r>
                        <a:rPr lang="en-US" sz="1050" dirty="0">
                          <a:solidFill>
                            <a:srgbClr val="1E2A33"/>
                          </a:solidFill>
                          <a:latin typeface="Garamond" pitchFamily="34" charset="0"/>
                          <a:ea typeface="Garamond" pitchFamily="34" charset="-122"/>
                          <a:cs typeface="Garamond" pitchFamily="34" charset="-120"/>
                        </a:rPr>
                        <a:t>About 0.5 m/s; length precision of +/- 0.25 in</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extLst>
                  <a:ext uri="{0D108BD9-81ED-4DB2-BD59-A6C34878D82A}">
                    <a16:rowId xmlns:a16="http://schemas.microsoft.com/office/drawing/2014/main" val="10004"/>
                  </a:ext>
                </a:extLst>
              </a:tr>
              <a:tr h="429768">
                <a:tc>
                  <a:txBody>
                    <a:bodyPr/>
                    <a:lstStyle/>
                    <a:p>
                      <a:pPr marL="0" indent="0">
                        <a:buNone/>
                      </a:pPr>
                      <a:r>
                        <a:rPr lang="en-US" sz="1050" b="1" dirty="0">
                          <a:solidFill>
                            <a:srgbClr val="10222F"/>
                          </a:solidFill>
                          <a:latin typeface="Garamond" pitchFamily="34" charset="0"/>
                          <a:ea typeface="Garamond" pitchFamily="34" charset="-122"/>
                          <a:cs typeface="Garamond" pitchFamily="34" charset="-120"/>
                        </a:rPr>
                        <a:t>Thermal, post deploy</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marL="0" indent="0">
                        <a:buNone/>
                      </a:pPr>
                      <a:r>
                        <a:rPr lang="en-US" sz="1050" dirty="0">
                          <a:solidFill>
                            <a:srgbClr val="1E2A33"/>
                          </a:solidFill>
                          <a:latin typeface="Garamond" pitchFamily="34" charset="0"/>
                          <a:ea typeface="Garamond" pitchFamily="34" charset="-122"/>
                          <a:cs typeface="Garamond" pitchFamily="34" charset="-120"/>
                        </a:rPr>
                        <a:t>-135 C to +120 C</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050" b="1" dirty="0">
                          <a:solidFill>
                            <a:srgbClr val="10222F"/>
                          </a:solidFill>
                          <a:latin typeface="Garamond" pitchFamily="34" charset="0"/>
                          <a:ea typeface="Garamond" pitchFamily="34" charset="-122"/>
                          <a:cs typeface="Garamond" pitchFamily="34" charset="-120"/>
                        </a:rPr>
                        <a:t>Structure</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marL="0" indent="0">
                        <a:buNone/>
                      </a:pPr>
                      <a:r>
                        <a:rPr lang="en-US" sz="1050" dirty="0">
                          <a:solidFill>
                            <a:srgbClr val="1E2A33"/>
                          </a:solidFill>
                          <a:latin typeface="Garamond" pitchFamily="34" charset="0"/>
                          <a:ea typeface="Garamond" pitchFamily="34" charset="-122"/>
                          <a:cs typeface="Garamond" pitchFamily="34" charset="-120"/>
                        </a:rPr>
                        <a:t>Stowed first mode above 200 Hz</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extLst>
                  <a:ext uri="{0D108BD9-81ED-4DB2-BD59-A6C34878D82A}">
                    <a16:rowId xmlns:a16="http://schemas.microsoft.com/office/drawing/2014/main" val="10006"/>
                  </a:ext>
                </a:extLst>
              </a:tr>
              <a:tr h="429768">
                <a:tc>
                  <a:txBody>
                    <a:bodyPr/>
                    <a:lstStyle/>
                    <a:p>
                      <a:pPr marL="0" indent="0">
                        <a:buNone/>
                      </a:pPr>
                      <a:r>
                        <a:rPr lang="en-US" sz="1050" b="1" dirty="0">
                          <a:solidFill>
                            <a:srgbClr val="10222F"/>
                          </a:solidFill>
                          <a:latin typeface="Garamond" pitchFamily="34" charset="0"/>
                          <a:ea typeface="Garamond" pitchFamily="34" charset="-122"/>
                          <a:cs typeface="Garamond" pitchFamily="34" charset="-120"/>
                        </a:rPr>
                        <a:t>Random vibration</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marL="0" indent="0">
                        <a:buNone/>
                      </a:pPr>
                      <a:r>
                        <a:rPr lang="en-US" sz="1050" dirty="0">
                          <a:solidFill>
                            <a:srgbClr val="1E2A33"/>
                          </a:solidFill>
                          <a:latin typeface="Garamond" pitchFamily="34" charset="0"/>
                          <a:ea typeface="Garamond" pitchFamily="34" charset="-122"/>
                          <a:cs typeface="Garamond" pitchFamily="34" charset="-120"/>
                        </a:rPr>
                        <a:t>GSFC-STD-7000B protoflight levels</a:t>
                      </a:r>
                      <a:endParaRPr lang="en-US" sz="1050" dirty="0">
                        <a:latin typeface="Garamond" charset="0"/>
                        <a:ea typeface="Garamond" charset="0"/>
                        <a:cs typeface="Garamond" charset="0"/>
                      </a:endParaRPr>
                    </a:p>
                  </a:txBody>
                  <a:tcPr marL="54864" marR="54864" marT="54864" marB="54864"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pic>
        <p:nvPicPr>
          <p:cNvPr id="9" name="Image 1" descr="assets/s6_test.jpg"/>
          <p:cNvPicPr>
            <a:picLocks noChangeAspect="1"/>
          </p:cNvPicPr>
          <p:nvPr/>
        </p:nvPicPr>
        <p:blipFill>
          <a:blip r:embed="rId4"/>
          <a:stretch>
            <a:fillRect/>
          </a:stretch>
        </p:blipFill>
        <p:spPr>
          <a:xfrm>
            <a:off x="6995160" y="1417320"/>
            <a:ext cx="4114800" cy="2103120"/>
          </a:xfrm>
          <a:prstGeom prst="rect">
            <a:avLst/>
          </a:prstGeom>
        </p:spPr>
      </p:pic>
      <p:sp>
        <p:nvSpPr>
          <p:cNvPr id="10" name="Shape 5"/>
          <p:cNvSpPr/>
          <p:nvPr/>
        </p:nvSpPr>
        <p:spPr>
          <a:xfrm>
            <a:off x="6995160" y="1417320"/>
            <a:ext cx="4114800" cy="2103120"/>
          </a:xfrm>
          <a:prstGeom prst="rect">
            <a:avLst/>
          </a:prstGeom>
          <a:ln w="12700">
            <a:solidFill>
              <a:srgbClr val="C6D2DA"/>
            </a:solidFill>
            <a:prstDash val="solid"/>
          </a:ln>
        </p:spPr>
        <p:txBody>
          <a:bodyPr/>
          <a:lstStyle/>
          <a:p>
            <a:endParaRPr/>
          </a:p>
        </p:txBody>
      </p:sp>
      <p:sp>
        <p:nvSpPr>
          <p:cNvPr id="11" name="Text 6"/>
          <p:cNvSpPr/>
          <p:nvPr/>
        </p:nvSpPr>
        <p:spPr>
          <a:xfrm>
            <a:off x="6995160" y="3547872"/>
            <a:ext cx="4114800" cy="274320"/>
          </a:xfrm>
          <a:prstGeom prst="rect">
            <a:avLst/>
          </a:prstGeom>
          <a:noFill/>
          <a:ln/>
        </p:spPr>
        <p:txBody>
          <a:bodyPr wrap="square" lIns="0" tIns="0" rIns="0" bIns="0" rtlCol="0" anchor="ctr"/>
          <a:lstStyle/>
          <a:p>
            <a:pPr marL="0" indent="0">
              <a:buNone/>
            </a:pPr>
            <a:r>
              <a:rPr lang="en-US" sz="950" i="1" dirty="0">
                <a:solidFill>
                  <a:srgbClr val="5C6B76"/>
                </a:solidFill>
                <a:latin typeface="Garamond" pitchFamily="34" charset="0"/>
                <a:ea typeface="Garamond" pitchFamily="34" charset="-122"/>
                <a:cs typeface="Garamond" pitchFamily="34" charset="-120"/>
              </a:rPr>
              <a:t>Controlled deployment testing at the Berkeley facility.</a:t>
            </a:r>
            <a:endParaRPr lang="en-US" sz="950" dirty="0"/>
          </a:p>
        </p:txBody>
      </p:sp>
      <p:pic>
        <p:nvPicPr>
          <p:cNvPr id="12" name="Image 2" descr="assets/s6_array.jpg"/>
          <p:cNvPicPr>
            <a:picLocks noChangeAspect="1"/>
          </p:cNvPicPr>
          <p:nvPr/>
        </p:nvPicPr>
        <p:blipFill>
          <a:blip r:embed="rId5"/>
          <a:stretch>
            <a:fillRect/>
          </a:stretch>
        </p:blipFill>
        <p:spPr>
          <a:xfrm>
            <a:off x="6995160" y="3913632"/>
            <a:ext cx="4114800" cy="2103120"/>
          </a:xfrm>
          <a:prstGeom prst="rect">
            <a:avLst/>
          </a:prstGeom>
        </p:spPr>
      </p:pic>
      <p:sp>
        <p:nvSpPr>
          <p:cNvPr id="13" name="Shape 7"/>
          <p:cNvSpPr/>
          <p:nvPr/>
        </p:nvSpPr>
        <p:spPr>
          <a:xfrm>
            <a:off x="6995160" y="3913632"/>
            <a:ext cx="4114800" cy="2103120"/>
          </a:xfrm>
          <a:prstGeom prst="rect">
            <a:avLst/>
          </a:prstGeom>
          <a:ln w="12700">
            <a:solidFill>
              <a:srgbClr val="C6D2DA"/>
            </a:solidFill>
            <a:prstDash val="solid"/>
          </a:ln>
        </p:spPr>
        <p:txBody>
          <a:bodyPr/>
          <a:lstStyle/>
          <a:p>
            <a:endParaRPr/>
          </a:p>
        </p:txBody>
      </p:sp>
      <p:sp>
        <p:nvSpPr>
          <p:cNvPr id="14" name="Text 8"/>
          <p:cNvSpPr/>
          <p:nvPr/>
        </p:nvSpPr>
        <p:spPr>
          <a:xfrm>
            <a:off x="6995160" y="6044184"/>
            <a:ext cx="4114800" cy="274320"/>
          </a:xfrm>
          <a:prstGeom prst="rect">
            <a:avLst/>
          </a:prstGeom>
          <a:noFill/>
          <a:ln/>
        </p:spPr>
        <p:txBody>
          <a:bodyPr wrap="square" lIns="0" tIns="0" rIns="0" bIns="0" rtlCol="0" anchor="ctr"/>
          <a:lstStyle/>
          <a:p>
            <a:pPr marL="0" indent="0">
              <a:buNone/>
            </a:pPr>
            <a:r>
              <a:rPr lang="en-US" sz="950" i="1" dirty="0">
                <a:solidFill>
                  <a:srgbClr val="5C6B76"/>
                </a:solidFill>
                <a:latin typeface="Garamond" pitchFamily="34" charset="0"/>
                <a:ea typeface="Garamond" pitchFamily="34" charset="-122"/>
                <a:cs typeface="Garamond" pitchFamily="34" charset="-120"/>
              </a:rPr>
              <a:t>SB1 class mechanism integrated on a flight solar array.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PRODUCT DETAIL</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Model SB2: SABER for Small Platforms</a:t>
            </a:r>
            <a:endParaRPr lang="en-US" sz="2900" dirty="0"/>
          </a:p>
        </p:txBody>
      </p:sp>
      <p:pic>
        <p:nvPicPr>
          <p:cNvPr id="4" name="Image 0" descr="assets/logo_dark.jpg"/>
          <p:cNvPicPr>
            <a:picLocks noChangeAspect="1"/>
          </p:cNvPicPr>
          <p:nvPr/>
        </p:nvPicPr>
        <p:blipFill>
          <a:blip r:embed="rId3"/>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7</a:t>
            </a:r>
            <a:endParaRPr lang="en-US" sz="850" dirty="0"/>
          </a:p>
        </p:txBody>
      </p:sp>
      <p:sp>
        <p:nvSpPr>
          <p:cNvPr id="7" name="Text 4"/>
          <p:cNvSpPr/>
          <p:nvPr/>
        </p:nvSpPr>
        <p:spPr>
          <a:xfrm>
            <a:off x="822960" y="1371600"/>
            <a:ext cx="6400800" cy="548640"/>
          </a:xfrm>
          <a:prstGeom prst="rect">
            <a:avLst/>
          </a:prstGeom>
          <a:noFill/>
          <a:ln/>
        </p:spPr>
        <p:txBody>
          <a:bodyPr wrap="square" lIns="0" tIns="0" rIns="0" bIns="0" rtlCol="0" anchor="t"/>
          <a:lstStyle/>
          <a:p>
            <a:pPr marL="0" indent="0">
              <a:lnSpc>
                <a:spcPct val="105000"/>
              </a:lnSpc>
              <a:buNone/>
            </a:pPr>
            <a:r>
              <a:rPr lang="en-US" sz="1250" dirty="0">
                <a:solidFill>
                  <a:srgbClr val="1E2A33"/>
                </a:solidFill>
                <a:latin typeface="Garamond" pitchFamily="34" charset="0"/>
                <a:ea typeface="Garamond" pitchFamily="34" charset="-122"/>
                <a:cs typeface="Garamond" pitchFamily="34" charset="-120"/>
              </a:rPr>
              <a:t>A 200 gram class deployable boom that brings full SABER capability to CubeSats, lunar payloads, and mass constrained platforms.</a:t>
            </a:r>
            <a:endParaRPr lang="en-US" sz="1250" dirty="0"/>
          </a:p>
        </p:txBody>
      </p:sp>
      <p:sp>
        <p:nvSpPr>
          <p:cNvPr id="8" name="Text 5"/>
          <p:cNvSpPr/>
          <p:nvPr/>
        </p:nvSpPr>
        <p:spPr>
          <a:xfrm>
            <a:off x="822960" y="2057400"/>
            <a:ext cx="3108960" cy="219456"/>
          </a:xfrm>
          <a:prstGeom prst="rect">
            <a:avLst/>
          </a:prstGeom>
          <a:noFill/>
          <a:ln/>
        </p:spPr>
        <p:txBody>
          <a:bodyPr wrap="square" lIns="0" tIns="0" rIns="0" bIns="0" rtlCol="0" anchor="ctr"/>
          <a:lstStyle/>
          <a:p>
            <a:pPr marL="0" indent="0">
              <a:buNone/>
            </a:pPr>
            <a:r>
              <a:rPr lang="en-US" sz="1050" b="1" dirty="0">
                <a:solidFill>
                  <a:srgbClr val="007BCB"/>
                </a:solidFill>
                <a:latin typeface="Garamond" pitchFamily="34" charset="0"/>
                <a:ea typeface="Garamond" pitchFamily="34" charset="-122"/>
                <a:cs typeface="Garamond" pitchFamily="34" charset="-120"/>
              </a:rPr>
              <a:t>Deployed length</a:t>
            </a:r>
            <a:endParaRPr lang="en-US" sz="1050" dirty="0"/>
          </a:p>
        </p:txBody>
      </p:sp>
      <p:sp>
        <p:nvSpPr>
          <p:cNvPr id="9" name="Text 6"/>
          <p:cNvSpPr/>
          <p:nvPr/>
        </p:nvSpPr>
        <p:spPr>
          <a:xfrm>
            <a:off x="822960" y="2276856"/>
            <a:ext cx="3108960" cy="256032"/>
          </a:xfrm>
          <a:prstGeom prst="rect">
            <a:avLst/>
          </a:prstGeom>
          <a:noFill/>
          <a:ln/>
        </p:spPr>
        <p:txBody>
          <a:bodyPr wrap="square" lIns="0" tIns="0" rIns="0" bIns="0" rtlCol="0" anchor="ctr"/>
          <a:lstStyle/>
          <a:p>
            <a:pPr marL="0" indent="0">
              <a:buNone/>
            </a:pPr>
            <a:r>
              <a:rPr lang="en-US" sz="1250" dirty="0">
                <a:solidFill>
                  <a:srgbClr val="1E2A33"/>
                </a:solidFill>
                <a:latin typeface="Garamond" pitchFamily="34" charset="0"/>
                <a:ea typeface="Garamond" pitchFamily="34" charset="-122"/>
                <a:cs typeface="Garamond" pitchFamily="34" charset="-120"/>
              </a:rPr>
              <a:t>Up to 19.7 ft (6.0 m)</a:t>
            </a:r>
            <a:endParaRPr lang="en-US" sz="1250" dirty="0"/>
          </a:p>
        </p:txBody>
      </p:sp>
      <p:sp>
        <p:nvSpPr>
          <p:cNvPr id="10" name="Text 7"/>
          <p:cNvSpPr/>
          <p:nvPr/>
        </p:nvSpPr>
        <p:spPr>
          <a:xfrm>
            <a:off x="4069080" y="2057400"/>
            <a:ext cx="3108960" cy="219456"/>
          </a:xfrm>
          <a:prstGeom prst="rect">
            <a:avLst/>
          </a:prstGeom>
          <a:noFill/>
          <a:ln/>
        </p:spPr>
        <p:txBody>
          <a:bodyPr wrap="square" lIns="0" tIns="0" rIns="0" bIns="0" rtlCol="0" anchor="ctr"/>
          <a:lstStyle/>
          <a:p>
            <a:pPr marL="0" indent="0">
              <a:buNone/>
            </a:pPr>
            <a:r>
              <a:rPr lang="en-US" sz="1050" b="1" dirty="0">
                <a:solidFill>
                  <a:srgbClr val="007BCB"/>
                </a:solidFill>
                <a:latin typeface="Garamond" pitchFamily="34" charset="0"/>
                <a:ea typeface="Garamond" pitchFamily="34" charset="-122"/>
                <a:cs typeface="Garamond" pitchFamily="34" charset="-120"/>
              </a:rPr>
              <a:t>Mass</a:t>
            </a:r>
            <a:endParaRPr lang="en-US" sz="1050" dirty="0"/>
          </a:p>
        </p:txBody>
      </p:sp>
      <p:sp>
        <p:nvSpPr>
          <p:cNvPr id="11" name="Text 8"/>
          <p:cNvSpPr/>
          <p:nvPr/>
        </p:nvSpPr>
        <p:spPr>
          <a:xfrm>
            <a:off x="4069080" y="2276856"/>
            <a:ext cx="3108960" cy="256032"/>
          </a:xfrm>
          <a:prstGeom prst="rect">
            <a:avLst/>
          </a:prstGeom>
          <a:noFill/>
          <a:ln/>
        </p:spPr>
        <p:txBody>
          <a:bodyPr wrap="square" lIns="0" tIns="0" rIns="0" bIns="0" rtlCol="0" anchor="ctr"/>
          <a:lstStyle/>
          <a:p>
            <a:pPr marL="0" indent="0">
              <a:buNone/>
            </a:pPr>
            <a:r>
              <a:rPr lang="en-US" sz="1250" dirty="0">
                <a:solidFill>
                  <a:srgbClr val="1E2A33"/>
                </a:solidFill>
                <a:latin typeface="Garamond" pitchFamily="34" charset="0"/>
                <a:ea typeface="Garamond" pitchFamily="34" charset="-122"/>
                <a:cs typeface="Garamond" pitchFamily="34" charset="-120"/>
              </a:rPr>
              <a:t>0.44 lb (200 g)</a:t>
            </a:r>
            <a:endParaRPr lang="en-US" sz="1250" dirty="0"/>
          </a:p>
        </p:txBody>
      </p:sp>
      <p:sp>
        <p:nvSpPr>
          <p:cNvPr id="12" name="Text 9"/>
          <p:cNvSpPr/>
          <p:nvPr/>
        </p:nvSpPr>
        <p:spPr>
          <a:xfrm>
            <a:off x="822960" y="2715768"/>
            <a:ext cx="3108960" cy="219456"/>
          </a:xfrm>
          <a:prstGeom prst="rect">
            <a:avLst/>
          </a:prstGeom>
          <a:noFill/>
          <a:ln/>
        </p:spPr>
        <p:txBody>
          <a:bodyPr wrap="square" lIns="0" tIns="0" rIns="0" bIns="0" rtlCol="0" anchor="ctr"/>
          <a:lstStyle/>
          <a:p>
            <a:pPr marL="0" indent="0">
              <a:buNone/>
            </a:pPr>
            <a:r>
              <a:rPr lang="en-US" sz="1050" b="1" dirty="0">
                <a:solidFill>
                  <a:srgbClr val="007BCB"/>
                </a:solidFill>
                <a:latin typeface="Garamond" pitchFamily="34" charset="0"/>
                <a:ea typeface="Garamond" pitchFamily="34" charset="-122"/>
                <a:cs typeface="Garamond" pitchFamily="34" charset="-120"/>
              </a:rPr>
              <a:t>Stowed envelope</a:t>
            </a:r>
            <a:endParaRPr lang="en-US" sz="1050" dirty="0"/>
          </a:p>
        </p:txBody>
      </p:sp>
      <p:sp>
        <p:nvSpPr>
          <p:cNvPr id="13" name="Text 10"/>
          <p:cNvSpPr/>
          <p:nvPr/>
        </p:nvSpPr>
        <p:spPr>
          <a:xfrm>
            <a:off x="822960" y="2935224"/>
            <a:ext cx="3108960" cy="256032"/>
          </a:xfrm>
          <a:prstGeom prst="rect">
            <a:avLst/>
          </a:prstGeom>
          <a:noFill/>
          <a:ln/>
        </p:spPr>
        <p:txBody>
          <a:bodyPr wrap="square" lIns="0" tIns="0" rIns="0" bIns="0" rtlCol="0" anchor="ctr"/>
          <a:lstStyle/>
          <a:p>
            <a:pPr marL="0" indent="0">
              <a:buNone/>
            </a:pPr>
            <a:r>
              <a:rPr lang="en-US" sz="1250" dirty="0">
                <a:solidFill>
                  <a:srgbClr val="1E2A33"/>
                </a:solidFill>
                <a:latin typeface="Garamond" pitchFamily="34" charset="0"/>
                <a:ea typeface="Garamond" pitchFamily="34" charset="-122"/>
                <a:cs typeface="Garamond" pitchFamily="34" charset="-120"/>
              </a:rPr>
              <a:t>1.4 x 1.8 x 3.2 in</a:t>
            </a:r>
            <a:endParaRPr lang="en-US" sz="1250" dirty="0"/>
          </a:p>
        </p:txBody>
      </p:sp>
      <p:sp>
        <p:nvSpPr>
          <p:cNvPr id="14" name="Text 11"/>
          <p:cNvSpPr/>
          <p:nvPr/>
        </p:nvSpPr>
        <p:spPr>
          <a:xfrm>
            <a:off x="4069080" y="2715768"/>
            <a:ext cx="3108960" cy="219456"/>
          </a:xfrm>
          <a:prstGeom prst="rect">
            <a:avLst/>
          </a:prstGeom>
          <a:noFill/>
          <a:ln/>
        </p:spPr>
        <p:txBody>
          <a:bodyPr wrap="square" lIns="0" tIns="0" rIns="0" bIns="0" rtlCol="0" anchor="ctr"/>
          <a:lstStyle/>
          <a:p>
            <a:pPr marL="0" indent="0">
              <a:buNone/>
            </a:pPr>
            <a:r>
              <a:rPr lang="en-US" sz="1050" b="1" dirty="0">
                <a:solidFill>
                  <a:srgbClr val="007BCB"/>
                </a:solidFill>
                <a:latin typeface="Garamond" pitchFamily="34" charset="0"/>
                <a:ea typeface="Garamond" pitchFamily="34" charset="-122"/>
                <a:cs typeface="Garamond" pitchFamily="34" charset="-120"/>
              </a:rPr>
              <a:t>Stow ratio</a:t>
            </a:r>
            <a:endParaRPr lang="en-US" sz="1050" dirty="0"/>
          </a:p>
        </p:txBody>
      </p:sp>
      <p:sp>
        <p:nvSpPr>
          <p:cNvPr id="15" name="Text 12"/>
          <p:cNvSpPr/>
          <p:nvPr/>
        </p:nvSpPr>
        <p:spPr>
          <a:xfrm>
            <a:off x="4069080" y="2935224"/>
            <a:ext cx="3108960" cy="256032"/>
          </a:xfrm>
          <a:prstGeom prst="rect">
            <a:avLst/>
          </a:prstGeom>
          <a:noFill/>
          <a:ln/>
        </p:spPr>
        <p:txBody>
          <a:bodyPr wrap="square" lIns="0" tIns="0" rIns="0" bIns="0" rtlCol="0" anchor="ctr"/>
          <a:lstStyle/>
          <a:p>
            <a:pPr marL="0" indent="0">
              <a:buNone/>
            </a:pPr>
            <a:r>
              <a:rPr lang="en-US" sz="1250" dirty="0">
                <a:solidFill>
                  <a:srgbClr val="1E2A33"/>
                </a:solidFill>
                <a:latin typeface="Garamond" pitchFamily="34" charset="0"/>
                <a:ea typeface="Garamond" pitchFamily="34" charset="-122"/>
                <a:cs typeface="Garamond" pitchFamily="34" charset="-120"/>
              </a:rPr>
              <a:t>Up to 50:1</a:t>
            </a:r>
            <a:endParaRPr lang="en-US" sz="1250" dirty="0"/>
          </a:p>
        </p:txBody>
      </p:sp>
      <p:sp>
        <p:nvSpPr>
          <p:cNvPr id="16" name="Text 13"/>
          <p:cNvSpPr/>
          <p:nvPr/>
        </p:nvSpPr>
        <p:spPr>
          <a:xfrm>
            <a:off x="822960" y="3374136"/>
            <a:ext cx="3108960" cy="219456"/>
          </a:xfrm>
          <a:prstGeom prst="rect">
            <a:avLst/>
          </a:prstGeom>
          <a:noFill/>
          <a:ln/>
        </p:spPr>
        <p:txBody>
          <a:bodyPr wrap="square" lIns="0" tIns="0" rIns="0" bIns="0" rtlCol="0" anchor="ctr"/>
          <a:lstStyle/>
          <a:p>
            <a:pPr marL="0" indent="0">
              <a:buNone/>
            </a:pPr>
            <a:r>
              <a:rPr lang="en-US" sz="1050" b="1" dirty="0">
                <a:solidFill>
                  <a:srgbClr val="007BCB"/>
                </a:solidFill>
                <a:latin typeface="Garamond" pitchFamily="34" charset="0"/>
                <a:ea typeface="Garamond" pitchFamily="34" charset="-122"/>
                <a:cs typeface="Garamond" pitchFamily="34" charset="-120"/>
              </a:rPr>
              <a:t>Thermal capability</a:t>
            </a:r>
            <a:endParaRPr lang="en-US" sz="1050" dirty="0"/>
          </a:p>
        </p:txBody>
      </p:sp>
      <p:sp>
        <p:nvSpPr>
          <p:cNvPr id="17" name="Text 14"/>
          <p:cNvSpPr/>
          <p:nvPr/>
        </p:nvSpPr>
        <p:spPr>
          <a:xfrm>
            <a:off x="822960" y="3593592"/>
            <a:ext cx="3108960" cy="256032"/>
          </a:xfrm>
          <a:prstGeom prst="rect">
            <a:avLst/>
          </a:prstGeom>
          <a:noFill/>
          <a:ln/>
        </p:spPr>
        <p:txBody>
          <a:bodyPr wrap="square" lIns="0" tIns="0" rIns="0" bIns="0" rtlCol="0" anchor="ctr"/>
          <a:lstStyle/>
          <a:p>
            <a:pPr marL="0" indent="0">
              <a:buNone/>
            </a:pPr>
            <a:r>
              <a:rPr lang="en-US" sz="1250" dirty="0">
                <a:solidFill>
                  <a:srgbClr val="1E2A33"/>
                </a:solidFill>
                <a:latin typeface="Garamond" pitchFamily="34" charset="0"/>
                <a:ea typeface="Garamond" pitchFamily="34" charset="-122"/>
                <a:cs typeface="Garamond" pitchFamily="34" charset="-120"/>
              </a:rPr>
              <a:t>-200 C to +200 C</a:t>
            </a:r>
            <a:endParaRPr lang="en-US" sz="1250" dirty="0"/>
          </a:p>
        </p:txBody>
      </p:sp>
      <p:sp>
        <p:nvSpPr>
          <p:cNvPr id="18" name="Text 15"/>
          <p:cNvSpPr/>
          <p:nvPr/>
        </p:nvSpPr>
        <p:spPr>
          <a:xfrm>
            <a:off x="4069080" y="3374136"/>
            <a:ext cx="3108960" cy="219456"/>
          </a:xfrm>
          <a:prstGeom prst="rect">
            <a:avLst/>
          </a:prstGeom>
          <a:noFill/>
          <a:ln/>
        </p:spPr>
        <p:txBody>
          <a:bodyPr wrap="square" lIns="0" tIns="0" rIns="0" bIns="0" rtlCol="0" anchor="ctr"/>
          <a:lstStyle/>
          <a:p>
            <a:pPr marL="0" indent="0">
              <a:buNone/>
            </a:pPr>
            <a:r>
              <a:rPr lang="en-US" sz="1050" b="1" dirty="0">
                <a:solidFill>
                  <a:srgbClr val="007BCB"/>
                </a:solidFill>
                <a:latin typeface="Garamond" pitchFamily="34" charset="0"/>
                <a:ea typeface="Garamond" pitchFamily="34" charset="-122"/>
                <a:cs typeface="Garamond" pitchFamily="34" charset="-120"/>
              </a:rPr>
              <a:t>Deploy power</a:t>
            </a:r>
            <a:endParaRPr lang="en-US" sz="1050" dirty="0"/>
          </a:p>
        </p:txBody>
      </p:sp>
      <p:sp>
        <p:nvSpPr>
          <p:cNvPr id="19" name="Text 16"/>
          <p:cNvSpPr/>
          <p:nvPr/>
        </p:nvSpPr>
        <p:spPr>
          <a:xfrm>
            <a:off x="4069080" y="3593592"/>
            <a:ext cx="3108960" cy="256032"/>
          </a:xfrm>
          <a:prstGeom prst="rect">
            <a:avLst/>
          </a:prstGeom>
          <a:noFill/>
          <a:ln/>
        </p:spPr>
        <p:txBody>
          <a:bodyPr wrap="square" lIns="0" tIns="0" rIns="0" bIns="0" rtlCol="0" anchor="ctr"/>
          <a:lstStyle/>
          <a:p>
            <a:pPr marL="0" indent="0">
              <a:buNone/>
            </a:pPr>
            <a:r>
              <a:rPr lang="en-US" sz="1250" dirty="0">
                <a:solidFill>
                  <a:srgbClr val="1E2A33"/>
                </a:solidFill>
                <a:latin typeface="Garamond" pitchFamily="34" charset="0"/>
                <a:ea typeface="Garamond" pitchFamily="34" charset="-122"/>
                <a:cs typeface="Garamond" pitchFamily="34" charset="-120"/>
              </a:rPr>
              <a:t>134 W pulse, under 10 ms</a:t>
            </a:r>
            <a:endParaRPr lang="en-US" sz="1250" dirty="0"/>
          </a:p>
        </p:txBody>
      </p:sp>
      <p:sp>
        <p:nvSpPr>
          <p:cNvPr id="20" name="Shape 17"/>
          <p:cNvSpPr/>
          <p:nvPr/>
        </p:nvSpPr>
        <p:spPr>
          <a:xfrm>
            <a:off x="822960" y="4160520"/>
            <a:ext cx="6400800" cy="2057400"/>
          </a:xfrm>
          <a:prstGeom prst="roundRect">
            <a:avLst>
              <a:gd name="adj" fmla="val 2222"/>
            </a:avLst>
          </a:prstGeom>
          <a:solidFill>
            <a:srgbClr val="F3F7FA"/>
          </a:solidFill>
          <a:ln/>
        </p:spPr>
        <p:txBody>
          <a:bodyPr/>
          <a:lstStyle/>
          <a:p>
            <a:endParaRPr/>
          </a:p>
        </p:txBody>
      </p:sp>
      <p:sp>
        <p:nvSpPr>
          <p:cNvPr id="21" name="Text 18"/>
          <p:cNvSpPr/>
          <p:nvPr/>
        </p:nvSpPr>
        <p:spPr>
          <a:xfrm>
            <a:off x="1005840" y="4315968"/>
            <a:ext cx="6035040" cy="274320"/>
          </a:xfrm>
          <a:prstGeom prst="rect">
            <a:avLst/>
          </a:prstGeom>
          <a:noFill/>
          <a:ln/>
        </p:spPr>
        <p:txBody>
          <a:bodyPr wrap="square" lIns="0" tIns="0" rIns="0" bIns="0" rtlCol="0" anchor="ctr"/>
          <a:lstStyle/>
          <a:p>
            <a:pPr marL="0" indent="0">
              <a:buNone/>
            </a:pPr>
            <a:r>
              <a:rPr lang="en-US" sz="1350" b="1" dirty="0">
                <a:solidFill>
                  <a:srgbClr val="10222F"/>
                </a:solidFill>
                <a:latin typeface="Garamond" pitchFamily="34" charset="0"/>
                <a:ea typeface="Garamond" pitchFamily="34" charset="-122"/>
                <a:cs typeface="Garamond" pitchFamily="34" charset="-120"/>
              </a:rPr>
              <a:t>Proprietary release mechanism</a:t>
            </a:r>
            <a:endParaRPr lang="en-US" sz="1350" dirty="0"/>
          </a:p>
        </p:txBody>
      </p:sp>
      <p:sp>
        <p:nvSpPr>
          <p:cNvPr id="22" name="Text 19"/>
          <p:cNvSpPr/>
          <p:nvPr/>
        </p:nvSpPr>
        <p:spPr>
          <a:xfrm>
            <a:off x="1005840" y="4663440"/>
            <a:ext cx="6035040" cy="1463040"/>
          </a:xfrm>
          <a:prstGeom prst="rect">
            <a:avLst/>
          </a:prstGeom>
          <a:noFill/>
          <a:ln/>
        </p:spPr>
        <p:txBody>
          <a:bodyPr wrap="square" lIns="0" tIns="0" rIns="0" bIns="0" rtlCol="0" anchor="t"/>
          <a:lstStyle/>
          <a:p>
            <a:pPr marL="127000" indent="-127000" algn="l">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Melt wire design with redundant actuation mechanisms and circuits</a:t>
            </a:r>
            <a:endParaRPr lang="en-US" sz="1100" dirty="0"/>
          </a:p>
          <a:p>
            <a:pPr marL="127000" indent="-127000" algn="l">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Re usable, non explosive release; no ordnance handling</a:t>
            </a:r>
            <a:endParaRPr lang="en-US" sz="1100" dirty="0"/>
          </a:p>
          <a:p>
            <a:pPr marL="127000" indent="-127000" algn="l">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Operates above 150 C, beyond the 90 to 120 C limit of SMA actuators</a:t>
            </a:r>
            <a:endParaRPr lang="en-US" sz="1100" dirty="0"/>
          </a:p>
          <a:p>
            <a:pPr marL="127000" indent="-127000" algn="l">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Roughly one third the stowed length of comparable devices, at lower cost and shorter lead times</a:t>
            </a:r>
            <a:endParaRPr lang="en-US" sz="1100" dirty="0"/>
          </a:p>
        </p:txBody>
      </p:sp>
      <p:pic>
        <p:nvPicPr>
          <p:cNvPr id="23" name="Image 1" descr="assets/s7_render.jpg"/>
          <p:cNvPicPr>
            <a:picLocks noChangeAspect="1"/>
          </p:cNvPicPr>
          <p:nvPr/>
        </p:nvPicPr>
        <p:blipFill>
          <a:blip r:embed="rId4"/>
          <a:stretch>
            <a:fillRect/>
          </a:stretch>
        </p:blipFill>
        <p:spPr>
          <a:xfrm>
            <a:off x="7635240" y="1417320"/>
            <a:ext cx="3200400" cy="2926080"/>
          </a:xfrm>
          <a:prstGeom prst="rect">
            <a:avLst/>
          </a:prstGeom>
        </p:spPr>
      </p:pic>
      <p:sp>
        <p:nvSpPr>
          <p:cNvPr id="24" name="Shape 20"/>
          <p:cNvSpPr/>
          <p:nvPr/>
        </p:nvSpPr>
        <p:spPr>
          <a:xfrm>
            <a:off x="7635240" y="1417320"/>
            <a:ext cx="3200400" cy="2926080"/>
          </a:xfrm>
          <a:prstGeom prst="rect">
            <a:avLst/>
          </a:prstGeom>
          <a:ln w="12700">
            <a:solidFill>
              <a:srgbClr val="C6D2DA"/>
            </a:solidFill>
            <a:prstDash val="solid"/>
          </a:ln>
        </p:spPr>
        <p:txBody>
          <a:bodyPr/>
          <a:lstStyle/>
          <a:p>
            <a:endParaRPr/>
          </a:p>
        </p:txBody>
      </p:sp>
      <p:sp>
        <p:nvSpPr>
          <p:cNvPr id="25" name="Text 21"/>
          <p:cNvSpPr/>
          <p:nvPr/>
        </p:nvSpPr>
        <p:spPr>
          <a:xfrm>
            <a:off x="7635240" y="4370832"/>
            <a:ext cx="3200400" cy="274320"/>
          </a:xfrm>
          <a:prstGeom prst="rect">
            <a:avLst/>
          </a:prstGeom>
          <a:noFill/>
          <a:ln/>
        </p:spPr>
        <p:txBody>
          <a:bodyPr wrap="square" lIns="0" tIns="0" rIns="0" bIns="0" rtlCol="0" anchor="ctr"/>
          <a:lstStyle/>
          <a:p>
            <a:pPr marL="0" indent="0">
              <a:buNone/>
            </a:pPr>
            <a:r>
              <a:rPr lang="en-US" sz="950" i="1" dirty="0">
                <a:solidFill>
                  <a:srgbClr val="5C6B76"/>
                </a:solidFill>
                <a:latin typeface="Garamond" pitchFamily="34" charset="0"/>
                <a:ea typeface="Garamond" pitchFamily="34" charset="-122"/>
                <a:cs typeface="Garamond" pitchFamily="34" charset="-120"/>
              </a:rPr>
              <a:t>Deployable element shown in red.</a:t>
            </a:r>
            <a:endParaRPr lang="en-US" sz="950" dirty="0"/>
          </a:p>
        </p:txBody>
      </p:sp>
      <p:pic>
        <p:nvPicPr>
          <p:cNvPr id="26" name="Image 2" descr="assets/s7_dims.jpg"/>
          <p:cNvPicPr>
            <a:picLocks noChangeAspect="1"/>
          </p:cNvPicPr>
          <p:nvPr/>
        </p:nvPicPr>
        <p:blipFill>
          <a:blip r:embed="rId5"/>
          <a:stretch>
            <a:fillRect/>
          </a:stretch>
        </p:blipFill>
        <p:spPr>
          <a:xfrm>
            <a:off x="7635240" y="4754880"/>
            <a:ext cx="3200400" cy="1828800"/>
          </a:xfrm>
          <a:prstGeom prst="rect">
            <a:avLst/>
          </a:prstGeom>
        </p:spPr>
      </p:pic>
      <p:sp>
        <p:nvSpPr>
          <p:cNvPr id="27" name="Shape 22"/>
          <p:cNvSpPr/>
          <p:nvPr/>
        </p:nvSpPr>
        <p:spPr>
          <a:xfrm>
            <a:off x="7635240" y="4754880"/>
            <a:ext cx="3200400" cy="1828800"/>
          </a:xfrm>
          <a:prstGeom prst="rect">
            <a:avLst/>
          </a:prstGeom>
          <a:ln w="12700">
            <a:solidFill>
              <a:srgbClr val="C6D2DA"/>
            </a:solidFill>
            <a:prstDash val="solid"/>
          </a:ln>
        </p:spPr>
        <p:txBody>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PRODUCTS</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Deployable Antenna Systems</a:t>
            </a:r>
            <a:endParaRPr lang="en-US" sz="2900" dirty="0"/>
          </a:p>
        </p:txBody>
      </p:sp>
      <p:pic>
        <p:nvPicPr>
          <p:cNvPr id="4" name="Image 0" descr="assets/logo_dark.jpg"/>
          <p:cNvPicPr>
            <a:picLocks noChangeAspect="1"/>
          </p:cNvPicPr>
          <p:nvPr/>
        </p:nvPicPr>
        <p:blipFill>
          <a:blip r:embed="rId3"/>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8</a:t>
            </a:r>
            <a:endParaRPr lang="en-US" sz="850" dirty="0"/>
          </a:p>
        </p:txBody>
      </p:sp>
      <p:sp>
        <p:nvSpPr>
          <p:cNvPr id="7" name="Text 4"/>
          <p:cNvSpPr/>
          <p:nvPr/>
        </p:nvSpPr>
        <p:spPr>
          <a:xfrm>
            <a:off x="822960" y="1353312"/>
            <a:ext cx="10424160" cy="548640"/>
          </a:xfrm>
          <a:prstGeom prst="rect">
            <a:avLst/>
          </a:prstGeom>
          <a:noFill/>
          <a:ln/>
        </p:spPr>
        <p:txBody>
          <a:bodyPr wrap="square" lIns="0" tIns="0" rIns="0" bIns="0" rtlCol="0" anchor="t"/>
          <a:lstStyle/>
          <a:p>
            <a:pPr marL="0" indent="0">
              <a:buNone/>
            </a:pPr>
            <a:r>
              <a:rPr lang="en-US" sz="1300" dirty="0">
                <a:solidFill>
                  <a:srgbClr val="5C6B76"/>
                </a:solidFill>
                <a:latin typeface="Garamond" pitchFamily="34" charset="0"/>
                <a:ea typeface="Garamond" pitchFamily="34" charset="-122"/>
                <a:cs typeface="Garamond" pitchFamily="34" charset="-120"/>
              </a:rPr>
              <a:t>Stacer based flight antennas for sensitive receivers, transmitters, and radars, configurable as monopoles, dipoles, folded dipoles, and custom arrays with tip mounted instruments.</a:t>
            </a:r>
            <a:endParaRPr lang="en-US" sz="1300" dirty="0"/>
          </a:p>
        </p:txBody>
      </p:sp>
      <p:sp>
        <p:nvSpPr>
          <p:cNvPr id="8" name="Text 5"/>
          <p:cNvSpPr/>
          <p:nvPr/>
        </p:nvSpPr>
        <p:spPr>
          <a:xfrm>
            <a:off x="822960" y="2121408"/>
            <a:ext cx="5394960" cy="274320"/>
          </a:xfrm>
          <a:prstGeom prst="rect">
            <a:avLst/>
          </a:prstGeom>
          <a:noFill/>
          <a:ln/>
        </p:spPr>
        <p:txBody>
          <a:bodyPr wrap="square" lIns="0" tIns="0" rIns="0" bIns="0" rtlCol="0" anchor="ctr"/>
          <a:lstStyle/>
          <a:p>
            <a:pPr marL="0" indent="0">
              <a:buNone/>
            </a:pPr>
            <a:r>
              <a:rPr lang="en-US" sz="1350" b="1" dirty="0">
                <a:solidFill>
                  <a:srgbClr val="10222F"/>
                </a:solidFill>
                <a:latin typeface="Garamond" pitchFamily="34" charset="0"/>
                <a:ea typeface="Garamond" pitchFamily="34" charset="-122"/>
                <a:cs typeface="Garamond" pitchFamily="34" charset="-120"/>
              </a:rPr>
              <a:t>Configurations and options</a:t>
            </a:r>
            <a:endParaRPr lang="en-US" sz="1350" dirty="0"/>
          </a:p>
        </p:txBody>
      </p:sp>
      <p:sp>
        <p:nvSpPr>
          <p:cNvPr id="9" name="Text 6"/>
          <p:cNvSpPr/>
          <p:nvPr/>
        </p:nvSpPr>
        <p:spPr>
          <a:xfrm>
            <a:off x="822960" y="2450592"/>
            <a:ext cx="5394960" cy="1691640"/>
          </a:xfrm>
          <a:prstGeom prst="rect">
            <a:avLst/>
          </a:prstGeom>
          <a:noFill/>
          <a:ln/>
        </p:spPr>
        <p:txBody>
          <a:bodyPr wrap="square" lIns="0" tIns="0" rIns="0" bIns="0" rtlCol="0" anchor="t"/>
          <a:lstStyle/>
          <a:p>
            <a:pPr marL="127000" indent="-127000" algn="l">
              <a:spcAft>
                <a:spcPts val="500"/>
              </a:spcAft>
              <a:buSzPct val="100000"/>
              <a:buChar char="•"/>
            </a:pPr>
            <a:r>
              <a:rPr lang="en-US" sz="1150" dirty="0">
                <a:solidFill>
                  <a:srgbClr val="1E2A33"/>
                </a:solidFill>
                <a:latin typeface="Garamond" pitchFamily="34" charset="0"/>
                <a:ea typeface="Garamond" pitchFamily="34" charset="-122"/>
                <a:cs typeface="Garamond" pitchFamily="34" charset="-120"/>
              </a:rPr>
              <a:t>Element lengths of 1 m to 10 m in BeCu or Elgiloy</a:t>
            </a:r>
            <a:endParaRPr lang="en-US" sz="1150" dirty="0"/>
          </a:p>
          <a:p>
            <a:pPr marL="127000" indent="-127000" algn="l">
              <a:spcAft>
                <a:spcPts val="500"/>
              </a:spcAft>
              <a:buSzPct val="100000"/>
              <a:buChar char="•"/>
            </a:pPr>
            <a:r>
              <a:rPr lang="en-US" sz="1150" dirty="0">
                <a:solidFill>
                  <a:srgbClr val="1E2A33"/>
                </a:solidFill>
                <a:latin typeface="Garamond" pitchFamily="34" charset="0"/>
                <a:ea typeface="Garamond" pitchFamily="34" charset="-122"/>
                <a:cs typeface="Garamond" pitchFamily="34" charset="-120"/>
              </a:rPr>
              <a:t>Monopole, dipole, folded dipole, and custom geometries</a:t>
            </a:r>
            <a:endParaRPr lang="en-US" sz="1150" dirty="0"/>
          </a:p>
          <a:p>
            <a:pPr marL="127000" indent="-127000" algn="l">
              <a:spcAft>
                <a:spcPts val="500"/>
              </a:spcAft>
              <a:buSzPct val="100000"/>
              <a:buChar char="•"/>
            </a:pPr>
            <a:r>
              <a:rPr lang="en-US" sz="1150" dirty="0">
                <a:solidFill>
                  <a:srgbClr val="1E2A33"/>
                </a:solidFill>
                <a:latin typeface="Garamond" pitchFamily="34" charset="0"/>
                <a:ea typeface="Garamond" pitchFamily="34" charset="-122"/>
                <a:cs typeface="Garamond" pitchFamily="34" charset="-120"/>
              </a:rPr>
              <a:t>Grounded, isolated, or driven antenna elements</a:t>
            </a:r>
            <a:endParaRPr lang="en-US" sz="1150" dirty="0"/>
          </a:p>
          <a:p>
            <a:pPr marL="127000" indent="-127000" algn="l">
              <a:spcAft>
                <a:spcPts val="500"/>
              </a:spcAft>
              <a:buSzPct val="100000"/>
              <a:buChar char="•"/>
            </a:pPr>
            <a:r>
              <a:rPr lang="en-US" sz="1150" dirty="0">
                <a:solidFill>
                  <a:srgbClr val="1E2A33"/>
                </a:solidFill>
                <a:latin typeface="Garamond" pitchFamily="34" charset="0"/>
                <a:ea typeface="Garamond" pitchFamily="34" charset="-122"/>
                <a:cs typeface="Garamond" pitchFamily="34" charset="-120"/>
              </a:rPr>
              <a:t>Sensors and instruments integrated at the boom tip</a:t>
            </a:r>
            <a:endParaRPr lang="en-US" sz="1150" dirty="0"/>
          </a:p>
          <a:p>
            <a:pPr marL="127000" indent="-127000" algn="l">
              <a:spcAft>
                <a:spcPts val="500"/>
              </a:spcAft>
              <a:buSzPct val="100000"/>
              <a:buChar char="•"/>
            </a:pPr>
            <a:r>
              <a:rPr lang="en-US" sz="1150" dirty="0">
                <a:solidFill>
                  <a:srgbClr val="1E2A33"/>
                </a:solidFill>
                <a:latin typeface="Garamond" pitchFamily="34" charset="0"/>
                <a:ea typeface="Garamond" pitchFamily="34" charset="-122"/>
                <a:cs typeface="Garamond" pitchFamily="34" charset="-120"/>
              </a:rPr>
              <a:t>Delivered fully qualified to mission requirements</a:t>
            </a:r>
            <a:endParaRPr lang="en-US" sz="1150" dirty="0"/>
          </a:p>
        </p:txBody>
      </p:sp>
      <p:sp>
        <p:nvSpPr>
          <p:cNvPr id="10" name="Shape 7"/>
          <p:cNvSpPr/>
          <p:nvPr/>
        </p:nvSpPr>
        <p:spPr>
          <a:xfrm>
            <a:off x="822960" y="4343400"/>
            <a:ext cx="5394960" cy="1828800"/>
          </a:xfrm>
          <a:prstGeom prst="roundRect">
            <a:avLst>
              <a:gd name="adj" fmla="val 2500"/>
            </a:avLst>
          </a:prstGeom>
          <a:solidFill>
            <a:srgbClr val="F3F7FA"/>
          </a:solidFill>
          <a:ln/>
        </p:spPr>
        <p:txBody>
          <a:bodyPr/>
          <a:lstStyle/>
          <a:p>
            <a:endParaRPr/>
          </a:p>
        </p:txBody>
      </p:sp>
      <p:sp>
        <p:nvSpPr>
          <p:cNvPr id="11" name="Text 8"/>
          <p:cNvSpPr/>
          <p:nvPr/>
        </p:nvSpPr>
        <p:spPr>
          <a:xfrm>
            <a:off x="987552" y="4480560"/>
            <a:ext cx="5120640" cy="274320"/>
          </a:xfrm>
          <a:prstGeom prst="rect">
            <a:avLst/>
          </a:prstGeom>
          <a:noFill/>
          <a:ln/>
        </p:spPr>
        <p:txBody>
          <a:bodyPr wrap="square" lIns="0" tIns="0" rIns="0" bIns="0" rtlCol="0" anchor="ctr"/>
          <a:lstStyle/>
          <a:p>
            <a:pPr marL="0" indent="0">
              <a:buNone/>
            </a:pPr>
            <a:r>
              <a:rPr lang="en-US" sz="1250" b="1" dirty="0">
                <a:solidFill>
                  <a:srgbClr val="10222F"/>
                </a:solidFill>
                <a:latin typeface="Garamond" pitchFamily="34" charset="0"/>
                <a:ea typeface="Garamond" pitchFamily="34" charset="-122"/>
                <a:cs typeface="Garamond" pitchFamily="34" charset="-120"/>
              </a:rPr>
              <a:t>Example: 18 m tip to tip dipole (REASON HF class)</a:t>
            </a:r>
            <a:endParaRPr lang="en-US" sz="1250" dirty="0"/>
          </a:p>
        </p:txBody>
      </p:sp>
      <p:sp>
        <p:nvSpPr>
          <p:cNvPr id="12" name="Text 9"/>
          <p:cNvSpPr/>
          <p:nvPr/>
        </p:nvSpPr>
        <p:spPr>
          <a:xfrm>
            <a:off x="987552" y="4828032"/>
            <a:ext cx="5074920" cy="1234440"/>
          </a:xfrm>
          <a:prstGeom prst="rect">
            <a:avLst/>
          </a:prstGeom>
          <a:noFill/>
          <a:ln/>
        </p:spPr>
        <p:txBody>
          <a:bodyPr wrap="square" lIns="0" tIns="0" rIns="0" bIns="0" rtlCol="0" anchor="t"/>
          <a:lstStyle/>
          <a:p>
            <a:pPr marL="127000" indent="-127000" algn="l">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Dipole mass under 11.3 kg; 20 x 30 x 10 cm stowed per side</a:t>
            </a:r>
            <a:endParaRPr lang="en-US" sz="1100" dirty="0"/>
          </a:p>
          <a:p>
            <a:pPr marL="127000" indent="-127000" algn="l">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Self powered deployment with non explosive actuation</a:t>
            </a:r>
            <a:endParaRPr lang="en-US" sz="1100" dirty="0"/>
          </a:p>
          <a:p>
            <a:pPr marL="127000" indent="-127000" algn="l">
              <a:spcAft>
                <a:spcPts val="500"/>
              </a:spcAft>
              <a:buSzPct val="100000"/>
              <a:buChar char="•"/>
            </a:pPr>
            <a:r>
              <a:rPr lang="en-US" sz="1100" dirty="0">
                <a:solidFill>
                  <a:srgbClr val="1E2A33"/>
                </a:solidFill>
                <a:latin typeface="Garamond" pitchFamily="34" charset="0"/>
                <a:ea typeface="Garamond" pitchFamily="34" charset="-122"/>
                <a:cs typeface="Garamond" pitchFamily="34" charset="-120"/>
              </a:rPr>
              <a:t>Hundreds of successful operational Stacer deployments</a:t>
            </a:r>
            <a:endParaRPr lang="en-US" sz="1100" dirty="0"/>
          </a:p>
        </p:txBody>
      </p:sp>
      <p:pic>
        <p:nvPicPr>
          <p:cNvPr id="13" name="Image 1" descr="assets/s8a_dipole.jpg"/>
          <p:cNvPicPr>
            <a:picLocks noChangeAspect="1"/>
          </p:cNvPicPr>
          <p:nvPr/>
        </p:nvPicPr>
        <p:blipFill>
          <a:blip r:embed="rId4"/>
          <a:stretch>
            <a:fillRect/>
          </a:stretch>
        </p:blipFill>
        <p:spPr>
          <a:xfrm>
            <a:off x="6492240" y="2121408"/>
            <a:ext cx="4873752" cy="1609344"/>
          </a:xfrm>
          <a:prstGeom prst="rect">
            <a:avLst/>
          </a:prstGeom>
        </p:spPr>
      </p:pic>
      <p:sp>
        <p:nvSpPr>
          <p:cNvPr id="14" name="Shape 10"/>
          <p:cNvSpPr/>
          <p:nvPr/>
        </p:nvSpPr>
        <p:spPr>
          <a:xfrm>
            <a:off x="6492240" y="2121408"/>
            <a:ext cx="4873752" cy="1609344"/>
          </a:xfrm>
          <a:prstGeom prst="rect">
            <a:avLst/>
          </a:prstGeom>
          <a:ln w="12700">
            <a:solidFill>
              <a:srgbClr val="C6D2DA"/>
            </a:solidFill>
            <a:prstDash val="solid"/>
          </a:ln>
        </p:spPr>
        <p:txBody>
          <a:bodyPr/>
          <a:lstStyle/>
          <a:p>
            <a:endParaRPr/>
          </a:p>
        </p:txBody>
      </p:sp>
      <p:sp>
        <p:nvSpPr>
          <p:cNvPr id="15" name="Text 11"/>
          <p:cNvSpPr/>
          <p:nvPr/>
        </p:nvSpPr>
        <p:spPr>
          <a:xfrm>
            <a:off x="6492240" y="3758184"/>
            <a:ext cx="4846320" cy="274320"/>
          </a:xfrm>
          <a:prstGeom prst="rect">
            <a:avLst/>
          </a:prstGeom>
          <a:noFill/>
          <a:ln/>
        </p:spPr>
        <p:txBody>
          <a:bodyPr wrap="square" lIns="0" tIns="0" rIns="0" bIns="0" rtlCol="0" anchor="ctr"/>
          <a:lstStyle/>
          <a:p>
            <a:pPr marL="0" indent="0">
              <a:buNone/>
            </a:pPr>
            <a:r>
              <a:rPr lang="en-US" sz="950" i="1" dirty="0">
                <a:solidFill>
                  <a:srgbClr val="5C6B76"/>
                </a:solidFill>
                <a:latin typeface="Garamond" pitchFamily="34" charset="0"/>
                <a:ea typeface="Garamond" pitchFamily="34" charset="-122"/>
                <a:cs typeface="Garamond" pitchFamily="34" charset="-120"/>
              </a:rPr>
              <a:t>18 m class dipole with central mechanism, shown deployed.</a:t>
            </a:r>
            <a:endParaRPr lang="en-US" sz="950" dirty="0"/>
          </a:p>
        </p:txBody>
      </p:sp>
      <p:sp>
        <p:nvSpPr>
          <p:cNvPr id="16" name="Text 12"/>
          <p:cNvSpPr/>
          <p:nvPr/>
        </p:nvSpPr>
        <p:spPr>
          <a:xfrm>
            <a:off x="6492240" y="4133088"/>
            <a:ext cx="4846320" cy="274320"/>
          </a:xfrm>
          <a:prstGeom prst="rect">
            <a:avLst/>
          </a:prstGeom>
          <a:noFill/>
          <a:ln/>
        </p:spPr>
        <p:txBody>
          <a:bodyPr wrap="square" lIns="0" tIns="0" rIns="0" bIns="0" rtlCol="0" anchor="ctr"/>
          <a:lstStyle/>
          <a:p>
            <a:pPr marL="0" indent="0">
              <a:buNone/>
            </a:pPr>
            <a:r>
              <a:rPr lang="en-US" sz="1350" b="1" dirty="0">
                <a:solidFill>
                  <a:srgbClr val="10222F"/>
                </a:solidFill>
                <a:latin typeface="Garamond" pitchFamily="34" charset="0"/>
                <a:ea typeface="Garamond" pitchFamily="34" charset="-122"/>
                <a:cs typeface="Garamond" pitchFamily="34" charset="-120"/>
              </a:rPr>
              <a:t>Flight heritage</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92240" y="4462272"/>
          <a:ext cx="4873752" cy="914400"/>
        </p:xfrm>
        <a:graphic>
          <a:graphicData uri="http://schemas.openxmlformats.org/drawingml/2006/table">
            <a:tbl>
              <a:tblPr/>
              <a:tblGrid>
                <a:gridCol w="1874520">
                  <a:extLst>
                    <a:ext uri="{9D8B030D-6E8A-4147-A177-3AD203B41FA5}">
                      <a16:colId xmlns:a16="http://schemas.microsoft.com/office/drawing/2014/main" val="20000"/>
                    </a:ext>
                  </a:extLst>
                </a:gridCol>
                <a:gridCol w="2999232">
                  <a:extLst>
                    <a:ext uri="{9D8B030D-6E8A-4147-A177-3AD203B41FA5}">
                      <a16:colId xmlns:a16="http://schemas.microsoft.com/office/drawing/2014/main" val="20001"/>
                    </a:ext>
                  </a:extLst>
                </a:gridCol>
              </a:tblGrid>
              <a:tr h="566928">
                <a:tc>
                  <a:txBody>
                    <a:bodyPr/>
                    <a:lstStyle/>
                    <a:p>
                      <a:pPr marL="0" indent="0">
                        <a:buNone/>
                      </a:pPr>
                      <a:r>
                        <a:rPr lang="en-US" sz="950" b="1" dirty="0">
                          <a:solidFill>
                            <a:srgbClr val="10222F"/>
                          </a:solidFill>
                          <a:latin typeface="Garamond" pitchFamily="34" charset="0"/>
                          <a:ea typeface="Garamond" pitchFamily="34" charset="-122"/>
                          <a:cs typeface="Garamond" pitchFamily="34" charset="-120"/>
                        </a:rPr>
                        <a:t>Solar Orbiter RPW (ESA)</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marL="0" indent="0">
                        <a:buNone/>
                      </a:pPr>
                      <a:r>
                        <a:rPr lang="en-US" sz="950" dirty="0">
                          <a:solidFill>
                            <a:srgbClr val="1E2A33"/>
                          </a:solidFill>
                          <a:latin typeface="Garamond" pitchFamily="34" charset="0"/>
                          <a:ea typeface="Garamond" pitchFamily="34" charset="-122"/>
                          <a:cs typeface="Garamond" pitchFamily="34" charset="-120"/>
                        </a:rPr>
                        <a:t>Three 6.5 m antennas, DC to 20 MHz</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extLst>
                  <a:ext uri="{0D108BD9-81ED-4DB2-BD59-A6C34878D82A}">
                    <a16:rowId xmlns:a16="http://schemas.microsoft.com/office/drawing/2014/main" val="10000"/>
                  </a:ext>
                </a:extLst>
              </a:tr>
              <a:tr h="566928">
                <a:tc>
                  <a:txBody>
                    <a:bodyPr/>
                    <a:lstStyle/>
                    <a:p>
                      <a:pPr marL="0" indent="0">
                        <a:buNone/>
                      </a:pPr>
                      <a:r>
                        <a:rPr lang="en-US" sz="950" b="1" dirty="0">
                          <a:solidFill>
                            <a:srgbClr val="10222F"/>
                          </a:solidFill>
                          <a:latin typeface="Garamond" pitchFamily="34" charset="0"/>
                          <a:ea typeface="Garamond" pitchFamily="34" charset="-122"/>
                          <a:cs typeface="Garamond" pitchFamily="34" charset="-120"/>
                        </a:rPr>
                        <a:t>Europa Clipper REASON</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marL="0" indent="0">
                        <a:buNone/>
                      </a:pPr>
                      <a:r>
                        <a:rPr lang="en-US" sz="950" dirty="0">
                          <a:solidFill>
                            <a:srgbClr val="1E2A33"/>
                          </a:solidFill>
                          <a:latin typeface="Garamond" pitchFamily="34" charset="0"/>
                          <a:ea typeface="Garamond" pitchFamily="34" charset="-122"/>
                          <a:cs typeface="Garamond" pitchFamily="34" charset="-120"/>
                        </a:rPr>
                        <a:t>Two 18 m dipoles; four 2.5 m folded dipoles</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950" b="1" dirty="0">
                          <a:solidFill>
                            <a:srgbClr val="10222F"/>
                          </a:solidFill>
                          <a:latin typeface="Garamond" pitchFamily="34" charset="0"/>
                          <a:ea typeface="Garamond" pitchFamily="34" charset="-122"/>
                          <a:cs typeface="Garamond" pitchFamily="34" charset="-120"/>
                        </a:rPr>
                        <a:t>SunRISE (NASA/JPL)</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marL="0" indent="0">
                        <a:buNone/>
                      </a:pPr>
                      <a:r>
                        <a:rPr lang="en-US" sz="950" dirty="0">
                          <a:solidFill>
                            <a:srgbClr val="1E2A33"/>
                          </a:solidFill>
                          <a:latin typeface="Garamond" pitchFamily="34" charset="0"/>
                          <a:ea typeface="Garamond" pitchFamily="34" charset="-122"/>
                          <a:cs typeface="Garamond" pitchFamily="34" charset="-120"/>
                        </a:rPr>
                        <a:t>28 monopoles for a CubeSat constellation</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PRODUCTS</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Sensors, Mechanisms, and Instruments</a:t>
            </a:r>
            <a:endParaRPr lang="en-US" sz="2900" dirty="0"/>
          </a:p>
        </p:txBody>
      </p:sp>
      <p:pic>
        <p:nvPicPr>
          <p:cNvPr id="4" name="Image 0" descr="assets/logo_dark.jpg"/>
          <p:cNvPicPr>
            <a:picLocks noChangeAspect="1"/>
          </p:cNvPicPr>
          <p:nvPr/>
        </p:nvPicPr>
        <p:blipFill>
          <a:blip r:embed="rId3"/>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9</a:t>
            </a:r>
            <a:endParaRPr lang="en-US" sz="850" dirty="0"/>
          </a:p>
        </p:txBody>
      </p:sp>
      <p:sp>
        <p:nvSpPr>
          <p:cNvPr id="7" name="Text 4"/>
          <p:cNvSpPr/>
          <p:nvPr/>
        </p:nvSpPr>
        <p:spPr>
          <a:xfrm>
            <a:off x="822960" y="1353312"/>
            <a:ext cx="10424160" cy="548640"/>
          </a:xfrm>
          <a:prstGeom prst="rect">
            <a:avLst/>
          </a:prstGeom>
          <a:noFill/>
          <a:ln/>
        </p:spPr>
        <p:txBody>
          <a:bodyPr wrap="square" lIns="0" tIns="0" rIns="0" bIns="0" rtlCol="0" anchor="t"/>
          <a:lstStyle/>
          <a:p>
            <a:pPr marL="0" indent="0">
              <a:buNone/>
            </a:pPr>
            <a:r>
              <a:rPr lang="en-US" sz="1300" dirty="0">
                <a:solidFill>
                  <a:srgbClr val="5C6B76"/>
                </a:solidFill>
                <a:latin typeface="Garamond" pitchFamily="34" charset="0"/>
                <a:ea typeface="Garamond" pitchFamily="34" charset="-122"/>
                <a:cs typeface="Garamond" pitchFamily="34" charset="-120"/>
              </a:rPr>
              <a:t>Beyond booms and antennas, Heliospace delivers the surrounding flight hardware: payload sensors, release and retention mechanisms, instrument structures, and extreme environment thermal protection.</a:t>
            </a:r>
            <a:endParaRPr lang="en-US" sz="1300" dirty="0"/>
          </a:p>
        </p:txBody>
      </p:sp>
      <p:sp>
        <p:nvSpPr>
          <p:cNvPr id="8" name="Shape 5"/>
          <p:cNvSpPr/>
          <p:nvPr/>
        </p:nvSpPr>
        <p:spPr>
          <a:xfrm>
            <a:off x="822960" y="1938528"/>
            <a:ext cx="5175504" cy="2084832"/>
          </a:xfrm>
          <a:prstGeom prst="roundRect">
            <a:avLst>
              <a:gd name="adj" fmla="val 2193"/>
            </a:avLst>
          </a:prstGeom>
          <a:solidFill>
            <a:srgbClr val="F3F7FA"/>
          </a:solidFill>
          <a:ln/>
        </p:spPr>
        <p:txBody>
          <a:bodyPr/>
          <a:lstStyle/>
          <a:p>
            <a:endParaRPr/>
          </a:p>
        </p:txBody>
      </p:sp>
      <p:pic>
        <p:nvPicPr>
          <p:cNvPr id="9" name="Image 1" descr="assets/s9_lms.jpg"/>
          <p:cNvPicPr>
            <a:picLocks noChangeAspect="1"/>
          </p:cNvPicPr>
          <p:nvPr/>
        </p:nvPicPr>
        <p:blipFill>
          <a:blip r:embed="rId4"/>
          <a:stretch>
            <a:fillRect/>
          </a:stretch>
        </p:blipFill>
        <p:spPr>
          <a:xfrm>
            <a:off x="960120" y="2084832"/>
            <a:ext cx="1792224" cy="1792224"/>
          </a:xfrm>
          <a:prstGeom prst="rect">
            <a:avLst/>
          </a:prstGeom>
        </p:spPr>
      </p:pic>
      <p:sp>
        <p:nvSpPr>
          <p:cNvPr id="10" name="Shape 6"/>
          <p:cNvSpPr/>
          <p:nvPr/>
        </p:nvSpPr>
        <p:spPr>
          <a:xfrm>
            <a:off x="960120" y="2084832"/>
            <a:ext cx="1792224" cy="1792224"/>
          </a:xfrm>
          <a:prstGeom prst="rect">
            <a:avLst/>
          </a:prstGeom>
          <a:ln w="12700">
            <a:solidFill>
              <a:srgbClr val="C6D2DA"/>
            </a:solidFill>
            <a:prstDash val="solid"/>
          </a:ln>
        </p:spPr>
        <p:txBody>
          <a:bodyPr/>
          <a:lstStyle/>
          <a:p>
            <a:endParaRPr/>
          </a:p>
        </p:txBody>
      </p:sp>
      <p:sp>
        <p:nvSpPr>
          <p:cNvPr id="11" name="Text 7"/>
          <p:cNvSpPr/>
          <p:nvPr/>
        </p:nvSpPr>
        <p:spPr>
          <a:xfrm>
            <a:off x="2907792" y="2084832"/>
            <a:ext cx="2971800" cy="292608"/>
          </a:xfrm>
          <a:prstGeom prst="rect">
            <a:avLst/>
          </a:prstGeom>
          <a:noFill/>
          <a:ln/>
        </p:spPr>
        <p:txBody>
          <a:bodyPr wrap="square" lIns="0" tIns="0" rIns="0" bIns="0" rtlCol="0" anchor="ctr"/>
          <a:lstStyle/>
          <a:p>
            <a:pPr marL="0" indent="0">
              <a:buNone/>
            </a:pPr>
            <a:r>
              <a:rPr lang="en-US" sz="1350" b="1" dirty="0">
                <a:solidFill>
                  <a:srgbClr val="10222F"/>
                </a:solidFill>
                <a:latin typeface="Garamond" pitchFamily="34" charset="0"/>
                <a:ea typeface="Garamond" pitchFamily="34" charset="-122"/>
                <a:cs typeface="Garamond" pitchFamily="34" charset="-120"/>
              </a:rPr>
              <a:t>Lunar and suborbital payloads</a:t>
            </a:r>
            <a:endParaRPr lang="en-US" sz="1350" dirty="0"/>
          </a:p>
        </p:txBody>
      </p:sp>
      <p:sp>
        <p:nvSpPr>
          <p:cNvPr id="12" name="Text 8"/>
          <p:cNvSpPr/>
          <p:nvPr/>
        </p:nvSpPr>
        <p:spPr>
          <a:xfrm>
            <a:off x="2907792" y="2414016"/>
            <a:ext cx="2971800" cy="1508760"/>
          </a:xfrm>
          <a:prstGeom prst="rect">
            <a:avLst/>
          </a:prstGeom>
          <a:noFill/>
          <a:ln/>
        </p:spPr>
        <p:txBody>
          <a:bodyPr wrap="square" lIns="0" tIns="0" rIns="0" bIns="0" rtlCol="0" anchor="t"/>
          <a:lstStyle/>
          <a:p>
            <a:pPr marL="0" indent="0">
              <a:lnSpc>
                <a:spcPct val="103000"/>
              </a:lnSpc>
              <a:buNone/>
            </a:pPr>
            <a:r>
              <a:rPr lang="en-US" sz="1050" dirty="0">
                <a:solidFill>
                  <a:srgbClr val="1E2A33"/>
                </a:solidFill>
                <a:latin typeface="Garamond" pitchFamily="34" charset="0"/>
                <a:ea typeface="Garamond" pitchFamily="34" charset="-122"/>
                <a:cs typeface="Garamond" pitchFamily="34" charset="-120"/>
              </a:rPr>
              <a:t>Electric field sensor packages and launch mortars for the LMS instrument, ROLSES lunar antennas, and 7 m quad boom packages for the SEED sounding rocket program.</a:t>
            </a:r>
            <a:endParaRPr lang="en-US" sz="1050" dirty="0"/>
          </a:p>
        </p:txBody>
      </p:sp>
      <p:sp>
        <p:nvSpPr>
          <p:cNvPr id="13" name="Shape 9"/>
          <p:cNvSpPr/>
          <p:nvPr/>
        </p:nvSpPr>
        <p:spPr>
          <a:xfrm>
            <a:off x="6190488" y="1938528"/>
            <a:ext cx="5175504" cy="2084832"/>
          </a:xfrm>
          <a:prstGeom prst="roundRect">
            <a:avLst>
              <a:gd name="adj" fmla="val 2193"/>
            </a:avLst>
          </a:prstGeom>
          <a:solidFill>
            <a:srgbClr val="F3F7FA"/>
          </a:solidFill>
          <a:ln/>
        </p:spPr>
        <p:txBody>
          <a:bodyPr/>
          <a:lstStyle/>
          <a:p>
            <a:endParaRPr/>
          </a:p>
        </p:txBody>
      </p:sp>
      <p:pic>
        <p:nvPicPr>
          <p:cNvPr id="14" name="Image 2" descr="assets/s9_msr.jpg"/>
          <p:cNvPicPr>
            <a:picLocks noChangeAspect="1"/>
          </p:cNvPicPr>
          <p:nvPr/>
        </p:nvPicPr>
        <p:blipFill>
          <a:blip r:embed="rId5"/>
          <a:stretch>
            <a:fillRect/>
          </a:stretch>
        </p:blipFill>
        <p:spPr>
          <a:xfrm>
            <a:off x="6327648" y="2084832"/>
            <a:ext cx="1792224" cy="1792224"/>
          </a:xfrm>
          <a:prstGeom prst="rect">
            <a:avLst/>
          </a:prstGeom>
        </p:spPr>
      </p:pic>
      <p:sp>
        <p:nvSpPr>
          <p:cNvPr id="15" name="Shape 10"/>
          <p:cNvSpPr/>
          <p:nvPr/>
        </p:nvSpPr>
        <p:spPr>
          <a:xfrm>
            <a:off x="6327648" y="2084832"/>
            <a:ext cx="1792224" cy="1792224"/>
          </a:xfrm>
          <a:prstGeom prst="rect">
            <a:avLst/>
          </a:prstGeom>
          <a:ln w="12700">
            <a:solidFill>
              <a:srgbClr val="C6D2DA"/>
            </a:solidFill>
            <a:prstDash val="solid"/>
          </a:ln>
        </p:spPr>
        <p:txBody>
          <a:bodyPr/>
          <a:lstStyle/>
          <a:p>
            <a:endParaRPr/>
          </a:p>
        </p:txBody>
      </p:sp>
      <p:sp>
        <p:nvSpPr>
          <p:cNvPr id="16" name="Text 11"/>
          <p:cNvSpPr/>
          <p:nvPr/>
        </p:nvSpPr>
        <p:spPr>
          <a:xfrm>
            <a:off x="8275320" y="2084832"/>
            <a:ext cx="2971800" cy="292608"/>
          </a:xfrm>
          <a:prstGeom prst="rect">
            <a:avLst/>
          </a:prstGeom>
          <a:noFill/>
          <a:ln/>
        </p:spPr>
        <p:txBody>
          <a:bodyPr wrap="square" lIns="0" tIns="0" rIns="0" bIns="0" rtlCol="0" anchor="ctr"/>
          <a:lstStyle/>
          <a:p>
            <a:pPr marL="0" indent="0">
              <a:buNone/>
            </a:pPr>
            <a:r>
              <a:rPr lang="en-US" sz="1350" b="1" dirty="0">
                <a:solidFill>
                  <a:srgbClr val="10222F"/>
                </a:solidFill>
                <a:latin typeface="Garamond" pitchFamily="34" charset="0"/>
                <a:ea typeface="Garamond" pitchFamily="34" charset="-122"/>
                <a:cs typeface="Garamond" pitchFamily="34" charset="-120"/>
              </a:rPr>
              <a:t>Release mechanisms</a:t>
            </a:r>
            <a:endParaRPr lang="en-US" sz="1350" dirty="0"/>
          </a:p>
        </p:txBody>
      </p:sp>
      <p:sp>
        <p:nvSpPr>
          <p:cNvPr id="17" name="Text 12"/>
          <p:cNvSpPr/>
          <p:nvPr/>
        </p:nvSpPr>
        <p:spPr>
          <a:xfrm>
            <a:off x="8275320" y="2414016"/>
            <a:ext cx="2971800" cy="1508760"/>
          </a:xfrm>
          <a:prstGeom prst="rect">
            <a:avLst/>
          </a:prstGeom>
          <a:noFill/>
          <a:ln/>
        </p:spPr>
        <p:txBody>
          <a:bodyPr wrap="square" lIns="0" tIns="0" rIns="0" bIns="0" rtlCol="0" anchor="t"/>
          <a:lstStyle/>
          <a:p>
            <a:pPr marL="0" indent="0">
              <a:lnSpc>
                <a:spcPct val="103000"/>
              </a:lnSpc>
              <a:buNone/>
            </a:pPr>
            <a:r>
              <a:rPr lang="en-US" sz="1050" dirty="0">
                <a:solidFill>
                  <a:srgbClr val="1E2A33"/>
                </a:solidFill>
                <a:latin typeface="Garamond" pitchFamily="34" charset="0"/>
                <a:ea typeface="Garamond" pitchFamily="34" charset="-122"/>
                <a:cs typeface="Garamond" pitchFamily="34" charset="-120"/>
              </a:rPr>
              <a:t>Precision retention, release, and handling mechanisms developed for Mars Sample Return concepts, alongside the proprietary SABER melt wire release.</a:t>
            </a:r>
            <a:endParaRPr lang="en-US" sz="1050" dirty="0"/>
          </a:p>
        </p:txBody>
      </p:sp>
      <p:sp>
        <p:nvSpPr>
          <p:cNvPr id="18" name="Shape 13"/>
          <p:cNvSpPr/>
          <p:nvPr/>
        </p:nvSpPr>
        <p:spPr>
          <a:xfrm>
            <a:off x="822960" y="4151376"/>
            <a:ext cx="5175504" cy="2084832"/>
          </a:xfrm>
          <a:prstGeom prst="roundRect">
            <a:avLst>
              <a:gd name="adj" fmla="val 2193"/>
            </a:avLst>
          </a:prstGeom>
          <a:solidFill>
            <a:srgbClr val="F3F7FA"/>
          </a:solidFill>
          <a:ln/>
        </p:spPr>
        <p:txBody>
          <a:bodyPr/>
          <a:lstStyle/>
          <a:p>
            <a:endParaRPr/>
          </a:p>
        </p:txBody>
      </p:sp>
      <p:pic>
        <p:nvPicPr>
          <p:cNvPr id="19" name="Image 3" descr="assets/s9_gaps.jpg"/>
          <p:cNvPicPr>
            <a:picLocks noChangeAspect="1"/>
          </p:cNvPicPr>
          <p:nvPr/>
        </p:nvPicPr>
        <p:blipFill>
          <a:blip r:embed="rId6"/>
          <a:stretch>
            <a:fillRect/>
          </a:stretch>
        </p:blipFill>
        <p:spPr>
          <a:xfrm>
            <a:off x="960120" y="4297680"/>
            <a:ext cx="1792224" cy="1792224"/>
          </a:xfrm>
          <a:prstGeom prst="rect">
            <a:avLst/>
          </a:prstGeom>
        </p:spPr>
      </p:pic>
      <p:sp>
        <p:nvSpPr>
          <p:cNvPr id="20" name="Shape 14"/>
          <p:cNvSpPr/>
          <p:nvPr/>
        </p:nvSpPr>
        <p:spPr>
          <a:xfrm>
            <a:off x="960120" y="4297680"/>
            <a:ext cx="1792224" cy="1792224"/>
          </a:xfrm>
          <a:prstGeom prst="rect">
            <a:avLst/>
          </a:prstGeom>
          <a:ln w="12700">
            <a:solidFill>
              <a:srgbClr val="C6D2DA"/>
            </a:solidFill>
            <a:prstDash val="solid"/>
          </a:ln>
        </p:spPr>
        <p:txBody>
          <a:bodyPr/>
          <a:lstStyle/>
          <a:p>
            <a:endParaRPr/>
          </a:p>
        </p:txBody>
      </p:sp>
      <p:sp>
        <p:nvSpPr>
          <p:cNvPr id="21" name="Text 15"/>
          <p:cNvSpPr/>
          <p:nvPr/>
        </p:nvSpPr>
        <p:spPr>
          <a:xfrm>
            <a:off x="2907792" y="4297680"/>
            <a:ext cx="2971800" cy="292608"/>
          </a:xfrm>
          <a:prstGeom prst="rect">
            <a:avLst/>
          </a:prstGeom>
          <a:noFill/>
          <a:ln/>
        </p:spPr>
        <p:txBody>
          <a:bodyPr wrap="square" lIns="0" tIns="0" rIns="0" bIns="0" rtlCol="0" anchor="ctr"/>
          <a:lstStyle/>
          <a:p>
            <a:pPr marL="0" indent="0">
              <a:buNone/>
            </a:pPr>
            <a:r>
              <a:rPr lang="en-US" sz="1350" b="1" dirty="0">
                <a:solidFill>
                  <a:srgbClr val="10222F"/>
                </a:solidFill>
                <a:latin typeface="Garamond" pitchFamily="34" charset="0"/>
                <a:ea typeface="Garamond" pitchFamily="34" charset="-122"/>
                <a:cs typeface="Garamond" pitchFamily="34" charset="-120"/>
              </a:rPr>
              <a:t>Instruments and structures</a:t>
            </a:r>
            <a:endParaRPr lang="en-US" sz="1350" dirty="0"/>
          </a:p>
        </p:txBody>
      </p:sp>
      <p:sp>
        <p:nvSpPr>
          <p:cNvPr id="22" name="Text 16"/>
          <p:cNvSpPr/>
          <p:nvPr/>
        </p:nvSpPr>
        <p:spPr>
          <a:xfrm>
            <a:off x="2907792" y="4626864"/>
            <a:ext cx="2971800" cy="1508760"/>
          </a:xfrm>
          <a:prstGeom prst="rect">
            <a:avLst/>
          </a:prstGeom>
          <a:noFill/>
          <a:ln/>
        </p:spPr>
        <p:txBody>
          <a:bodyPr wrap="square" lIns="0" tIns="0" rIns="0" bIns="0" rtlCol="0" anchor="t"/>
          <a:lstStyle/>
          <a:p>
            <a:pPr marL="0" indent="0">
              <a:lnSpc>
                <a:spcPct val="103000"/>
              </a:lnSpc>
              <a:buNone/>
            </a:pPr>
            <a:r>
              <a:rPr lang="en-US" sz="1050" dirty="0">
                <a:solidFill>
                  <a:srgbClr val="1E2A33"/>
                </a:solidFill>
                <a:latin typeface="Garamond" pitchFamily="34" charset="0"/>
                <a:ea typeface="Garamond" pitchFamily="34" charset="-122"/>
                <a:cs typeface="Garamond" pitchFamily="34" charset="-120"/>
              </a:rPr>
              <a:t>COSI gamma ray instrument cryostat and shield, the GAPS antimatter detector gondola, and UVEX ultraviolet telescope structure concepts.</a:t>
            </a:r>
            <a:endParaRPr lang="en-US" sz="1050" dirty="0"/>
          </a:p>
        </p:txBody>
      </p:sp>
      <p:sp>
        <p:nvSpPr>
          <p:cNvPr id="23" name="Shape 17"/>
          <p:cNvSpPr/>
          <p:nvPr/>
        </p:nvSpPr>
        <p:spPr>
          <a:xfrm>
            <a:off x="6190488" y="4151376"/>
            <a:ext cx="5175504" cy="2084832"/>
          </a:xfrm>
          <a:prstGeom prst="roundRect">
            <a:avLst>
              <a:gd name="adj" fmla="val 2193"/>
            </a:avLst>
          </a:prstGeom>
          <a:solidFill>
            <a:srgbClr val="F3F7FA"/>
          </a:solidFill>
          <a:ln/>
        </p:spPr>
        <p:txBody>
          <a:bodyPr/>
          <a:lstStyle/>
          <a:p>
            <a:endParaRPr/>
          </a:p>
        </p:txBody>
      </p:sp>
      <p:pic>
        <p:nvPicPr>
          <p:cNvPr id="24" name="Image 4" descr="assets/s9_solo.jpg"/>
          <p:cNvPicPr>
            <a:picLocks noChangeAspect="1"/>
          </p:cNvPicPr>
          <p:nvPr/>
        </p:nvPicPr>
        <p:blipFill>
          <a:blip r:embed="rId7"/>
          <a:stretch>
            <a:fillRect/>
          </a:stretch>
        </p:blipFill>
        <p:spPr>
          <a:xfrm>
            <a:off x="6327648" y="4297680"/>
            <a:ext cx="1792224" cy="1792224"/>
          </a:xfrm>
          <a:prstGeom prst="rect">
            <a:avLst/>
          </a:prstGeom>
        </p:spPr>
      </p:pic>
      <p:sp>
        <p:nvSpPr>
          <p:cNvPr id="25" name="Shape 18"/>
          <p:cNvSpPr/>
          <p:nvPr/>
        </p:nvSpPr>
        <p:spPr>
          <a:xfrm>
            <a:off x="6327648" y="4297680"/>
            <a:ext cx="1792224" cy="1792224"/>
          </a:xfrm>
          <a:prstGeom prst="rect">
            <a:avLst/>
          </a:prstGeom>
          <a:ln w="12700">
            <a:solidFill>
              <a:srgbClr val="C6D2DA"/>
            </a:solidFill>
            <a:prstDash val="solid"/>
          </a:ln>
        </p:spPr>
        <p:txBody>
          <a:bodyPr/>
          <a:lstStyle/>
          <a:p>
            <a:endParaRPr/>
          </a:p>
        </p:txBody>
      </p:sp>
      <p:sp>
        <p:nvSpPr>
          <p:cNvPr id="26" name="Text 19"/>
          <p:cNvSpPr/>
          <p:nvPr/>
        </p:nvSpPr>
        <p:spPr>
          <a:xfrm>
            <a:off x="8275320" y="4297680"/>
            <a:ext cx="2971800" cy="292608"/>
          </a:xfrm>
          <a:prstGeom prst="rect">
            <a:avLst/>
          </a:prstGeom>
          <a:noFill/>
          <a:ln/>
        </p:spPr>
        <p:txBody>
          <a:bodyPr wrap="square" lIns="0" tIns="0" rIns="0" bIns="0" rtlCol="0" anchor="ctr"/>
          <a:lstStyle/>
          <a:p>
            <a:pPr marL="0" indent="0">
              <a:buNone/>
            </a:pPr>
            <a:r>
              <a:rPr lang="en-US" sz="1350" b="1" dirty="0">
                <a:solidFill>
                  <a:srgbClr val="10222F"/>
                </a:solidFill>
                <a:latin typeface="Garamond" pitchFamily="34" charset="0"/>
                <a:ea typeface="Garamond" pitchFamily="34" charset="-122"/>
                <a:cs typeface="Garamond" pitchFamily="34" charset="-120"/>
              </a:rPr>
              <a:t>Extreme environments</a:t>
            </a:r>
            <a:endParaRPr lang="en-US" sz="1350" dirty="0"/>
          </a:p>
        </p:txBody>
      </p:sp>
      <p:sp>
        <p:nvSpPr>
          <p:cNvPr id="27" name="Text 20"/>
          <p:cNvSpPr/>
          <p:nvPr/>
        </p:nvSpPr>
        <p:spPr>
          <a:xfrm>
            <a:off x="8275320" y="4626864"/>
            <a:ext cx="2971800" cy="1508760"/>
          </a:xfrm>
          <a:prstGeom prst="rect">
            <a:avLst/>
          </a:prstGeom>
          <a:noFill/>
          <a:ln/>
        </p:spPr>
        <p:txBody>
          <a:bodyPr wrap="square" lIns="0" tIns="0" rIns="0" bIns="0" rtlCol="0" anchor="t"/>
          <a:lstStyle/>
          <a:p>
            <a:pPr marL="0" indent="0">
              <a:lnSpc>
                <a:spcPct val="103000"/>
              </a:lnSpc>
              <a:buNone/>
            </a:pPr>
            <a:r>
              <a:rPr lang="en-US" sz="1050" dirty="0">
                <a:solidFill>
                  <a:srgbClr val="1E2A33"/>
                </a:solidFill>
                <a:latin typeface="Garamond" pitchFamily="34" charset="0"/>
                <a:ea typeface="Garamond" pitchFamily="34" charset="-122"/>
                <a:cs typeface="Garamond" pitchFamily="34" charset="-120"/>
              </a:rPr>
              <a:t>All niobium multilayer insulation and thermal design protecting Solar Orbiter antennas that reach nearly 500 C in a 15 sun environment.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FACILITIES AND LOCATION</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Purpose Built Production in Berkeley</a:t>
            </a:r>
            <a:endParaRPr lang="en-US" sz="2900" dirty="0"/>
          </a:p>
        </p:txBody>
      </p:sp>
      <p:pic>
        <p:nvPicPr>
          <p:cNvPr id="4" name="Image 0" descr="assets/logo_dark.jpg"/>
          <p:cNvPicPr>
            <a:picLocks noChangeAspect="1"/>
          </p:cNvPicPr>
          <p:nvPr/>
        </p:nvPicPr>
        <p:blipFill>
          <a:blip r:embed="rId3"/>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10</a:t>
            </a:r>
            <a:endParaRPr lang="en-US" sz="850" dirty="0"/>
          </a:p>
        </p:txBody>
      </p:sp>
      <p:pic>
        <p:nvPicPr>
          <p:cNvPr id="7" name="Image 1" descr="assets/s8_bldg.jpg"/>
          <p:cNvPicPr>
            <a:picLocks noChangeAspect="1"/>
          </p:cNvPicPr>
          <p:nvPr/>
        </p:nvPicPr>
        <p:blipFill>
          <a:blip r:embed="rId4"/>
          <a:stretch>
            <a:fillRect/>
          </a:stretch>
        </p:blipFill>
        <p:spPr>
          <a:xfrm>
            <a:off x="822960" y="1417320"/>
            <a:ext cx="6583680" cy="2880360"/>
          </a:xfrm>
          <a:prstGeom prst="rect">
            <a:avLst/>
          </a:prstGeom>
        </p:spPr>
      </p:pic>
      <p:sp>
        <p:nvSpPr>
          <p:cNvPr id="8" name="Shape 4"/>
          <p:cNvSpPr/>
          <p:nvPr/>
        </p:nvSpPr>
        <p:spPr>
          <a:xfrm>
            <a:off x="822960" y="1417320"/>
            <a:ext cx="6583680" cy="2880360"/>
          </a:xfrm>
          <a:prstGeom prst="rect">
            <a:avLst/>
          </a:prstGeom>
          <a:ln w="12700">
            <a:solidFill>
              <a:srgbClr val="C6D2DA"/>
            </a:solidFill>
            <a:prstDash val="solid"/>
          </a:ln>
        </p:spPr>
        <p:txBody>
          <a:bodyPr/>
          <a:lstStyle/>
          <a:p>
            <a:endParaRPr/>
          </a:p>
        </p:txBody>
      </p:sp>
      <p:pic>
        <p:nvPicPr>
          <p:cNvPr id="9" name="Image 2" descr="assets/s8_bay.jpg"/>
          <p:cNvPicPr>
            <a:picLocks noChangeAspect="1"/>
          </p:cNvPicPr>
          <p:nvPr/>
        </p:nvPicPr>
        <p:blipFill>
          <a:blip r:embed="rId5"/>
          <a:stretch>
            <a:fillRect/>
          </a:stretch>
        </p:blipFill>
        <p:spPr>
          <a:xfrm>
            <a:off x="822960" y="4480560"/>
            <a:ext cx="2130552" cy="1691640"/>
          </a:xfrm>
          <a:prstGeom prst="rect">
            <a:avLst/>
          </a:prstGeom>
        </p:spPr>
      </p:pic>
      <p:sp>
        <p:nvSpPr>
          <p:cNvPr id="10" name="Shape 5"/>
          <p:cNvSpPr/>
          <p:nvPr/>
        </p:nvSpPr>
        <p:spPr>
          <a:xfrm>
            <a:off x="822960" y="4480560"/>
            <a:ext cx="2130552" cy="1691640"/>
          </a:xfrm>
          <a:prstGeom prst="rect">
            <a:avLst/>
          </a:prstGeom>
          <a:ln w="12700">
            <a:solidFill>
              <a:srgbClr val="C6D2DA"/>
            </a:solidFill>
            <a:prstDash val="solid"/>
          </a:ln>
        </p:spPr>
        <p:txBody>
          <a:bodyPr/>
          <a:lstStyle/>
          <a:p>
            <a:endParaRPr/>
          </a:p>
        </p:txBody>
      </p:sp>
      <p:sp>
        <p:nvSpPr>
          <p:cNvPr id="11" name="Text 6"/>
          <p:cNvSpPr/>
          <p:nvPr/>
        </p:nvSpPr>
        <p:spPr>
          <a:xfrm>
            <a:off x="822960" y="6199632"/>
            <a:ext cx="2130552" cy="274320"/>
          </a:xfrm>
          <a:prstGeom prst="rect">
            <a:avLst/>
          </a:prstGeom>
          <a:noFill/>
          <a:ln/>
        </p:spPr>
        <p:txBody>
          <a:bodyPr wrap="square" lIns="0" tIns="0" rIns="0" bIns="0" rtlCol="0" anchor="ctr"/>
          <a:lstStyle/>
          <a:p>
            <a:pPr marL="0" indent="0">
              <a:buNone/>
            </a:pPr>
            <a:r>
              <a:rPr lang="en-US" sz="950" i="1" dirty="0">
                <a:solidFill>
                  <a:srgbClr val="5C6B76"/>
                </a:solidFill>
                <a:latin typeface="Garamond" pitchFamily="34" charset="0"/>
                <a:ea typeface="Garamond" pitchFamily="34" charset="-122"/>
                <a:cs typeface="Garamond" pitchFamily="34" charset="-120"/>
              </a:rPr>
              <a:t>High bay assembly</a:t>
            </a:r>
            <a:endParaRPr lang="en-US" sz="950" dirty="0"/>
          </a:p>
        </p:txBody>
      </p:sp>
      <p:pic>
        <p:nvPicPr>
          <p:cNvPr id="12" name="Image 3" descr="assets/s8_tvac.jpg"/>
          <p:cNvPicPr>
            <a:picLocks noChangeAspect="1"/>
          </p:cNvPicPr>
          <p:nvPr/>
        </p:nvPicPr>
        <p:blipFill>
          <a:blip r:embed="rId6"/>
          <a:stretch>
            <a:fillRect/>
          </a:stretch>
        </p:blipFill>
        <p:spPr>
          <a:xfrm>
            <a:off x="3054096" y="4480560"/>
            <a:ext cx="2130552" cy="1691640"/>
          </a:xfrm>
          <a:prstGeom prst="rect">
            <a:avLst/>
          </a:prstGeom>
        </p:spPr>
      </p:pic>
      <p:sp>
        <p:nvSpPr>
          <p:cNvPr id="13" name="Shape 7"/>
          <p:cNvSpPr/>
          <p:nvPr/>
        </p:nvSpPr>
        <p:spPr>
          <a:xfrm>
            <a:off x="3054096" y="4480560"/>
            <a:ext cx="2130552" cy="1691640"/>
          </a:xfrm>
          <a:prstGeom prst="rect">
            <a:avLst/>
          </a:prstGeom>
          <a:ln w="12700">
            <a:solidFill>
              <a:srgbClr val="C6D2DA"/>
            </a:solidFill>
            <a:prstDash val="solid"/>
          </a:ln>
        </p:spPr>
        <p:txBody>
          <a:bodyPr/>
          <a:lstStyle/>
          <a:p>
            <a:endParaRPr/>
          </a:p>
        </p:txBody>
      </p:sp>
      <p:sp>
        <p:nvSpPr>
          <p:cNvPr id="14" name="Text 8"/>
          <p:cNvSpPr/>
          <p:nvPr/>
        </p:nvSpPr>
        <p:spPr>
          <a:xfrm>
            <a:off x="3054096" y="6199632"/>
            <a:ext cx="2130552" cy="274320"/>
          </a:xfrm>
          <a:prstGeom prst="rect">
            <a:avLst/>
          </a:prstGeom>
          <a:noFill/>
          <a:ln/>
        </p:spPr>
        <p:txBody>
          <a:bodyPr wrap="square" lIns="0" tIns="0" rIns="0" bIns="0" rtlCol="0" anchor="ctr"/>
          <a:lstStyle/>
          <a:p>
            <a:pPr marL="0" indent="0">
              <a:buNone/>
            </a:pPr>
            <a:r>
              <a:rPr lang="en-US" sz="950" i="1" dirty="0">
                <a:solidFill>
                  <a:srgbClr val="5C6B76"/>
                </a:solidFill>
                <a:latin typeface="Garamond" pitchFamily="34" charset="0"/>
                <a:ea typeface="Garamond" pitchFamily="34" charset="-122"/>
                <a:cs typeface="Garamond" pitchFamily="34" charset="-120"/>
              </a:rPr>
              <a:t>Thermal vacuum</a:t>
            </a:r>
            <a:endParaRPr lang="en-US" sz="950" dirty="0"/>
          </a:p>
        </p:txBody>
      </p:sp>
      <p:pic>
        <p:nvPicPr>
          <p:cNvPr id="15" name="Image 4" descr="assets/s8_clean.jpg"/>
          <p:cNvPicPr>
            <a:picLocks noChangeAspect="1"/>
          </p:cNvPicPr>
          <p:nvPr/>
        </p:nvPicPr>
        <p:blipFill>
          <a:blip r:embed="rId7"/>
          <a:stretch>
            <a:fillRect/>
          </a:stretch>
        </p:blipFill>
        <p:spPr>
          <a:xfrm>
            <a:off x="5285232" y="4480560"/>
            <a:ext cx="2130552" cy="1691640"/>
          </a:xfrm>
          <a:prstGeom prst="rect">
            <a:avLst/>
          </a:prstGeom>
        </p:spPr>
      </p:pic>
      <p:sp>
        <p:nvSpPr>
          <p:cNvPr id="16" name="Shape 9"/>
          <p:cNvSpPr/>
          <p:nvPr/>
        </p:nvSpPr>
        <p:spPr>
          <a:xfrm>
            <a:off x="5285232" y="4480560"/>
            <a:ext cx="2130552" cy="1691640"/>
          </a:xfrm>
          <a:prstGeom prst="rect">
            <a:avLst/>
          </a:prstGeom>
          <a:ln w="12700">
            <a:solidFill>
              <a:srgbClr val="C6D2DA"/>
            </a:solidFill>
            <a:prstDash val="solid"/>
          </a:ln>
        </p:spPr>
        <p:txBody>
          <a:bodyPr/>
          <a:lstStyle/>
          <a:p>
            <a:endParaRPr/>
          </a:p>
        </p:txBody>
      </p:sp>
      <p:sp>
        <p:nvSpPr>
          <p:cNvPr id="17" name="Text 10"/>
          <p:cNvSpPr/>
          <p:nvPr/>
        </p:nvSpPr>
        <p:spPr>
          <a:xfrm>
            <a:off x="5285232" y="6199632"/>
            <a:ext cx="2130552" cy="274320"/>
          </a:xfrm>
          <a:prstGeom prst="rect">
            <a:avLst/>
          </a:prstGeom>
          <a:noFill/>
          <a:ln/>
        </p:spPr>
        <p:txBody>
          <a:bodyPr wrap="square" lIns="0" tIns="0" rIns="0" bIns="0" rtlCol="0" anchor="ctr"/>
          <a:lstStyle/>
          <a:p>
            <a:pPr marL="0" indent="0">
              <a:buNone/>
            </a:pPr>
            <a:r>
              <a:rPr lang="en-US" sz="950" i="1" dirty="0">
                <a:solidFill>
                  <a:srgbClr val="5C6B76"/>
                </a:solidFill>
                <a:latin typeface="Garamond" pitchFamily="34" charset="0"/>
                <a:ea typeface="Garamond" pitchFamily="34" charset="-122"/>
                <a:cs typeface="Garamond" pitchFamily="34" charset="-120"/>
              </a:rPr>
              <a:t>Cleanroom</a:t>
            </a:r>
            <a:endParaRPr lang="en-US" sz="950" dirty="0"/>
          </a:p>
        </p:txBody>
      </p:sp>
      <p:sp>
        <p:nvSpPr>
          <p:cNvPr id="18" name="Text 11"/>
          <p:cNvSpPr/>
          <p:nvPr/>
        </p:nvSpPr>
        <p:spPr>
          <a:xfrm>
            <a:off x="7726680" y="1371600"/>
            <a:ext cx="3657600" cy="384048"/>
          </a:xfrm>
          <a:prstGeom prst="rect">
            <a:avLst/>
          </a:prstGeom>
          <a:noFill/>
          <a:ln/>
        </p:spPr>
        <p:txBody>
          <a:bodyPr wrap="square" lIns="0" tIns="0" rIns="0" bIns="0" rtlCol="0" anchor="ctr"/>
          <a:lstStyle/>
          <a:p>
            <a:pPr marL="0" indent="0">
              <a:buNone/>
            </a:pPr>
            <a:r>
              <a:rPr lang="en-US" sz="2200" b="1" dirty="0">
                <a:solidFill>
                  <a:srgbClr val="007BCB"/>
                </a:solidFill>
                <a:latin typeface="Garamond" pitchFamily="34" charset="0"/>
                <a:ea typeface="Garamond" pitchFamily="34" charset="-122"/>
                <a:cs typeface="Garamond" pitchFamily="34" charset="-120"/>
              </a:rPr>
              <a:t>20,000 square feet</a:t>
            </a:r>
            <a:endParaRPr lang="en-US" sz="2200" dirty="0"/>
          </a:p>
        </p:txBody>
      </p:sp>
      <p:sp>
        <p:nvSpPr>
          <p:cNvPr id="19" name="Text 12"/>
          <p:cNvSpPr/>
          <p:nvPr/>
        </p:nvSpPr>
        <p:spPr>
          <a:xfrm>
            <a:off x="7726680" y="1773936"/>
            <a:ext cx="3639312" cy="566928"/>
          </a:xfrm>
          <a:prstGeom prst="rect">
            <a:avLst/>
          </a:prstGeom>
          <a:noFill/>
          <a:ln/>
        </p:spPr>
        <p:txBody>
          <a:bodyPr wrap="square" lIns="0" tIns="0" rIns="0" bIns="0" rtlCol="0" anchor="t"/>
          <a:lstStyle/>
          <a:p>
            <a:pPr marL="0" indent="0">
              <a:buNone/>
            </a:pPr>
            <a:r>
              <a:rPr lang="en-US" sz="1050" dirty="0">
                <a:solidFill>
                  <a:srgbClr val="5C6B76"/>
                </a:solidFill>
                <a:latin typeface="Garamond" pitchFamily="34" charset="0"/>
                <a:ea typeface="Garamond" pitchFamily="34" charset="-122"/>
                <a:cs typeface="Garamond" pitchFamily="34" charset="-120"/>
              </a:rPr>
              <a:t>of production capacity: high bay assembly and test, cleanroom, thermal vacuum chamber, and machine shop.</a:t>
            </a:r>
            <a:endParaRPr lang="en-US" sz="1050" dirty="0"/>
          </a:p>
        </p:txBody>
      </p:sp>
      <p:pic>
        <p:nvPicPr>
          <p:cNvPr id="20" name="Image 5" descr="assets/s8_map.jpg"/>
          <p:cNvPicPr>
            <a:picLocks noChangeAspect="1"/>
          </p:cNvPicPr>
          <p:nvPr/>
        </p:nvPicPr>
        <p:blipFill>
          <a:blip r:embed="rId8"/>
          <a:stretch>
            <a:fillRect/>
          </a:stretch>
        </p:blipFill>
        <p:spPr>
          <a:xfrm>
            <a:off x="7726680" y="2450592"/>
            <a:ext cx="3639312" cy="2331720"/>
          </a:xfrm>
          <a:prstGeom prst="rect">
            <a:avLst/>
          </a:prstGeom>
        </p:spPr>
      </p:pic>
      <p:sp>
        <p:nvSpPr>
          <p:cNvPr id="21" name="Shape 13"/>
          <p:cNvSpPr/>
          <p:nvPr/>
        </p:nvSpPr>
        <p:spPr>
          <a:xfrm>
            <a:off x="7726680" y="2450592"/>
            <a:ext cx="3639312" cy="2331720"/>
          </a:xfrm>
          <a:prstGeom prst="rect">
            <a:avLst/>
          </a:prstGeom>
          <a:ln w="12700">
            <a:solidFill>
              <a:srgbClr val="C6D2DA"/>
            </a:solidFill>
            <a:prstDash val="solid"/>
          </a:ln>
        </p:spPr>
        <p:txBody>
          <a:bodyPr/>
          <a:lstStyle/>
          <a:p>
            <a:endParaRPr/>
          </a:p>
        </p:txBody>
      </p:sp>
      <p:sp>
        <p:nvSpPr>
          <p:cNvPr id="22" name="Shape 14"/>
          <p:cNvSpPr/>
          <p:nvPr/>
        </p:nvSpPr>
        <p:spPr>
          <a:xfrm>
            <a:off x="7726680" y="4937760"/>
            <a:ext cx="3639312" cy="1298448"/>
          </a:xfrm>
          <a:prstGeom prst="roundRect">
            <a:avLst>
              <a:gd name="adj" fmla="val 3521"/>
            </a:avLst>
          </a:prstGeom>
          <a:solidFill>
            <a:srgbClr val="F3F7FA"/>
          </a:solidFill>
          <a:ln/>
        </p:spPr>
        <p:txBody>
          <a:bodyPr/>
          <a:lstStyle/>
          <a:p>
            <a:endParaRPr/>
          </a:p>
        </p:txBody>
      </p:sp>
      <p:sp>
        <p:nvSpPr>
          <p:cNvPr id="23" name="Text 15"/>
          <p:cNvSpPr/>
          <p:nvPr/>
        </p:nvSpPr>
        <p:spPr>
          <a:xfrm>
            <a:off x="7882128" y="5056632"/>
            <a:ext cx="3364992" cy="1097280"/>
          </a:xfrm>
          <a:prstGeom prst="rect">
            <a:avLst/>
          </a:prstGeom>
          <a:noFill/>
          <a:ln/>
        </p:spPr>
        <p:txBody>
          <a:bodyPr wrap="square" lIns="0" tIns="0" rIns="0" bIns="0" rtlCol="0" anchor="t"/>
          <a:lstStyle/>
          <a:p>
            <a:pPr marL="0" indent="0">
              <a:spcAft>
                <a:spcPts val="200"/>
              </a:spcAft>
              <a:buNone/>
            </a:pPr>
            <a:r>
              <a:rPr lang="en-US" sz="1100" b="1" dirty="0">
                <a:solidFill>
                  <a:srgbClr val="1E2A33"/>
                </a:solidFill>
                <a:latin typeface="Garamond" pitchFamily="34" charset="0"/>
                <a:ea typeface="Garamond" pitchFamily="34" charset="-122"/>
                <a:cs typeface="Garamond" pitchFamily="34" charset="-120"/>
              </a:rPr>
              <a:t>Heliospace Corporation</a:t>
            </a:r>
            <a:endParaRPr lang="en-US" sz="1100" dirty="0"/>
          </a:p>
          <a:p>
            <a:pPr marL="0" indent="0">
              <a:spcAft>
                <a:spcPts val="200"/>
              </a:spcAft>
              <a:buNone/>
            </a:pPr>
            <a:r>
              <a:rPr lang="en-US" sz="1100" dirty="0">
                <a:solidFill>
                  <a:srgbClr val="1E2A33"/>
                </a:solidFill>
                <a:latin typeface="Garamond" pitchFamily="34" charset="0"/>
                <a:ea typeface="Garamond" pitchFamily="34" charset="-122"/>
                <a:cs typeface="Garamond" pitchFamily="34" charset="-120"/>
              </a:rPr>
              <a:t>2448 Sixth Street, Berkeley, CA 94710</a:t>
            </a:r>
            <a:endParaRPr lang="en-US" sz="1100" dirty="0"/>
          </a:p>
          <a:p>
            <a:pPr marL="0" indent="0">
              <a:spcAft>
                <a:spcPts val="200"/>
              </a:spcAft>
              <a:buNone/>
            </a:pPr>
            <a:endParaRPr lang="en-US" sz="1100" dirty="0"/>
          </a:p>
          <a:p>
            <a:pPr marL="0" indent="0">
              <a:spcAft>
                <a:spcPts val="200"/>
              </a:spcAft>
              <a:buNone/>
            </a:pPr>
            <a:r>
              <a:rPr lang="en-US" sz="950" dirty="0">
                <a:solidFill>
                  <a:srgbClr val="5C6B76"/>
                </a:solidFill>
                <a:latin typeface="Garamond" pitchFamily="34" charset="0"/>
                <a:ea typeface="Garamond" pitchFamily="34" charset="-122"/>
                <a:cs typeface="Garamond" pitchFamily="34" charset="-120"/>
              </a:rPr>
              <a:t>San Francisco Bay Area: near NASA Ames, UC Berkeley, and the West Coast supply base.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MARKET OPPORTUNITY</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A Structurally Expanding Market</a:t>
            </a:r>
            <a:endParaRPr lang="en-US" sz="2900" dirty="0"/>
          </a:p>
        </p:txBody>
      </p:sp>
      <p:pic>
        <p:nvPicPr>
          <p:cNvPr id="4" name="Image 0" descr="assets/logo_dark.jpg"/>
          <p:cNvPicPr>
            <a:picLocks noChangeAspect="1"/>
          </p:cNvPicPr>
          <p:nvPr/>
        </p:nvPicPr>
        <p:blipFill>
          <a:blip r:embed="rId3"/>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11</a:t>
            </a:r>
            <a:endParaRPr lang="en-US" sz="850" dirty="0"/>
          </a:p>
        </p:txBody>
      </p:sp>
      <p:sp>
        <p:nvSpPr>
          <p:cNvPr id="7" name="Text 4"/>
          <p:cNvSpPr/>
          <p:nvPr/>
        </p:nvSpPr>
        <p:spPr>
          <a:xfrm>
            <a:off x="822960" y="1463040"/>
            <a:ext cx="5852160" cy="274320"/>
          </a:xfrm>
          <a:prstGeom prst="rect">
            <a:avLst/>
          </a:prstGeom>
          <a:noFill/>
          <a:ln/>
        </p:spPr>
        <p:txBody>
          <a:bodyPr wrap="square" lIns="0" tIns="0" rIns="0" bIns="0" rtlCol="0" anchor="ctr"/>
          <a:lstStyle/>
          <a:p>
            <a:pPr marL="0" indent="0">
              <a:buNone/>
            </a:pPr>
            <a:r>
              <a:rPr lang="en-US" sz="1300" b="1" dirty="0">
                <a:solidFill>
                  <a:srgbClr val="10222F"/>
                </a:solidFill>
                <a:latin typeface="Garamond" pitchFamily="34" charset="0"/>
                <a:ea typeface="Garamond" pitchFamily="34" charset="-122"/>
                <a:cs typeface="Garamond" pitchFamily="34" charset="-120"/>
              </a:rPr>
              <a:t>Global space economy: forecast to reach $1.8 trillion by 2035 (USD billions)</a:t>
            </a:r>
            <a:endParaRPr lang="en-US" sz="1300" dirty="0"/>
          </a:p>
        </p:txBody>
      </p:sp>
      <p:graphicFrame>
        <p:nvGraphicFramePr>
          <p:cNvPr id="8" name="Chart 0"/>
          <p:cNvGraphicFramePr/>
          <p:nvPr/>
        </p:nvGraphicFramePr>
        <p:xfrm>
          <a:off x="822960" y="1828800"/>
          <a:ext cx="5852160" cy="397764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822960" y="5943600"/>
            <a:ext cx="5852160" cy="274320"/>
          </a:xfrm>
          <a:prstGeom prst="rect">
            <a:avLst/>
          </a:prstGeom>
          <a:noFill/>
          <a:ln/>
        </p:spPr>
        <p:txBody>
          <a:bodyPr wrap="square" lIns="0" tIns="0" rIns="0" bIns="0" rtlCol="0" anchor="ctr"/>
          <a:lstStyle/>
          <a:p>
            <a:pPr marL="0" indent="0">
              <a:buNone/>
            </a:pPr>
            <a:r>
              <a:rPr lang="en-US" sz="900" i="1" dirty="0">
                <a:solidFill>
                  <a:srgbClr val="5C6B76"/>
                </a:solidFill>
                <a:latin typeface="Garamond" pitchFamily="34" charset="0"/>
                <a:ea typeface="Garamond" pitchFamily="34" charset="-122"/>
                <a:cs typeface="Garamond" pitchFamily="34" charset="-120"/>
              </a:rPr>
              <a:t>Source: World Economic Forum and McKinsey, Space: The $1.8 Trillion Opportunity, 2024.</a:t>
            </a:r>
            <a:endParaRPr lang="en-US" sz="900" dirty="0"/>
          </a:p>
        </p:txBody>
      </p:sp>
      <p:sp>
        <p:nvSpPr>
          <p:cNvPr id="10" name="Text 6"/>
          <p:cNvSpPr/>
          <p:nvPr/>
        </p:nvSpPr>
        <p:spPr>
          <a:xfrm>
            <a:off x="7178040" y="1554480"/>
            <a:ext cx="4114800" cy="548640"/>
          </a:xfrm>
          <a:prstGeom prst="rect">
            <a:avLst/>
          </a:prstGeom>
          <a:noFill/>
          <a:ln/>
        </p:spPr>
        <p:txBody>
          <a:bodyPr wrap="square" lIns="0" tIns="0" rIns="0" bIns="0" rtlCol="0" anchor="ctr"/>
          <a:lstStyle/>
          <a:p>
            <a:pPr marL="0" indent="0">
              <a:buNone/>
            </a:pPr>
            <a:r>
              <a:rPr lang="en-US" sz="3400" b="1" dirty="0">
                <a:solidFill>
                  <a:srgbClr val="007BCB"/>
                </a:solidFill>
                <a:latin typeface="Garamond" pitchFamily="34" charset="0"/>
                <a:ea typeface="Garamond" pitchFamily="34" charset="-122"/>
                <a:cs typeface="Garamond" pitchFamily="34" charset="-120"/>
              </a:rPr>
              <a:t>16,900</a:t>
            </a:r>
            <a:endParaRPr lang="en-US" sz="3400" dirty="0"/>
          </a:p>
        </p:txBody>
      </p:sp>
      <p:sp>
        <p:nvSpPr>
          <p:cNvPr id="11" name="Text 7"/>
          <p:cNvSpPr/>
          <p:nvPr/>
        </p:nvSpPr>
        <p:spPr>
          <a:xfrm>
            <a:off x="7178040" y="2121408"/>
            <a:ext cx="4069080" cy="502920"/>
          </a:xfrm>
          <a:prstGeom prst="rect">
            <a:avLst/>
          </a:prstGeom>
          <a:noFill/>
          <a:ln/>
        </p:spPr>
        <p:txBody>
          <a:bodyPr wrap="square" lIns="0" tIns="0" rIns="0" bIns="0" rtlCol="0" anchor="t"/>
          <a:lstStyle/>
          <a:p>
            <a:pPr marL="0" indent="0">
              <a:buNone/>
            </a:pPr>
            <a:r>
              <a:rPr lang="en-US" sz="1100" dirty="0">
                <a:solidFill>
                  <a:srgbClr val="5C6B76"/>
                </a:solidFill>
                <a:latin typeface="Garamond" pitchFamily="34" charset="0"/>
                <a:ea typeface="Garamond" pitchFamily="34" charset="-122"/>
                <a:cs typeface="Garamond" pitchFamily="34" charset="-120"/>
              </a:rPr>
              <a:t>small satellites forecast for launch between 2026 and 2035 (Novaspace)</a:t>
            </a:r>
            <a:endParaRPr lang="en-US" sz="1100" dirty="0"/>
          </a:p>
        </p:txBody>
      </p:sp>
      <p:sp>
        <p:nvSpPr>
          <p:cNvPr id="12" name="Text 8"/>
          <p:cNvSpPr/>
          <p:nvPr/>
        </p:nvSpPr>
        <p:spPr>
          <a:xfrm>
            <a:off x="7178040" y="2880360"/>
            <a:ext cx="4114800" cy="274320"/>
          </a:xfrm>
          <a:prstGeom prst="rect">
            <a:avLst/>
          </a:prstGeom>
          <a:noFill/>
          <a:ln/>
        </p:spPr>
        <p:txBody>
          <a:bodyPr wrap="square" lIns="0" tIns="0" rIns="0" bIns="0" rtlCol="0" anchor="ctr"/>
          <a:lstStyle/>
          <a:p>
            <a:pPr marL="0" indent="0">
              <a:buNone/>
            </a:pPr>
            <a:r>
              <a:rPr lang="en-US" sz="1350" b="1" dirty="0">
                <a:solidFill>
                  <a:srgbClr val="10222F"/>
                </a:solidFill>
                <a:latin typeface="Garamond" pitchFamily="34" charset="0"/>
                <a:ea typeface="Garamond" pitchFamily="34" charset="-122"/>
                <a:cs typeface="Garamond" pitchFamily="34" charset="-120"/>
              </a:rPr>
              <a:t>Deployables on every platform</a:t>
            </a:r>
            <a:endParaRPr lang="en-US" sz="1350" dirty="0"/>
          </a:p>
        </p:txBody>
      </p:sp>
      <p:sp>
        <p:nvSpPr>
          <p:cNvPr id="13" name="Text 9"/>
          <p:cNvSpPr/>
          <p:nvPr/>
        </p:nvSpPr>
        <p:spPr>
          <a:xfrm>
            <a:off x="7178040" y="3182112"/>
            <a:ext cx="4160520" cy="960120"/>
          </a:xfrm>
          <a:prstGeom prst="rect">
            <a:avLst/>
          </a:prstGeom>
          <a:noFill/>
          <a:ln/>
        </p:spPr>
        <p:txBody>
          <a:bodyPr wrap="square" lIns="0" tIns="0" rIns="0" bIns="0" rtlCol="0" anchor="t"/>
          <a:lstStyle/>
          <a:p>
            <a:pPr marL="0" indent="0">
              <a:lnSpc>
                <a:spcPct val="105000"/>
              </a:lnSpc>
              <a:buNone/>
            </a:pPr>
            <a:r>
              <a:rPr lang="en-US" sz="1150" dirty="0">
                <a:solidFill>
                  <a:srgbClr val="1E2A33"/>
                </a:solidFill>
                <a:latin typeface="Garamond" pitchFamily="34" charset="0"/>
                <a:ea typeface="Garamond" pitchFamily="34" charset="-122"/>
                <a:cs typeface="Garamond" pitchFamily="34" charset="-120"/>
              </a:rPr>
              <a:t>Antennas, sensor booms, and masts must stow small and deploy reliably. Every spacecraft class, from CubeSats to flagship observatories, is an addressable socket for SABER mechanisms.</a:t>
            </a:r>
            <a:endParaRPr lang="en-US" sz="1150" dirty="0"/>
          </a:p>
        </p:txBody>
      </p:sp>
      <p:sp>
        <p:nvSpPr>
          <p:cNvPr id="14" name="Text 10"/>
          <p:cNvSpPr/>
          <p:nvPr/>
        </p:nvSpPr>
        <p:spPr>
          <a:xfrm>
            <a:off x="7178040" y="4343400"/>
            <a:ext cx="4114800" cy="274320"/>
          </a:xfrm>
          <a:prstGeom prst="rect">
            <a:avLst/>
          </a:prstGeom>
          <a:noFill/>
          <a:ln/>
        </p:spPr>
        <p:txBody>
          <a:bodyPr wrap="square" lIns="0" tIns="0" rIns="0" bIns="0" rtlCol="0" anchor="ctr"/>
          <a:lstStyle/>
          <a:p>
            <a:pPr marL="0" indent="0">
              <a:buNone/>
            </a:pPr>
            <a:r>
              <a:rPr lang="en-US" sz="1350" b="1" dirty="0">
                <a:solidFill>
                  <a:srgbClr val="10222F"/>
                </a:solidFill>
                <a:latin typeface="Garamond" pitchFamily="34" charset="0"/>
                <a:ea typeface="Garamond" pitchFamily="34" charset="-122"/>
                <a:cs typeface="Garamond" pitchFamily="34" charset="-120"/>
              </a:rPr>
              <a:t>Recurring lunar demand</a:t>
            </a:r>
            <a:endParaRPr lang="en-US" sz="1350" dirty="0"/>
          </a:p>
        </p:txBody>
      </p:sp>
      <p:sp>
        <p:nvSpPr>
          <p:cNvPr id="15" name="Text 11"/>
          <p:cNvSpPr/>
          <p:nvPr/>
        </p:nvSpPr>
        <p:spPr>
          <a:xfrm>
            <a:off x="7178040" y="4645152"/>
            <a:ext cx="4160520" cy="1005840"/>
          </a:xfrm>
          <a:prstGeom prst="rect">
            <a:avLst/>
          </a:prstGeom>
          <a:noFill/>
          <a:ln/>
        </p:spPr>
        <p:txBody>
          <a:bodyPr wrap="square" lIns="0" tIns="0" rIns="0" bIns="0" rtlCol="0" anchor="t"/>
          <a:lstStyle/>
          <a:p>
            <a:pPr marL="0" indent="0">
              <a:lnSpc>
                <a:spcPct val="105000"/>
              </a:lnSpc>
              <a:buNone/>
            </a:pPr>
            <a:r>
              <a:rPr lang="en-US" sz="1150" dirty="0">
                <a:solidFill>
                  <a:srgbClr val="1E2A33"/>
                </a:solidFill>
                <a:latin typeface="Garamond" pitchFamily="34" charset="0"/>
                <a:ea typeface="Garamond" pitchFamily="34" charset="-122"/>
                <a:cs typeface="Garamond" pitchFamily="34" charset="-120"/>
              </a:rPr>
              <a:t>NASA CLPS and commercial lunar programs are creating a repeat purchase market for payload sensors and deployables, with Heliospace hardware already flown on the first landings.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COMPETITIVE POSITION</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Why Customers Choose Heliospace</a:t>
            </a:r>
            <a:endParaRPr lang="en-US" sz="2900" dirty="0"/>
          </a:p>
        </p:txBody>
      </p:sp>
      <p:pic>
        <p:nvPicPr>
          <p:cNvPr id="4" name="Image 0" descr="assets/logo_dark.jpg"/>
          <p:cNvPicPr>
            <a:picLocks noChangeAspect="1"/>
          </p:cNvPicPr>
          <p:nvPr/>
        </p:nvPicPr>
        <p:blipFill>
          <a:blip r:embed="rId3"/>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12</a:t>
            </a:r>
            <a:endParaRPr lang="en-US" sz="850" dirty="0"/>
          </a:p>
        </p:txBody>
      </p:sp>
      <p:sp>
        <p:nvSpPr>
          <p:cNvPr id="7" name="Shape 4"/>
          <p:cNvSpPr/>
          <p:nvPr/>
        </p:nvSpPr>
        <p:spPr>
          <a:xfrm>
            <a:off x="822960" y="1444752"/>
            <a:ext cx="347472" cy="347472"/>
          </a:xfrm>
          <a:prstGeom prst="ellipse">
            <a:avLst/>
          </a:prstGeom>
          <a:solidFill>
            <a:srgbClr val="007BCB"/>
          </a:solidFill>
          <a:ln/>
        </p:spPr>
        <p:txBody>
          <a:bodyPr/>
          <a:lstStyle/>
          <a:p>
            <a:endParaRPr/>
          </a:p>
        </p:txBody>
      </p:sp>
      <p:sp>
        <p:nvSpPr>
          <p:cNvPr id="8" name="Text 5"/>
          <p:cNvSpPr/>
          <p:nvPr/>
        </p:nvSpPr>
        <p:spPr>
          <a:xfrm>
            <a:off x="822960" y="1444752"/>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Garamond" pitchFamily="34" charset="0"/>
                <a:ea typeface="Garamond" pitchFamily="34" charset="-122"/>
                <a:cs typeface="Garamond" pitchFamily="34" charset="-120"/>
              </a:rPr>
              <a:t>1</a:t>
            </a:r>
            <a:endParaRPr lang="en-US" sz="1400" dirty="0"/>
          </a:p>
        </p:txBody>
      </p:sp>
      <p:sp>
        <p:nvSpPr>
          <p:cNvPr id="9" name="Text 6"/>
          <p:cNvSpPr/>
          <p:nvPr/>
        </p:nvSpPr>
        <p:spPr>
          <a:xfrm>
            <a:off x="1325880" y="1417320"/>
            <a:ext cx="5120640" cy="274320"/>
          </a:xfrm>
          <a:prstGeom prst="rect">
            <a:avLst/>
          </a:prstGeom>
          <a:noFill/>
          <a:ln/>
        </p:spPr>
        <p:txBody>
          <a:bodyPr wrap="square" lIns="0" tIns="0" rIns="0" bIns="0" rtlCol="0" anchor="ctr"/>
          <a:lstStyle/>
          <a:p>
            <a:pPr marL="0" indent="0">
              <a:buNone/>
            </a:pPr>
            <a:r>
              <a:rPr lang="en-US" sz="1450" b="1" dirty="0">
                <a:solidFill>
                  <a:srgbClr val="10222F"/>
                </a:solidFill>
                <a:latin typeface="Garamond" pitchFamily="34" charset="0"/>
                <a:ea typeface="Garamond" pitchFamily="34" charset="-122"/>
                <a:cs typeface="Garamond" pitchFamily="34" charset="-120"/>
              </a:rPr>
              <a:t>Proven space heritage</a:t>
            </a:r>
            <a:endParaRPr lang="en-US" sz="1450" dirty="0"/>
          </a:p>
        </p:txBody>
      </p:sp>
      <p:sp>
        <p:nvSpPr>
          <p:cNvPr id="10" name="Text 7"/>
          <p:cNvSpPr/>
          <p:nvPr/>
        </p:nvSpPr>
        <p:spPr>
          <a:xfrm>
            <a:off x="1325880" y="1728216"/>
            <a:ext cx="5166360" cy="658368"/>
          </a:xfrm>
          <a:prstGeom prst="rect">
            <a:avLst/>
          </a:prstGeom>
          <a:noFill/>
          <a:ln/>
        </p:spPr>
        <p:txBody>
          <a:bodyPr wrap="square" lIns="0" tIns="0" rIns="0" bIns="0" rtlCol="0" anchor="t"/>
          <a:lstStyle/>
          <a:p>
            <a:pPr marL="0" indent="0">
              <a:lnSpc>
                <a:spcPct val="103000"/>
              </a:lnSpc>
              <a:buNone/>
            </a:pPr>
            <a:r>
              <a:rPr lang="en-US" sz="1100" dirty="0">
                <a:solidFill>
                  <a:srgbClr val="1E2A33"/>
                </a:solidFill>
                <a:latin typeface="Garamond" pitchFamily="34" charset="0"/>
                <a:ea typeface="Garamond" pitchFamily="34" charset="-122"/>
                <a:cs typeface="Garamond" pitchFamily="34" charset="-120"/>
              </a:rPr>
              <a:t>More than 40 space flight missions and more than 125 instruments and systems built and deployed, including hardware on NASA's Europa Clipper and support for the James Webb Space Telescope.</a:t>
            </a:r>
            <a:endParaRPr lang="en-US" sz="1100" dirty="0"/>
          </a:p>
        </p:txBody>
      </p:sp>
      <p:sp>
        <p:nvSpPr>
          <p:cNvPr id="11" name="Shape 8"/>
          <p:cNvSpPr/>
          <p:nvPr/>
        </p:nvSpPr>
        <p:spPr>
          <a:xfrm>
            <a:off x="822960" y="2414016"/>
            <a:ext cx="347472" cy="347472"/>
          </a:xfrm>
          <a:prstGeom prst="ellipse">
            <a:avLst/>
          </a:prstGeom>
          <a:solidFill>
            <a:srgbClr val="007BCB"/>
          </a:solidFill>
          <a:ln/>
        </p:spPr>
        <p:txBody>
          <a:bodyPr/>
          <a:lstStyle/>
          <a:p>
            <a:endParaRPr/>
          </a:p>
        </p:txBody>
      </p:sp>
      <p:sp>
        <p:nvSpPr>
          <p:cNvPr id="12" name="Text 9"/>
          <p:cNvSpPr/>
          <p:nvPr/>
        </p:nvSpPr>
        <p:spPr>
          <a:xfrm>
            <a:off x="822960" y="2414016"/>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Garamond" pitchFamily="34" charset="0"/>
                <a:ea typeface="Garamond" pitchFamily="34" charset="-122"/>
                <a:cs typeface="Garamond" pitchFamily="34" charset="-120"/>
              </a:rPr>
              <a:t>2</a:t>
            </a:r>
            <a:endParaRPr lang="en-US" sz="1400" dirty="0"/>
          </a:p>
        </p:txBody>
      </p:sp>
      <p:sp>
        <p:nvSpPr>
          <p:cNvPr id="13" name="Text 10"/>
          <p:cNvSpPr/>
          <p:nvPr/>
        </p:nvSpPr>
        <p:spPr>
          <a:xfrm>
            <a:off x="1325880" y="2386584"/>
            <a:ext cx="5120640" cy="274320"/>
          </a:xfrm>
          <a:prstGeom prst="rect">
            <a:avLst/>
          </a:prstGeom>
          <a:noFill/>
          <a:ln/>
        </p:spPr>
        <p:txBody>
          <a:bodyPr wrap="square" lIns="0" tIns="0" rIns="0" bIns="0" rtlCol="0" anchor="ctr"/>
          <a:lstStyle/>
          <a:p>
            <a:pPr marL="0" indent="0">
              <a:buNone/>
            </a:pPr>
            <a:r>
              <a:rPr lang="en-US" sz="1450" b="1" dirty="0">
                <a:solidFill>
                  <a:srgbClr val="10222F"/>
                </a:solidFill>
                <a:latin typeface="Garamond" pitchFamily="34" charset="0"/>
                <a:ea typeface="Garamond" pitchFamily="34" charset="-122"/>
                <a:cs typeface="Garamond" pitchFamily="34" charset="-120"/>
              </a:rPr>
              <a:t>Specialized engineering expertise</a:t>
            </a:r>
            <a:endParaRPr lang="en-US" sz="1450" dirty="0"/>
          </a:p>
        </p:txBody>
      </p:sp>
      <p:sp>
        <p:nvSpPr>
          <p:cNvPr id="14" name="Text 11"/>
          <p:cNvSpPr/>
          <p:nvPr/>
        </p:nvSpPr>
        <p:spPr>
          <a:xfrm>
            <a:off x="1325880" y="2697480"/>
            <a:ext cx="5166360" cy="658368"/>
          </a:xfrm>
          <a:prstGeom prst="rect">
            <a:avLst/>
          </a:prstGeom>
          <a:noFill/>
          <a:ln/>
        </p:spPr>
        <p:txBody>
          <a:bodyPr wrap="square" lIns="0" tIns="0" rIns="0" bIns="0" rtlCol="0" anchor="t"/>
          <a:lstStyle/>
          <a:p>
            <a:pPr marL="0" indent="0">
              <a:lnSpc>
                <a:spcPct val="103000"/>
              </a:lnSpc>
              <a:buNone/>
            </a:pPr>
            <a:r>
              <a:rPr lang="en-US" sz="1100" dirty="0">
                <a:solidFill>
                  <a:srgbClr val="1E2A33"/>
                </a:solidFill>
                <a:latin typeface="Garamond" pitchFamily="34" charset="0"/>
                <a:ea typeface="Garamond" pitchFamily="34" charset="-122"/>
                <a:cs typeface="Garamond" pitchFamily="34" charset="-120"/>
              </a:rPr>
              <a:t>Custom deployable antennas, sensors, large deployable structures, spacecraft mechanisms, and systems engineering, built to work reliably in extreme conditions where repair is impossible.</a:t>
            </a:r>
            <a:endParaRPr lang="en-US" sz="1100" dirty="0"/>
          </a:p>
        </p:txBody>
      </p:sp>
      <p:sp>
        <p:nvSpPr>
          <p:cNvPr id="15" name="Shape 12"/>
          <p:cNvSpPr/>
          <p:nvPr/>
        </p:nvSpPr>
        <p:spPr>
          <a:xfrm>
            <a:off x="822960" y="3383280"/>
            <a:ext cx="347472" cy="347472"/>
          </a:xfrm>
          <a:prstGeom prst="ellipse">
            <a:avLst/>
          </a:prstGeom>
          <a:solidFill>
            <a:srgbClr val="007BCB"/>
          </a:solidFill>
          <a:ln/>
        </p:spPr>
        <p:txBody>
          <a:bodyPr/>
          <a:lstStyle/>
          <a:p>
            <a:endParaRPr/>
          </a:p>
        </p:txBody>
      </p:sp>
      <p:sp>
        <p:nvSpPr>
          <p:cNvPr id="16" name="Text 13"/>
          <p:cNvSpPr/>
          <p:nvPr/>
        </p:nvSpPr>
        <p:spPr>
          <a:xfrm>
            <a:off x="822960" y="338328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Garamond" pitchFamily="34" charset="0"/>
                <a:ea typeface="Garamond" pitchFamily="34" charset="-122"/>
                <a:cs typeface="Garamond" pitchFamily="34" charset="-120"/>
              </a:rPr>
              <a:t>3</a:t>
            </a:r>
            <a:endParaRPr lang="en-US" sz="1400" dirty="0"/>
          </a:p>
        </p:txBody>
      </p:sp>
      <p:sp>
        <p:nvSpPr>
          <p:cNvPr id="17" name="Text 14"/>
          <p:cNvSpPr/>
          <p:nvPr/>
        </p:nvSpPr>
        <p:spPr>
          <a:xfrm>
            <a:off x="1325880" y="3355848"/>
            <a:ext cx="5120640" cy="274320"/>
          </a:xfrm>
          <a:prstGeom prst="rect">
            <a:avLst/>
          </a:prstGeom>
          <a:noFill/>
          <a:ln/>
        </p:spPr>
        <p:txBody>
          <a:bodyPr wrap="square" lIns="0" tIns="0" rIns="0" bIns="0" rtlCol="0" anchor="ctr"/>
          <a:lstStyle/>
          <a:p>
            <a:pPr marL="0" indent="0">
              <a:buNone/>
            </a:pPr>
            <a:r>
              <a:rPr lang="en-US" sz="1450" b="1" dirty="0">
                <a:solidFill>
                  <a:srgbClr val="10222F"/>
                </a:solidFill>
                <a:latin typeface="Garamond" pitchFamily="34" charset="0"/>
                <a:ea typeface="Garamond" pitchFamily="34" charset="-122"/>
                <a:cs typeface="Garamond" pitchFamily="34" charset="-120"/>
              </a:rPr>
              <a:t>Lower mission risk</a:t>
            </a:r>
            <a:endParaRPr lang="en-US" sz="1450" dirty="0"/>
          </a:p>
        </p:txBody>
      </p:sp>
      <p:sp>
        <p:nvSpPr>
          <p:cNvPr id="18" name="Text 15"/>
          <p:cNvSpPr/>
          <p:nvPr/>
        </p:nvSpPr>
        <p:spPr>
          <a:xfrm>
            <a:off x="1325880" y="3666744"/>
            <a:ext cx="5166360" cy="658368"/>
          </a:xfrm>
          <a:prstGeom prst="rect">
            <a:avLst/>
          </a:prstGeom>
          <a:noFill/>
          <a:ln/>
        </p:spPr>
        <p:txBody>
          <a:bodyPr wrap="square" lIns="0" tIns="0" rIns="0" bIns="0" rtlCol="0" anchor="t"/>
          <a:lstStyle/>
          <a:p>
            <a:pPr marL="0" indent="0">
              <a:lnSpc>
                <a:spcPct val="103000"/>
              </a:lnSpc>
              <a:buNone/>
            </a:pPr>
            <a:r>
              <a:rPr lang="en-US" sz="1100" dirty="0">
                <a:solidFill>
                  <a:srgbClr val="1E2A33"/>
                </a:solidFill>
                <a:latin typeface="Garamond" pitchFamily="34" charset="0"/>
                <a:ea typeface="Garamond" pitchFamily="34" charset="-122"/>
                <a:cs typeface="Garamond" pitchFamily="34" charset="-120"/>
              </a:rPr>
              <a:t>A record of successful missions and a problem solver approach to difficult hardware challenges reduce technical risk where failure is extremely expensive.</a:t>
            </a:r>
            <a:endParaRPr lang="en-US" sz="1100" dirty="0"/>
          </a:p>
        </p:txBody>
      </p:sp>
      <p:sp>
        <p:nvSpPr>
          <p:cNvPr id="19" name="Shape 16"/>
          <p:cNvSpPr/>
          <p:nvPr/>
        </p:nvSpPr>
        <p:spPr>
          <a:xfrm>
            <a:off x="822960" y="4352544"/>
            <a:ext cx="347472" cy="347472"/>
          </a:xfrm>
          <a:prstGeom prst="ellipse">
            <a:avLst/>
          </a:prstGeom>
          <a:solidFill>
            <a:srgbClr val="007BCB"/>
          </a:solidFill>
          <a:ln/>
        </p:spPr>
        <p:txBody>
          <a:bodyPr/>
          <a:lstStyle/>
          <a:p>
            <a:endParaRPr/>
          </a:p>
        </p:txBody>
      </p:sp>
      <p:sp>
        <p:nvSpPr>
          <p:cNvPr id="20" name="Text 17"/>
          <p:cNvSpPr/>
          <p:nvPr/>
        </p:nvSpPr>
        <p:spPr>
          <a:xfrm>
            <a:off x="822960" y="4352544"/>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Garamond" pitchFamily="34" charset="0"/>
                <a:ea typeface="Garamond" pitchFamily="34" charset="-122"/>
                <a:cs typeface="Garamond" pitchFamily="34" charset="-120"/>
              </a:rPr>
              <a:t>4</a:t>
            </a:r>
            <a:endParaRPr lang="en-US" sz="1400" dirty="0"/>
          </a:p>
        </p:txBody>
      </p:sp>
      <p:sp>
        <p:nvSpPr>
          <p:cNvPr id="21" name="Text 18"/>
          <p:cNvSpPr/>
          <p:nvPr/>
        </p:nvSpPr>
        <p:spPr>
          <a:xfrm>
            <a:off x="1325880" y="4325112"/>
            <a:ext cx="5120640" cy="274320"/>
          </a:xfrm>
          <a:prstGeom prst="rect">
            <a:avLst/>
          </a:prstGeom>
          <a:noFill/>
          <a:ln/>
        </p:spPr>
        <p:txBody>
          <a:bodyPr wrap="square" lIns="0" tIns="0" rIns="0" bIns="0" rtlCol="0" anchor="ctr"/>
          <a:lstStyle/>
          <a:p>
            <a:pPr marL="0" indent="0">
              <a:buNone/>
            </a:pPr>
            <a:r>
              <a:rPr lang="en-US" sz="1450" b="1" dirty="0">
                <a:solidFill>
                  <a:srgbClr val="10222F"/>
                </a:solidFill>
                <a:latin typeface="Garamond" pitchFamily="34" charset="0"/>
                <a:ea typeface="Garamond" pitchFamily="34" charset="-122"/>
                <a:cs typeface="Garamond" pitchFamily="34" charset="-120"/>
              </a:rPr>
              <a:t>Innovation and future technology</a:t>
            </a:r>
            <a:endParaRPr lang="en-US" sz="1450" dirty="0"/>
          </a:p>
        </p:txBody>
      </p:sp>
      <p:sp>
        <p:nvSpPr>
          <p:cNvPr id="22" name="Text 19"/>
          <p:cNvSpPr/>
          <p:nvPr/>
        </p:nvSpPr>
        <p:spPr>
          <a:xfrm>
            <a:off x="1325880" y="4636008"/>
            <a:ext cx="5166360" cy="658368"/>
          </a:xfrm>
          <a:prstGeom prst="rect">
            <a:avLst/>
          </a:prstGeom>
          <a:noFill/>
          <a:ln/>
        </p:spPr>
        <p:txBody>
          <a:bodyPr wrap="square" lIns="0" tIns="0" rIns="0" bIns="0" rtlCol="0" anchor="t"/>
          <a:lstStyle/>
          <a:p>
            <a:pPr marL="0" indent="0">
              <a:lnSpc>
                <a:spcPct val="103000"/>
              </a:lnSpc>
              <a:buNone/>
            </a:pPr>
            <a:r>
              <a:rPr lang="en-US" sz="1100" dirty="0">
                <a:solidFill>
                  <a:srgbClr val="1E2A33"/>
                </a:solidFill>
                <a:latin typeface="Garamond" pitchFamily="34" charset="0"/>
                <a:ea typeface="Garamond" pitchFamily="34" charset="-122"/>
                <a:cs typeface="Garamond" pitchFamily="34" charset="-120"/>
              </a:rPr>
              <a:t>Development of space based solar power systems designed to collect solar energy in orbit and transmit power to Earth, a pathway toward next generation space infrastructure.</a:t>
            </a:r>
            <a:endParaRPr lang="en-US" sz="1100" dirty="0"/>
          </a:p>
        </p:txBody>
      </p:sp>
      <p:sp>
        <p:nvSpPr>
          <p:cNvPr id="23" name="Text 20"/>
          <p:cNvSpPr/>
          <p:nvPr/>
        </p:nvSpPr>
        <p:spPr>
          <a:xfrm>
            <a:off x="7040880" y="1508760"/>
            <a:ext cx="4297680" cy="274320"/>
          </a:xfrm>
          <a:prstGeom prst="rect">
            <a:avLst/>
          </a:prstGeom>
          <a:noFill/>
          <a:ln/>
        </p:spPr>
        <p:txBody>
          <a:bodyPr wrap="square" lIns="0" tIns="0" rIns="0" bIns="0" rtlCol="0" anchor="ctr"/>
          <a:lstStyle/>
          <a:p>
            <a:pPr marL="0" indent="0">
              <a:buNone/>
            </a:pPr>
            <a:r>
              <a:rPr lang="en-US" sz="1350" b="1" dirty="0">
                <a:solidFill>
                  <a:srgbClr val="10222F"/>
                </a:solidFill>
                <a:latin typeface="Garamond" pitchFamily="34" charset="0"/>
                <a:ea typeface="Garamond" pitchFamily="34" charset="-122"/>
                <a:cs typeface="Garamond" pitchFamily="34" charset="-120"/>
              </a:rPr>
              <a:t>Release mechanism versus typical SMA devices</a:t>
            </a:r>
            <a:endParaRPr lang="en-US" sz="13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040880" y="1874520"/>
          <a:ext cx="4315968" cy="914400"/>
        </p:xfrm>
        <a:graphic>
          <a:graphicData uri="http://schemas.openxmlformats.org/drawingml/2006/table">
            <a:tbl>
              <a:tblPr/>
              <a:tblGrid>
                <a:gridCol w="1481328">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566928">
                <a:tc>
                  <a:txBody>
                    <a:bodyPr/>
                    <a:lstStyle/>
                    <a:p>
                      <a:pPr marL="0" indent="0">
                        <a:buNone/>
                      </a:pP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10222F"/>
                    </a:solidFill>
                  </a:tcPr>
                </a:tc>
                <a:tc>
                  <a:txBody>
                    <a:bodyPr/>
                    <a:lstStyle/>
                    <a:p>
                      <a:pPr marL="0" indent="0">
                        <a:buNone/>
                      </a:pPr>
                      <a:r>
                        <a:rPr lang="en-US" sz="950" b="1" dirty="0">
                          <a:solidFill>
                            <a:srgbClr val="FFFFFF"/>
                          </a:solidFill>
                          <a:latin typeface="Garamond" pitchFamily="34" charset="0"/>
                          <a:ea typeface="Garamond" pitchFamily="34" charset="-122"/>
                          <a:cs typeface="Garamond" pitchFamily="34" charset="-120"/>
                        </a:rPr>
                        <a:t>Heliospace</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10222F"/>
                    </a:solidFill>
                  </a:tcPr>
                </a:tc>
                <a:tc>
                  <a:txBody>
                    <a:bodyPr/>
                    <a:lstStyle/>
                    <a:p>
                      <a:pPr marL="0" indent="0">
                        <a:buNone/>
                      </a:pPr>
                      <a:r>
                        <a:rPr lang="en-US" sz="950" b="1" dirty="0">
                          <a:solidFill>
                            <a:srgbClr val="FFFFFF"/>
                          </a:solidFill>
                          <a:latin typeface="Garamond" pitchFamily="34" charset="0"/>
                          <a:ea typeface="Garamond" pitchFamily="34" charset="-122"/>
                          <a:cs typeface="Garamond" pitchFamily="34" charset="-120"/>
                        </a:rPr>
                        <a:t>Typical SMA HDRM</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10222F"/>
                    </a:solidFill>
                  </a:tcPr>
                </a:tc>
                <a:extLst>
                  <a:ext uri="{0D108BD9-81ED-4DB2-BD59-A6C34878D82A}">
                    <a16:rowId xmlns:a16="http://schemas.microsoft.com/office/drawing/2014/main" val="10000"/>
                  </a:ext>
                </a:extLst>
              </a:tr>
              <a:tr h="566928">
                <a:tc>
                  <a:txBody>
                    <a:bodyPr/>
                    <a:lstStyle/>
                    <a:p>
                      <a:pPr marL="0" indent="0">
                        <a:buNone/>
                      </a:pPr>
                      <a:r>
                        <a:rPr lang="en-US" sz="950" b="1" dirty="0">
                          <a:solidFill>
                            <a:srgbClr val="10222F"/>
                          </a:solidFill>
                          <a:latin typeface="Garamond" pitchFamily="34" charset="0"/>
                          <a:ea typeface="Garamond" pitchFamily="34" charset="-122"/>
                          <a:cs typeface="Garamond" pitchFamily="34" charset="-120"/>
                        </a:rPr>
                        <a:t>Pre deploy temperature</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marL="0" indent="0">
                        <a:buNone/>
                      </a:pPr>
                      <a:r>
                        <a:rPr lang="en-US" sz="950" dirty="0">
                          <a:solidFill>
                            <a:srgbClr val="1E2A33"/>
                          </a:solidFill>
                          <a:latin typeface="Garamond" pitchFamily="34" charset="0"/>
                          <a:ea typeface="Garamond" pitchFamily="34" charset="-122"/>
                          <a:cs typeface="Garamond" pitchFamily="34" charset="-120"/>
                        </a:rPr>
                        <a:t>Above 150 C</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marL="0" indent="0">
                        <a:buNone/>
                      </a:pPr>
                      <a:r>
                        <a:rPr lang="en-US" sz="950" dirty="0">
                          <a:solidFill>
                            <a:srgbClr val="1E2A33"/>
                          </a:solidFill>
                          <a:latin typeface="Garamond" pitchFamily="34" charset="0"/>
                          <a:ea typeface="Garamond" pitchFamily="34" charset="-122"/>
                          <a:cs typeface="Garamond" pitchFamily="34" charset="-120"/>
                        </a:rPr>
                        <a:t>90 to 120 C</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extLst>
                  <a:ext uri="{0D108BD9-81ED-4DB2-BD59-A6C34878D82A}">
                    <a16:rowId xmlns:a16="http://schemas.microsoft.com/office/drawing/2014/main" val="10001"/>
                  </a:ext>
                </a:extLst>
              </a:tr>
              <a:tr h="566928">
                <a:tc>
                  <a:txBody>
                    <a:bodyPr/>
                    <a:lstStyle/>
                    <a:p>
                      <a:pPr marL="0" indent="0">
                        <a:buNone/>
                      </a:pPr>
                      <a:r>
                        <a:rPr lang="en-US" sz="950" b="1" dirty="0">
                          <a:solidFill>
                            <a:srgbClr val="10222F"/>
                          </a:solidFill>
                          <a:latin typeface="Garamond" pitchFamily="34" charset="0"/>
                          <a:ea typeface="Garamond" pitchFamily="34" charset="-122"/>
                          <a:cs typeface="Garamond" pitchFamily="34" charset="-120"/>
                        </a:rPr>
                        <a:t>Stowed length</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marL="0" indent="0">
                        <a:buNone/>
                      </a:pPr>
                      <a:r>
                        <a:rPr lang="en-US" sz="950" dirty="0">
                          <a:solidFill>
                            <a:srgbClr val="1E2A33"/>
                          </a:solidFill>
                          <a:latin typeface="Garamond" pitchFamily="34" charset="0"/>
                          <a:ea typeface="Garamond" pitchFamily="34" charset="-122"/>
                          <a:cs typeface="Garamond" pitchFamily="34" charset="-120"/>
                        </a:rPr>
                        <a:t>About one third of comparable devices</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marL="0" indent="0">
                        <a:buNone/>
                      </a:pPr>
                      <a:r>
                        <a:rPr lang="en-US" sz="950" dirty="0">
                          <a:solidFill>
                            <a:srgbClr val="1E2A33"/>
                          </a:solidFill>
                          <a:latin typeface="Garamond" pitchFamily="34" charset="0"/>
                          <a:ea typeface="Garamond" pitchFamily="34" charset="-122"/>
                          <a:cs typeface="Garamond" pitchFamily="34" charset="-120"/>
                        </a:rPr>
                        <a:t>About 3x axial height</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950" b="1" dirty="0">
                          <a:solidFill>
                            <a:srgbClr val="10222F"/>
                          </a:solidFill>
                          <a:latin typeface="Garamond" pitchFamily="34" charset="0"/>
                          <a:ea typeface="Garamond" pitchFamily="34" charset="-122"/>
                          <a:cs typeface="Garamond" pitchFamily="34" charset="-120"/>
                        </a:rPr>
                        <a:t>Redundancy</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marL="0" indent="0">
                        <a:buNone/>
                      </a:pPr>
                      <a:r>
                        <a:rPr lang="en-US" sz="950" dirty="0">
                          <a:solidFill>
                            <a:srgbClr val="1E2A33"/>
                          </a:solidFill>
                          <a:latin typeface="Garamond" pitchFamily="34" charset="0"/>
                          <a:ea typeface="Garamond" pitchFamily="34" charset="-122"/>
                          <a:cs typeface="Garamond" pitchFamily="34" charset="-120"/>
                        </a:rPr>
                        <a:t>Redundant circuits and actuation</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tc>
                  <a:txBody>
                    <a:bodyPr/>
                    <a:lstStyle/>
                    <a:p>
                      <a:pPr marL="0" indent="0">
                        <a:buNone/>
                      </a:pPr>
                      <a:r>
                        <a:rPr lang="en-US" sz="950" dirty="0">
                          <a:solidFill>
                            <a:srgbClr val="1E2A33"/>
                          </a:solidFill>
                          <a:latin typeface="Garamond" pitchFamily="34" charset="0"/>
                          <a:ea typeface="Garamond" pitchFamily="34" charset="-122"/>
                          <a:cs typeface="Garamond" pitchFamily="34" charset="-120"/>
                        </a:rPr>
                        <a:t>Not redundant at this size</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3F7FA"/>
                    </a:solidFill>
                  </a:tcPr>
                </a:tc>
                <a:extLst>
                  <a:ext uri="{0D108BD9-81ED-4DB2-BD59-A6C34878D82A}">
                    <a16:rowId xmlns:a16="http://schemas.microsoft.com/office/drawing/2014/main" val="10003"/>
                  </a:ext>
                </a:extLst>
              </a:tr>
              <a:tr h="566928">
                <a:tc>
                  <a:txBody>
                    <a:bodyPr/>
                    <a:lstStyle/>
                    <a:p>
                      <a:pPr marL="0" indent="0">
                        <a:buNone/>
                      </a:pPr>
                      <a:r>
                        <a:rPr lang="en-US" sz="950" b="1" dirty="0">
                          <a:solidFill>
                            <a:srgbClr val="10222F"/>
                          </a:solidFill>
                          <a:latin typeface="Garamond" pitchFamily="34" charset="0"/>
                          <a:ea typeface="Garamond" pitchFamily="34" charset="-122"/>
                          <a:cs typeface="Garamond" pitchFamily="34" charset="-120"/>
                        </a:rPr>
                        <a:t>Reuse</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marL="0" indent="0">
                        <a:buNone/>
                      </a:pPr>
                      <a:r>
                        <a:rPr lang="en-US" sz="950" dirty="0">
                          <a:solidFill>
                            <a:srgbClr val="1E2A33"/>
                          </a:solidFill>
                          <a:latin typeface="Garamond" pitchFamily="34" charset="0"/>
                          <a:ea typeface="Garamond" pitchFamily="34" charset="-122"/>
                          <a:cs typeface="Garamond" pitchFamily="34" charset="-120"/>
                        </a:rPr>
                        <a:t>Re usable, non explosive</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tc>
                  <a:txBody>
                    <a:bodyPr/>
                    <a:lstStyle/>
                    <a:p>
                      <a:pPr marL="0" indent="0">
                        <a:buNone/>
                      </a:pPr>
                      <a:r>
                        <a:rPr lang="en-US" sz="950" dirty="0">
                          <a:solidFill>
                            <a:srgbClr val="1E2A33"/>
                          </a:solidFill>
                          <a:latin typeface="Garamond" pitchFamily="34" charset="0"/>
                          <a:ea typeface="Garamond" pitchFamily="34" charset="-122"/>
                          <a:cs typeface="Garamond" pitchFamily="34" charset="-120"/>
                        </a:rPr>
                        <a:t>Single use or custom</a:t>
                      </a:r>
                      <a:endParaRPr lang="en-US" sz="950" dirty="0">
                        <a:latin typeface="Garamond" charset="0"/>
                        <a:ea typeface="Garamond" charset="0"/>
                        <a:cs typeface="Garamond" charset="0"/>
                      </a:endParaRPr>
                    </a:p>
                  </a:txBody>
                  <a:tcPr marL="45720" marR="45720" anchor="ctr">
                    <a:lnL w="6350" cap="flat" cmpd="sng" algn="ctr">
                      <a:solidFill>
                        <a:srgbClr val="C6D2DA"/>
                      </a:solidFill>
                      <a:prstDash val="solid"/>
                      <a:round/>
                      <a:headEnd type="none" w="med" len="med"/>
                      <a:tailEnd type="none" w="med" len="med"/>
                    </a:lnL>
                    <a:lnR w="6350" cap="flat" cmpd="sng" algn="ctr">
                      <a:solidFill>
                        <a:srgbClr val="C6D2DA"/>
                      </a:solidFill>
                      <a:prstDash val="solid"/>
                      <a:round/>
                      <a:headEnd type="none" w="med" len="med"/>
                      <a:tailEnd type="none" w="med" len="med"/>
                    </a:lnR>
                    <a:lnT w="6350" cap="flat" cmpd="sng" algn="ctr">
                      <a:solidFill>
                        <a:srgbClr val="C6D2DA"/>
                      </a:solidFill>
                      <a:prstDash val="solid"/>
                      <a:round/>
                      <a:headEnd type="none" w="med" len="med"/>
                      <a:tailEnd type="none" w="med" len="med"/>
                    </a:lnT>
                    <a:lnB w="6350" cap="flat" cmpd="sng" algn="ctr">
                      <a:solidFill>
                        <a:srgbClr val="C6D2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Text 21"/>
          <p:cNvSpPr/>
          <p:nvPr/>
        </p:nvSpPr>
        <p:spPr>
          <a:xfrm>
            <a:off x="7040880" y="4846320"/>
            <a:ext cx="4297680" cy="256032"/>
          </a:xfrm>
          <a:prstGeom prst="rect">
            <a:avLst/>
          </a:prstGeom>
          <a:noFill/>
          <a:ln/>
        </p:spPr>
        <p:txBody>
          <a:bodyPr wrap="square" lIns="0" tIns="0" rIns="0" bIns="0" rtlCol="0" anchor="ctr"/>
          <a:lstStyle/>
          <a:p>
            <a:pPr marL="0" indent="0">
              <a:buNone/>
            </a:pPr>
            <a:r>
              <a:rPr lang="en-US" sz="900" i="1" dirty="0">
                <a:solidFill>
                  <a:srgbClr val="5C6B76"/>
                </a:solidFill>
                <a:latin typeface="Garamond" pitchFamily="34" charset="0"/>
                <a:ea typeface="Garamond" pitchFamily="34" charset="-122"/>
                <a:cs typeface="Garamond" pitchFamily="34" charset="-120"/>
              </a:rPr>
              <a:t>Source: Heliospace SB2 development program comparison.</a:t>
            </a:r>
            <a:endParaRPr lang="en-US" sz="900" dirty="0"/>
          </a:p>
        </p:txBody>
      </p:sp>
      <p:sp>
        <p:nvSpPr>
          <p:cNvPr id="26" name="Shape 4"/>
          <p:cNvSpPr/>
          <p:nvPr/>
        </p:nvSpPr>
        <p:spPr>
          <a:xfrm>
            <a:off x="822960" y="5321808"/>
            <a:ext cx="347472" cy="347472"/>
          </a:xfrm>
          <a:prstGeom prst="ellipse">
            <a:avLst/>
          </a:prstGeom>
          <a:solidFill>
            <a:srgbClr val="007BCB"/>
          </a:solidFill>
          <a:ln/>
        </p:spPr>
        <p:txBody>
          <a:bodyPr/>
          <a:lstStyle/>
          <a:p>
            <a:endParaRPr/>
          </a:p>
        </p:txBody>
      </p:sp>
      <p:sp>
        <p:nvSpPr>
          <p:cNvPr id="27" name="Text 5"/>
          <p:cNvSpPr/>
          <p:nvPr/>
        </p:nvSpPr>
        <p:spPr>
          <a:xfrm>
            <a:off x="822960" y="532180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Garamond" pitchFamily="34" charset="0"/>
                <a:ea typeface="Garamond" pitchFamily="34" charset="-122"/>
                <a:cs typeface="Garamond" pitchFamily="34" charset="-120"/>
              </a:rPr>
              <a:t>5</a:t>
            </a:r>
            <a:endParaRPr lang="en-US" sz="1400" dirty="0"/>
          </a:p>
        </p:txBody>
      </p:sp>
      <p:sp>
        <p:nvSpPr>
          <p:cNvPr id="28" name="Text 6"/>
          <p:cNvSpPr/>
          <p:nvPr/>
        </p:nvSpPr>
        <p:spPr>
          <a:xfrm>
            <a:off x="1325880" y="5294376"/>
            <a:ext cx="5120640" cy="274320"/>
          </a:xfrm>
          <a:prstGeom prst="rect">
            <a:avLst/>
          </a:prstGeom>
          <a:noFill/>
          <a:ln/>
        </p:spPr>
        <p:txBody>
          <a:bodyPr wrap="square" lIns="0" tIns="0" rIns="0" bIns="0" rtlCol="0" anchor="ctr"/>
          <a:lstStyle/>
          <a:p>
            <a:pPr marL="0" indent="0">
              <a:buNone/>
            </a:pPr>
            <a:r>
              <a:rPr lang="en-US" sz="1450" b="1" dirty="0">
                <a:solidFill>
                  <a:srgbClr val="10222F"/>
                </a:solidFill>
                <a:latin typeface="Garamond" pitchFamily="34" charset="0"/>
                <a:ea typeface="Garamond" pitchFamily="34" charset="-122"/>
                <a:cs typeface="Garamond" pitchFamily="34" charset="-120"/>
              </a:rPr>
              <a:t>A flexible partner</a:t>
            </a:r>
            <a:endParaRPr lang="en-US" sz="1450" dirty="0"/>
          </a:p>
        </p:txBody>
      </p:sp>
      <p:sp>
        <p:nvSpPr>
          <p:cNvPr id="29" name="Text 7"/>
          <p:cNvSpPr/>
          <p:nvPr/>
        </p:nvSpPr>
        <p:spPr>
          <a:xfrm>
            <a:off x="1325880" y="5605272"/>
            <a:ext cx="5166360" cy="658368"/>
          </a:xfrm>
          <a:prstGeom prst="rect">
            <a:avLst/>
          </a:prstGeom>
          <a:noFill/>
          <a:ln/>
        </p:spPr>
        <p:txBody>
          <a:bodyPr wrap="square" lIns="0" tIns="0" rIns="0" bIns="0" rtlCol="0" anchor="t"/>
          <a:lstStyle/>
          <a:p>
            <a:pPr marL="0" indent="0">
              <a:lnSpc>
                <a:spcPct val="103000"/>
              </a:lnSpc>
              <a:buNone/>
            </a:pPr>
            <a:r>
              <a:rPr lang="en-US" sz="1100" dirty="0">
                <a:solidFill>
                  <a:srgbClr val="1E2A33"/>
                </a:solidFill>
                <a:latin typeface="Garamond" pitchFamily="34" charset="0"/>
                <a:ea typeface="Garamond" pitchFamily="34" charset="-122"/>
                <a:cs typeface="Garamond" pitchFamily="34" charset="-120"/>
              </a:rPr>
              <a:t>Customized systems rather than only standardized products, for government agencies, private aerospace companies, universities, and research organizations.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CLIENT BASE</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Customers Who Validate the Technology</a:t>
            </a:r>
            <a:endParaRPr lang="en-US" sz="2900" dirty="0"/>
          </a:p>
        </p:txBody>
      </p:sp>
      <p:pic>
        <p:nvPicPr>
          <p:cNvPr id="4" name="Image 0" descr="assets/logo_dark.jpg"/>
          <p:cNvPicPr>
            <a:picLocks noChangeAspect="1"/>
          </p:cNvPicPr>
          <p:nvPr/>
        </p:nvPicPr>
        <p:blipFill>
          <a:blip r:embed="rId3"/>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13</a:t>
            </a:r>
            <a:endParaRPr lang="en-US" sz="850" dirty="0"/>
          </a:p>
        </p:txBody>
      </p:sp>
      <p:sp>
        <p:nvSpPr>
          <p:cNvPr id="7" name="Text 4"/>
          <p:cNvSpPr/>
          <p:nvPr/>
        </p:nvSpPr>
        <p:spPr>
          <a:xfrm>
            <a:off x="822960" y="1463040"/>
            <a:ext cx="6217920" cy="256032"/>
          </a:xfrm>
          <a:prstGeom prst="rect">
            <a:avLst/>
          </a:prstGeom>
          <a:noFill/>
          <a:ln/>
        </p:spPr>
        <p:txBody>
          <a:bodyPr wrap="square" lIns="0" tIns="0" rIns="0" bIns="0" rtlCol="0" anchor="ctr"/>
          <a:lstStyle/>
          <a:p>
            <a:pPr marL="0" indent="0">
              <a:buNone/>
            </a:pPr>
            <a:r>
              <a:rPr lang="en-US" sz="1350" b="1" dirty="0">
                <a:solidFill>
                  <a:srgbClr val="007BCB"/>
                </a:solidFill>
                <a:latin typeface="Garamond" pitchFamily="34" charset="0"/>
                <a:ea typeface="Garamond" pitchFamily="34" charset="-122"/>
                <a:cs typeface="Garamond" pitchFamily="34" charset="-120"/>
              </a:rPr>
              <a:t>Civil space science</a:t>
            </a:r>
            <a:endParaRPr lang="en-US" sz="1350" dirty="0"/>
          </a:p>
        </p:txBody>
      </p:sp>
      <p:sp>
        <p:nvSpPr>
          <p:cNvPr id="8" name="Text 5"/>
          <p:cNvSpPr/>
          <p:nvPr/>
        </p:nvSpPr>
        <p:spPr>
          <a:xfrm>
            <a:off x="822960" y="1737360"/>
            <a:ext cx="6263640" cy="502920"/>
          </a:xfrm>
          <a:prstGeom prst="rect">
            <a:avLst/>
          </a:prstGeom>
          <a:noFill/>
          <a:ln/>
        </p:spPr>
        <p:txBody>
          <a:bodyPr wrap="square" lIns="0" tIns="0" rIns="0" bIns="0" rtlCol="0" anchor="t"/>
          <a:lstStyle/>
          <a:p>
            <a:pPr marL="0" indent="0">
              <a:buNone/>
            </a:pPr>
            <a:r>
              <a:rPr lang="en-US" sz="1150" dirty="0">
                <a:solidFill>
                  <a:srgbClr val="1E2A33"/>
                </a:solidFill>
                <a:latin typeface="Garamond" pitchFamily="34" charset="0"/>
                <a:ea typeface="Garamond" pitchFamily="34" charset="-122"/>
                <a:cs typeface="Garamond" pitchFamily="34" charset="-120"/>
              </a:rPr>
              <a:t>NASA JPL, NASA Goddard, Caltech, UC Berkeley Space Sciences Laboratory</a:t>
            </a:r>
            <a:endParaRPr lang="en-US" sz="1150" dirty="0"/>
          </a:p>
        </p:txBody>
      </p:sp>
      <p:sp>
        <p:nvSpPr>
          <p:cNvPr id="9" name="Text 6"/>
          <p:cNvSpPr/>
          <p:nvPr/>
        </p:nvSpPr>
        <p:spPr>
          <a:xfrm>
            <a:off x="822960" y="2359152"/>
            <a:ext cx="6217920" cy="256032"/>
          </a:xfrm>
          <a:prstGeom prst="rect">
            <a:avLst/>
          </a:prstGeom>
          <a:noFill/>
          <a:ln/>
        </p:spPr>
        <p:txBody>
          <a:bodyPr wrap="square" lIns="0" tIns="0" rIns="0" bIns="0" rtlCol="0" anchor="ctr"/>
          <a:lstStyle/>
          <a:p>
            <a:pPr marL="0" indent="0">
              <a:buNone/>
            </a:pPr>
            <a:r>
              <a:rPr lang="en-US" sz="1350" b="1" dirty="0">
                <a:solidFill>
                  <a:srgbClr val="007BCB"/>
                </a:solidFill>
                <a:latin typeface="Garamond" pitchFamily="34" charset="0"/>
                <a:ea typeface="Garamond" pitchFamily="34" charset="-122"/>
                <a:cs typeface="Garamond" pitchFamily="34" charset="-120"/>
              </a:rPr>
              <a:t>Commercial lunar</a:t>
            </a:r>
            <a:endParaRPr lang="en-US" sz="1350" dirty="0"/>
          </a:p>
        </p:txBody>
      </p:sp>
      <p:sp>
        <p:nvSpPr>
          <p:cNvPr id="10" name="Text 7"/>
          <p:cNvSpPr/>
          <p:nvPr/>
        </p:nvSpPr>
        <p:spPr>
          <a:xfrm>
            <a:off x="822960" y="2633472"/>
            <a:ext cx="6263640" cy="502920"/>
          </a:xfrm>
          <a:prstGeom prst="rect">
            <a:avLst/>
          </a:prstGeom>
          <a:noFill/>
          <a:ln/>
        </p:spPr>
        <p:txBody>
          <a:bodyPr wrap="square" lIns="0" tIns="0" rIns="0" bIns="0" rtlCol="0" anchor="t"/>
          <a:lstStyle/>
          <a:p>
            <a:pPr marL="0" indent="0">
              <a:buNone/>
            </a:pPr>
            <a:r>
              <a:rPr lang="en-US" sz="1150" dirty="0">
                <a:solidFill>
                  <a:srgbClr val="1E2A33"/>
                </a:solidFill>
                <a:latin typeface="Garamond" pitchFamily="34" charset="0"/>
                <a:ea typeface="Garamond" pitchFamily="34" charset="-122"/>
                <a:cs typeface="Garamond" pitchFamily="34" charset="-120"/>
              </a:rPr>
              <a:t>Firefly Aerospace, Intuitive Machines, SwRI, Draper and iSpace mission teams</a:t>
            </a:r>
            <a:endParaRPr lang="en-US" sz="1150" dirty="0"/>
          </a:p>
        </p:txBody>
      </p:sp>
      <p:sp>
        <p:nvSpPr>
          <p:cNvPr id="11" name="Text 8"/>
          <p:cNvSpPr/>
          <p:nvPr/>
        </p:nvSpPr>
        <p:spPr>
          <a:xfrm>
            <a:off x="822960" y="3255264"/>
            <a:ext cx="6217920" cy="256032"/>
          </a:xfrm>
          <a:prstGeom prst="rect">
            <a:avLst/>
          </a:prstGeom>
          <a:noFill/>
          <a:ln/>
        </p:spPr>
        <p:txBody>
          <a:bodyPr wrap="square" lIns="0" tIns="0" rIns="0" bIns="0" rtlCol="0" anchor="ctr"/>
          <a:lstStyle/>
          <a:p>
            <a:pPr marL="0" indent="0">
              <a:buNone/>
            </a:pPr>
            <a:r>
              <a:rPr lang="en-US" sz="1350" b="1" dirty="0">
                <a:solidFill>
                  <a:srgbClr val="007BCB"/>
                </a:solidFill>
                <a:latin typeface="Garamond" pitchFamily="34" charset="0"/>
                <a:ea typeface="Garamond" pitchFamily="34" charset="-122"/>
                <a:cs typeface="Garamond" pitchFamily="34" charset="-120"/>
              </a:rPr>
              <a:t>Flagship programs</a:t>
            </a:r>
            <a:endParaRPr lang="en-US" sz="1350" dirty="0"/>
          </a:p>
        </p:txBody>
      </p:sp>
      <p:sp>
        <p:nvSpPr>
          <p:cNvPr id="12" name="Text 9"/>
          <p:cNvSpPr/>
          <p:nvPr/>
        </p:nvSpPr>
        <p:spPr>
          <a:xfrm>
            <a:off x="822960" y="3529584"/>
            <a:ext cx="6263640" cy="502920"/>
          </a:xfrm>
          <a:prstGeom prst="rect">
            <a:avLst/>
          </a:prstGeom>
          <a:noFill/>
          <a:ln/>
        </p:spPr>
        <p:txBody>
          <a:bodyPr wrap="square" lIns="0" tIns="0" rIns="0" bIns="0" rtlCol="0" anchor="t"/>
          <a:lstStyle/>
          <a:p>
            <a:pPr marL="0" indent="0">
              <a:buNone/>
            </a:pPr>
            <a:r>
              <a:rPr lang="en-US" sz="1150" dirty="0">
                <a:solidFill>
                  <a:srgbClr val="1E2A33"/>
                </a:solidFill>
                <a:latin typeface="Garamond" pitchFamily="34" charset="0"/>
                <a:ea typeface="Garamond" pitchFamily="34" charset="-122"/>
                <a:cs typeface="Garamond" pitchFamily="34" charset="-120"/>
              </a:rPr>
              <a:t>James Webb Space Telescope support; Mars Sample Return concept studies</a:t>
            </a:r>
            <a:endParaRPr lang="en-US" sz="1150" dirty="0"/>
          </a:p>
        </p:txBody>
      </p:sp>
      <p:sp>
        <p:nvSpPr>
          <p:cNvPr id="13" name="Text 10"/>
          <p:cNvSpPr/>
          <p:nvPr/>
        </p:nvSpPr>
        <p:spPr>
          <a:xfrm>
            <a:off x="822960" y="4151376"/>
            <a:ext cx="6217920" cy="256032"/>
          </a:xfrm>
          <a:prstGeom prst="rect">
            <a:avLst/>
          </a:prstGeom>
          <a:noFill/>
          <a:ln/>
        </p:spPr>
        <p:txBody>
          <a:bodyPr wrap="square" lIns="0" tIns="0" rIns="0" bIns="0" rtlCol="0" anchor="ctr"/>
          <a:lstStyle/>
          <a:p>
            <a:pPr marL="0" indent="0">
              <a:buNone/>
            </a:pPr>
            <a:r>
              <a:rPr lang="en-US" sz="1350" b="1" dirty="0">
                <a:solidFill>
                  <a:srgbClr val="007BCB"/>
                </a:solidFill>
                <a:latin typeface="Garamond" pitchFamily="34" charset="0"/>
                <a:ea typeface="Garamond" pitchFamily="34" charset="-122"/>
                <a:cs typeface="Garamond" pitchFamily="34" charset="-120"/>
              </a:rPr>
              <a:t>Commercial and philanthropic</a:t>
            </a:r>
            <a:endParaRPr lang="en-US" sz="1350" dirty="0"/>
          </a:p>
        </p:txBody>
      </p:sp>
      <p:sp>
        <p:nvSpPr>
          <p:cNvPr id="14" name="Text 11"/>
          <p:cNvSpPr/>
          <p:nvPr/>
        </p:nvSpPr>
        <p:spPr>
          <a:xfrm>
            <a:off x="822960" y="4425696"/>
            <a:ext cx="6263640" cy="502920"/>
          </a:xfrm>
          <a:prstGeom prst="rect">
            <a:avLst/>
          </a:prstGeom>
          <a:noFill/>
          <a:ln/>
        </p:spPr>
        <p:txBody>
          <a:bodyPr wrap="square" lIns="0" tIns="0" rIns="0" bIns="0" rtlCol="0" anchor="t"/>
          <a:lstStyle/>
          <a:p>
            <a:pPr marL="0" indent="0">
              <a:buNone/>
            </a:pPr>
            <a:r>
              <a:rPr lang="en-US" sz="1150" dirty="0">
                <a:solidFill>
                  <a:srgbClr val="1E2A33"/>
                </a:solidFill>
                <a:latin typeface="Garamond" pitchFamily="34" charset="0"/>
                <a:ea typeface="Garamond" pitchFamily="34" charset="-122"/>
                <a:cs typeface="Garamond" pitchFamily="34" charset="-120"/>
              </a:rPr>
              <a:t>Honeybee Robotics and Blue Origin lander work; Breakthrough Foundation farside mission</a:t>
            </a:r>
            <a:endParaRPr lang="en-US" sz="1150" dirty="0"/>
          </a:p>
        </p:txBody>
      </p:sp>
      <p:sp>
        <p:nvSpPr>
          <p:cNvPr id="15" name="Text 12"/>
          <p:cNvSpPr/>
          <p:nvPr/>
        </p:nvSpPr>
        <p:spPr>
          <a:xfrm>
            <a:off x="822960" y="5074920"/>
            <a:ext cx="3657600" cy="274320"/>
          </a:xfrm>
          <a:prstGeom prst="rect">
            <a:avLst/>
          </a:prstGeom>
          <a:noFill/>
          <a:ln/>
        </p:spPr>
        <p:txBody>
          <a:bodyPr wrap="square" lIns="0" tIns="0" rIns="0" bIns="0" rtlCol="0" anchor="ctr"/>
          <a:lstStyle/>
          <a:p>
            <a:pPr marL="0" indent="0">
              <a:buNone/>
            </a:pPr>
            <a:r>
              <a:rPr lang="en-US" sz="1350" b="1" dirty="0">
                <a:solidFill>
                  <a:srgbClr val="10222F"/>
                </a:solidFill>
                <a:latin typeface="Garamond" pitchFamily="34" charset="0"/>
                <a:ea typeface="Garamond" pitchFamily="34" charset="-122"/>
                <a:cs typeface="Garamond" pitchFamily="34" charset="-120"/>
              </a:rPr>
              <a:t>Why they stay</a:t>
            </a:r>
            <a:endParaRPr lang="en-US" sz="1350" dirty="0"/>
          </a:p>
        </p:txBody>
      </p:sp>
      <p:sp>
        <p:nvSpPr>
          <p:cNvPr id="16" name="Text 13"/>
          <p:cNvSpPr/>
          <p:nvPr/>
        </p:nvSpPr>
        <p:spPr>
          <a:xfrm>
            <a:off x="822960" y="5394960"/>
            <a:ext cx="6217920" cy="1005840"/>
          </a:xfrm>
          <a:prstGeom prst="rect">
            <a:avLst/>
          </a:prstGeom>
          <a:noFill/>
          <a:ln/>
        </p:spPr>
        <p:txBody>
          <a:bodyPr wrap="square" lIns="0" tIns="0" rIns="0" bIns="0" rtlCol="0" anchor="t"/>
          <a:lstStyle/>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Supplier of record on marquee missions</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On schedule delivery for launch critical payloads</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Repeat awards across programs and platforms</a:t>
            </a:r>
            <a:endParaRPr lang="en-US" sz="1100" dirty="0"/>
          </a:p>
        </p:txBody>
      </p:sp>
      <p:pic>
        <p:nvPicPr>
          <p:cNvPr id="17" name="Image 1" descr="assets/s11_team.jpg"/>
          <p:cNvPicPr>
            <a:picLocks noChangeAspect="1"/>
          </p:cNvPicPr>
          <p:nvPr/>
        </p:nvPicPr>
        <p:blipFill>
          <a:blip r:embed="rId4"/>
          <a:stretch>
            <a:fillRect/>
          </a:stretch>
        </p:blipFill>
        <p:spPr>
          <a:xfrm>
            <a:off x="7360920" y="1463040"/>
            <a:ext cx="4005072" cy="2670048"/>
          </a:xfrm>
          <a:prstGeom prst="rect">
            <a:avLst/>
          </a:prstGeom>
        </p:spPr>
      </p:pic>
      <p:sp>
        <p:nvSpPr>
          <p:cNvPr id="18" name="Shape 14"/>
          <p:cNvSpPr/>
          <p:nvPr/>
        </p:nvSpPr>
        <p:spPr>
          <a:xfrm>
            <a:off x="7360920" y="1463040"/>
            <a:ext cx="4005072" cy="2670048"/>
          </a:xfrm>
          <a:prstGeom prst="rect">
            <a:avLst/>
          </a:prstGeom>
          <a:ln w="12700">
            <a:solidFill>
              <a:srgbClr val="C6D2DA"/>
            </a:solidFill>
            <a:prstDash val="solid"/>
          </a:ln>
        </p:spPr>
        <p:txBody>
          <a:bodyPr/>
          <a:lstStyle/>
          <a:p>
            <a:endParaRPr/>
          </a:p>
        </p:txBody>
      </p:sp>
      <p:sp>
        <p:nvSpPr>
          <p:cNvPr id="19" name="Text 15"/>
          <p:cNvSpPr/>
          <p:nvPr/>
        </p:nvSpPr>
        <p:spPr>
          <a:xfrm>
            <a:off x="7360920" y="4160520"/>
            <a:ext cx="4005072" cy="274320"/>
          </a:xfrm>
          <a:prstGeom prst="rect">
            <a:avLst/>
          </a:prstGeom>
          <a:noFill/>
          <a:ln/>
        </p:spPr>
        <p:txBody>
          <a:bodyPr wrap="square" lIns="0" tIns="0" rIns="0" bIns="0" rtlCol="0" anchor="ctr"/>
          <a:lstStyle/>
          <a:p>
            <a:pPr marL="0" indent="0">
              <a:buNone/>
            </a:pPr>
            <a:r>
              <a:rPr lang="en-US" sz="950" i="1" dirty="0">
                <a:solidFill>
                  <a:srgbClr val="5C6B76"/>
                </a:solidFill>
                <a:latin typeface="Garamond" pitchFamily="34" charset="0"/>
                <a:ea typeface="Garamond" pitchFamily="34" charset="-122"/>
                <a:cs typeface="Garamond" pitchFamily="34" charset="-120"/>
              </a:rPr>
              <a:t>Flight hardware assembly at the Berkeley facility.</a:t>
            </a:r>
            <a:endParaRPr lang="en-US" sz="950" dirty="0"/>
          </a:p>
        </p:txBody>
      </p:sp>
      <p:sp>
        <p:nvSpPr>
          <p:cNvPr id="20" name="Shape 16"/>
          <p:cNvSpPr/>
          <p:nvPr/>
        </p:nvSpPr>
        <p:spPr>
          <a:xfrm>
            <a:off x="7360920" y="4617720"/>
            <a:ext cx="4005072" cy="1554480"/>
          </a:xfrm>
          <a:prstGeom prst="roundRect">
            <a:avLst>
              <a:gd name="adj" fmla="val 2941"/>
            </a:avLst>
          </a:prstGeom>
          <a:solidFill>
            <a:srgbClr val="F3F7FA"/>
          </a:solidFill>
          <a:ln/>
        </p:spPr>
        <p:txBody>
          <a:bodyPr/>
          <a:lstStyle/>
          <a:p>
            <a:endParaRPr/>
          </a:p>
        </p:txBody>
      </p:sp>
      <p:sp>
        <p:nvSpPr>
          <p:cNvPr id="21" name="Text 17"/>
          <p:cNvSpPr/>
          <p:nvPr/>
        </p:nvSpPr>
        <p:spPr>
          <a:xfrm>
            <a:off x="7589520" y="4828032"/>
            <a:ext cx="1188720" cy="502920"/>
          </a:xfrm>
          <a:prstGeom prst="rect">
            <a:avLst/>
          </a:prstGeom>
          <a:noFill/>
          <a:ln/>
        </p:spPr>
        <p:txBody>
          <a:bodyPr wrap="square" lIns="0" tIns="0" rIns="0" bIns="0" rtlCol="0" anchor="ctr"/>
          <a:lstStyle/>
          <a:p>
            <a:pPr marL="0" indent="0">
              <a:buNone/>
            </a:pPr>
            <a:r>
              <a:rPr lang="en-US" sz="3000" b="1" dirty="0">
                <a:solidFill>
                  <a:srgbClr val="007BCB"/>
                </a:solidFill>
                <a:latin typeface="Garamond" pitchFamily="34" charset="0"/>
                <a:ea typeface="Garamond" pitchFamily="34" charset="-122"/>
                <a:cs typeface="Garamond" pitchFamily="34" charset="-120"/>
              </a:rPr>
              <a:t>10+</a:t>
            </a:r>
            <a:endParaRPr lang="en-US" sz="3000" dirty="0"/>
          </a:p>
        </p:txBody>
      </p:sp>
      <p:sp>
        <p:nvSpPr>
          <p:cNvPr id="22" name="Text 18"/>
          <p:cNvSpPr/>
          <p:nvPr/>
        </p:nvSpPr>
        <p:spPr>
          <a:xfrm>
            <a:off x="8732520" y="4864608"/>
            <a:ext cx="2514600" cy="1097280"/>
          </a:xfrm>
          <a:prstGeom prst="rect">
            <a:avLst/>
          </a:prstGeom>
          <a:noFill/>
          <a:ln/>
        </p:spPr>
        <p:txBody>
          <a:bodyPr wrap="square" lIns="0" tIns="0" rIns="0" bIns="0" rtlCol="0" anchor="t"/>
          <a:lstStyle/>
          <a:p>
            <a:pPr marL="0" indent="0">
              <a:buNone/>
            </a:pPr>
            <a:r>
              <a:rPr lang="en-US" sz="1150" dirty="0">
                <a:solidFill>
                  <a:srgbClr val="1E2A33"/>
                </a:solidFill>
                <a:latin typeface="Garamond" pitchFamily="34" charset="0"/>
                <a:ea typeface="Garamond" pitchFamily="34" charset="-122"/>
                <a:cs typeface="Garamond" pitchFamily="34" charset="-120"/>
              </a:rPr>
              <a:t>missions supported across NASA, ESA, and commercial programs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CHINA STRATEGY</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A Disciplined Two Phase Approach</a:t>
            </a:r>
            <a:endParaRPr lang="en-US" sz="2900" dirty="0"/>
          </a:p>
        </p:txBody>
      </p:sp>
      <p:pic>
        <p:nvPicPr>
          <p:cNvPr id="4" name="Image 0" descr="assets/logo_dark.jpg"/>
          <p:cNvPicPr>
            <a:picLocks noChangeAspect="1"/>
          </p:cNvPicPr>
          <p:nvPr/>
        </p:nvPicPr>
        <p:blipFill>
          <a:blip r:embed="rId2"/>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15</a:t>
            </a:r>
            <a:endParaRPr lang="en-US" sz="850" dirty="0"/>
          </a:p>
        </p:txBody>
      </p:sp>
      <p:sp>
        <p:nvSpPr>
          <p:cNvPr id="7" name="Text 4"/>
          <p:cNvSpPr/>
          <p:nvPr/>
        </p:nvSpPr>
        <p:spPr>
          <a:xfrm>
            <a:off x="822960" y="1353312"/>
            <a:ext cx="10424160" cy="320040"/>
          </a:xfrm>
          <a:prstGeom prst="rect">
            <a:avLst/>
          </a:prstGeom>
          <a:noFill/>
          <a:ln/>
        </p:spPr>
        <p:txBody>
          <a:bodyPr wrap="square" lIns="0" tIns="0" rIns="0" bIns="0" rtlCol="0" anchor="ctr"/>
          <a:lstStyle/>
          <a:p>
            <a:pPr marL="0" indent="0">
              <a:buNone/>
            </a:pPr>
            <a:r>
              <a:rPr lang="en-US" sz="1300" dirty="0">
                <a:solidFill>
                  <a:srgbClr val="5C6B76"/>
                </a:solidFill>
                <a:latin typeface="Garamond" pitchFamily="34" charset="0"/>
                <a:ea typeface="Garamond" pitchFamily="34" charset="-122"/>
                <a:cs typeface="Garamond" pitchFamily="34" charset="-120"/>
              </a:rPr>
              <a:t>Market entry is sequenced in two phases, with production investment committed only after the quality of orders has been confirmed.</a:t>
            </a:r>
            <a:endParaRPr lang="en-US" sz="1300" dirty="0"/>
          </a:p>
        </p:txBody>
      </p:sp>
      <p:sp>
        <p:nvSpPr>
          <p:cNvPr id="8" name="Shape 4"/>
          <p:cNvSpPr/>
          <p:nvPr/>
        </p:nvSpPr>
        <p:spPr>
          <a:xfrm>
            <a:off x="822960" y="1874519"/>
            <a:ext cx="5175504" cy="3429000"/>
          </a:xfrm>
          <a:prstGeom prst="roundRect">
            <a:avLst>
              <a:gd name="adj" fmla="val 1724"/>
            </a:avLst>
          </a:prstGeom>
          <a:solidFill>
            <a:srgbClr val="F3F7FA"/>
          </a:solidFill>
          <a:ln/>
        </p:spPr>
        <p:txBody>
          <a:bodyPr/>
          <a:lstStyle/>
          <a:p>
            <a:endParaRPr/>
          </a:p>
        </p:txBody>
      </p:sp>
      <p:sp>
        <p:nvSpPr>
          <p:cNvPr id="9" name="Shape 5"/>
          <p:cNvSpPr/>
          <p:nvPr/>
        </p:nvSpPr>
        <p:spPr>
          <a:xfrm>
            <a:off x="1005840" y="2075687"/>
            <a:ext cx="384048" cy="384048"/>
          </a:xfrm>
          <a:prstGeom prst="ellipse">
            <a:avLst/>
          </a:prstGeom>
          <a:solidFill>
            <a:srgbClr val="007BCB"/>
          </a:solidFill>
          <a:ln/>
        </p:spPr>
        <p:txBody>
          <a:bodyPr/>
          <a:lstStyle/>
          <a:p>
            <a:endParaRPr/>
          </a:p>
        </p:txBody>
      </p:sp>
      <p:sp>
        <p:nvSpPr>
          <p:cNvPr id="10" name="Text 6"/>
          <p:cNvSpPr/>
          <p:nvPr/>
        </p:nvSpPr>
        <p:spPr>
          <a:xfrm>
            <a:off x="1005840" y="2075687"/>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aramond" pitchFamily="34" charset="0"/>
                <a:ea typeface="Garamond" pitchFamily="34" charset="-122"/>
                <a:cs typeface="Garamond" pitchFamily="34" charset="-120"/>
              </a:rPr>
              <a:t>1</a:t>
            </a:r>
            <a:endParaRPr lang="en-US" sz="1500" dirty="0"/>
          </a:p>
        </p:txBody>
      </p:sp>
      <p:sp>
        <p:nvSpPr>
          <p:cNvPr id="11" name="Text 7"/>
          <p:cNvSpPr/>
          <p:nvPr/>
        </p:nvSpPr>
        <p:spPr>
          <a:xfrm>
            <a:off x="1005840" y="2606039"/>
            <a:ext cx="4809744" cy="640080"/>
          </a:xfrm>
          <a:prstGeom prst="rect">
            <a:avLst/>
          </a:prstGeom>
          <a:noFill/>
          <a:ln/>
        </p:spPr>
        <p:txBody>
          <a:bodyPr wrap="square" lIns="0" tIns="0" rIns="0" bIns="0" rtlCol="0" anchor="ctr"/>
          <a:lstStyle/>
          <a:p>
            <a:pPr marL="0" indent="0">
              <a:buNone/>
            </a:pPr>
            <a:r>
              <a:rPr lang="en-US" sz="1550" b="1" dirty="0">
                <a:solidFill>
                  <a:srgbClr val="10222F"/>
                </a:solidFill>
                <a:latin typeface="Garamond" pitchFamily="34" charset="0"/>
                <a:ea typeface="Garamond" pitchFamily="34" charset="-122"/>
                <a:cs typeface="Garamond" pitchFamily="34" charset="-120"/>
              </a:rPr>
              <a:t>Sell to Overseas Clients and Take Orders</a:t>
            </a:r>
            <a:endParaRPr lang="en-US" sz="1550" dirty="0"/>
          </a:p>
        </p:txBody>
      </p:sp>
      <p:sp>
        <p:nvSpPr>
          <p:cNvPr id="12" name="Text 8"/>
          <p:cNvSpPr/>
          <p:nvPr/>
        </p:nvSpPr>
        <p:spPr>
          <a:xfrm>
            <a:off x="1005840" y="3337559"/>
            <a:ext cx="4809744" cy="2194560"/>
          </a:xfrm>
          <a:prstGeom prst="rect">
            <a:avLst/>
          </a:prstGeom>
          <a:noFill/>
          <a:ln/>
        </p:spPr>
        <p:txBody>
          <a:bodyPr wrap="square" lIns="0" tIns="0" rIns="0" bIns="0" rtlCol="0" anchor="t"/>
          <a:lstStyle/>
          <a:p>
            <a:pPr marL="0" indent="0">
              <a:lnSpc>
                <a:spcPct val="106000"/>
              </a:lnSpc>
              <a:buNone/>
            </a:pPr>
            <a:r>
              <a:rPr lang="en-US" sz="1100" dirty="0">
                <a:solidFill>
                  <a:srgbClr val="1E2A33"/>
                </a:solidFill>
                <a:latin typeface="Garamond" pitchFamily="34" charset="0"/>
                <a:ea typeface="Garamond" pitchFamily="34" charset="-122"/>
                <a:cs typeface="Garamond" pitchFamily="34" charset="-120"/>
              </a:rPr>
              <a:t>Sell products to overseas clients, establish a base of export customers, and convert engagement into a firm order book. Every component in the current portfolio is available for sale to overseas clients, allowing revenue capture from existing product lines without new development.</a:t>
            </a:r>
            <a:endParaRPr lang="en-US" sz="1100" dirty="0"/>
          </a:p>
        </p:txBody>
      </p:sp>
      <p:sp>
        <p:nvSpPr>
          <p:cNvPr id="13" name="Shape 4"/>
          <p:cNvSpPr/>
          <p:nvPr/>
        </p:nvSpPr>
        <p:spPr>
          <a:xfrm>
            <a:off x="6190488" y="1874519"/>
            <a:ext cx="5175504" cy="3429000"/>
          </a:xfrm>
          <a:prstGeom prst="roundRect">
            <a:avLst>
              <a:gd name="adj" fmla="val 1724"/>
            </a:avLst>
          </a:prstGeom>
          <a:solidFill>
            <a:srgbClr val="F3F7FA"/>
          </a:solidFill>
          <a:ln/>
        </p:spPr>
        <p:txBody>
          <a:bodyPr/>
          <a:lstStyle/>
          <a:p>
            <a:endParaRPr/>
          </a:p>
        </p:txBody>
      </p:sp>
      <p:sp>
        <p:nvSpPr>
          <p:cNvPr id="14" name="Shape 5"/>
          <p:cNvSpPr/>
          <p:nvPr/>
        </p:nvSpPr>
        <p:spPr>
          <a:xfrm>
            <a:off x="6373368" y="2075687"/>
            <a:ext cx="384048" cy="384048"/>
          </a:xfrm>
          <a:prstGeom prst="ellipse">
            <a:avLst/>
          </a:prstGeom>
          <a:solidFill>
            <a:srgbClr val="007BCB"/>
          </a:solidFill>
          <a:ln/>
        </p:spPr>
        <p:txBody>
          <a:bodyPr/>
          <a:lstStyle/>
          <a:p>
            <a:endParaRPr/>
          </a:p>
        </p:txBody>
      </p:sp>
      <p:sp>
        <p:nvSpPr>
          <p:cNvPr id="15" name="Text 6"/>
          <p:cNvSpPr/>
          <p:nvPr/>
        </p:nvSpPr>
        <p:spPr>
          <a:xfrm>
            <a:off x="6373368" y="2075687"/>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aramond" pitchFamily="34" charset="0"/>
                <a:ea typeface="Garamond" pitchFamily="34" charset="-122"/>
                <a:cs typeface="Garamond" pitchFamily="34" charset="-120"/>
              </a:rPr>
              <a:t>2</a:t>
            </a:r>
            <a:endParaRPr lang="en-US" sz="1500" dirty="0"/>
          </a:p>
        </p:txBody>
      </p:sp>
      <p:sp>
        <p:nvSpPr>
          <p:cNvPr id="16" name="Text 7"/>
          <p:cNvSpPr/>
          <p:nvPr/>
        </p:nvSpPr>
        <p:spPr>
          <a:xfrm>
            <a:off x="6373368" y="2606039"/>
            <a:ext cx="4809744" cy="640080"/>
          </a:xfrm>
          <a:prstGeom prst="rect">
            <a:avLst/>
          </a:prstGeom>
          <a:noFill/>
          <a:ln/>
        </p:spPr>
        <p:txBody>
          <a:bodyPr wrap="square" lIns="0" tIns="0" rIns="0" bIns="0" rtlCol="0" anchor="ctr"/>
          <a:lstStyle/>
          <a:p>
            <a:pPr marL="0" indent="0">
              <a:buNone/>
            </a:pPr>
            <a:r>
              <a:rPr lang="en-US" sz="1550" b="1" dirty="0">
                <a:solidFill>
                  <a:srgbClr val="10222F"/>
                </a:solidFill>
                <a:latin typeface="Garamond" pitchFamily="34" charset="0"/>
                <a:ea typeface="Garamond" pitchFamily="34" charset="-122"/>
                <a:cs typeface="Garamond" pitchFamily="34" charset="-120"/>
              </a:rPr>
              <a:t>Establish Supply Chain and Volume Production in China</a:t>
            </a:r>
            <a:endParaRPr lang="en-US" sz="1550" dirty="0"/>
          </a:p>
        </p:txBody>
      </p:sp>
      <p:sp>
        <p:nvSpPr>
          <p:cNvPr id="17" name="Text 8"/>
          <p:cNvSpPr/>
          <p:nvPr/>
        </p:nvSpPr>
        <p:spPr>
          <a:xfrm>
            <a:off x="6373368" y="3337559"/>
            <a:ext cx="4809744" cy="2194560"/>
          </a:xfrm>
          <a:prstGeom prst="rect">
            <a:avLst/>
          </a:prstGeom>
          <a:noFill/>
          <a:ln/>
        </p:spPr>
        <p:txBody>
          <a:bodyPr wrap="square" lIns="0" tIns="0" rIns="0" bIns="0" rtlCol="0" anchor="t"/>
          <a:lstStyle/>
          <a:p>
            <a:pPr marL="0" indent="0">
              <a:lnSpc>
                <a:spcPct val="106000"/>
              </a:lnSpc>
              <a:buNone/>
            </a:pPr>
            <a:r>
              <a:rPr lang="en-US" sz="1100" dirty="0">
                <a:solidFill>
                  <a:srgbClr val="1E2A33"/>
                </a:solidFill>
                <a:latin typeface="Garamond" pitchFamily="34" charset="0"/>
                <a:ea typeface="Garamond" pitchFamily="34" charset="-122"/>
                <a:cs typeface="Garamond" pitchFamily="34" charset="-120"/>
              </a:rPr>
              <a:t>Once the quality of orders has been confirmed, establish a dedicated supply chain in China and stand up large scale production capacity. Volume manufacturing then serves the export order book with consistent quality and competitive cost.</a:t>
            </a:r>
            <a:endParaRPr lang="en-US" sz="1100" dirty="0"/>
          </a:p>
        </p:txBody>
      </p:sp>
      <p:sp>
        <p:nvSpPr>
          <p:cNvPr id="18" name="Text 22"/>
          <p:cNvSpPr/>
          <p:nvPr/>
        </p:nvSpPr>
        <p:spPr>
          <a:xfrm>
            <a:off x="822960" y="5577840"/>
            <a:ext cx="10543032" cy="365760"/>
          </a:xfrm>
          <a:prstGeom prst="rect">
            <a:avLst/>
          </a:prstGeom>
          <a:noFill/>
          <a:ln/>
        </p:spPr>
        <p:txBody>
          <a:bodyPr wrap="square" lIns="0" tIns="0" rIns="0" bIns="0" rtlCol="0" anchor="t"/>
          <a:lstStyle/>
          <a:p>
            <a:pPr marL="0" indent="0">
              <a:lnSpc>
                <a:spcPct val="102000"/>
              </a:lnSpc>
              <a:buNone/>
            </a:pPr>
            <a:r>
              <a:rPr lang="en-US" sz="1050" dirty="0">
                <a:solidFill>
                  <a:srgbClr val="1E2A33"/>
                </a:solidFill>
                <a:latin typeface="Garamond" pitchFamily="34" charset="0"/>
                <a:ea typeface="Garamond" pitchFamily="34" charset="-122"/>
                <a:cs typeface="Garamond" pitchFamily="34" charset="-120"/>
              </a:rPr>
              <a:t>Capital deployment in Phase Two is gated on confirmed order quality, keeping production capacity aligned with demonstrated demand.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457200"/>
            <a:ext cx="7772400" cy="274320"/>
          </a:xfrm>
          <a:prstGeom prst="rect">
            <a:avLst/>
          </a:prstGeom>
          <a:noFill/>
          <a:ln/>
        </p:spPr>
        <p:txBody>
          <a:bodyPr wrap="square" lIns="0" tIns="0" rIns="0" bIns="0" rtlCol="0" anchor="ctr"/>
          <a:lstStyle/>
          <a:p>
            <a:pPr marL="0" indent="0">
              <a:buNone/>
            </a:pPr>
            <a:r>
              <a:rPr lang="en-US" sz="1100" b="1" kern="0" spc="300" dirty="0">
                <a:solidFill>
                  <a:srgbClr val="007BCB"/>
                </a:solidFill>
                <a:latin typeface="Garamond" pitchFamily="34" charset="0"/>
                <a:ea typeface="Garamond" pitchFamily="34" charset="-122"/>
                <a:cs typeface="Garamond" pitchFamily="34" charset="-120"/>
              </a:rPr>
              <a:t>CHINA STRATEGY</a:t>
            </a:r>
            <a:endParaRPr lang="en-US" sz="1100" dirty="0"/>
          </a:p>
        </p:txBody>
      </p:sp>
      <p:sp>
        <p:nvSpPr>
          <p:cNvPr id="3" name="Text 1"/>
          <p:cNvSpPr/>
          <p:nvPr/>
        </p:nvSpPr>
        <p:spPr>
          <a:xfrm>
            <a:off x="822960" y="713232"/>
            <a:ext cx="8961120" cy="566928"/>
          </a:xfrm>
          <a:prstGeom prst="rect">
            <a:avLst/>
          </a:prstGeom>
          <a:noFill/>
          <a:ln/>
        </p:spPr>
        <p:txBody>
          <a:bodyPr wrap="square" lIns="0" tIns="0" rIns="0" bIns="0" rtlCol="0" anchor="ctr"/>
          <a:lstStyle/>
          <a:p>
            <a:pPr marL="0" indent="0">
              <a:buNone/>
            </a:pPr>
            <a:r>
              <a:rPr lang="en-US" sz="2900" b="1" dirty="0">
                <a:solidFill>
                  <a:srgbClr val="10222F"/>
                </a:solidFill>
                <a:latin typeface="Garamond" pitchFamily="34" charset="0"/>
                <a:ea typeface="Garamond" pitchFamily="34" charset="-122"/>
                <a:cs typeface="Garamond" pitchFamily="34" charset="-120"/>
              </a:rPr>
              <a:t>Competitive Position and Route to Market</a:t>
            </a:r>
            <a:endParaRPr lang="en-US" sz="2900" dirty="0"/>
          </a:p>
        </p:txBody>
      </p:sp>
      <p:pic>
        <p:nvPicPr>
          <p:cNvPr id="4" name="Image 0" descr="assets/logo_dark.jpg"/>
          <p:cNvPicPr>
            <a:picLocks noChangeAspect="1"/>
          </p:cNvPicPr>
          <p:nvPr/>
        </p:nvPicPr>
        <p:blipFill>
          <a:blip r:embed="rId2"/>
          <a:stretch>
            <a:fillRect/>
          </a:stretch>
        </p:blipFill>
        <p:spPr>
          <a:xfrm>
            <a:off x="10058400" y="475488"/>
            <a:ext cx="1325880" cy="372161"/>
          </a:xfrm>
          <a:prstGeom prst="rect">
            <a:avLst/>
          </a:prstGeom>
        </p:spPr>
      </p:pic>
      <p:sp>
        <p:nvSpPr>
          <p:cNvPr id="5" name="Text 2"/>
          <p:cNvSpPr/>
          <p:nvPr/>
        </p:nvSpPr>
        <p:spPr>
          <a:xfrm>
            <a:off x="822960" y="6492240"/>
            <a:ext cx="5943600" cy="237744"/>
          </a:xfrm>
          <a:prstGeom prst="rect">
            <a:avLst/>
          </a:prstGeom>
          <a:noFill/>
          <a:ln/>
        </p:spPr>
        <p:txBody>
          <a:bodyPr wrap="square" lIns="0" tIns="0" rIns="0" bIns="0" rtlCol="0" anchor="ctr"/>
          <a:lstStyle/>
          <a:p>
            <a:pPr marL="0" indent="0">
              <a:buNone/>
            </a:pPr>
            <a:r>
              <a:rPr lang="en-US" sz="850" dirty="0">
                <a:solidFill>
                  <a:srgbClr val="5C6B76"/>
                </a:solidFill>
                <a:latin typeface="Garamond" pitchFamily="34" charset="0"/>
                <a:ea typeface="Garamond" pitchFamily="34" charset="-122"/>
                <a:cs typeface="Garamond" pitchFamily="34" charset="-120"/>
              </a:rPr>
              <a:t>Heliospace Corporation   |   Proprietary and Confidential</a:t>
            </a:r>
            <a:endParaRPr lang="en-US" sz="850" dirty="0"/>
          </a:p>
        </p:txBody>
      </p:sp>
      <p:sp>
        <p:nvSpPr>
          <p:cNvPr id="6" name="Text 3"/>
          <p:cNvSpPr/>
          <p:nvPr/>
        </p:nvSpPr>
        <p:spPr>
          <a:xfrm>
            <a:off x="11064240" y="6492240"/>
            <a:ext cx="320040" cy="237744"/>
          </a:xfrm>
          <a:prstGeom prst="rect">
            <a:avLst/>
          </a:prstGeom>
          <a:noFill/>
          <a:ln/>
        </p:spPr>
        <p:txBody>
          <a:bodyPr wrap="square" lIns="0" tIns="0" rIns="0" bIns="0" rtlCol="0" anchor="ctr"/>
          <a:lstStyle/>
          <a:p>
            <a:pPr marL="0" indent="0" algn="r">
              <a:buNone/>
            </a:pPr>
            <a:r>
              <a:rPr lang="en-US" sz="850" dirty="0">
                <a:solidFill>
                  <a:srgbClr val="5C6B76"/>
                </a:solidFill>
                <a:latin typeface="Garamond" pitchFamily="34" charset="0"/>
                <a:ea typeface="Garamond" pitchFamily="34" charset="-122"/>
                <a:cs typeface="Garamond" pitchFamily="34" charset="-120"/>
              </a:rPr>
              <a:t>16</a:t>
            </a:r>
            <a:endParaRPr lang="en-US" sz="850" dirty="0"/>
          </a:p>
        </p:txBody>
      </p:sp>
      <p:sp>
        <p:nvSpPr>
          <p:cNvPr id="7" name="Text 4"/>
          <p:cNvSpPr/>
          <p:nvPr/>
        </p:nvSpPr>
        <p:spPr>
          <a:xfrm>
            <a:off x="822960" y="1353312"/>
            <a:ext cx="10424160" cy="320040"/>
          </a:xfrm>
          <a:prstGeom prst="rect">
            <a:avLst/>
          </a:prstGeom>
          <a:noFill/>
          <a:ln/>
        </p:spPr>
        <p:txBody>
          <a:bodyPr wrap="square" lIns="0" tIns="0" rIns="0" bIns="0" rtlCol="0" anchor="ctr"/>
          <a:lstStyle/>
          <a:p>
            <a:pPr marL="0" indent="0">
              <a:buNone/>
            </a:pPr>
            <a:r>
              <a:rPr lang="en-US" sz="1300" dirty="0">
                <a:solidFill>
                  <a:srgbClr val="5C6B76"/>
                </a:solidFill>
                <a:latin typeface="Garamond" pitchFamily="34" charset="0"/>
                <a:ea typeface="Garamond" pitchFamily="34" charset="-122"/>
                <a:cs typeface="Garamond" pitchFamily="34" charset="-120"/>
              </a:rPr>
              <a:t>A proven supplier with marquee clients, differentiated products, and a clear route to serving Chinese customers.</a:t>
            </a:r>
            <a:endParaRPr lang="en-US" sz="1300" dirty="0"/>
          </a:p>
        </p:txBody>
      </p:sp>
      <p:sp>
        <p:nvSpPr>
          <p:cNvPr id="8" name="Text 4"/>
          <p:cNvSpPr/>
          <p:nvPr/>
        </p:nvSpPr>
        <p:spPr>
          <a:xfrm>
            <a:off x="822960" y="1828800"/>
            <a:ext cx="5175504" cy="256032"/>
          </a:xfrm>
          <a:prstGeom prst="rect">
            <a:avLst/>
          </a:prstGeom>
          <a:noFill/>
          <a:ln/>
        </p:spPr>
        <p:txBody>
          <a:bodyPr wrap="square" lIns="0" tIns="0" rIns="0" bIns="0" rtlCol="0" anchor="ctr"/>
          <a:lstStyle/>
          <a:p>
            <a:pPr marL="0" indent="0">
              <a:buNone/>
            </a:pPr>
            <a:r>
              <a:rPr lang="en-US" sz="1350" b="1" dirty="0">
                <a:solidFill>
                  <a:srgbClr val="007BCB"/>
                </a:solidFill>
                <a:latin typeface="Garamond" pitchFamily="34" charset="0"/>
                <a:ea typeface="Garamond" pitchFamily="34" charset="-122"/>
                <a:cs typeface="Garamond" pitchFamily="34" charset="-120"/>
              </a:rPr>
              <a:t>Why Heliospace is competitive</a:t>
            </a:r>
            <a:endParaRPr lang="en-US" sz="1350" dirty="0"/>
          </a:p>
        </p:txBody>
      </p:sp>
      <p:sp>
        <p:nvSpPr>
          <p:cNvPr id="9" name="Text 5"/>
          <p:cNvSpPr/>
          <p:nvPr/>
        </p:nvSpPr>
        <p:spPr>
          <a:xfrm>
            <a:off x="822960" y="2121408"/>
            <a:ext cx="5175504" cy="914400"/>
          </a:xfrm>
          <a:prstGeom prst="rect">
            <a:avLst/>
          </a:prstGeom>
          <a:noFill/>
          <a:ln/>
        </p:spPr>
        <p:txBody>
          <a:bodyPr wrap="square" lIns="0" tIns="0" rIns="0" bIns="0" rtlCol="0" anchor="t"/>
          <a:lstStyle/>
          <a:p>
            <a:pPr marL="0" indent="0">
              <a:buNone/>
            </a:pPr>
            <a:r>
              <a:rPr lang="en-US" sz="1150" dirty="0">
                <a:solidFill>
                  <a:srgbClr val="1E2A33"/>
                </a:solidFill>
                <a:latin typeface="Garamond" pitchFamily="34" charset="0"/>
                <a:ea typeface="Garamond" pitchFamily="34" charset="-122"/>
                <a:cs typeface="Garamond" pitchFamily="34" charset="-120"/>
              </a:rPr>
              <a:t>Decades of flight heritage with NASA and ESA, an in house boom forming capability that removes supplier risk, and a lean cost structure that delivers fully qualified hardware at competitive prices and short lead times.</a:t>
            </a:r>
            <a:endParaRPr lang="en-US" sz="1150" dirty="0"/>
          </a:p>
        </p:txBody>
      </p:sp>
      <p:sp>
        <p:nvSpPr>
          <p:cNvPr id="10" name="Text 4"/>
          <p:cNvSpPr/>
          <p:nvPr/>
        </p:nvSpPr>
        <p:spPr>
          <a:xfrm>
            <a:off x="822960" y="3200400"/>
            <a:ext cx="5175504" cy="256032"/>
          </a:xfrm>
          <a:prstGeom prst="rect">
            <a:avLst/>
          </a:prstGeom>
          <a:noFill/>
          <a:ln/>
        </p:spPr>
        <p:txBody>
          <a:bodyPr wrap="square" lIns="0" tIns="0" rIns="0" bIns="0" rtlCol="0" anchor="ctr"/>
          <a:lstStyle/>
          <a:p>
            <a:pPr marL="0" indent="0">
              <a:buNone/>
            </a:pPr>
            <a:r>
              <a:rPr lang="en-US" sz="1350" b="1" dirty="0">
                <a:solidFill>
                  <a:srgbClr val="007BCB"/>
                </a:solidFill>
                <a:latin typeface="Garamond" pitchFamily="34" charset="0"/>
                <a:ea typeface="Garamond" pitchFamily="34" charset="-122"/>
                <a:cs typeface="Garamond" pitchFamily="34" charset="-120"/>
              </a:rPr>
              <a:t>An established client base</a:t>
            </a:r>
            <a:endParaRPr lang="en-US" sz="1350" dirty="0"/>
          </a:p>
        </p:txBody>
      </p:sp>
      <p:sp>
        <p:nvSpPr>
          <p:cNvPr id="11" name="Text 5"/>
          <p:cNvSpPr/>
          <p:nvPr/>
        </p:nvSpPr>
        <p:spPr>
          <a:xfrm>
            <a:off x="822960" y="3493008"/>
            <a:ext cx="5175504" cy="1051560"/>
          </a:xfrm>
          <a:prstGeom prst="rect">
            <a:avLst/>
          </a:prstGeom>
          <a:noFill/>
          <a:ln/>
        </p:spPr>
        <p:txBody>
          <a:bodyPr wrap="square" lIns="0" tIns="0" rIns="0" bIns="0" rtlCol="0" anchor="t"/>
          <a:lstStyle/>
          <a:p>
            <a:pPr marL="0" indent="0">
              <a:buNone/>
            </a:pPr>
            <a:r>
              <a:rPr lang="en-US" sz="1150" dirty="0">
                <a:solidFill>
                  <a:srgbClr val="1E2A33"/>
                </a:solidFill>
                <a:latin typeface="Garamond" pitchFamily="34" charset="0"/>
                <a:ea typeface="Garamond" pitchFamily="34" charset="-122"/>
                <a:cs typeface="Garamond" pitchFamily="34" charset="-120"/>
              </a:rPr>
              <a:t>NASA JPL, NASA Goddard, Caltech, UC Berkeley Space Sciences Laboratory, Firefly Aerospace, Intuitive Machines, SwRI, and Blue Origin, with hardware operating on Europa Clipper, Solar Orbiter, and the first commercial lunar landings.</a:t>
            </a:r>
            <a:endParaRPr lang="en-US" sz="1150" dirty="0"/>
          </a:p>
        </p:txBody>
      </p:sp>
      <p:sp>
        <p:nvSpPr>
          <p:cNvPr id="12" name="Text 4"/>
          <p:cNvSpPr/>
          <p:nvPr/>
        </p:nvSpPr>
        <p:spPr>
          <a:xfrm>
            <a:off x="822960" y="4709160"/>
            <a:ext cx="5175504" cy="256032"/>
          </a:xfrm>
          <a:prstGeom prst="rect">
            <a:avLst/>
          </a:prstGeom>
          <a:noFill/>
          <a:ln/>
        </p:spPr>
        <p:txBody>
          <a:bodyPr wrap="square" lIns="0" tIns="0" rIns="0" bIns="0" rtlCol="0" anchor="ctr"/>
          <a:lstStyle/>
          <a:p>
            <a:pPr marL="0" indent="0">
              <a:buNone/>
            </a:pPr>
            <a:r>
              <a:rPr lang="en-US" sz="1350" b="1" dirty="0">
                <a:solidFill>
                  <a:srgbClr val="007BCB"/>
                </a:solidFill>
                <a:latin typeface="Garamond" pitchFamily="34" charset="0"/>
                <a:ea typeface="Garamond" pitchFamily="34" charset="-122"/>
                <a:cs typeface="Garamond" pitchFamily="34" charset="-120"/>
              </a:rPr>
              <a:t>Why customers choose us</a:t>
            </a:r>
            <a:endParaRPr lang="en-US" sz="1350" dirty="0"/>
          </a:p>
        </p:txBody>
      </p:sp>
      <p:sp>
        <p:nvSpPr>
          <p:cNvPr id="13" name="Text 5"/>
          <p:cNvSpPr/>
          <p:nvPr/>
        </p:nvSpPr>
        <p:spPr>
          <a:xfrm>
            <a:off x="822960" y="5001768"/>
            <a:ext cx="5175504" cy="914400"/>
          </a:xfrm>
          <a:prstGeom prst="rect">
            <a:avLst/>
          </a:prstGeom>
          <a:noFill/>
          <a:ln/>
        </p:spPr>
        <p:txBody>
          <a:bodyPr wrap="square" lIns="0" tIns="0" rIns="0" bIns="0" rtlCol="0" anchor="t"/>
          <a:lstStyle/>
          <a:p>
            <a:pPr marL="0" indent="0">
              <a:buNone/>
            </a:pPr>
            <a:r>
              <a:rPr lang="en-US" sz="1150" dirty="0">
                <a:solidFill>
                  <a:srgbClr val="1E2A33"/>
                </a:solidFill>
                <a:latin typeface="Garamond" pitchFamily="34" charset="0"/>
                <a:ea typeface="Garamond" pitchFamily="34" charset="-122"/>
                <a:cs typeface="Garamond" pitchFamily="34" charset="-120"/>
              </a:rPr>
              <a:t>Supplier of record on marquee missions, on schedule delivery for launch critical payloads, and repeat awards across programs and platforms.</a:t>
            </a:r>
            <a:endParaRPr lang="en-US" sz="1150" dirty="0"/>
          </a:p>
        </p:txBody>
      </p:sp>
      <p:sp>
        <p:nvSpPr>
          <p:cNvPr id="14" name="Text 4"/>
          <p:cNvSpPr/>
          <p:nvPr/>
        </p:nvSpPr>
        <p:spPr>
          <a:xfrm>
            <a:off x="6190488" y="1828800"/>
            <a:ext cx="5175504" cy="256032"/>
          </a:xfrm>
          <a:prstGeom prst="rect">
            <a:avLst/>
          </a:prstGeom>
          <a:noFill/>
          <a:ln/>
        </p:spPr>
        <p:txBody>
          <a:bodyPr wrap="square" lIns="0" tIns="0" rIns="0" bIns="0" rtlCol="0" anchor="ctr"/>
          <a:lstStyle/>
          <a:p>
            <a:pPr marL="0" indent="0">
              <a:buNone/>
            </a:pPr>
            <a:r>
              <a:rPr lang="en-US" sz="1350" b="1" dirty="0">
                <a:solidFill>
                  <a:srgbClr val="007BCB"/>
                </a:solidFill>
                <a:latin typeface="Garamond" pitchFamily="34" charset="0"/>
                <a:ea typeface="Garamond" pitchFamily="34" charset="-122"/>
                <a:cs typeface="Garamond" pitchFamily="34" charset="-120"/>
              </a:rPr>
              <a:t>Why our products are competitive</a:t>
            </a:r>
            <a:endParaRPr lang="en-US" sz="1350" dirty="0"/>
          </a:p>
        </p:txBody>
      </p:sp>
      <p:sp>
        <p:nvSpPr>
          <p:cNvPr id="15" name="Text 13"/>
          <p:cNvSpPr/>
          <p:nvPr/>
        </p:nvSpPr>
        <p:spPr>
          <a:xfrm>
            <a:off x="6190488" y="2121408"/>
            <a:ext cx="5175504" cy="1600200"/>
          </a:xfrm>
          <a:prstGeom prst="rect">
            <a:avLst/>
          </a:prstGeom>
          <a:noFill/>
          <a:ln/>
        </p:spPr>
        <p:txBody>
          <a:bodyPr wrap="square" lIns="0" tIns="0" rIns="0" bIns="0" rtlCol="0" anchor="t"/>
          <a:lstStyle/>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Stow ratios of up to 50:1, well beyond typical deployables</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Operating range of -200 C to +200 C</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Redundant, non explosive release with no ordnance handling</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Lower mass and cost with lead times measured in weeks</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Hundreds of successful operational deployments</a:t>
            </a:r>
            <a:endParaRPr lang="en-US" sz="1100" dirty="0"/>
          </a:p>
        </p:txBody>
      </p:sp>
      <p:sp>
        <p:nvSpPr>
          <p:cNvPr id="16" name="Text 4"/>
          <p:cNvSpPr/>
          <p:nvPr/>
        </p:nvSpPr>
        <p:spPr>
          <a:xfrm>
            <a:off x="6190488" y="3977639"/>
            <a:ext cx="5175504" cy="256032"/>
          </a:xfrm>
          <a:prstGeom prst="rect">
            <a:avLst/>
          </a:prstGeom>
          <a:noFill/>
          <a:ln/>
        </p:spPr>
        <p:txBody>
          <a:bodyPr wrap="square" lIns="0" tIns="0" rIns="0" bIns="0" rtlCol="0" anchor="ctr"/>
          <a:lstStyle/>
          <a:p>
            <a:pPr marL="0" indent="0">
              <a:buNone/>
            </a:pPr>
            <a:r>
              <a:rPr lang="en-US" sz="1350" b="1" dirty="0">
                <a:solidFill>
                  <a:srgbClr val="007BCB"/>
                </a:solidFill>
                <a:latin typeface="Garamond" pitchFamily="34" charset="0"/>
                <a:ea typeface="Garamond" pitchFamily="34" charset="-122"/>
                <a:cs typeface="Garamond" pitchFamily="34" charset="-120"/>
              </a:rPr>
              <a:t>How we sell to Chinese clients</a:t>
            </a:r>
            <a:endParaRPr lang="en-US" sz="1350" dirty="0"/>
          </a:p>
        </p:txBody>
      </p:sp>
      <p:sp>
        <p:nvSpPr>
          <p:cNvPr id="17" name="Text 13"/>
          <p:cNvSpPr/>
          <p:nvPr/>
        </p:nvSpPr>
        <p:spPr>
          <a:xfrm>
            <a:off x="6190488" y="4270248"/>
            <a:ext cx="5175504" cy="1463040"/>
          </a:xfrm>
          <a:prstGeom prst="rect">
            <a:avLst/>
          </a:prstGeom>
          <a:noFill/>
          <a:ln/>
        </p:spPr>
        <p:txBody>
          <a:bodyPr wrap="square" lIns="0" tIns="0" rIns="0" bIns="0" rtlCol="0" anchor="t"/>
          <a:lstStyle/>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Offer qualified products and components through export orders</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Let delivered flight hardware demonstrate reliability and value</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Provide catalog pricing and published interfaces for fast procurement</a:t>
            </a:r>
            <a:endParaRPr lang="en-US" sz="1100" dirty="0"/>
          </a:p>
          <a:p>
            <a:pPr marL="127000" indent="-127000" algn="l">
              <a:spcAft>
                <a:spcPts val="400"/>
              </a:spcAft>
              <a:buSzPct val="100000"/>
              <a:buChar char="•"/>
            </a:pPr>
            <a:r>
              <a:rPr lang="en-US" sz="1100" dirty="0">
                <a:solidFill>
                  <a:srgbClr val="1E2A33"/>
                </a:solidFill>
                <a:latin typeface="Garamond" pitchFamily="34" charset="0"/>
                <a:ea typeface="Garamond" pitchFamily="34" charset="-122"/>
                <a:cs typeface="Garamond" pitchFamily="34" charset="-120"/>
              </a:rPr>
              <a:t>Scale a China based supply chain and production as order quality is confirmed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close_bg.jpg"/>
          <p:cNvPicPr>
            <a:picLocks noChangeAspect="1"/>
          </p:cNvPicPr>
          <p:nvPr/>
        </p:nvPicPr>
        <p:blipFill>
          <a:blip r:embed="rId3"/>
          <a:stretch>
            <a:fillRect/>
          </a:stretch>
        </p:blipFill>
        <p:spPr>
          <a:xfrm>
            <a:off x="0" y="0"/>
            <a:ext cx="12191695" cy="6858000"/>
          </a:xfrm>
          <a:prstGeom prst="rect">
            <a:avLst/>
          </a:prstGeom>
        </p:spPr>
      </p:pic>
      <p:pic>
        <p:nvPicPr>
          <p:cNvPr id="3" name="Image 1" descr="assets/logo_white.png"/>
          <p:cNvPicPr>
            <a:picLocks noChangeAspect="1"/>
          </p:cNvPicPr>
          <p:nvPr/>
        </p:nvPicPr>
        <p:blipFill>
          <a:blip r:embed="rId4"/>
          <a:stretch>
            <a:fillRect/>
          </a:stretch>
        </p:blipFill>
        <p:spPr>
          <a:xfrm>
            <a:off x="822960" y="731520"/>
            <a:ext cx="2377440" cy="665683"/>
          </a:xfrm>
          <a:prstGeom prst="rect">
            <a:avLst/>
          </a:prstGeom>
        </p:spPr>
      </p:pic>
      <p:sp>
        <p:nvSpPr>
          <p:cNvPr id="4" name="Text 0"/>
          <p:cNvSpPr/>
          <p:nvPr/>
        </p:nvSpPr>
        <p:spPr>
          <a:xfrm>
            <a:off x="822960" y="2331720"/>
            <a:ext cx="5486400" cy="292608"/>
          </a:xfrm>
          <a:prstGeom prst="rect">
            <a:avLst/>
          </a:prstGeom>
          <a:noFill/>
          <a:ln/>
        </p:spPr>
        <p:txBody>
          <a:bodyPr wrap="square" lIns="0" tIns="0" rIns="0" bIns="0" rtlCol="0" anchor="ctr"/>
          <a:lstStyle/>
          <a:p>
            <a:pPr marL="0" indent="0">
              <a:buNone/>
            </a:pPr>
            <a:r>
              <a:rPr lang="en-US" sz="1200" b="1" kern="0" spc="350" dirty="0">
                <a:solidFill>
                  <a:srgbClr val="6FBCE8"/>
                </a:solidFill>
                <a:latin typeface="Garamond" pitchFamily="34" charset="0"/>
                <a:ea typeface="Garamond" pitchFamily="34" charset="-122"/>
                <a:cs typeface="Garamond" pitchFamily="34" charset="-120"/>
              </a:rPr>
              <a:t>THANK YOU</a:t>
            </a:r>
            <a:endParaRPr lang="en-US" sz="1200" dirty="0"/>
          </a:p>
        </p:txBody>
      </p:sp>
      <p:sp>
        <p:nvSpPr>
          <p:cNvPr id="5" name="Text 1"/>
          <p:cNvSpPr/>
          <p:nvPr/>
        </p:nvSpPr>
        <p:spPr>
          <a:xfrm>
            <a:off x="822960" y="2651760"/>
            <a:ext cx="9144000" cy="685800"/>
          </a:xfrm>
          <a:prstGeom prst="rect">
            <a:avLst/>
          </a:prstGeom>
          <a:noFill/>
          <a:ln/>
        </p:spPr>
        <p:txBody>
          <a:bodyPr wrap="square" lIns="0" tIns="0" rIns="0" bIns="0" rtlCol="0" anchor="ctr"/>
          <a:lstStyle/>
          <a:p>
            <a:pPr marL="0" indent="0">
              <a:buNone/>
            </a:pPr>
            <a:r>
              <a:rPr lang="en-US" sz="3600" b="1" dirty="0">
                <a:solidFill>
                  <a:srgbClr val="FFFFFF"/>
                </a:solidFill>
                <a:latin typeface="Garamond" pitchFamily="34" charset="0"/>
                <a:ea typeface="Garamond" pitchFamily="34" charset="-122"/>
                <a:cs typeface="Garamond" pitchFamily="34" charset="-120"/>
              </a:rPr>
              <a:t>Questions and Discussion</a:t>
            </a:r>
            <a:endParaRPr lang="en-US" sz="3600" dirty="0"/>
          </a:p>
        </p:txBody>
      </p:sp>
      <p:sp>
        <p:nvSpPr>
          <p:cNvPr id="6" name="Shape 2"/>
          <p:cNvSpPr/>
          <p:nvPr/>
        </p:nvSpPr>
        <p:spPr>
          <a:xfrm>
            <a:off x="822960" y="3657600"/>
            <a:ext cx="5577840" cy="2286000"/>
          </a:xfrm>
          <a:prstGeom prst="roundRect">
            <a:avLst>
              <a:gd name="adj" fmla="val 2400"/>
            </a:avLst>
          </a:prstGeom>
          <a:solidFill>
            <a:srgbClr val="0E2233">
              <a:alpha val="82000"/>
            </a:srgbClr>
          </a:solidFill>
          <a:ln w="9525">
            <a:solidFill>
              <a:srgbClr val="3C5A72"/>
            </a:solidFill>
            <a:prstDash val="solid"/>
          </a:ln>
        </p:spPr>
        <p:txBody>
          <a:bodyPr/>
          <a:lstStyle/>
          <a:p>
            <a:endParaRPr/>
          </a:p>
        </p:txBody>
      </p:sp>
      <p:sp>
        <p:nvSpPr>
          <p:cNvPr id="7" name="Text 3"/>
          <p:cNvSpPr/>
          <p:nvPr/>
        </p:nvSpPr>
        <p:spPr>
          <a:xfrm>
            <a:off x="1097280" y="3886200"/>
            <a:ext cx="5120640" cy="1874520"/>
          </a:xfrm>
          <a:prstGeom prst="rect">
            <a:avLst/>
          </a:prstGeom>
          <a:noFill/>
          <a:ln/>
        </p:spPr>
        <p:txBody>
          <a:bodyPr wrap="square" lIns="0" tIns="0" rIns="0" bIns="0" rtlCol="0" anchor="t"/>
          <a:lstStyle/>
          <a:p>
            <a:pPr marL="0" indent="0">
              <a:spcAft>
                <a:spcPts val="500"/>
              </a:spcAft>
              <a:buNone/>
            </a:pPr>
            <a:r>
              <a:rPr lang="en-US" sz="1700" b="1" dirty="0">
                <a:solidFill>
                  <a:srgbClr val="FFFFFF"/>
                </a:solidFill>
                <a:latin typeface="Garamond" pitchFamily="34" charset="0"/>
                <a:ea typeface="Garamond" pitchFamily="34" charset="-122"/>
                <a:cs typeface="Garamond" pitchFamily="34" charset="-120"/>
              </a:rPr>
              <a:t>Rocky Chen</a:t>
            </a:r>
            <a:endParaRPr lang="en-US" sz="1700" dirty="0"/>
          </a:p>
          <a:p>
            <a:pPr marL="0" indent="0">
              <a:spcAft>
                <a:spcPts val="500"/>
              </a:spcAft>
              <a:buNone/>
            </a:pPr>
            <a:r>
              <a:rPr lang="en-US" sz="1150" dirty="0">
                <a:solidFill>
                  <a:srgbClr val="AFC7D8"/>
                </a:solidFill>
                <a:latin typeface="Garamond" pitchFamily="34" charset="0"/>
                <a:ea typeface="Garamond" pitchFamily="34" charset="-122"/>
                <a:cs typeface="Garamond" pitchFamily="34" charset="-120"/>
              </a:rPr>
              <a:t>Exclusive Sales Distributor in China</a:t>
            </a:r>
            <a:endParaRPr lang="en-US" sz="1700" dirty="0"/>
          </a:p>
          <a:p>
            <a:pPr marL="0" indent="0">
              <a:spcAft>
                <a:spcPts val="500"/>
              </a:spcAft>
              <a:buNone/>
            </a:pPr>
            <a:r>
              <a:rPr lang="en-US" sz="1150" dirty="0">
                <a:solidFill>
                  <a:srgbClr val="AFC7D8"/>
                </a:solidFill>
                <a:latin typeface="Garamond" pitchFamily="34" charset="0"/>
                <a:ea typeface="Garamond" pitchFamily="34" charset="-122"/>
                <a:cs typeface="Garamond" pitchFamily="34" charset="-120"/>
              </a:rPr>
              <a:t>rocky@helio.space   |   19921169641</a:t>
            </a:r>
            <a:endParaRPr lang="en-US" sz="1700" dirty="0"/>
          </a:p>
          <a:p>
            <a:pPr marL="0" indent="0">
              <a:spcAft>
                <a:spcPts val="500"/>
              </a:spcAft>
              <a:buNone/>
            </a:pPr>
            <a:endParaRPr lang="en-US" sz="1700" dirty="0"/>
          </a:p>
          <a:p>
            <a:pPr marL="0" indent="0">
              <a:spcAft>
                <a:spcPts val="500"/>
              </a:spcAft>
              <a:buNone/>
            </a:pPr>
            <a:r>
              <a:rPr lang="en-US" sz="1100" dirty="0">
                <a:solidFill>
                  <a:srgbClr val="DCE8F1"/>
                </a:solidFill>
                <a:latin typeface="Garamond" pitchFamily="34" charset="0"/>
                <a:ea typeface="Garamond" pitchFamily="34" charset="-122"/>
                <a:cs typeface="Garamond" pitchFamily="34" charset="-120"/>
              </a:rPr>
              <a:t>info@helio.space   |   (510) 545-2666   |   www.helio.space</a:t>
            </a:r>
            <a:endParaRPr lang="en-US" sz="1700" dirty="0"/>
          </a:p>
          <a:p>
            <a:pPr marL="0" indent="0">
              <a:spcAft>
                <a:spcPts val="500"/>
              </a:spcAft>
              <a:buNone/>
            </a:pPr>
            <a:r>
              <a:rPr lang="en-US" sz="1100" dirty="0">
                <a:solidFill>
                  <a:srgbClr val="DCE8F1"/>
                </a:solidFill>
                <a:latin typeface="Garamond" pitchFamily="34" charset="0"/>
                <a:ea typeface="Garamond" pitchFamily="34" charset="-122"/>
                <a:cs typeface="Garamond" pitchFamily="34" charset="-120"/>
              </a:rPr>
              <a:t>2448 Sixth Street, Berkeley, CA 94710</a:t>
            </a:r>
            <a:endParaRPr lang="en-US" sz="1700" dirty="0"/>
          </a:p>
        </p:txBody>
      </p:sp>
      <p:sp>
        <p:nvSpPr>
          <p:cNvPr id="8" name="Text 4"/>
          <p:cNvSpPr/>
          <p:nvPr/>
        </p:nvSpPr>
        <p:spPr>
          <a:xfrm>
            <a:off x="9509760" y="6473952"/>
            <a:ext cx="1874520" cy="237744"/>
          </a:xfrm>
          <a:prstGeom prst="rect">
            <a:avLst/>
          </a:prstGeom>
          <a:noFill/>
          <a:ln/>
        </p:spPr>
        <p:txBody>
          <a:bodyPr wrap="square" lIns="0" tIns="0" rIns="0" bIns="0" rtlCol="0" anchor="ctr"/>
          <a:lstStyle/>
          <a:p>
            <a:pPr marL="0" indent="0" algn="r">
              <a:buNone/>
            </a:pPr>
            <a:r>
              <a:rPr lang="en-US" sz="900" dirty="0">
                <a:solidFill>
                  <a:srgbClr val="9DB2C0"/>
                </a:solidFill>
                <a:latin typeface="Garamond" pitchFamily="34" charset="0"/>
                <a:ea typeface="Garamond" pitchFamily="34" charset="-122"/>
                <a:cs typeface="Garamond" pitchFamily="34" charset="-120"/>
              </a:rPr>
              <a:t>Proprietary and Confidential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2232</Words>
  <Application>Microsoft Office PowerPoint</Application>
  <PresentationFormat>Widescreen</PresentationFormat>
  <Paragraphs>295</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 Anthony</cp:lastModifiedBy>
  <cp:revision>2</cp:revision>
  <dcterms:created xsi:type="dcterms:W3CDTF">2026-08-07T08:46:16Z</dcterms:created>
  <dcterms:modified xsi:type="dcterms:W3CDTF">2026-08-07T19:51:39Z</dcterms:modified>
</cp:coreProperties>
</file>