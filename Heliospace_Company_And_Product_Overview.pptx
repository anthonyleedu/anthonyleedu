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2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2412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6FBCE8"/>
                </a:solidFill>
                <a:latin typeface="Garamond"/>
              </a:rPr>
              <a:t>EVENT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Garamond"/>
              </a:rPr>
              <a:t>North American International Students:</a:t>
            </a:r>
          </a:p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Garamond"/>
              </a:rPr>
              <a:t>High-End Employment &amp; Commercial Space</a:t>
            </a:r>
          </a:p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Garamond"/>
              </a:rPr>
              <a:t>Industry Opportunities Forum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01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9FC5DE"/>
                </a:solidFill>
                <a:latin typeface="Garamond"/>
              </a:rPr>
              <a:t>In-person keynote presentations + networking salon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B9C7D2"/>
                </a:solidFill>
                <a:latin typeface="Garamond"/>
              </a:rPr>
              <a:t>Presented by Rocky 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72200"/>
            <a:ext cx="10058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B9C7D2"/>
                </a:solidFill>
                <a:latin typeface="Garamond"/>
              </a:rPr>
              <a:t>August 18, 2026  |  2:00 PM–5:00 PM  |  Proprietary and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07BCB"/>
                </a:solidFill>
                <a:latin typeface="Garamond"/>
              </a:rPr>
              <a:t>I. EVENT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05840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900" b="1">
                <a:solidFill>
                  <a:srgbClr val="10222F"/>
                </a:solidFill>
                <a:latin typeface="Garamond"/>
              </a:rPr>
              <a:t>Event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92240"/>
            <a:ext cx="86868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>
                <a:solidFill>
                  <a:srgbClr val="5C6B76"/>
                </a:solidFill>
                <a:latin typeface="Garamond"/>
              </a:rPr>
              <a:t>51 Careers  |  Heliospace Corporation  |  Proprietary and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92240"/>
            <a:ext cx="4572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>
                <a:solidFill>
                  <a:srgbClr val="5C6B76"/>
                </a:solidFill>
                <a:latin typeface="Garamond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54480"/>
            <a:ext cx="3392424" cy="233172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54480"/>
            <a:ext cx="3392424" cy="7315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783080"/>
            <a:ext cx="2990088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07BCB"/>
                </a:solidFill>
                <a:latin typeface="Garamond"/>
              </a:rPr>
              <a:t>Event Theme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194560"/>
            <a:ext cx="2990088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North American International Students: High-End Employment &amp; Commercial Space Industry Opportunities Forum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8264" y="1554480"/>
            <a:ext cx="3392424" cy="233172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8264" y="1554480"/>
            <a:ext cx="3392424" cy="7315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1783080"/>
            <a:ext cx="2990088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07BCB"/>
                </a:solidFill>
                <a:latin typeface="Garamond"/>
              </a:rPr>
              <a:t>Date &amp;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194560"/>
            <a:ext cx="2990088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August 18, 2026 (Tuesday)</a:t>
            </a:r>
          </a:p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2:00 PM–5:00 PM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73568" y="1554480"/>
            <a:ext cx="3392424" cy="233172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3568" y="1554480"/>
            <a:ext cx="3392424" cy="7315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1783080"/>
            <a:ext cx="2990088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07BCB"/>
                </a:solidFill>
                <a:latin typeface="Garamond"/>
              </a:rPr>
              <a:t>Format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2194560"/>
            <a:ext cx="2990088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In-person keynote presentations</a:t>
            </a:r>
          </a:p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+ networking salon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160520"/>
            <a:ext cx="10543032" cy="196596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343400"/>
            <a:ext cx="10058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10222F"/>
                </a:solidFill>
                <a:latin typeface="Garamond"/>
              </a:rPr>
              <a:t>Five Major Segments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8006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Garamond"/>
              </a:rPr>
              <a:t>1  Registration &amp; Networking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Garamond"/>
              </a:rPr>
              <a:t>2  High-End Employment &amp; Career Planning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Garamond"/>
              </a:rPr>
              <a:t>3  Networking Break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Garamond"/>
              </a:rPr>
              <a:t>4  Commercial Space Industry Session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Garamond"/>
              </a:rPr>
              <a:t>5  Open Networking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07BCB"/>
                </a:solidFill>
                <a:latin typeface="Garamond"/>
              </a:rPr>
              <a:t>I. EVENT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05840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900" b="1">
                <a:solidFill>
                  <a:srgbClr val="10222F"/>
                </a:solidFill>
                <a:latin typeface="Garamond"/>
              </a:rPr>
              <a:t>Target 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92240"/>
            <a:ext cx="86868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>
                <a:solidFill>
                  <a:srgbClr val="5C6B76"/>
                </a:solidFill>
                <a:latin typeface="Garamond"/>
              </a:rPr>
              <a:t>51 Careers  |  Heliospace Corporation  |  Proprietary and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92240"/>
            <a:ext cx="4572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>
                <a:solidFill>
                  <a:srgbClr val="5C6B76"/>
                </a:solidFill>
                <a:latin typeface="Garamond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53312"/>
            <a:ext cx="10424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C6B76"/>
                </a:solidFill>
                <a:latin typeface="Garamond"/>
              </a:rPr>
              <a:t>This forum brings together stakeholders across education, immigration, aerospace, and early-career talent.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874519"/>
            <a:ext cx="5175504" cy="196596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874519"/>
            <a:ext cx="73152" cy="1965960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130551"/>
            <a:ext cx="471830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50" b="1">
                <a:solidFill>
                  <a:srgbClr val="10222F"/>
                </a:solidFill>
                <a:latin typeface="Garamond"/>
              </a:rPr>
              <a:t>Parents of International Students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697479"/>
            <a:ext cx="4718304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Parents of students currently studying in the United States seeking practical career guidance.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0488" y="1874519"/>
            <a:ext cx="5175504" cy="196596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0488" y="1874519"/>
            <a:ext cx="73152" cy="1965960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130551"/>
            <a:ext cx="471830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50" b="1">
                <a:solidFill>
                  <a:srgbClr val="10222F"/>
                </a:solidFill>
                <a:latin typeface="Garamond"/>
              </a:rPr>
              <a:t>Education &amp; Immigration Providers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697479"/>
            <a:ext cx="4718304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North American education and immigration service providers exploring growth and value-added services.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114800"/>
            <a:ext cx="5175504" cy="196596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114800"/>
            <a:ext cx="73152" cy="1965960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4370832"/>
            <a:ext cx="471830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50" b="1">
                <a:solidFill>
                  <a:srgbClr val="10222F"/>
                </a:solidFill>
                <a:latin typeface="Garamond"/>
              </a:rPr>
              <a:t>Aerospace &amp; Space Professionals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4937760"/>
            <a:ext cx="4718304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Professionals and enthusiasts in the aerospace and space innovation industries.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0488" y="4114800"/>
            <a:ext cx="5175504" cy="196596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0488" y="4114800"/>
            <a:ext cx="73152" cy="1965960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370832"/>
            <a:ext cx="471830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50" b="1">
                <a:solidFill>
                  <a:srgbClr val="10222F"/>
                </a:solidFill>
                <a:latin typeface="Garamond"/>
              </a:rPr>
              <a:t>Students &amp; Young Professionals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937760"/>
            <a:ext cx="4718304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E2A33"/>
                </a:solidFill>
                <a:latin typeface="Garamond"/>
              </a:rPr>
              <a:t>International students and young professionals focused on careers, technology, and entrepreneurship.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07BCB"/>
                </a:solidFill>
                <a:latin typeface="Garamond"/>
              </a:rPr>
              <a:t>I. EVENT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05840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900" b="1">
                <a:solidFill>
                  <a:srgbClr val="10222F"/>
                </a:solidFill>
                <a:latin typeface="Garamond"/>
              </a:rPr>
              <a:t>Event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92240"/>
            <a:ext cx="86868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>
                <a:solidFill>
                  <a:srgbClr val="5C6B76"/>
                </a:solidFill>
                <a:latin typeface="Garamond"/>
              </a:rPr>
              <a:t>51 Careers  |  Heliospace Corporation  |  Proprietary and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92240"/>
            <a:ext cx="4572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>
                <a:solidFill>
                  <a:srgbClr val="5C6B76"/>
                </a:solidFill>
                <a:latin typeface="Garamond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5175504" cy="466344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463040"/>
            <a:ext cx="5175504" cy="7315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754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007BCB"/>
                </a:solidFill>
                <a:latin typeface="Garamond"/>
              </a:rPr>
              <a:t>First Half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103120"/>
            <a:ext cx="47548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10222F"/>
                </a:solidFill>
                <a:latin typeface="Garamond"/>
              </a:rPr>
              <a:t>Career Challenges &amp; Pathways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88036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Garamond"/>
              </a:rPr>
              <a:t>•  Career challenges facing international students in North America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Garamond"/>
              </a:rPr>
              <a:t>•  Career-track selection and pathways in the U.S. and China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Garamond"/>
              </a:rPr>
              <a:t>•  Practical guidance for building careers in the United States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Garamond"/>
              </a:rPr>
              <a:t>•  Growth opportunities for education and immigration providers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0488" y="1463040"/>
            <a:ext cx="5175504" cy="4663440"/>
          </a:xfrm>
          <a:prstGeom prst="rect">
            <a:avLst/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0488" y="1463040"/>
            <a:ext cx="5175504" cy="7315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1737360"/>
            <a:ext cx="4754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007BCB"/>
                </a:solidFill>
                <a:latin typeface="Garamond"/>
              </a:rPr>
              <a:t>Second Half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103120"/>
            <a:ext cx="47548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10222F"/>
                </a:solidFill>
                <a:latin typeface="Garamond"/>
              </a:rPr>
              <a:t>Commercial Space Opportunities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88036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Garamond"/>
              </a:rPr>
              <a:t>•  Latest developments in the U.S. commercial space industry in 2026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Garamond"/>
              </a:rPr>
              <a:t>•  Industry trends, tech progress, and U.S.–China comparisons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Garamond"/>
              </a:rPr>
              <a:t>•  Technology and business development opportunities in China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Garamond"/>
              </a:rPr>
              <a:t>•  Career entry points for young professionals in a growing sector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07BCB"/>
                </a:solidFill>
                <a:latin typeface="Garamond"/>
              </a:rPr>
              <a:t>I. EVENT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05840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900" b="1">
                <a:solidFill>
                  <a:srgbClr val="10222F"/>
                </a:solidFill>
                <a:latin typeface="Garamond"/>
              </a:rPr>
              <a:t>Keynote Speaker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92240"/>
            <a:ext cx="86868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>
                <a:solidFill>
                  <a:srgbClr val="5C6B76"/>
                </a:solidFill>
                <a:latin typeface="Garamond"/>
              </a:rPr>
              <a:t>51 Careers  |  Heliospace Corporation  |  Proprietary and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92240"/>
            <a:ext cx="4572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>
                <a:solidFill>
                  <a:srgbClr val="5C6B76"/>
                </a:solidFill>
                <a:latin typeface="Garamond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4023360" cy="4663440"/>
          </a:xfrm>
          <a:prstGeom prst="rect">
            <a:avLst/>
          </a:prstGeom>
          <a:solidFill>
            <a:srgbClr val="0E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3474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6FBCE8"/>
                </a:solidFill>
                <a:latin typeface="Garamond"/>
              </a:rPr>
              <a:t>KEYNOTE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86000"/>
            <a:ext cx="34747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FFFFFF"/>
                </a:solidFill>
                <a:latin typeface="Garamond"/>
              </a:rPr>
              <a:t>Rocky Chen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3474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9FC5DE"/>
                </a:solidFill>
                <a:latin typeface="Garamond"/>
              </a:rPr>
              <a:t>Founder, 51 Careers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9FC5DE"/>
                </a:solidFill>
                <a:latin typeface="Garamond"/>
              </a:rPr>
              <a:t>Founder, 51Careers.AI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9FC5DE"/>
                </a:solidFill>
                <a:latin typeface="Garamond"/>
              </a:rPr>
              <a:t>Investor &amp; Managing Director, Helio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9FC5DE"/>
                </a:solidFill>
                <a:latin typeface="Garamond"/>
              </a:rPr>
              <a:t> 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9FC5DE"/>
                </a:solidFill>
                <a:latin typeface="Garamond"/>
              </a:rPr>
              <a:t>Global high-end career development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9FC5DE"/>
                </a:solidFill>
                <a:latin typeface="Garamond"/>
              </a:rPr>
              <a:t>and international business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54480"/>
            <a:ext cx="6217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10222F"/>
                </a:solidFill>
                <a:latin typeface="Garamond"/>
              </a:rPr>
              <a:t>About Rocky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05740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E2A33"/>
                </a:solidFill>
                <a:latin typeface="Garamond"/>
              </a:rPr>
              <a:t>Rocky Chen is the Founder of 51 Careers, a global high-end career development platform, and the Founder of 51Careers.AI. He is also an investor and Managing Director at publicly listed company Helio.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E2A33"/>
                </a:solidFill>
                <a:latin typeface="Garamond"/>
              </a:rPr>
              <a:t>Over the past decade, Rocky has been deeply engaged in international business and capital markets. He has built a diversified portfolio across career education, artificial intelligence, aerospace, entertainment and sports, luxury hospitality, and fine wine.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E2A33"/>
                </a:solidFill>
                <a:latin typeface="Garamond"/>
              </a:rPr>
              <a:t>With extensive experience in business operations, strategic investment, and global resource integration, Rocky brings a unique perspective at the intersection of industry, capital, technology, and international talent development.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