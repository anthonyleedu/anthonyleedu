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300" y="-4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pt idx="0">
                  <c:v>Global AI hiring &amp; career tech</c:v>
                </c:pt>
              </c:strCache>
            </c:strRef>
          </c:tx>
          <c:spPr>
            <a:solidFill>
              <a:srgbClr val="0A6B63"/>
            </a:solidFill>
            <a:ln>
              <a:solidFill>
                <a:srgbClr val="0A6B63"/>
              </a:solidFill>
            </a:ln>
          </c:spPr>
          <c:invertIfNegative val="1"/>
          <c:cat>
            <c:strRef>
              <c:f>Sheet1!$A$2:$A$6</c:f>
              <c:strCache>
                <c:ptCount val="5"/>
                <c:pt idx="0">
                  <c:v>2024</c:v>
                </c:pt>
                <c:pt idx="1">
                  <c:v>2025E</c:v>
                </c:pt>
                <c:pt idx="2">
                  <c:v>2026E</c:v>
                </c:pt>
                <c:pt idx="3">
                  <c:v>2027E</c:v>
                </c:pt>
                <c:pt idx="4">
                  <c:v>2028E</c:v>
                </c:pt>
              </c:strCache>
            </c:strRef>
          </c:cat>
          <c:val>
            <c:numRef>
              <c:f>Sheet1!$B$2:$B$6</c:f>
              <c:numCache>
                <c:formatCode>General</c:formatCode>
                <c:ptCount val="5"/>
                <c:pt idx="0">
                  <c:v>18</c:v>
                </c:pt>
                <c:pt idx="1">
                  <c:v>23</c:v>
                </c:pt>
                <c:pt idx="2">
                  <c:v>29</c:v>
                </c:pt>
                <c:pt idx="3">
                  <c:v>37</c:v>
                </c:pt>
                <c:pt idx="4">
                  <c:v>46</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0A6B63"/>
                    </a:solidFill>
                  </a:ln>
                </c14:spPr>
              </c14:invertSolidFillFmt>
            </c:ext>
            <c:ext xmlns:c16="http://schemas.microsoft.com/office/drawing/2014/chart" uri="{C3380CC4-5D6E-409C-BE32-E72D297353CC}">
              <c16:uniqueId val="{00000000-5B65-4CBA-8A48-3E4A8E2FC66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4DEE8"/>
              </a:solidFill>
            </a:ln>
          </c:spPr>
        </c:majorGridlines>
        <c:numFmt formatCode="General" sourceLinked="1"/>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percentStacked"/>
        <c:varyColors val="1"/>
        <c:ser>
          <c:idx val="0"/>
          <c:order val="0"/>
          <c:tx>
            <c:strRef>
              <c:f>Sheet1!$B$1</c:f>
              <c:strCache>
                <c:ptCount val="1"/>
                <c:pt idx="0">
                  <c:v>Membership fees</c:v>
                </c:pt>
              </c:strCache>
            </c:strRef>
          </c:tx>
          <c:spPr>
            <a:solidFill>
              <a:srgbClr val="0A6B63"/>
            </a:solidFill>
            <a:ln>
              <a:solidFill>
                <a:srgbClr val="0A6B63"/>
              </a:solidFill>
            </a:ln>
          </c:spPr>
          <c:invertIfNegative val="1"/>
          <c:cat>
            <c:strRef>
              <c:f>Sheet1!$A$2:$A$4</c:f>
              <c:strCache>
                <c:ptCount val="3"/>
                <c:pt idx="0">
                  <c:v>Launch</c:v>
                </c:pt>
                <c:pt idx="1">
                  <c:v>2027E</c:v>
                </c:pt>
                <c:pt idx="2">
                  <c:v>2029E</c:v>
                </c:pt>
              </c:strCache>
            </c:strRef>
          </c:cat>
          <c:val>
            <c:numRef>
              <c:f>Sheet1!$B$2:$B$4</c:f>
              <c:numCache>
                <c:formatCode>General</c:formatCode>
                <c:ptCount val="3"/>
                <c:pt idx="0">
                  <c:v>0</c:v>
                </c:pt>
                <c:pt idx="1">
                  <c:v>55</c:v>
                </c:pt>
                <c:pt idx="2">
                  <c:v>50</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0A6B63"/>
                    </a:solidFill>
                  </a:ln>
                </c14:spPr>
              </c14:invertSolidFillFmt>
            </c:ext>
            <c:ext xmlns:c16="http://schemas.microsoft.com/office/drawing/2014/chart" uri="{C3380CC4-5D6E-409C-BE32-E72D297353CC}">
              <c16:uniqueId val="{00000000-5543-470E-8991-0721CDAD62AD}"/>
            </c:ext>
          </c:extLst>
        </c:ser>
        <c:ser>
          <c:idx val="1"/>
          <c:order val="1"/>
          <c:tx>
            <c:strRef>
              <c:f>Sheet1!$C$1</c:f>
              <c:strCache>
                <c:ptCount val="1"/>
                <c:pt idx="0">
                  <c:v>Consulting fees</c:v>
                </c:pt>
              </c:strCache>
            </c:strRef>
          </c:tx>
          <c:spPr>
            <a:solidFill>
              <a:srgbClr val="2F5D8A"/>
            </a:solidFill>
            <a:ln>
              <a:solidFill>
                <a:srgbClr val="2F5D8A"/>
              </a:solidFill>
            </a:ln>
          </c:spPr>
          <c:invertIfNegative val="1"/>
          <c:cat>
            <c:strRef>
              <c:f>Sheet1!$A$2:$A$4</c:f>
              <c:strCache>
                <c:ptCount val="3"/>
                <c:pt idx="0">
                  <c:v>Launch</c:v>
                </c:pt>
                <c:pt idx="1">
                  <c:v>2027E</c:v>
                </c:pt>
                <c:pt idx="2">
                  <c:v>2029E</c:v>
                </c:pt>
              </c:strCache>
            </c:strRef>
          </c:cat>
          <c:val>
            <c:numRef>
              <c:f>Sheet1!$C$2:$C$4</c:f>
              <c:numCache>
                <c:formatCode>General</c:formatCode>
                <c:ptCount val="3"/>
                <c:pt idx="0">
                  <c:v>0</c:v>
                </c:pt>
                <c:pt idx="1">
                  <c:v>30</c:v>
                </c:pt>
                <c:pt idx="2">
                  <c:v>30</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2F5D8A"/>
                    </a:solidFill>
                  </a:ln>
                </c14:spPr>
              </c14:invertSolidFillFmt>
            </c:ext>
            <c:ext xmlns:c16="http://schemas.microsoft.com/office/drawing/2014/chart" uri="{C3380CC4-5D6E-409C-BE32-E72D297353CC}">
              <c16:uniqueId val="{00000001-5543-470E-8991-0721CDAD62AD}"/>
            </c:ext>
          </c:extLst>
        </c:ser>
        <c:ser>
          <c:idx val="2"/>
          <c:order val="2"/>
          <c:tx>
            <c:strRef>
              <c:f>Sheet1!$D$1</c:f>
              <c:strCache>
                <c:ptCount val="1"/>
                <c:pt idx="0">
                  <c:v>Education fees</c:v>
                </c:pt>
              </c:strCache>
            </c:strRef>
          </c:tx>
          <c:spPr>
            <a:solidFill>
              <a:srgbClr val="8A6D3B"/>
            </a:solidFill>
            <a:ln>
              <a:solidFill>
                <a:srgbClr val="8A6D3B"/>
              </a:solidFill>
            </a:ln>
          </c:spPr>
          <c:invertIfNegative val="1"/>
          <c:cat>
            <c:strRef>
              <c:f>Sheet1!$A$2:$A$4</c:f>
              <c:strCache>
                <c:ptCount val="3"/>
                <c:pt idx="0">
                  <c:v>Launch</c:v>
                </c:pt>
                <c:pt idx="1">
                  <c:v>2027E</c:v>
                </c:pt>
                <c:pt idx="2">
                  <c:v>2029E</c:v>
                </c:pt>
              </c:strCache>
            </c:strRef>
          </c:cat>
          <c:val>
            <c:numRef>
              <c:f>Sheet1!$D$2:$D$4</c:f>
              <c:numCache>
                <c:formatCode>General</c:formatCode>
                <c:ptCount val="3"/>
                <c:pt idx="0">
                  <c:v>0</c:v>
                </c:pt>
                <c:pt idx="1">
                  <c:v>15</c:v>
                </c:pt>
                <c:pt idx="2">
                  <c:v>20</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8A6D3B"/>
                    </a:solidFill>
                  </a:ln>
                </c14:spPr>
              </c14:invertSolidFillFmt>
            </c:ext>
            <c:ext xmlns:c16="http://schemas.microsoft.com/office/drawing/2014/chart" uri="{C3380CC4-5D6E-409C-BE32-E72D297353CC}">
              <c16:uniqueId val="{00000002-5543-470E-8991-0721CDAD62AD}"/>
            </c:ext>
          </c:extLst>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4DEE8"/>
              </a:solidFill>
            </a:ln>
          </c:spPr>
        </c:majorGridlines>
        <c:numFmt formatCode="0%" sourceLinked="1"/>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068027336"/>
        <c:crosses val="autoZero"/>
        <c:crossBetween val="between"/>
      </c:valAx>
    </c:plotArea>
    <c:legend>
      <c:legendPos val="b"/>
      <c:overlay val="0"/>
      <c:txPr>
        <a:bodyPr/>
        <a:lstStyle/>
        <a:p>
          <a:pPr>
            <a:defRPr sz="900">
              <a:solidFill>
                <a:srgbClr val="5E6E80"/>
              </a:solidFill>
              <a:latin typeface="Segoe U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bar"/>
        <c:grouping val="clustered"/>
        <c:varyColors val="1"/>
        <c:ser>
          <c:idx val="0"/>
          <c:order val="0"/>
          <c:tx>
            <c:strRef>
              <c:f>Sheet1!$B$1</c:f>
              <c:strCache>
                <c:ptCount val="1"/>
                <c:pt idx="0">
                  <c:v>Career AI depth</c:v>
                </c:pt>
              </c:strCache>
            </c:strRef>
          </c:tx>
          <c:spPr>
            <a:solidFill>
              <a:srgbClr val="0A6B63"/>
            </a:solidFill>
            <a:ln>
              <a:solidFill>
                <a:srgbClr val="0A6B63"/>
              </a:solidFill>
            </a:ln>
          </c:spPr>
          <c:invertIfNegative val="1"/>
          <c:cat>
            <c:strRef>
              <c:f>Sheet1!$A$2:$A$6</c:f>
              <c:strCache>
                <c:ptCount val="5"/>
                <c:pt idx="0">
                  <c:v>51Careers.AI</c:v>
                </c:pt>
                <c:pt idx="1">
                  <c:v>ChatGPT / OpenAI</c:v>
                </c:pt>
                <c:pt idx="2">
                  <c:v>Google Gemini</c:v>
                </c:pt>
                <c:pt idx="3">
                  <c:v>Claude</c:v>
                </c:pt>
                <c:pt idx="4">
                  <c:v>Generic prep apps</c:v>
                </c:pt>
              </c:strCache>
            </c:strRef>
          </c:cat>
          <c:val>
            <c:numRef>
              <c:f>Sheet1!$B$2:$B$6</c:f>
              <c:numCache>
                <c:formatCode>General</c:formatCode>
                <c:ptCount val="5"/>
                <c:pt idx="0">
                  <c:v>6</c:v>
                </c:pt>
                <c:pt idx="1">
                  <c:v>2</c:v>
                </c:pt>
                <c:pt idx="2">
                  <c:v>2</c:v>
                </c:pt>
                <c:pt idx="3">
                  <c:v>2</c:v>
                </c:pt>
                <c:pt idx="4">
                  <c:v>3</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0A6B63"/>
                    </a:solidFill>
                  </a:ln>
                </c14:spPr>
              </c14:invertSolidFillFmt>
            </c:ext>
            <c:ext xmlns:c16="http://schemas.microsoft.com/office/drawing/2014/chart" uri="{C3380CC4-5D6E-409C-BE32-E72D297353CC}">
              <c16:uniqueId val="{00000000-0DAD-439A-BF05-974717E1301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113994440"/>
        <c:crosses val="autoZero"/>
        <c:auto val="1"/>
        <c:lblAlgn val="ctr"/>
        <c:lblOffset val="100"/>
        <c:noMultiLvlLbl val="0"/>
      </c:catAx>
      <c:valAx>
        <c:axId val="-2113994440"/>
        <c:scaling>
          <c:orientation val="minMax"/>
        </c:scaling>
        <c:delete val="0"/>
        <c:axPos val="b"/>
        <c:majorGridlines>
          <c:spPr>
            <a:ln>
              <a:solidFill>
                <a:srgbClr val="D4DEE8"/>
              </a:solidFill>
            </a:ln>
          </c:spPr>
        </c:majorGridlines>
        <c:numFmt formatCode="General" sourceLinked="1"/>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Active users (index)</c:v>
                </c:pt>
              </c:strCache>
            </c:strRef>
          </c:tx>
          <c:spPr>
            <a:ln>
              <a:solidFill>
                <a:srgbClr val="0A6B63"/>
              </a:solidFill>
            </a:ln>
          </c:spPr>
          <c:cat>
            <c:strRef>
              <c:f>Sheet1!$A$2:$A$6</c:f>
              <c:strCache>
                <c:ptCount val="5"/>
                <c:pt idx="0">
                  <c:v>2025</c:v>
                </c:pt>
                <c:pt idx="1">
                  <c:v>2026</c:v>
                </c:pt>
                <c:pt idx="2">
                  <c:v>2027</c:v>
                </c:pt>
                <c:pt idx="3">
                  <c:v>2028</c:v>
                </c:pt>
                <c:pt idx="4">
                  <c:v>2029</c:v>
                </c:pt>
              </c:strCache>
            </c:strRef>
          </c:cat>
          <c:val>
            <c:numRef>
              <c:f>Sheet1!$B$2:$B$6</c:f>
              <c:numCache>
                <c:formatCode>General</c:formatCode>
                <c:ptCount val="5"/>
                <c:pt idx="0">
                  <c:v>10</c:v>
                </c:pt>
                <c:pt idx="1">
                  <c:v>35</c:v>
                </c:pt>
                <c:pt idx="2">
                  <c:v>80</c:v>
                </c:pt>
                <c:pt idx="3">
                  <c:v>140</c:v>
                </c:pt>
                <c:pt idx="4">
                  <c:v>220</c:v>
                </c:pt>
              </c:numCache>
            </c:numRef>
          </c:val>
          <c:smooth val="0"/>
          <c:extLst>
            <c:ext xmlns:c16="http://schemas.microsoft.com/office/drawing/2014/chart" uri="{C3380CC4-5D6E-409C-BE32-E72D297353CC}">
              <c16:uniqueId val="{00000000-D054-4AC5-9AE4-97C3B30DC3F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140495176"/>
        <c:crosses val="autoZero"/>
        <c:auto val="1"/>
        <c:lblAlgn val="ctr"/>
        <c:lblOffset val="100"/>
        <c:noMultiLvlLbl val="0"/>
      </c:catAx>
      <c:valAx>
        <c:axId val="2140495176"/>
        <c:scaling>
          <c:orientation val="minMax"/>
        </c:scaling>
        <c:delete val="0"/>
        <c:axPos val="l"/>
        <c:majorGridlines>
          <c:spPr>
            <a:ln>
              <a:solidFill>
                <a:srgbClr val="D4DEE8"/>
              </a:solidFill>
            </a:ln>
          </c:spPr>
        </c:majorGridlines>
        <c:numFmt formatCode="General" sourceLinked="1"/>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pt idx="0">
                  <c:v>Platform revenue</c:v>
                </c:pt>
              </c:strCache>
            </c:strRef>
          </c:tx>
          <c:spPr>
            <a:solidFill>
              <a:srgbClr val="0A6B63"/>
            </a:solidFill>
            <a:ln>
              <a:solidFill>
                <a:srgbClr val="0A6B63"/>
              </a:solidFill>
            </a:ln>
          </c:spPr>
          <c:invertIfNegative val="1"/>
          <c:cat>
            <c:strRef>
              <c:f>Sheet1!$A$2:$A$6</c:f>
              <c:strCache>
                <c:ptCount val="5"/>
                <c:pt idx="0">
                  <c:v>2025A</c:v>
                </c:pt>
                <c:pt idx="1">
                  <c:v>2026E</c:v>
                </c:pt>
                <c:pt idx="2">
                  <c:v>2027E</c:v>
                </c:pt>
                <c:pt idx="3">
                  <c:v>2028E</c:v>
                </c:pt>
                <c:pt idx="4">
                  <c:v>2029E</c:v>
                </c:pt>
              </c:strCache>
            </c:strRef>
          </c:cat>
          <c:val>
            <c:numRef>
              <c:f>Sheet1!$B$2:$B$6</c:f>
              <c:numCache>
                <c:formatCode>General</c:formatCode>
                <c:ptCount val="5"/>
                <c:pt idx="0">
                  <c:v>0</c:v>
                </c:pt>
                <c:pt idx="1">
                  <c:v>0.8</c:v>
                </c:pt>
                <c:pt idx="2">
                  <c:v>3.5</c:v>
                </c:pt>
                <c:pt idx="3">
                  <c:v>9</c:v>
                </c:pt>
                <c:pt idx="4">
                  <c:v>18</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0A6B63"/>
                    </a:solidFill>
                  </a:ln>
                </c14:spPr>
              </c14:invertSolidFillFmt>
            </c:ext>
            <c:ext xmlns:c16="http://schemas.microsoft.com/office/drawing/2014/chart" uri="{C3380CC4-5D6E-409C-BE32-E72D297353CC}">
              <c16:uniqueId val="{00000000-A367-4391-879E-F1B2D8CBE73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4DEE8"/>
              </a:solidFill>
            </a:ln>
          </c:spPr>
        </c:majorGridlines>
        <c:numFmt formatCode="General" sourceLinked="1"/>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Paid conversion</c:v>
                </c:pt>
              </c:strCache>
            </c:strRef>
          </c:tx>
          <c:spPr>
            <a:ln>
              <a:solidFill>
                <a:srgbClr val="0A6B63"/>
              </a:solidFill>
            </a:ln>
          </c:spPr>
          <c:cat>
            <c:strRef>
              <c:f>Sheet1!$A$2:$A$6</c:f>
              <c:strCache>
                <c:ptCount val="5"/>
                <c:pt idx="0">
                  <c:v>2025A</c:v>
                </c:pt>
                <c:pt idx="1">
                  <c:v>2026E</c:v>
                </c:pt>
                <c:pt idx="2">
                  <c:v>2027E</c:v>
                </c:pt>
                <c:pt idx="3">
                  <c:v>2028E</c:v>
                </c:pt>
                <c:pt idx="4">
                  <c:v>2029E</c:v>
                </c:pt>
              </c:strCache>
            </c:strRef>
          </c:cat>
          <c:val>
            <c:numRef>
              <c:f>Sheet1!$B$2:$B$6</c:f>
              <c:numCache>
                <c:formatCode>General</c:formatCode>
                <c:ptCount val="5"/>
                <c:pt idx="0">
                  <c:v>0</c:v>
                </c:pt>
                <c:pt idx="1">
                  <c:v>2</c:v>
                </c:pt>
                <c:pt idx="2">
                  <c:v>5</c:v>
                </c:pt>
                <c:pt idx="3">
                  <c:v>8</c:v>
                </c:pt>
                <c:pt idx="4">
                  <c:v>12</c:v>
                </c:pt>
              </c:numCache>
            </c:numRef>
          </c:val>
          <c:smooth val="0"/>
          <c:extLst>
            <c:ext xmlns:c16="http://schemas.microsoft.com/office/drawing/2014/chart" uri="{C3380CC4-5D6E-409C-BE32-E72D297353CC}">
              <c16:uniqueId val="{00000000-2FC9-475F-9D9E-E51AA4D0FF7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140495176"/>
        <c:crosses val="autoZero"/>
        <c:auto val="1"/>
        <c:lblAlgn val="ctr"/>
        <c:lblOffset val="100"/>
        <c:noMultiLvlLbl val="0"/>
      </c:catAx>
      <c:valAx>
        <c:axId val="2140495176"/>
        <c:scaling>
          <c:orientation val="minMax"/>
        </c:scaling>
        <c:delete val="0"/>
        <c:axPos val="l"/>
        <c:majorGridlines>
          <c:spPr>
            <a:ln>
              <a:solidFill>
                <a:srgbClr val="D4DEE8"/>
              </a:solidFill>
            </a:ln>
          </c:spPr>
        </c:majorGridlines>
        <c:numFmt formatCode="General" sourceLinked="1"/>
        <c:majorTickMark val="out"/>
        <c:minorTickMark val="none"/>
        <c:tickLblPos val="nextTo"/>
        <c:spPr>
          <a:ln>
            <a:solidFill>
              <a:srgbClr val="D4DEE8"/>
            </a:solidFill>
          </a:ln>
        </c:spPr>
        <c:txPr>
          <a:bodyPr/>
          <a:lstStyle/>
          <a:p>
            <a:pPr>
              <a:defRPr sz="900">
                <a:solidFill>
                  <a:srgbClr val="5E6E80"/>
                </a:solidFill>
                <a:latin typeface="Segoe UI"/>
              </a:defRPr>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overlay val="0"/>
    </c:title>
    <c:autoTitleDeleted val="0"/>
    <c:plotArea>
      <c:layout/>
      <c:doughnutChart>
        <c:varyColors val="1"/>
        <c:ser>
          <c:idx val="0"/>
          <c:order val="0"/>
          <c:tx>
            <c:strRef>
              <c:f>Sheet1!$B$1</c:f>
              <c:strCache>
                <c:ptCount val="1"/>
                <c:pt idx="0">
                  <c:v>Use of Proceeds</c:v>
                </c:pt>
              </c:strCache>
            </c:strRef>
          </c:tx>
          <c:spPr>
            <a:solidFill>
              <a:srgbClr val="0A6B63"/>
            </a:solidFill>
            <a:ln>
              <a:solidFill>
                <a:srgbClr val="0A6B63"/>
              </a:solidFill>
            </a:ln>
          </c:spPr>
          <c:dPt>
            <c:idx val="0"/>
            <c:bubble3D val="0"/>
            <c:spPr>
              <a:solidFill>
                <a:srgbClr val="0A6B63"/>
              </a:solidFill>
            </c:spPr>
            <c:extLst>
              <c:ext xmlns:c16="http://schemas.microsoft.com/office/drawing/2014/chart" uri="{C3380CC4-5D6E-409C-BE32-E72D297353CC}">
                <c16:uniqueId val="{00000001-6B1D-4A22-8635-9DB75D9ED0B7}"/>
              </c:ext>
            </c:extLst>
          </c:dPt>
          <c:dPt>
            <c:idx val="1"/>
            <c:bubble3D val="0"/>
            <c:spPr>
              <a:solidFill>
                <a:srgbClr val="2F5D8A"/>
              </a:solidFill>
            </c:spPr>
            <c:extLst>
              <c:ext xmlns:c16="http://schemas.microsoft.com/office/drawing/2014/chart" uri="{C3380CC4-5D6E-409C-BE32-E72D297353CC}">
                <c16:uniqueId val="{00000003-6B1D-4A22-8635-9DB75D9ED0B7}"/>
              </c:ext>
            </c:extLst>
          </c:dPt>
          <c:dPt>
            <c:idx val="2"/>
            <c:bubble3D val="0"/>
            <c:spPr>
              <a:solidFill>
                <a:srgbClr val="8A6D3B"/>
              </a:solidFill>
            </c:spPr>
            <c:extLst>
              <c:ext xmlns:c16="http://schemas.microsoft.com/office/drawing/2014/chart" uri="{C3380CC4-5D6E-409C-BE32-E72D297353CC}">
                <c16:uniqueId val="{00000005-6B1D-4A22-8635-9DB75D9ED0B7}"/>
              </c:ext>
            </c:extLst>
          </c:dPt>
          <c:dPt>
            <c:idx val="3"/>
            <c:bubble3D val="0"/>
            <c:spPr>
              <a:solidFill>
                <a:srgbClr val="6B7C8F"/>
              </a:solidFill>
            </c:spPr>
            <c:extLst>
              <c:ext xmlns:c16="http://schemas.microsoft.com/office/drawing/2014/chart" uri="{C3380CC4-5D6E-409C-BE32-E72D297353CC}">
                <c16:uniqueId val="{00000007-6B1D-4A22-8635-9DB75D9ED0B7}"/>
              </c:ext>
            </c:extLst>
          </c:dPt>
          <c:dPt>
            <c:idx val="4"/>
            <c:bubble3D val="0"/>
            <c:spPr>
              <a:solidFill>
                <a:srgbClr val="A8B8C6"/>
              </a:solidFill>
            </c:spPr>
            <c:extLst>
              <c:ext xmlns:c16="http://schemas.microsoft.com/office/drawing/2014/chart" uri="{C3380CC4-5D6E-409C-BE32-E72D297353CC}">
                <c16:uniqueId val="{00000009-6B1D-4A22-8635-9DB75D9ED0B7}"/>
              </c:ext>
            </c:extLst>
          </c:dPt>
          <c:cat>
            <c:strRef>
              <c:f>Sheet1!$A$2:$A$6</c:f>
              <c:strCache>
                <c:ptCount val="5"/>
                <c:pt idx="0">
                  <c:v>Product &amp; AI development (35%)</c:v>
                </c:pt>
                <c:pt idx="1">
                  <c:v>International expansion (30%)</c:v>
                </c:pt>
                <c:pt idx="2">
                  <c:v>Talent &amp; team (20%)</c:v>
                </c:pt>
                <c:pt idx="3">
                  <c:v>Brand &amp; growth marketing (10%)</c:v>
                </c:pt>
                <c:pt idx="4">
                  <c:v>Working capital (5%)</c:v>
                </c:pt>
              </c:strCache>
            </c:strRef>
          </c:cat>
          <c:val>
            <c:numRef>
              <c:f>Sheet1!$B$2:$B$6</c:f>
              <c:numCache>
                <c:formatCode>General</c:formatCode>
                <c:ptCount val="5"/>
                <c:pt idx="0">
                  <c:v>35</c:v>
                </c:pt>
                <c:pt idx="1">
                  <c:v>30</c:v>
                </c:pt>
                <c:pt idx="2">
                  <c:v>20</c:v>
                </c:pt>
                <c:pt idx="3">
                  <c:v>10</c:v>
                </c:pt>
                <c:pt idx="4">
                  <c:v>5</c:v>
                </c:pt>
              </c:numCache>
            </c:numRef>
          </c:val>
          <c:extLst>
            <c:ext xmlns:c16="http://schemas.microsoft.com/office/drawing/2014/chart" uri="{C3380CC4-5D6E-409C-BE32-E72D297353CC}">
              <c16:uniqueId val="{0000000A-6B1D-4A22-8635-9DB75D9ED0B7}"/>
            </c:ext>
          </c:extLst>
        </c:ser>
        <c:dLbls>
          <c:showLegendKey val="0"/>
          <c:showVal val="0"/>
          <c:showCatName val="0"/>
          <c:showSerName val="0"/>
          <c:showPercent val="0"/>
          <c:showBubbleSize val="0"/>
          <c:showLeaderLines val="1"/>
        </c:dLbls>
        <c:firstSliceAng val="0"/>
        <c:holeSize val="50"/>
      </c:doughnutChart>
    </c:plotArea>
    <c:legend>
      <c:legendPos val="b"/>
      <c:overlay val="0"/>
      <c:txPr>
        <a:bodyPr/>
        <a:lstStyle/>
        <a:p>
          <a:pPr>
            <a:defRPr sz="900">
              <a:solidFill>
                <a:srgbClr val="5E6E80"/>
              </a:solidFill>
              <a:latin typeface="Segoe U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623560"/>
            <a:ext cx="12191695" cy="1234440"/>
          </a:xfrm>
          <a:prstGeom prst="rect">
            <a:avLst/>
          </a:prstGeom>
          <a:solidFill>
            <a:srgbClr val="0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64592" cy="68580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457200"/>
            <a:ext cx="9144000" cy="274320"/>
          </a:xfrm>
          <a:prstGeom prst="rect">
            <a:avLst/>
          </a:prstGeom>
          <a:noFill/>
        </p:spPr>
        <p:txBody>
          <a:bodyPr wrap="square" anchor="t"/>
          <a:lstStyle/>
          <a:p>
            <a:pPr algn="l"/>
            <a:r>
              <a:rPr sz="1100" b="1" i="0">
                <a:solidFill>
                  <a:srgbClr val="D7EBE8"/>
                </a:solidFill>
                <a:latin typeface="Segoe UI"/>
              </a:rPr>
              <a:t>CONFIDENTIAL INVESTOR PRESENTATION</a:t>
            </a:r>
          </a:p>
        </p:txBody>
      </p:sp>
      <p:sp>
        <p:nvSpPr>
          <p:cNvPr id="6" name="TextBox 5"/>
          <p:cNvSpPr txBox="1"/>
          <p:nvPr/>
        </p:nvSpPr>
        <p:spPr>
          <a:xfrm>
            <a:off x="640080" y="1051560"/>
            <a:ext cx="10058400" cy="685800"/>
          </a:xfrm>
          <a:prstGeom prst="rect">
            <a:avLst/>
          </a:prstGeom>
          <a:noFill/>
        </p:spPr>
        <p:txBody>
          <a:bodyPr wrap="square" anchor="t"/>
          <a:lstStyle/>
          <a:p>
            <a:pPr algn="l"/>
            <a:r>
              <a:rPr sz="4600" b="1" i="0">
                <a:solidFill>
                  <a:srgbClr val="FFFFFF"/>
                </a:solidFill>
                <a:latin typeface="Georgia"/>
              </a:rPr>
              <a:t>51CAREERS.AI</a:t>
            </a:r>
          </a:p>
        </p:txBody>
      </p:sp>
      <p:sp>
        <p:nvSpPr>
          <p:cNvPr id="7" name="TextBox 6"/>
          <p:cNvSpPr txBox="1"/>
          <p:nvPr/>
        </p:nvSpPr>
        <p:spPr>
          <a:xfrm>
            <a:off x="640080" y="1783080"/>
            <a:ext cx="10058400" cy="365760"/>
          </a:xfrm>
          <a:prstGeom prst="rect">
            <a:avLst/>
          </a:prstGeom>
          <a:noFill/>
        </p:spPr>
        <p:txBody>
          <a:bodyPr wrap="square" anchor="t"/>
          <a:lstStyle/>
          <a:p>
            <a:pPr algn="l"/>
            <a:r>
              <a:rPr sz="1800" b="0" i="0">
                <a:solidFill>
                  <a:srgbClr val="C5D5E0"/>
                </a:solidFill>
                <a:latin typeface="Segoe UI"/>
              </a:rPr>
              <a:t>The AI-Powered Global Career Platform</a:t>
            </a:r>
          </a:p>
        </p:txBody>
      </p:sp>
      <p:sp>
        <p:nvSpPr>
          <p:cNvPr id="8" name="TextBox 7"/>
          <p:cNvSpPr txBox="1"/>
          <p:nvPr/>
        </p:nvSpPr>
        <p:spPr>
          <a:xfrm>
            <a:off x="640080" y="2240280"/>
            <a:ext cx="10515600" cy="502920"/>
          </a:xfrm>
          <a:prstGeom prst="rect">
            <a:avLst/>
          </a:prstGeom>
          <a:noFill/>
        </p:spPr>
        <p:txBody>
          <a:bodyPr wrap="square" anchor="t"/>
          <a:lstStyle/>
          <a:p>
            <a:pPr algn="l"/>
            <a:r>
              <a:rPr sz="1300" b="0" i="0">
                <a:solidFill>
                  <a:srgbClr val="A8BECC"/>
                </a:solidFill>
                <a:latin typeface="Segoe UI"/>
              </a:rPr>
              <a:t>Who we are — An AI career platform from the 51 Careers team: mock interviews, a 100K+ question bank, and a new AI résumé builder — free today, built for global professionals.</a:t>
            </a:r>
          </a:p>
        </p:txBody>
      </p:sp>
      <p:sp>
        <p:nvSpPr>
          <p:cNvPr id="9" name="TextBox 8"/>
          <p:cNvSpPr txBox="1"/>
          <p:nvPr/>
        </p:nvSpPr>
        <p:spPr>
          <a:xfrm>
            <a:off x="640080" y="2880360"/>
            <a:ext cx="7315200" cy="274320"/>
          </a:xfrm>
          <a:prstGeom prst="rect">
            <a:avLst/>
          </a:prstGeom>
          <a:noFill/>
        </p:spPr>
        <p:txBody>
          <a:bodyPr wrap="square" anchor="t"/>
          <a:lstStyle/>
          <a:p>
            <a:pPr algn="l"/>
            <a:r>
              <a:rPr sz="1300" b="1" i="0">
                <a:solidFill>
                  <a:srgbClr val="0A6B63"/>
                </a:solidFill>
                <a:latin typeface="Segoe UI"/>
              </a:rPr>
              <a:t>Growth Financing</a:t>
            </a:r>
          </a:p>
        </p:txBody>
      </p:sp>
      <p:sp>
        <p:nvSpPr>
          <p:cNvPr id="10" name="TextBox 9"/>
          <p:cNvSpPr txBox="1"/>
          <p:nvPr/>
        </p:nvSpPr>
        <p:spPr>
          <a:xfrm>
            <a:off x="640080" y="3154680"/>
            <a:ext cx="8229600" cy="274320"/>
          </a:xfrm>
          <a:prstGeom prst="rect">
            <a:avLst/>
          </a:prstGeom>
          <a:noFill/>
        </p:spPr>
        <p:txBody>
          <a:bodyPr wrap="square" anchor="t"/>
          <a:lstStyle/>
          <a:p>
            <a:pPr algn="l"/>
            <a:r>
              <a:rPr sz="1400" b="0" i="0">
                <a:solidFill>
                  <a:srgbClr val="FFFFFF"/>
                </a:solidFill>
                <a:latin typeface="Segoe UI"/>
              </a:rPr>
              <a:t>US$5.0 Million Private Placement   ·   July 2026</a:t>
            </a:r>
          </a:p>
        </p:txBody>
      </p:sp>
      <p:sp>
        <p:nvSpPr>
          <p:cNvPr id="11" name="Rounded Rectangle 10"/>
          <p:cNvSpPr/>
          <p:nvPr/>
        </p:nvSpPr>
        <p:spPr>
          <a:xfrm>
            <a:off x="502920" y="3794760"/>
            <a:ext cx="2697480" cy="1234440"/>
          </a:xfrm>
          <a:prstGeom prst="roundRect">
            <a:avLst>
              <a:gd name="adj" fmla="val 8000"/>
            </a:avLst>
          </a:prstGeom>
          <a:solidFill>
            <a:srgbClr val="12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3931920"/>
            <a:ext cx="2377440" cy="502920"/>
          </a:xfrm>
          <a:prstGeom prst="rect">
            <a:avLst/>
          </a:prstGeom>
          <a:noFill/>
        </p:spPr>
        <p:txBody>
          <a:bodyPr wrap="square" anchor="t"/>
          <a:lstStyle/>
          <a:p>
            <a:pPr algn="l"/>
            <a:r>
              <a:rPr sz="2600" b="1" i="0">
                <a:solidFill>
                  <a:srgbClr val="FFFFFF"/>
                </a:solidFill>
                <a:latin typeface="Georgia"/>
              </a:rPr>
              <a:t>2025</a:t>
            </a:r>
          </a:p>
        </p:txBody>
      </p:sp>
      <p:sp>
        <p:nvSpPr>
          <p:cNvPr id="13" name="TextBox 12"/>
          <p:cNvSpPr txBox="1"/>
          <p:nvPr/>
        </p:nvSpPr>
        <p:spPr>
          <a:xfrm>
            <a:off x="667512" y="4526280"/>
            <a:ext cx="2377440" cy="365760"/>
          </a:xfrm>
          <a:prstGeom prst="rect">
            <a:avLst/>
          </a:prstGeom>
          <a:noFill/>
        </p:spPr>
        <p:txBody>
          <a:bodyPr wrap="square" anchor="t"/>
          <a:lstStyle/>
          <a:p>
            <a:pPr algn="l"/>
            <a:r>
              <a:rPr sz="900" b="1" i="0">
                <a:solidFill>
                  <a:srgbClr val="D7EBE8"/>
                </a:solidFill>
                <a:latin typeface="Segoe UI"/>
              </a:rPr>
              <a:t>AI PLATFORM LAUNCHED</a:t>
            </a:r>
          </a:p>
        </p:txBody>
      </p:sp>
      <p:sp>
        <p:nvSpPr>
          <p:cNvPr id="14" name="Rounded Rectangle 13"/>
          <p:cNvSpPr/>
          <p:nvPr/>
        </p:nvSpPr>
        <p:spPr>
          <a:xfrm>
            <a:off x="3383280" y="3794760"/>
            <a:ext cx="2697480" cy="1234440"/>
          </a:xfrm>
          <a:prstGeom prst="roundRect">
            <a:avLst>
              <a:gd name="adj" fmla="val 8000"/>
            </a:avLst>
          </a:prstGeom>
          <a:solidFill>
            <a:srgbClr val="12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47872" y="3931920"/>
            <a:ext cx="2377440" cy="502920"/>
          </a:xfrm>
          <a:prstGeom prst="rect">
            <a:avLst/>
          </a:prstGeom>
          <a:noFill/>
        </p:spPr>
        <p:txBody>
          <a:bodyPr wrap="square" anchor="t"/>
          <a:lstStyle/>
          <a:p>
            <a:pPr algn="l"/>
            <a:r>
              <a:rPr sz="2600" b="1" i="0">
                <a:solidFill>
                  <a:srgbClr val="FFFFFF"/>
                </a:solidFill>
                <a:latin typeface="Georgia"/>
              </a:rPr>
              <a:t>10,000+</a:t>
            </a:r>
          </a:p>
        </p:txBody>
      </p:sp>
      <p:sp>
        <p:nvSpPr>
          <p:cNvPr id="16" name="TextBox 15"/>
          <p:cNvSpPr txBox="1"/>
          <p:nvPr/>
        </p:nvSpPr>
        <p:spPr>
          <a:xfrm>
            <a:off x="3547872" y="4526280"/>
            <a:ext cx="2377440" cy="365760"/>
          </a:xfrm>
          <a:prstGeom prst="rect">
            <a:avLst/>
          </a:prstGeom>
          <a:noFill/>
        </p:spPr>
        <p:txBody>
          <a:bodyPr wrap="square" anchor="t"/>
          <a:lstStyle/>
          <a:p>
            <a:pPr algn="l"/>
            <a:r>
              <a:rPr sz="900" b="1" i="0">
                <a:solidFill>
                  <a:srgbClr val="D7EBE8"/>
                </a:solidFill>
                <a:latin typeface="Segoe UI"/>
              </a:rPr>
              <a:t>CANDIDATES HELPED · 8 YRS</a:t>
            </a:r>
          </a:p>
        </p:txBody>
      </p:sp>
      <p:sp>
        <p:nvSpPr>
          <p:cNvPr id="17" name="Rounded Rectangle 16"/>
          <p:cNvSpPr/>
          <p:nvPr/>
        </p:nvSpPr>
        <p:spPr>
          <a:xfrm>
            <a:off x="6263640" y="3794760"/>
            <a:ext cx="2697480" cy="1234440"/>
          </a:xfrm>
          <a:prstGeom prst="roundRect">
            <a:avLst>
              <a:gd name="adj" fmla="val 8000"/>
            </a:avLst>
          </a:prstGeom>
          <a:solidFill>
            <a:srgbClr val="12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28232" y="3931920"/>
            <a:ext cx="2377440" cy="502920"/>
          </a:xfrm>
          <a:prstGeom prst="rect">
            <a:avLst/>
          </a:prstGeom>
          <a:noFill/>
        </p:spPr>
        <p:txBody>
          <a:bodyPr wrap="square" anchor="t"/>
          <a:lstStyle/>
          <a:p>
            <a:pPr algn="l"/>
            <a:r>
              <a:rPr sz="2600" b="1" i="0">
                <a:solidFill>
                  <a:srgbClr val="FFFFFF"/>
                </a:solidFill>
                <a:latin typeface="Georgia"/>
              </a:rPr>
              <a:t>100K+</a:t>
            </a:r>
          </a:p>
        </p:txBody>
      </p:sp>
      <p:sp>
        <p:nvSpPr>
          <p:cNvPr id="19" name="TextBox 18"/>
          <p:cNvSpPr txBox="1"/>
          <p:nvPr/>
        </p:nvSpPr>
        <p:spPr>
          <a:xfrm>
            <a:off x="6428232" y="4526280"/>
            <a:ext cx="2377440" cy="365760"/>
          </a:xfrm>
          <a:prstGeom prst="rect">
            <a:avLst/>
          </a:prstGeom>
          <a:noFill/>
        </p:spPr>
        <p:txBody>
          <a:bodyPr wrap="square" anchor="t"/>
          <a:lstStyle/>
          <a:p>
            <a:pPr algn="l"/>
            <a:r>
              <a:rPr sz="900" b="1" i="0">
                <a:solidFill>
                  <a:srgbClr val="D7EBE8"/>
                </a:solidFill>
                <a:latin typeface="Segoe UI"/>
              </a:rPr>
              <a:t>MOCK INTERVIEW QUESTIONS</a:t>
            </a:r>
          </a:p>
        </p:txBody>
      </p:sp>
      <p:sp>
        <p:nvSpPr>
          <p:cNvPr id="20" name="Rounded Rectangle 19"/>
          <p:cNvSpPr/>
          <p:nvPr/>
        </p:nvSpPr>
        <p:spPr>
          <a:xfrm>
            <a:off x="9144000" y="3794760"/>
            <a:ext cx="2697480" cy="1234440"/>
          </a:xfrm>
          <a:prstGeom prst="roundRect">
            <a:avLst>
              <a:gd name="adj" fmla="val 8000"/>
            </a:avLst>
          </a:prstGeom>
          <a:solidFill>
            <a:srgbClr val="12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08592" y="3931920"/>
            <a:ext cx="2377440" cy="502920"/>
          </a:xfrm>
          <a:prstGeom prst="rect">
            <a:avLst/>
          </a:prstGeom>
          <a:noFill/>
        </p:spPr>
        <p:txBody>
          <a:bodyPr wrap="square" anchor="t"/>
          <a:lstStyle/>
          <a:p>
            <a:pPr algn="l"/>
            <a:r>
              <a:rPr sz="2600" b="1" i="0">
                <a:solidFill>
                  <a:srgbClr val="FFFFFF"/>
                </a:solidFill>
                <a:latin typeface="Georgia"/>
              </a:rPr>
              <a:t>US$0</a:t>
            </a:r>
          </a:p>
        </p:txBody>
      </p:sp>
      <p:sp>
        <p:nvSpPr>
          <p:cNvPr id="22" name="TextBox 21"/>
          <p:cNvSpPr txBox="1"/>
          <p:nvPr/>
        </p:nvSpPr>
        <p:spPr>
          <a:xfrm>
            <a:off x="9308592" y="4526280"/>
            <a:ext cx="2377440" cy="365760"/>
          </a:xfrm>
          <a:prstGeom prst="rect">
            <a:avLst/>
          </a:prstGeom>
          <a:noFill/>
        </p:spPr>
        <p:txBody>
          <a:bodyPr wrap="square" anchor="t"/>
          <a:lstStyle/>
          <a:p>
            <a:pPr algn="l"/>
            <a:r>
              <a:rPr sz="900" b="1" i="0">
                <a:solidFill>
                  <a:srgbClr val="D7EBE8"/>
                </a:solidFill>
                <a:latin typeface="Segoe UI"/>
              </a:rPr>
              <a:t>PLATFORM REVENUE TODAY</a:t>
            </a:r>
          </a:p>
        </p:txBody>
      </p:sp>
      <p:sp>
        <p:nvSpPr>
          <p:cNvPr id="23" name="TextBox 22"/>
          <p:cNvSpPr txBox="1"/>
          <p:nvPr/>
        </p:nvSpPr>
        <p:spPr>
          <a:xfrm>
            <a:off x="640080" y="5212080"/>
            <a:ext cx="10058400" cy="228600"/>
          </a:xfrm>
          <a:prstGeom prst="rect">
            <a:avLst/>
          </a:prstGeom>
          <a:noFill/>
        </p:spPr>
        <p:txBody>
          <a:bodyPr wrap="square" anchor="t"/>
          <a:lstStyle/>
          <a:p>
            <a:pPr algn="l"/>
            <a:r>
              <a:rPr sz="1100" b="0" i="0">
                <a:solidFill>
                  <a:srgbClr val="6B7C8F"/>
                </a:solidFill>
                <a:latin typeface="Segoe UI"/>
              </a:rPr>
              <a:t>Currently free to grow active users · Monetization via membership, consulting &amp; education fees</a:t>
            </a:r>
          </a:p>
        </p:txBody>
      </p:sp>
      <p:sp>
        <p:nvSpPr>
          <p:cNvPr id="24" name="TextBox 23"/>
          <p:cNvSpPr txBox="1"/>
          <p:nvPr/>
        </p:nvSpPr>
        <p:spPr>
          <a:xfrm>
            <a:off x="640080" y="6080760"/>
            <a:ext cx="10972800" cy="320040"/>
          </a:xfrm>
          <a:prstGeom prst="rect">
            <a:avLst/>
          </a:prstGeom>
          <a:noFill/>
        </p:spPr>
        <p:txBody>
          <a:bodyPr wrap="square" anchor="t"/>
          <a:lstStyle/>
          <a:p>
            <a:pPr algn="l"/>
            <a:r>
              <a:rPr sz="1000" b="1" i="0">
                <a:solidFill>
                  <a:srgbClr val="9AB0C0"/>
                </a:solidFill>
                <a:latin typeface="Segoe UI"/>
              </a:rPr>
              <a:t>NEW YORK  ·  SHANGHAI  ·  LONDON  ·  SINGAPORE  ·  SEOUL  ·  TORONTO  ·  DELHI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IMPORTANT NOTICE</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Disclaimer</a:t>
            </a:r>
          </a:p>
        </p:txBody>
      </p:sp>
      <p:sp>
        <p:nvSpPr>
          <p:cNvPr id="5" name="Rounded Rectangle 4"/>
          <p:cNvSpPr/>
          <p:nvPr/>
        </p:nvSpPr>
        <p:spPr>
          <a:xfrm>
            <a:off x="502920" y="1234440"/>
            <a:ext cx="11155680" cy="43891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463040"/>
            <a:ext cx="10607040" cy="3840480"/>
          </a:xfrm>
          <a:prstGeom prst="rect">
            <a:avLst/>
          </a:prstGeom>
          <a:noFill/>
        </p:spPr>
        <p:txBody>
          <a:bodyPr wrap="square" anchor="t"/>
          <a:lstStyle/>
          <a:p>
            <a:pPr algn="l"/>
            <a:r>
              <a:rPr sz="1200" b="0" i="0">
                <a:solidFill>
                  <a:srgbClr val="2C3A4B"/>
                </a:solidFill>
                <a:latin typeface="Segoe UI"/>
              </a:rPr>
              <a:t>This presentation has been prepared by 51 Careers Inc. and its affiliates (together, “51Careers.AI” or the “Company”) solely for informational purposes in connection with a proposed private financing. It is confidential and intended exclusively for the named recipient; it may not be reproduced, distributed, or disclosed, in whole or in part, without the Company’s prior written consent.
This document does not constitute an offer to sell, or a solicitation of an offer to buy, any securities in any jurisdiction. Any such offer will be made only pursuant to definitive documentation and only to qualified investors in compliance with applicable securities laws.
Certain statements herein are forward-looking and reflect current expectations of management. Such statements involve known and unknown risks and uncertainties, and actual results may differ materially. Certain market, operating, and financial figures are estimates — including third-party estimates — presented for illustration only and remain subject to confirmation in due diligence. No representation or warranty, express or implied, is made as to the accuracy or completeness of the information contained herein, and nothing herein constitutes legal, tax, financial, or investment advice. Recipients should conduct their own independent investigation and analysis.</a:t>
            </a:r>
          </a:p>
        </p:txBody>
      </p:sp>
      <p:sp>
        <p:nvSpPr>
          <p:cNvPr id="7" name="TextBox 6"/>
          <p:cNvSpPr txBox="1"/>
          <p:nvPr/>
        </p:nvSpPr>
        <p:spPr>
          <a:xfrm>
            <a:off x="502920" y="5806440"/>
            <a:ext cx="7315200" cy="274320"/>
          </a:xfrm>
          <a:prstGeom prst="rect">
            <a:avLst/>
          </a:prstGeom>
          <a:noFill/>
        </p:spPr>
        <p:txBody>
          <a:bodyPr wrap="square" anchor="t"/>
          <a:lstStyle/>
          <a:p>
            <a:pPr algn="l"/>
            <a:r>
              <a:rPr sz="1000" b="0" i="0">
                <a:solidFill>
                  <a:srgbClr val="5E6E80"/>
                </a:solidFill>
                <a:latin typeface="Segoe UI"/>
              </a:rPr>
              <a:t>Prepared by 51Careers.AI — July 2026</a:t>
            </a:r>
          </a:p>
        </p:txBody>
      </p:sp>
      <p:sp>
        <p:nvSpPr>
          <p:cNvPr id="8" name="Rectangle 7"/>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11" name="TextBox 10"/>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EXECUTIVE SUMMARY</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Who We Are &amp; Why Now</a:t>
            </a:r>
          </a:p>
        </p:txBody>
      </p:sp>
      <p:sp>
        <p:nvSpPr>
          <p:cNvPr id="5" name="Rounded Rectangle 4"/>
          <p:cNvSpPr/>
          <p:nvPr/>
        </p:nvSpPr>
        <p:spPr>
          <a:xfrm>
            <a:off x="502920" y="123444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3444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2926080" cy="365760"/>
          </a:xfrm>
          <a:prstGeom prst="rect">
            <a:avLst/>
          </a:prstGeom>
          <a:noFill/>
        </p:spPr>
        <p:txBody>
          <a:bodyPr wrap="square" anchor="t"/>
          <a:lstStyle/>
          <a:p>
            <a:pPr algn="l"/>
            <a:r>
              <a:rPr sz="1800" b="1" i="0">
                <a:solidFill>
                  <a:srgbClr val="0A6B63"/>
                </a:solidFill>
                <a:latin typeface="Georgia"/>
              </a:rPr>
              <a:t>01</a:t>
            </a:r>
          </a:p>
        </p:txBody>
      </p:sp>
      <p:sp>
        <p:nvSpPr>
          <p:cNvPr id="8" name="TextBox 7"/>
          <p:cNvSpPr txBox="1"/>
          <p:nvPr/>
        </p:nvSpPr>
        <p:spPr>
          <a:xfrm>
            <a:off x="731520" y="1874519"/>
            <a:ext cx="2926080" cy="411480"/>
          </a:xfrm>
          <a:prstGeom prst="rect">
            <a:avLst/>
          </a:prstGeom>
          <a:noFill/>
        </p:spPr>
        <p:txBody>
          <a:bodyPr wrap="square" anchor="t"/>
          <a:lstStyle/>
          <a:p>
            <a:pPr algn="l"/>
            <a:r>
              <a:rPr sz="1400" b="1" i="0">
                <a:solidFill>
                  <a:srgbClr val="0B1F33"/>
                </a:solidFill>
                <a:latin typeface="Segoe UI"/>
              </a:rPr>
              <a:t>Who We Are</a:t>
            </a:r>
          </a:p>
        </p:txBody>
      </p:sp>
      <p:sp>
        <p:nvSpPr>
          <p:cNvPr id="9" name="TextBox 8"/>
          <p:cNvSpPr txBox="1"/>
          <p:nvPr/>
        </p:nvSpPr>
        <p:spPr>
          <a:xfrm>
            <a:off x="731520" y="2331720"/>
            <a:ext cx="2926080" cy="914400"/>
          </a:xfrm>
          <a:prstGeom prst="rect">
            <a:avLst/>
          </a:prstGeom>
          <a:noFill/>
        </p:spPr>
        <p:txBody>
          <a:bodyPr wrap="square" anchor="t"/>
          <a:lstStyle/>
          <a:p>
            <a:pPr algn="l"/>
            <a:r>
              <a:rPr sz="1100" b="0" i="0">
                <a:solidFill>
                  <a:srgbClr val="2C3A4B"/>
                </a:solidFill>
                <a:latin typeface="Segoe UI"/>
              </a:rPr>
              <a:t>51Careers.AI is the AI-powered career platform from the 51 Careers team — helping professionals worldwide prepare, apply, and compete for great jobs.</a:t>
            </a:r>
          </a:p>
        </p:txBody>
      </p:sp>
      <p:sp>
        <p:nvSpPr>
          <p:cNvPr id="10" name="Rounded Rectangle 9"/>
          <p:cNvSpPr/>
          <p:nvPr/>
        </p:nvSpPr>
        <p:spPr>
          <a:xfrm>
            <a:off x="4160520" y="123444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60520" y="123444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1417320"/>
            <a:ext cx="2926080" cy="365760"/>
          </a:xfrm>
          <a:prstGeom prst="rect">
            <a:avLst/>
          </a:prstGeom>
          <a:noFill/>
        </p:spPr>
        <p:txBody>
          <a:bodyPr wrap="square" anchor="t"/>
          <a:lstStyle/>
          <a:p>
            <a:pPr algn="l"/>
            <a:r>
              <a:rPr sz="1800" b="1" i="0">
                <a:solidFill>
                  <a:srgbClr val="0A6B63"/>
                </a:solidFill>
                <a:latin typeface="Georgia"/>
              </a:rPr>
              <a:t>02</a:t>
            </a:r>
          </a:p>
        </p:txBody>
      </p:sp>
      <p:sp>
        <p:nvSpPr>
          <p:cNvPr id="13" name="TextBox 12"/>
          <p:cNvSpPr txBox="1"/>
          <p:nvPr/>
        </p:nvSpPr>
        <p:spPr>
          <a:xfrm>
            <a:off x="4389120" y="1874519"/>
            <a:ext cx="2926080" cy="411480"/>
          </a:xfrm>
          <a:prstGeom prst="rect">
            <a:avLst/>
          </a:prstGeom>
          <a:noFill/>
        </p:spPr>
        <p:txBody>
          <a:bodyPr wrap="square" anchor="t"/>
          <a:lstStyle/>
          <a:p>
            <a:pPr algn="l"/>
            <a:r>
              <a:rPr sz="1400" b="1" i="0">
                <a:solidFill>
                  <a:srgbClr val="0B1F33"/>
                </a:solidFill>
                <a:latin typeface="Segoe UI"/>
              </a:rPr>
              <a:t>Our Product</a:t>
            </a:r>
          </a:p>
        </p:txBody>
      </p:sp>
      <p:sp>
        <p:nvSpPr>
          <p:cNvPr id="14" name="TextBox 13"/>
          <p:cNvSpPr txBox="1"/>
          <p:nvPr/>
        </p:nvSpPr>
        <p:spPr>
          <a:xfrm>
            <a:off x="4389120" y="2331720"/>
            <a:ext cx="2926080" cy="914400"/>
          </a:xfrm>
          <a:prstGeom prst="rect">
            <a:avLst/>
          </a:prstGeom>
          <a:noFill/>
        </p:spPr>
        <p:txBody>
          <a:bodyPr wrap="square" anchor="t"/>
          <a:lstStyle/>
          <a:p>
            <a:pPr algn="l"/>
            <a:r>
              <a:rPr sz="1100" b="0" i="0">
                <a:solidFill>
                  <a:srgbClr val="2C3A4B"/>
                </a:solidFill>
                <a:latin typeface="Segoe UI"/>
              </a:rPr>
              <a:t>AI mock interviews, a proprietary 100K+ interview-question database, and a new AI résumé builder — plus coaching pathways as users grow.</a:t>
            </a:r>
          </a:p>
        </p:txBody>
      </p:sp>
      <p:sp>
        <p:nvSpPr>
          <p:cNvPr id="15" name="Rounded Rectangle 14"/>
          <p:cNvSpPr/>
          <p:nvPr/>
        </p:nvSpPr>
        <p:spPr>
          <a:xfrm>
            <a:off x="7818120" y="123444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123444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0" y="1417320"/>
            <a:ext cx="2926080" cy="365760"/>
          </a:xfrm>
          <a:prstGeom prst="rect">
            <a:avLst/>
          </a:prstGeom>
          <a:noFill/>
        </p:spPr>
        <p:txBody>
          <a:bodyPr wrap="square" anchor="t"/>
          <a:lstStyle/>
          <a:p>
            <a:pPr algn="l"/>
            <a:r>
              <a:rPr sz="1800" b="1" i="0">
                <a:solidFill>
                  <a:srgbClr val="0A6B63"/>
                </a:solidFill>
                <a:latin typeface="Georgia"/>
              </a:rPr>
              <a:t>03</a:t>
            </a:r>
          </a:p>
        </p:txBody>
      </p:sp>
      <p:sp>
        <p:nvSpPr>
          <p:cNvPr id="18" name="TextBox 17"/>
          <p:cNvSpPr txBox="1"/>
          <p:nvPr/>
        </p:nvSpPr>
        <p:spPr>
          <a:xfrm>
            <a:off x="8046720" y="1874519"/>
            <a:ext cx="2926080" cy="411480"/>
          </a:xfrm>
          <a:prstGeom prst="rect">
            <a:avLst/>
          </a:prstGeom>
          <a:noFill/>
        </p:spPr>
        <p:txBody>
          <a:bodyPr wrap="square" anchor="t"/>
          <a:lstStyle/>
          <a:p>
            <a:pPr algn="l"/>
            <a:r>
              <a:rPr sz="1400" b="1" i="0">
                <a:solidFill>
                  <a:srgbClr val="0B1F33"/>
                </a:solidFill>
                <a:latin typeface="Segoe UI"/>
              </a:rPr>
              <a:t>Proven Demand Base</a:t>
            </a:r>
          </a:p>
        </p:txBody>
      </p:sp>
      <p:sp>
        <p:nvSpPr>
          <p:cNvPr id="19" name="TextBox 18"/>
          <p:cNvSpPr txBox="1"/>
          <p:nvPr/>
        </p:nvSpPr>
        <p:spPr>
          <a:xfrm>
            <a:off x="8046720" y="2331720"/>
            <a:ext cx="2926080" cy="914400"/>
          </a:xfrm>
          <a:prstGeom prst="rect">
            <a:avLst/>
          </a:prstGeom>
          <a:noFill/>
        </p:spPr>
        <p:txBody>
          <a:bodyPr wrap="square" anchor="t"/>
          <a:lstStyle/>
          <a:p>
            <a:pPr algn="l"/>
            <a:r>
              <a:rPr sz="1100" b="0" i="0">
                <a:solidFill>
                  <a:srgbClr val="2C3A4B"/>
                </a:solidFill>
                <a:latin typeface="Segoe UI"/>
              </a:rPr>
              <a:t>Over 10,000 candidates helped across eight years of career-development operations; the AI platform launched in 2025 and is free today.</a:t>
            </a:r>
          </a:p>
        </p:txBody>
      </p:sp>
      <p:sp>
        <p:nvSpPr>
          <p:cNvPr id="20" name="Rounded Rectangle 19"/>
          <p:cNvSpPr/>
          <p:nvPr/>
        </p:nvSpPr>
        <p:spPr>
          <a:xfrm>
            <a:off x="502920" y="370332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370332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3886200"/>
            <a:ext cx="2926080" cy="365760"/>
          </a:xfrm>
          <a:prstGeom prst="rect">
            <a:avLst/>
          </a:prstGeom>
          <a:noFill/>
        </p:spPr>
        <p:txBody>
          <a:bodyPr wrap="square" anchor="t"/>
          <a:lstStyle/>
          <a:p>
            <a:pPr algn="l"/>
            <a:r>
              <a:rPr sz="1800" b="1" i="0">
                <a:solidFill>
                  <a:srgbClr val="0A6B63"/>
                </a:solidFill>
                <a:latin typeface="Georgia"/>
              </a:rPr>
              <a:t>04</a:t>
            </a:r>
          </a:p>
        </p:txBody>
      </p:sp>
      <p:sp>
        <p:nvSpPr>
          <p:cNvPr id="23" name="TextBox 22"/>
          <p:cNvSpPr txBox="1"/>
          <p:nvPr/>
        </p:nvSpPr>
        <p:spPr>
          <a:xfrm>
            <a:off x="731520" y="4343400"/>
            <a:ext cx="2926080" cy="411480"/>
          </a:xfrm>
          <a:prstGeom prst="rect">
            <a:avLst/>
          </a:prstGeom>
          <a:noFill/>
        </p:spPr>
        <p:txBody>
          <a:bodyPr wrap="square" anchor="t"/>
          <a:lstStyle/>
          <a:p>
            <a:pPr algn="l"/>
            <a:r>
              <a:rPr sz="1400" b="1" i="0">
                <a:solidFill>
                  <a:srgbClr val="0B1F33"/>
                </a:solidFill>
                <a:latin typeface="Segoe UI"/>
              </a:rPr>
              <a:t>Global Market</a:t>
            </a:r>
          </a:p>
        </p:txBody>
      </p:sp>
      <p:sp>
        <p:nvSpPr>
          <p:cNvPr id="24" name="TextBox 23"/>
          <p:cNvSpPr txBox="1"/>
          <p:nvPr/>
        </p:nvSpPr>
        <p:spPr>
          <a:xfrm>
            <a:off x="731520" y="4800600"/>
            <a:ext cx="2926080" cy="914400"/>
          </a:xfrm>
          <a:prstGeom prst="rect">
            <a:avLst/>
          </a:prstGeom>
          <a:noFill/>
        </p:spPr>
        <p:txBody>
          <a:bodyPr wrap="square" anchor="t"/>
          <a:lstStyle/>
          <a:p>
            <a:pPr algn="l"/>
            <a:r>
              <a:rPr sz="1100" b="0" i="0">
                <a:solidFill>
                  <a:srgbClr val="2C3A4B"/>
                </a:solidFill>
                <a:latin typeface="Segoe UI"/>
              </a:rPr>
              <a:t>A multi-hundred-billion-dollar global recruitment and career-development market shifting rapidly toward AI-native tools.</a:t>
            </a:r>
          </a:p>
        </p:txBody>
      </p:sp>
      <p:sp>
        <p:nvSpPr>
          <p:cNvPr id="25" name="Rounded Rectangle 24"/>
          <p:cNvSpPr/>
          <p:nvPr/>
        </p:nvSpPr>
        <p:spPr>
          <a:xfrm>
            <a:off x="4160520" y="370332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160520" y="370332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89120" y="3886200"/>
            <a:ext cx="2926080" cy="365760"/>
          </a:xfrm>
          <a:prstGeom prst="rect">
            <a:avLst/>
          </a:prstGeom>
          <a:noFill/>
        </p:spPr>
        <p:txBody>
          <a:bodyPr wrap="square" anchor="t"/>
          <a:lstStyle/>
          <a:p>
            <a:pPr algn="l"/>
            <a:r>
              <a:rPr sz="1800" b="1" i="0">
                <a:solidFill>
                  <a:srgbClr val="0A6B63"/>
                </a:solidFill>
                <a:latin typeface="Georgia"/>
              </a:rPr>
              <a:t>05</a:t>
            </a:r>
          </a:p>
        </p:txBody>
      </p:sp>
      <p:sp>
        <p:nvSpPr>
          <p:cNvPr id="28" name="TextBox 27"/>
          <p:cNvSpPr txBox="1"/>
          <p:nvPr/>
        </p:nvSpPr>
        <p:spPr>
          <a:xfrm>
            <a:off x="4389120" y="4343400"/>
            <a:ext cx="2926080" cy="411480"/>
          </a:xfrm>
          <a:prstGeom prst="rect">
            <a:avLst/>
          </a:prstGeom>
          <a:noFill/>
        </p:spPr>
        <p:txBody>
          <a:bodyPr wrap="square" anchor="t"/>
          <a:lstStyle/>
          <a:p>
            <a:pPr algn="l"/>
            <a:r>
              <a:rPr sz="1400" b="1" i="0">
                <a:solidFill>
                  <a:srgbClr val="0B1F33"/>
                </a:solidFill>
                <a:latin typeface="Segoe UI"/>
              </a:rPr>
              <a:t>Clear Monetization Path</a:t>
            </a:r>
          </a:p>
        </p:txBody>
      </p:sp>
      <p:sp>
        <p:nvSpPr>
          <p:cNvPr id="29" name="TextBox 28"/>
          <p:cNvSpPr txBox="1"/>
          <p:nvPr/>
        </p:nvSpPr>
        <p:spPr>
          <a:xfrm>
            <a:off x="4389120" y="4800600"/>
            <a:ext cx="2926080" cy="914400"/>
          </a:xfrm>
          <a:prstGeom prst="rect">
            <a:avLst/>
          </a:prstGeom>
          <a:noFill/>
        </p:spPr>
        <p:txBody>
          <a:bodyPr wrap="square" anchor="t"/>
          <a:lstStyle/>
          <a:p>
            <a:pPr algn="l"/>
            <a:r>
              <a:rPr sz="1100" b="0" i="0">
                <a:solidFill>
                  <a:srgbClr val="2C3A4B"/>
                </a:solidFill>
                <a:latin typeface="Segoe UI"/>
              </a:rPr>
              <a:t>Grow active users on a free product, then introduce membership fees, consulting fees, and education fees as engagement compounds.</a:t>
            </a:r>
          </a:p>
        </p:txBody>
      </p:sp>
      <p:sp>
        <p:nvSpPr>
          <p:cNvPr id="30" name="Rounded Rectangle 29"/>
          <p:cNvSpPr/>
          <p:nvPr/>
        </p:nvSpPr>
        <p:spPr>
          <a:xfrm>
            <a:off x="7818120" y="370332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818120" y="370332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46720" y="3886200"/>
            <a:ext cx="2926080" cy="365760"/>
          </a:xfrm>
          <a:prstGeom prst="rect">
            <a:avLst/>
          </a:prstGeom>
          <a:noFill/>
        </p:spPr>
        <p:txBody>
          <a:bodyPr wrap="square" anchor="t"/>
          <a:lstStyle/>
          <a:p>
            <a:pPr algn="l"/>
            <a:r>
              <a:rPr sz="1800" b="1" i="0">
                <a:solidFill>
                  <a:srgbClr val="0A6B63"/>
                </a:solidFill>
                <a:latin typeface="Georgia"/>
              </a:rPr>
              <a:t>06</a:t>
            </a:r>
          </a:p>
        </p:txBody>
      </p:sp>
      <p:sp>
        <p:nvSpPr>
          <p:cNvPr id="33" name="TextBox 32"/>
          <p:cNvSpPr txBox="1"/>
          <p:nvPr/>
        </p:nvSpPr>
        <p:spPr>
          <a:xfrm>
            <a:off x="8046720" y="4343400"/>
            <a:ext cx="2926080" cy="411480"/>
          </a:xfrm>
          <a:prstGeom prst="rect">
            <a:avLst/>
          </a:prstGeom>
          <a:noFill/>
        </p:spPr>
        <p:txBody>
          <a:bodyPr wrap="square" anchor="t"/>
          <a:lstStyle/>
          <a:p>
            <a:pPr algn="l"/>
            <a:r>
              <a:rPr sz="1400" b="1" i="0">
                <a:solidFill>
                  <a:srgbClr val="0B1F33"/>
                </a:solidFill>
                <a:latin typeface="Segoe UI"/>
              </a:rPr>
              <a:t>Capital to Scale</a:t>
            </a:r>
          </a:p>
        </p:txBody>
      </p:sp>
      <p:sp>
        <p:nvSpPr>
          <p:cNvPr id="34" name="TextBox 33"/>
          <p:cNvSpPr txBox="1"/>
          <p:nvPr/>
        </p:nvSpPr>
        <p:spPr>
          <a:xfrm>
            <a:off x="8046720" y="4800600"/>
            <a:ext cx="2926080" cy="914400"/>
          </a:xfrm>
          <a:prstGeom prst="rect">
            <a:avLst/>
          </a:prstGeom>
          <a:noFill/>
        </p:spPr>
        <p:txBody>
          <a:bodyPr wrap="square" anchor="t"/>
          <a:lstStyle/>
          <a:p>
            <a:pPr algn="l"/>
            <a:r>
              <a:rPr sz="1100" b="0" i="0">
                <a:solidFill>
                  <a:srgbClr val="2C3A4B"/>
                </a:solidFill>
                <a:latin typeface="Segoe UI"/>
              </a:rPr>
              <a:t>US$5.0M primary round at a US$50.0M valuation to fund product, AI features, and global user growth.</a:t>
            </a:r>
          </a:p>
        </p:txBody>
      </p:sp>
      <p:sp>
        <p:nvSpPr>
          <p:cNvPr id="35" name="Rectangle 34"/>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8" name="TextBox 37"/>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MARKET CONTEXT</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Hiring Is Broken on Both Sides of the Table</a:t>
            </a:r>
          </a:p>
        </p:txBody>
      </p:sp>
      <p:sp>
        <p:nvSpPr>
          <p:cNvPr id="5" name="Rounded Rectangle 4"/>
          <p:cNvSpPr/>
          <p:nvPr/>
        </p:nvSpPr>
        <p:spPr>
          <a:xfrm>
            <a:off x="502920" y="1234440"/>
            <a:ext cx="5760720" cy="13716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34440"/>
            <a:ext cx="73152" cy="13716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399032"/>
            <a:ext cx="5212080" cy="320040"/>
          </a:xfrm>
          <a:prstGeom prst="rect">
            <a:avLst/>
          </a:prstGeom>
          <a:noFill/>
        </p:spPr>
        <p:txBody>
          <a:bodyPr wrap="square" anchor="t"/>
          <a:lstStyle/>
          <a:p>
            <a:pPr algn="l"/>
            <a:r>
              <a:rPr sz="1400" b="1" i="0">
                <a:solidFill>
                  <a:srgbClr val="0B1F33"/>
                </a:solidFill>
                <a:latin typeface="Segoe UI"/>
              </a:rPr>
              <a:t>For candidates</a:t>
            </a:r>
          </a:p>
        </p:txBody>
      </p:sp>
      <p:sp>
        <p:nvSpPr>
          <p:cNvPr id="8" name="TextBox 7"/>
          <p:cNvSpPr txBox="1"/>
          <p:nvPr/>
        </p:nvSpPr>
        <p:spPr>
          <a:xfrm>
            <a:off x="777240" y="1737360"/>
            <a:ext cx="5212080" cy="777240"/>
          </a:xfrm>
          <a:prstGeom prst="rect">
            <a:avLst/>
          </a:prstGeom>
          <a:noFill/>
        </p:spPr>
        <p:txBody>
          <a:bodyPr wrap="square" anchor="t"/>
          <a:lstStyle/>
          <a:p>
            <a:pPr algn="l"/>
            <a:r>
              <a:rPr sz="1100" b="0" i="0">
                <a:solidFill>
                  <a:srgbClr val="2C3A4B"/>
                </a:solidFill>
                <a:latin typeface="Segoe UI"/>
              </a:rPr>
              <a:t>Hiring processes are opaque and intensely competitive worldwide. Interview preparation remains fragmented, and quality coaching is expensive and does not scale.</a:t>
            </a:r>
          </a:p>
        </p:txBody>
      </p:sp>
      <p:sp>
        <p:nvSpPr>
          <p:cNvPr id="9" name="Rounded Rectangle 8"/>
          <p:cNvSpPr/>
          <p:nvPr/>
        </p:nvSpPr>
        <p:spPr>
          <a:xfrm>
            <a:off x="502920" y="2743200"/>
            <a:ext cx="5760720" cy="13716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2743200"/>
            <a:ext cx="73152" cy="13716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907792"/>
            <a:ext cx="5212080" cy="320040"/>
          </a:xfrm>
          <a:prstGeom prst="rect">
            <a:avLst/>
          </a:prstGeom>
          <a:noFill/>
        </p:spPr>
        <p:txBody>
          <a:bodyPr wrap="square" anchor="t"/>
          <a:lstStyle/>
          <a:p>
            <a:pPr algn="l"/>
            <a:r>
              <a:rPr sz="1400" b="1" i="0">
                <a:solidFill>
                  <a:srgbClr val="0B1F33"/>
                </a:solidFill>
                <a:latin typeface="Segoe UI"/>
              </a:rPr>
              <a:t>For global talent</a:t>
            </a:r>
          </a:p>
        </p:txBody>
      </p:sp>
      <p:sp>
        <p:nvSpPr>
          <p:cNvPr id="12" name="TextBox 11"/>
          <p:cNvSpPr txBox="1"/>
          <p:nvPr/>
        </p:nvSpPr>
        <p:spPr>
          <a:xfrm>
            <a:off x="777240" y="3246120"/>
            <a:ext cx="5212080" cy="777240"/>
          </a:xfrm>
          <a:prstGeom prst="rect">
            <a:avLst/>
          </a:prstGeom>
          <a:noFill/>
        </p:spPr>
        <p:txBody>
          <a:bodyPr wrap="square" anchor="t"/>
          <a:lstStyle/>
          <a:p>
            <a:pPr algn="l"/>
            <a:r>
              <a:rPr sz="1100" b="0" i="0">
                <a:solidFill>
                  <a:srgbClr val="2C3A4B"/>
                </a:solidFill>
                <a:latin typeface="Segoe UI"/>
              </a:rPr>
              <a:t>Language, cultural, and cross-border complexity compound an already difficult search — hundreds of millions of professionals are underserved by generic AI chat tools.</a:t>
            </a:r>
          </a:p>
        </p:txBody>
      </p:sp>
      <p:sp>
        <p:nvSpPr>
          <p:cNvPr id="13" name="Rounded Rectangle 12"/>
          <p:cNvSpPr/>
          <p:nvPr/>
        </p:nvSpPr>
        <p:spPr>
          <a:xfrm>
            <a:off x="502920" y="4251960"/>
            <a:ext cx="5760720" cy="13716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4251960"/>
            <a:ext cx="73152" cy="13716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416552"/>
            <a:ext cx="5212080" cy="320040"/>
          </a:xfrm>
          <a:prstGeom prst="rect">
            <a:avLst/>
          </a:prstGeom>
          <a:noFill/>
        </p:spPr>
        <p:txBody>
          <a:bodyPr wrap="square" anchor="t"/>
          <a:lstStyle/>
          <a:p>
            <a:pPr algn="l"/>
            <a:r>
              <a:rPr sz="1400" b="1" i="0">
                <a:solidFill>
                  <a:srgbClr val="0B1F33"/>
                </a:solidFill>
                <a:latin typeface="Segoe UI"/>
              </a:rPr>
              <a:t>For employers</a:t>
            </a:r>
          </a:p>
        </p:txBody>
      </p:sp>
      <p:sp>
        <p:nvSpPr>
          <p:cNvPr id="16" name="TextBox 15"/>
          <p:cNvSpPr txBox="1"/>
          <p:nvPr/>
        </p:nvSpPr>
        <p:spPr>
          <a:xfrm>
            <a:off x="777240" y="4754880"/>
            <a:ext cx="5212080" cy="777240"/>
          </a:xfrm>
          <a:prstGeom prst="rect">
            <a:avLst/>
          </a:prstGeom>
          <a:noFill/>
        </p:spPr>
        <p:txBody>
          <a:bodyPr wrap="square" anchor="t"/>
          <a:lstStyle/>
          <a:p>
            <a:pPr algn="l"/>
            <a:r>
              <a:rPr sz="1100" b="0" i="0">
                <a:solidFill>
                  <a:srgbClr val="2C3A4B"/>
                </a:solidFill>
                <a:latin typeface="Segoe UI"/>
              </a:rPr>
              <a:t>Application volumes overwhelm recruiting teams while offering limited signal. Screening is slow, costly, and inconsistent, and strong candidates are lost in the noise.</a:t>
            </a:r>
          </a:p>
        </p:txBody>
      </p:sp>
      <p:sp>
        <p:nvSpPr>
          <p:cNvPr id="17" name="Rounded Rectangle 16"/>
          <p:cNvSpPr/>
          <p:nvPr/>
        </p:nvSpPr>
        <p:spPr>
          <a:xfrm>
            <a:off x="6492240" y="1234440"/>
            <a:ext cx="5166360" cy="45720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20840" y="1371600"/>
            <a:ext cx="4754880" cy="320040"/>
          </a:xfrm>
          <a:prstGeom prst="rect">
            <a:avLst/>
          </a:prstGeom>
          <a:noFill/>
        </p:spPr>
        <p:txBody>
          <a:bodyPr wrap="square" anchor="t"/>
          <a:lstStyle/>
          <a:p>
            <a:pPr algn="l"/>
            <a:r>
              <a:rPr sz="1300" b="1" i="0">
                <a:solidFill>
                  <a:srgbClr val="0B1F33"/>
                </a:solidFill>
                <a:latin typeface="Segoe UI"/>
              </a:rPr>
              <a:t>Global friction indicators</a:t>
            </a:r>
          </a:p>
        </p:txBody>
      </p:sp>
      <p:sp>
        <p:nvSpPr>
          <p:cNvPr id="19" name="TextBox 18"/>
          <p:cNvSpPr txBox="1"/>
          <p:nvPr/>
        </p:nvSpPr>
        <p:spPr>
          <a:xfrm>
            <a:off x="6812280" y="1828800"/>
            <a:ext cx="4663440" cy="411480"/>
          </a:xfrm>
          <a:prstGeom prst="rect">
            <a:avLst/>
          </a:prstGeom>
          <a:noFill/>
        </p:spPr>
        <p:txBody>
          <a:bodyPr wrap="square" anchor="t"/>
          <a:lstStyle/>
          <a:p>
            <a:pPr algn="l"/>
            <a:r>
              <a:rPr sz="2800" b="1" i="0">
                <a:solidFill>
                  <a:srgbClr val="0B1F33"/>
                </a:solidFill>
                <a:latin typeface="Georgia"/>
              </a:rPr>
              <a:t>250+</a:t>
            </a:r>
          </a:p>
        </p:txBody>
      </p:sp>
      <p:sp>
        <p:nvSpPr>
          <p:cNvPr id="20" name="TextBox 19"/>
          <p:cNvSpPr txBox="1"/>
          <p:nvPr/>
        </p:nvSpPr>
        <p:spPr>
          <a:xfrm>
            <a:off x="6812280" y="2267712"/>
            <a:ext cx="4663440" cy="274320"/>
          </a:xfrm>
          <a:prstGeom prst="rect">
            <a:avLst/>
          </a:prstGeom>
          <a:noFill/>
        </p:spPr>
        <p:txBody>
          <a:bodyPr wrap="square" anchor="t"/>
          <a:lstStyle/>
          <a:p>
            <a:pPr algn="l"/>
            <a:r>
              <a:rPr sz="900" b="1" i="0">
                <a:solidFill>
                  <a:srgbClr val="5E6E80"/>
                </a:solidFill>
                <a:latin typeface="Segoe UI"/>
              </a:rPr>
              <a:t>APPLICATIONS PER CORPORATE JOB OPENING (GLOBAL)</a:t>
            </a:r>
          </a:p>
        </p:txBody>
      </p:sp>
      <p:sp>
        <p:nvSpPr>
          <p:cNvPr id="21" name="Rectangle 20"/>
          <p:cNvSpPr/>
          <p:nvPr/>
        </p:nvSpPr>
        <p:spPr>
          <a:xfrm>
            <a:off x="6812280" y="2606040"/>
            <a:ext cx="4572000" cy="109728"/>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12280" y="2606040"/>
            <a:ext cx="3291839"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12280" y="2971800"/>
            <a:ext cx="4663440" cy="411480"/>
          </a:xfrm>
          <a:prstGeom prst="rect">
            <a:avLst/>
          </a:prstGeom>
          <a:noFill/>
        </p:spPr>
        <p:txBody>
          <a:bodyPr wrap="square" anchor="t"/>
          <a:lstStyle/>
          <a:p>
            <a:pPr algn="l"/>
            <a:r>
              <a:rPr sz="2800" b="1" i="0">
                <a:solidFill>
                  <a:srgbClr val="0B1F33"/>
                </a:solidFill>
                <a:latin typeface="Georgia"/>
              </a:rPr>
              <a:t>6M+</a:t>
            </a:r>
          </a:p>
        </p:txBody>
      </p:sp>
      <p:sp>
        <p:nvSpPr>
          <p:cNvPr id="24" name="TextBox 23"/>
          <p:cNvSpPr txBox="1"/>
          <p:nvPr/>
        </p:nvSpPr>
        <p:spPr>
          <a:xfrm>
            <a:off x="6812280" y="3410712"/>
            <a:ext cx="4663440" cy="274320"/>
          </a:xfrm>
          <a:prstGeom prst="rect">
            <a:avLst/>
          </a:prstGeom>
          <a:noFill/>
        </p:spPr>
        <p:txBody>
          <a:bodyPr wrap="square" anchor="t"/>
          <a:lstStyle/>
          <a:p>
            <a:pPr algn="l"/>
            <a:r>
              <a:rPr sz="900" b="1" i="0">
                <a:solidFill>
                  <a:srgbClr val="5E6E80"/>
                </a:solidFill>
                <a:latin typeface="Segoe UI"/>
              </a:rPr>
              <a:t>INTERNATIONAL STUDENTS WORLDWIDE (ANNUAL)</a:t>
            </a:r>
          </a:p>
        </p:txBody>
      </p:sp>
      <p:sp>
        <p:nvSpPr>
          <p:cNvPr id="25" name="Rectangle 24"/>
          <p:cNvSpPr/>
          <p:nvPr/>
        </p:nvSpPr>
        <p:spPr>
          <a:xfrm>
            <a:off x="6812280" y="3749039"/>
            <a:ext cx="4572000" cy="109728"/>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12280" y="3749039"/>
            <a:ext cx="3886200" cy="109728"/>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12280" y="4114800"/>
            <a:ext cx="4663440" cy="411480"/>
          </a:xfrm>
          <a:prstGeom prst="rect">
            <a:avLst/>
          </a:prstGeom>
          <a:noFill/>
        </p:spPr>
        <p:txBody>
          <a:bodyPr wrap="square" anchor="t"/>
          <a:lstStyle/>
          <a:p>
            <a:pPr algn="l"/>
            <a:r>
              <a:rPr sz="2800" b="1" i="0">
                <a:solidFill>
                  <a:srgbClr val="0B1F33"/>
                </a:solidFill>
                <a:latin typeface="Georgia"/>
              </a:rPr>
              <a:t>75%</a:t>
            </a:r>
          </a:p>
        </p:txBody>
      </p:sp>
      <p:sp>
        <p:nvSpPr>
          <p:cNvPr id="28" name="TextBox 27"/>
          <p:cNvSpPr txBox="1"/>
          <p:nvPr/>
        </p:nvSpPr>
        <p:spPr>
          <a:xfrm>
            <a:off x="6812280" y="4553712"/>
            <a:ext cx="4663440" cy="274320"/>
          </a:xfrm>
          <a:prstGeom prst="rect">
            <a:avLst/>
          </a:prstGeom>
          <a:noFill/>
        </p:spPr>
        <p:txBody>
          <a:bodyPr wrap="square" anchor="t"/>
          <a:lstStyle/>
          <a:p>
            <a:pPr algn="l"/>
            <a:r>
              <a:rPr sz="900" b="1" i="0">
                <a:solidFill>
                  <a:srgbClr val="5E6E80"/>
                </a:solidFill>
                <a:latin typeface="Segoe UI"/>
              </a:rPr>
              <a:t>OF RÉSUMÉS SCREENED OUT BEFORE HUMAN REVIEW</a:t>
            </a:r>
          </a:p>
        </p:txBody>
      </p:sp>
      <p:sp>
        <p:nvSpPr>
          <p:cNvPr id="29" name="Rectangle 28"/>
          <p:cNvSpPr/>
          <p:nvPr/>
        </p:nvSpPr>
        <p:spPr>
          <a:xfrm>
            <a:off x="6812280" y="4892040"/>
            <a:ext cx="4572000" cy="109728"/>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812280" y="4892040"/>
            <a:ext cx="3429000" cy="109728"/>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20840" y="5349240"/>
            <a:ext cx="4754880" cy="320040"/>
          </a:xfrm>
          <a:prstGeom prst="rect">
            <a:avLst/>
          </a:prstGeom>
          <a:noFill/>
        </p:spPr>
        <p:txBody>
          <a:bodyPr wrap="square" anchor="t"/>
          <a:lstStyle/>
          <a:p>
            <a:pPr algn="l"/>
            <a:r>
              <a:rPr sz="800" b="0" i="0">
                <a:solidFill>
                  <a:srgbClr val="5E6E80"/>
                </a:solidFill>
                <a:latin typeface="Segoe UI"/>
              </a:rPr>
              <a:t>Sources: UNESCO / OECD mobility data; Glassdoor; industry estimates.</a:t>
            </a:r>
          </a:p>
        </p:txBody>
      </p:sp>
      <p:sp>
        <p:nvSpPr>
          <p:cNvPr id="32" name="Rectangle 31"/>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5" name="TextBox 34"/>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MARKET OPPORTUNITY</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A Global Career Market in Structural Shift</a:t>
            </a:r>
          </a:p>
        </p:txBody>
      </p:sp>
      <p:sp>
        <p:nvSpPr>
          <p:cNvPr id="5" name="Rounded Rectangle 4"/>
          <p:cNvSpPr/>
          <p:nvPr/>
        </p:nvSpPr>
        <p:spPr>
          <a:xfrm>
            <a:off x="502920" y="1234440"/>
            <a:ext cx="5852160" cy="12344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2148840"/>
            <a:ext cx="5394960" cy="146304"/>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44168"/>
            <a:ext cx="5394960" cy="228600"/>
          </a:xfrm>
          <a:prstGeom prst="rect">
            <a:avLst/>
          </a:prstGeom>
          <a:noFill/>
        </p:spPr>
        <p:txBody>
          <a:bodyPr wrap="square" anchor="t"/>
          <a:lstStyle/>
          <a:p>
            <a:pPr algn="l"/>
            <a:r>
              <a:rPr sz="900" b="1" i="0">
                <a:solidFill>
                  <a:srgbClr val="5E6E80"/>
                </a:solidFill>
                <a:latin typeface="Segoe UI"/>
              </a:rPr>
              <a:t>TOTAL ADDRESSABLE MARKET</a:t>
            </a:r>
          </a:p>
        </p:txBody>
      </p:sp>
      <p:sp>
        <p:nvSpPr>
          <p:cNvPr id="8" name="TextBox 7"/>
          <p:cNvSpPr txBox="1"/>
          <p:nvPr/>
        </p:nvSpPr>
        <p:spPr>
          <a:xfrm>
            <a:off x="685800" y="1554480"/>
            <a:ext cx="5394960" cy="365760"/>
          </a:xfrm>
          <a:prstGeom prst="rect">
            <a:avLst/>
          </a:prstGeom>
          <a:noFill/>
        </p:spPr>
        <p:txBody>
          <a:bodyPr wrap="square" anchor="t"/>
          <a:lstStyle/>
          <a:p>
            <a:pPr algn="l"/>
            <a:r>
              <a:rPr sz="2600" b="1" i="0">
                <a:solidFill>
                  <a:srgbClr val="0B1F33"/>
                </a:solidFill>
                <a:latin typeface="Georgia"/>
              </a:rPr>
              <a:t>US$200B+</a:t>
            </a:r>
          </a:p>
        </p:txBody>
      </p:sp>
      <p:sp>
        <p:nvSpPr>
          <p:cNvPr id="9" name="TextBox 8"/>
          <p:cNvSpPr txBox="1"/>
          <p:nvPr/>
        </p:nvSpPr>
        <p:spPr>
          <a:xfrm>
            <a:off x="685800" y="1892808"/>
            <a:ext cx="5394960" cy="256032"/>
          </a:xfrm>
          <a:prstGeom prst="rect">
            <a:avLst/>
          </a:prstGeom>
          <a:noFill/>
        </p:spPr>
        <p:txBody>
          <a:bodyPr wrap="square" anchor="t"/>
          <a:lstStyle/>
          <a:p>
            <a:pPr algn="l"/>
            <a:r>
              <a:rPr sz="1000" b="0" i="0">
                <a:solidFill>
                  <a:srgbClr val="2C3A4B"/>
                </a:solidFill>
                <a:latin typeface="Segoe UI"/>
              </a:rPr>
              <a:t>Global recruitment, talent-acquisition, and career-development spend worldwide.</a:t>
            </a:r>
          </a:p>
        </p:txBody>
      </p:sp>
      <p:sp>
        <p:nvSpPr>
          <p:cNvPr id="10" name="Rounded Rectangle 9"/>
          <p:cNvSpPr/>
          <p:nvPr/>
        </p:nvSpPr>
        <p:spPr>
          <a:xfrm>
            <a:off x="502920" y="2606040"/>
            <a:ext cx="5852160" cy="12344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3520440"/>
            <a:ext cx="2967228" cy="146304"/>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715768"/>
            <a:ext cx="5394960" cy="228600"/>
          </a:xfrm>
          <a:prstGeom prst="rect">
            <a:avLst/>
          </a:prstGeom>
          <a:noFill/>
        </p:spPr>
        <p:txBody>
          <a:bodyPr wrap="square" anchor="t"/>
          <a:lstStyle/>
          <a:p>
            <a:pPr algn="l"/>
            <a:r>
              <a:rPr sz="900" b="1" i="0">
                <a:solidFill>
                  <a:srgbClr val="5E6E80"/>
                </a:solidFill>
                <a:latin typeface="Segoe UI"/>
              </a:rPr>
              <a:t>SERVICEABLE MARKET</a:t>
            </a:r>
          </a:p>
        </p:txBody>
      </p:sp>
      <p:sp>
        <p:nvSpPr>
          <p:cNvPr id="13" name="TextBox 12"/>
          <p:cNvSpPr txBox="1"/>
          <p:nvPr/>
        </p:nvSpPr>
        <p:spPr>
          <a:xfrm>
            <a:off x="685800" y="2926080"/>
            <a:ext cx="5394960" cy="365760"/>
          </a:xfrm>
          <a:prstGeom prst="rect">
            <a:avLst/>
          </a:prstGeom>
          <a:noFill/>
        </p:spPr>
        <p:txBody>
          <a:bodyPr wrap="square" anchor="t"/>
          <a:lstStyle/>
          <a:p>
            <a:pPr algn="l"/>
            <a:r>
              <a:rPr sz="2600" b="1" i="0">
                <a:solidFill>
                  <a:srgbClr val="0B1F33"/>
                </a:solidFill>
                <a:latin typeface="Georgia"/>
              </a:rPr>
              <a:t>US$30B+</a:t>
            </a:r>
          </a:p>
        </p:txBody>
      </p:sp>
      <p:sp>
        <p:nvSpPr>
          <p:cNvPr id="14" name="TextBox 13"/>
          <p:cNvSpPr txBox="1"/>
          <p:nvPr/>
        </p:nvSpPr>
        <p:spPr>
          <a:xfrm>
            <a:off x="685800" y="3264408"/>
            <a:ext cx="5394960" cy="256032"/>
          </a:xfrm>
          <a:prstGeom prst="rect">
            <a:avLst/>
          </a:prstGeom>
          <a:noFill/>
        </p:spPr>
        <p:txBody>
          <a:bodyPr wrap="square" anchor="t"/>
          <a:lstStyle/>
          <a:p>
            <a:pPr algn="l"/>
            <a:r>
              <a:rPr sz="1000" b="0" i="0">
                <a:solidFill>
                  <a:srgbClr val="2C3A4B"/>
                </a:solidFill>
                <a:latin typeface="Segoe UI"/>
              </a:rPr>
              <a:t>Global AI-enabled hiring technology and digital career preparation.</a:t>
            </a:r>
          </a:p>
        </p:txBody>
      </p:sp>
      <p:sp>
        <p:nvSpPr>
          <p:cNvPr id="15" name="Rounded Rectangle 14"/>
          <p:cNvSpPr/>
          <p:nvPr/>
        </p:nvSpPr>
        <p:spPr>
          <a:xfrm>
            <a:off x="502920" y="3977639"/>
            <a:ext cx="5852160" cy="12344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4892040"/>
            <a:ext cx="1726387" cy="146304"/>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087368"/>
            <a:ext cx="5394960" cy="228600"/>
          </a:xfrm>
          <a:prstGeom prst="rect">
            <a:avLst/>
          </a:prstGeom>
          <a:noFill/>
        </p:spPr>
        <p:txBody>
          <a:bodyPr wrap="square" anchor="t"/>
          <a:lstStyle/>
          <a:p>
            <a:pPr algn="l"/>
            <a:r>
              <a:rPr sz="900" b="1" i="0">
                <a:solidFill>
                  <a:srgbClr val="5E6E80"/>
                </a:solidFill>
                <a:latin typeface="Segoe UI"/>
              </a:rPr>
              <a:t>NEAR-TERM FOCUS</a:t>
            </a:r>
          </a:p>
        </p:txBody>
      </p:sp>
      <p:sp>
        <p:nvSpPr>
          <p:cNvPr id="18" name="TextBox 17"/>
          <p:cNvSpPr txBox="1"/>
          <p:nvPr/>
        </p:nvSpPr>
        <p:spPr>
          <a:xfrm>
            <a:off x="685800" y="4297679"/>
            <a:ext cx="5394960" cy="365760"/>
          </a:xfrm>
          <a:prstGeom prst="rect">
            <a:avLst/>
          </a:prstGeom>
          <a:noFill/>
        </p:spPr>
        <p:txBody>
          <a:bodyPr wrap="square" anchor="t"/>
          <a:lstStyle/>
          <a:p>
            <a:pPr algn="l"/>
            <a:r>
              <a:rPr sz="2600" b="1" i="0">
                <a:solidFill>
                  <a:srgbClr val="0B1F33"/>
                </a:solidFill>
                <a:latin typeface="Georgia"/>
              </a:rPr>
              <a:t>US$5B+</a:t>
            </a:r>
          </a:p>
        </p:txBody>
      </p:sp>
      <p:sp>
        <p:nvSpPr>
          <p:cNvPr id="19" name="TextBox 18"/>
          <p:cNvSpPr txBox="1"/>
          <p:nvPr/>
        </p:nvSpPr>
        <p:spPr>
          <a:xfrm>
            <a:off x="685800" y="4636007"/>
            <a:ext cx="5486400" cy="256032"/>
          </a:xfrm>
          <a:prstGeom prst="rect">
            <a:avLst/>
          </a:prstGeom>
          <a:noFill/>
        </p:spPr>
        <p:txBody>
          <a:bodyPr wrap="square" anchor="t"/>
          <a:lstStyle/>
          <a:p>
            <a:pPr algn="l"/>
            <a:r>
              <a:rPr sz="1000" b="0" i="0" dirty="0">
                <a:solidFill>
                  <a:srgbClr val="2C3A4B"/>
                </a:solidFill>
                <a:latin typeface="Segoe UI"/>
              </a:rPr>
              <a:t>Global early-career and mid-career professionals seeking AI prep, résumés, and interview </a:t>
            </a:r>
            <a:r>
              <a:rPr lang="en-US" sz="1000" dirty="0">
                <a:solidFill>
                  <a:srgbClr val="2C3A4B"/>
                </a:solidFill>
                <a:latin typeface="Segoe UI"/>
              </a:rPr>
              <a:t>prep</a:t>
            </a:r>
            <a:endParaRPr sz="1000" b="0" i="0" dirty="0">
              <a:solidFill>
                <a:srgbClr val="2C3A4B"/>
              </a:solidFill>
              <a:latin typeface="Segoe UI"/>
            </a:endParaRPr>
          </a:p>
        </p:txBody>
      </p:sp>
      <p:sp>
        <p:nvSpPr>
          <p:cNvPr id="20" name="Rounded Rectangle 19"/>
          <p:cNvSpPr/>
          <p:nvPr/>
        </p:nvSpPr>
        <p:spPr>
          <a:xfrm>
            <a:off x="6537960" y="1234440"/>
            <a:ext cx="5120640" cy="41605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0840" y="1371600"/>
            <a:ext cx="4754880" cy="320040"/>
          </a:xfrm>
          <a:prstGeom prst="rect">
            <a:avLst/>
          </a:prstGeom>
          <a:noFill/>
        </p:spPr>
        <p:txBody>
          <a:bodyPr wrap="square" anchor="t"/>
          <a:lstStyle/>
          <a:p>
            <a:pPr algn="l"/>
            <a:r>
              <a:rPr sz="1200" b="1" i="0">
                <a:solidFill>
                  <a:srgbClr val="0B1F33"/>
                </a:solidFill>
                <a:latin typeface="Segoe UI"/>
              </a:rPr>
              <a:t>Global AI career-tech spend (illustrative, US$B)</a:t>
            </a:r>
          </a:p>
        </p:txBody>
      </p:sp>
      <p:graphicFrame>
        <p:nvGraphicFramePr>
          <p:cNvPr id="22" name="Chart 21"/>
          <p:cNvGraphicFramePr>
            <a:graphicFrameLocks noGrp="1"/>
          </p:cNvGraphicFramePr>
          <p:nvPr/>
        </p:nvGraphicFramePr>
        <p:xfrm>
          <a:off x="6629400" y="1737360"/>
          <a:ext cx="4892040" cy="3383280"/>
        </p:xfrm>
        <a:graphic>
          <a:graphicData uri="http://schemas.openxmlformats.org/drawingml/2006/chart">
            <c:chart xmlns:c="http://schemas.openxmlformats.org/drawingml/2006/chart" xmlns:r="http://schemas.openxmlformats.org/officeDocument/2006/relationships" r:id="rId2"/>
          </a:graphicData>
        </a:graphic>
      </p:graphicFrame>
      <p:sp>
        <p:nvSpPr>
          <p:cNvPr id="23" name="TextBox 22"/>
          <p:cNvSpPr txBox="1"/>
          <p:nvPr/>
        </p:nvSpPr>
        <p:spPr>
          <a:xfrm>
            <a:off x="502920" y="5806440"/>
            <a:ext cx="10972800" cy="274320"/>
          </a:xfrm>
          <a:prstGeom prst="rect">
            <a:avLst/>
          </a:prstGeom>
          <a:noFill/>
        </p:spPr>
        <p:txBody>
          <a:bodyPr wrap="square" anchor="t"/>
          <a:lstStyle/>
          <a:p>
            <a:pPr algn="l"/>
            <a:r>
              <a:rPr sz="800" b="0" i="0">
                <a:solidFill>
                  <a:srgbClr val="5E6E80"/>
                </a:solidFill>
                <a:latin typeface="Segoe UI"/>
              </a:rPr>
              <a:t>Management estimates informed by public global industry research; presented for illustration.</a:t>
            </a:r>
          </a:p>
        </p:txBody>
      </p:sp>
      <p:sp>
        <p:nvSpPr>
          <p:cNvPr id="24" name="Rectangle 23"/>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27" name="TextBox 26"/>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OUR PRODUCT</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What 51Careers.AI Delivers Today</a:t>
            </a:r>
          </a:p>
        </p:txBody>
      </p:sp>
      <p:sp>
        <p:nvSpPr>
          <p:cNvPr id="5" name="Rounded Rectangle 4"/>
          <p:cNvSpPr/>
          <p:nvPr/>
        </p:nvSpPr>
        <p:spPr>
          <a:xfrm>
            <a:off x="502920" y="1170432"/>
            <a:ext cx="11201400" cy="640080"/>
          </a:xfrm>
          <a:prstGeom prst="roundRect">
            <a:avLst>
              <a:gd name="adj" fmla="val 8000"/>
            </a:avLst>
          </a:prstGeom>
          <a:solidFill>
            <a:srgbClr val="D7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280160"/>
            <a:ext cx="10835640" cy="457200"/>
          </a:xfrm>
          <a:prstGeom prst="rect">
            <a:avLst/>
          </a:prstGeom>
          <a:noFill/>
        </p:spPr>
        <p:txBody>
          <a:bodyPr wrap="square" anchor="t"/>
          <a:lstStyle/>
          <a:p>
            <a:pPr algn="l"/>
            <a:r>
              <a:rPr sz="1300" b="1" i="0" dirty="0">
                <a:solidFill>
                  <a:srgbClr val="07524C"/>
                </a:solidFill>
                <a:latin typeface="Segoe UI"/>
              </a:rPr>
              <a:t>51Careers.AI is a free AI career platform — mock interviews, a 100K+ question database, and a new AI résumé builder — designed to help professionals worldwide compete for better jobs.</a:t>
            </a:r>
          </a:p>
        </p:txBody>
      </p:sp>
      <p:sp>
        <p:nvSpPr>
          <p:cNvPr id="7" name="Rounded Rectangle 6"/>
          <p:cNvSpPr/>
          <p:nvPr/>
        </p:nvSpPr>
        <p:spPr>
          <a:xfrm>
            <a:off x="502920" y="2011680"/>
            <a:ext cx="2743200" cy="32004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2011680"/>
            <a:ext cx="2743200"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286000"/>
            <a:ext cx="2423160" cy="640080"/>
          </a:xfrm>
          <a:prstGeom prst="rect">
            <a:avLst/>
          </a:prstGeom>
          <a:noFill/>
        </p:spPr>
        <p:txBody>
          <a:bodyPr wrap="square" anchor="t"/>
          <a:lstStyle/>
          <a:p>
            <a:pPr algn="l"/>
            <a:r>
              <a:rPr sz="1500" b="1" i="0">
                <a:solidFill>
                  <a:srgbClr val="0B1F33"/>
                </a:solidFill>
                <a:latin typeface="Georgia"/>
              </a:rPr>
              <a:t>AI Mock Interviews</a:t>
            </a:r>
          </a:p>
        </p:txBody>
      </p:sp>
      <p:sp>
        <p:nvSpPr>
          <p:cNvPr id="10" name="TextBox 9"/>
          <p:cNvSpPr txBox="1"/>
          <p:nvPr/>
        </p:nvSpPr>
        <p:spPr>
          <a:xfrm>
            <a:off x="667512" y="3017520"/>
            <a:ext cx="2423160" cy="1828800"/>
          </a:xfrm>
          <a:prstGeom prst="rect">
            <a:avLst/>
          </a:prstGeom>
          <a:noFill/>
        </p:spPr>
        <p:txBody>
          <a:bodyPr wrap="square" anchor="t"/>
          <a:lstStyle/>
          <a:p>
            <a:pPr algn="l"/>
            <a:r>
              <a:rPr sz="1200" b="0" i="0">
                <a:solidFill>
                  <a:srgbClr val="2C3A4B"/>
                </a:solidFill>
                <a:latin typeface="Segoe UI"/>
              </a:rPr>
              <a:t>Role- and company-specific practice with personalized feedback powered by career-domain intelligence.</a:t>
            </a:r>
          </a:p>
        </p:txBody>
      </p:sp>
      <p:sp>
        <p:nvSpPr>
          <p:cNvPr id="11" name="Rounded Rectangle 10"/>
          <p:cNvSpPr/>
          <p:nvPr/>
        </p:nvSpPr>
        <p:spPr>
          <a:xfrm>
            <a:off x="3383280" y="2011680"/>
            <a:ext cx="2743200" cy="32004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83280" y="2011680"/>
            <a:ext cx="2743200" cy="109728"/>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47872" y="2286000"/>
            <a:ext cx="2423160" cy="640080"/>
          </a:xfrm>
          <a:prstGeom prst="rect">
            <a:avLst/>
          </a:prstGeom>
          <a:noFill/>
        </p:spPr>
        <p:txBody>
          <a:bodyPr wrap="square" anchor="t"/>
          <a:lstStyle/>
          <a:p>
            <a:pPr algn="l"/>
            <a:r>
              <a:rPr sz="1500" b="1" i="0">
                <a:solidFill>
                  <a:srgbClr val="0B1F33"/>
                </a:solidFill>
                <a:latin typeface="Georgia"/>
              </a:rPr>
              <a:t>100K+ Question Database</a:t>
            </a:r>
          </a:p>
        </p:txBody>
      </p:sp>
      <p:sp>
        <p:nvSpPr>
          <p:cNvPr id="14" name="TextBox 13"/>
          <p:cNvSpPr txBox="1"/>
          <p:nvPr/>
        </p:nvSpPr>
        <p:spPr>
          <a:xfrm>
            <a:off x="3547872" y="3017520"/>
            <a:ext cx="2423160" cy="1828800"/>
          </a:xfrm>
          <a:prstGeom prst="rect">
            <a:avLst/>
          </a:prstGeom>
          <a:noFill/>
        </p:spPr>
        <p:txBody>
          <a:bodyPr wrap="square" anchor="t"/>
          <a:lstStyle/>
          <a:p>
            <a:pPr algn="l"/>
            <a:r>
              <a:rPr sz="1200" b="0" i="0">
                <a:solidFill>
                  <a:srgbClr val="2C3A4B"/>
                </a:solidFill>
                <a:latin typeface="Segoe UI"/>
              </a:rPr>
              <a:t>Proprietary library of real interview questions built from years of coaching and candidate preparation.</a:t>
            </a:r>
          </a:p>
        </p:txBody>
      </p:sp>
      <p:sp>
        <p:nvSpPr>
          <p:cNvPr id="15" name="Rounded Rectangle 14"/>
          <p:cNvSpPr/>
          <p:nvPr/>
        </p:nvSpPr>
        <p:spPr>
          <a:xfrm>
            <a:off x="6263640" y="2011680"/>
            <a:ext cx="2743200" cy="32004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2011680"/>
            <a:ext cx="2743200" cy="109728"/>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28231" y="2286000"/>
            <a:ext cx="2423160" cy="640080"/>
          </a:xfrm>
          <a:prstGeom prst="rect">
            <a:avLst/>
          </a:prstGeom>
          <a:noFill/>
        </p:spPr>
        <p:txBody>
          <a:bodyPr wrap="square" anchor="t"/>
          <a:lstStyle/>
          <a:p>
            <a:pPr algn="l"/>
            <a:r>
              <a:rPr sz="1500" b="1" i="0">
                <a:solidFill>
                  <a:srgbClr val="0B1F33"/>
                </a:solidFill>
                <a:latin typeface="Georgia"/>
              </a:rPr>
              <a:t>AI Résumé Builder</a:t>
            </a:r>
          </a:p>
        </p:txBody>
      </p:sp>
      <p:sp>
        <p:nvSpPr>
          <p:cNvPr id="18" name="TextBox 17"/>
          <p:cNvSpPr txBox="1"/>
          <p:nvPr/>
        </p:nvSpPr>
        <p:spPr>
          <a:xfrm>
            <a:off x="6428231" y="3017520"/>
            <a:ext cx="2423160" cy="1828800"/>
          </a:xfrm>
          <a:prstGeom prst="rect">
            <a:avLst/>
          </a:prstGeom>
          <a:noFill/>
        </p:spPr>
        <p:txBody>
          <a:bodyPr wrap="square" anchor="t"/>
          <a:lstStyle/>
          <a:p>
            <a:pPr algn="l"/>
            <a:r>
              <a:rPr sz="1200" b="0" i="0">
                <a:solidFill>
                  <a:srgbClr val="2C3A4B"/>
                </a:solidFill>
                <a:latin typeface="Segoe UI"/>
              </a:rPr>
              <a:t>New AI feature that drafts and refines résumés tailored to roles, industries, and hiring expectations.</a:t>
            </a:r>
          </a:p>
        </p:txBody>
      </p:sp>
      <p:sp>
        <p:nvSpPr>
          <p:cNvPr id="19" name="Rounded Rectangle 18"/>
          <p:cNvSpPr/>
          <p:nvPr/>
        </p:nvSpPr>
        <p:spPr>
          <a:xfrm>
            <a:off x="9144000" y="2011680"/>
            <a:ext cx="2743200" cy="32004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44000" y="2011680"/>
            <a:ext cx="2743200" cy="109728"/>
          </a:xfrm>
          <a:prstGeom prst="rect">
            <a:avLst/>
          </a:prstGeom>
          <a:solidFill>
            <a:srgbClr val="6B7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08592" y="2286000"/>
            <a:ext cx="2423160" cy="640080"/>
          </a:xfrm>
          <a:prstGeom prst="rect">
            <a:avLst/>
          </a:prstGeom>
          <a:noFill/>
        </p:spPr>
        <p:txBody>
          <a:bodyPr wrap="square" anchor="t"/>
          <a:lstStyle/>
          <a:p>
            <a:pPr algn="l"/>
            <a:r>
              <a:rPr sz="1500" b="1" i="0">
                <a:solidFill>
                  <a:srgbClr val="0B1F33"/>
                </a:solidFill>
                <a:latin typeface="Georgia"/>
              </a:rPr>
              <a:t>Career Pathways</a:t>
            </a:r>
          </a:p>
        </p:txBody>
      </p:sp>
      <p:sp>
        <p:nvSpPr>
          <p:cNvPr id="22" name="TextBox 21"/>
          <p:cNvSpPr txBox="1"/>
          <p:nvPr/>
        </p:nvSpPr>
        <p:spPr>
          <a:xfrm>
            <a:off x="9308592" y="3017520"/>
            <a:ext cx="2423160" cy="1828800"/>
          </a:xfrm>
          <a:prstGeom prst="rect">
            <a:avLst/>
          </a:prstGeom>
          <a:noFill/>
        </p:spPr>
        <p:txBody>
          <a:bodyPr wrap="square" anchor="t"/>
          <a:lstStyle/>
          <a:p>
            <a:pPr algn="l"/>
            <a:r>
              <a:rPr sz="1200" b="0" i="0">
                <a:solidFill>
                  <a:srgbClr val="2C3A4B"/>
                </a:solidFill>
                <a:latin typeface="Segoe UI"/>
              </a:rPr>
              <a:t>Coaching and education pathways ready to monetize via membership, consulting, and education fees.</a:t>
            </a:r>
          </a:p>
        </p:txBody>
      </p:sp>
      <p:sp>
        <p:nvSpPr>
          <p:cNvPr id="23" name="Rounded Rectangle 22"/>
          <p:cNvSpPr/>
          <p:nvPr/>
        </p:nvSpPr>
        <p:spPr>
          <a:xfrm>
            <a:off x="502920" y="5394960"/>
            <a:ext cx="11201400" cy="6400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5532120"/>
            <a:ext cx="10835640" cy="411480"/>
          </a:xfrm>
          <a:prstGeom prst="rect">
            <a:avLst/>
          </a:prstGeom>
          <a:noFill/>
        </p:spPr>
        <p:txBody>
          <a:bodyPr wrap="square" anchor="t"/>
          <a:lstStyle/>
          <a:p>
            <a:pPr algn="l"/>
            <a:r>
              <a:rPr sz="1300" b="1" i="0">
                <a:solidFill>
                  <a:srgbClr val="0B1F33"/>
                </a:solidFill>
                <a:latin typeface="Segoe UI"/>
              </a:rPr>
              <a:t>Pricing today: Free  ·  Next: membership tiers · consulting fees · education fees as active users scale globally</a:t>
            </a:r>
          </a:p>
        </p:txBody>
      </p:sp>
      <p:sp>
        <p:nvSpPr>
          <p:cNvPr id="25" name="Rectangle 24"/>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28" name="TextBox 27"/>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TECHNOLOGY</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Enterprise-Grade AI, Built with Alibaba Cloud</a:t>
            </a:r>
          </a:p>
        </p:txBody>
      </p:sp>
      <p:sp>
        <p:nvSpPr>
          <p:cNvPr id="5" name="Rounded Rectangle 4"/>
          <p:cNvSpPr/>
          <p:nvPr/>
        </p:nvSpPr>
        <p:spPr>
          <a:xfrm>
            <a:off x="502920" y="1234440"/>
            <a:ext cx="6766560" cy="23317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6400800" cy="320040"/>
          </a:xfrm>
          <a:prstGeom prst="rect">
            <a:avLst/>
          </a:prstGeom>
          <a:noFill/>
        </p:spPr>
        <p:txBody>
          <a:bodyPr wrap="square" anchor="t"/>
          <a:lstStyle/>
          <a:p>
            <a:pPr algn="l"/>
            <a:r>
              <a:rPr sz="1400" b="1" i="0">
                <a:solidFill>
                  <a:srgbClr val="0A6B63"/>
                </a:solidFill>
                <a:latin typeface="Segoe UI"/>
              </a:rPr>
              <a:t>Alibaba Cloud AI partnership — July 2025</a:t>
            </a:r>
          </a:p>
        </p:txBody>
      </p:sp>
      <p:sp>
        <p:nvSpPr>
          <p:cNvPr id="7" name="TextBox 6"/>
          <p:cNvSpPr txBox="1"/>
          <p:nvPr/>
        </p:nvSpPr>
        <p:spPr>
          <a:xfrm>
            <a:off x="731520" y="1783080"/>
            <a:ext cx="6309360" cy="1005840"/>
          </a:xfrm>
          <a:prstGeom prst="rect">
            <a:avLst/>
          </a:prstGeom>
          <a:noFill/>
        </p:spPr>
        <p:txBody>
          <a:bodyPr wrap="square" anchor="t"/>
          <a:lstStyle/>
          <a:p>
            <a:pPr algn="l"/>
            <a:r>
              <a:rPr sz="1200" b="0" i="0">
                <a:solidFill>
                  <a:srgbClr val="2C3A4B"/>
                </a:solidFill>
                <a:latin typeface="Segoe UI"/>
              </a:rPr>
              <a:t>A deep collaboration integrating frontier AI capability across the platform — the Tongyi large language model, natural-language processing, LLM inference, intelligent recommendation, and semantic search — on enterprise-grade compute and security infrastructure.</a:t>
            </a:r>
          </a:p>
        </p:txBody>
      </p:sp>
      <p:sp>
        <p:nvSpPr>
          <p:cNvPr id="8" name="TextBox 7"/>
          <p:cNvSpPr txBox="1"/>
          <p:nvPr/>
        </p:nvSpPr>
        <p:spPr>
          <a:xfrm>
            <a:off x="731520" y="2754036"/>
            <a:ext cx="6309360" cy="256032"/>
          </a:xfrm>
          <a:prstGeom prst="rect">
            <a:avLst/>
          </a:prstGeom>
          <a:noFill/>
        </p:spPr>
        <p:txBody>
          <a:bodyPr wrap="square" anchor="t"/>
          <a:lstStyle/>
          <a:p>
            <a:pPr algn="l"/>
            <a:r>
              <a:rPr sz="1100" b="0" i="0" dirty="0">
                <a:solidFill>
                  <a:srgbClr val="14283C"/>
                </a:solidFill>
                <a:latin typeface="Segoe UI"/>
              </a:rPr>
              <a:t>▸  AI Career Advisor delivering personalized career-path recommendations</a:t>
            </a:r>
          </a:p>
        </p:txBody>
      </p:sp>
      <p:sp>
        <p:nvSpPr>
          <p:cNvPr id="9" name="TextBox 8"/>
          <p:cNvSpPr txBox="1"/>
          <p:nvPr/>
        </p:nvSpPr>
        <p:spPr>
          <a:xfrm>
            <a:off x="731520" y="3026494"/>
            <a:ext cx="6309360" cy="256032"/>
          </a:xfrm>
          <a:prstGeom prst="rect">
            <a:avLst/>
          </a:prstGeom>
          <a:noFill/>
        </p:spPr>
        <p:txBody>
          <a:bodyPr wrap="square" anchor="t"/>
          <a:lstStyle/>
          <a:p>
            <a:pPr algn="l"/>
            <a:r>
              <a:rPr sz="1100" b="0" i="0" dirty="0">
                <a:solidFill>
                  <a:srgbClr val="14283C"/>
                </a:solidFill>
                <a:latin typeface="Segoe UI"/>
              </a:rPr>
              <a:t>▸  Intelligent matching and screening for precise candidate–role fit</a:t>
            </a:r>
          </a:p>
        </p:txBody>
      </p:sp>
      <p:sp>
        <p:nvSpPr>
          <p:cNvPr id="10" name="TextBox 9"/>
          <p:cNvSpPr txBox="1"/>
          <p:nvPr/>
        </p:nvSpPr>
        <p:spPr>
          <a:xfrm>
            <a:off x="731520" y="3282526"/>
            <a:ext cx="6309360" cy="256032"/>
          </a:xfrm>
          <a:prstGeom prst="rect">
            <a:avLst/>
          </a:prstGeom>
          <a:noFill/>
        </p:spPr>
        <p:txBody>
          <a:bodyPr wrap="square" anchor="t"/>
          <a:lstStyle/>
          <a:p>
            <a:pPr algn="l"/>
            <a:r>
              <a:rPr sz="1100" b="0" i="0" dirty="0">
                <a:solidFill>
                  <a:srgbClr val="14283C"/>
                </a:solidFill>
                <a:latin typeface="Segoe UI"/>
              </a:rPr>
              <a:t>▸  Enterprise data-security framework protecting user privacy</a:t>
            </a:r>
          </a:p>
        </p:txBody>
      </p:sp>
      <p:sp>
        <p:nvSpPr>
          <p:cNvPr id="11" name="Rounded Rectangle 10"/>
          <p:cNvSpPr/>
          <p:nvPr/>
        </p:nvSpPr>
        <p:spPr>
          <a:xfrm>
            <a:off x="7452360" y="1234440"/>
            <a:ext cx="4251960" cy="2331720"/>
          </a:xfrm>
          <a:prstGeom prst="roundRect">
            <a:avLst>
              <a:gd name="adj" fmla="val 8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60" y="1417320"/>
            <a:ext cx="3840480" cy="320040"/>
          </a:xfrm>
          <a:prstGeom prst="rect">
            <a:avLst/>
          </a:prstGeom>
          <a:noFill/>
        </p:spPr>
        <p:txBody>
          <a:bodyPr wrap="square" anchor="t"/>
          <a:lstStyle/>
          <a:p>
            <a:pPr algn="l"/>
            <a:r>
              <a:rPr sz="1400" b="1" i="0">
                <a:solidFill>
                  <a:srgbClr val="FFFFFF"/>
                </a:solidFill>
                <a:latin typeface="Georgia"/>
              </a:rPr>
              <a:t>Proprietary data moat</a:t>
            </a:r>
          </a:p>
        </p:txBody>
      </p:sp>
      <p:sp>
        <p:nvSpPr>
          <p:cNvPr id="13" name="TextBox 12"/>
          <p:cNvSpPr txBox="1"/>
          <p:nvPr/>
        </p:nvSpPr>
        <p:spPr>
          <a:xfrm>
            <a:off x="7680960" y="1920240"/>
            <a:ext cx="3840480" cy="1371600"/>
          </a:xfrm>
          <a:prstGeom prst="rect">
            <a:avLst/>
          </a:prstGeom>
          <a:noFill/>
        </p:spPr>
        <p:txBody>
          <a:bodyPr wrap="square" anchor="t"/>
          <a:lstStyle/>
          <a:p>
            <a:pPr algn="l"/>
            <a:r>
              <a:rPr sz="1200" b="0" i="0">
                <a:solidFill>
                  <a:srgbClr val="C5D5E0"/>
                </a:solidFill>
                <a:latin typeface="Segoe UI"/>
              </a:rPr>
              <a:t>100K+ proprietary interview questions and eight years of candidate-prep insight — assets that general-purpose models like ChatGPT or Gemini cannot readily replicate.</a:t>
            </a:r>
          </a:p>
        </p:txBody>
      </p:sp>
      <p:sp>
        <p:nvSpPr>
          <p:cNvPr id="14" name="TextBox 13"/>
          <p:cNvSpPr txBox="1"/>
          <p:nvPr/>
        </p:nvSpPr>
        <p:spPr>
          <a:xfrm>
            <a:off x="502920" y="3703320"/>
            <a:ext cx="5486400" cy="274320"/>
          </a:xfrm>
          <a:prstGeom prst="rect">
            <a:avLst/>
          </a:prstGeom>
          <a:noFill/>
        </p:spPr>
        <p:txBody>
          <a:bodyPr wrap="square" anchor="t"/>
          <a:lstStyle/>
          <a:p>
            <a:pPr algn="l"/>
            <a:r>
              <a:rPr sz="1200" b="1" i="0">
                <a:solidFill>
                  <a:srgbClr val="0B1F33"/>
                </a:solidFill>
                <a:latin typeface="Segoe UI"/>
              </a:rPr>
              <a:t>Platform architecture (simplified)</a:t>
            </a:r>
          </a:p>
        </p:txBody>
      </p:sp>
      <p:sp>
        <p:nvSpPr>
          <p:cNvPr id="15" name="Rounded Rectangle 14"/>
          <p:cNvSpPr/>
          <p:nvPr/>
        </p:nvSpPr>
        <p:spPr>
          <a:xfrm>
            <a:off x="502920" y="3794760"/>
            <a:ext cx="11201400" cy="6400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794760"/>
            <a:ext cx="109728" cy="64008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3867912"/>
            <a:ext cx="3200400" cy="256032"/>
          </a:xfrm>
          <a:prstGeom prst="rect">
            <a:avLst/>
          </a:prstGeom>
          <a:noFill/>
        </p:spPr>
        <p:txBody>
          <a:bodyPr wrap="square" anchor="t"/>
          <a:lstStyle/>
          <a:p>
            <a:pPr algn="l"/>
            <a:r>
              <a:rPr sz="1100" b="1" i="0">
                <a:solidFill>
                  <a:srgbClr val="0A6B63"/>
                </a:solidFill>
                <a:latin typeface="Segoe UI"/>
              </a:rPr>
              <a:t>APPLICATIONS</a:t>
            </a:r>
          </a:p>
        </p:txBody>
      </p:sp>
      <p:sp>
        <p:nvSpPr>
          <p:cNvPr id="18" name="TextBox 17"/>
          <p:cNvSpPr txBox="1"/>
          <p:nvPr/>
        </p:nvSpPr>
        <p:spPr>
          <a:xfrm>
            <a:off x="4114800" y="3959352"/>
            <a:ext cx="7315200" cy="320040"/>
          </a:xfrm>
          <a:prstGeom prst="rect">
            <a:avLst/>
          </a:prstGeom>
          <a:noFill/>
        </p:spPr>
        <p:txBody>
          <a:bodyPr wrap="square" anchor="t"/>
          <a:lstStyle/>
          <a:p>
            <a:pPr algn="l"/>
            <a:r>
              <a:rPr sz="1200" b="0" i="0">
                <a:solidFill>
                  <a:srgbClr val="2C3A4B"/>
                </a:solidFill>
                <a:latin typeface="Segoe UI"/>
              </a:rPr>
              <a:t>Mock Interviews · AI Résumé Builder · Career Advisor · Question Bank</a:t>
            </a:r>
          </a:p>
        </p:txBody>
      </p:sp>
      <p:sp>
        <p:nvSpPr>
          <p:cNvPr id="19" name="Rounded Rectangle 18"/>
          <p:cNvSpPr/>
          <p:nvPr/>
        </p:nvSpPr>
        <p:spPr>
          <a:xfrm>
            <a:off x="502920" y="4526280"/>
            <a:ext cx="11201400" cy="6400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 y="4526280"/>
            <a:ext cx="109728" cy="64008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4599432"/>
            <a:ext cx="3200400" cy="256032"/>
          </a:xfrm>
          <a:prstGeom prst="rect">
            <a:avLst/>
          </a:prstGeom>
          <a:noFill/>
        </p:spPr>
        <p:txBody>
          <a:bodyPr wrap="square" anchor="t"/>
          <a:lstStyle/>
          <a:p>
            <a:pPr algn="l"/>
            <a:r>
              <a:rPr sz="1100" b="1" i="0">
                <a:solidFill>
                  <a:srgbClr val="2F5D8A"/>
                </a:solidFill>
                <a:latin typeface="Segoe UI"/>
              </a:rPr>
              <a:t>INTELLIGENCE</a:t>
            </a:r>
          </a:p>
        </p:txBody>
      </p:sp>
      <p:sp>
        <p:nvSpPr>
          <p:cNvPr id="22" name="TextBox 21"/>
          <p:cNvSpPr txBox="1"/>
          <p:nvPr/>
        </p:nvSpPr>
        <p:spPr>
          <a:xfrm>
            <a:off x="4114800" y="4690872"/>
            <a:ext cx="7315200" cy="320040"/>
          </a:xfrm>
          <a:prstGeom prst="rect">
            <a:avLst/>
          </a:prstGeom>
          <a:noFill/>
        </p:spPr>
        <p:txBody>
          <a:bodyPr wrap="square" anchor="t"/>
          <a:lstStyle/>
          <a:p>
            <a:pPr algn="l"/>
            <a:r>
              <a:rPr sz="1200" b="0" i="0">
                <a:solidFill>
                  <a:srgbClr val="2C3A4B"/>
                </a:solidFill>
                <a:latin typeface="Segoe UI"/>
              </a:rPr>
              <a:t>Tongyi LLM · NLP · Semantic Search · Recommendation</a:t>
            </a:r>
          </a:p>
        </p:txBody>
      </p:sp>
      <p:sp>
        <p:nvSpPr>
          <p:cNvPr id="23" name="Rounded Rectangle 22"/>
          <p:cNvSpPr/>
          <p:nvPr/>
        </p:nvSpPr>
        <p:spPr>
          <a:xfrm>
            <a:off x="502920" y="5257800"/>
            <a:ext cx="11201400" cy="6400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5257800"/>
            <a:ext cx="109728" cy="640080"/>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330952"/>
            <a:ext cx="3200400" cy="256032"/>
          </a:xfrm>
          <a:prstGeom prst="rect">
            <a:avLst/>
          </a:prstGeom>
          <a:noFill/>
        </p:spPr>
        <p:txBody>
          <a:bodyPr wrap="square" anchor="t"/>
          <a:lstStyle/>
          <a:p>
            <a:pPr algn="l"/>
            <a:r>
              <a:rPr sz="1100" b="1" i="0">
                <a:solidFill>
                  <a:srgbClr val="8A6D3B"/>
                </a:solidFill>
                <a:latin typeface="Segoe UI"/>
              </a:rPr>
              <a:t>DATA &amp; INFRASTRUCTURE</a:t>
            </a:r>
          </a:p>
        </p:txBody>
      </p:sp>
      <p:sp>
        <p:nvSpPr>
          <p:cNvPr id="26" name="TextBox 25"/>
          <p:cNvSpPr txBox="1"/>
          <p:nvPr/>
        </p:nvSpPr>
        <p:spPr>
          <a:xfrm>
            <a:off x="4114800" y="5422392"/>
            <a:ext cx="7315200" cy="320040"/>
          </a:xfrm>
          <a:prstGeom prst="rect">
            <a:avLst/>
          </a:prstGeom>
          <a:noFill/>
        </p:spPr>
        <p:txBody>
          <a:bodyPr wrap="square" anchor="t"/>
          <a:lstStyle/>
          <a:p>
            <a:pPr algn="l"/>
            <a:r>
              <a:rPr sz="1200" b="0" i="0">
                <a:solidFill>
                  <a:srgbClr val="2C3A4B"/>
                </a:solidFill>
                <a:latin typeface="Segoe UI"/>
              </a:rPr>
              <a:t>100K+ question corpus · 8-year coaching data · Alibaba Cloud</a:t>
            </a:r>
          </a:p>
        </p:txBody>
      </p:sp>
      <p:sp>
        <p:nvSpPr>
          <p:cNvPr id="27" name="Rectangle 26"/>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0" name="TextBox 29"/>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BUSINESS MODEL</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Free Today — Paid as Users Scale</a:t>
            </a:r>
          </a:p>
        </p:txBody>
      </p:sp>
      <p:sp>
        <p:nvSpPr>
          <p:cNvPr id="5" name="Rounded Rectangle 4"/>
          <p:cNvSpPr/>
          <p:nvPr/>
        </p:nvSpPr>
        <p:spPr>
          <a:xfrm>
            <a:off x="502920" y="1234440"/>
            <a:ext cx="3611880" cy="26517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34440"/>
            <a:ext cx="3611880"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463040"/>
            <a:ext cx="3246120" cy="274320"/>
          </a:xfrm>
          <a:prstGeom prst="rect">
            <a:avLst/>
          </a:prstGeom>
          <a:noFill/>
        </p:spPr>
        <p:txBody>
          <a:bodyPr wrap="square" anchor="t"/>
          <a:lstStyle/>
          <a:p>
            <a:pPr algn="l"/>
            <a:r>
              <a:rPr sz="1000" b="1" i="0">
                <a:solidFill>
                  <a:srgbClr val="0A6B63"/>
                </a:solidFill>
                <a:latin typeface="Segoe UI"/>
              </a:rPr>
              <a:t>01 · TODAY</a:t>
            </a:r>
          </a:p>
        </p:txBody>
      </p:sp>
      <p:sp>
        <p:nvSpPr>
          <p:cNvPr id="8" name="TextBox 7"/>
          <p:cNvSpPr txBox="1"/>
          <p:nvPr/>
        </p:nvSpPr>
        <p:spPr>
          <a:xfrm>
            <a:off x="685800" y="1783080"/>
            <a:ext cx="3246120" cy="365760"/>
          </a:xfrm>
          <a:prstGeom prst="rect">
            <a:avLst/>
          </a:prstGeom>
          <a:noFill/>
        </p:spPr>
        <p:txBody>
          <a:bodyPr wrap="square" anchor="t"/>
          <a:lstStyle/>
          <a:p>
            <a:pPr algn="l"/>
            <a:r>
              <a:rPr sz="1600" b="1" i="0">
                <a:solidFill>
                  <a:srgbClr val="0B1F33"/>
                </a:solidFill>
                <a:latin typeface="Georgia"/>
              </a:rPr>
              <a:t>Free Platform</a:t>
            </a:r>
          </a:p>
        </p:txBody>
      </p:sp>
      <p:sp>
        <p:nvSpPr>
          <p:cNvPr id="9" name="TextBox 8"/>
          <p:cNvSpPr txBox="1"/>
          <p:nvPr/>
        </p:nvSpPr>
        <p:spPr>
          <a:xfrm>
            <a:off x="685800" y="2240280"/>
            <a:ext cx="3246120" cy="1005840"/>
          </a:xfrm>
          <a:prstGeom prst="rect">
            <a:avLst/>
          </a:prstGeom>
          <a:noFill/>
        </p:spPr>
        <p:txBody>
          <a:bodyPr wrap="square" anchor="t"/>
          <a:lstStyle/>
          <a:p>
            <a:pPr algn="l"/>
            <a:r>
              <a:rPr sz="1100" b="0" i="0">
                <a:solidFill>
                  <a:srgbClr val="2C3A4B"/>
                </a:solidFill>
                <a:latin typeface="Segoe UI"/>
              </a:rPr>
              <a:t>51Careers.AI is free to maximize active users: AI mock interviews, the 100K+ question bank, and the new AI résumé builder.</a:t>
            </a:r>
          </a:p>
        </p:txBody>
      </p:sp>
      <p:sp>
        <p:nvSpPr>
          <p:cNvPr id="10" name="TextBox 9"/>
          <p:cNvSpPr txBox="1"/>
          <p:nvPr/>
        </p:nvSpPr>
        <p:spPr>
          <a:xfrm>
            <a:off x="685800" y="3383280"/>
            <a:ext cx="3246120" cy="320040"/>
          </a:xfrm>
          <a:prstGeom prst="rect">
            <a:avLst/>
          </a:prstGeom>
          <a:noFill/>
        </p:spPr>
        <p:txBody>
          <a:bodyPr wrap="square" anchor="t"/>
          <a:lstStyle/>
          <a:p>
            <a:pPr algn="l"/>
            <a:r>
              <a:rPr sz="1000" b="1" i="0">
                <a:solidFill>
                  <a:srgbClr val="5E6E80"/>
                </a:solidFill>
                <a:latin typeface="Segoe UI"/>
              </a:rPr>
              <a:t>Acquire · Engage · Build habit</a:t>
            </a:r>
          </a:p>
        </p:txBody>
      </p:sp>
      <p:sp>
        <p:nvSpPr>
          <p:cNvPr id="11" name="Rounded Rectangle 10"/>
          <p:cNvSpPr/>
          <p:nvPr/>
        </p:nvSpPr>
        <p:spPr>
          <a:xfrm>
            <a:off x="4297680" y="1234440"/>
            <a:ext cx="3611880" cy="26517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234440"/>
            <a:ext cx="3611880" cy="109728"/>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463040"/>
            <a:ext cx="3246120" cy="274320"/>
          </a:xfrm>
          <a:prstGeom prst="rect">
            <a:avLst/>
          </a:prstGeom>
          <a:noFill/>
        </p:spPr>
        <p:txBody>
          <a:bodyPr wrap="square" anchor="t"/>
          <a:lstStyle/>
          <a:p>
            <a:pPr algn="l"/>
            <a:r>
              <a:rPr sz="1000" b="1" i="0">
                <a:solidFill>
                  <a:srgbClr val="2F5D8A"/>
                </a:solidFill>
                <a:latin typeface="Segoe UI"/>
              </a:rPr>
              <a:t>02 · NEXT</a:t>
            </a:r>
          </a:p>
        </p:txBody>
      </p:sp>
      <p:sp>
        <p:nvSpPr>
          <p:cNvPr id="14" name="TextBox 13"/>
          <p:cNvSpPr txBox="1"/>
          <p:nvPr/>
        </p:nvSpPr>
        <p:spPr>
          <a:xfrm>
            <a:off x="4480560" y="1783080"/>
            <a:ext cx="3246120" cy="365760"/>
          </a:xfrm>
          <a:prstGeom prst="rect">
            <a:avLst/>
          </a:prstGeom>
          <a:noFill/>
        </p:spPr>
        <p:txBody>
          <a:bodyPr wrap="square" anchor="t"/>
          <a:lstStyle/>
          <a:p>
            <a:pPr algn="l"/>
            <a:r>
              <a:rPr sz="1600" b="1" i="0">
                <a:solidFill>
                  <a:srgbClr val="0B1F33"/>
                </a:solidFill>
                <a:latin typeface="Georgia"/>
              </a:rPr>
              <a:t>Membership Fees</a:t>
            </a:r>
          </a:p>
        </p:txBody>
      </p:sp>
      <p:sp>
        <p:nvSpPr>
          <p:cNvPr id="15" name="TextBox 14"/>
          <p:cNvSpPr txBox="1"/>
          <p:nvPr/>
        </p:nvSpPr>
        <p:spPr>
          <a:xfrm>
            <a:off x="4480560" y="2240280"/>
            <a:ext cx="3246120" cy="1005840"/>
          </a:xfrm>
          <a:prstGeom prst="rect">
            <a:avLst/>
          </a:prstGeom>
          <a:noFill/>
        </p:spPr>
        <p:txBody>
          <a:bodyPr wrap="square" anchor="t"/>
          <a:lstStyle/>
          <a:p>
            <a:pPr algn="l"/>
            <a:r>
              <a:rPr sz="1100" b="0" i="0">
                <a:solidFill>
                  <a:srgbClr val="2C3A4B"/>
                </a:solidFill>
                <a:latin typeface="Segoe UI"/>
              </a:rPr>
              <a:t>Tiered memberships unlock advanced practice, premium résumé tools, deeper question packs, and progress analytics.</a:t>
            </a:r>
          </a:p>
        </p:txBody>
      </p:sp>
      <p:sp>
        <p:nvSpPr>
          <p:cNvPr id="16" name="TextBox 15"/>
          <p:cNvSpPr txBox="1"/>
          <p:nvPr/>
        </p:nvSpPr>
        <p:spPr>
          <a:xfrm>
            <a:off x="4480560" y="3383280"/>
            <a:ext cx="3246120" cy="320040"/>
          </a:xfrm>
          <a:prstGeom prst="rect">
            <a:avLst/>
          </a:prstGeom>
          <a:noFill/>
        </p:spPr>
        <p:txBody>
          <a:bodyPr wrap="square" anchor="t"/>
          <a:lstStyle/>
          <a:p>
            <a:pPr algn="l"/>
            <a:r>
              <a:rPr sz="1000" b="1" i="0">
                <a:solidFill>
                  <a:srgbClr val="5E6E80"/>
                </a:solidFill>
                <a:latin typeface="Segoe UI"/>
              </a:rPr>
              <a:t>Recurring · Scalable · Global</a:t>
            </a:r>
          </a:p>
        </p:txBody>
      </p:sp>
      <p:sp>
        <p:nvSpPr>
          <p:cNvPr id="17" name="Rounded Rectangle 16"/>
          <p:cNvSpPr/>
          <p:nvPr/>
        </p:nvSpPr>
        <p:spPr>
          <a:xfrm>
            <a:off x="8092440" y="1234440"/>
            <a:ext cx="3611880" cy="26517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234440"/>
            <a:ext cx="3611880" cy="109728"/>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1463040"/>
            <a:ext cx="3246120" cy="274320"/>
          </a:xfrm>
          <a:prstGeom prst="rect">
            <a:avLst/>
          </a:prstGeom>
          <a:noFill/>
        </p:spPr>
        <p:txBody>
          <a:bodyPr wrap="square" anchor="t"/>
          <a:lstStyle/>
          <a:p>
            <a:pPr algn="l"/>
            <a:r>
              <a:rPr sz="1000" b="1" i="0">
                <a:solidFill>
                  <a:srgbClr val="8A6D3B"/>
                </a:solidFill>
                <a:latin typeface="Segoe UI"/>
              </a:rPr>
              <a:t>03 · EXPAND</a:t>
            </a:r>
          </a:p>
        </p:txBody>
      </p:sp>
      <p:sp>
        <p:nvSpPr>
          <p:cNvPr id="20" name="TextBox 19"/>
          <p:cNvSpPr txBox="1"/>
          <p:nvPr/>
        </p:nvSpPr>
        <p:spPr>
          <a:xfrm>
            <a:off x="8275320" y="1783080"/>
            <a:ext cx="3246120" cy="365760"/>
          </a:xfrm>
          <a:prstGeom prst="rect">
            <a:avLst/>
          </a:prstGeom>
          <a:noFill/>
        </p:spPr>
        <p:txBody>
          <a:bodyPr wrap="square" anchor="t"/>
          <a:lstStyle/>
          <a:p>
            <a:pPr algn="l"/>
            <a:r>
              <a:rPr sz="1600" b="1" i="0">
                <a:solidFill>
                  <a:srgbClr val="0B1F33"/>
                </a:solidFill>
                <a:latin typeface="Georgia"/>
              </a:rPr>
              <a:t>Consulting &amp; Education</a:t>
            </a:r>
          </a:p>
        </p:txBody>
      </p:sp>
      <p:sp>
        <p:nvSpPr>
          <p:cNvPr id="21" name="TextBox 20"/>
          <p:cNvSpPr txBox="1"/>
          <p:nvPr/>
        </p:nvSpPr>
        <p:spPr>
          <a:xfrm>
            <a:off x="8275320" y="2240280"/>
            <a:ext cx="3246120" cy="1005840"/>
          </a:xfrm>
          <a:prstGeom prst="rect">
            <a:avLst/>
          </a:prstGeom>
          <a:noFill/>
        </p:spPr>
        <p:txBody>
          <a:bodyPr wrap="square" anchor="t"/>
          <a:lstStyle/>
          <a:p>
            <a:pPr algn="l"/>
            <a:r>
              <a:rPr sz="1100" b="0" i="0">
                <a:solidFill>
                  <a:srgbClr val="2C3A4B"/>
                </a:solidFill>
                <a:latin typeface="Segoe UI"/>
              </a:rPr>
              <a:t>Higher-ARPU consulting, coaching, and education programs for users who want human guidance and structured career curricula.</a:t>
            </a:r>
          </a:p>
        </p:txBody>
      </p:sp>
      <p:sp>
        <p:nvSpPr>
          <p:cNvPr id="22" name="TextBox 21"/>
          <p:cNvSpPr txBox="1"/>
          <p:nvPr/>
        </p:nvSpPr>
        <p:spPr>
          <a:xfrm>
            <a:off x="8275320" y="3383280"/>
            <a:ext cx="3246120" cy="320040"/>
          </a:xfrm>
          <a:prstGeom prst="rect">
            <a:avLst/>
          </a:prstGeom>
          <a:noFill/>
        </p:spPr>
        <p:txBody>
          <a:bodyPr wrap="square" anchor="t"/>
          <a:lstStyle/>
          <a:p>
            <a:pPr algn="l"/>
            <a:r>
              <a:rPr sz="1000" b="1" i="0">
                <a:solidFill>
                  <a:srgbClr val="5E6E80"/>
                </a:solidFill>
                <a:latin typeface="Segoe UI"/>
              </a:rPr>
              <a:t>High ARPU · Proven demand</a:t>
            </a:r>
          </a:p>
        </p:txBody>
      </p:sp>
      <p:sp>
        <p:nvSpPr>
          <p:cNvPr id="23" name="Rounded Rectangle 22"/>
          <p:cNvSpPr/>
          <p:nvPr/>
        </p:nvSpPr>
        <p:spPr>
          <a:xfrm>
            <a:off x="502920" y="4069080"/>
            <a:ext cx="11201400" cy="19659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4160520"/>
            <a:ext cx="5486400" cy="274320"/>
          </a:xfrm>
          <a:prstGeom prst="rect">
            <a:avLst/>
          </a:prstGeom>
          <a:noFill/>
        </p:spPr>
        <p:txBody>
          <a:bodyPr wrap="square" anchor="t"/>
          <a:lstStyle/>
          <a:p>
            <a:pPr algn="l"/>
            <a:r>
              <a:rPr sz="1200" b="1" i="0">
                <a:solidFill>
                  <a:srgbClr val="0B1F33"/>
                </a:solidFill>
                <a:latin typeface="Segoe UI"/>
              </a:rPr>
              <a:t>Illustrative monetization mix once paid conversion begins (%)</a:t>
            </a:r>
          </a:p>
        </p:txBody>
      </p:sp>
      <p:graphicFrame>
        <p:nvGraphicFramePr>
          <p:cNvPr id="25" name="Chart 24"/>
          <p:cNvGraphicFramePr>
            <a:graphicFrameLocks noGrp="1"/>
          </p:cNvGraphicFramePr>
          <p:nvPr/>
        </p:nvGraphicFramePr>
        <p:xfrm>
          <a:off x="640080" y="4389120"/>
          <a:ext cx="7498079" cy="1554480"/>
        </p:xfrm>
        <a:graphic>
          <a:graphicData uri="http://schemas.openxmlformats.org/drawingml/2006/chart">
            <c:chart xmlns:c="http://schemas.openxmlformats.org/drawingml/2006/chart" xmlns:r="http://schemas.openxmlformats.org/officeDocument/2006/relationships" r:id="rId2"/>
          </a:graphicData>
        </a:graphic>
      </p:graphicFrame>
      <p:sp>
        <p:nvSpPr>
          <p:cNvPr id="26" name="TextBox 25"/>
          <p:cNvSpPr txBox="1"/>
          <p:nvPr/>
        </p:nvSpPr>
        <p:spPr>
          <a:xfrm>
            <a:off x="8321040" y="4663440"/>
            <a:ext cx="3108960" cy="1188720"/>
          </a:xfrm>
          <a:prstGeom prst="rect">
            <a:avLst/>
          </a:prstGeom>
          <a:noFill/>
        </p:spPr>
        <p:txBody>
          <a:bodyPr wrap="square" anchor="t"/>
          <a:lstStyle/>
          <a:p>
            <a:pPr algn="l">
              <a:spcAft>
                <a:spcPts val="600"/>
              </a:spcAft>
            </a:pPr>
            <a:r>
              <a:rPr sz="1200" b="1" i="0">
                <a:solidFill>
                  <a:srgbClr val="0B1F33"/>
                </a:solidFill>
                <a:latin typeface="Segoe UI"/>
              </a:rPr>
              <a:t>Path to revenue</a:t>
            </a:r>
          </a:p>
          <a:p>
            <a:pPr algn="l"/>
            <a:r>
              <a:rPr sz="1100" b="0" i="0">
                <a:solidFill>
                  <a:srgbClr val="2C3A4B"/>
                </a:solidFill>
                <a:latin typeface="Segoe UI"/>
              </a:rPr>
              <a:t>Platform revenue is US$0 today. Grow active users on free access, then introduce membership, consulting, and education fees.</a:t>
            </a:r>
          </a:p>
        </p:txBody>
      </p:sp>
      <p:sp>
        <p:nvSpPr>
          <p:cNvPr id="27" name="Rectangle 26"/>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0" name="TextBox 29"/>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TRACTION</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Built on Real Candidate Outcomes</a:t>
            </a:r>
          </a:p>
        </p:txBody>
      </p:sp>
      <p:sp>
        <p:nvSpPr>
          <p:cNvPr id="5" name="Rounded Rectangle 4"/>
          <p:cNvSpPr/>
          <p:nvPr/>
        </p:nvSpPr>
        <p:spPr>
          <a:xfrm>
            <a:off x="502920" y="1188720"/>
            <a:ext cx="2697480" cy="11430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280160"/>
            <a:ext cx="2423160" cy="502920"/>
          </a:xfrm>
          <a:prstGeom prst="rect">
            <a:avLst/>
          </a:prstGeom>
          <a:noFill/>
        </p:spPr>
        <p:txBody>
          <a:bodyPr wrap="square" anchor="t"/>
          <a:lstStyle/>
          <a:p>
            <a:pPr algn="l"/>
            <a:r>
              <a:rPr sz="2400" b="1" i="0">
                <a:solidFill>
                  <a:srgbClr val="0B1F33"/>
                </a:solidFill>
                <a:latin typeface="Georgia"/>
              </a:rPr>
              <a:t>10,000+</a:t>
            </a:r>
          </a:p>
        </p:txBody>
      </p:sp>
      <p:sp>
        <p:nvSpPr>
          <p:cNvPr id="7" name="TextBox 6"/>
          <p:cNvSpPr txBox="1"/>
          <p:nvPr/>
        </p:nvSpPr>
        <p:spPr>
          <a:xfrm>
            <a:off x="640080" y="1874519"/>
            <a:ext cx="2423160" cy="320040"/>
          </a:xfrm>
          <a:prstGeom prst="rect">
            <a:avLst/>
          </a:prstGeom>
          <a:noFill/>
        </p:spPr>
        <p:txBody>
          <a:bodyPr wrap="square" anchor="t"/>
          <a:lstStyle/>
          <a:p>
            <a:pPr algn="l"/>
            <a:r>
              <a:rPr sz="900" b="1" i="0">
                <a:solidFill>
                  <a:srgbClr val="5E6E80"/>
                </a:solidFill>
                <a:latin typeface="Segoe UI"/>
              </a:rPr>
              <a:t>CANDIDATES HELPED · 8 YEARS</a:t>
            </a:r>
          </a:p>
        </p:txBody>
      </p:sp>
      <p:sp>
        <p:nvSpPr>
          <p:cNvPr id="8" name="Rounded Rectangle 7"/>
          <p:cNvSpPr/>
          <p:nvPr/>
        </p:nvSpPr>
        <p:spPr>
          <a:xfrm>
            <a:off x="3383280" y="1188720"/>
            <a:ext cx="2697480" cy="11430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20440" y="1280160"/>
            <a:ext cx="2423160" cy="502920"/>
          </a:xfrm>
          <a:prstGeom prst="rect">
            <a:avLst/>
          </a:prstGeom>
          <a:noFill/>
        </p:spPr>
        <p:txBody>
          <a:bodyPr wrap="square" anchor="t"/>
          <a:lstStyle/>
          <a:p>
            <a:pPr algn="l"/>
            <a:r>
              <a:rPr sz="2400" b="1" i="0">
                <a:solidFill>
                  <a:srgbClr val="0B1F33"/>
                </a:solidFill>
                <a:latin typeface="Georgia"/>
              </a:rPr>
              <a:t>100K+</a:t>
            </a:r>
          </a:p>
        </p:txBody>
      </p:sp>
      <p:sp>
        <p:nvSpPr>
          <p:cNvPr id="10" name="TextBox 9"/>
          <p:cNvSpPr txBox="1"/>
          <p:nvPr/>
        </p:nvSpPr>
        <p:spPr>
          <a:xfrm>
            <a:off x="3520440" y="1874519"/>
            <a:ext cx="2423160" cy="320040"/>
          </a:xfrm>
          <a:prstGeom prst="rect">
            <a:avLst/>
          </a:prstGeom>
          <a:noFill/>
        </p:spPr>
        <p:txBody>
          <a:bodyPr wrap="square" anchor="t"/>
          <a:lstStyle/>
          <a:p>
            <a:pPr algn="l"/>
            <a:r>
              <a:rPr sz="900" b="1" i="0">
                <a:solidFill>
                  <a:srgbClr val="5E6E80"/>
                </a:solidFill>
                <a:latin typeface="Segoe UI"/>
              </a:rPr>
              <a:t>MOCK INTERVIEW QUESTIONS</a:t>
            </a:r>
          </a:p>
        </p:txBody>
      </p:sp>
      <p:sp>
        <p:nvSpPr>
          <p:cNvPr id="11" name="Rounded Rectangle 10"/>
          <p:cNvSpPr/>
          <p:nvPr/>
        </p:nvSpPr>
        <p:spPr>
          <a:xfrm>
            <a:off x="6263640" y="1188720"/>
            <a:ext cx="2697480" cy="11430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280160"/>
            <a:ext cx="2423160" cy="502920"/>
          </a:xfrm>
          <a:prstGeom prst="rect">
            <a:avLst/>
          </a:prstGeom>
          <a:noFill/>
        </p:spPr>
        <p:txBody>
          <a:bodyPr wrap="square" anchor="t"/>
          <a:lstStyle/>
          <a:p>
            <a:pPr algn="l"/>
            <a:r>
              <a:rPr sz="2400" b="1" i="0">
                <a:solidFill>
                  <a:srgbClr val="0B1F33"/>
                </a:solidFill>
                <a:latin typeface="Georgia"/>
              </a:rPr>
              <a:t>2025</a:t>
            </a:r>
          </a:p>
        </p:txBody>
      </p:sp>
      <p:sp>
        <p:nvSpPr>
          <p:cNvPr id="13" name="TextBox 12"/>
          <p:cNvSpPr txBox="1"/>
          <p:nvPr/>
        </p:nvSpPr>
        <p:spPr>
          <a:xfrm>
            <a:off x="6400800" y="1874519"/>
            <a:ext cx="2423160" cy="320040"/>
          </a:xfrm>
          <a:prstGeom prst="rect">
            <a:avLst/>
          </a:prstGeom>
          <a:noFill/>
        </p:spPr>
        <p:txBody>
          <a:bodyPr wrap="square" anchor="t"/>
          <a:lstStyle/>
          <a:p>
            <a:pPr algn="l"/>
            <a:r>
              <a:rPr sz="900" b="1" i="0">
                <a:solidFill>
                  <a:srgbClr val="5E6E80"/>
                </a:solidFill>
                <a:latin typeface="Segoe UI"/>
              </a:rPr>
              <a:t>AI PLATFORM LAUNCH</a:t>
            </a:r>
          </a:p>
        </p:txBody>
      </p:sp>
      <p:sp>
        <p:nvSpPr>
          <p:cNvPr id="14" name="Rounded Rectangle 13"/>
          <p:cNvSpPr/>
          <p:nvPr/>
        </p:nvSpPr>
        <p:spPr>
          <a:xfrm>
            <a:off x="9144000" y="1188720"/>
            <a:ext cx="2697480" cy="11430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81160" y="1280160"/>
            <a:ext cx="2423160" cy="502920"/>
          </a:xfrm>
          <a:prstGeom prst="rect">
            <a:avLst/>
          </a:prstGeom>
          <a:noFill/>
        </p:spPr>
        <p:txBody>
          <a:bodyPr wrap="square" anchor="t"/>
          <a:lstStyle/>
          <a:p>
            <a:pPr algn="l"/>
            <a:r>
              <a:rPr sz="2400" b="1" i="0">
                <a:solidFill>
                  <a:srgbClr val="0B1F33"/>
                </a:solidFill>
                <a:latin typeface="Georgia"/>
              </a:rPr>
              <a:t>US$0</a:t>
            </a:r>
          </a:p>
        </p:txBody>
      </p:sp>
      <p:sp>
        <p:nvSpPr>
          <p:cNvPr id="16" name="TextBox 15"/>
          <p:cNvSpPr txBox="1"/>
          <p:nvPr/>
        </p:nvSpPr>
        <p:spPr>
          <a:xfrm>
            <a:off x="9281160" y="1874519"/>
            <a:ext cx="2423160" cy="320040"/>
          </a:xfrm>
          <a:prstGeom prst="rect">
            <a:avLst/>
          </a:prstGeom>
          <a:noFill/>
        </p:spPr>
        <p:txBody>
          <a:bodyPr wrap="square" anchor="t"/>
          <a:lstStyle/>
          <a:p>
            <a:pPr algn="l"/>
            <a:r>
              <a:rPr sz="900" b="1" i="0">
                <a:solidFill>
                  <a:srgbClr val="5E6E80"/>
                </a:solidFill>
                <a:latin typeface="Segoe UI"/>
              </a:rPr>
              <a:t>PLATFORM REVENUE (FREE)</a:t>
            </a:r>
          </a:p>
        </p:txBody>
      </p:sp>
      <p:sp>
        <p:nvSpPr>
          <p:cNvPr id="17" name="Rounded Rectangle 16"/>
          <p:cNvSpPr/>
          <p:nvPr/>
        </p:nvSpPr>
        <p:spPr>
          <a:xfrm>
            <a:off x="502920" y="2514600"/>
            <a:ext cx="6858000" cy="32461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2651760"/>
            <a:ext cx="6400800" cy="274320"/>
          </a:xfrm>
          <a:prstGeom prst="rect">
            <a:avLst/>
          </a:prstGeom>
          <a:noFill/>
        </p:spPr>
        <p:txBody>
          <a:bodyPr wrap="square" anchor="t"/>
          <a:lstStyle/>
          <a:p>
            <a:pPr algn="l"/>
            <a:r>
              <a:rPr sz="1300" b="1" i="0">
                <a:solidFill>
                  <a:srgbClr val="0B1F33"/>
                </a:solidFill>
                <a:latin typeface="Segoe UI"/>
              </a:rPr>
              <a:t>Selected milestones</a:t>
            </a:r>
          </a:p>
        </p:txBody>
      </p:sp>
      <p:sp>
        <p:nvSpPr>
          <p:cNvPr id="19" name="Rectangle 18"/>
          <p:cNvSpPr/>
          <p:nvPr/>
        </p:nvSpPr>
        <p:spPr>
          <a:xfrm>
            <a:off x="1051560" y="3154680"/>
            <a:ext cx="36576" cy="233172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60120" y="3136392"/>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3063240"/>
            <a:ext cx="1097280" cy="274320"/>
          </a:xfrm>
          <a:prstGeom prst="rect">
            <a:avLst/>
          </a:prstGeom>
          <a:noFill/>
        </p:spPr>
        <p:txBody>
          <a:bodyPr wrap="square" anchor="t"/>
          <a:lstStyle/>
          <a:p>
            <a:pPr algn="l"/>
            <a:r>
              <a:rPr sz="1100" b="1" i="0">
                <a:solidFill>
                  <a:srgbClr val="0A6B63"/>
                </a:solidFill>
                <a:latin typeface="Segoe UI"/>
              </a:rPr>
              <a:t>2016</a:t>
            </a:r>
          </a:p>
        </p:txBody>
      </p:sp>
      <p:sp>
        <p:nvSpPr>
          <p:cNvPr id="22" name="TextBox 21"/>
          <p:cNvSpPr txBox="1"/>
          <p:nvPr/>
        </p:nvSpPr>
        <p:spPr>
          <a:xfrm>
            <a:off x="2514600" y="3063240"/>
            <a:ext cx="4572000" cy="457200"/>
          </a:xfrm>
          <a:prstGeom prst="rect">
            <a:avLst/>
          </a:prstGeom>
          <a:noFill/>
        </p:spPr>
        <p:txBody>
          <a:bodyPr wrap="square" anchor="t"/>
          <a:lstStyle/>
          <a:p>
            <a:pPr algn="l"/>
            <a:r>
              <a:rPr sz="1100" b="0" i="0">
                <a:solidFill>
                  <a:srgbClr val="2C3A4B"/>
                </a:solidFill>
                <a:latin typeface="Segoe UI"/>
              </a:rPr>
              <a:t>51 Careers founded — premium career development for global professionals</a:t>
            </a:r>
          </a:p>
        </p:txBody>
      </p:sp>
      <p:sp>
        <p:nvSpPr>
          <p:cNvPr id="23" name="Oval 22"/>
          <p:cNvSpPr/>
          <p:nvPr/>
        </p:nvSpPr>
        <p:spPr>
          <a:xfrm>
            <a:off x="960120" y="3639312"/>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71600" y="3566160"/>
            <a:ext cx="1097280" cy="274320"/>
          </a:xfrm>
          <a:prstGeom prst="rect">
            <a:avLst/>
          </a:prstGeom>
          <a:noFill/>
        </p:spPr>
        <p:txBody>
          <a:bodyPr wrap="square" anchor="t"/>
          <a:lstStyle/>
          <a:p>
            <a:pPr algn="l"/>
            <a:r>
              <a:rPr sz="1100" b="1" i="0">
                <a:solidFill>
                  <a:srgbClr val="0A6B63"/>
                </a:solidFill>
                <a:latin typeface="Segoe UI"/>
              </a:rPr>
              <a:t>2016–24</a:t>
            </a:r>
          </a:p>
        </p:txBody>
      </p:sp>
      <p:sp>
        <p:nvSpPr>
          <p:cNvPr id="25" name="TextBox 24"/>
          <p:cNvSpPr txBox="1"/>
          <p:nvPr/>
        </p:nvSpPr>
        <p:spPr>
          <a:xfrm>
            <a:off x="2514600" y="3566160"/>
            <a:ext cx="4572000" cy="457200"/>
          </a:xfrm>
          <a:prstGeom prst="rect">
            <a:avLst/>
          </a:prstGeom>
          <a:noFill/>
        </p:spPr>
        <p:txBody>
          <a:bodyPr wrap="square" anchor="t"/>
          <a:lstStyle/>
          <a:p>
            <a:pPr algn="l"/>
            <a:r>
              <a:rPr sz="1100" b="0" i="0">
                <a:solidFill>
                  <a:srgbClr val="2C3A4B"/>
                </a:solidFill>
                <a:latin typeface="Segoe UI"/>
              </a:rPr>
              <a:t>Helped 10,000+ candidates; built deep interview &amp; résumé expertise</a:t>
            </a:r>
          </a:p>
        </p:txBody>
      </p:sp>
      <p:sp>
        <p:nvSpPr>
          <p:cNvPr id="26" name="Oval 25"/>
          <p:cNvSpPr/>
          <p:nvPr/>
        </p:nvSpPr>
        <p:spPr>
          <a:xfrm>
            <a:off x="960120" y="4142232"/>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371600" y="4069080"/>
            <a:ext cx="1097280" cy="274320"/>
          </a:xfrm>
          <a:prstGeom prst="rect">
            <a:avLst/>
          </a:prstGeom>
          <a:noFill/>
        </p:spPr>
        <p:txBody>
          <a:bodyPr wrap="square" anchor="t"/>
          <a:lstStyle/>
          <a:p>
            <a:pPr algn="l"/>
            <a:r>
              <a:rPr sz="1100" b="1" i="0">
                <a:solidFill>
                  <a:srgbClr val="0A6B63"/>
                </a:solidFill>
                <a:latin typeface="Segoe UI"/>
              </a:rPr>
              <a:t>2025</a:t>
            </a:r>
          </a:p>
        </p:txBody>
      </p:sp>
      <p:sp>
        <p:nvSpPr>
          <p:cNvPr id="28" name="TextBox 27"/>
          <p:cNvSpPr txBox="1"/>
          <p:nvPr/>
        </p:nvSpPr>
        <p:spPr>
          <a:xfrm>
            <a:off x="2514600" y="4069080"/>
            <a:ext cx="4572000" cy="457200"/>
          </a:xfrm>
          <a:prstGeom prst="rect">
            <a:avLst/>
          </a:prstGeom>
          <a:noFill/>
        </p:spPr>
        <p:txBody>
          <a:bodyPr wrap="square" anchor="t"/>
          <a:lstStyle/>
          <a:p>
            <a:pPr algn="l"/>
            <a:r>
              <a:rPr sz="1100" b="0" i="0">
                <a:solidFill>
                  <a:srgbClr val="2C3A4B"/>
                </a:solidFill>
                <a:latin typeface="Segoe UI"/>
              </a:rPr>
              <a:t>Launched 51Careers.AI — free AI platform with mock interviews &amp; 100K+ questions</a:t>
            </a:r>
          </a:p>
        </p:txBody>
      </p:sp>
      <p:sp>
        <p:nvSpPr>
          <p:cNvPr id="29" name="Oval 28"/>
          <p:cNvSpPr/>
          <p:nvPr/>
        </p:nvSpPr>
        <p:spPr>
          <a:xfrm>
            <a:off x="960120" y="4645152"/>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71600" y="4572000"/>
            <a:ext cx="1097280" cy="274320"/>
          </a:xfrm>
          <a:prstGeom prst="rect">
            <a:avLst/>
          </a:prstGeom>
          <a:noFill/>
        </p:spPr>
        <p:txBody>
          <a:bodyPr wrap="square" anchor="t"/>
          <a:lstStyle/>
          <a:p>
            <a:pPr algn="l"/>
            <a:r>
              <a:rPr sz="1100" b="1" i="0">
                <a:solidFill>
                  <a:srgbClr val="0A6B63"/>
                </a:solidFill>
                <a:latin typeface="Segoe UI"/>
              </a:rPr>
              <a:t>2025–26</a:t>
            </a:r>
          </a:p>
        </p:txBody>
      </p:sp>
      <p:sp>
        <p:nvSpPr>
          <p:cNvPr id="31" name="TextBox 30"/>
          <p:cNvSpPr txBox="1"/>
          <p:nvPr/>
        </p:nvSpPr>
        <p:spPr>
          <a:xfrm>
            <a:off x="2514600" y="4572000"/>
            <a:ext cx="4572000" cy="457200"/>
          </a:xfrm>
          <a:prstGeom prst="rect">
            <a:avLst/>
          </a:prstGeom>
          <a:noFill/>
        </p:spPr>
        <p:txBody>
          <a:bodyPr wrap="square" anchor="t"/>
          <a:lstStyle/>
          <a:p>
            <a:pPr algn="l"/>
            <a:r>
              <a:rPr sz="1100" b="0" i="0">
                <a:solidFill>
                  <a:srgbClr val="2C3A4B"/>
                </a:solidFill>
                <a:latin typeface="Segoe UI"/>
              </a:rPr>
              <a:t>Developing AI résumé builder; growing active users globally</a:t>
            </a:r>
          </a:p>
        </p:txBody>
      </p:sp>
      <p:sp>
        <p:nvSpPr>
          <p:cNvPr id="32" name="Oval 31"/>
          <p:cNvSpPr/>
          <p:nvPr/>
        </p:nvSpPr>
        <p:spPr>
          <a:xfrm>
            <a:off x="960120" y="5148072"/>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71600" y="5074920"/>
            <a:ext cx="1097280" cy="274320"/>
          </a:xfrm>
          <a:prstGeom prst="rect">
            <a:avLst/>
          </a:prstGeom>
          <a:noFill/>
        </p:spPr>
        <p:txBody>
          <a:bodyPr wrap="square" anchor="t"/>
          <a:lstStyle/>
          <a:p>
            <a:pPr algn="l"/>
            <a:r>
              <a:rPr sz="1100" b="1" i="0">
                <a:solidFill>
                  <a:srgbClr val="0A6B63"/>
                </a:solidFill>
                <a:latin typeface="Segoe UI"/>
              </a:rPr>
              <a:t>Next</a:t>
            </a:r>
          </a:p>
        </p:txBody>
      </p:sp>
      <p:sp>
        <p:nvSpPr>
          <p:cNvPr id="34" name="TextBox 33"/>
          <p:cNvSpPr txBox="1"/>
          <p:nvPr/>
        </p:nvSpPr>
        <p:spPr>
          <a:xfrm>
            <a:off x="2514600" y="5074920"/>
            <a:ext cx="4572000" cy="457200"/>
          </a:xfrm>
          <a:prstGeom prst="rect">
            <a:avLst/>
          </a:prstGeom>
          <a:noFill/>
        </p:spPr>
        <p:txBody>
          <a:bodyPr wrap="square" anchor="t"/>
          <a:lstStyle/>
          <a:p>
            <a:pPr algn="l"/>
            <a:r>
              <a:rPr sz="1100" b="0" i="0">
                <a:solidFill>
                  <a:srgbClr val="2C3A4B"/>
                </a:solidFill>
                <a:latin typeface="Segoe UI"/>
              </a:rPr>
              <a:t>Introduce membership, consulting, and education fees as usage scales</a:t>
            </a:r>
          </a:p>
        </p:txBody>
      </p:sp>
      <p:sp>
        <p:nvSpPr>
          <p:cNvPr id="35" name="Rounded Rectangle 34"/>
          <p:cNvSpPr/>
          <p:nvPr/>
        </p:nvSpPr>
        <p:spPr>
          <a:xfrm>
            <a:off x="7543800" y="2514600"/>
            <a:ext cx="4160520" cy="32461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26679" y="2651760"/>
            <a:ext cx="3840480" cy="274320"/>
          </a:xfrm>
          <a:prstGeom prst="rect">
            <a:avLst/>
          </a:prstGeom>
          <a:noFill/>
        </p:spPr>
        <p:txBody>
          <a:bodyPr wrap="square" anchor="t"/>
          <a:lstStyle/>
          <a:p>
            <a:pPr algn="l"/>
            <a:r>
              <a:rPr sz="1300" b="1" i="0">
                <a:solidFill>
                  <a:srgbClr val="0B1F33"/>
                </a:solidFill>
                <a:latin typeface="Segoe UI"/>
              </a:rPr>
              <a:t>Why it matters</a:t>
            </a:r>
          </a:p>
        </p:txBody>
      </p:sp>
      <p:sp>
        <p:nvSpPr>
          <p:cNvPr id="37" name="TextBox 36"/>
          <p:cNvSpPr txBox="1"/>
          <p:nvPr/>
        </p:nvSpPr>
        <p:spPr>
          <a:xfrm>
            <a:off x="7726679" y="3063240"/>
            <a:ext cx="3794760" cy="548640"/>
          </a:xfrm>
          <a:prstGeom prst="rect">
            <a:avLst/>
          </a:prstGeom>
          <a:noFill/>
        </p:spPr>
        <p:txBody>
          <a:bodyPr wrap="square" anchor="t"/>
          <a:lstStyle/>
          <a:p>
            <a:pPr algn="l"/>
            <a:r>
              <a:rPr sz="1100" b="0" i="0">
                <a:solidFill>
                  <a:srgbClr val="2C3A4B"/>
                </a:solidFill>
                <a:latin typeface="Segoe UI"/>
              </a:rPr>
              <a:t>▸  Eight years of real candidate-prep insight behind the AI product</a:t>
            </a:r>
          </a:p>
        </p:txBody>
      </p:sp>
      <p:sp>
        <p:nvSpPr>
          <p:cNvPr id="38" name="TextBox 37"/>
          <p:cNvSpPr txBox="1"/>
          <p:nvPr/>
        </p:nvSpPr>
        <p:spPr>
          <a:xfrm>
            <a:off x="7726679" y="3657600"/>
            <a:ext cx="3794760" cy="548640"/>
          </a:xfrm>
          <a:prstGeom prst="rect">
            <a:avLst/>
          </a:prstGeom>
          <a:noFill/>
        </p:spPr>
        <p:txBody>
          <a:bodyPr wrap="square" anchor="t"/>
          <a:lstStyle/>
          <a:p>
            <a:pPr algn="l"/>
            <a:r>
              <a:rPr sz="1100" b="0" i="0">
                <a:solidFill>
                  <a:srgbClr val="2C3A4B"/>
                </a:solidFill>
                <a:latin typeface="Segoe UI"/>
              </a:rPr>
              <a:t>▸  100K+ proprietary questions create a durable data advantage vs. generic LLMs</a:t>
            </a:r>
          </a:p>
        </p:txBody>
      </p:sp>
      <p:sp>
        <p:nvSpPr>
          <p:cNvPr id="39" name="TextBox 38"/>
          <p:cNvSpPr txBox="1"/>
          <p:nvPr/>
        </p:nvSpPr>
        <p:spPr>
          <a:xfrm>
            <a:off x="7726679" y="4251960"/>
            <a:ext cx="3794760" cy="548640"/>
          </a:xfrm>
          <a:prstGeom prst="rect">
            <a:avLst/>
          </a:prstGeom>
          <a:noFill/>
        </p:spPr>
        <p:txBody>
          <a:bodyPr wrap="square" anchor="t"/>
          <a:lstStyle/>
          <a:p>
            <a:pPr algn="l"/>
            <a:r>
              <a:rPr sz="1100" b="0" i="0">
                <a:solidFill>
                  <a:srgbClr val="2C3A4B"/>
                </a:solidFill>
                <a:latin typeface="Segoe UI"/>
              </a:rPr>
              <a:t>▸  Free launch maximizes global user acquisition before monetization</a:t>
            </a:r>
          </a:p>
        </p:txBody>
      </p:sp>
      <p:sp>
        <p:nvSpPr>
          <p:cNvPr id="40" name="TextBox 39"/>
          <p:cNvSpPr txBox="1"/>
          <p:nvPr/>
        </p:nvSpPr>
        <p:spPr>
          <a:xfrm>
            <a:off x="7726679" y="4846320"/>
            <a:ext cx="3794760" cy="548640"/>
          </a:xfrm>
          <a:prstGeom prst="rect">
            <a:avLst/>
          </a:prstGeom>
          <a:noFill/>
        </p:spPr>
        <p:txBody>
          <a:bodyPr wrap="square" anchor="t"/>
          <a:lstStyle/>
          <a:p>
            <a:pPr algn="l"/>
            <a:r>
              <a:rPr sz="1100" b="0" i="0">
                <a:solidFill>
                  <a:srgbClr val="2C3A4B"/>
                </a:solidFill>
                <a:latin typeface="Segoe UI"/>
              </a:rPr>
              <a:t>▸  Clear path: membership · consulting · education fees</a:t>
            </a:r>
          </a:p>
        </p:txBody>
      </p:sp>
      <p:sp>
        <p:nvSpPr>
          <p:cNvPr id="41" name="TextBox 40"/>
          <p:cNvSpPr txBox="1"/>
          <p:nvPr/>
        </p:nvSpPr>
        <p:spPr>
          <a:xfrm>
            <a:off x="502920" y="5852160"/>
            <a:ext cx="10972800" cy="274320"/>
          </a:xfrm>
          <a:prstGeom prst="rect">
            <a:avLst/>
          </a:prstGeom>
          <a:noFill/>
        </p:spPr>
        <p:txBody>
          <a:bodyPr wrap="square" anchor="t"/>
          <a:lstStyle/>
          <a:p>
            <a:pPr algn="l"/>
            <a:r>
              <a:rPr sz="800" b="0" i="0">
                <a:solidFill>
                  <a:srgbClr val="5E6E80"/>
                </a:solidFill>
                <a:latin typeface="Segoe UI"/>
              </a:rPr>
              <a:t>Platform revenue is currently US$0 by design (free access). Candidate totals reflect 51 Careers operating history since 2016.</a:t>
            </a:r>
          </a:p>
        </p:txBody>
      </p:sp>
      <p:sp>
        <p:nvSpPr>
          <p:cNvPr id="42" name="Rectangle 41"/>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45" name="TextBox 44"/>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COMPETITIVE POSITIONING</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Purpose-Built Career AI vs. General LLMs</a:t>
            </a:r>
          </a:p>
        </p:txBody>
      </p:sp>
      <p:sp>
        <p:nvSpPr>
          <p:cNvPr id="5" name="Rounded Rectangle 4"/>
          <p:cNvSpPr/>
          <p:nvPr/>
        </p:nvSpPr>
        <p:spPr>
          <a:xfrm>
            <a:off x="502920" y="1188720"/>
            <a:ext cx="5212080" cy="32461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280160"/>
            <a:ext cx="4846320" cy="274320"/>
          </a:xfrm>
          <a:prstGeom prst="rect">
            <a:avLst/>
          </a:prstGeom>
          <a:noFill/>
        </p:spPr>
        <p:txBody>
          <a:bodyPr wrap="square" anchor="t"/>
          <a:lstStyle/>
          <a:p>
            <a:pPr algn="l"/>
            <a:r>
              <a:rPr sz="1200" b="1" i="0">
                <a:solidFill>
                  <a:srgbClr val="0B1F33"/>
                </a:solidFill>
                <a:latin typeface="Segoe UI"/>
              </a:rPr>
              <a:t>Career-domain capability score (illustrative, 0–6)</a:t>
            </a:r>
          </a:p>
        </p:txBody>
      </p:sp>
      <p:graphicFrame>
        <p:nvGraphicFramePr>
          <p:cNvPr id="7" name="Chart 6"/>
          <p:cNvGraphicFramePr>
            <a:graphicFrameLocks noGrp="1"/>
          </p:cNvGraphicFramePr>
          <p:nvPr/>
        </p:nvGraphicFramePr>
        <p:xfrm>
          <a:off x="594360" y="1600200"/>
          <a:ext cx="4983480" cy="26517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nvGraphicFramePr>
        <p:xfrm>
          <a:off x="5897880" y="1188720"/>
          <a:ext cx="5806440" cy="3415938"/>
        </p:xfrm>
        <a:graphic>
          <a:graphicData uri="http://schemas.openxmlformats.org/drawingml/2006/table">
            <a:tbl>
              <a:tblPr firstRow="1" bandRow="1">
                <a:tableStyleId>{5C22544A-7EE6-4342-B048-85BDC9FD1C3A}</a:tableStyleId>
              </a:tblPr>
              <a:tblGrid>
                <a:gridCol w="1161288">
                  <a:extLst>
                    <a:ext uri="{9D8B030D-6E8A-4147-A177-3AD203B41FA5}">
                      <a16:colId xmlns:a16="http://schemas.microsoft.com/office/drawing/2014/main" val="20000"/>
                    </a:ext>
                  </a:extLst>
                </a:gridCol>
                <a:gridCol w="1161288">
                  <a:extLst>
                    <a:ext uri="{9D8B030D-6E8A-4147-A177-3AD203B41FA5}">
                      <a16:colId xmlns:a16="http://schemas.microsoft.com/office/drawing/2014/main" val="20001"/>
                    </a:ext>
                  </a:extLst>
                </a:gridCol>
                <a:gridCol w="1161288">
                  <a:extLst>
                    <a:ext uri="{9D8B030D-6E8A-4147-A177-3AD203B41FA5}">
                      <a16:colId xmlns:a16="http://schemas.microsoft.com/office/drawing/2014/main" val="20002"/>
                    </a:ext>
                  </a:extLst>
                </a:gridCol>
                <a:gridCol w="1161288">
                  <a:extLst>
                    <a:ext uri="{9D8B030D-6E8A-4147-A177-3AD203B41FA5}">
                      <a16:colId xmlns:a16="http://schemas.microsoft.com/office/drawing/2014/main" val="20003"/>
                    </a:ext>
                  </a:extLst>
                </a:gridCol>
                <a:gridCol w="1161288">
                  <a:extLst>
                    <a:ext uri="{9D8B030D-6E8A-4147-A177-3AD203B41FA5}">
                      <a16:colId xmlns:a16="http://schemas.microsoft.com/office/drawing/2014/main" val="20004"/>
                    </a:ext>
                  </a:extLst>
                </a:gridCol>
              </a:tblGrid>
              <a:tr h="463731">
                <a:tc>
                  <a:txBody>
                    <a:bodyPr/>
                    <a:lstStyle/>
                    <a:p>
                      <a:pPr algn="l"/>
                      <a:r>
                        <a:rPr sz="900" b="1">
                          <a:solidFill>
                            <a:srgbClr val="FFFFFF"/>
                          </a:solidFill>
                          <a:latin typeface="Segoe UI"/>
                        </a:rPr>
                        <a:t>Capability</a:t>
                      </a:r>
                    </a:p>
                  </a:txBody>
                  <a:tcPr>
                    <a:solidFill>
                      <a:srgbClr val="0B1F33"/>
                    </a:solidFill>
                  </a:tcPr>
                </a:tc>
                <a:tc>
                  <a:txBody>
                    <a:bodyPr/>
                    <a:lstStyle/>
                    <a:p>
                      <a:pPr algn="ctr"/>
                      <a:r>
                        <a:rPr sz="900" b="1">
                          <a:solidFill>
                            <a:srgbClr val="FFFFFF"/>
                          </a:solidFill>
                          <a:latin typeface="Segoe UI"/>
                        </a:rPr>
                        <a:t>51Careers</a:t>
                      </a:r>
                    </a:p>
                  </a:txBody>
                  <a:tcPr>
                    <a:solidFill>
                      <a:srgbClr val="0B1F33"/>
                    </a:solidFill>
                  </a:tcPr>
                </a:tc>
                <a:tc>
                  <a:txBody>
                    <a:bodyPr/>
                    <a:lstStyle/>
                    <a:p>
                      <a:pPr algn="ctr"/>
                      <a:r>
                        <a:rPr sz="900" b="1">
                          <a:solidFill>
                            <a:srgbClr val="FFFFFF"/>
                          </a:solidFill>
                          <a:latin typeface="Segoe UI"/>
                        </a:rPr>
                        <a:t>ChatGPT</a:t>
                      </a:r>
                    </a:p>
                  </a:txBody>
                  <a:tcPr>
                    <a:solidFill>
                      <a:srgbClr val="0B1F33"/>
                    </a:solidFill>
                  </a:tcPr>
                </a:tc>
                <a:tc>
                  <a:txBody>
                    <a:bodyPr/>
                    <a:lstStyle/>
                    <a:p>
                      <a:pPr algn="ctr"/>
                      <a:r>
                        <a:rPr sz="900" b="1">
                          <a:solidFill>
                            <a:srgbClr val="FFFFFF"/>
                          </a:solidFill>
                          <a:latin typeface="Segoe UI"/>
                        </a:rPr>
                        <a:t>Gemini</a:t>
                      </a:r>
                    </a:p>
                  </a:txBody>
                  <a:tcPr>
                    <a:solidFill>
                      <a:srgbClr val="0B1F33"/>
                    </a:solidFill>
                  </a:tcPr>
                </a:tc>
                <a:tc>
                  <a:txBody>
                    <a:bodyPr/>
                    <a:lstStyle/>
                    <a:p>
                      <a:pPr algn="ctr"/>
                      <a:r>
                        <a:rPr sz="900" b="1">
                          <a:solidFill>
                            <a:srgbClr val="FFFFFF"/>
                          </a:solidFill>
                          <a:latin typeface="Segoe UI"/>
                        </a:rPr>
                        <a:t>Claude</a:t>
                      </a:r>
                    </a:p>
                  </a:txBody>
                  <a:tcPr>
                    <a:solidFill>
                      <a:srgbClr val="0B1F33"/>
                    </a:solidFill>
                  </a:tcPr>
                </a:tc>
                <a:extLst>
                  <a:ext uri="{0D108BD9-81ED-4DB2-BD59-A6C34878D82A}">
                    <a16:rowId xmlns:a16="http://schemas.microsoft.com/office/drawing/2014/main" val="10000"/>
                  </a:ext>
                </a:extLst>
              </a:tr>
              <a:tr h="463731">
                <a:tc>
                  <a:txBody>
                    <a:bodyPr/>
                    <a:lstStyle/>
                    <a:p>
                      <a:pPr algn="l"/>
                      <a:r>
                        <a:rPr sz="1000" b="0">
                          <a:solidFill>
                            <a:srgbClr val="2C3A4B"/>
                          </a:solidFill>
                          <a:latin typeface="Segoe UI"/>
                        </a:rPr>
                        <a:t>Career-specific mock interviews</a:t>
                      </a:r>
                    </a:p>
                  </a:txBody>
                  <a:tcPr>
                    <a:solidFill>
                      <a:srgbClr val="FFFFFF"/>
                    </a:solidFill>
                  </a:tcPr>
                </a:tc>
                <a:tc>
                  <a:txBody>
                    <a:bodyPr/>
                    <a:lstStyle/>
                    <a:p>
                      <a:pPr algn="ctr"/>
                      <a:r>
                        <a:rPr sz="1000" b="1">
                          <a:solidFill>
                            <a:srgbClr val="0A6B63"/>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extLst>
                  <a:ext uri="{0D108BD9-81ED-4DB2-BD59-A6C34878D82A}">
                    <a16:rowId xmlns:a16="http://schemas.microsoft.com/office/drawing/2014/main" val="10001"/>
                  </a:ext>
                </a:extLst>
              </a:tr>
              <a:tr h="463731">
                <a:tc>
                  <a:txBody>
                    <a:bodyPr/>
                    <a:lstStyle/>
                    <a:p>
                      <a:pPr algn="l"/>
                      <a:r>
                        <a:rPr sz="1000" b="0">
                          <a:solidFill>
                            <a:srgbClr val="2C3A4B"/>
                          </a:solidFill>
                          <a:latin typeface="Segoe UI"/>
                        </a:rPr>
                        <a:t>100K+ proprietary question bank</a:t>
                      </a:r>
                    </a:p>
                  </a:txBody>
                  <a:tcPr>
                    <a:solidFill>
                      <a:srgbClr val="EEF3F8"/>
                    </a:solidFill>
                  </a:tcPr>
                </a:tc>
                <a:tc>
                  <a:txBody>
                    <a:bodyPr/>
                    <a:lstStyle/>
                    <a:p>
                      <a:pPr algn="ctr"/>
                      <a:r>
                        <a:rPr sz="1000" b="1">
                          <a:solidFill>
                            <a:srgbClr val="0A6B63"/>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extLst>
                  <a:ext uri="{0D108BD9-81ED-4DB2-BD59-A6C34878D82A}">
                    <a16:rowId xmlns:a16="http://schemas.microsoft.com/office/drawing/2014/main" val="10002"/>
                  </a:ext>
                </a:extLst>
              </a:tr>
              <a:tr h="463731">
                <a:tc>
                  <a:txBody>
                    <a:bodyPr/>
                    <a:lstStyle/>
                    <a:p>
                      <a:pPr algn="l"/>
                      <a:r>
                        <a:rPr sz="1000" b="0">
                          <a:solidFill>
                            <a:srgbClr val="2C3A4B"/>
                          </a:solidFill>
                          <a:latin typeface="Segoe UI"/>
                        </a:rPr>
                        <a:t>AI résumé builder (hiring-tuned)</a:t>
                      </a:r>
                    </a:p>
                  </a:txBody>
                  <a:tcPr>
                    <a:solidFill>
                      <a:srgbClr val="FFFFFF"/>
                    </a:solidFill>
                  </a:tcPr>
                </a:tc>
                <a:tc>
                  <a:txBody>
                    <a:bodyPr/>
                    <a:lstStyle/>
                    <a:p>
                      <a:pPr algn="ctr"/>
                      <a:r>
                        <a:rPr sz="1000" b="1">
                          <a:solidFill>
                            <a:srgbClr val="0A6B63"/>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extLst>
                  <a:ext uri="{0D108BD9-81ED-4DB2-BD59-A6C34878D82A}">
                    <a16:rowId xmlns:a16="http://schemas.microsoft.com/office/drawing/2014/main" val="10003"/>
                  </a:ext>
                </a:extLst>
              </a:tr>
              <a:tr h="463731">
                <a:tc>
                  <a:txBody>
                    <a:bodyPr/>
                    <a:lstStyle/>
                    <a:p>
                      <a:pPr algn="l"/>
                      <a:r>
                        <a:rPr sz="1000" b="0">
                          <a:solidFill>
                            <a:srgbClr val="2C3A4B"/>
                          </a:solidFill>
                          <a:latin typeface="Segoe UI"/>
                        </a:rPr>
                        <a:t>8-year coaching / candidate data</a:t>
                      </a:r>
                    </a:p>
                  </a:txBody>
                  <a:tcPr>
                    <a:solidFill>
                      <a:srgbClr val="EEF3F8"/>
                    </a:solidFill>
                  </a:tcPr>
                </a:tc>
                <a:tc>
                  <a:txBody>
                    <a:bodyPr/>
                    <a:lstStyle/>
                    <a:p>
                      <a:pPr algn="ctr"/>
                      <a:r>
                        <a:rPr sz="1000" b="1">
                          <a:solidFill>
                            <a:srgbClr val="0A6B63"/>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extLst>
                  <a:ext uri="{0D108BD9-81ED-4DB2-BD59-A6C34878D82A}">
                    <a16:rowId xmlns:a16="http://schemas.microsoft.com/office/drawing/2014/main" val="10004"/>
                  </a:ext>
                </a:extLst>
              </a:tr>
              <a:tr h="463731">
                <a:tc>
                  <a:txBody>
                    <a:bodyPr/>
                    <a:lstStyle/>
                    <a:p>
                      <a:pPr algn="l"/>
                      <a:r>
                        <a:rPr sz="1000" b="0">
                          <a:solidFill>
                            <a:srgbClr val="2C3A4B"/>
                          </a:solidFill>
                          <a:latin typeface="Segoe UI"/>
                        </a:rPr>
                        <a:t>Membership / consulting path</a:t>
                      </a:r>
                    </a:p>
                  </a:txBody>
                  <a:tcPr>
                    <a:solidFill>
                      <a:srgbClr val="FFFFFF"/>
                    </a:solidFill>
                  </a:tcPr>
                </a:tc>
                <a:tc>
                  <a:txBody>
                    <a:bodyPr/>
                    <a:lstStyle/>
                    <a:p>
                      <a:pPr algn="ctr"/>
                      <a:r>
                        <a:rPr sz="1000" b="1">
                          <a:solidFill>
                            <a:srgbClr val="0A6B63"/>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extLst>
                  <a:ext uri="{0D108BD9-81ED-4DB2-BD59-A6C34878D82A}">
                    <a16:rowId xmlns:a16="http://schemas.microsoft.com/office/drawing/2014/main" val="10005"/>
                  </a:ext>
                </a:extLst>
              </a:tr>
              <a:tr h="463734">
                <a:tc>
                  <a:txBody>
                    <a:bodyPr/>
                    <a:lstStyle/>
                    <a:p>
                      <a:pPr algn="l"/>
                      <a:r>
                        <a:rPr sz="1000" b="0">
                          <a:solidFill>
                            <a:srgbClr val="2C3A4B"/>
                          </a:solidFill>
                          <a:latin typeface="Segoe UI"/>
                        </a:rPr>
                        <a:t>General conversational AI</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0A6B63"/>
                          </a:solidFill>
                          <a:latin typeface="Segoe UI"/>
                        </a:rPr>
                        <a:t>●</a:t>
                      </a:r>
                    </a:p>
                  </a:txBody>
                  <a:tcPr>
                    <a:solidFill>
                      <a:srgbClr val="EEF3F8"/>
                    </a:solidFill>
                  </a:tcPr>
                </a:tc>
                <a:tc>
                  <a:txBody>
                    <a:bodyPr/>
                    <a:lstStyle/>
                    <a:p>
                      <a:pPr algn="ctr"/>
                      <a:r>
                        <a:rPr sz="1000" b="0">
                          <a:solidFill>
                            <a:srgbClr val="0A6B63"/>
                          </a:solidFill>
                          <a:latin typeface="Segoe UI"/>
                        </a:rPr>
                        <a:t>●</a:t>
                      </a:r>
                    </a:p>
                  </a:txBody>
                  <a:tcPr>
                    <a:solidFill>
                      <a:srgbClr val="EEF3F8"/>
                    </a:solidFill>
                  </a:tcPr>
                </a:tc>
                <a:tc>
                  <a:txBody>
                    <a:bodyPr/>
                    <a:lstStyle/>
                    <a:p>
                      <a:pPr algn="ctr"/>
                      <a:r>
                        <a:rPr sz="1000" b="0">
                          <a:solidFill>
                            <a:srgbClr val="0A6B63"/>
                          </a:solidFill>
                          <a:latin typeface="Segoe UI"/>
                        </a:rPr>
                        <a:t>●</a:t>
                      </a:r>
                    </a:p>
                  </a:txBody>
                  <a:tcPr>
                    <a:solidFill>
                      <a:srgbClr val="EEF3F8"/>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502920" y="4617720"/>
            <a:ext cx="11155680" cy="274320"/>
          </a:xfrm>
          <a:prstGeom prst="rect">
            <a:avLst/>
          </a:prstGeom>
          <a:noFill/>
        </p:spPr>
        <p:txBody>
          <a:bodyPr wrap="square" anchor="t"/>
          <a:lstStyle/>
          <a:p>
            <a:pPr algn="l"/>
            <a:r>
              <a:rPr sz="1000" b="0" i="0">
                <a:solidFill>
                  <a:srgbClr val="5E6E80"/>
                </a:solidFill>
                <a:latin typeface="Segoe UI"/>
              </a:rPr>
              <a:t>●  Full / native capability      ○  Partial / generic      —  Not offered</a:t>
            </a:r>
          </a:p>
        </p:txBody>
      </p:sp>
      <p:sp>
        <p:nvSpPr>
          <p:cNvPr id="10" name="Rounded Rectangle 9"/>
          <p:cNvSpPr/>
          <p:nvPr/>
        </p:nvSpPr>
        <p:spPr>
          <a:xfrm>
            <a:off x="502920" y="4937760"/>
            <a:ext cx="11201400" cy="868680"/>
          </a:xfrm>
          <a:prstGeom prst="roundRect">
            <a:avLst>
              <a:gd name="adj" fmla="val 8000"/>
            </a:avLst>
          </a:prstGeom>
          <a:solidFill>
            <a:srgbClr val="D7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5074920"/>
            <a:ext cx="10835640" cy="640080"/>
          </a:xfrm>
          <a:prstGeom prst="rect">
            <a:avLst/>
          </a:prstGeom>
          <a:noFill/>
        </p:spPr>
        <p:txBody>
          <a:bodyPr wrap="square" anchor="t"/>
          <a:lstStyle/>
          <a:p>
            <a:pPr algn="l"/>
            <a:r>
              <a:rPr sz="1300" b="1" i="0">
                <a:solidFill>
                  <a:srgbClr val="07524C"/>
                </a:solidFill>
                <a:latin typeface="Segoe UI"/>
              </a:rPr>
              <a:t>General models are powerful — but not career platforms. 51Careers.AI combines domain AI, a proprietary 100K+ question corpus, and an AI résumé builder purpose-built for global hiring outcomes.</a:t>
            </a:r>
          </a:p>
        </p:txBody>
      </p:sp>
      <p:sp>
        <p:nvSpPr>
          <p:cNvPr id="12" name="TextBox 11"/>
          <p:cNvSpPr txBox="1"/>
          <p:nvPr/>
        </p:nvSpPr>
        <p:spPr>
          <a:xfrm>
            <a:off x="502920" y="5852160"/>
            <a:ext cx="10972800" cy="228600"/>
          </a:xfrm>
          <a:prstGeom prst="rect">
            <a:avLst/>
          </a:prstGeom>
          <a:noFill/>
        </p:spPr>
        <p:txBody>
          <a:bodyPr wrap="square" anchor="t"/>
          <a:lstStyle/>
          <a:p>
            <a:pPr algn="l"/>
            <a:r>
              <a:rPr sz="800" b="0" i="0">
                <a:solidFill>
                  <a:srgbClr val="5E6E80"/>
                </a:solidFill>
                <a:latin typeface="Segoe UI"/>
              </a:rPr>
              <a:t>Illustrative comparison based on management assessment of publicly available general-purpose AI products.</a:t>
            </a:r>
          </a:p>
        </p:txBody>
      </p:sp>
      <p:sp>
        <p:nvSpPr>
          <p:cNvPr id="13" name="Rectangle 12"/>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16" name="TextBox 15"/>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GROWTH STRATEGY</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Users First, Then Monetize Globally</a:t>
            </a:r>
          </a:p>
        </p:txBody>
      </p:sp>
      <p:sp>
        <p:nvSpPr>
          <p:cNvPr id="5" name="Rounded Rectangle 4"/>
          <p:cNvSpPr/>
          <p:nvPr/>
        </p:nvSpPr>
        <p:spPr>
          <a:xfrm>
            <a:off x="502920" y="1234440"/>
            <a:ext cx="3611880" cy="33832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34440"/>
            <a:ext cx="3611880" cy="8229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325880"/>
            <a:ext cx="3154680" cy="365760"/>
          </a:xfrm>
          <a:prstGeom prst="rect">
            <a:avLst/>
          </a:prstGeom>
          <a:noFill/>
        </p:spPr>
        <p:txBody>
          <a:bodyPr wrap="square" anchor="t"/>
          <a:lstStyle/>
          <a:p>
            <a:pPr algn="l"/>
            <a:r>
              <a:rPr sz="2600" b="1" i="0">
                <a:solidFill>
                  <a:srgbClr val="FFFFFF"/>
                </a:solidFill>
                <a:latin typeface="Georgia"/>
              </a:rPr>
              <a:t>2026</a:t>
            </a:r>
          </a:p>
        </p:txBody>
      </p:sp>
      <p:sp>
        <p:nvSpPr>
          <p:cNvPr id="8" name="TextBox 7"/>
          <p:cNvSpPr txBox="1"/>
          <p:nvPr/>
        </p:nvSpPr>
        <p:spPr>
          <a:xfrm>
            <a:off x="731520" y="1737360"/>
            <a:ext cx="3154680" cy="274320"/>
          </a:xfrm>
          <a:prstGeom prst="rect">
            <a:avLst/>
          </a:prstGeom>
          <a:noFill/>
        </p:spPr>
        <p:txBody>
          <a:bodyPr wrap="square" anchor="t"/>
          <a:lstStyle/>
          <a:p>
            <a:pPr algn="l"/>
            <a:r>
              <a:rPr sz="1300" b="1" i="0">
                <a:solidFill>
                  <a:srgbClr val="FFFFFF"/>
                </a:solidFill>
                <a:latin typeface="Segoe UI"/>
              </a:rPr>
              <a:t>Grow free usage</a:t>
            </a:r>
          </a:p>
        </p:txBody>
      </p:sp>
      <p:sp>
        <p:nvSpPr>
          <p:cNvPr id="9" name="TextBox 8"/>
          <p:cNvSpPr txBox="1"/>
          <p:nvPr/>
        </p:nvSpPr>
        <p:spPr>
          <a:xfrm>
            <a:off x="731520" y="2286000"/>
            <a:ext cx="3154680" cy="640080"/>
          </a:xfrm>
          <a:prstGeom prst="rect">
            <a:avLst/>
          </a:prstGeom>
          <a:noFill/>
        </p:spPr>
        <p:txBody>
          <a:bodyPr wrap="square" anchor="t"/>
          <a:lstStyle/>
          <a:p>
            <a:pPr algn="l"/>
            <a:r>
              <a:rPr sz="1200" b="0" i="0">
                <a:solidFill>
                  <a:srgbClr val="2C3A4B"/>
                </a:solidFill>
                <a:latin typeface="Segoe UI"/>
              </a:rPr>
              <a:t>▸  Scale active users on free mock interviews, question bank, and AI résumé builder</a:t>
            </a:r>
          </a:p>
        </p:txBody>
      </p:sp>
      <p:sp>
        <p:nvSpPr>
          <p:cNvPr id="10" name="TextBox 9"/>
          <p:cNvSpPr txBox="1"/>
          <p:nvPr/>
        </p:nvSpPr>
        <p:spPr>
          <a:xfrm>
            <a:off x="731520" y="2971800"/>
            <a:ext cx="3154680" cy="640080"/>
          </a:xfrm>
          <a:prstGeom prst="rect">
            <a:avLst/>
          </a:prstGeom>
          <a:noFill/>
        </p:spPr>
        <p:txBody>
          <a:bodyPr wrap="square" anchor="t"/>
          <a:lstStyle/>
          <a:p>
            <a:pPr algn="l"/>
            <a:r>
              <a:rPr sz="1200" b="0" i="0">
                <a:solidFill>
                  <a:srgbClr val="2C3A4B"/>
                </a:solidFill>
                <a:latin typeface="Segoe UI"/>
              </a:rPr>
              <a:t>▸  Ship résumé-builder enhancements and expand question coverage globally</a:t>
            </a:r>
          </a:p>
        </p:txBody>
      </p:sp>
      <p:sp>
        <p:nvSpPr>
          <p:cNvPr id="11" name="TextBox 10"/>
          <p:cNvSpPr txBox="1"/>
          <p:nvPr/>
        </p:nvSpPr>
        <p:spPr>
          <a:xfrm>
            <a:off x="731520" y="3657600"/>
            <a:ext cx="3154680" cy="640080"/>
          </a:xfrm>
          <a:prstGeom prst="rect">
            <a:avLst/>
          </a:prstGeom>
          <a:noFill/>
        </p:spPr>
        <p:txBody>
          <a:bodyPr wrap="square" anchor="t"/>
          <a:lstStyle/>
          <a:p>
            <a:pPr algn="l"/>
            <a:r>
              <a:rPr sz="1200" b="0" i="0">
                <a:solidFill>
                  <a:srgbClr val="2C3A4B"/>
                </a:solidFill>
                <a:latin typeface="Segoe UI"/>
              </a:rPr>
              <a:t>▸  Instrument conversion funnels for membership pilots</a:t>
            </a:r>
          </a:p>
        </p:txBody>
      </p:sp>
      <p:sp>
        <p:nvSpPr>
          <p:cNvPr id="12" name="Rounded Rectangle 11"/>
          <p:cNvSpPr/>
          <p:nvPr/>
        </p:nvSpPr>
        <p:spPr>
          <a:xfrm>
            <a:off x="4297680" y="1234440"/>
            <a:ext cx="3611880" cy="33832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80" y="1234440"/>
            <a:ext cx="3611880" cy="82296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1325880"/>
            <a:ext cx="3154680" cy="365760"/>
          </a:xfrm>
          <a:prstGeom prst="rect">
            <a:avLst/>
          </a:prstGeom>
          <a:noFill/>
        </p:spPr>
        <p:txBody>
          <a:bodyPr wrap="square" anchor="t"/>
          <a:lstStyle/>
          <a:p>
            <a:pPr algn="l"/>
            <a:r>
              <a:rPr sz="2600" b="1" i="0">
                <a:solidFill>
                  <a:srgbClr val="FFFFFF"/>
                </a:solidFill>
                <a:latin typeface="Georgia"/>
              </a:rPr>
              <a:t>2027</a:t>
            </a:r>
          </a:p>
        </p:txBody>
      </p:sp>
      <p:sp>
        <p:nvSpPr>
          <p:cNvPr id="15" name="TextBox 14"/>
          <p:cNvSpPr txBox="1"/>
          <p:nvPr/>
        </p:nvSpPr>
        <p:spPr>
          <a:xfrm>
            <a:off x="4526280" y="1737360"/>
            <a:ext cx="3154680" cy="274320"/>
          </a:xfrm>
          <a:prstGeom prst="rect">
            <a:avLst/>
          </a:prstGeom>
          <a:noFill/>
        </p:spPr>
        <p:txBody>
          <a:bodyPr wrap="square" anchor="t"/>
          <a:lstStyle/>
          <a:p>
            <a:pPr algn="l"/>
            <a:r>
              <a:rPr sz="1300" b="1" i="0">
                <a:solidFill>
                  <a:srgbClr val="FFFFFF"/>
                </a:solidFill>
                <a:latin typeface="Segoe UI"/>
              </a:rPr>
              <a:t>Introduce paid tiers</a:t>
            </a:r>
          </a:p>
        </p:txBody>
      </p:sp>
      <p:sp>
        <p:nvSpPr>
          <p:cNvPr id="16" name="TextBox 15"/>
          <p:cNvSpPr txBox="1"/>
          <p:nvPr/>
        </p:nvSpPr>
        <p:spPr>
          <a:xfrm>
            <a:off x="4526280" y="2286000"/>
            <a:ext cx="3154680" cy="640080"/>
          </a:xfrm>
          <a:prstGeom prst="rect">
            <a:avLst/>
          </a:prstGeom>
          <a:noFill/>
        </p:spPr>
        <p:txBody>
          <a:bodyPr wrap="square" anchor="t"/>
          <a:lstStyle/>
          <a:p>
            <a:pPr algn="l"/>
            <a:r>
              <a:rPr sz="1200" b="0" i="0">
                <a:solidFill>
                  <a:srgbClr val="2C3A4B"/>
                </a:solidFill>
                <a:latin typeface="Segoe UI"/>
              </a:rPr>
              <a:t>▸  Launch membership fees for premium AI practice and résumé tools</a:t>
            </a:r>
          </a:p>
        </p:txBody>
      </p:sp>
      <p:sp>
        <p:nvSpPr>
          <p:cNvPr id="17" name="TextBox 16"/>
          <p:cNvSpPr txBox="1"/>
          <p:nvPr/>
        </p:nvSpPr>
        <p:spPr>
          <a:xfrm>
            <a:off x="4526280" y="2971800"/>
            <a:ext cx="3154680" cy="640080"/>
          </a:xfrm>
          <a:prstGeom prst="rect">
            <a:avLst/>
          </a:prstGeom>
          <a:noFill/>
        </p:spPr>
        <p:txBody>
          <a:bodyPr wrap="square" anchor="t"/>
          <a:lstStyle/>
          <a:p>
            <a:pPr algn="l"/>
            <a:r>
              <a:rPr sz="1200" b="0" i="0">
                <a:solidFill>
                  <a:srgbClr val="2C3A4B"/>
                </a:solidFill>
                <a:latin typeface="Segoe UI"/>
              </a:rPr>
              <a:t>▸  Add consulting and education fee packages for high-intent users</a:t>
            </a:r>
          </a:p>
        </p:txBody>
      </p:sp>
      <p:sp>
        <p:nvSpPr>
          <p:cNvPr id="18" name="TextBox 17"/>
          <p:cNvSpPr txBox="1"/>
          <p:nvPr/>
        </p:nvSpPr>
        <p:spPr>
          <a:xfrm>
            <a:off x="4526280" y="3657600"/>
            <a:ext cx="3154680" cy="640080"/>
          </a:xfrm>
          <a:prstGeom prst="rect">
            <a:avLst/>
          </a:prstGeom>
          <a:noFill/>
        </p:spPr>
        <p:txBody>
          <a:bodyPr wrap="square" anchor="t"/>
          <a:lstStyle/>
          <a:p>
            <a:pPr algn="l"/>
            <a:r>
              <a:rPr sz="1200" b="0" i="0">
                <a:solidFill>
                  <a:srgbClr val="2C3A4B"/>
                </a:solidFill>
                <a:latin typeface="Segoe UI"/>
              </a:rPr>
              <a:t>▸  Expand language and market coverage worldwide</a:t>
            </a:r>
          </a:p>
        </p:txBody>
      </p:sp>
      <p:sp>
        <p:nvSpPr>
          <p:cNvPr id="19" name="Rounded Rectangle 18"/>
          <p:cNvSpPr/>
          <p:nvPr/>
        </p:nvSpPr>
        <p:spPr>
          <a:xfrm>
            <a:off x="8092440" y="1234440"/>
            <a:ext cx="3611880" cy="33832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92440" y="1234440"/>
            <a:ext cx="3611880" cy="822960"/>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1325880"/>
            <a:ext cx="3154680" cy="365760"/>
          </a:xfrm>
          <a:prstGeom prst="rect">
            <a:avLst/>
          </a:prstGeom>
          <a:noFill/>
        </p:spPr>
        <p:txBody>
          <a:bodyPr wrap="square" anchor="t"/>
          <a:lstStyle/>
          <a:p>
            <a:pPr algn="l"/>
            <a:r>
              <a:rPr sz="2600" b="1" i="0">
                <a:solidFill>
                  <a:srgbClr val="FFFFFF"/>
                </a:solidFill>
                <a:latin typeface="Georgia"/>
              </a:rPr>
              <a:t>2028+</a:t>
            </a:r>
          </a:p>
        </p:txBody>
      </p:sp>
      <p:sp>
        <p:nvSpPr>
          <p:cNvPr id="22" name="TextBox 21"/>
          <p:cNvSpPr txBox="1"/>
          <p:nvPr/>
        </p:nvSpPr>
        <p:spPr>
          <a:xfrm>
            <a:off x="8321040" y="1737360"/>
            <a:ext cx="3154680" cy="274320"/>
          </a:xfrm>
          <a:prstGeom prst="rect">
            <a:avLst/>
          </a:prstGeom>
          <a:noFill/>
        </p:spPr>
        <p:txBody>
          <a:bodyPr wrap="square" anchor="t"/>
          <a:lstStyle/>
          <a:p>
            <a:pPr algn="l"/>
            <a:r>
              <a:rPr sz="1300" b="1" i="0">
                <a:solidFill>
                  <a:srgbClr val="FFFFFF"/>
                </a:solidFill>
                <a:latin typeface="Segoe UI"/>
              </a:rPr>
              <a:t>Compound globally</a:t>
            </a:r>
          </a:p>
        </p:txBody>
      </p:sp>
      <p:sp>
        <p:nvSpPr>
          <p:cNvPr id="23" name="TextBox 22"/>
          <p:cNvSpPr txBox="1"/>
          <p:nvPr/>
        </p:nvSpPr>
        <p:spPr>
          <a:xfrm>
            <a:off x="8321040" y="2286000"/>
            <a:ext cx="3154680" cy="640080"/>
          </a:xfrm>
          <a:prstGeom prst="rect">
            <a:avLst/>
          </a:prstGeom>
          <a:noFill/>
        </p:spPr>
        <p:txBody>
          <a:bodyPr wrap="square" anchor="t"/>
          <a:lstStyle/>
          <a:p>
            <a:pPr algn="l"/>
            <a:r>
              <a:rPr sz="1200" b="0" i="0">
                <a:solidFill>
                  <a:srgbClr val="2C3A4B"/>
                </a:solidFill>
                <a:latin typeface="Segoe UI"/>
              </a:rPr>
              <a:t>▸  Optimize paid conversion across membership, consulting, and education</a:t>
            </a:r>
          </a:p>
        </p:txBody>
      </p:sp>
      <p:sp>
        <p:nvSpPr>
          <p:cNvPr id="24" name="TextBox 23"/>
          <p:cNvSpPr txBox="1"/>
          <p:nvPr/>
        </p:nvSpPr>
        <p:spPr>
          <a:xfrm>
            <a:off x="8321040" y="2971800"/>
            <a:ext cx="3154680" cy="640080"/>
          </a:xfrm>
          <a:prstGeom prst="rect">
            <a:avLst/>
          </a:prstGeom>
          <a:noFill/>
        </p:spPr>
        <p:txBody>
          <a:bodyPr wrap="square" anchor="t"/>
          <a:lstStyle/>
          <a:p>
            <a:pPr algn="l"/>
            <a:r>
              <a:rPr sz="1200" b="0" i="0">
                <a:solidFill>
                  <a:srgbClr val="2C3A4B"/>
                </a:solidFill>
                <a:latin typeface="Segoe UI"/>
              </a:rPr>
              <a:t>▸  Deepen verticals and seniority segments globally</a:t>
            </a:r>
          </a:p>
        </p:txBody>
      </p:sp>
      <p:sp>
        <p:nvSpPr>
          <p:cNvPr id="25" name="TextBox 24"/>
          <p:cNvSpPr txBox="1"/>
          <p:nvPr/>
        </p:nvSpPr>
        <p:spPr>
          <a:xfrm>
            <a:off x="8321040" y="3657600"/>
            <a:ext cx="3154680" cy="640080"/>
          </a:xfrm>
          <a:prstGeom prst="rect">
            <a:avLst/>
          </a:prstGeom>
          <a:noFill/>
        </p:spPr>
        <p:txBody>
          <a:bodyPr wrap="square" anchor="t"/>
          <a:lstStyle/>
          <a:p>
            <a:pPr algn="l"/>
            <a:r>
              <a:rPr sz="1200" b="0" i="0">
                <a:solidFill>
                  <a:srgbClr val="2C3A4B"/>
                </a:solidFill>
                <a:latin typeface="Segoe UI"/>
              </a:rPr>
              <a:t>▸  Selective partnerships with universities and employers</a:t>
            </a:r>
          </a:p>
        </p:txBody>
      </p:sp>
      <p:sp>
        <p:nvSpPr>
          <p:cNvPr id="26" name="Rounded Rectangle 25"/>
          <p:cNvSpPr/>
          <p:nvPr/>
        </p:nvSpPr>
        <p:spPr>
          <a:xfrm>
            <a:off x="502920" y="4754880"/>
            <a:ext cx="11201400" cy="10972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4846320"/>
            <a:ext cx="4114800" cy="256032"/>
          </a:xfrm>
          <a:prstGeom prst="rect">
            <a:avLst/>
          </a:prstGeom>
          <a:noFill/>
        </p:spPr>
        <p:txBody>
          <a:bodyPr wrap="square" anchor="t"/>
          <a:lstStyle/>
          <a:p>
            <a:pPr algn="l"/>
            <a:r>
              <a:rPr sz="1100" b="1" i="0">
                <a:solidFill>
                  <a:srgbClr val="0B1F33"/>
                </a:solidFill>
                <a:latin typeface="Segoe UI"/>
              </a:rPr>
              <a:t>Illustrative active-user growth (index)</a:t>
            </a:r>
          </a:p>
        </p:txBody>
      </p:sp>
      <p:graphicFrame>
        <p:nvGraphicFramePr>
          <p:cNvPr id="28" name="Chart 27"/>
          <p:cNvGraphicFramePr>
            <a:graphicFrameLocks noGrp="1"/>
          </p:cNvGraphicFramePr>
          <p:nvPr/>
        </p:nvGraphicFramePr>
        <p:xfrm>
          <a:off x="4572000" y="4709160"/>
          <a:ext cx="6949440" cy="1143000"/>
        </p:xfrm>
        <a:graphic>
          <a:graphicData uri="http://schemas.openxmlformats.org/drawingml/2006/chart">
            <c:chart xmlns:c="http://schemas.openxmlformats.org/drawingml/2006/chart" xmlns:r="http://schemas.openxmlformats.org/officeDocument/2006/relationships" r:id="rId2"/>
          </a:graphicData>
        </a:graphic>
      </p:graphicFrame>
      <p:sp>
        <p:nvSpPr>
          <p:cNvPr id="29" name="TextBox 28"/>
          <p:cNvSpPr txBox="1"/>
          <p:nvPr/>
        </p:nvSpPr>
        <p:spPr>
          <a:xfrm>
            <a:off x="502920" y="5897880"/>
            <a:ext cx="10972800" cy="228600"/>
          </a:xfrm>
          <a:prstGeom prst="rect">
            <a:avLst/>
          </a:prstGeom>
          <a:noFill/>
        </p:spPr>
        <p:txBody>
          <a:bodyPr wrap="square" anchor="t"/>
          <a:lstStyle/>
          <a:p>
            <a:pPr algn="l"/>
            <a:r>
              <a:rPr sz="1100" b="0" i="0">
                <a:solidFill>
                  <a:srgbClr val="5E6E80"/>
                </a:solidFill>
                <a:latin typeface="Segoe UI"/>
              </a:rPr>
              <a:t>Strategy: win global users with a free career AI product, then monetize engagement through membership, consulting, and education fees.</a:t>
            </a:r>
          </a:p>
        </p:txBody>
      </p:sp>
      <p:sp>
        <p:nvSpPr>
          <p:cNvPr id="30" name="Rectangle 29"/>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3" name="TextBox 32"/>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FINANCIAL OUTLOOK</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From Free Platform to Paid Scale</a:t>
            </a:r>
          </a:p>
        </p:txBody>
      </p:sp>
      <p:sp>
        <p:nvSpPr>
          <p:cNvPr id="5" name="Rounded Rectangle 4"/>
          <p:cNvSpPr/>
          <p:nvPr/>
        </p:nvSpPr>
        <p:spPr>
          <a:xfrm>
            <a:off x="502920" y="1188720"/>
            <a:ext cx="7223760" cy="28803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280160"/>
            <a:ext cx="5486400" cy="256032"/>
          </a:xfrm>
          <a:prstGeom prst="rect">
            <a:avLst/>
          </a:prstGeom>
          <a:noFill/>
        </p:spPr>
        <p:txBody>
          <a:bodyPr wrap="square" anchor="t"/>
          <a:lstStyle/>
          <a:p>
            <a:pPr algn="l"/>
            <a:r>
              <a:rPr sz="1200" b="1" i="0">
                <a:solidFill>
                  <a:srgbClr val="0B1F33"/>
                </a:solidFill>
                <a:latin typeface="Segoe UI"/>
              </a:rPr>
              <a:t>Illustrative platform revenue, US$ millions</a:t>
            </a:r>
          </a:p>
        </p:txBody>
      </p:sp>
      <p:graphicFrame>
        <p:nvGraphicFramePr>
          <p:cNvPr id="7" name="Chart 6"/>
          <p:cNvGraphicFramePr>
            <a:graphicFrameLocks noGrp="1"/>
          </p:cNvGraphicFramePr>
          <p:nvPr/>
        </p:nvGraphicFramePr>
        <p:xfrm>
          <a:off x="594360" y="1508760"/>
          <a:ext cx="6995160" cy="2423160"/>
        </p:xfrm>
        <a:graphic>
          <a:graphicData uri="http://schemas.openxmlformats.org/drawingml/2006/chart">
            <c:chart xmlns:c="http://schemas.openxmlformats.org/drawingml/2006/chart" xmlns:r="http://schemas.openxmlformats.org/officeDocument/2006/relationships" r:id="rId2"/>
          </a:graphicData>
        </a:graphic>
      </p:graphicFrame>
      <p:sp>
        <p:nvSpPr>
          <p:cNvPr id="8" name="Rounded Rectangle 7"/>
          <p:cNvSpPr/>
          <p:nvPr/>
        </p:nvSpPr>
        <p:spPr>
          <a:xfrm>
            <a:off x="502920" y="4206240"/>
            <a:ext cx="7223760" cy="15544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4279392"/>
            <a:ext cx="5486400" cy="228600"/>
          </a:xfrm>
          <a:prstGeom prst="rect">
            <a:avLst/>
          </a:prstGeom>
          <a:noFill/>
        </p:spPr>
        <p:txBody>
          <a:bodyPr wrap="square" anchor="t"/>
          <a:lstStyle/>
          <a:p>
            <a:pPr algn="l"/>
            <a:r>
              <a:rPr sz="1100" b="1" i="0">
                <a:solidFill>
                  <a:srgbClr val="0B1F33"/>
                </a:solidFill>
                <a:latin typeface="Segoe UI"/>
              </a:rPr>
              <a:t>Illustrative paid conversion of active users (%)</a:t>
            </a:r>
          </a:p>
        </p:txBody>
      </p:sp>
      <p:graphicFrame>
        <p:nvGraphicFramePr>
          <p:cNvPr id="10" name="Chart 9"/>
          <p:cNvGraphicFramePr>
            <a:graphicFrameLocks noGrp="1"/>
          </p:cNvGraphicFramePr>
          <p:nvPr/>
        </p:nvGraphicFramePr>
        <p:xfrm>
          <a:off x="594360" y="4434840"/>
          <a:ext cx="6995160" cy="1280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Rounded Rectangle 10"/>
          <p:cNvSpPr/>
          <p:nvPr/>
        </p:nvSpPr>
        <p:spPr>
          <a:xfrm>
            <a:off x="7909560" y="1188720"/>
            <a:ext cx="3794760" cy="1417320"/>
          </a:xfrm>
          <a:prstGeom prst="roundRect">
            <a:avLst>
              <a:gd name="adj" fmla="val 8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92440" y="1325880"/>
            <a:ext cx="3429000" cy="502920"/>
          </a:xfrm>
          <a:prstGeom prst="rect">
            <a:avLst/>
          </a:prstGeom>
          <a:noFill/>
        </p:spPr>
        <p:txBody>
          <a:bodyPr wrap="square" anchor="t"/>
          <a:lstStyle/>
          <a:p>
            <a:pPr algn="l"/>
            <a:r>
              <a:rPr sz="3400" b="1" i="0">
                <a:solidFill>
                  <a:srgbClr val="FFFFFF"/>
                </a:solidFill>
                <a:latin typeface="Georgia"/>
              </a:rPr>
              <a:t>US$0</a:t>
            </a:r>
          </a:p>
        </p:txBody>
      </p:sp>
      <p:sp>
        <p:nvSpPr>
          <p:cNvPr id="13" name="TextBox 12"/>
          <p:cNvSpPr txBox="1"/>
          <p:nvPr/>
        </p:nvSpPr>
        <p:spPr>
          <a:xfrm>
            <a:off x="8092440" y="1965960"/>
            <a:ext cx="3429000" cy="365760"/>
          </a:xfrm>
          <a:prstGeom prst="rect">
            <a:avLst/>
          </a:prstGeom>
          <a:noFill/>
        </p:spPr>
        <p:txBody>
          <a:bodyPr wrap="square" anchor="t"/>
          <a:lstStyle/>
          <a:p>
            <a:pPr algn="l"/>
            <a:r>
              <a:rPr sz="1000" b="1" i="0">
                <a:solidFill>
                  <a:srgbClr val="D7EBE8"/>
                </a:solidFill>
                <a:latin typeface="Segoe UI"/>
              </a:rPr>
              <a:t>PLATFORM REVENUE TODAY (FREE)</a:t>
            </a:r>
          </a:p>
        </p:txBody>
      </p:sp>
      <p:sp>
        <p:nvSpPr>
          <p:cNvPr id="14" name="Rounded Rectangle 13"/>
          <p:cNvSpPr/>
          <p:nvPr/>
        </p:nvSpPr>
        <p:spPr>
          <a:xfrm>
            <a:off x="7909560" y="2788920"/>
            <a:ext cx="3794760" cy="29718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92440" y="2926080"/>
            <a:ext cx="3429000" cy="274320"/>
          </a:xfrm>
          <a:prstGeom prst="rect">
            <a:avLst/>
          </a:prstGeom>
          <a:noFill/>
        </p:spPr>
        <p:txBody>
          <a:bodyPr wrap="square" anchor="t"/>
          <a:lstStyle/>
          <a:p>
            <a:pPr algn="l"/>
            <a:r>
              <a:rPr sz="1300" b="1" i="0">
                <a:solidFill>
                  <a:srgbClr val="0B1F33"/>
                </a:solidFill>
                <a:latin typeface="Segoe UI"/>
              </a:rPr>
              <a:t>Revenue drivers</a:t>
            </a:r>
          </a:p>
        </p:txBody>
      </p:sp>
      <p:sp>
        <p:nvSpPr>
          <p:cNvPr id="16" name="TextBox 15"/>
          <p:cNvSpPr txBox="1"/>
          <p:nvPr/>
        </p:nvSpPr>
        <p:spPr>
          <a:xfrm>
            <a:off x="8092440" y="3291840"/>
            <a:ext cx="3429000" cy="502920"/>
          </a:xfrm>
          <a:prstGeom prst="rect">
            <a:avLst/>
          </a:prstGeom>
          <a:noFill/>
        </p:spPr>
        <p:txBody>
          <a:bodyPr wrap="square" anchor="t"/>
          <a:lstStyle/>
          <a:p>
            <a:pPr algn="l"/>
            <a:r>
              <a:rPr sz="1100" b="0" i="0">
                <a:solidFill>
                  <a:srgbClr val="2C3A4B"/>
                </a:solidFill>
                <a:latin typeface="Segoe UI"/>
              </a:rPr>
              <a:t>▸  Grow free active users globally</a:t>
            </a:r>
          </a:p>
        </p:txBody>
      </p:sp>
      <p:sp>
        <p:nvSpPr>
          <p:cNvPr id="17" name="TextBox 16"/>
          <p:cNvSpPr txBox="1"/>
          <p:nvPr/>
        </p:nvSpPr>
        <p:spPr>
          <a:xfrm>
            <a:off x="8092440" y="3794760"/>
            <a:ext cx="3429000" cy="502920"/>
          </a:xfrm>
          <a:prstGeom prst="rect">
            <a:avLst/>
          </a:prstGeom>
          <a:noFill/>
        </p:spPr>
        <p:txBody>
          <a:bodyPr wrap="square" anchor="t"/>
          <a:lstStyle/>
          <a:p>
            <a:pPr algn="l"/>
            <a:r>
              <a:rPr sz="1100" b="0" i="0">
                <a:solidFill>
                  <a:srgbClr val="2C3A4B"/>
                </a:solidFill>
                <a:latin typeface="Segoe UI"/>
              </a:rPr>
              <a:t>▸  Introduce membership fees for premium AI tools</a:t>
            </a:r>
          </a:p>
        </p:txBody>
      </p:sp>
      <p:sp>
        <p:nvSpPr>
          <p:cNvPr id="18" name="TextBox 17"/>
          <p:cNvSpPr txBox="1"/>
          <p:nvPr/>
        </p:nvSpPr>
        <p:spPr>
          <a:xfrm>
            <a:off x="8092440" y="4297680"/>
            <a:ext cx="3429000" cy="502920"/>
          </a:xfrm>
          <a:prstGeom prst="rect">
            <a:avLst/>
          </a:prstGeom>
          <a:noFill/>
        </p:spPr>
        <p:txBody>
          <a:bodyPr wrap="square" anchor="t"/>
          <a:lstStyle/>
          <a:p>
            <a:pPr algn="l"/>
            <a:r>
              <a:rPr sz="1100" b="0" i="0">
                <a:solidFill>
                  <a:srgbClr val="2C3A4B"/>
                </a:solidFill>
                <a:latin typeface="Segoe UI"/>
              </a:rPr>
              <a:t>▸  Add consulting fees for high-touch guidance</a:t>
            </a:r>
          </a:p>
        </p:txBody>
      </p:sp>
      <p:sp>
        <p:nvSpPr>
          <p:cNvPr id="19" name="TextBox 18"/>
          <p:cNvSpPr txBox="1"/>
          <p:nvPr/>
        </p:nvSpPr>
        <p:spPr>
          <a:xfrm>
            <a:off x="8092440" y="4800600"/>
            <a:ext cx="3429000" cy="502920"/>
          </a:xfrm>
          <a:prstGeom prst="rect">
            <a:avLst/>
          </a:prstGeom>
          <a:noFill/>
        </p:spPr>
        <p:txBody>
          <a:bodyPr wrap="square" anchor="t"/>
          <a:lstStyle/>
          <a:p>
            <a:pPr algn="l"/>
            <a:r>
              <a:rPr sz="1100" b="0" i="0">
                <a:solidFill>
                  <a:srgbClr val="2C3A4B"/>
                </a:solidFill>
                <a:latin typeface="Segoe UI"/>
              </a:rPr>
              <a:t>▸  Layer education fees for structured programs</a:t>
            </a:r>
          </a:p>
        </p:txBody>
      </p:sp>
      <p:sp>
        <p:nvSpPr>
          <p:cNvPr id="20" name="TextBox 19"/>
          <p:cNvSpPr txBox="1"/>
          <p:nvPr/>
        </p:nvSpPr>
        <p:spPr>
          <a:xfrm>
            <a:off x="502920" y="5852160"/>
            <a:ext cx="11155680" cy="274320"/>
          </a:xfrm>
          <a:prstGeom prst="rect">
            <a:avLst/>
          </a:prstGeom>
          <a:noFill/>
        </p:spPr>
        <p:txBody>
          <a:bodyPr wrap="square" anchor="t"/>
          <a:lstStyle/>
          <a:p>
            <a:pPr algn="l"/>
            <a:r>
              <a:rPr sz="800" b="0" i="0">
                <a:solidFill>
                  <a:srgbClr val="5E6E80"/>
                </a:solidFill>
                <a:latin typeface="Segoe UI"/>
              </a:rPr>
              <a:t>Illustrative management projections only — not a forecast. 2025A platform revenue is US$0 (free product). Actual results will differ.</a:t>
            </a:r>
          </a:p>
        </p:txBody>
      </p:sp>
      <p:sp>
        <p:nvSpPr>
          <p:cNvPr id="21" name="Rectangle 20"/>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24" name="TextBox 23"/>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THE OFFERING</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US$5.0 Million to Accelerate Global Leadership</a:t>
            </a:r>
          </a:p>
        </p:txBody>
      </p:sp>
      <p:sp>
        <p:nvSpPr>
          <p:cNvPr id="5" name="Rounded Rectangle 4"/>
          <p:cNvSpPr/>
          <p:nvPr/>
        </p:nvSpPr>
        <p:spPr>
          <a:xfrm>
            <a:off x="502920" y="1188720"/>
            <a:ext cx="5394960" cy="41605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4937760" cy="274320"/>
          </a:xfrm>
          <a:prstGeom prst="rect">
            <a:avLst/>
          </a:prstGeom>
          <a:noFill/>
        </p:spPr>
        <p:txBody>
          <a:bodyPr wrap="square" anchor="t"/>
          <a:lstStyle/>
          <a:p>
            <a:pPr algn="l"/>
            <a:r>
              <a:rPr sz="1100" b="1" i="0">
                <a:solidFill>
                  <a:srgbClr val="0A6B63"/>
                </a:solidFill>
                <a:latin typeface="Segoe UI"/>
              </a:rPr>
              <a:t>INDICATIVE TERMS</a:t>
            </a:r>
          </a:p>
        </p:txBody>
      </p:sp>
      <p:sp>
        <p:nvSpPr>
          <p:cNvPr id="7" name="Rectangle 6"/>
          <p:cNvSpPr/>
          <p:nvPr/>
        </p:nvSpPr>
        <p:spPr>
          <a:xfrm>
            <a:off x="731520" y="2331720"/>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828800"/>
            <a:ext cx="2194560" cy="365760"/>
          </a:xfrm>
          <a:prstGeom prst="rect">
            <a:avLst/>
          </a:prstGeom>
          <a:noFill/>
        </p:spPr>
        <p:txBody>
          <a:bodyPr wrap="square" anchor="t"/>
          <a:lstStyle/>
          <a:p>
            <a:pPr algn="l"/>
            <a:r>
              <a:rPr sz="1200" b="0" i="0">
                <a:solidFill>
                  <a:srgbClr val="5E6E80"/>
                </a:solidFill>
                <a:latin typeface="Segoe UI"/>
              </a:rPr>
              <a:t>Round size</a:t>
            </a:r>
          </a:p>
        </p:txBody>
      </p:sp>
      <p:sp>
        <p:nvSpPr>
          <p:cNvPr id="9" name="TextBox 8"/>
          <p:cNvSpPr txBox="1"/>
          <p:nvPr/>
        </p:nvSpPr>
        <p:spPr>
          <a:xfrm>
            <a:off x="2926080" y="1828800"/>
            <a:ext cx="2743200" cy="365760"/>
          </a:xfrm>
          <a:prstGeom prst="rect">
            <a:avLst/>
          </a:prstGeom>
          <a:noFill/>
        </p:spPr>
        <p:txBody>
          <a:bodyPr wrap="square" anchor="t"/>
          <a:lstStyle/>
          <a:p>
            <a:pPr algn="l"/>
            <a:r>
              <a:rPr sz="1300" b="1" i="0">
                <a:solidFill>
                  <a:srgbClr val="0B1F33"/>
                </a:solidFill>
                <a:latin typeface="Segoe UI"/>
              </a:rPr>
              <a:t>US$5.0 million (primary)</a:t>
            </a:r>
          </a:p>
        </p:txBody>
      </p:sp>
      <p:sp>
        <p:nvSpPr>
          <p:cNvPr id="10" name="Rectangle 9"/>
          <p:cNvSpPr/>
          <p:nvPr/>
        </p:nvSpPr>
        <p:spPr>
          <a:xfrm>
            <a:off x="731520" y="2926080"/>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423160"/>
            <a:ext cx="2194560" cy="365760"/>
          </a:xfrm>
          <a:prstGeom prst="rect">
            <a:avLst/>
          </a:prstGeom>
          <a:noFill/>
        </p:spPr>
        <p:txBody>
          <a:bodyPr wrap="square" anchor="t"/>
          <a:lstStyle/>
          <a:p>
            <a:pPr algn="l"/>
            <a:r>
              <a:rPr sz="1200" b="0" i="0">
                <a:solidFill>
                  <a:srgbClr val="5E6E80"/>
                </a:solidFill>
                <a:latin typeface="Segoe UI"/>
              </a:rPr>
              <a:t>Valuation</a:t>
            </a:r>
          </a:p>
        </p:txBody>
      </p:sp>
      <p:sp>
        <p:nvSpPr>
          <p:cNvPr id="12" name="TextBox 11"/>
          <p:cNvSpPr txBox="1"/>
          <p:nvPr/>
        </p:nvSpPr>
        <p:spPr>
          <a:xfrm>
            <a:off x="2926080" y="2423160"/>
            <a:ext cx="2743200" cy="365760"/>
          </a:xfrm>
          <a:prstGeom prst="rect">
            <a:avLst/>
          </a:prstGeom>
          <a:noFill/>
        </p:spPr>
        <p:txBody>
          <a:bodyPr wrap="square" anchor="t"/>
          <a:lstStyle/>
          <a:p>
            <a:pPr algn="l"/>
            <a:r>
              <a:rPr sz="1300" b="1" i="0">
                <a:solidFill>
                  <a:srgbClr val="0B1F33"/>
                </a:solidFill>
                <a:latin typeface="Segoe UI"/>
              </a:rPr>
              <a:t>US$50.0 million (pre-money)</a:t>
            </a:r>
          </a:p>
        </p:txBody>
      </p:sp>
      <p:sp>
        <p:nvSpPr>
          <p:cNvPr id="13" name="Rectangle 12"/>
          <p:cNvSpPr/>
          <p:nvPr/>
        </p:nvSpPr>
        <p:spPr>
          <a:xfrm>
            <a:off x="731520" y="3520439"/>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17520"/>
            <a:ext cx="2194560" cy="365760"/>
          </a:xfrm>
          <a:prstGeom prst="rect">
            <a:avLst/>
          </a:prstGeom>
          <a:noFill/>
        </p:spPr>
        <p:txBody>
          <a:bodyPr wrap="square" anchor="t"/>
          <a:lstStyle/>
          <a:p>
            <a:pPr algn="l"/>
            <a:r>
              <a:rPr sz="1200" b="0" i="0">
                <a:solidFill>
                  <a:srgbClr val="5E6E80"/>
                </a:solidFill>
                <a:latin typeface="Segoe UI"/>
              </a:rPr>
              <a:t>Structure</a:t>
            </a:r>
          </a:p>
        </p:txBody>
      </p:sp>
      <p:sp>
        <p:nvSpPr>
          <p:cNvPr id="15" name="TextBox 14"/>
          <p:cNvSpPr txBox="1"/>
          <p:nvPr/>
        </p:nvSpPr>
        <p:spPr>
          <a:xfrm>
            <a:off x="2926080" y="3017520"/>
            <a:ext cx="2743200" cy="365760"/>
          </a:xfrm>
          <a:prstGeom prst="rect">
            <a:avLst/>
          </a:prstGeom>
          <a:noFill/>
        </p:spPr>
        <p:txBody>
          <a:bodyPr wrap="square" anchor="t"/>
          <a:lstStyle/>
          <a:p>
            <a:pPr algn="l"/>
            <a:r>
              <a:rPr sz="1300" b="1" i="0">
                <a:solidFill>
                  <a:srgbClr val="0B1F33"/>
                </a:solidFill>
                <a:latin typeface="Segoe UI"/>
              </a:rPr>
              <a:t>Preferred equity</a:t>
            </a:r>
          </a:p>
        </p:txBody>
      </p:sp>
      <p:sp>
        <p:nvSpPr>
          <p:cNvPr id="16" name="Rectangle 15"/>
          <p:cNvSpPr/>
          <p:nvPr/>
        </p:nvSpPr>
        <p:spPr>
          <a:xfrm>
            <a:off x="731520" y="4114800"/>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611879"/>
            <a:ext cx="2194560" cy="365760"/>
          </a:xfrm>
          <a:prstGeom prst="rect">
            <a:avLst/>
          </a:prstGeom>
          <a:noFill/>
        </p:spPr>
        <p:txBody>
          <a:bodyPr wrap="square" anchor="t"/>
          <a:lstStyle/>
          <a:p>
            <a:pPr algn="l"/>
            <a:r>
              <a:rPr sz="1200" b="0" i="0">
                <a:solidFill>
                  <a:srgbClr val="5E6E80"/>
                </a:solidFill>
                <a:latin typeface="Segoe UI"/>
              </a:rPr>
              <a:t>Use of funds</a:t>
            </a:r>
          </a:p>
        </p:txBody>
      </p:sp>
      <p:sp>
        <p:nvSpPr>
          <p:cNvPr id="18" name="TextBox 17"/>
          <p:cNvSpPr txBox="1"/>
          <p:nvPr/>
        </p:nvSpPr>
        <p:spPr>
          <a:xfrm>
            <a:off x="2926080" y="3611879"/>
            <a:ext cx="2743200" cy="365760"/>
          </a:xfrm>
          <a:prstGeom prst="rect">
            <a:avLst/>
          </a:prstGeom>
          <a:noFill/>
        </p:spPr>
        <p:txBody>
          <a:bodyPr wrap="square" anchor="t"/>
          <a:lstStyle/>
          <a:p>
            <a:pPr algn="l"/>
            <a:r>
              <a:rPr sz="1300" b="1" i="0">
                <a:solidFill>
                  <a:srgbClr val="0B1F33"/>
                </a:solidFill>
                <a:latin typeface="Segoe UI"/>
              </a:rPr>
              <a:t>Product &amp; AI, expansion, team</a:t>
            </a:r>
          </a:p>
        </p:txBody>
      </p:sp>
      <p:sp>
        <p:nvSpPr>
          <p:cNvPr id="19" name="Rectangle 18"/>
          <p:cNvSpPr/>
          <p:nvPr/>
        </p:nvSpPr>
        <p:spPr>
          <a:xfrm>
            <a:off x="731520" y="4709159"/>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206240"/>
            <a:ext cx="2194560" cy="365760"/>
          </a:xfrm>
          <a:prstGeom prst="rect">
            <a:avLst/>
          </a:prstGeom>
          <a:noFill/>
        </p:spPr>
        <p:txBody>
          <a:bodyPr wrap="square" anchor="t"/>
          <a:lstStyle/>
          <a:p>
            <a:pPr algn="l"/>
            <a:r>
              <a:rPr sz="1200" b="0" i="0">
                <a:solidFill>
                  <a:srgbClr val="5E6E80"/>
                </a:solidFill>
                <a:latin typeface="Segoe UI"/>
              </a:rPr>
              <a:t>Target close</a:t>
            </a:r>
          </a:p>
        </p:txBody>
      </p:sp>
      <p:sp>
        <p:nvSpPr>
          <p:cNvPr id="21" name="TextBox 20"/>
          <p:cNvSpPr txBox="1"/>
          <p:nvPr/>
        </p:nvSpPr>
        <p:spPr>
          <a:xfrm>
            <a:off x="2926080" y="4206240"/>
            <a:ext cx="2743200" cy="365760"/>
          </a:xfrm>
          <a:prstGeom prst="rect">
            <a:avLst/>
          </a:prstGeom>
          <a:noFill/>
        </p:spPr>
        <p:txBody>
          <a:bodyPr wrap="square" anchor="t"/>
          <a:lstStyle/>
          <a:p>
            <a:pPr algn="l"/>
            <a:r>
              <a:rPr sz="1300" b="1" i="0">
                <a:solidFill>
                  <a:srgbClr val="0B1F33"/>
                </a:solidFill>
                <a:latin typeface="Segoe UI"/>
              </a:rPr>
              <a:t>2H 2026</a:t>
            </a:r>
          </a:p>
        </p:txBody>
      </p:sp>
      <p:sp>
        <p:nvSpPr>
          <p:cNvPr id="22" name="TextBox 21"/>
          <p:cNvSpPr txBox="1"/>
          <p:nvPr/>
        </p:nvSpPr>
        <p:spPr>
          <a:xfrm>
            <a:off x="731520" y="4937760"/>
            <a:ext cx="4937760" cy="274320"/>
          </a:xfrm>
          <a:prstGeom prst="rect">
            <a:avLst/>
          </a:prstGeom>
          <a:noFill/>
        </p:spPr>
        <p:txBody>
          <a:bodyPr wrap="square" anchor="t"/>
          <a:lstStyle/>
          <a:p>
            <a:pPr algn="l"/>
            <a:r>
              <a:rPr sz="900" b="0" i="1">
                <a:solidFill>
                  <a:srgbClr val="5E6E80"/>
                </a:solidFill>
                <a:latin typeface="Segoe UI"/>
              </a:rPr>
              <a:t>Indicative only; subject to definitive documentation.</a:t>
            </a:r>
          </a:p>
        </p:txBody>
      </p:sp>
      <p:sp>
        <p:nvSpPr>
          <p:cNvPr id="23" name="Rounded Rectangle 22"/>
          <p:cNvSpPr/>
          <p:nvPr/>
        </p:nvSpPr>
        <p:spPr>
          <a:xfrm>
            <a:off x="6126480" y="1188720"/>
            <a:ext cx="5577840" cy="41605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55080" y="1371600"/>
            <a:ext cx="5120640" cy="274320"/>
          </a:xfrm>
          <a:prstGeom prst="rect">
            <a:avLst/>
          </a:prstGeom>
          <a:noFill/>
        </p:spPr>
        <p:txBody>
          <a:bodyPr wrap="square" anchor="t"/>
          <a:lstStyle/>
          <a:p>
            <a:pPr algn="l"/>
            <a:r>
              <a:rPr sz="1300" b="1" i="0">
                <a:solidFill>
                  <a:srgbClr val="0B1F33"/>
                </a:solidFill>
                <a:latin typeface="Segoe UI"/>
              </a:rPr>
              <a:t>Use of proceeds</a:t>
            </a:r>
          </a:p>
        </p:txBody>
      </p:sp>
      <p:graphicFrame>
        <p:nvGraphicFramePr>
          <p:cNvPr id="25" name="Chart 24"/>
          <p:cNvGraphicFramePr>
            <a:graphicFrameLocks noGrp="1"/>
          </p:cNvGraphicFramePr>
          <p:nvPr/>
        </p:nvGraphicFramePr>
        <p:xfrm>
          <a:off x="6309360" y="1691640"/>
          <a:ext cx="5212080" cy="3200400"/>
        </p:xfrm>
        <a:graphic>
          <a:graphicData uri="http://schemas.openxmlformats.org/drawingml/2006/chart">
            <c:chart xmlns:c="http://schemas.openxmlformats.org/drawingml/2006/chart" xmlns:r="http://schemas.openxmlformats.org/officeDocument/2006/relationships" r:id="rId2"/>
          </a:graphicData>
        </a:graphic>
      </p:graphicFrame>
      <p:sp>
        <p:nvSpPr>
          <p:cNvPr id="26" name="Rounded Rectangle 25"/>
          <p:cNvSpPr/>
          <p:nvPr/>
        </p:nvSpPr>
        <p:spPr>
          <a:xfrm>
            <a:off x="502920" y="5486400"/>
            <a:ext cx="11201400" cy="502920"/>
          </a:xfrm>
          <a:prstGeom prst="roundRect">
            <a:avLst>
              <a:gd name="adj" fmla="val 8000"/>
            </a:avLst>
          </a:prstGeom>
          <a:solidFill>
            <a:srgbClr val="D7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577840"/>
            <a:ext cx="10835640" cy="365760"/>
          </a:xfrm>
          <a:prstGeom prst="rect">
            <a:avLst/>
          </a:prstGeom>
          <a:noFill/>
        </p:spPr>
        <p:txBody>
          <a:bodyPr wrap="square" anchor="t"/>
          <a:lstStyle/>
          <a:p>
            <a:pPr algn="l"/>
            <a:r>
              <a:rPr sz="1200" b="1" i="0">
                <a:solidFill>
                  <a:srgbClr val="07524C"/>
                </a:solidFill>
                <a:latin typeface="Segoe UI"/>
              </a:rPr>
              <a:t>What this capital achieves — AI résumé builder &amp; mock-interview scale · global active-user growth · paid membership / consulting / education launch.</a:t>
            </a:r>
          </a:p>
        </p:txBody>
      </p:sp>
      <p:sp>
        <p:nvSpPr>
          <p:cNvPr id="28" name="Rectangle 27"/>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1" name="TextBox 30"/>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LEADERSHIP</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Executive Leadership Team</a:t>
            </a:r>
          </a:p>
        </p:txBody>
      </p:sp>
      <p:sp>
        <p:nvSpPr>
          <p:cNvPr id="5" name="Rounded Rectangle 4"/>
          <p:cNvSpPr/>
          <p:nvPr/>
        </p:nvSpPr>
        <p:spPr>
          <a:xfrm>
            <a:off x="502920" y="1170432"/>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170432"/>
            <a:ext cx="73152" cy="214884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298448"/>
            <a:ext cx="3337560" cy="320040"/>
          </a:xfrm>
          <a:prstGeom prst="rect">
            <a:avLst/>
          </a:prstGeom>
          <a:noFill/>
        </p:spPr>
        <p:txBody>
          <a:bodyPr wrap="square" anchor="t"/>
          <a:lstStyle/>
          <a:p>
            <a:pPr algn="l"/>
            <a:r>
              <a:rPr sz="1500" b="1" i="0">
                <a:solidFill>
                  <a:srgbClr val="0B1F33"/>
                </a:solidFill>
                <a:latin typeface="Georgia"/>
              </a:rPr>
              <a:t>Rocky Chen</a:t>
            </a:r>
          </a:p>
        </p:txBody>
      </p:sp>
      <p:sp>
        <p:nvSpPr>
          <p:cNvPr id="8" name="TextBox 7"/>
          <p:cNvSpPr txBox="1"/>
          <p:nvPr/>
        </p:nvSpPr>
        <p:spPr>
          <a:xfrm>
            <a:off x="704088" y="1609344"/>
            <a:ext cx="3337560" cy="256032"/>
          </a:xfrm>
          <a:prstGeom prst="rect">
            <a:avLst/>
          </a:prstGeom>
          <a:noFill/>
        </p:spPr>
        <p:txBody>
          <a:bodyPr wrap="square" anchor="t"/>
          <a:lstStyle/>
          <a:p>
            <a:pPr algn="l"/>
            <a:r>
              <a:rPr sz="1000" b="1" i="0">
                <a:solidFill>
                  <a:srgbClr val="0A6B63"/>
                </a:solidFill>
                <a:latin typeface="Segoe UI"/>
              </a:rPr>
              <a:t>FOUNDER &amp; CEO</a:t>
            </a:r>
          </a:p>
        </p:txBody>
      </p:sp>
      <p:sp>
        <p:nvSpPr>
          <p:cNvPr id="9" name="TextBox 8"/>
          <p:cNvSpPr txBox="1"/>
          <p:nvPr/>
        </p:nvSpPr>
        <p:spPr>
          <a:xfrm>
            <a:off x="704088" y="1947672"/>
            <a:ext cx="3310128" cy="594360"/>
          </a:xfrm>
          <a:prstGeom prst="rect">
            <a:avLst/>
          </a:prstGeom>
          <a:noFill/>
        </p:spPr>
        <p:txBody>
          <a:bodyPr wrap="square" anchor="t"/>
          <a:lstStyle/>
          <a:p>
            <a:pPr algn="l"/>
            <a:r>
              <a:rPr sz="1000" b="0" i="0">
                <a:solidFill>
                  <a:srgbClr val="2C3A4B"/>
                </a:solidFill>
                <a:latin typeface="Segoe UI"/>
              </a:rPr>
              <a:t>▸  Founder of 51 Careers and 51Careers.AI; investor &amp; Managing Director at publicly listed Helio</a:t>
            </a:r>
          </a:p>
        </p:txBody>
      </p:sp>
      <p:sp>
        <p:nvSpPr>
          <p:cNvPr id="10" name="TextBox 9"/>
          <p:cNvSpPr txBox="1"/>
          <p:nvPr/>
        </p:nvSpPr>
        <p:spPr>
          <a:xfrm>
            <a:off x="704088" y="2569464"/>
            <a:ext cx="3310128" cy="594360"/>
          </a:xfrm>
          <a:prstGeom prst="rect">
            <a:avLst/>
          </a:prstGeom>
          <a:noFill/>
        </p:spPr>
        <p:txBody>
          <a:bodyPr wrap="square" anchor="t"/>
          <a:lstStyle/>
          <a:p>
            <a:pPr algn="l"/>
            <a:r>
              <a:rPr sz="1000" b="0" i="0">
                <a:solidFill>
                  <a:srgbClr val="2C3A4B"/>
                </a:solidFill>
                <a:latin typeface="Segoe UI"/>
              </a:rPr>
              <a:t>▸  Decade of international business, capital markets, and global resource integration across AI, education, and related industries</a:t>
            </a:r>
          </a:p>
        </p:txBody>
      </p:sp>
      <p:sp>
        <p:nvSpPr>
          <p:cNvPr id="11" name="Rounded Rectangle 10"/>
          <p:cNvSpPr/>
          <p:nvPr/>
        </p:nvSpPr>
        <p:spPr>
          <a:xfrm>
            <a:off x="4343400" y="1170432"/>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170432"/>
            <a:ext cx="73152" cy="214884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298448"/>
            <a:ext cx="3337560" cy="320040"/>
          </a:xfrm>
          <a:prstGeom prst="rect">
            <a:avLst/>
          </a:prstGeom>
          <a:noFill/>
        </p:spPr>
        <p:txBody>
          <a:bodyPr wrap="square" anchor="t"/>
          <a:lstStyle/>
          <a:p>
            <a:pPr algn="l"/>
            <a:r>
              <a:rPr sz="1500" b="1" i="0">
                <a:solidFill>
                  <a:srgbClr val="0B1F33"/>
                </a:solidFill>
                <a:latin typeface="Georgia"/>
              </a:rPr>
              <a:t>Stephanie Li</a:t>
            </a:r>
          </a:p>
        </p:txBody>
      </p:sp>
      <p:sp>
        <p:nvSpPr>
          <p:cNvPr id="14" name="TextBox 13"/>
          <p:cNvSpPr txBox="1"/>
          <p:nvPr/>
        </p:nvSpPr>
        <p:spPr>
          <a:xfrm>
            <a:off x="4544568" y="1609344"/>
            <a:ext cx="3337560" cy="256032"/>
          </a:xfrm>
          <a:prstGeom prst="rect">
            <a:avLst/>
          </a:prstGeom>
          <a:noFill/>
        </p:spPr>
        <p:txBody>
          <a:bodyPr wrap="square" anchor="t"/>
          <a:lstStyle/>
          <a:p>
            <a:pPr algn="l"/>
            <a:r>
              <a:rPr sz="1000" b="1" i="0">
                <a:solidFill>
                  <a:srgbClr val="0A6B63"/>
                </a:solidFill>
                <a:latin typeface="Segoe UI"/>
              </a:rPr>
              <a:t>CO-FOUNDER &amp; CFO</a:t>
            </a:r>
          </a:p>
        </p:txBody>
      </p:sp>
      <p:sp>
        <p:nvSpPr>
          <p:cNvPr id="15" name="TextBox 14"/>
          <p:cNvSpPr txBox="1"/>
          <p:nvPr/>
        </p:nvSpPr>
        <p:spPr>
          <a:xfrm>
            <a:off x="4544568" y="1947672"/>
            <a:ext cx="3310128" cy="594360"/>
          </a:xfrm>
          <a:prstGeom prst="rect">
            <a:avLst/>
          </a:prstGeom>
          <a:noFill/>
        </p:spPr>
        <p:txBody>
          <a:bodyPr wrap="square" anchor="t"/>
          <a:lstStyle/>
          <a:p>
            <a:pPr algn="l"/>
            <a:r>
              <a:rPr sz="1000" b="0" i="0">
                <a:solidFill>
                  <a:srgbClr val="2C3A4B"/>
                </a:solidFill>
                <a:latin typeface="Segoe UI"/>
              </a:rPr>
              <a:t>▸  Co-Founder since 2016; U.S. CPA — M.S. Accounting (Pace); B.A. Accounting (Dongbei University of Finance and Economics)</a:t>
            </a:r>
          </a:p>
        </p:txBody>
      </p:sp>
      <p:sp>
        <p:nvSpPr>
          <p:cNvPr id="16" name="TextBox 15"/>
          <p:cNvSpPr txBox="1"/>
          <p:nvPr/>
        </p:nvSpPr>
        <p:spPr>
          <a:xfrm>
            <a:off x="4544568" y="2569464"/>
            <a:ext cx="3310128" cy="594360"/>
          </a:xfrm>
          <a:prstGeom prst="rect">
            <a:avLst/>
          </a:prstGeom>
          <a:noFill/>
        </p:spPr>
        <p:txBody>
          <a:bodyPr wrap="square" anchor="t"/>
          <a:lstStyle/>
          <a:p>
            <a:pPr algn="l"/>
            <a:r>
              <a:rPr sz="1000" b="0" i="0">
                <a:solidFill>
                  <a:srgbClr val="2C3A4B"/>
                </a:solidFill>
                <a:latin typeface="Segoe UI"/>
              </a:rPr>
              <a:t>▸  Oversees financial strategy, corporate governance, and sustainable growth; prior senior finance leadership in U.S. industry</a:t>
            </a:r>
          </a:p>
        </p:txBody>
      </p:sp>
      <p:sp>
        <p:nvSpPr>
          <p:cNvPr id="17" name="Rounded Rectangle 16"/>
          <p:cNvSpPr/>
          <p:nvPr/>
        </p:nvSpPr>
        <p:spPr>
          <a:xfrm>
            <a:off x="8183880" y="1170432"/>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83880" y="1170432"/>
            <a:ext cx="73152" cy="2148840"/>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85048" y="1298448"/>
            <a:ext cx="3337560" cy="320040"/>
          </a:xfrm>
          <a:prstGeom prst="rect">
            <a:avLst/>
          </a:prstGeom>
          <a:noFill/>
        </p:spPr>
        <p:txBody>
          <a:bodyPr wrap="square" anchor="t"/>
          <a:lstStyle/>
          <a:p>
            <a:pPr algn="l"/>
            <a:r>
              <a:rPr sz="1500" b="1" i="0">
                <a:solidFill>
                  <a:srgbClr val="0B1F33"/>
                </a:solidFill>
                <a:latin typeface="Georgia"/>
              </a:rPr>
              <a:t>Gavin Ding</a:t>
            </a:r>
          </a:p>
        </p:txBody>
      </p:sp>
      <p:sp>
        <p:nvSpPr>
          <p:cNvPr id="20" name="TextBox 19"/>
          <p:cNvSpPr txBox="1"/>
          <p:nvPr/>
        </p:nvSpPr>
        <p:spPr>
          <a:xfrm>
            <a:off x="8385048" y="1609344"/>
            <a:ext cx="3337560" cy="256032"/>
          </a:xfrm>
          <a:prstGeom prst="rect">
            <a:avLst/>
          </a:prstGeom>
          <a:noFill/>
        </p:spPr>
        <p:txBody>
          <a:bodyPr wrap="square" anchor="t"/>
          <a:lstStyle/>
          <a:p>
            <a:pPr algn="l"/>
            <a:r>
              <a:rPr sz="1000" b="1" i="0">
                <a:solidFill>
                  <a:srgbClr val="0A6B63"/>
                </a:solidFill>
                <a:latin typeface="Segoe UI"/>
              </a:rPr>
              <a:t>CO-FOUNDER, CTO &amp; COO</a:t>
            </a:r>
          </a:p>
        </p:txBody>
      </p:sp>
      <p:sp>
        <p:nvSpPr>
          <p:cNvPr id="21" name="TextBox 20"/>
          <p:cNvSpPr txBox="1"/>
          <p:nvPr/>
        </p:nvSpPr>
        <p:spPr>
          <a:xfrm>
            <a:off x="8385048" y="1947672"/>
            <a:ext cx="3310128" cy="594360"/>
          </a:xfrm>
          <a:prstGeom prst="rect">
            <a:avLst/>
          </a:prstGeom>
          <a:noFill/>
        </p:spPr>
        <p:txBody>
          <a:bodyPr wrap="square" anchor="t"/>
          <a:lstStyle/>
          <a:p>
            <a:pPr algn="l"/>
            <a:r>
              <a:rPr sz="1000" b="0" i="0">
                <a:solidFill>
                  <a:srgbClr val="2C3A4B"/>
                </a:solidFill>
                <a:latin typeface="Segoe UI"/>
              </a:rPr>
              <a:t>▸  Serial entrepreneur (10+ yrs) across SaaS, AI, and digital business; B.S. Computer Science, ECUST</a:t>
            </a:r>
          </a:p>
        </p:txBody>
      </p:sp>
      <p:sp>
        <p:nvSpPr>
          <p:cNvPr id="22" name="TextBox 21"/>
          <p:cNvSpPr txBox="1"/>
          <p:nvPr/>
        </p:nvSpPr>
        <p:spPr>
          <a:xfrm>
            <a:off x="8385048" y="2569464"/>
            <a:ext cx="3310128" cy="594360"/>
          </a:xfrm>
          <a:prstGeom prst="rect">
            <a:avLst/>
          </a:prstGeom>
          <a:noFill/>
        </p:spPr>
        <p:txBody>
          <a:bodyPr wrap="square" anchor="t"/>
          <a:lstStyle/>
          <a:p>
            <a:pPr algn="l"/>
            <a:r>
              <a:rPr sz="1000" b="0" i="0">
                <a:solidFill>
                  <a:srgbClr val="2C3A4B"/>
                </a:solidFill>
                <a:latin typeface="Segoe UI"/>
              </a:rPr>
              <a:t>▸  Prior CTO roles (Youpindao, Roubeibei) and multiple co-founded ventures; leads technology, operations, and AI strategy</a:t>
            </a:r>
          </a:p>
        </p:txBody>
      </p:sp>
      <p:sp>
        <p:nvSpPr>
          <p:cNvPr id="23" name="Rounded Rectangle 22"/>
          <p:cNvSpPr/>
          <p:nvPr/>
        </p:nvSpPr>
        <p:spPr>
          <a:xfrm>
            <a:off x="502920" y="3483864"/>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3483864"/>
            <a:ext cx="73152" cy="214884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3611880"/>
            <a:ext cx="3337560" cy="320040"/>
          </a:xfrm>
          <a:prstGeom prst="rect">
            <a:avLst/>
          </a:prstGeom>
          <a:noFill/>
        </p:spPr>
        <p:txBody>
          <a:bodyPr wrap="square" anchor="t"/>
          <a:lstStyle/>
          <a:p>
            <a:pPr algn="l"/>
            <a:r>
              <a:rPr sz="1500" b="1" i="0">
                <a:solidFill>
                  <a:srgbClr val="0B1F33"/>
                </a:solidFill>
                <a:latin typeface="Georgia"/>
              </a:rPr>
              <a:t>Robin Zhu</a:t>
            </a:r>
          </a:p>
        </p:txBody>
      </p:sp>
      <p:sp>
        <p:nvSpPr>
          <p:cNvPr id="26" name="TextBox 25"/>
          <p:cNvSpPr txBox="1"/>
          <p:nvPr/>
        </p:nvSpPr>
        <p:spPr>
          <a:xfrm>
            <a:off x="704088" y="3922776"/>
            <a:ext cx="3337560" cy="256032"/>
          </a:xfrm>
          <a:prstGeom prst="rect">
            <a:avLst/>
          </a:prstGeom>
          <a:noFill/>
        </p:spPr>
        <p:txBody>
          <a:bodyPr wrap="square" anchor="t"/>
          <a:lstStyle/>
          <a:p>
            <a:pPr algn="l"/>
            <a:r>
              <a:rPr sz="1000" b="1" i="0">
                <a:solidFill>
                  <a:srgbClr val="0A6B63"/>
                </a:solidFill>
                <a:latin typeface="Segoe UI"/>
              </a:rPr>
              <a:t>HEAD OF PRODUCT</a:t>
            </a:r>
          </a:p>
        </p:txBody>
      </p:sp>
      <p:sp>
        <p:nvSpPr>
          <p:cNvPr id="27" name="TextBox 26"/>
          <p:cNvSpPr txBox="1"/>
          <p:nvPr/>
        </p:nvSpPr>
        <p:spPr>
          <a:xfrm>
            <a:off x="704088" y="4261104"/>
            <a:ext cx="3310128" cy="594360"/>
          </a:xfrm>
          <a:prstGeom prst="rect">
            <a:avLst/>
          </a:prstGeom>
          <a:noFill/>
        </p:spPr>
        <p:txBody>
          <a:bodyPr wrap="square" anchor="t"/>
          <a:lstStyle/>
          <a:p>
            <a:pPr algn="l"/>
            <a:r>
              <a:rPr sz="1000" b="0" i="0">
                <a:solidFill>
                  <a:srgbClr val="2C3A4B"/>
                </a:solidFill>
                <a:latin typeface="Segoe UI"/>
              </a:rPr>
              <a:t>▸  Leads product strategy, architecture, and development of the AI-powered platform</a:t>
            </a:r>
          </a:p>
        </p:txBody>
      </p:sp>
      <p:sp>
        <p:nvSpPr>
          <p:cNvPr id="28" name="TextBox 27"/>
          <p:cNvSpPr txBox="1"/>
          <p:nvPr/>
        </p:nvSpPr>
        <p:spPr>
          <a:xfrm>
            <a:off x="704088" y="4882896"/>
            <a:ext cx="3310128" cy="594360"/>
          </a:xfrm>
          <a:prstGeom prst="rect">
            <a:avLst/>
          </a:prstGeom>
          <a:noFill/>
        </p:spPr>
        <p:txBody>
          <a:bodyPr wrap="square" anchor="t"/>
          <a:lstStyle/>
          <a:p>
            <a:pPr algn="l"/>
            <a:r>
              <a:rPr sz="1000" b="0" i="0">
                <a:solidFill>
                  <a:srgbClr val="2C3A4B"/>
                </a:solidFill>
                <a:latin typeface="Segoe UI"/>
              </a:rPr>
              <a:t>▸  Former CTO &amp; Director of Product, Ci Finance; senior product/tech roles at CPIC, Allinpay, Noah Holdings, and Tianrang Intelligence</a:t>
            </a:r>
          </a:p>
        </p:txBody>
      </p:sp>
      <p:sp>
        <p:nvSpPr>
          <p:cNvPr id="29" name="Rounded Rectangle 28"/>
          <p:cNvSpPr/>
          <p:nvPr/>
        </p:nvSpPr>
        <p:spPr>
          <a:xfrm>
            <a:off x="4343400" y="3483864"/>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343400" y="3483864"/>
            <a:ext cx="73152" cy="214884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44568" y="3611880"/>
            <a:ext cx="3337560" cy="320040"/>
          </a:xfrm>
          <a:prstGeom prst="rect">
            <a:avLst/>
          </a:prstGeom>
          <a:noFill/>
        </p:spPr>
        <p:txBody>
          <a:bodyPr wrap="square" anchor="t"/>
          <a:lstStyle/>
          <a:p>
            <a:pPr algn="l"/>
            <a:r>
              <a:rPr sz="1500" b="1" i="0">
                <a:solidFill>
                  <a:srgbClr val="0B1F33"/>
                </a:solidFill>
                <a:latin typeface="Georgia"/>
              </a:rPr>
              <a:t>Chris Lin</a:t>
            </a:r>
          </a:p>
        </p:txBody>
      </p:sp>
      <p:sp>
        <p:nvSpPr>
          <p:cNvPr id="32" name="TextBox 31"/>
          <p:cNvSpPr txBox="1"/>
          <p:nvPr/>
        </p:nvSpPr>
        <p:spPr>
          <a:xfrm>
            <a:off x="4544568" y="3922776"/>
            <a:ext cx="3337560" cy="256032"/>
          </a:xfrm>
          <a:prstGeom prst="rect">
            <a:avLst/>
          </a:prstGeom>
          <a:noFill/>
        </p:spPr>
        <p:txBody>
          <a:bodyPr wrap="square" anchor="t"/>
          <a:lstStyle/>
          <a:p>
            <a:pPr algn="l"/>
            <a:r>
              <a:rPr sz="1000" b="1" i="0">
                <a:solidFill>
                  <a:srgbClr val="0A6B63"/>
                </a:solidFill>
                <a:latin typeface="Segoe UI"/>
              </a:rPr>
              <a:t>NORTH AMERICAN PARTNER</a:t>
            </a:r>
          </a:p>
        </p:txBody>
      </p:sp>
      <p:sp>
        <p:nvSpPr>
          <p:cNvPr id="33" name="TextBox 32"/>
          <p:cNvSpPr txBox="1"/>
          <p:nvPr/>
        </p:nvSpPr>
        <p:spPr>
          <a:xfrm>
            <a:off x="4544568" y="4261104"/>
            <a:ext cx="3310128" cy="594360"/>
          </a:xfrm>
          <a:prstGeom prst="rect">
            <a:avLst/>
          </a:prstGeom>
          <a:noFill/>
        </p:spPr>
        <p:txBody>
          <a:bodyPr wrap="square" anchor="t"/>
          <a:lstStyle/>
          <a:p>
            <a:pPr algn="l"/>
            <a:r>
              <a:rPr sz="1000" b="0" i="0">
                <a:solidFill>
                  <a:srgbClr val="2C3A4B"/>
                </a:solidFill>
                <a:latin typeface="Segoe UI"/>
              </a:rPr>
              <a:t>▸  Full-stack engineer; previously at Amazon Web Services (AWS) on mission-critical systems</a:t>
            </a:r>
          </a:p>
        </p:txBody>
      </p:sp>
      <p:sp>
        <p:nvSpPr>
          <p:cNvPr id="34" name="TextBox 33"/>
          <p:cNvSpPr txBox="1"/>
          <p:nvPr/>
        </p:nvSpPr>
        <p:spPr>
          <a:xfrm>
            <a:off x="4544568" y="4882896"/>
            <a:ext cx="3310128" cy="594360"/>
          </a:xfrm>
          <a:prstGeom prst="rect">
            <a:avLst/>
          </a:prstGeom>
          <a:noFill/>
        </p:spPr>
        <p:txBody>
          <a:bodyPr wrap="square" anchor="t"/>
          <a:lstStyle/>
          <a:p>
            <a:pPr algn="l"/>
            <a:r>
              <a:rPr sz="1000" b="0" i="0">
                <a:solidFill>
                  <a:srgbClr val="2C3A4B"/>
                </a:solidFill>
                <a:latin typeface="Segoe UI"/>
              </a:rPr>
              <a:t>▸  B.S. Mechanical Engineering (Northwestern), M.S. Robotics; extensive hiring-panel experience and career mentorship</a:t>
            </a:r>
          </a:p>
        </p:txBody>
      </p:sp>
      <p:sp>
        <p:nvSpPr>
          <p:cNvPr id="35" name="Rounded Rectangle 34"/>
          <p:cNvSpPr/>
          <p:nvPr/>
        </p:nvSpPr>
        <p:spPr>
          <a:xfrm>
            <a:off x="8183880" y="3483864"/>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183880" y="3483864"/>
            <a:ext cx="73152" cy="2148840"/>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85048" y="3611880"/>
            <a:ext cx="3337560" cy="320040"/>
          </a:xfrm>
          <a:prstGeom prst="rect">
            <a:avLst/>
          </a:prstGeom>
          <a:noFill/>
        </p:spPr>
        <p:txBody>
          <a:bodyPr wrap="square" anchor="t"/>
          <a:lstStyle/>
          <a:p>
            <a:pPr algn="l"/>
            <a:r>
              <a:rPr sz="1500" b="1" i="0">
                <a:solidFill>
                  <a:srgbClr val="0B1F33"/>
                </a:solidFill>
                <a:latin typeface="Georgia"/>
              </a:rPr>
              <a:t>Jon Serbin</a:t>
            </a:r>
          </a:p>
        </p:txBody>
      </p:sp>
      <p:sp>
        <p:nvSpPr>
          <p:cNvPr id="38" name="TextBox 37"/>
          <p:cNvSpPr txBox="1"/>
          <p:nvPr/>
        </p:nvSpPr>
        <p:spPr>
          <a:xfrm>
            <a:off x="8385048" y="3922776"/>
            <a:ext cx="3337560" cy="256032"/>
          </a:xfrm>
          <a:prstGeom prst="rect">
            <a:avLst/>
          </a:prstGeom>
          <a:noFill/>
        </p:spPr>
        <p:txBody>
          <a:bodyPr wrap="square" anchor="t"/>
          <a:lstStyle/>
          <a:p>
            <a:pPr algn="l"/>
            <a:r>
              <a:rPr sz="1000" b="1" i="0">
                <a:solidFill>
                  <a:srgbClr val="0A6B63"/>
                </a:solidFill>
                <a:latin typeface="Segoe UI"/>
              </a:rPr>
              <a:t>SENIOR ADVISOR</a:t>
            </a:r>
          </a:p>
        </p:txBody>
      </p:sp>
      <p:sp>
        <p:nvSpPr>
          <p:cNvPr id="39" name="TextBox 38"/>
          <p:cNvSpPr txBox="1"/>
          <p:nvPr/>
        </p:nvSpPr>
        <p:spPr>
          <a:xfrm>
            <a:off x="8385048" y="4261104"/>
            <a:ext cx="3310128" cy="594360"/>
          </a:xfrm>
          <a:prstGeom prst="rect">
            <a:avLst/>
          </a:prstGeom>
          <a:noFill/>
        </p:spPr>
        <p:txBody>
          <a:bodyPr wrap="square" anchor="t"/>
          <a:lstStyle/>
          <a:p>
            <a:pPr algn="l"/>
            <a:r>
              <a:rPr sz="1000" b="0" i="0">
                <a:solidFill>
                  <a:srgbClr val="2C3A4B"/>
                </a:solidFill>
                <a:latin typeface="Segoe UI"/>
              </a:rPr>
              <a:t>▸  Harvard &amp; MIT; former senior executive at Morgan Stanley; founder of Cedar (Wall Street investment banking)</a:t>
            </a:r>
          </a:p>
        </p:txBody>
      </p:sp>
      <p:sp>
        <p:nvSpPr>
          <p:cNvPr id="40" name="TextBox 39"/>
          <p:cNvSpPr txBox="1"/>
          <p:nvPr/>
        </p:nvSpPr>
        <p:spPr>
          <a:xfrm>
            <a:off x="8385048" y="4882896"/>
            <a:ext cx="3310128" cy="594360"/>
          </a:xfrm>
          <a:prstGeom prst="rect">
            <a:avLst/>
          </a:prstGeom>
          <a:noFill/>
        </p:spPr>
        <p:txBody>
          <a:bodyPr wrap="square" anchor="t"/>
          <a:lstStyle/>
          <a:p>
            <a:pPr algn="l"/>
            <a:r>
              <a:rPr sz="1000" b="0" i="0">
                <a:solidFill>
                  <a:srgbClr val="2C3A4B"/>
                </a:solidFill>
                <a:latin typeface="Segoe UI"/>
              </a:rPr>
              <a:t>▸  40+ years advising tech M&amp;A, capital raising, and listings; advises 51Careers.AI on growth, capital markets, and expansion</a:t>
            </a:r>
          </a:p>
        </p:txBody>
      </p:sp>
      <p:sp>
        <p:nvSpPr>
          <p:cNvPr id="41" name="TextBox 40"/>
          <p:cNvSpPr txBox="1"/>
          <p:nvPr/>
        </p:nvSpPr>
        <p:spPr>
          <a:xfrm>
            <a:off x="502920" y="5760720"/>
            <a:ext cx="11155680" cy="274320"/>
          </a:xfrm>
          <a:prstGeom prst="rect">
            <a:avLst/>
          </a:prstGeom>
          <a:noFill/>
        </p:spPr>
        <p:txBody>
          <a:bodyPr wrap="square" anchor="t"/>
          <a:lstStyle/>
          <a:p>
            <a:pPr algn="l"/>
            <a:r>
              <a:rPr sz="900" b="0" i="0">
                <a:solidFill>
                  <a:srgbClr val="5E6E80"/>
                </a:solidFill>
                <a:latin typeface="Segoe UI"/>
              </a:rPr>
              <a:t>Supported by ≈50 professionals across New York, Shanghai, London, Singapore, Seoul, Toronto, and Delhi. Full biographies available in the data room.</a:t>
            </a:r>
          </a:p>
        </p:txBody>
      </p:sp>
      <p:sp>
        <p:nvSpPr>
          <p:cNvPr id="42" name="Rectangle 41"/>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45" name="TextBox 44"/>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10332720" cy="1371600"/>
          </a:xfrm>
          <a:prstGeom prst="rect">
            <a:avLst/>
          </a:prstGeom>
          <a:noFill/>
        </p:spPr>
        <p:txBody>
          <a:bodyPr wrap="square" anchor="ctr"/>
          <a:lstStyle/>
          <a:p>
            <a:pPr algn="ctr"/>
            <a:r>
              <a:rPr sz="2800" b="1" i="0">
                <a:solidFill>
                  <a:srgbClr val="FFFFFF"/>
                </a:solidFill>
                <a:latin typeface="Georgia"/>
              </a:rPr>
              <a:t>“Our mission is to make great jobs accessible to everyone.”</a:t>
            </a:r>
          </a:p>
        </p:txBody>
      </p:sp>
      <p:sp>
        <p:nvSpPr>
          <p:cNvPr id="5" name="TextBox 4"/>
          <p:cNvSpPr txBox="1"/>
          <p:nvPr/>
        </p:nvSpPr>
        <p:spPr>
          <a:xfrm>
            <a:off x="914400" y="3200400"/>
            <a:ext cx="10332720" cy="457200"/>
          </a:xfrm>
          <a:prstGeom prst="rect">
            <a:avLst/>
          </a:prstGeom>
          <a:noFill/>
        </p:spPr>
        <p:txBody>
          <a:bodyPr wrap="square" anchor="t"/>
          <a:lstStyle/>
          <a:p>
            <a:pPr algn="ctr"/>
            <a:r>
              <a:rPr sz="2200" b="1" i="0">
                <a:solidFill>
                  <a:srgbClr val="0A6B63"/>
                </a:solidFill>
                <a:latin typeface="Georgia"/>
              </a:rPr>
              <a:t>51CAREERS.AI</a:t>
            </a:r>
          </a:p>
        </p:txBody>
      </p:sp>
      <p:sp>
        <p:nvSpPr>
          <p:cNvPr id="6" name="TextBox 5"/>
          <p:cNvSpPr txBox="1"/>
          <p:nvPr/>
        </p:nvSpPr>
        <p:spPr>
          <a:xfrm>
            <a:off x="914400" y="3840480"/>
            <a:ext cx="10332720" cy="320040"/>
          </a:xfrm>
          <a:prstGeom prst="rect">
            <a:avLst/>
          </a:prstGeom>
          <a:noFill/>
        </p:spPr>
        <p:txBody>
          <a:bodyPr wrap="square" anchor="t"/>
          <a:lstStyle/>
          <a:p>
            <a:pPr algn="ctr"/>
            <a:r>
              <a:rPr sz="1300" b="0" i="0">
                <a:solidFill>
                  <a:srgbClr val="C5D5E0"/>
                </a:solidFill>
                <a:latin typeface="Segoe UI"/>
              </a:rPr>
              <a:t>Rocky Chen  ·  Founder &amp; Chief Executive Officer</a:t>
            </a:r>
          </a:p>
        </p:txBody>
      </p:sp>
      <p:sp>
        <p:nvSpPr>
          <p:cNvPr id="7" name="TextBox 6"/>
          <p:cNvSpPr txBox="1"/>
          <p:nvPr/>
        </p:nvSpPr>
        <p:spPr>
          <a:xfrm>
            <a:off x="914400" y="4572000"/>
            <a:ext cx="10332720" cy="320040"/>
          </a:xfrm>
          <a:prstGeom prst="rect">
            <a:avLst/>
          </a:prstGeom>
          <a:noFill/>
        </p:spPr>
        <p:txBody>
          <a:bodyPr wrap="square" anchor="t"/>
          <a:lstStyle/>
          <a:p>
            <a:pPr algn="ctr"/>
            <a:r>
              <a:rPr sz="1200" b="0" i="0" dirty="0">
                <a:solidFill>
                  <a:srgbClr val="FFFFFF"/>
                </a:solidFill>
                <a:latin typeface="Segoe UI"/>
              </a:rPr>
              <a:t>info@51careers.com      ·      www.51careers.ai</a:t>
            </a:r>
          </a:p>
        </p:txBody>
      </p:sp>
      <p:sp>
        <p:nvSpPr>
          <p:cNvPr id="8" name="TextBox 7"/>
          <p:cNvSpPr txBox="1"/>
          <p:nvPr/>
        </p:nvSpPr>
        <p:spPr>
          <a:xfrm>
            <a:off x="914400" y="4937760"/>
            <a:ext cx="10332720" cy="320040"/>
          </a:xfrm>
          <a:prstGeom prst="rect">
            <a:avLst/>
          </a:prstGeom>
          <a:noFill/>
        </p:spPr>
        <p:txBody>
          <a:bodyPr wrap="square" anchor="t"/>
          <a:lstStyle/>
          <a:p>
            <a:pPr algn="ctr"/>
            <a:r>
              <a:rPr sz="1200" b="0" i="0" dirty="0">
                <a:solidFill>
                  <a:srgbClr val="6B7C8F"/>
                </a:solidFill>
                <a:latin typeface="Segoe UI"/>
              </a:rPr>
              <a:t>48 Wall Street, 11th Floor, New York, NY 10005</a:t>
            </a:r>
          </a:p>
        </p:txBody>
      </p:sp>
      <p:sp>
        <p:nvSpPr>
          <p:cNvPr id="9" name="TextBox 8"/>
          <p:cNvSpPr txBox="1"/>
          <p:nvPr/>
        </p:nvSpPr>
        <p:spPr>
          <a:xfrm>
            <a:off x="914400" y="6217920"/>
            <a:ext cx="10332720" cy="274320"/>
          </a:xfrm>
          <a:prstGeom prst="rect">
            <a:avLst/>
          </a:prstGeom>
          <a:noFill/>
        </p:spPr>
        <p:txBody>
          <a:bodyPr wrap="square" anchor="t"/>
          <a:lstStyle/>
          <a:p>
            <a:pPr algn="ctr"/>
            <a:r>
              <a:rPr sz="900" b="1" i="0">
                <a:solidFill>
                  <a:srgbClr val="6B7C8F"/>
                </a:solidFill>
                <a:latin typeface="Segoe UI"/>
              </a:rPr>
              <a:t>51CAREERS.AI   ·   CONFIDENTIAL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207</TotalTime>
  <Words>2243</Words>
  <Application>Microsoft Office PowerPoint</Application>
  <PresentationFormat>Widescreen</PresentationFormat>
  <Paragraphs>294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 Anthony</cp:lastModifiedBy>
  <cp:revision>2</cp:revision>
  <dcterms:created xsi:type="dcterms:W3CDTF">2013-01-27T09:14:16Z</dcterms:created>
  <dcterms:modified xsi:type="dcterms:W3CDTF">2026-07-28T22:44:53Z</dcterms:modified>
  <cp:category/>
</cp:coreProperties>
</file>