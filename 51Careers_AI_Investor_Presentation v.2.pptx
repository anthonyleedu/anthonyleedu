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1" r:id="rId22"/>
    <p:sldId id="272" r:id="rId23"/>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 Id="rId22" Type="http://schemas.openxmlformats.org/officeDocument/2006/relationships/slide" Target="slides/slide16.xml"/><Relationship Id="rId23" Type="http://schemas.openxmlformats.org/officeDocument/2006/relationships/slide" Target="slides/slide1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Estimated</c:v>
                </c:pt>
              </c:strCache>
            </c:strRef>
          </c:tx>
          <c:spPr>
            <a:solidFill>
              <a:srgbClr val="132A4F"/>
            </a:solidFill>
            <a:effectLst/>
          </c:spPr>
          <c:invertIfNegative val="0"/>
          <c:dLbls>
            <c:numFmt formatCode="General" sourceLinked="0"/>
            <c:txPr>
              <a:bodyPr/>
              <a:lstStyle/>
              <a:p>
                <a:pPr>
                  <a:defRPr b="1"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Sheet1!$A$2:$A$6</c:f>
              <c:multiLvlStrCache>
                <c:ptCount val="5"/>
                <c:lvl>
                  <c:pt idx="0">
                    <c:v>2025E</c:v>
                  </c:pt>
                  <c:pt idx="1">
                    <c:v>2026E</c:v>
                  </c:pt>
                  <c:pt idx="2">
                    <c:v>2027E</c:v>
                  </c:pt>
                  <c:pt idx="3">
                    <c:v>2028E</c:v>
                  </c:pt>
                  <c:pt idx="4">
                    <c:v>2029E</c:v>
                  </c:pt>
                </c:lvl>
              </c:multiLvlStrCache>
            </c:multiLvlStrRef>
          </c:cat>
          <c:val>
            <c:numRef>
              <c:f>Sheet1!$B$2:$B$6</c:f>
              <c:numCache>
                <c:formatCode>General</c:formatCode>
                <c:ptCount val="5"/>
                <c:pt idx="0">
                  <c:v>10</c:v>
                </c:pt>
                <c:pt idx="1">
                  <c:v/>
                </c:pt>
                <c:pt idx="2">
                  <c:v/>
                </c:pt>
                <c:pt idx="3">
                  <c:v/>
                </c:pt>
                <c:pt idx="4">
                  <c:v/>
                </c:pt>
              </c:numCache>
            </c:numRef>
          </c:val>
        </c:ser>
        <c:ser>
          <c:idx val="1"/>
          <c:order val="1"/>
          <c:tx>
            <c:strRef>
              <c:f>Sheet1!$C$1</c:f>
              <c:strCache>
                <c:ptCount val="1"/>
                <c:pt idx="0">
                  <c:v>Projected</c:v>
                </c:pt>
              </c:strCache>
            </c:strRef>
          </c:tx>
          <c:spPr>
            <a:solidFill>
              <a:srgbClr val="44639A"/>
            </a:solidFill>
            <a:effectLst/>
          </c:spPr>
          <c:invertIfNegative val="0"/>
          <c:dLbls>
            <c:numFmt formatCode="General" sourceLinked="0"/>
            <c:txPr>
              <a:bodyPr/>
              <a:lstStyle/>
              <a:p>
                <a:pPr>
                  <a:defRPr b="1" i="0" strike="noStrike" sz="1000" u="none">
                    <a:solidFill>
                      <a:srgbClr val="FFFFFF"/>
                    </a:solidFill>
                    <a:latin typeface="Calibri"/>
                  </a:defRPr>
                </a:pPr>
              </a:p>
            </c:txPr>
            <c:dLblPos val="inEnd"/>
            <c:showLegendKey val="0"/>
            <c:showVal val="1"/>
            <c:showCatName val="0"/>
            <c:showSerName val="0"/>
            <c:showPercent val="0"/>
            <c:showBubbleSize val="0"/>
            <c:showLeaderLines val="0"/>
          </c:dLbls>
          <c:cat>
            <c:multiLvlStrRef>
              <c:f>Sheet1!$A$2:$A$6</c:f>
              <c:multiLvlStrCache>
                <c:ptCount val="5"/>
                <c:lvl>
                  <c:pt idx="0">
                    <c:v>2025E</c:v>
                  </c:pt>
                  <c:pt idx="1">
                    <c:v>2026E</c:v>
                  </c:pt>
                  <c:pt idx="2">
                    <c:v>2027E</c:v>
                  </c:pt>
                  <c:pt idx="3">
                    <c:v>2028E</c:v>
                  </c:pt>
                  <c:pt idx="4">
                    <c:v>2029E</c:v>
                  </c:pt>
                </c:lvl>
              </c:multiLvlStrCache>
            </c:multiLvlStrRef>
          </c:cat>
          <c:val>
            <c:numRef>
              <c:f>Sheet1!$C$2:$C$6</c:f>
              <c:numCache>
                <c:formatCode>General</c:formatCode>
                <c:ptCount val="5"/>
                <c:pt idx="0">
                  <c:v/>
                </c:pt>
                <c:pt idx="1">
                  <c:v>14.5</c:v>
                </c:pt>
                <c:pt idx="2">
                  <c:v>22.5</c:v>
                </c:pt>
                <c:pt idx="3">
                  <c:v>34</c:v>
                </c:pt>
                <c:pt idx="4">
                  <c:v>52</c:v>
                </c:pt>
              </c:numCache>
            </c:numRef>
          </c:val>
        </c:ser>
        <c:dLbls>
          <c:numFmt formatCode="General" sourceLinked="0"/>
          <c:txPr>
            <a:bodyPr/>
            <a:lstStyle/>
            <a:p>
              <a:pPr>
                <a:defRPr b="1" i="0" strike="noStrike" sz="1000" u="none">
                  <a:solidFill>
                    <a:srgbClr val="FFFFFF"/>
                  </a:solidFill>
                  <a:latin typeface="Calibri"/>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2DC"/>
            </a:solidFill>
            <a:prstDash val="solid"/>
            <a:round/>
          </a:ln>
        </c:spPr>
        <c:txPr>
          <a:bodyPr/>
          <a:lstStyle/>
          <a:p>
            <a:pPr>
              <a:defRPr sz="1100" b="0" i="0" u="none" strike="noStrike">
                <a:solidFill>
                  <a:srgbClr val="5A6B7E"/>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5A6B7E"/>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Use of Proceeds</c:v>
                </c:pt>
              </c:strCache>
            </c:strRef>
          </c:tx>
          <c:spPr>
            <a:solidFill>
              <a:schemeClr val="accent1"/>
            </a:solidFill>
            <a:ln w="9525" cap="flat">
              <a:solidFill>
                <a:srgbClr val="F9F9F9"/>
              </a:solidFill>
              <a:prstDash val="solid"/>
              <a:round/>
            </a:ln>
            <a:effectLst/>
          </c:spPr>
          <c:dPt>
            <c:idx val="0"/>
            <c:bubble3D val="0"/>
            <c:spPr>
              <a:solidFill>
                <a:srgbClr val="132A4F"/>
              </a:solidFill>
              <a:effectLst/>
            </c:spPr>
          </c:dPt>
          <c:dPt>
            <c:idx val="1"/>
            <c:bubble3D val="0"/>
            <c:spPr>
              <a:solidFill>
                <a:srgbClr val="3D5C8C"/>
              </a:solidFill>
              <a:effectLst/>
            </c:spPr>
          </c:dPt>
          <c:dPt>
            <c:idx val="2"/>
            <c:bubble3D val="0"/>
            <c:spPr>
              <a:solidFill>
                <a:srgbClr val="7C93B8"/>
              </a:solidFill>
              <a:effectLst/>
            </c:spPr>
          </c:dPt>
          <c:dPt>
            <c:idx val="3"/>
            <c:bubble3D val="0"/>
            <c:spPr>
              <a:solidFill>
                <a:srgbClr val="9A7B3F"/>
              </a:solidFill>
              <a:effectLst/>
            </c:spPr>
          </c:dPt>
          <c:dPt>
            <c:idx val="4"/>
            <c:bubble3D val="0"/>
            <c:spPr>
              <a:solidFill>
                <a:srgbClr val="5A6B7E"/>
              </a:solidFill>
              <a:effectLst/>
            </c:spPr>
          </c:dPt>
          <c:dLbls>
            <c:dLbl>
              <c:idx val="0"/>
              <c:numFmt formatCode="0%" sourceLinked="0"/>
              <c:spPr/>
              <c:txPr>
                <a:bodyPr/>
                <a:lstStyle/>
                <a:p>
                  <a:pPr>
                    <a:defRPr sz="1000" b="1" i="0" u="none" strike="noStrike">
                      <a:solidFill>
                        <a:srgbClr val="FFFFFF"/>
                      </a:solidFill>
                      <a:latin typeface="Calibri"/>
                    </a:defRPr>
                  </a:pPr>
                </a:p>
              </c:txPr>
              <c:showLegendKey val="0"/>
              <c:showVal val="0"/>
              <c:showCatName val="0"/>
              <c:showSerName val="0"/>
              <c:showPercent val="1"/>
              <c:showBubbleSize val="0"/>
            </c:dLbl>
            <c:dLbl>
              <c:idx val="1"/>
              <c:numFmt formatCode="0%" sourceLinked="0"/>
              <c:spPr/>
              <c:txPr>
                <a:bodyPr/>
                <a:lstStyle/>
                <a:p>
                  <a:pPr>
                    <a:defRPr sz="1000" b="1" i="0" u="none" strike="noStrike">
                      <a:solidFill>
                        <a:srgbClr val="FFFFFF"/>
                      </a:solidFill>
                      <a:latin typeface="Calibri"/>
                    </a:defRPr>
                  </a:pPr>
                </a:p>
              </c:txPr>
              <c:showLegendKey val="0"/>
              <c:showVal val="0"/>
              <c:showCatName val="0"/>
              <c:showSerName val="0"/>
              <c:showPercent val="1"/>
              <c:showBubbleSize val="0"/>
            </c:dLbl>
            <c:dLbl>
              <c:idx val="2"/>
              <c:numFmt formatCode="0%" sourceLinked="0"/>
              <c:spPr/>
              <c:txPr>
                <a:bodyPr/>
                <a:lstStyle/>
                <a:p>
                  <a:pPr>
                    <a:defRPr sz="1000" b="1" i="0" u="none" strike="noStrike">
                      <a:solidFill>
                        <a:srgbClr val="FFFFFF"/>
                      </a:solidFill>
                      <a:latin typeface="Calibri"/>
                    </a:defRPr>
                  </a:pPr>
                </a:p>
              </c:txPr>
              <c:showLegendKey val="0"/>
              <c:showVal val="0"/>
              <c:showCatName val="0"/>
              <c:showSerName val="0"/>
              <c:showPercent val="1"/>
              <c:showBubbleSize val="0"/>
            </c:dLbl>
            <c:dLbl>
              <c:idx val="3"/>
              <c:numFmt formatCode="0%" sourceLinked="0"/>
              <c:spPr/>
              <c:txPr>
                <a:bodyPr/>
                <a:lstStyle/>
                <a:p>
                  <a:pPr>
                    <a:defRPr sz="1000" b="1" i="0" u="none" strike="noStrike">
                      <a:solidFill>
                        <a:srgbClr val="FFFFFF"/>
                      </a:solidFill>
                      <a:latin typeface="Calibri"/>
                    </a:defRPr>
                  </a:pPr>
                </a:p>
              </c:txPr>
              <c:showLegendKey val="0"/>
              <c:showVal val="0"/>
              <c:showCatName val="0"/>
              <c:showSerName val="0"/>
              <c:showPercent val="1"/>
              <c:showBubbleSize val="0"/>
            </c:dLbl>
            <c:dLbl>
              <c:idx val="4"/>
              <c:numFmt formatCode="0%" sourceLinked="0"/>
              <c:spPr/>
              <c:txPr>
                <a:bodyPr/>
                <a:lstStyle/>
                <a:p>
                  <a:pPr>
                    <a:defRPr sz="1000" b="1" i="0" u="none" strike="noStrike">
                      <a:solidFill>
                        <a:srgbClr val="FFFFFF"/>
                      </a:solidFill>
                      <a:latin typeface="Calibri"/>
                    </a:defRPr>
                  </a:pPr>
                </a:p>
              </c:txPr>
              <c:showLegendKey val="0"/>
              <c:showVal val="0"/>
              <c:showCatName val="0"/>
              <c:showSerName val="0"/>
              <c:showPercent val="1"/>
              <c:showBubbleSize val="0"/>
            </c:dLbl>
            <c:numFmt formatCode="0%"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Advertising &amp; marketing</c:v>
                </c:pt>
                <c:pt idx="1">
                  <c:v>Talent &amp; personnel</c:v>
                </c:pt>
                <c:pt idx="2">
                  <c:v>Product, expansion &amp; reserves</c:v>
                </c:pt>
              </c:strCache>
            </c:strRef>
          </c:cat>
          <c:val>
            <c:numRef>
              <c:f>Sheet1!$B$2:$B$4</c:f>
              <c:numCache>
                <c:formatCode>General</c:formatCode>
                <c:ptCount val="3"/>
                <c:pt idx="0">
                  <c:v>40.0</c:v>
                </c:pt>
                <c:pt idx="1">
                  <c:v>25.5</c:v>
                </c:pt>
                <c:pt idx="2">
                  <c:v>34.5</c:v>
                </c:pt>
              </c:numCache>
            </c:numRef>
          </c:val>
        </c:ser>
        <c:firstSliceAng val="0"/>
        <c:holeSize val="62"/>
      </c:doughnutChart>
      <c:spPr>
        <a:noFill/>
        <a:ln>
          <a:noFill/>
        </a:ln>
        <a:effectLst/>
      </c:spPr>
    </c:plotArea>
    <c:legend>
      <c:legendPos val="r"/>
      <c:overlay val="0"/>
      <c:txPr>
        <a:bodyPr/>
        <a:lstStyle/>
        <a:p>
          <a:pPr>
            <a:defRPr sz="1000">
              <a:solidFill>
                <a:srgbClr val="1C2733"/>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183880" y="0"/>
            <a:ext cx="4007815" cy="6858000"/>
          </a:xfrm>
          <a:prstGeom prst="rect">
            <a:avLst/>
          </a:prstGeom>
          <a:solidFill>
            <a:srgbClr val="F3F6F9"/>
          </a:solidFill>
          <a:ln/>
        </p:spPr>
      </p:sp>
      <p:sp>
        <p:nvSpPr>
          <p:cNvPr id="3" name="Text 1"/>
          <p:cNvSpPr/>
          <p:nvPr/>
        </p:nvSpPr>
        <p:spPr>
          <a:xfrm>
            <a:off x="8732520" y="1188720"/>
            <a:ext cx="3017520" cy="658368"/>
          </a:xfrm>
          <a:prstGeom prst="rect">
            <a:avLst/>
          </a:prstGeom>
          <a:noFill/>
          <a:ln/>
        </p:spPr>
        <p:txBody>
          <a:bodyPr wrap="square" lIns="0" tIns="0" rIns="0" bIns="0" rtlCol="0" anchor="ctr"/>
          <a:lstStyle/>
          <a:p>
            <a:pPr indent="0" marL="0">
              <a:buNone/>
            </a:pPr>
            <a:r>
              <a:rPr lang="en-US" sz="3800" b="1" dirty="0">
                <a:solidFill>
                  <a:srgbClr val="132A4F"/>
                </a:solidFill>
                <a:latin typeface="Century Schoolbook" pitchFamily="34" charset="0"/>
                <a:ea typeface="Century Schoolbook" pitchFamily="34" charset="-122"/>
                <a:cs typeface="Century Schoolbook" pitchFamily="34" charset="-120"/>
              </a:rPr>
              <a:t>2016</a:t>
            </a:r>
            <a:endParaRPr lang="en-US" sz="3800" dirty="0"/>
          </a:p>
        </p:txBody>
      </p:sp>
      <p:sp>
        <p:nvSpPr>
          <p:cNvPr id="4" name="Text 2"/>
          <p:cNvSpPr/>
          <p:nvPr/>
        </p:nvSpPr>
        <p:spPr>
          <a:xfrm>
            <a:off x="8732520" y="1865376"/>
            <a:ext cx="3017520" cy="475488"/>
          </a:xfrm>
          <a:prstGeom prst="rect">
            <a:avLst/>
          </a:prstGeom>
          <a:noFill/>
          <a:ln/>
        </p:spPr>
        <p:txBody>
          <a:bodyPr wrap="square" lIns="0" tIns="0" rIns="0" bIns="0" rtlCol="0" anchor="ctr"/>
          <a:lstStyle/>
          <a:p>
            <a:pPr indent="0" marL="0">
              <a:lnSpc>
                <a:spcPts val="1200"/>
              </a:lnSpc>
              <a:buNone/>
            </a:pPr>
            <a:r>
              <a:rPr lang="en-US" sz="850" spc="150" kern="0" dirty="0">
                <a:solidFill>
                  <a:srgbClr val="5A6B7E"/>
                </a:solidFill>
                <a:latin typeface="Calibri" pitchFamily="34" charset="0"/>
                <a:ea typeface="Calibri" pitchFamily="34" charset="-122"/>
                <a:cs typeface="Calibri" pitchFamily="34" charset="-120"/>
              </a:rPr>
              <a:t>FOUNDED · NEW YORK CITY</a:t>
            </a:r>
            <a:endParaRPr lang="en-US" sz="850" dirty="0"/>
          </a:p>
        </p:txBody>
      </p:sp>
      <p:sp>
        <p:nvSpPr>
          <p:cNvPr id="5" name="Text 3"/>
          <p:cNvSpPr/>
          <p:nvPr/>
        </p:nvSpPr>
        <p:spPr>
          <a:xfrm>
            <a:off x="8732520" y="2926080"/>
            <a:ext cx="3017520" cy="658368"/>
          </a:xfrm>
          <a:prstGeom prst="rect">
            <a:avLst/>
          </a:prstGeom>
          <a:noFill/>
          <a:ln/>
        </p:spPr>
        <p:txBody>
          <a:bodyPr wrap="square" lIns="0" tIns="0" rIns="0" bIns="0" rtlCol="0" anchor="ctr"/>
          <a:lstStyle/>
          <a:p>
            <a:pPr indent="0" marL="0">
              <a:buNone/>
            </a:pPr>
            <a:r>
              <a:rPr lang="en-US" sz="3800" b="1" dirty="0">
                <a:solidFill>
                  <a:srgbClr val="132A4F"/>
                </a:solidFill>
                <a:latin typeface="Century Schoolbook" pitchFamily="34" charset="0"/>
                <a:ea typeface="Century Schoolbook" pitchFamily="34" charset="-122"/>
                <a:cs typeface="Century Schoolbook" pitchFamily="34" charset="-120"/>
              </a:rPr>
              <a:t>8+</a:t>
            </a:r>
            <a:endParaRPr lang="en-US" sz="3800" dirty="0"/>
          </a:p>
        </p:txBody>
      </p:sp>
      <p:sp>
        <p:nvSpPr>
          <p:cNvPr id="6" name="Text 4"/>
          <p:cNvSpPr/>
          <p:nvPr/>
        </p:nvSpPr>
        <p:spPr>
          <a:xfrm>
            <a:off x="8732520" y="3602736"/>
            <a:ext cx="3017520" cy="475488"/>
          </a:xfrm>
          <a:prstGeom prst="rect">
            <a:avLst/>
          </a:prstGeom>
          <a:noFill/>
          <a:ln/>
        </p:spPr>
        <p:txBody>
          <a:bodyPr wrap="square" lIns="0" tIns="0" rIns="0" bIns="0" rtlCol="0" anchor="ctr"/>
          <a:lstStyle/>
          <a:p>
            <a:pPr indent="0" marL="0">
              <a:lnSpc>
                <a:spcPts val="1200"/>
              </a:lnSpc>
              <a:buNone/>
            </a:pPr>
            <a:r>
              <a:rPr lang="en-US" sz="850" spc="150" kern="0" dirty="0">
                <a:solidFill>
                  <a:srgbClr val="5A6B7E"/>
                </a:solidFill>
                <a:latin typeface="Calibri" pitchFamily="34" charset="0"/>
                <a:ea typeface="Calibri" pitchFamily="34" charset="-122"/>
                <a:cs typeface="Calibri" pitchFamily="34" charset="-120"/>
              </a:rPr>
              <a:t>COUNTRIES OF OPERATION</a:t>
            </a:r>
            <a:endParaRPr lang="en-US" sz="850" dirty="0"/>
          </a:p>
        </p:txBody>
      </p:sp>
      <p:sp>
        <p:nvSpPr>
          <p:cNvPr id="7" name="Text 5"/>
          <p:cNvSpPr/>
          <p:nvPr/>
        </p:nvSpPr>
        <p:spPr>
          <a:xfrm>
            <a:off x="8732520" y="4663440"/>
            <a:ext cx="3017520" cy="658368"/>
          </a:xfrm>
          <a:prstGeom prst="rect">
            <a:avLst/>
          </a:prstGeom>
          <a:noFill/>
          <a:ln/>
        </p:spPr>
        <p:txBody>
          <a:bodyPr wrap="square" lIns="0" tIns="0" rIns="0" bIns="0" rtlCol="0" anchor="ctr"/>
          <a:lstStyle/>
          <a:p>
            <a:pPr indent="0" marL="0">
              <a:buNone/>
            </a:pPr>
            <a:r>
              <a:rPr lang="en-US" sz="3800" b="1" dirty="0">
                <a:solidFill>
                  <a:srgbClr val="132A4F"/>
                </a:solidFill>
                <a:latin typeface="Century Schoolbook" pitchFamily="34" charset="0"/>
                <a:ea typeface="Century Schoolbook" pitchFamily="34" charset="-122"/>
                <a:cs typeface="Century Schoolbook" pitchFamily="34" charset="-120"/>
              </a:rPr>
              <a:t>US$10M+</a:t>
            </a:r>
            <a:endParaRPr lang="en-US" sz="3800" dirty="0"/>
          </a:p>
        </p:txBody>
      </p:sp>
      <p:sp>
        <p:nvSpPr>
          <p:cNvPr id="8" name="Text 6"/>
          <p:cNvSpPr/>
          <p:nvPr/>
        </p:nvSpPr>
        <p:spPr>
          <a:xfrm>
            <a:off x="8732520" y="5340096"/>
            <a:ext cx="3017520" cy="475488"/>
          </a:xfrm>
          <a:prstGeom prst="rect">
            <a:avLst/>
          </a:prstGeom>
          <a:noFill/>
          <a:ln/>
        </p:spPr>
        <p:txBody>
          <a:bodyPr wrap="square" lIns="0" tIns="0" rIns="0" bIns="0" rtlCol="0" anchor="ctr"/>
          <a:lstStyle/>
          <a:p>
            <a:pPr indent="0" marL="0">
              <a:lnSpc>
                <a:spcPts val="1200"/>
              </a:lnSpc>
              <a:buNone/>
            </a:pPr>
            <a:r>
              <a:rPr lang="en-US" sz="850" spc="150" kern="0" dirty="0">
                <a:solidFill>
                  <a:srgbClr val="5A6B7E"/>
                </a:solidFill>
                <a:latin typeface="Calibri" pitchFamily="34" charset="0"/>
                <a:ea typeface="Calibri" pitchFamily="34" charset="-122"/>
                <a:cs typeface="Calibri" pitchFamily="34" charset="-120"/>
              </a:rPr>
              <a:t>ANNUAL REVENUE (EST.)†</a:t>
            </a:r>
            <a:endParaRPr lang="en-US" sz="850" dirty="0"/>
          </a:p>
        </p:txBody>
      </p:sp>
      <p:sp>
        <p:nvSpPr>
          <p:cNvPr id="9" name="Text 7"/>
          <p:cNvSpPr/>
          <p:nvPr/>
        </p:nvSpPr>
        <p:spPr>
          <a:xfrm>
            <a:off x="8732520" y="6263640"/>
            <a:ext cx="3017520" cy="228600"/>
          </a:xfrm>
          <a:prstGeom prst="rect">
            <a:avLst/>
          </a:prstGeom>
          <a:noFill/>
          <a:ln/>
        </p:spPr>
        <p:txBody>
          <a:bodyPr wrap="square" lIns="0" tIns="0" rIns="0" bIns="0" rtlCol="0" anchor="ctr"/>
          <a:lstStyle/>
          <a:p>
            <a:pPr indent="0" marL="0">
              <a:buNone/>
            </a:pPr>
            <a:r>
              <a:rPr lang="en-US" sz="750" i="1" dirty="0">
                <a:solidFill>
                  <a:srgbClr val="5A6B7E"/>
                </a:solidFill>
                <a:latin typeface="Calibri" pitchFamily="34" charset="0"/>
                <a:ea typeface="Calibri" pitchFamily="34" charset="-122"/>
                <a:cs typeface="Calibri" pitchFamily="34" charset="-120"/>
              </a:rPr>
              <a:t>† Third-party estimates; see p.9</a:t>
            </a:r>
            <a:endParaRPr lang="en-US" sz="750" dirty="0"/>
          </a:p>
        </p:txBody>
      </p:sp>
      <p:sp>
        <p:nvSpPr>
          <p:cNvPr id="10" name="Text 8"/>
          <p:cNvSpPr/>
          <p:nvPr/>
        </p:nvSpPr>
        <p:spPr>
          <a:xfrm>
            <a:off x="566928" y="914400"/>
            <a:ext cx="7132320" cy="274320"/>
          </a:xfrm>
          <a:prstGeom prst="rect">
            <a:avLst/>
          </a:prstGeom>
          <a:noFill/>
          <a:ln/>
        </p:spPr>
        <p:txBody>
          <a:bodyPr wrap="square" lIns="0" tIns="0" rIns="0" bIns="0" rtlCol="0" anchor="ctr"/>
          <a:lstStyle/>
          <a:p>
            <a:pPr indent="0" marL="0">
              <a:buNone/>
            </a:pPr>
            <a:r>
              <a:rPr lang="en-US" sz="1000" b="1" spc="400" kern="0" dirty="0">
                <a:solidFill>
                  <a:srgbClr val="9A7B3F"/>
                </a:solidFill>
                <a:latin typeface="Calibri" pitchFamily="34" charset="0"/>
                <a:ea typeface="Calibri" pitchFamily="34" charset="-122"/>
                <a:cs typeface="Calibri" pitchFamily="34" charset="-120"/>
              </a:rPr>
              <a:t>CONFIDENTIAL INVESTOR PRESENTATION</a:t>
            </a:r>
            <a:endParaRPr lang="en-US" sz="1000" dirty="0"/>
          </a:p>
        </p:txBody>
      </p:sp>
      <p:sp>
        <p:nvSpPr>
          <p:cNvPr id="11" name="Text 9"/>
          <p:cNvSpPr/>
          <p:nvPr/>
        </p:nvSpPr>
        <p:spPr>
          <a:xfrm>
            <a:off x="566928" y="1965960"/>
            <a:ext cx="7406640" cy="868680"/>
          </a:xfrm>
          <a:prstGeom prst="rect">
            <a:avLst/>
          </a:prstGeom>
          <a:noFill/>
          <a:ln/>
        </p:spPr>
        <p:txBody>
          <a:bodyPr wrap="square" lIns="0" tIns="0" rIns="0" bIns="0" rtlCol="0" anchor="ctr"/>
          <a:lstStyle/>
          <a:p>
            <a:pPr indent="0" marL="0">
              <a:buNone/>
            </a:pPr>
            <a:r>
              <a:rPr lang="en-US" sz="4600" b="1" dirty="0">
                <a:solidFill>
                  <a:srgbClr val="132A4F"/>
                </a:solidFill>
                <a:latin typeface="Century Schoolbook" pitchFamily="34" charset="0"/>
                <a:ea typeface="Century Schoolbook" pitchFamily="34" charset="-122"/>
                <a:cs typeface="Century Schoolbook" pitchFamily="34" charset="-120"/>
              </a:rPr>
              <a:t>51CAREERS</a:t>
            </a:r>
            <a:pPr indent="0" marL="0">
              <a:buNone/>
            </a:pPr>
            <a:r>
              <a:rPr lang="en-US" sz="4600" b="1" dirty="0">
                <a:solidFill>
                  <a:srgbClr val="9A7B3F"/>
                </a:solidFill>
                <a:latin typeface="Century Schoolbook" pitchFamily="34" charset="0"/>
                <a:ea typeface="Century Schoolbook" pitchFamily="34" charset="-122"/>
                <a:cs typeface="Century Schoolbook" pitchFamily="34" charset="-120"/>
              </a:rPr>
              <a:t>.AI</a:t>
            </a:r>
            <a:endParaRPr lang="en-US" sz="4600" dirty="0"/>
          </a:p>
        </p:txBody>
      </p:sp>
      <p:sp>
        <p:nvSpPr>
          <p:cNvPr id="12" name="Text 10"/>
          <p:cNvSpPr/>
          <p:nvPr/>
        </p:nvSpPr>
        <p:spPr>
          <a:xfrm>
            <a:off x="566928" y="2907792"/>
            <a:ext cx="7315200" cy="365760"/>
          </a:xfrm>
          <a:prstGeom prst="rect">
            <a:avLst/>
          </a:prstGeom>
          <a:noFill/>
          <a:ln/>
        </p:spPr>
        <p:txBody>
          <a:bodyPr wrap="square" lIns="0" tIns="0" rIns="0" bIns="0" rtlCol="0" anchor="ctr"/>
          <a:lstStyle/>
          <a:p>
            <a:pPr indent="0" marL="0">
              <a:buNone/>
            </a:pPr>
            <a:r>
              <a:rPr lang="en-US" sz="1600" dirty="0">
                <a:solidFill>
                  <a:srgbClr val="5A6B7E"/>
                </a:solidFill>
                <a:latin typeface="Calibri" pitchFamily="34" charset="0"/>
                <a:ea typeface="Calibri" pitchFamily="34" charset="-122"/>
                <a:cs typeface="Calibri" pitchFamily="34" charset="-120"/>
              </a:rPr>
              <a:t>The AI-Powered Global Career Platform</a:t>
            </a:r>
            <a:endParaRPr lang="en-US" sz="1600" dirty="0"/>
          </a:p>
        </p:txBody>
      </p:sp>
      <p:sp>
        <p:nvSpPr>
          <p:cNvPr id="13" name="Text 11"/>
          <p:cNvSpPr/>
          <p:nvPr/>
        </p:nvSpPr>
        <p:spPr>
          <a:xfrm>
            <a:off x="566928" y="4160520"/>
            <a:ext cx="7132320" cy="310896"/>
          </a:xfrm>
          <a:prstGeom prst="rect">
            <a:avLst/>
          </a:prstGeom>
          <a:noFill/>
          <a:ln/>
        </p:spPr>
        <p:txBody>
          <a:bodyPr wrap="square" lIns="0" tIns="0" rIns="0" bIns="0" rtlCol="0" anchor="ctr"/>
          <a:lstStyle/>
          <a:p>
            <a:pPr indent="0" marL="0">
              <a:buNone/>
            </a:pPr>
            <a:r>
              <a:rPr lang="en-US" sz="1350" b="1" dirty="0">
                <a:solidFill>
                  <a:srgbClr val="1C2733"/>
                </a:solidFill>
                <a:latin typeface="Calibri" pitchFamily="34" charset="0"/>
                <a:ea typeface="Calibri" pitchFamily="34" charset="-122"/>
                <a:cs typeface="Calibri" pitchFamily="34" charset="-120"/>
              </a:rPr>
              <a:t>Growth Financing  ·  RMB 200 Million Valuation</a:t>
            </a:r>
            <a:endParaRPr lang="en-US" sz="1350" dirty="0"/>
          </a:p>
        </p:txBody>
      </p:sp>
      <p:sp>
        <p:nvSpPr>
          <p:cNvPr id="14" name="Text 12"/>
          <p:cNvSpPr/>
          <p:nvPr/>
        </p:nvSpPr>
        <p:spPr>
          <a:xfrm>
            <a:off x="566928" y="4498848"/>
            <a:ext cx="7132320" cy="292608"/>
          </a:xfrm>
          <a:prstGeom prst="rect">
            <a:avLst/>
          </a:prstGeom>
          <a:noFill/>
          <a:ln/>
        </p:spPr>
        <p:txBody>
          <a:bodyPr wrap="square" lIns="0" tIns="0" rIns="0" bIns="0" rtlCol="0" anchor="ctr"/>
          <a:lstStyle/>
          <a:p>
            <a:pPr indent="0" marL="0">
              <a:buNone/>
            </a:pPr>
            <a:r>
              <a:rPr lang="en-US" sz="1200" dirty="0">
                <a:solidFill>
                  <a:srgbClr val="5A6B7E"/>
                </a:solidFill>
                <a:latin typeface="Calibri" pitchFamily="34" charset="0"/>
                <a:ea typeface="Calibri" pitchFamily="34" charset="-122"/>
                <a:cs typeface="Calibri" pitchFamily="34" charset="-120"/>
              </a:rPr>
              <a:t>RMB 20 Million Raise (10%)   ·   ≈ US$2.97 Million   ·   July 2026</a:t>
            </a:r>
            <a:endParaRPr lang="en-US" sz="1200" dirty="0"/>
          </a:p>
        </p:txBody>
      </p:sp>
      <p:sp>
        <p:nvSpPr>
          <p:cNvPr id="15" name="Text 13"/>
          <p:cNvSpPr/>
          <p:nvPr/>
        </p:nvSpPr>
        <p:spPr>
          <a:xfrm>
            <a:off x="566928" y="6263640"/>
            <a:ext cx="7406640" cy="256032"/>
          </a:xfrm>
          <a:prstGeom prst="rect">
            <a:avLst/>
          </a:prstGeom>
          <a:noFill/>
          <a:ln/>
        </p:spPr>
        <p:txBody>
          <a:bodyPr wrap="square" lIns="0" tIns="0" rIns="0" bIns="0" rtlCol="0" anchor="ctr"/>
          <a:lstStyle/>
          <a:p>
            <a:pPr indent="0" marL="0">
              <a:buNone/>
            </a:pPr>
            <a:r>
              <a:rPr lang="en-US" sz="850" spc="200" kern="0" dirty="0">
                <a:solidFill>
                  <a:srgbClr val="5A6B7E"/>
                </a:solidFill>
                <a:latin typeface="Calibri" pitchFamily="34" charset="0"/>
                <a:ea typeface="Calibri" pitchFamily="34" charset="-122"/>
                <a:cs typeface="Calibri" pitchFamily="34" charset="-120"/>
              </a:rPr>
              <a:t>NEW YORK  ·  SHANGHAI  ·  LONDON  ·  SINGAPORE  ·  SEOUL  ·  TORONTO  ·  DELHI</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IMPORTANT NOTICE</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Disclaimer</a:t>
            </a:r>
            <a:endParaRPr lang="en-US" sz="3000" dirty="0"/>
          </a:p>
        </p:txBody>
      </p:sp>
      <p:sp>
        <p:nvSpPr>
          <p:cNvPr id="4" name="Text 2"/>
          <p:cNvSpPr/>
          <p:nvPr/>
        </p:nvSpPr>
        <p:spPr>
          <a:xfrm>
            <a:off x="566928" y="1691640"/>
            <a:ext cx="10241280" cy="4023360"/>
          </a:xfrm>
          <a:prstGeom prst="rect">
            <a:avLst/>
          </a:prstGeom>
          <a:noFill/>
          <a:ln/>
        </p:spPr>
        <p:txBody>
          <a:bodyPr wrap="square" lIns="0" tIns="0" rIns="0" bIns="0" rtlCol="0" anchor="t"/>
          <a:lstStyle/>
          <a:p>
            <a:pPr indent="0" marL="0">
              <a:lnSpc>
                <a:spcPts val="1650"/>
              </a:lnSpc>
              <a:spcAft>
                <a:spcPts val="1200"/>
              </a:spcAft>
              <a:buNone/>
            </a:pPr>
            <a:r>
              <a:rPr lang="en-US" sz="1050" dirty="0">
                <a:solidFill>
                  <a:srgbClr val="5A6B7E"/>
                </a:solidFill>
                <a:latin typeface="Calibri" pitchFamily="34" charset="0"/>
                <a:ea typeface="Calibri" pitchFamily="34" charset="-122"/>
                <a:cs typeface="Calibri" pitchFamily="34" charset="-120"/>
              </a:rPr>
              <a:t>This presentation has been prepared by 51 Careers Inc. and its affiliates (together, “51Careers.AI” or the “Company”) solely for informational purposes in connection with a proposed private financing. It is confidential and intended exclusively for the named recipient; it may not be reproduced, distributed, or disclosed, in whole or in part, without the Company’s prior written consent.</a:t>
            </a:r>
            <a:endParaRPr lang="en-US" sz="1050" dirty="0"/>
          </a:p>
          <a:p>
            <a:pPr indent="0" marL="0">
              <a:lnSpc>
                <a:spcPts val="1650"/>
              </a:lnSpc>
              <a:spcAft>
                <a:spcPts val="1200"/>
              </a:spcAft>
              <a:buNone/>
            </a:pPr>
            <a:r>
              <a:rPr lang="en-US" sz="1050" dirty="0">
                <a:solidFill>
                  <a:srgbClr val="5A6B7E"/>
                </a:solidFill>
                <a:latin typeface="Calibri" pitchFamily="34" charset="0"/>
                <a:ea typeface="Calibri" pitchFamily="34" charset="-122"/>
                <a:cs typeface="Calibri" pitchFamily="34" charset="-120"/>
              </a:rPr>
              <a:t>This document does not constitute an offer to sell, or a solicitation of an offer to buy, any securities in any jurisdiction. Any such offer will be made only pursuant to definitive documentation and only to qualified investors in compliance with applicable securities laws.</a:t>
            </a:r>
            <a:endParaRPr lang="en-US" sz="1050" dirty="0"/>
          </a:p>
          <a:p>
            <a:pPr indent="0" marL="0">
              <a:lnSpc>
                <a:spcPts val="1650"/>
              </a:lnSpc>
              <a:spcAft>
                <a:spcPts val="1200"/>
              </a:spcAft>
              <a:buNone/>
            </a:pPr>
            <a:r>
              <a:rPr lang="en-US" sz="1050" dirty="0">
                <a:solidFill>
                  <a:srgbClr val="5A6B7E"/>
                </a:solidFill>
                <a:latin typeface="Calibri" pitchFamily="34" charset="0"/>
                <a:ea typeface="Calibri" pitchFamily="34" charset="-122"/>
                <a:cs typeface="Calibri" pitchFamily="34" charset="-120"/>
              </a:rPr>
              <a:t>Certain statements herein are forward-looking and reflect current expectations of management. Such statements involve known and unknown risks and uncertainties, and actual results may differ materially. Certain market, operating, and financial figures are estimates — including third-party estimates — presented for illustration only and remain subject to confirmation in due diligence. No representation or warranty, express or implied, is made as to the accuracy or completeness of the information contained herein, and nothing herein constitutes legal, tax, financial, or investment advice. Recipients should conduct their own independent investigation and analysis.</a:t>
            </a:r>
            <a:endParaRPr lang="en-US" sz="1050" dirty="0"/>
          </a:p>
        </p:txBody>
      </p:sp>
      <p:sp>
        <p:nvSpPr>
          <p:cNvPr id="5" name="Text 3"/>
          <p:cNvSpPr/>
          <p:nvPr/>
        </p:nvSpPr>
        <p:spPr>
          <a:xfrm>
            <a:off x="566928" y="5897880"/>
            <a:ext cx="7315200" cy="256032"/>
          </a:xfrm>
          <a:prstGeom prst="rect">
            <a:avLst/>
          </a:prstGeom>
          <a:noFill/>
          <a:ln/>
        </p:spPr>
        <p:txBody>
          <a:bodyPr wrap="square" lIns="0" tIns="0" rIns="0" bIns="0" rtlCol="0" anchor="ctr"/>
          <a:lstStyle/>
          <a:p>
            <a:pPr indent="0" marL="0">
              <a:buNone/>
            </a:pPr>
            <a:r>
              <a:rPr lang="en-US" sz="950" i="1" dirty="0">
                <a:solidFill>
                  <a:srgbClr val="5A6B7E"/>
                </a:solidFill>
                <a:latin typeface="Calibri" pitchFamily="34" charset="0"/>
                <a:ea typeface="Calibri" pitchFamily="34" charset="-122"/>
                <a:cs typeface="Calibri" pitchFamily="34" charset="-120"/>
              </a:rPr>
              <a:t>Prepared by 51Careers.AI — July 2026</a:t>
            </a:r>
            <a:endParaRPr lang="en-US" sz="950" dirty="0"/>
          </a:p>
        </p:txBody>
      </p:sp>
      <p:sp>
        <p:nvSpPr>
          <p:cNvPr id="6" name="Text 4"/>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7" name="Text 5"/>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EXECUTIVE SUMMARY</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Investment Highlights</a:t>
            </a:r>
            <a:endParaRPr lang="en-US" sz="3000" dirty="0"/>
          </a:p>
        </p:txBody>
      </p:sp>
      <p:sp>
        <p:nvSpPr>
          <p:cNvPr id="4" name="Text 2"/>
          <p:cNvSpPr/>
          <p:nvPr/>
        </p:nvSpPr>
        <p:spPr>
          <a:xfrm>
            <a:off x="566928" y="1691640"/>
            <a:ext cx="914400" cy="384048"/>
          </a:xfrm>
          <a:prstGeom prst="rect">
            <a:avLst/>
          </a:prstGeom>
          <a:noFill/>
          <a:ln/>
        </p:spPr>
        <p:txBody>
          <a:bodyPr wrap="square" lIns="0" tIns="0" rIns="0" bIns="0" rtlCol="0" anchor="ctr"/>
          <a:lstStyle/>
          <a:p>
            <a:pPr indent="0" marL="0">
              <a:buNone/>
            </a:pPr>
            <a:r>
              <a:rPr lang="en-US" sz="2000" b="1" dirty="0">
                <a:solidFill>
                  <a:srgbClr val="9A7B3F"/>
                </a:solidFill>
                <a:latin typeface="Century Schoolbook" pitchFamily="34" charset="0"/>
                <a:ea typeface="Century Schoolbook" pitchFamily="34" charset="-122"/>
                <a:cs typeface="Century Schoolbook" pitchFamily="34" charset="-120"/>
              </a:rPr>
              <a:t>01</a:t>
            </a:r>
            <a:endParaRPr lang="en-US" sz="2000" dirty="0"/>
          </a:p>
        </p:txBody>
      </p:sp>
      <p:sp>
        <p:nvSpPr>
          <p:cNvPr id="5" name="Text 3"/>
          <p:cNvSpPr/>
          <p:nvPr/>
        </p:nvSpPr>
        <p:spPr>
          <a:xfrm>
            <a:off x="566928" y="2112264"/>
            <a:ext cx="3520440" cy="292608"/>
          </a:xfrm>
          <a:prstGeom prst="rect">
            <a:avLst/>
          </a:prstGeom>
          <a:noFill/>
          <a:ln/>
        </p:spPr>
        <p:txBody>
          <a:bodyPr wrap="square" lIns="0" tIns="0" rIns="0" bIns="0" rtlCol="0" anchor="ctr"/>
          <a:lstStyle/>
          <a:p>
            <a:pPr indent="0" marL="0">
              <a:buNone/>
            </a:pPr>
            <a:r>
              <a:rPr lang="en-US" sz="1350" b="1" dirty="0">
                <a:solidFill>
                  <a:srgbClr val="1C2733"/>
                </a:solidFill>
                <a:latin typeface="Calibri" pitchFamily="34" charset="0"/>
                <a:ea typeface="Calibri" pitchFamily="34" charset="-122"/>
                <a:cs typeface="Calibri" pitchFamily="34" charset="-120"/>
              </a:rPr>
              <a:t>Large &amp; Expanding Market</a:t>
            </a:r>
            <a:endParaRPr lang="en-US" sz="1350" dirty="0"/>
          </a:p>
        </p:txBody>
      </p:sp>
      <p:sp>
        <p:nvSpPr>
          <p:cNvPr id="6" name="Text 4"/>
          <p:cNvSpPr/>
          <p:nvPr/>
        </p:nvSpPr>
        <p:spPr>
          <a:xfrm>
            <a:off x="566928" y="2441448"/>
            <a:ext cx="3520440" cy="137160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Global recruitment and career-development spend exceeds US$200B, with AI-enabled segments compounding at double-digit rates.</a:t>
            </a:r>
            <a:endParaRPr lang="en-US" sz="1050" dirty="0"/>
          </a:p>
        </p:txBody>
      </p:sp>
      <p:sp>
        <p:nvSpPr>
          <p:cNvPr id="7" name="Text 5"/>
          <p:cNvSpPr/>
          <p:nvPr/>
        </p:nvSpPr>
        <p:spPr>
          <a:xfrm>
            <a:off x="4343400" y="1691640"/>
            <a:ext cx="914400" cy="384048"/>
          </a:xfrm>
          <a:prstGeom prst="rect">
            <a:avLst/>
          </a:prstGeom>
          <a:noFill/>
          <a:ln/>
        </p:spPr>
        <p:txBody>
          <a:bodyPr wrap="square" lIns="0" tIns="0" rIns="0" bIns="0" rtlCol="0" anchor="ctr"/>
          <a:lstStyle/>
          <a:p>
            <a:pPr indent="0" marL="0">
              <a:buNone/>
            </a:pPr>
            <a:r>
              <a:rPr lang="en-US" sz="2000" b="1" dirty="0">
                <a:solidFill>
                  <a:srgbClr val="9A7B3F"/>
                </a:solidFill>
                <a:latin typeface="Century Schoolbook" pitchFamily="34" charset="0"/>
                <a:ea typeface="Century Schoolbook" pitchFamily="34" charset="-122"/>
                <a:cs typeface="Century Schoolbook" pitchFamily="34" charset="-120"/>
              </a:rPr>
              <a:t>02</a:t>
            </a:r>
            <a:endParaRPr lang="en-US" sz="2000" dirty="0"/>
          </a:p>
        </p:txBody>
      </p:sp>
      <p:sp>
        <p:nvSpPr>
          <p:cNvPr id="8" name="Text 6"/>
          <p:cNvSpPr/>
          <p:nvPr/>
        </p:nvSpPr>
        <p:spPr>
          <a:xfrm>
            <a:off x="4343400" y="2112264"/>
            <a:ext cx="3520440" cy="292608"/>
          </a:xfrm>
          <a:prstGeom prst="rect">
            <a:avLst/>
          </a:prstGeom>
          <a:noFill/>
          <a:ln/>
        </p:spPr>
        <p:txBody>
          <a:bodyPr wrap="square" lIns="0" tIns="0" rIns="0" bIns="0" rtlCol="0" anchor="ctr"/>
          <a:lstStyle/>
          <a:p>
            <a:pPr indent="0" marL="0">
              <a:buNone/>
            </a:pPr>
            <a:r>
              <a:rPr lang="en-US" sz="1350" b="1" dirty="0">
                <a:solidFill>
                  <a:srgbClr val="1C2733"/>
                </a:solidFill>
                <a:latin typeface="Calibri" pitchFamily="34" charset="0"/>
                <a:ea typeface="Calibri" pitchFamily="34" charset="-122"/>
                <a:cs typeface="Calibri" pitchFamily="34" charset="-120"/>
              </a:rPr>
              <a:t>A Decade of Operating Proof</a:t>
            </a:r>
            <a:endParaRPr lang="en-US" sz="1350" dirty="0"/>
          </a:p>
        </p:txBody>
      </p:sp>
      <p:sp>
        <p:nvSpPr>
          <p:cNvPr id="9" name="Text 7"/>
          <p:cNvSpPr/>
          <p:nvPr/>
        </p:nvSpPr>
        <p:spPr>
          <a:xfrm>
            <a:off x="4343400" y="2441448"/>
            <a:ext cx="3520440" cy="137160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Founded in New York in 2016; an established, revenue-generating career-services franchise now scaling as an AI-first platform.</a:t>
            </a:r>
            <a:endParaRPr lang="en-US" sz="1050" dirty="0"/>
          </a:p>
        </p:txBody>
      </p:sp>
      <p:sp>
        <p:nvSpPr>
          <p:cNvPr id="10" name="Text 8"/>
          <p:cNvSpPr/>
          <p:nvPr/>
        </p:nvSpPr>
        <p:spPr>
          <a:xfrm>
            <a:off x="8119872" y="1691640"/>
            <a:ext cx="914400" cy="384048"/>
          </a:xfrm>
          <a:prstGeom prst="rect">
            <a:avLst/>
          </a:prstGeom>
          <a:noFill/>
          <a:ln/>
        </p:spPr>
        <p:txBody>
          <a:bodyPr wrap="square" lIns="0" tIns="0" rIns="0" bIns="0" rtlCol="0" anchor="ctr"/>
          <a:lstStyle/>
          <a:p>
            <a:pPr indent="0" marL="0">
              <a:buNone/>
            </a:pPr>
            <a:r>
              <a:rPr lang="en-US" sz="2000" b="1" dirty="0">
                <a:solidFill>
                  <a:srgbClr val="9A7B3F"/>
                </a:solidFill>
                <a:latin typeface="Century Schoolbook" pitchFamily="34" charset="0"/>
                <a:ea typeface="Century Schoolbook" pitchFamily="34" charset="-122"/>
                <a:cs typeface="Century Schoolbook" pitchFamily="34" charset="-120"/>
              </a:rPr>
              <a:t>03</a:t>
            </a:r>
            <a:endParaRPr lang="en-US" sz="2000" dirty="0"/>
          </a:p>
        </p:txBody>
      </p:sp>
      <p:sp>
        <p:nvSpPr>
          <p:cNvPr id="11" name="Text 9"/>
          <p:cNvSpPr/>
          <p:nvPr/>
        </p:nvSpPr>
        <p:spPr>
          <a:xfrm>
            <a:off x="8119872" y="2112264"/>
            <a:ext cx="3520440" cy="292608"/>
          </a:xfrm>
          <a:prstGeom prst="rect">
            <a:avLst/>
          </a:prstGeom>
          <a:noFill/>
          <a:ln/>
        </p:spPr>
        <p:txBody>
          <a:bodyPr wrap="square" lIns="0" tIns="0" rIns="0" bIns="0" rtlCol="0" anchor="ctr"/>
          <a:lstStyle/>
          <a:p>
            <a:pPr indent="0" marL="0">
              <a:buNone/>
            </a:pPr>
            <a:r>
              <a:rPr lang="en-US" sz="1350" b="1" dirty="0">
                <a:solidFill>
                  <a:srgbClr val="1C2733"/>
                </a:solidFill>
                <a:latin typeface="Calibri" pitchFamily="34" charset="0"/>
                <a:ea typeface="Calibri" pitchFamily="34" charset="-122"/>
                <a:cs typeface="Calibri" pitchFamily="34" charset="-120"/>
              </a:rPr>
              <a:t>AI-Native Product Suite</a:t>
            </a:r>
            <a:endParaRPr lang="en-US" sz="1350" dirty="0"/>
          </a:p>
        </p:txBody>
      </p:sp>
      <p:sp>
        <p:nvSpPr>
          <p:cNvPr id="12" name="Text 10"/>
          <p:cNvSpPr/>
          <p:nvPr/>
        </p:nvSpPr>
        <p:spPr>
          <a:xfrm>
            <a:off x="8119872" y="2441448"/>
            <a:ext cx="3520440" cy="137160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Personalized mock interviews, proprietary question banks, online assessments, mentor coaching, and intelligent job matching.</a:t>
            </a:r>
            <a:endParaRPr lang="en-US" sz="1050" dirty="0"/>
          </a:p>
        </p:txBody>
      </p:sp>
      <p:sp>
        <p:nvSpPr>
          <p:cNvPr id="13" name="Text 11"/>
          <p:cNvSpPr/>
          <p:nvPr/>
        </p:nvSpPr>
        <p:spPr>
          <a:xfrm>
            <a:off x="566928" y="4069080"/>
            <a:ext cx="914400" cy="384048"/>
          </a:xfrm>
          <a:prstGeom prst="rect">
            <a:avLst/>
          </a:prstGeom>
          <a:noFill/>
          <a:ln/>
        </p:spPr>
        <p:txBody>
          <a:bodyPr wrap="square" lIns="0" tIns="0" rIns="0" bIns="0" rtlCol="0" anchor="ctr"/>
          <a:lstStyle/>
          <a:p>
            <a:pPr indent="0" marL="0">
              <a:buNone/>
            </a:pPr>
            <a:r>
              <a:rPr lang="en-US" sz="2000" b="1" dirty="0">
                <a:solidFill>
                  <a:srgbClr val="9A7B3F"/>
                </a:solidFill>
                <a:latin typeface="Century Schoolbook" pitchFamily="34" charset="0"/>
                <a:ea typeface="Century Schoolbook" pitchFamily="34" charset="-122"/>
                <a:cs typeface="Century Schoolbook" pitchFamily="34" charset="-120"/>
              </a:rPr>
              <a:t>04</a:t>
            </a:r>
            <a:endParaRPr lang="en-US" sz="2000" dirty="0"/>
          </a:p>
        </p:txBody>
      </p:sp>
      <p:sp>
        <p:nvSpPr>
          <p:cNvPr id="14" name="Text 12"/>
          <p:cNvSpPr/>
          <p:nvPr/>
        </p:nvSpPr>
        <p:spPr>
          <a:xfrm>
            <a:off x="566928" y="4489704"/>
            <a:ext cx="3520440" cy="292608"/>
          </a:xfrm>
          <a:prstGeom prst="rect">
            <a:avLst/>
          </a:prstGeom>
          <a:noFill/>
          <a:ln/>
        </p:spPr>
        <p:txBody>
          <a:bodyPr wrap="square" lIns="0" tIns="0" rIns="0" bIns="0" rtlCol="0" anchor="ctr"/>
          <a:lstStyle/>
          <a:p>
            <a:pPr indent="0" marL="0">
              <a:buNone/>
            </a:pPr>
            <a:r>
              <a:rPr lang="en-US" sz="1350" b="1" dirty="0">
                <a:solidFill>
                  <a:srgbClr val="1C2733"/>
                </a:solidFill>
                <a:latin typeface="Calibri" pitchFamily="34" charset="0"/>
                <a:ea typeface="Calibri" pitchFamily="34" charset="-122"/>
                <a:cs typeface="Calibri" pitchFamily="34" charset="-120"/>
              </a:rPr>
              <a:t>Global Footprint</a:t>
            </a:r>
            <a:endParaRPr lang="en-US" sz="1350" dirty="0"/>
          </a:p>
        </p:txBody>
      </p:sp>
      <p:sp>
        <p:nvSpPr>
          <p:cNvPr id="15" name="Text 13"/>
          <p:cNvSpPr/>
          <p:nvPr/>
        </p:nvSpPr>
        <p:spPr>
          <a:xfrm>
            <a:off x="566928" y="4818888"/>
            <a:ext cx="3520440" cy="137160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Teams and delivery capability across the U.S., China, U.K., Singapore, South Korea, Canada, and India.</a:t>
            </a:r>
            <a:endParaRPr lang="en-US" sz="1050" dirty="0"/>
          </a:p>
        </p:txBody>
      </p:sp>
      <p:sp>
        <p:nvSpPr>
          <p:cNvPr id="16" name="Text 14"/>
          <p:cNvSpPr/>
          <p:nvPr/>
        </p:nvSpPr>
        <p:spPr>
          <a:xfrm>
            <a:off x="4343400" y="4069080"/>
            <a:ext cx="914400" cy="384048"/>
          </a:xfrm>
          <a:prstGeom prst="rect">
            <a:avLst/>
          </a:prstGeom>
          <a:noFill/>
          <a:ln/>
        </p:spPr>
        <p:txBody>
          <a:bodyPr wrap="square" lIns="0" tIns="0" rIns="0" bIns="0" rtlCol="0" anchor="ctr"/>
          <a:lstStyle/>
          <a:p>
            <a:pPr indent="0" marL="0">
              <a:buNone/>
            </a:pPr>
            <a:r>
              <a:rPr lang="en-US" sz="2000" b="1" dirty="0">
                <a:solidFill>
                  <a:srgbClr val="9A7B3F"/>
                </a:solidFill>
                <a:latin typeface="Century Schoolbook" pitchFamily="34" charset="0"/>
                <a:ea typeface="Century Schoolbook" pitchFamily="34" charset="-122"/>
                <a:cs typeface="Century Schoolbook" pitchFamily="34" charset="-120"/>
              </a:rPr>
              <a:t>05</a:t>
            </a:r>
            <a:endParaRPr lang="en-US" sz="2000" dirty="0"/>
          </a:p>
        </p:txBody>
      </p:sp>
      <p:sp>
        <p:nvSpPr>
          <p:cNvPr id="17" name="Text 15"/>
          <p:cNvSpPr/>
          <p:nvPr/>
        </p:nvSpPr>
        <p:spPr>
          <a:xfrm>
            <a:off x="4343400" y="4489704"/>
            <a:ext cx="3520440" cy="292608"/>
          </a:xfrm>
          <a:prstGeom prst="rect">
            <a:avLst/>
          </a:prstGeom>
          <a:noFill/>
          <a:ln/>
        </p:spPr>
        <p:txBody>
          <a:bodyPr wrap="square" lIns="0" tIns="0" rIns="0" bIns="0" rtlCol="0" anchor="ctr"/>
          <a:lstStyle/>
          <a:p>
            <a:pPr indent="0" marL="0">
              <a:buNone/>
            </a:pPr>
            <a:r>
              <a:rPr lang="en-US" sz="1350" b="1" dirty="0">
                <a:solidFill>
                  <a:srgbClr val="1C2733"/>
                </a:solidFill>
                <a:latin typeface="Calibri" pitchFamily="34" charset="0"/>
                <a:ea typeface="Calibri" pitchFamily="34" charset="-122"/>
                <a:cs typeface="Calibri" pitchFamily="34" charset="-120"/>
              </a:rPr>
              <a:t>Strategic AI Partnership</a:t>
            </a:r>
            <a:endParaRPr lang="en-US" sz="1350" dirty="0"/>
          </a:p>
        </p:txBody>
      </p:sp>
      <p:sp>
        <p:nvSpPr>
          <p:cNvPr id="18" name="Text 16"/>
          <p:cNvSpPr/>
          <p:nvPr/>
        </p:nvSpPr>
        <p:spPr>
          <a:xfrm>
            <a:off x="4343400" y="4818888"/>
            <a:ext cx="3520440" cy="137160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Deep collaboration with Alibaba Cloud AI — Tongyi LLM, NLP, semantic search — powering advisor, matching, and screening systems.</a:t>
            </a:r>
            <a:endParaRPr lang="en-US" sz="1050" dirty="0"/>
          </a:p>
        </p:txBody>
      </p:sp>
      <p:sp>
        <p:nvSpPr>
          <p:cNvPr id="19" name="Text 17"/>
          <p:cNvSpPr/>
          <p:nvPr/>
        </p:nvSpPr>
        <p:spPr>
          <a:xfrm>
            <a:off x="8119872" y="4069080"/>
            <a:ext cx="914400" cy="384048"/>
          </a:xfrm>
          <a:prstGeom prst="rect">
            <a:avLst/>
          </a:prstGeom>
          <a:noFill/>
          <a:ln/>
        </p:spPr>
        <p:txBody>
          <a:bodyPr wrap="square" lIns="0" tIns="0" rIns="0" bIns="0" rtlCol="0" anchor="ctr"/>
          <a:lstStyle/>
          <a:p>
            <a:pPr indent="0" marL="0">
              <a:buNone/>
            </a:pPr>
            <a:r>
              <a:rPr lang="en-US" sz="2000" b="1" dirty="0">
                <a:solidFill>
                  <a:srgbClr val="9A7B3F"/>
                </a:solidFill>
                <a:latin typeface="Century Schoolbook" pitchFamily="34" charset="0"/>
                <a:ea typeface="Century Schoolbook" pitchFamily="34" charset="-122"/>
                <a:cs typeface="Century Schoolbook" pitchFamily="34" charset="-120"/>
              </a:rPr>
              <a:t>06</a:t>
            </a:r>
            <a:endParaRPr lang="en-US" sz="2000" dirty="0"/>
          </a:p>
        </p:txBody>
      </p:sp>
      <p:sp>
        <p:nvSpPr>
          <p:cNvPr id="20" name="Text 18"/>
          <p:cNvSpPr/>
          <p:nvPr/>
        </p:nvSpPr>
        <p:spPr>
          <a:xfrm>
            <a:off x="8119872" y="4489704"/>
            <a:ext cx="3520440" cy="292608"/>
          </a:xfrm>
          <a:prstGeom prst="rect">
            <a:avLst/>
          </a:prstGeom>
          <a:noFill/>
          <a:ln/>
        </p:spPr>
        <p:txBody>
          <a:bodyPr wrap="square" lIns="0" tIns="0" rIns="0" bIns="0" rtlCol="0" anchor="ctr"/>
          <a:lstStyle/>
          <a:p>
            <a:pPr indent="0" marL="0">
              <a:buNone/>
            </a:pPr>
            <a:r>
              <a:rPr lang="en-US" sz="1350" b="1" dirty="0">
                <a:solidFill>
                  <a:srgbClr val="1C2733"/>
                </a:solidFill>
                <a:latin typeface="Calibri" pitchFamily="34" charset="0"/>
                <a:ea typeface="Calibri" pitchFamily="34" charset="-122"/>
                <a:cs typeface="Calibri" pitchFamily="34" charset="-120"/>
              </a:rPr>
              <a:t>Compelling Entry Point</a:t>
            </a:r>
            <a:endParaRPr lang="en-US" sz="1350" dirty="0"/>
          </a:p>
        </p:txBody>
      </p:sp>
      <p:sp>
        <p:nvSpPr>
          <p:cNvPr id="21" name="Text 19"/>
          <p:cNvSpPr/>
          <p:nvPr/>
        </p:nvSpPr>
        <p:spPr>
          <a:xfrm>
            <a:off x="8119872" y="4818888"/>
            <a:ext cx="3520440" cy="137160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RMB 20 million raise (≈ US$3.0M) at a RMB 200 million valuation (≈ US$29.7M) to fund the product roadmap and global go-to-market.</a:t>
            </a:r>
            <a:endParaRPr lang="en-US" sz="1050" dirty="0"/>
          </a:p>
        </p:txBody>
      </p:sp>
      <p:sp>
        <p:nvSpPr>
          <p:cNvPr id="22" name="Text 20"/>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23" name="Text 21"/>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MARKET CONTEXT</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Hiring Is Broken on Both Sides of the Table</a:t>
            </a:r>
            <a:endParaRPr lang="en-US" sz="3000" dirty="0"/>
          </a:p>
        </p:txBody>
      </p:sp>
      <p:sp>
        <p:nvSpPr>
          <p:cNvPr id="4" name="Text 2"/>
          <p:cNvSpPr/>
          <p:nvPr/>
        </p:nvSpPr>
        <p:spPr>
          <a:xfrm>
            <a:off x="566928" y="1737360"/>
            <a:ext cx="5943600" cy="292608"/>
          </a:xfrm>
          <a:prstGeom prst="rect">
            <a:avLst/>
          </a:prstGeom>
          <a:noFill/>
          <a:ln/>
        </p:spPr>
        <p:txBody>
          <a:bodyPr wrap="square" lIns="0" tIns="0" rIns="0" bIns="0" rtlCol="0" anchor="ctr"/>
          <a:lstStyle/>
          <a:p>
            <a:pPr indent="0" marL="0">
              <a:buNone/>
            </a:pPr>
            <a:r>
              <a:rPr lang="en-US" sz="1350" b="1" dirty="0">
                <a:solidFill>
                  <a:srgbClr val="132A4F"/>
                </a:solidFill>
                <a:latin typeface="Calibri" pitchFamily="34" charset="0"/>
                <a:ea typeface="Calibri" pitchFamily="34" charset="-122"/>
                <a:cs typeface="Calibri" pitchFamily="34" charset="-120"/>
              </a:rPr>
              <a:t>For candidates</a:t>
            </a:r>
            <a:endParaRPr lang="en-US" sz="1350" dirty="0"/>
          </a:p>
        </p:txBody>
      </p:sp>
      <p:sp>
        <p:nvSpPr>
          <p:cNvPr id="5" name="Text 3"/>
          <p:cNvSpPr/>
          <p:nvPr/>
        </p:nvSpPr>
        <p:spPr>
          <a:xfrm>
            <a:off x="566928" y="2066544"/>
            <a:ext cx="5943600" cy="960120"/>
          </a:xfrm>
          <a:prstGeom prst="rect">
            <a:avLst/>
          </a:prstGeom>
          <a:noFill/>
          <a:ln/>
        </p:spPr>
        <p:txBody>
          <a:bodyPr wrap="square" lIns="0" tIns="0" rIns="0" bIns="0" rtlCol="0" anchor="t"/>
          <a:lstStyle/>
          <a:p>
            <a:pPr indent="0" marL="0">
              <a:lnSpc>
                <a:spcPts val="1550"/>
              </a:lnSpc>
              <a:buNone/>
            </a:pPr>
            <a:r>
              <a:rPr lang="en-US" sz="1100" dirty="0">
                <a:solidFill>
                  <a:srgbClr val="5A6B7E"/>
                </a:solidFill>
                <a:latin typeface="Calibri" pitchFamily="34" charset="0"/>
                <a:ea typeface="Calibri" pitchFamily="34" charset="-122"/>
                <a:cs typeface="Calibri" pitchFamily="34" charset="-120"/>
              </a:rPr>
              <a:t>Hiring processes are opaque and intensely competitive. Interview preparation remains fragmented across scattered resources, and quality human coaching is expensive and does not scale.</a:t>
            </a:r>
            <a:endParaRPr lang="en-US" sz="1100" dirty="0"/>
          </a:p>
        </p:txBody>
      </p:sp>
      <p:sp>
        <p:nvSpPr>
          <p:cNvPr id="6" name="Text 4"/>
          <p:cNvSpPr/>
          <p:nvPr/>
        </p:nvSpPr>
        <p:spPr>
          <a:xfrm>
            <a:off x="566928" y="3218688"/>
            <a:ext cx="5943600" cy="292608"/>
          </a:xfrm>
          <a:prstGeom prst="rect">
            <a:avLst/>
          </a:prstGeom>
          <a:noFill/>
          <a:ln/>
        </p:spPr>
        <p:txBody>
          <a:bodyPr wrap="square" lIns="0" tIns="0" rIns="0" bIns="0" rtlCol="0" anchor="ctr"/>
          <a:lstStyle/>
          <a:p>
            <a:pPr indent="0" marL="0">
              <a:buNone/>
            </a:pPr>
            <a:r>
              <a:rPr lang="en-US" sz="1350" b="1" dirty="0">
                <a:solidFill>
                  <a:srgbClr val="132A4F"/>
                </a:solidFill>
                <a:latin typeface="Calibri" pitchFamily="34" charset="0"/>
                <a:ea typeface="Calibri" pitchFamily="34" charset="-122"/>
                <a:cs typeface="Calibri" pitchFamily="34" charset="-120"/>
              </a:rPr>
              <a:t>For international talent</a:t>
            </a:r>
            <a:endParaRPr lang="en-US" sz="1350" dirty="0"/>
          </a:p>
        </p:txBody>
      </p:sp>
      <p:sp>
        <p:nvSpPr>
          <p:cNvPr id="7" name="Text 5"/>
          <p:cNvSpPr/>
          <p:nvPr/>
        </p:nvSpPr>
        <p:spPr>
          <a:xfrm>
            <a:off x="566928" y="3547872"/>
            <a:ext cx="5943600" cy="960120"/>
          </a:xfrm>
          <a:prstGeom prst="rect">
            <a:avLst/>
          </a:prstGeom>
          <a:noFill/>
          <a:ln/>
        </p:spPr>
        <p:txBody>
          <a:bodyPr wrap="square" lIns="0" tIns="0" rIns="0" bIns="0" rtlCol="0" anchor="t"/>
          <a:lstStyle/>
          <a:p>
            <a:pPr indent="0" marL="0">
              <a:lnSpc>
                <a:spcPts val="1550"/>
              </a:lnSpc>
              <a:buNone/>
            </a:pPr>
            <a:r>
              <a:rPr lang="en-US" sz="1100" dirty="0">
                <a:solidFill>
                  <a:srgbClr val="5A6B7E"/>
                </a:solidFill>
                <a:latin typeface="Calibri" pitchFamily="34" charset="0"/>
                <a:ea typeface="Calibri" pitchFamily="34" charset="-122"/>
                <a:cs typeface="Calibri" pitchFamily="34" charset="-120"/>
              </a:rPr>
              <a:t>Language, cultural, and visa complexity compound an already difficult search — a large, motivated population is structurally underserved by generic tools.</a:t>
            </a:r>
            <a:endParaRPr lang="en-US" sz="1100" dirty="0"/>
          </a:p>
        </p:txBody>
      </p:sp>
      <p:sp>
        <p:nvSpPr>
          <p:cNvPr id="8" name="Text 6"/>
          <p:cNvSpPr/>
          <p:nvPr/>
        </p:nvSpPr>
        <p:spPr>
          <a:xfrm>
            <a:off x="566928" y="4700016"/>
            <a:ext cx="5943600" cy="292608"/>
          </a:xfrm>
          <a:prstGeom prst="rect">
            <a:avLst/>
          </a:prstGeom>
          <a:noFill/>
          <a:ln/>
        </p:spPr>
        <p:txBody>
          <a:bodyPr wrap="square" lIns="0" tIns="0" rIns="0" bIns="0" rtlCol="0" anchor="ctr"/>
          <a:lstStyle/>
          <a:p>
            <a:pPr indent="0" marL="0">
              <a:buNone/>
            </a:pPr>
            <a:r>
              <a:rPr lang="en-US" sz="1350" b="1" dirty="0">
                <a:solidFill>
                  <a:srgbClr val="132A4F"/>
                </a:solidFill>
                <a:latin typeface="Calibri" pitchFamily="34" charset="0"/>
                <a:ea typeface="Calibri" pitchFamily="34" charset="-122"/>
                <a:cs typeface="Calibri" pitchFamily="34" charset="-120"/>
              </a:rPr>
              <a:t>For employers</a:t>
            </a:r>
            <a:endParaRPr lang="en-US" sz="1350" dirty="0"/>
          </a:p>
        </p:txBody>
      </p:sp>
      <p:sp>
        <p:nvSpPr>
          <p:cNvPr id="9" name="Text 7"/>
          <p:cNvSpPr/>
          <p:nvPr/>
        </p:nvSpPr>
        <p:spPr>
          <a:xfrm>
            <a:off x="566928" y="5029200"/>
            <a:ext cx="5943600" cy="960120"/>
          </a:xfrm>
          <a:prstGeom prst="rect">
            <a:avLst/>
          </a:prstGeom>
          <a:noFill/>
          <a:ln/>
        </p:spPr>
        <p:txBody>
          <a:bodyPr wrap="square" lIns="0" tIns="0" rIns="0" bIns="0" rtlCol="0" anchor="t"/>
          <a:lstStyle/>
          <a:p>
            <a:pPr indent="0" marL="0">
              <a:lnSpc>
                <a:spcPts val="1550"/>
              </a:lnSpc>
              <a:buNone/>
            </a:pPr>
            <a:r>
              <a:rPr lang="en-US" sz="1100" dirty="0">
                <a:solidFill>
                  <a:srgbClr val="5A6B7E"/>
                </a:solidFill>
                <a:latin typeface="Calibri" pitchFamily="34" charset="0"/>
                <a:ea typeface="Calibri" pitchFamily="34" charset="-122"/>
                <a:cs typeface="Calibri" pitchFamily="34" charset="-120"/>
              </a:rPr>
              <a:t>Application volumes overwhelm recruiting teams while offering limited signal. Screening is slow, costly, and inconsistent, and strong candidates are lost in the noise.</a:t>
            </a:r>
            <a:endParaRPr lang="en-US" sz="1100" dirty="0"/>
          </a:p>
        </p:txBody>
      </p:sp>
      <p:sp>
        <p:nvSpPr>
          <p:cNvPr id="10" name="Shape 8"/>
          <p:cNvSpPr/>
          <p:nvPr/>
        </p:nvSpPr>
        <p:spPr>
          <a:xfrm>
            <a:off x="7086600" y="1691640"/>
            <a:ext cx="4526280" cy="4434840"/>
          </a:xfrm>
          <a:prstGeom prst="rect">
            <a:avLst/>
          </a:prstGeom>
          <a:solidFill>
            <a:srgbClr val="F3F6F9"/>
          </a:solidFill>
          <a:ln/>
        </p:spPr>
      </p:sp>
      <p:sp>
        <p:nvSpPr>
          <p:cNvPr id="11" name="Text 9"/>
          <p:cNvSpPr/>
          <p:nvPr/>
        </p:nvSpPr>
        <p:spPr>
          <a:xfrm>
            <a:off x="7543800" y="2011680"/>
            <a:ext cx="3657600" cy="65836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250+</a:t>
            </a:r>
            <a:endParaRPr lang="en-US" sz="3000" dirty="0"/>
          </a:p>
        </p:txBody>
      </p:sp>
      <p:sp>
        <p:nvSpPr>
          <p:cNvPr id="12" name="Text 10"/>
          <p:cNvSpPr/>
          <p:nvPr/>
        </p:nvSpPr>
        <p:spPr>
          <a:xfrm>
            <a:off x="7543800" y="2688336"/>
            <a:ext cx="3657600" cy="475488"/>
          </a:xfrm>
          <a:prstGeom prst="rect">
            <a:avLst/>
          </a:prstGeom>
          <a:noFill/>
          <a:ln/>
        </p:spPr>
        <p:txBody>
          <a:bodyPr wrap="square" lIns="0" tIns="0" rIns="0" bIns="0" rtlCol="0" anchor="ctr"/>
          <a:lstStyle/>
          <a:p>
            <a:pPr indent="0" marL="0">
              <a:lnSpc>
                <a:spcPts val="1200"/>
              </a:lnSpc>
              <a:buNone/>
            </a:pPr>
            <a:r>
              <a:rPr lang="en-US" sz="850" spc="150" kern="0" dirty="0">
                <a:solidFill>
                  <a:srgbClr val="5A6B7E"/>
                </a:solidFill>
                <a:latin typeface="Calibri" pitchFamily="34" charset="0"/>
                <a:ea typeface="Calibri" pitchFamily="34" charset="-122"/>
                <a:cs typeface="Calibri" pitchFamily="34" charset="-120"/>
              </a:rPr>
              <a:t>APPLICATIONS PER CORPORATE JOB OPENING</a:t>
            </a:r>
            <a:endParaRPr lang="en-US" sz="850" dirty="0"/>
          </a:p>
        </p:txBody>
      </p:sp>
      <p:sp>
        <p:nvSpPr>
          <p:cNvPr id="13" name="Text 11"/>
          <p:cNvSpPr/>
          <p:nvPr/>
        </p:nvSpPr>
        <p:spPr>
          <a:xfrm>
            <a:off x="7543800" y="3383280"/>
            <a:ext cx="3657600" cy="65836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1.1M+</a:t>
            </a:r>
            <a:endParaRPr lang="en-US" sz="3000" dirty="0"/>
          </a:p>
        </p:txBody>
      </p:sp>
      <p:sp>
        <p:nvSpPr>
          <p:cNvPr id="14" name="Text 12"/>
          <p:cNvSpPr/>
          <p:nvPr/>
        </p:nvSpPr>
        <p:spPr>
          <a:xfrm>
            <a:off x="7543800" y="4059936"/>
            <a:ext cx="3657600" cy="475488"/>
          </a:xfrm>
          <a:prstGeom prst="rect">
            <a:avLst/>
          </a:prstGeom>
          <a:noFill/>
          <a:ln/>
        </p:spPr>
        <p:txBody>
          <a:bodyPr wrap="square" lIns="0" tIns="0" rIns="0" bIns="0" rtlCol="0" anchor="ctr"/>
          <a:lstStyle/>
          <a:p>
            <a:pPr indent="0" marL="0">
              <a:lnSpc>
                <a:spcPts val="1200"/>
              </a:lnSpc>
              <a:buNone/>
            </a:pPr>
            <a:r>
              <a:rPr lang="en-US" sz="850" spc="150" kern="0" dirty="0">
                <a:solidFill>
                  <a:srgbClr val="5A6B7E"/>
                </a:solidFill>
                <a:latin typeface="Calibri" pitchFamily="34" charset="0"/>
                <a:ea typeface="Calibri" pitchFamily="34" charset="-122"/>
                <a:cs typeface="Calibri" pitchFamily="34" charset="-120"/>
              </a:rPr>
              <a:t>INTERNATIONAL STUDENTS IN THE U.S. ALONE</a:t>
            </a:r>
            <a:endParaRPr lang="en-US" sz="850" dirty="0"/>
          </a:p>
        </p:txBody>
      </p:sp>
      <p:sp>
        <p:nvSpPr>
          <p:cNvPr id="15" name="Text 13"/>
          <p:cNvSpPr/>
          <p:nvPr/>
        </p:nvSpPr>
        <p:spPr>
          <a:xfrm>
            <a:off x="7543800" y="4754880"/>
            <a:ext cx="3657600" cy="65836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75%</a:t>
            </a:r>
            <a:endParaRPr lang="en-US" sz="3000" dirty="0"/>
          </a:p>
        </p:txBody>
      </p:sp>
      <p:sp>
        <p:nvSpPr>
          <p:cNvPr id="16" name="Text 14"/>
          <p:cNvSpPr/>
          <p:nvPr/>
        </p:nvSpPr>
        <p:spPr>
          <a:xfrm>
            <a:off x="7543800" y="5431536"/>
            <a:ext cx="3657600" cy="475488"/>
          </a:xfrm>
          <a:prstGeom prst="rect">
            <a:avLst/>
          </a:prstGeom>
          <a:noFill/>
          <a:ln/>
        </p:spPr>
        <p:txBody>
          <a:bodyPr wrap="square" lIns="0" tIns="0" rIns="0" bIns="0" rtlCol="0" anchor="ctr"/>
          <a:lstStyle/>
          <a:p>
            <a:pPr indent="0" marL="0">
              <a:lnSpc>
                <a:spcPts val="1200"/>
              </a:lnSpc>
              <a:buNone/>
            </a:pPr>
            <a:r>
              <a:rPr lang="en-US" sz="850" spc="150" kern="0" dirty="0">
                <a:solidFill>
                  <a:srgbClr val="5A6B7E"/>
                </a:solidFill>
                <a:latin typeface="Calibri" pitchFamily="34" charset="0"/>
                <a:ea typeface="Calibri" pitchFamily="34" charset="-122"/>
                <a:cs typeface="Calibri" pitchFamily="34" charset="-120"/>
              </a:rPr>
              <a:t>OF RÉSUMÉS SCREENED OUT BEFORE HUMAN REVIEW</a:t>
            </a:r>
            <a:endParaRPr lang="en-US" sz="850" dirty="0"/>
          </a:p>
        </p:txBody>
      </p:sp>
      <p:sp>
        <p:nvSpPr>
          <p:cNvPr id="17" name="Text 15"/>
          <p:cNvSpPr/>
          <p:nvPr/>
        </p:nvSpPr>
        <p:spPr>
          <a:xfrm>
            <a:off x="566928" y="6236208"/>
            <a:ext cx="11057839" cy="237744"/>
          </a:xfrm>
          <a:prstGeom prst="rect">
            <a:avLst/>
          </a:prstGeom>
          <a:noFill/>
          <a:ln/>
        </p:spPr>
        <p:txBody>
          <a:bodyPr wrap="square" lIns="0" tIns="0" rIns="0" bIns="0" rtlCol="0" anchor="ctr"/>
          <a:lstStyle/>
          <a:p>
            <a:pPr indent="0" marL="0">
              <a:buNone/>
            </a:pPr>
            <a:r>
              <a:rPr lang="en-US" sz="750" i="1" dirty="0">
                <a:solidFill>
                  <a:srgbClr val="5A6B7E"/>
                </a:solidFill>
                <a:latin typeface="Calibri" pitchFamily="34" charset="0"/>
                <a:ea typeface="Calibri" pitchFamily="34" charset="-122"/>
                <a:cs typeface="Calibri" pitchFamily="34" charset="-120"/>
              </a:rPr>
              <a:t>Sources: Open Doors 2024; Glassdoor; commonly cited industry estimates.</a:t>
            </a:r>
            <a:endParaRPr lang="en-US" sz="750" dirty="0"/>
          </a:p>
        </p:txBody>
      </p:sp>
      <p:sp>
        <p:nvSpPr>
          <p:cNvPr id="18" name="Text 16"/>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19" name="Text 17"/>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MARKET OPPORTUNITY</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A US$200B+ Global Talent Market in Structural Shift</a:t>
            </a:r>
            <a:endParaRPr lang="en-US" sz="3000" dirty="0"/>
          </a:p>
        </p:txBody>
      </p:sp>
      <p:sp>
        <p:nvSpPr>
          <p:cNvPr id="4" name="Text 2"/>
          <p:cNvSpPr/>
          <p:nvPr/>
        </p:nvSpPr>
        <p:spPr>
          <a:xfrm>
            <a:off x="566928" y="1783080"/>
            <a:ext cx="3520440" cy="237744"/>
          </a:xfrm>
          <a:prstGeom prst="rect">
            <a:avLst/>
          </a:prstGeom>
          <a:noFill/>
          <a:ln/>
        </p:spPr>
        <p:txBody>
          <a:bodyPr wrap="square" lIns="0" tIns="0" rIns="0" bIns="0" rtlCol="0" anchor="ctr"/>
          <a:lstStyle/>
          <a:p>
            <a:pPr indent="0" marL="0">
              <a:buNone/>
            </a:pPr>
            <a:r>
              <a:rPr lang="en-US" sz="900" b="1" spc="200" kern="0" dirty="0">
                <a:solidFill>
                  <a:srgbClr val="9A7B3F"/>
                </a:solidFill>
                <a:latin typeface="Calibri" pitchFamily="34" charset="0"/>
                <a:ea typeface="Calibri" pitchFamily="34" charset="-122"/>
                <a:cs typeface="Calibri" pitchFamily="34" charset="-120"/>
              </a:rPr>
              <a:t>TOTAL ADDRESSABLE MARKET</a:t>
            </a:r>
            <a:endParaRPr lang="en-US" sz="900" dirty="0"/>
          </a:p>
        </p:txBody>
      </p:sp>
      <p:sp>
        <p:nvSpPr>
          <p:cNvPr id="5" name="Text 3"/>
          <p:cNvSpPr/>
          <p:nvPr/>
        </p:nvSpPr>
        <p:spPr>
          <a:xfrm>
            <a:off x="566928" y="2066544"/>
            <a:ext cx="3520440" cy="713232"/>
          </a:xfrm>
          <a:prstGeom prst="rect">
            <a:avLst/>
          </a:prstGeom>
          <a:noFill/>
          <a:ln/>
        </p:spPr>
        <p:txBody>
          <a:bodyPr wrap="square" lIns="0" tIns="0" rIns="0" bIns="0" rtlCol="0" anchor="ctr"/>
          <a:lstStyle/>
          <a:p>
            <a:pPr indent="0" marL="0">
              <a:buNone/>
            </a:pPr>
            <a:r>
              <a:rPr lang="en-US" sz="3800" b="1" dirty="0">
                <a:solidFill>
                  <a:srgbClr val="132A4F"/>
                </a:solidFill>
                <a:latin typeface="Century Schoolbook" pitchFamily="34" charset="0"/>
                <a:ea typeface="Century Schoolbook" pitchFamily="34" charset="-122"/>
                <a:cs typeface="Century Schoolbook" pitchFamily="34" charset="-120"/>
              </a:rPr>
              <a:t>US$200B+</a:t>
            </a:r>
            <a:endParaRPr lang="en-US" sz="3800" dirty="0"/>
          </a:p>
        </p:txBody>
      </p:sp>
      <p:sp>
        <p:nvSpPr>
          <p:cNvPr id="6" name="Text 4"/>
          <p:cNvSpPr/>
          <p:nvPr/>
        </p:nvSpPr>
        <p:spPr>
          <a:xfrm>
            <a:off x="566928" y="2852928"/>
            <a:ext cx="3520440" cy="105156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Global recruitment, talent-acquisition, and career-development spend across consumer and enterprise segments.</a:t>
            </a:r>
            <a:endParaRPr lang="en-US" sz="1050" dirty="0"/>
          </a:p>
        </p:txBody>
      </p:sp>
      <p:sp>
        <p:nvSpPr>
          <p:cNvPr id="7" name="Text 5"/>
          <p:cNvSpPr/>
          <p:nvPr/>
        </p:nvSpPr>
        <p:spPr>
          <a:xfrm>
            <a:off x="4343400" y="1783080"/>
            <a:ext cx="3520440" cy="237744"/>
          </a:xfrm>
          <a:prstGeom prst="rect">
            <a:avLst/>
          </a:prstGeom>
          <a:noFill/>
          <a:ln/>
        </p:spPr>
        <p:txBody>
          <a:bodyPr wrap="square" lIns="0" tIns="0" rIns="0" bIns="0" rtlCol="0" anchor="ctr"/>
          <a:lstStyle/>
          <a:p>
            <a:pPr indent="0" marL="0">
              <a:buNone/>
            </a:pPr>
            <a:r>
              <a:rPr lang="en-US" sz="900" b="1" spc="200" kern="0" dirty="0">
                <a:solidFill>
                  <a:srgbClr val="9A7B3F"/>
                </a:solidFill>
                <a:latin typeface="Calibri" pitchFamily="34" charset="0"/>
                <a:ea typeface="Calibri" pitchFamily="34" charset="-122"/>
                <a:cs typeface="Calibri" pitchFamily="34" charset="-120"/>
              </a:rPr>
              <a:t>SERVICEABLE MARKET</a:t>
            </a:r>
            <a:endParaRPr lang="en-US" sz="900" dirty="0"/>
          </a:p>
        </p:txBody>
      </p:sp>
      <p:sp>
        <p:nvSpPr>
          <p:cNvPr id="8" name="Text 6"/>
          <p:cNvSpPr/>
          <p:nvPr/>
        </p:nvSpPr>
        <p:spPr>
          <a:xfrm>
            <a:off x="4343400" y="2066544"/>
            <a:ext cx="3520440" cy="713232"/>
          </a:xfrm>
          <a:prstGeom prst="rect">
            <a:avLst/>
          </a:prstGeom>
          <a:noFill/>
          <a:ln/>
        </p:spPr>
        <p:txBody>
          <a:bodyPr wrap="square" lIns="0" tIns="0" rIns="0" bIns="0" rtlCol="0" anchor="ctr"/>
          <a:lstStyle/>
          <a:p>
            <a:pPr indent="0" marL="0">
              <a:buNone/>
            </a:pPr>
            <a:r>
              <a:rPr lang="en-US" sz="3800" b="1" dirty="0">
                <a:solidFill>
                  <a:srgbClr val="132A4F"/>
                </a:solidFill>
                <a:latin typeface="Century Schoolbook" pitchFamily="34" charset="0"/>
                <a:ea typeface="Century Schoolbook" pitchFamily="34" charset="-122"/>
                <a:cs typeface="Century Schoolbook" pitchFamily="34" charset="-120"/>
              </a:rPr>
              <a:t>US$30B</a:t>
            </a:r>
            <a:endParaRPr lang="en-US" sz="3800" dirty="0"/>
          </a:p>
        </p:txBody>
      </p:sp>
      <p:sp>
        <p:nvSpPr>
          <p:cNvPr id="9" name="Text 7"/>
          <p:cNvSpPr/>
          <p:nvPr/>
        </p:nvSpPr>
        <p:spPr>
          <a:xfrm>
            <a:off x="4343400" y="2852928"/>
            <a:ext cx="3520440" cy="105156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AI-enabled hiring technology and digital career preparation — the fastest-growing layer of the talent stack.</a:t>
            </a:r>
            <a:endParaRPr lang="en-US" sz="1050" dirty="0"/>
          </a:p>
        </p:txBody>
      </p:sp>
      <p:sp>
        <p:nvSpPr>
          <p:cNvPr id="10" name="Text 8"/>
          <p:cNvSpPr/>
          <p:nvPr/>
        </p:nvSpPr>
        <p:spPr>
          <a:xfrm>
            <a:off x="8119872" y="1783080"/>
            <a:ext cx="3520440" cy="237744"/>
          </a:xfrm>
          <a:prstGeom prst="rect">
            <a:avLst/>
          </a:prstGeom>
          <a:noFill/>
          <a:ln/>
        </p:spPr>
        <p:txBody>
          <a:bodyPr wrap="square" lIns="0" tIns="0" rIns="0" bIns="0" rtlCol="0" anchor="ctr"/>
          <a:lstStyle/>
          <a:p>
            <a:pPr indent="0" marL="0">
              <a:buNone/>
            </a:pPr>
            <a:r>
              <a:rPr lang="en-US" sz="900" b="1" spc="200" kern="0" dirty="0">
                <a:solidFill>
                  <a:srgbClr val="9A7B3F"/>
                </a:solidFill>
                <a:latin typeface="Calibri" pitchFamily="34" charset="0"/>
                <a:ea typeface="Calibri" pitchFamily="34" charset="-122"/>
                <a:cs typeface="Calibri" pitchFamily="34" charset="-120"/>
              </a:rPr>
              <a:t>INITIAL TARGET SEGMENT</a:t>
            </a:r>
            <a:endParaRPr lang="en-US" sz="900" dirty="0"/>
          </a:p>
        </p:txBody>
      </p:sp>
      <p:sp>
        <p:nvSpPr>
          <p:cNvPr id="11" name="Text 9"/>
          <p:cNvSpPr/>
          <p:nvPr/>
        </p:nvSpPr>
        <p:spPr>
          <a:xfrm>
            <a:off x="8119872" y="2066544"/>
            <a:ext cx="3520440" cy="713232"/>
          </a:xfrm>
          <a:prstGeom prst="rect">
            <a:avLst/>
          </a:prstGeom>
          <a:noFill/>
          <a:ln/>
        </p:spPr>
        <p:txBody>
          <a:bodyPr wrap="square" lIns="0" tIns="0" rIns="0" bIns="0" rtlCol="0" anchor="ctr"/>
          <a:lstStyle/>
          <a:p>
            <a:pPr indent="0" marL="0">
              <a:buNone/>
            </a:pPr>
            <a:r>
              <a:rPr lang="en-US" sz="3800" b="1" dirty="0">
                <a:solidFill>
                  <a:srgbClr val="132A4F"/>
                </a:solidFill>
                <a:latin typeface="Century Schoolbook" pitchFamily="34" charset="0"/>
                <a:ea typeface="Century Schoolbook" pitchFamily="34" charset="-122"/>
                <a:cs typeface="Century Schoolbook" pitchFamily="34" charset="-120"/>
              </a:rPr>
              <a:t>US$1.5B</a:t>
            </a:r>
            <a:endParaRPr lang="en-US" sz="3800" dirty="0"/>
          </a:p>
        </p:txBody>
      </p:sp>
      <p:sp>
        <p:nvSpPr>
          <p:cNvPr id="12" name="Text 10"/>
          <p:cNvSpPr/>
          <p:nvPr/>
        </p:nvSpPr>
        <p:spPr>
          <a:xfrm>
            <a:off x="8119872" y="2852928"/>
            <a:ext cx="3520440" cy="105156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Cross-border early-career talent across the Company’s current markets in North America, Europe, and Asia.</a:t>
            </a:r>
            <a:endParaRPr lang="en-US" sz="1050" dirty="0"/>
          </a:p>
        </p:txBody>
      </p:sp>
      <p:sp>
        <p:nvSpPr>
          <p:cNvPr id="13" name="Text 11"/>
          <p:cNvSpPr/>
          <p:nvPr/>
        </p:nvSpPr>
        <p:spPr>
          <a:xfrm>
            <a:off x="566928" y="4224528"/>
            <a:ext cx="5486400" cy="292608"/>
          </a:xfrm>
          <a:prstGeom prst="rect">
            <a:avLst/>
          </a:prstGeom>
          <a:noFill/>
          <a:ln/>
        </p:spPr>
        <p:txBody>
          <a:bodyPr wrap="square" lIns="0" tIns="0" rIns="0" bIns="0" rtlCol="0" anchor="ctr"/>
          <a:lstStyle/>
          <a:p>
            <a:pPr indent="0" marL="0">
              <a:buNone/>
            </a:pPr>
            <a:r>
              <a:rPr lang="en-US" sz="1350" b="1" dirty="0">
                <a:solidFill>
                  <a:srgbClr val="1C2733"/>
                </a:solidFill>
                <a:latin typeface="Calibri" pitchFamily="34" charset="0"/>
                <a:ea typeface="Calibri" pitchFamily="34" charset="-122"/>
                <a:cs typeface="Calibri" pitchFamily="34" charset="-120"/>
              </a:rPr>
              <a:t>Structural tailwinds</a:t>
            </a:r>
            <a:endParaRPr lang="en-US" sz="1350" dirty="0"/>
          </a:p>
        </p:txBody>
      </p:sp>
      <p:sp>
        <p:nvSpPr>
          <p:cNvPr id="14" name="Text 12"/>
          <p:cNvSpPr/>
          <p:nvPr/>
        </p:nvSpPr>
        <p:spPr>
          <a:xfrm>
            <a:off x="566928" y="4626864"/>
            <a:ext cx="3520440" cy="256032"/>
          </a:xfrm>
          <a:prstGeom prst="rect">
            <a:avLst/>
          </a:prstGeom>
          <a:noFill/>
          <a:ln/>
        </p:spPr>
        <p:txBody>
          <a:bodyPr wrap="square" lIns="0" tIns="0" rIns="0" bIns="0" rtlCol="0" anchor="ctr"/>
          <a:lstStyle/>
          <a:p>
            <a:pPr indent="0" marL="0">
              <a:buNone/>
            </a:pPr>
            <a:r>
              <a:rPr lang="en-US" sz="1150" b="1" dirty="0">
                <a:solidFill>
                  <a:srgbClr val="132A4F"/>
                </a:solidFill>
                <a:latin typeface="Calibri" pitchFamily="34" charset="0"/>
                <a:ea typeface="Calibri" pitchFamily="34" charset="-122"/>
                <a:cs typeface="Calibri" pitchFamily="34" charset="-120"/>
              </a:rPr>
              <a:t>AI adoption in HR</a:t>
            </a:r>
            <a:endParaRPr lang="en-US" sz="1150" dirty="0"/>
          </a:p>
        </p:txBody>
      </p:sp>
      <p:sp>
        <p:nvSpPr>
          <p:cNvPr id="15" name="Text 13"/>
          <p:cNvSpPr/>
          <p:nvPr/>
        </p:nvSpPr>
        <p:spPr>
          <a:xfrm>
            <a:off x="566928" y="4901184"/>
            <a:ext cx="3520440" cy="960120"/>
          </a:xfrm>
          <a:prstGeom prst="rect">
            <a:avLst/>
          </a:prstGeom>
          <a:noFill/>
          <a:ln/>
        </p:spPr>
        <p:txBody>
          <a:bodyPr wrap="square" lIns="0" tIns="0" rIns="0" bIns="0" rtlCol="0" anchor="t"/>
          <a:lstStyle/>
          <a:p>
            <a:pPr indent="0" marL="0">
              <a:lnSpc>
                <a:spcPts val="1400"/>
              </a:lnSpc>
              <a:buNone/>
            </a:pPr>
            <a:r>
              <a:rPr lang="en-US" sz="1000" dirty="0">
                <a:solidFill>
                  <a:srgbClr val="5A6B7E"/>
                </a:solidFill>
                <a:latin typeface="Calibri" pitchFamily="34" charset="0"/>
                <a:ea typeface="Calibri" pitchFamily="34" charset="-122"/>
                <a:cs typeface="Calibri" pitchFamily="34" charset="-120"/>
              </a:rPr>
              <a:t>Enterprises are re-platforming recruiting workflows around AI screening, evaluation, and matching.</a:t>
            </a:r>
            <a:endParaRPr lang="en-US" sz="1000" dirty="0"/>
          </a:p>
        </p:txBody>
      </p:sp>
      <p:sp>
        <p:nvSpPr>
          <p:cNvPr id="16" name="Text 14"/>
          <p:cNvSpPr/>
          <p:nvPr/>
        </p:nvSpPr>
        <p:spPr>
          <a:xfrm>
            <a:off x="4343400" y="4626864"/>
            <a:ext cx="3520440" cy="256032"/>
          </a:xfrm>
          <a:prstGeom prst="rect">
            <a:avLst/>
          </a:prstGeom>
          <a:noFill/>
          <a:ln/>
        </p:spPr>
        <p:txBody>
          <a:bodyPr wrap="square" lIns="0" tIns="0" rIns="0" bIns="0" rtlCol="0" anchor="ctr"/>
          <a:lstStyle/>
          <a:p>
            <a:pPr indent="0" marL="0">
              <a:buNone/>
            </a:pPr>
            <a:r>
              <a:rPr lang="en-US" sz="1150" b="1" dirty="0">
                <a:solidFill>
                  <a:srgbClr val="132A4F"/>
                </a:solidFill>
                <a:latin typeface="Calibri" pitchFamily="34" charset="0"/>
                <a:ea typeface="Calibri" pitchFamily="34" charset="-122"/>
                <a:cs typeface="Calibri" pitchFamily="34" charset="-120"/>
              </a:rPr>
              <a:t>Global talent mobility</a:t>
            </a:r>
            <a:endParaRPr lang="en-US" sz="1150" dirty="0"/>
          </a:p>
        </p:txBody>
      </p:sp>
      <p:sp>
        <p:nvSpPr>
          <p:cNvPr id="17" name="Text 15"/>
          <p:cNvSpPr/>
          <p:nvPr/>
        </p:nvSpPr>
        <p:spPr>
          <a:xfrm>
            <a:off x="4343400" y="4901184"/>
            <a:ext cx="3520440" cy="960120"/>
          </a:xfrm>
          <a:prstGeom prst="rect">
            <a:avLst/>
          </a:prstGeom>
          <a:noFill/>
          <a:ln/>
        </p:spPr>
        <p:txBody>
          <a:bodyPr wrap="square" lIns="0" tIns="0" rIns="0" bIns="0" rtlCol="0" anchor="t"/>
          <a:lstStyle/>
          <a:p>
            <a:pPr indent="0" marL="0">
              <a:lnSpc>
                <a:spcPts val="1400"/>
              </a:lnSpc>
              <a:buNone/>
            </a:pPr>
            <a:r>
              <a:rPr lang="en-US" sz="1000" dirty="0">
                <a:solidFill>
                  <a:srgbClr val="5A6B7E"/>
                </a:solidFill>
                <a:latin typeface="Calibri" pitchFamily="34" charset="0"/>
                <a:ea typeface="Calibri" pitchFamily="34" charset="-122"/>
                <a:cs typeface="Calibri" pitchFamily="34" charset="-120"/>
              </a:rPr>
              <a:t>Record international study and cross-border hiring sustain demand for specialized, multilingual guidance.</a:t>
            </a:r>
            <a:endParaRPr lang="en-US" sz="1000" dirty="0"/>
          </a:p>
        </p:txBody>
      </p:sp>
      <p:sp>
        <p:nvSpPr>
          <p:cNvPr id="18" name="Text 16"/>
          <p:cNvSpPr/>
          <p:nvPr/>
        </p:nvSpPr>
        <p:spPr>
          <a:xfrm>
            <a:off x="8119872" y="4626864"/>
            <a:ext cx="3520440" cy="256032"/>
          </a:xfrm>
          <a:prstGeom prst="rect">
            <a:avLst/>
          </a:prstGeom>
          <a:noFill/>
          <a:ln/>
        </p:spPr>
        <p:txBody>
          <a:bodyPr wrap="square" lIns="0" tIns="0" rIns="0" bIns="0" rtlCol="0" anchor="ctr"/>
          <a:lstStyle/>
          <a:p>
            <a:pPr indent="0" marL="0">
              <a:buNone/>
            </a:pPr>
            <a:r>
              <a:rPr lang="en-US" sz="1150" b="1" dirty="0">
                <a:solidFill>
                  <a:srgbClr val="132A4F"/>
                </a:solidFill>
                <a:latin typeface="Calibri" pitchFamily="34" charset="0"/>
                <a:ea typeface="Calibri" pitchFamily="34" charset="-122"/>
                <a:cs typeface="Calibri" pitchFamily="34" charset="-120"/>
              </a:rPr>
              <a:t>Outcome economics</a:t>
            </a:r>
            <a:endParaRPr lang="en-US" sz="1150" dirty="0"/>
          </a:p>
        </p:txBody>
      </p:sp>
      <p:sp>
        <p:nvSpPr>
          <p:cNvPr id="19" name="Text 17"/>
          <p:cNvSpPr/>
          <p:nvPr/>
        </p:nvSpPr>
        <p:spPr>
          <a:xfrm>
            <a:off x="8119872" y="4901184"/>
            <a:ext cx="3520440" cy="960120"/>
          </a:xfrm>
          <a:prstGeom prst="rect">
            <a:avLst/>
          </a:prstGeom>
          <a:noFill/>
          <a:ln/>
        </p:spPr>
        <p:txBody>
          <a:bodyPr wrap="square" lIns="0" tIns="0" rIns="0" bIns="0" rtlCol="0" anchor="t"/>
          <a:lstStyle/>
          <a:p>
            <a:pPr indent="0" marL="0">
              <a:lnSpc>
                <a:spcPts val="1400"/>
              </a:lnSpc>
              <a:buNone/>
            </a:pPr>
            <a:r>
              <a:rPr lang="en-US" sz="1000" dirty="0">
                <a:solidFill>
                  <a:srgbClr val="5A6B7E"/>
                </a:solidFill>
                <a:latin typeface="Calibri" pitchFamily="34" charset="0"/>
                <a:ea typeface="Calibri" pitchFamily="34" charset="-122"/>
                <a:cs typeface="Calibri" pitchFamily="34" charset="-120"/>
              </a:rPr>
              <a:t>Candidates and employers increasingly pay for verified outcomes — offers and quality hires — not just access.</a:t>
            </a:r>
            <a:endParaRPr lang="en-US" sz="1000" dirty="0"/>
          </a:p>
        </p:txBody>
      </p:sp>
      <p:sp>
        <p:nvSpPr>
          <p:cNvPr id="20" name="Text 18"/>
          <p:cNvSpPr/>
          <p:nvPr/>
        </p:nvSpPr>
        <p:spPr>
          <a:xfrm>
            <a:off x="566928" y="6236208"/>
            <a:ext cx="11057839" cy="237744"/>
          </a:xfrm>
          <a:prstGeom prst="rect">
            <a:avLst/>
          </a:prstGeom>
          <a:noFill/>
          <a:ln/>
        </p:spPr>
        <p:txBody>
          <a:bodyPr wrap="square" lIns="0" tIns="0" rIns="0" bIns="0" rtlCol="0" anchor="ctr"/>
          <a:lstStyle/>
          <a:p>
            <a:pPr indent="0" marL="0">
              <a:buNone/>
            </a:pPr>
            <a:r>
              <a:rPr lang="en-US" sz="750" i="1" dirty="0">
                <a:solidFill>
                  <a:srgbClr val="5A6B7E"/>
                </a:solidFill>
                <a:latin typeface="Calibri" pitchFamily="34" charset="0"/>
                <a:ea typeface="Calibri" pitchFamily="34" charset="-122"/>
                <a:cs typeface="Calibri" pitchFamily="34" charset="-120"/>
              </a:rPr>
              <a:t>Management estimates informed by public industry research; presented for illustration.</a:t>
            </a:r>
            <a:endParaRPr lang="en-US" sz="750" dirty="0"/>
          </a:p>
        </p:txBody>
      </p:sp>
      <p:sp>
        <p:nvSpPr>
          <p:cNvPr id="21" name="Text 19"/>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22" name="Text 20"/>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THE PLATFORM</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One Platform Spanning Preparation, Placement &amp; Hiring</a:t>
            </a:r>
            <a:endParaRPr lang="en-US" sz="3000" dirty="0"/>
          </a:p>
        </p:txBody>
      </p:sp>
      <p:sp>
        <p:nvSpPr>
          <p:cNvPr id="4" name="Text 2"/>
          <p:cNvSpPr/>
          <p:nvPr/>
        </p:nvSpPr>
        <p:spPr>
          <a:xfrm>
            <a:off x="566928" y="1691640"/>
            <a:ext cx="5394960" cy="237744"/>
          </a:xfrm>
          <a:prstGeom prst="rect">
            <a:avLst/>
          </a:prstGeom>
          <a:noFill/>
          <a:ln/>
        </p:spPr>
        <p:txBody>
          <a:bodyPr wrap="square" lIns="0" tIns="0" rIns="0" bIns="0" rtlCol="0" anchor="ctr"/>
          <a:lstStyle/>
          <a:p>
            <a:pPr indent="0" marL="0">
              <a:buNone/>
            </a:pPr>
            <a:r>
              <a:rPr lang="en-US" sz="1000" b="1" spc="250" kern="0" dirty="0">
                <a:solidFill>
                  <a:srgbClr val="9A7B3F"/>
                </a:solidFill>
                <a:latin typeface="Calibri" pitchFamily="34" charset="0"/>
                <a:ea typeface="Calibri" pitchFamily="34" charset="-122"/>
                <a:cs typeface="Calibri" pitchFamily="34" charset="-120"/>
              </a:rPr>
              <a:t>FOR CANDIDATES</a:t>
            </a:r>
            <a:endParaRPr lang="en-US" sz="1000" dirty="0"/>
          </a:p>
        </p:txBody>
      </p:sp>
      <p:sp>
        <p:nvSpPr>
          <p:cNvPr id="5" name="Text 3"/>
          <p:cNvSpPr/>
          <p:nvPr/>
        </p:nvSpPr>
        <p:spPr>
          <a:xfrm>
            <a:off x="566928" y="2048256"/>
            <a:ext cx="5394960" cy="896112"/>
          </a:xfrm>
          <a:prstGeom prst="rect">
            <a:avLst/>
          </a:prstGeom>
          <a:noFill/>
          <a:ln/>
        </p:spPr>
        <p:txBody>
          <a:bodyPr wrap="square" lIns="0" tIns="0" rIns="0" bIns="0" rtlCol="0" anchor="t"/>
          <a:lstStyle/>
          <a:p>
            <a:pPr indent="0" marL="0">
              <a:lnSpc>
                <a:spcPts val="1450"/>
              </a:lnSpc>
              <a:buNone/>
            </a:pPr>
            <a:r>
              <a:rPr lang="en-US" sz="1250" b="1" dirty="0">
                <a:solidFill>
                  <a:srgbClr val="1C2733"/>
                </a:solidFill>
                <a:latin typeface="Calibri" pitchFamily="34" charset="0"/>
                <a:ea typeface="Calibri" pitchFamily="34" charset="-122"/>
                <a:cs typeface="Calibri" pitchFamily="34" charset="-120"/>
              </a:rPr>
              <a:t>AI Mock Interviews</a:t>
            </a:r>
            <a:endParaRPr lang="en-US" sz="1250" dirty="0"/>
          </a:p>
          <a:p>
            <a:pPr indent="0" marL="0">
              <a:lnSpc>
                <a:spcPts val="1450"/>
              </a:lnSpc>
              <a:buNone/>
            </a:pPr>
            <a:r>
              <a:rPr lang="en-US" sz="1050" dirty="0">
                <a:solidFill>
                  <a:srgbClr val="5A6B7E"/>
                </a:solidFill>
                <a:latin typeface="Calibri" pitchFamily="34" charset="0"/>
                <a:ea typeface="Calibri" pitchFamily="34" charset="-122"/>
                <a:cs typeface="Calibri" pitchFamily="34" charset="-120"/>
              </a:rPr>
              <a:t>Role- and company-specific practice with personalized, real-time feedback.</a:t>
            </a:r>
            <a:endParaRPr lang="en-US" sz="1250" dirty="0"/>
          </a:p>
        </p:txBody>
      </p:sp>
      <p:sp>
        <p:nvSpPr>
          <p:cNvPr id="6" name="Text 4"/>
          <p:cNvSpPr/>
          <p:nvPr/>
        </p:nvSpPr>
        <p:spPr>
          <a:xfrm>
            <a:off x="566928" y="3035808"/>
            <a:ext cx="5394960" cy="896112"/>
          </a:xfrm>
          <a:prstGeom prst="rect">
            <a:avLst/>
          </a:prstGeom>
          <a:noFill/>
          <a:ln/>
        </p:spPr>
        <p:txBody>
          <a:bodyPr wrap="square" lIns="0" tIns="0" rIns="0" bIns="0" rtlCol="0" anchor="t"/>
          <a:lstStyle/>
          <a:p>
            <a:pPr indent="0" marL="0">
              <a:lnSpc>
                <a:spcPts val="1450"/>
              </a:lnSpc>
              <a:buNone/>
            </a:pPr>
            <a:r>
              <a:rPr lang="en-US" sz="1250" b="1" dirty="0">
                <a:solidFill>
                  <a:srgbClr val="1C2733"/>
                </a:solidFill>
                <a:latin typeface="Calibri" pitchFamily="34" charset="0"/>
                <a:ea typeface="Calibri" pitchFamily="34" charset="-122"/>
                <a:cs typeface="Calibri" pitchFamily="34" charset="-120"/>
              </a:rPr>
              <a:t>Question Banks &amp; Assessments</a:t>
            </a:r>
            <a:endParaRPr lang="en-US" sz="1250" dirty="0"/>
          </a:p>
          <a:p>
            <a:pPr indent="0" marL="0">
              <a:lnSpc>
                <a:spcPts val="1450"/>
              </a:lnSpc>
              <a:buNone/>
            </a:pPr>
            <a:r>
              <a:rPr lang="en-US" sz="1050" dirty="0">
                <a:solidFill>
                  <a:srgbClr val="5A6B7E"/>
                </a:solidFill>
                <a:latin typeface="Calibri" pitchFamily="34" charset="0"/>
                <a:ea typeface="Calibri" pitchFamily="34" charset="-122"/>
                <a:cs typeface="Calibri" pitchFamily="34" charset="-120"/>
              </a:rPr>
              <a:t>Proprietary libraries of real interview questions and timed online assessments.</a:t>
            </a:r>
            <a:endParaRPr lang="en-US" sz="1250" dirty="0"/>
          </a:p>
        </p:txBody>
      </p:sp>
      <p:sp>
        <p:nvSpPr>
          <p:cNvPr id="7" name="Text 5"/>
          <p:cNvSpPr/>
          <p:nvPr/>
        </p:nvSpPr>
        <p:spPr>
          <a:xfrm>
            <a:off x="566928" y="4023360"/>
            <a:ext cx="5394960" cy="896112"/>
          </a:xfrm>
          <a:prstGeom prst="rect">
            <a:avLst/>
          </a:prstGeom>
          <a:noFill/>
          <a:ln/>
        </p:spPr>
        <p:txBody>
          <a:bodyPr wrap="square" lIns="0" tIns="0" rIns="0" bIns="0" rtlCol="0" anchor="t"/>
          <a:lstStyle/>
          <a:p>
            <a:pPr indent="0" marL="0">
              <a:lnSpc>
                <a:spcPts val="1450"/>
              </a:lnSpc>
              <a:buNone/>
            </a:pPr>
            <a:r>
              <a:rPr lang="en-US" sz="1250" b="1" dirty="0">
                <a:solidFill>
                  <a:srgbClr val="1C2733"/>
                </a:solidFill>
                <a:latin typeface="Calibri" pitchFamily="34" charset="0"/>
                <a:ea typeface="Calibri" pitchFamily="34" charset="-122"/>
                <a:cs typeface="Calibri" pitchFamily="34" charset="-120"/>
              </a:rPr>
              <a:t>Mentor Coaching</a:t>
            </a:r>
            <a:endParaRPr lang="en-US" sz="1250" dirty="0"/>
          </a:p>
          <a:p>
            <a:pPr indent="0" marL="0">
              <a:lnSpc>
                <a:spcPts val="1450"/>
              </a:lnSpc>
              <a:buNone/>
            </a:pPr>
            <a:r>
              <a:rPr lang="en-US" sz="1050" dirty="0">
                <a:solidFill>
                  <a:srgbClr val="5A6B7E"/>
                </a:solidFill>
                <a:latin typeface="Calibri" pitchFamily="34" charset="0"/>
                <a:ea typeface="Calibri" pitchFamily="34" charset="-122"/>
                <a:cs typeface="Calibri" pitchFamily="34" charset="-120"/>
              </a:rPr>
              <a:t>One-on-one guidance from practitioners at leading global employers.</a:t>
            </a:r>
            <a:endParaRPr lang="en-US" sz="1250" dirty="0"/>
          </a:p>
        </p:txBody>
      </p:sp>
      <p:sp>
        <p:nvSpPr>
          <p:cNvPr id="8" name="Text 6"/>
          <p:cNvSpPr/>
          <p:nvPr/>
        </p:nvSpPr>
        <p:spPr>
          <a:xfrm>
            <a:off x="566928" y="5010912"/>
            <a:ext cx="5394960" cy="896112"/>
          </a:xfrm>
          <a:prstGeom prst="rect">
            <a:avLst/>
          </a:prstGeom>
          <a:noFill/>
          <a:ln/>
        </p:spPr>
        <p:txBody>
          <a:bodyPr wrap="square" lIns="0" tIns="0" rIns="0" bIns="0" rtlCol="0" anchor="t"/>
          <a:lstStyle/>
          <a:p>
            <a:pPr indent="0" marL="0">
              <a:lnSpc>
                <a:spcPts val="1450"/>
              </a:lnSpc>
              <a:buNone/>
            </a:pPr>
            <a:r>
              <a:rPr lang="en-US" sz="1250" b="1" dirty="0">
                <a:solidFill>
                  <a:srgbClr val="1C2733"/>
                </a:solidFill>
                <a:latin typeface="Calibri" pitchFamily="34" charset="0"/>
                <a:ea typeface="Calibri" pitchFamily="34" charset="-122"/>
                <a:cs typeface="Calibri" pitchFamily="34" charset="-120"/>
              </a:rPr>
              <a:t>Referrals &amp; Placement</a:t>
            </a:r>
            <a:endParaRPr lang="en-US" sz="1250" dirty="0"/>
          </a:p>
          <a:p>
            <a:pPr indent="0" marL="0">
              <a:lnSpc>
                <a:spcPts val="1450"/>
              </a:lnSpc>
              <a:buNone/>
            </a:pPr>
            <a:r>
              <a:rPr lang="en-US" sz="1050" dirty="0">
                <a:solidFill>
                  <a:srgbClr val="5A6B7E"/>
                </a:solidFill>
                <a:latin typeface="Calibri" pitchFamily="34" charset="0"/>
                <a:ea typeface="Calibri" pitchFamily="34" charset="-122"/>
                <a:cs typeface="Calibri" pitchFamily="34" charset="-120"/>
              </a:rPr>
              <a:t>Internship and full-time referral programs, including outcome-based offerings.</a:t>
            </a:r>
            <a:endParaRPr lang="en-US" sz="1250" dirty="0"/>
          </a:p>
        </p:txBody>
      </p:sp>
      <p:sp>
        <p:nvSpPr>
          <p:cNvPr id="9" name="Text 7"/>
          <p:cNvSpPr/>
          <p:nvPr/>
        </p:nvSpPr>
        <p:spPr>
          <a:xfrm>
            <a:off x="6492240" y="1691640"/>
            <a:ext cx="5120640" cy="237744"/>
          </a:xfrm>
          <a:prstGeom prst="rect">
            <a:avLst/>
          </a:prstGeom>
          <a:noFill/>
          <a:ln/>
        </p:spPr>
        <p:txBody>
          <a:bodyPr wrap="square" lIns="0" tIns="0" rIns="0" bIns="0" rtlCol="0" anchor="ctr"/>
          <a:lstStyle/>
          <a:p>
            <a:pPr indent="0" marL="0">
              <a:buNone/>
            </a:pPr>
            <a:r>
              <a:rPr lang="en-US" sz="1000" b="1" spc="250" kern="0" dirty="0">
                <a:solidFill>
                  <a:srgbClr val="9A7B3F"/>
                </a:solidFill>
                <a:latin typeface="Calibri" pitchFamily="34" charset="0"/>
                <a:ea typeface="Calibri" pitchFamily="34" charset="-122"/>
                <a:cs typeface="Calibri" pitchFamily="34" charset="-120"/>
              </a:rPr>
              <a:t>FOR EMPLOYERS</a:t>
            </a:r>
            <a:endParaRPr lang="en-US" sz="1000" dirty="0"/>
          </a:p>
        </p:txBody>
      </p:sp>
      <p:sp>
        <p:nvSpPr>
          <p:cNvPr id="10" name="Text 8"/>
          <p:cNvSpPr/>
          <p:nvPr/>
        </p:nvSpPr>
        <p:spPr>
          <a:xfrm>
            <a:off x="6492240" y="2048256"/>
            <a:ext cx="5120640" cy="896112"/>
          </a:xfrm>
          <a:prstGeom prst="rect">
            <a:avLst/>
          </a:prstGeom>
          <a:noFill/>
          <a:ln/>
        </p:spPr>
        <p:txBody>
          <a:bodyPr wrap="square" lIns="0" tIns="0" rIns="0" bIns="0" rtlCol="0" anchor="t"/>
          <a:lstStyle/>
          <a:p>
            <a:pPr indent="0" marL="0">
              <a:lnSpc>
                <a:spcPts val="1450"/>
              </a:lnSpc>
              <a:buNone/>
            </a:pPr>
            <a:r>
              <a:rPr lang="en-US" sz="1250" b="1" dirty="0">
                <a:solidFill>
                  <a:srgbClr val="1C2733"/>
                </a:solidFill>
                <a:latin typeface="Calibri" pitchFamily="34" charset="0"/>
                <a:ea typeface="Calibri" pitchFamily="34" charset="-122"/>
                <a:cs typeface="Calibri" pitchFamily="34" charset="-120"/>
              </a:rPr>
              <a:t>AI Candidate Screening</a:t>
            </a:r>
            <a:endParaRPr lang="en-US" sz="1250" dirty="0"/>
          </a:p>
          <a:p>
            <a:pPr indent="0" marL="0">
              <a:lnSpc>
                <a:spcPts val="1450"/>
              </a:lnSpc>
              <a:buNone/>
            </a:pPr>
            <a:r>
              <a:rPr lang="en-US" sz="1050" dirty="0">
                <a:solidFill>
                  <a:srgbClr val="5A6B7E"/>
                </a:solidFill>
                <a:latin typeface="Calibri" pitchFamily="34" charset="0"/>
                <a:ea typeface="Calibri" pitchFamily="34" charset="-122"/>
                <a:cs typeface="Calibri" pitchFamily="34" charset="-120"/>
              </a:rPr>
              <a:t>Semantic evaluation of fit, capability, and readiness at scale.</a:t>
            </a:r>
            <a:endParaRPr lang="en-US" sz="1250" dirty="0"/>
          </a:p>
        </p:txBody>
      </p:sp>
      <p:sp>
        <p:nvSpPr>
          <p:cNvPr id="11" name="Text 9"/>
          <p:cNvSpPr/>
          <p:nvPr/>
        </p:nvSpPr>
        <p:spPr>
          <a:xfrm>
            <a:off x="6492240" y="3035808"/>
            <a:ext cx="5120640" cy="896112"/>
          </a:xfrm>
          <a:prstGeom prst="rect">
            <a:avLst/>
          </a:prstGeom>
          <a:noFill/>
          <a:ln/>
        </p:spPr>
        <p:txBody>
          <a:bodyPr wrap="square" lIns="0" tIns="0" rIns="0" bIns="0" rtlCol="0" anchor="t"/>
          <a:lstStyle/>
          <a:p>
            <a:pPr indent="0" marL="0">
              <a:lnSpc>
                <a:spcPts val="1450"/>
              </a:lnSpc>
              <a:buNone/>
            </a:pPr>
            <a:r>
              <a:rPr lang="en-US" sz="1250" b="1" dirty="0">
                <a:solidFill>
                  <a:srgbClr val="1C2733"/>
                </a:solidFill>
                <a:latin typeface="Calibri" pitchFamily="34" charset="0"/>
                <a:ea typeface="Calibri" pitchFamily="34" charset="-122"/>
                <a:cs typeface="Calibri" pitchFamily="34" charset="-120"/>
              </a:rPr>
              <a:t>Job Posting Optimization</a:t>
            </a:r>
            <a:endParaRPr lang="en-US" sz="1250" dirty="0"/>
          </a:p>
          <a:p>
            <a:pPr indent="0" marL="0">
              <a:lnSpc>
                <a:spcPts val="1450"/>
              </a:lnSpc>
              <a:buNone/>
            </a:pPr>
            <a:r>
              <a:rPr lang="en-US" sz="1050" dirty="0">
                <a:solidFill>
                  <a:srgbClr val="5A6B7E"/>
                </a:solidFill>
                <a:latin typeface="Calibri" pitchFamily="34" charset="0"/>
                <a:ea typeface="Calibri" pitchFamily="34" charset="-122"/>
                <a:cs typeface="Calibri" pitchFamily="34" charset="-120"/>
              </a:rPr>
              <a:t>AI-assisted role definition and sourcing precision.</a:t>
            </a:r>
            <a:endParaRPr lang="en-US" sz="1250" dirty="0"/>
          </a:p>
        </p:txBody>
      </p:sp>
      <p:sp>
        <p:nvSpPr>
          <p:cNvPr id="12" name="Text 10"/>
          <p:cNvSpPr/>
          <p:nvPr/>
        </p:nvSpPr>
        <p:spPr>
          <a:xfrm>
            <a:off x="6492240" y="4023360"/>
            <a:ext cx="5120640" cy="896112"/>
          </a:xfrm>
          <a:prstGeom prst="rect">
            <a:avLst/>
          </a:prstGeom>
          <a:noFill/>
          <a:ln/>
        </p:spPr>
        <p:txBody>
          <a:bodyPr wrap="square" lIns="0" tIns="0" rIns="0" bIns="0" rtlCol="0" anchor="t"/>
          <a:lstStyle/>
          <a:p>
            <a:pPr indent="0" marL="0">
              <a:lnSpc>
                <a:spcPts val="1450"/>
              </a:lnSpc>
              <a:buNone/>
            </a:pPr>
            <a:r>
              <a:rPr lang="en-US" sz="1250" b="1" dirty="0">
                <a:solidFill>
                  <a:srgbClr val="1C2733"/>
                </a:solidFill>
                <a:latin typeface="Calibri" pitchFamily="34" charset="0"/>
                <a:ea typeface="Calibri" pitchFamily="34" charset="-122"/>
                <a:cs typeface="Calibri" pitchFamily="34" charset="-120"/>
              </a:rPr>
              <a:t>Talent Evaluation</a:t>
            </a:r>
            <a:endParaRPr lang="en-US" sz="1250" dirty="0"/>
          </a:p>
          <a:p>
            <a:pPr indent="0" marL="0">
              <a:lnSpc>
                <a:spcPts val="1450"/>
              </a:lnSpc>
              <a:buNone/>
            </a:pPr>
            <a:r>
              <a:rPr lang="en-US" sz="1050" dirty="0">
                <a:solidFill>
                  <a:srgbClr val="5A6B7E"/>
                </a:solidFill>
                <a:latin typeface="Calibri" pitchFamily="34" charset="0"/>
                <a:ea typeface="Calibri" pitchFamily="34" charset="-122"/>
                <a:cs typeface="Calibri" pitchFamily="34" charset="-120"/>
              </a:rPr>
              <a:t>Structured assessment and interview analytics for confident decisions.</a:t>
            </a:r>
            <a:endParaRPr lang="en-US" sz="1250" dirty="0"/>
          </a:p>
        </p:txBody>
      </p:sp>
      <p:sp>
        <p:nvSpPr>
          <p:cNvPr id="13" name="Shape 11"/>
          <p:cNvSpPr/>
          <p:nvPr/>
        </p:nvSpPr>
        <p:spPr>
          <a:xfrm>
            <a:off x="6492240" y="4956048"/>
            <a:ext cx="5120640" cy="1115568"/>
          </a:xfrm>
          <a:prstGeom prst="rect">
            <a:avLst/>
          </a:prstGeom>
          <a:solidFill>
            <a:srgbClr val="F3F6F9"/>
          </a:solidFill>
          <a:ln/>
        </p:spPr>
      </p:sp>
      <p:sp>
        <p:nvSpPr>
          <p:cNvPr id="14" name="Text 12"/>
          <p:cNvSpPr/>
          <p:nvPr/>
        </p:nvSpPr>
        <p:spPr>
          <a:xfrm>
            <a:off x="6720840" y="5084064"/>
            <a:ext cx="4663440" cy="868680"/>
          </a:xfrm>
          <a:prstGeom prst="rect">
            <a:avLst/>
          </a:prstGeom>
          <a:noFill/>
          <a:ln/>
        </p:spPr>
        <p:txBody>
          <a:bodyPr wrap="square" lIns="0" tIns="0" rIns="0" bIns="0" rtlCol="0" anchor="ctr"/>
          <a:lstStyle/>
          <a:p>
            <a:pPr indent="0" marL="0">
              <a:lnSpc>
                <a:spcPts val="1450"/>
              </a:lnSpc>
              <a:buNone/>
            </a:pPr>
            <a:r>
              <a:rPr lang="en-US" sz="1050" b="1" i="1" dirty="0">
                <a:solidFill>
                  <a:srgbClr val="132A4F"/>
                </a:solidFill>
                <a:latin typeface="Calibri" pitchFamily="34" charset="0"/>
                <a:ea typeface="Calibri" pitchFamily="34" charset="-122"/>
                <a:cs typeface="Calibri" pitchFamily="34" charset="-120"/>
              </a:rPr>
              <a:t>The flywheel:  </a:t>
            </a:r>
            <a:pPr indent="0" marL="0">
              <a:lnSpc>
                <a:spcPts val="1450"/>
              </a:lnSpc>
              <a:buNone/>
            </a:pPr>
            <a:r>
              <a:rPr lang="en-US" sz="1050" i="1" dirty="0">
                <a:solidFill>
                  <a:srgbClr val="5A6B7E"/>
                </a:solidFill>
                <a:latin typeface="Calibri" pitchFamily="34" charset="0"/>
                <a:ea typeface="Calibri" pitchFamily="34" charset="-122"/>
                <a:cs typeface="Calibri" pitchFamily="34" charset="-120"/>
              </a:rPr>
              <a:t>candidate outcomes generate proprietary data that sharpens matching and screening for employers — a compounding advantage on both sides of the market.</a:t>
            </a:r>
            <a:endParaRPr lang="en-US" sz="1050" dirty="0"/>
          </a:p>
        </p:txBody>
      </p:sp>
      <p:sp>
        <p:nvSpPr>
          <p:cNvPr id="15" name="Text 13"/>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16" name="Text 14"/>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TECHNOLOGY</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Enterprise-Grade AI, Built with Alibaba Cloud</a:t>
            </a:r>
            <a:endParaRPr lang="en-US" sz="3000" dirty="0"/>
          </a:p>
        </p:txBody>
      </p:sp>
      <p:sp>
        <p:nvSpPr>
          <p:cNvPr id="4" name="Text 2"/>
          <p:cNvSpPr/>
          <p:nvPr/>
        </p:nvSpPr>
        <p:spPr>
          <a:xfrm>
            <a:off x="566928" y="1719072"/>
            <a:ext cx="5760720" cy="274320"/>
          </a:xfrm>
          <a:prstGeom prst="rect">
            <a:avLst/>
          </a:prstGeom>
          <a:noFill/>
          <a:ln/>
        </p:spPr>
        <p:txBody>
          <a:bodyPr wrap="square" lIns="0" tIns="0" rIns="0" bIns="0" rtlCol="0" anchor="ctr"/>
          <a:lstStyle/>
          <a:p>
            <a:pPr indent="0" marL="0">
              <a:buNone/>
            </a:pPr>
            <a:r>
              <a:rPr lang="en-US" sz="1300" b="1" dirty="0">
                <a:solidFill>
                  <a:srgbClr val="132A4F"/>
                </a:solidFill>
                <a:latin typeface="Calibri" pitchFamily="34" charset="0"/>
                <a:ea typeface="Calibri" pitchFamily="34" charset="-122"/>
                <a:cs typeface="Calibri" pitchFamily="34" charset="-120"/>
              </a:rPr>
              <a:t>Alibaba Cloud AI partnership — July 2025</a:t>
            </a:r>
            <a:endParaRPr lang="en-US" sz="1300" dirty="0"/>
          </a:p>
        </p:txBody>
      </p:sp>
      <p:sp>
        <p:nvSpPr>
          <p:cNvPr id="5" name="Text 3"/>
          <p:cNvSpPr/>
          <p:nvPr/>
        </p:nvSpPr>
        <p:spPr>
          <a:xfrm>
            <a:off x="566928" y="2048256"/>
            <a:ext cx="5760720" cy="1143000"/>
          </a:xfrm>
          <a:prstGeom prst="rect">
            <a:avLst/>
          </a:prstGeom>
          <a:noFill/>
          <a:ln/>
        </p:spPr>
        <p:txBody>
          <a:bodyPr wrap="square" lIns="0" tIns="0" rIns="0" bIns="0" rtlCol="0" anchor="t"/>
          <a:lstStyle/>
          <a:p>
            <a:pPr indent="0" marL="0">
              <a:lnSpc>
                <a:spcPts val="1550"/>
              </a:lnSpc>
              <a:buNone/>
            </a:pPr>
            <a:r>
              <a:rPr lang="en-US" sz="1100" dirty="0">
                <a:solidFill>
                  <a:srgbClr val="5A6B7E"/>
                </a:solidFill>
                <a:latin typeface="Calibri" pitchFamily="34" charset="0"/>
                <a:ea typeface="Calibri" pitchFamily="34" charset="-122"/>
                <a:cs typeface="Calibri" pitchFamily="34" charset="-120"/>
              </a:rPr>
              <a:t>A deep collaboration integrating frontier AI capability across the platform — the Tongyi large language model, natural-language processing, LLM inference, intelligent recommendation, and semantic search — on enterprise-grade compute and security infrastructure.</a:t>
            </a:r>
            <a:endParaRPr lang="en-US" sz="1100" dirty="0"/>
          </a:p>
        </p:txBody>
      </p:sp>
      <p:sp>
        <p:nvSpPr>
          <p:cNvPr id="6" name="Text 4"/>
          <p:cNvSpPr/>
          <p:nvPr/>
        </p:nvSpPr>
        <p:spPr>
          <a:xfrm>
            <a:off x="566928" y="3310128"/>
            <a:ext cx="5760720" cy="1280160"/>
          </a:xfrm>
          <a:prstGeom prst="rect">
            <a:avLst/>
          </a:prstGeom>
          <a:noFill/>
          <a:ln/>
        </p:spPr>
        <p:txBody>
          <a:bodyPr wrap="square" lIns="0" tIns="0" rIns="0" bIns="0" rtlCol="0" anchor="t"/>
          <a:lstStyle/>
          <a:p>
            <a:pPr marL="152400" indent="-152400">
              <a:lnSpc>
                <a:spcPts val="1400"/>
              </a:lnSpc>
              <a:spcAft>
                <a:spcPts val="800"/>
              </a:spcAft>
              <a:buSzPct val="100000"/>
              <a:buChar char="•"/>
            </a:pPr>
            <a:r>
              <a:rPr lang="en-US" sz="1050" dirty="0">
                <a:solidFill>
                  <a:srgbClr val="5A6B7E"/>
                </a:solidFill>
                <a:latin typeface="Calibri" pitchFamily="34" charset="0"/>
                <a:ea typeface="Calibri" pitchFamily="34" charset="-122"/>
                <a:cs typeface="Calibri" pitchFamily="34" charset="-120"/>
              </a:rPr>
              <a:t>AI Career Advisor delivering personalized career-path recommendations</a:t>
            </a:r>
            <a:endParaRPr lang="en-US" sz="1050" dirty="0"/>
          </a:p>
          <a:p>
            <a:pPr marL="152400" indent="-152400">
              <a:lnSpc>
                <a:spcPts val="1400"/>
              </a:lnSpc>
              <a:spcAft>
                <a:spcPts val="800"/>
              </a:spcAft>
              <a:buSzPct val="100000"/>
              <a:buChar char="•"/>
            </a:pPr>
            <a:r>
              <a:rPr lang="en-US" sz="1050" dirty="0">
                <a:solidFill>
                  <a:srgbClr val="5A6B7E"/>
                </a:solidFill>
                <a:latin typeface="Calibri" pitchFamily="34" charset="0"/>
                <a:ea typeface="Calibri" pitchFamily="34" charset="-122"/>
                <a:cs typeface="Calibri" pitchFamily="34" charset="-120"/>
              </a:rPr>
              <a:t>Intelligent matching and screening for precise candidate–role fit</a:t>
            </a:r>
            <a:endParaRPr lang="en-US" sz="1050" dirty="0"/>
          </a:p>
          <a:p>
            <a:pPr marL="152400" indent="-152400">
              <a:lnSpc>
                <a:spcPts val="1400"/>
              </a:lnSpc>
              <a:spcAft>
                <a:spcPts val="800"/>
              </a:spcAft>
              <a:buSzPct val="100000"/>
              <a:buChar char="•"/>
            </a:pPr>
            <a:r>
              <a:rPr lang="en-US" sz="1050" dirty="0">
                <a:solidFill>
                  <a:srgbClr val="5A6B7E"/>
                </a:solidFill>
                <a:latin typeface="Calibri" pitchFamily="34" charset="0"/>
                <a:ea typeface="Calibri" pitchFamily="34" charset="-122"/>
                <a:cs typeface="Calibri" pitchFamily="34" charset="-120"/>
              </a:rPr>
              <a:t>Enterprise data-security framework protecting user privacy</a:t>
            </a:r>
            <a:endParaRPr lang="en-US" sz="1050" dirty="0"/>
          </a:p>
        </p:txBody>
      </p:sp>
      <p:sp>
        <p:nvSpPr>
          <p:cNvPr id="7" name="Text 5"/>
          <p:cNvSpPr/>
          <p:nvPr/>
        </p:nvSpPr>
        <p:spPr>
          <a:xfrm>
            <a:off x="566928" y="4736592"/>
            <a:ext cx="5760720" cy="274320"/>
          </a:xfrm>
          <a:prstGeom prst="rect">
            <a:avLst/>
          </a:prstGeom>
          <a:noFill/>
          <a:ln/>
        </p:spPr>
        <p:txBody>
          <a:bodyPr wrap="square" lIns="0" tIns="0" rIns="0" bIns="0" rtlCol="0" anchor="ctr"/>
          <a:lstStyle/>
          <a:p>
            <a:pPr indent="0" marL="0">
              <a:buNone/>
            </a:pPr>
            <a:r>
              <a:rPr lang="en-US" sz="1300" b="1" dirty="0">
                <a:solidFill>
                  <a:srgbClr val="132A4F"/>
                </a:solidFill>
                <a:latin typeface="Calibri" pitchFamily="34" charset="0"/>
                <a:ea typeface="Calibri" pitchFamily="34" charset="-122"/>
                <a:cs typeface="Calibri" pitchFamily="34" charset="-120"/>
              </a:rPr>
              <a:t>Proprietary data moat</a:t>
            </a:r>
            <a:endParaRPr lang="en-US" sz="1300" dirty="0"/>
          </a:p>
        </p:txBody>
      </p:sp>
      <p:sp>
        <p:nvSpPr>
          <p:cNvPr id="8" name="Text 6"/>
          <p:cNvSpPr/>
          <p:nvPr/>
        </p:nvSpPr>
        <p:spPr>
          <a:xfrm>
            <a:off x="566928" y="5065776"/>
            <a:ext cx="5760720" cy="914400"/>
          </a:xfrm>
          <a:prstGeom prst="rect">
            <a:avLst/>
          </a:prstGeom>
          <a:noFill/>
          <a:ln/>
        </p:spPr>
        <p:txBody>
          <a:bodyPr wrap="square" lIns="0" tIns="0" rIns="0" bIns="0" rtlCol="0" anchor="t"/>
          <a:lstStyle/>
          <a:p>
            <a:pPr indent="0" marL="0">
              <a:lnSpc>
                <a:spcPts val="1550"/>
              </a:lnSpc>
              <a:buNone/>
            </a:pPr>
            <a:r>
              <a:rPr lang="en-US" sz="1100" dirty="0">
                <a:solidFill>
                  <a:srgbClr val="5A6B7E"/>
                </a:solidFill>
                <a:latin typeface="Calibri" pitchFamily="34" charset="0"/>
                <a:ea typeface="Calibri" pitchFamily="34" charset="-122"/>
                <a:cs typeface="Calibri" pitchFamily="34" charset="-120"/>
              </a:rPr>
              <a:t>A decade of accumulated interview questions, outcome-labeled placement data, and mentor feedback loops — assets that generic models and job boards cannot readily replicate.</a:t>
            </a:r>
            <a:endParaRPr lang="en-US" sz="1100" dirty="0"/>
          </a:p>
        </p:txBody>
      </p:sp>
      <p:sp>
        <p:nvSpPr>
          <p:cNvPr id="9" name="Shape 7"/>
          <p:cNvSpPr/>
          <p:nvPr/>
        </p:nvSpPr>
        <p:spPr>
          <a:xfrm>
            <a:off x="6903720" y="1847088"/>
            <a:ext cx="4709160" cy="1042416"/>
          </a:xfrm>
          <a:prstGeom prst="rect">
            <a:avLst/>
          </a:prstGeom>
          <a:solidFill>
            <a:srgbClr val="132A4F"/>
          </a:solidFill>
          <a:ln/>
        </p:spPr>
      </p:sp>
      <p:sp>
        <p:nvSpPr>
          <p:cNvPr id="10" name="Text 8"/>
          <p:cNvSpPr/>
          <p:nvPr/>
        </p:nvSpPr>
        <p:spPr>
          <a:xfrm>
            <a:off x="7178040" y="1975104"/>
            <a:ext cx="4160520" cy="822960"/>
          </a:xfrm>
          <a:prstGeom prst="rect">
            <a:avLst/>
          </a:prstGeom>
          <a:noFill/>
          <a:ln/>
        </p:spPr>
        <p:txBody>
          <a:bodyPr wrap="square" lIns="0" tIns="0" rIns="0" bIns="0" rtlCol="0" anchor="ctr"/>
          <a:lstStyle/>
          <a:p>
            <a:pPr indent="0" marL="0">
              <a:lnSpc>
                <a:spcPts val="1400"/>
              </a:lnSpc>
              <a:buNone/>
            </a:pPr>
            <a:r>
              <a:rPr lang="en-US" sz="1000" b="1" spc="200" kern="0" dirty="0">
                <a:solidFill>
                  <a:srgbClr val="FFFFFF"/>
                </a:solidFill>
                <a:latin typeface="Calibri" pitchFamily="34" charset="0"/>
                <a:ea typeface="Calibri" pitchFamily="34" charset="-122"/>
                <a:cs typeface="Calibri" pitchFamily="34" charset="-120"/>
              </a:rPr>
              <a:t>APPLICATIONS</a:t>
            </a:r>
            <a:endParaRPr lang="en-US" sz="1000" dirty="0"/>
          </a:p>
          <a:p>
            <a:pPr indent="0" marL="0">
              <a:lnSpc>
                <a:spcPts val="1400"/>
              </a:lnSpc>
              <a:buNone/>
            </a:pPr>
            <a:r>
              <a:rPr lang="en-US" sz="1050" dirty="0">
                <a:solidFill>
                  <a:srgbClr val="FFFFFF"/>
                </a:solidFill>
                <a:latin typeface="Calibri" pitchFamily="34" charset="0"/>
                <a:ea typeface="Calibri" pitchFamily="34" charset="-122"/>
                <a:cs typeface="Calibri" pitchFamily="34" charset="-120"/>
              </a:rPr>
              <a:t>Mock Interviews · Career Advisor · Matching · Screening</a:t>
            </a:r>
            <a:endParaRPr lang="en-US" sz="1000" dirty="0"/>
          </a:p>
        </p:txBody>
      </p:sp>
      <p:sp>
        <p:nvSpPr>
          <p:cNvPr id="11" name="Shape 9"/>
          <p:cNvSpPr/>
          <p:nvPr/>
        </p:nvSpPr>
        <p:spPr>
          <a:xfrm>
            <a:off x="6903720" y="3072384"/>
            <a:ext cx="4709160" cy="1042416"/>
          </a:xfrm>
          <a:prstGeom prst="rect">
            <a:avLst/>
          </a:prstGeom>
          <a:solidFill>
            <a:srgbClr val="44639A"/>
          </a:solidFill>
          <a:ln/>
        </p:spPr>
      </p:sp>
      <p:sp>
        <p:nvSpPr>
          <p:cNvPr id="12" name="Text 10"/>
          <p:cNvSpPr/>
          <p:nvPr/>
        </p:nvSpPr>
        <p:spPr>
          <a:xfrm>
            <a:off x="7178040" y="3200400"/>
            <a:ext cx="4160520" cy="822960"/>
          </a:xfrm>
          <a:prstGeom prst="rect">
            <a:avLst/>
          </a:prstGeom>
          <a:noFill/>
          <a:ln/>
        </p:spPr>
        <p:txBody>
          <a:bodyPr wrap="square" lIns="0" tIns="0" rIns="0" bIns="0" rtlCol="0" anchor="ctr"/>
          <a:lstStyle/>
          <a:p>
            <a:pPr indent="0" marL="0">
              <a:lnSpc>
                <a:spcPts val="1400"/>
              </a:lnSpc>
              <a:buNone/>
            </a:pPr>
            <a:r>
              <a:rPr lang="en-US" sz="1000" b="1" spc="200" kern="0" dirty="0">
                <a:solidFill>
                  <a:srgbClr val="FFFFFF"/>
                </a:solidFill>
                <a:latin typeface="Calibri" pitchFamily="34" charset="0"/>
                <a:ea typeface="Calibri" pitchFamily="34" charset="-122"/>
                <a:cs typeface="Calibri" pitchFamily="34" charset="-120"/>
              </a:rPr>
              <a:t>INTELLIGENCE</a:t>
            </a:r>
            <a:endParaRPr lang="en-US" sz="1000" dirty="0"/>
          </a:p>
          <a:p>
            <a:pPr indent="0" marL="0">
              <a:lnSpc>
                <a:spcPts val="1400"/>
              </a:lnSpc>
              <a:buNone/>
            </a:pPr>
            <a:r>
              <a:rPr lang="en-US" sz="1050" dirty="0">
                <a:solidFill>
                  <a:srgbClr val="FFFFFF"/>
                </a:solidFill>
                <a:latin typeface="Calibri" pitchFamily="34" charset="0"/>
                <a:ea typeface="Calibri" pitchFamily="34" charset="-122"/>
                <a:cs typeface="Calibri" pitchFamily="34" charset="-120"/>
              </a:rPr>
              <a:t>Tongyi LLM · NLP · Semantic Search · Recommendation</a:t>
            </a:r>
            <a:endParaRPr lang="en-US" sz="1000" dirty="0"/>
          </a:p>
        </p:txBody>
      </p:sp>
      <p:sp>
        <p:nvSpPr>
          <p:cNvPr id="13" name="Shape 11"/>
          <p:cNvSpPr/>
          <p:nvPr/>
        </p:nvSpPr>
        <p:spPr>
          <a:xfrm>
            <a:off x="6903720" y="4297680"/>
            <a:ext cx="4709160" cy="1042416"/>
          </a:xfrm>
          <a:prstGeom prst="rect">
            <a:avLst/>
          </a:prstGeom>
          <a:solidFill>
            <a:srgbClr val="F3F6F9"/>
          </a:solidFill>
          <a:ln/>
        </p:spPr>
      </p:sp>
      <p:sp>
        <p:nvSpPr>
          <p:cNvPr id="14" name="Text 12"/>
          <p:cNvSpPr/>
          <p:nvPr/>
        </p:nvSpPr>
        <p:spPr>
          <a:xfrm>
            <a:off x="7178040" y="4425696"/>
            <a:ext cx="4160520" cy="822960"/>
          </a:xfrm>
          <a:prstGeom prst="rect">
            <a:avLst/>
          </a:prstGeom>
          <a:noFill/>
          <a:ln/>
        </p:spPr>
        <p:txBody>
          <a:bodyPr wrap="square" lIns="0" tIns="0" rIns="0" bIns="0" rtlCol="0" anchor="ctr"/>
          <a:lstStyle/>
          <a:p>
            <a:pPr indent="0" marL="0">
              <a:lnSpc>
                <a:spcPts val="1400"/>
              </a:lnSpc>
              <a:buNone/>
            </a:pPr>
            <a:r>
              <a:rPr lang="en-US" sz="1000" b="1" spc="200" kern="0" dirty="0">
                <a:solidFill>
                  <a:srgbClr val="1C2733"/>
                </a:solidFill>
                <a:latin typeface="Calibri" pitchFamily="34" charset="0"/>
                <a:ea typeface="Calibri" pitchFamily="34" charset="-122"/>
                <a:cs typeface="Calibri" pitchFamily="34" charset="-120"/>
              </a:rPr>
              <a:t>DATA &amp; INFRASTRUCTURE</a:t>
            </a:r>
            <a:endParaRPr lang="en-US" sz="1000" dirty="0"/>
          </a:p>
          <a:p>
            <a:pPr indent="0" marL="0">
              <a:lnSpc>
                <a:spcPts val="1400"/>
              </a:lnSpc>
              <a:buNone/>
            </a:pPr>
            <a:r>
              <a:rPr lang="en-US" sz="1050" dirty="0">
                <a:solidFill>
                  <a:srgbClr val="1C2733"/>
                </a:solidFill>
                <a:latin typeface="Calibri" pitchFamily="34" charset="0"/>
                <a:ea typeface="Calibri" pitchFamily="34" charset="-122"/>
                <a:cs typeface="Calibri" pitchFamily="34" charset="-120"/>
              </a:rPr>
              <a:t>Proprietary question corpus · Outcome data · Alibaba Cloud</a:t>
            </a:r>
            <a:endParaRPr lang="en-US" sz="1000" dirty="0"/>
          </a:p>
        </p:txBody>
      </p:sp>
      <p:sp>
        <p:nvSpPr>
          <p:cNvPr id="15" name="Text 13"/>
          <p:cNvSpPr/>
          <p:nvPr/>
        </p:nvSpPr>
        <p:spPr>
          <a:xfrm>
            <a:off x="6903720" y="5468112"/>
            <a:ext cx="4709160" cy="228600"/>
          </a:xfrm>
          <a:prstGeom prst="rect">
            <a:avLst/>
          </a:prstGeom>
          <a:noFill/>
          <a:ln/>
        </p:spPr>
        <p:txBody>
          <a:bodyPr wrap="square" lIns="0" tIns="0" rIns="0" bIns="0" rtlCol="0" anchor="ctr"/>
          <a:lstStyle/>
          <a:p>
            <a:pPr algn="ctr" indent="0" marL="0">
              <a:buNone/>
            </a:pPr>
            <a:r>
              <a:rPr lang="en-US" sz="900" i="1" dirty="0">
                <a:solidFill>
                  <a:srgbClr val="5A6B7E"/>
                </a:solidFill>
                <a:latin typeface="Calibri" pitchFamily="34" charset="0"/>
                <a:ea typeface="Calibri" pitchFamily="34" charset="-122"/>
                <a:cs typeface="Calibri" pitchFamily="34" charset="-120"/>
              </a:rPr>
              <a:t>Platform architecture (simplified)</a:t>
            </a:r>
            <a:endParaRPr lang="en-US" sz="900" dirty="0"/>
          </a:p>
        </p:txBody>
      </p:sp>
      <p:sp>
        <p:nvSpPr>
          <p:cNvPr id="16" name="Text 14"/>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17" name="Text 15"/>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BUSINESS MODEL</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Diversified, Outcome-Aligned Revenue</a:t>
            </a:r>
            <a:endParaRPr lang="en-US" sz="3000" dirty="0"/>
          </a:p>
        </p:txBody>
      </p:sp>
      <p:sp>
        <p:nvSpPr>
          <p:cNvPr id="4" name="Shape 2"/>
          <p:cNvSpPr/>
          <p:nvPr/>
        </p:nvSpPr>
        <p:spPr>
          <a:xfrm>
            <a:off x="566928" y="1691640"/>
            <a:ext cx="3520440" cy="3246120"/>
          </a:xfrm>
          <a:prstGeom prst="rect">
            <a:avLst/>
          </a:prstGeom>
          <a:solidFill>
            <a:srgbClr val="F3F6F9"/>
          </a:solidFill>
          <a:ln/>
        </p:spPr>
      </p:sp>
      <p:sp>
        <p:nvSpPr>
          <p:cNvPr id="5" name="Text 3"/>
          <p:cNvSpPr/>
          <p:nvPr/>
        </p:nvSpPr>
        <p:spPr>
          <a:xfrm>
            <a:off x="822960" y="1947672"/>
            <a:ext cx="3017520" cy="237744"/>
          </a:xfrm>
          <a:prstGeom prst="rect">
            <a:avLst/>
          </a:prstGeom>
          <a:noFill/>
          <a:ln/>
        </p:spPr>
        <p:txBody>
          <a:bodyPr wrap="square" lIns="0" tIns="0" rIns="0" bIns="0" rtlCol="0" anchor="ctr"/>
          <a:lstStyle/>
          <a:p>
            <a:pPr indent="0" marL="0">
              <a:buNone/>
            </a:pPr>
            <a:r>
              <a:rPr lang="en-US" sz="850" b="1" spc="200" kern="0" dirty="0">
                <a:solidFill>
                  <a:srgbClr val="9A7B3F"/>
                </a:solidFill>
                <a:latin typeface="Calibri" pitchFamily="34" charset="0"/>
                <a:ea typeface="Calibri" pitchFamily="34" charset="-122"/>
                <a:cs typeface="Calibri" pitchFamily="34" charset="-120"/>
              </a:rPr>
              <a:t>01 · CONSUMER PLATFORM</a:t>
            </a:r>
            <a:endParaRPr lang="en-US" sz="850" dirty="0"/>
          </a:p>
        </p:txBody>
      </p:sp>
      <p:sp>
        <p:nvSpPr>
          <p:cNvPr id="6" name="Text 4"/>
          <p:cNvSpPr/>
          <p:nvPr/>
        </p:nvSpPr>
        <p:spPr>
          <a:xfrm>
            <a:off x="822960" y="2231136"/>
            <a:ext cx="3017520" cy="310896"/>
          </a:xfrm>
          <a:prstGeom prst="rect">
            <a:avLst/>
          </a:prstGeom>
          <a:noFill/>
          <a:ln/>
        </p:spPr>
        <p:txBody>
          <a:bodyPr wrap="square" lIns="0" tIns="0" rIns="0" bIns="0" rtlCol="0" anchor="ctr"/>
          <a:lstStyle/>
          <a:p>
            <a:pPr indent="0" marL="0">
              <a:buNone/>
            </a:pPr>
            <a:r>
              <a:rPr lang="en-US" sz="1450" b="1" dirty="0">
                <a:solidFill>
                  <a:srgbClr val="1C2733"/>
                </a:solidFill>
                <a:latin typeface="Calibri" pitchFamily="34" charset="0"/>
                <a:ea typeface="Calibri" pitchFamily="34" charset="-122"/>
                <a:cs typeface="Calibri" pitchFamily="34" charset="-120"/>
              </a:rPr>
              <a:t>Subscriptions &amp; Prep</a:t>
            </a:r>
            <a:endParaRPr lang="en-US" sz="1450" dirty="0"/>
          </a:p>
        </p:txBody>
      </p:sp>
      <p:sp>
        <p:nvSpPr>
          <p:cNvPr id="7" name="Text 5"/>
          <p:cNvSpPr/>
          <p:nvPr/>
        </p:nvSpPr>
        <p:spPr>
          <a:xfrm>
            <a:off x="822960" y="2615184"/>
            <a:ext cx="3017520" cy="141732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Self-serve AI interview practice, question banks, and assessments sold as subscriptions and credit packs.</a:t>
            </a:r>
            <a:endParaRPr lang="en-US" sz="1050" dirty="0"/>
          </a:p>
        </p:txBody>
      </p:sp>
      <p:sp>
        <p:nvSpPr>
          <p:cNvPr id="8" name="Text 6"/>
          <p:cNvSpPr/>
          <p:nvPr/>
        </p:nvSpPr>
        <p:spPr>
          <a:xfrm>
            <a:off x="822960" y="4279392"/>
            <a:ext cx="3017520" cy="457200"/>
          </a:xfrm>
          <a:prstGeom prst="rect">
            <a:avLst/>
          </a:prstGeom>
          <a:noFill/>
          <a:ln/>
        </p:spPr>
        <p:txBody>
          <a:bodyPr wrap="square" lIns="0" tIns="0" rIns="0" bIns="0" rtlCol="0" anchor="t"/>
          <a:lstStyle/>
          <a:p>
            <a:pPr indent="0" marL="0">
              <a:lnSpc>
                <a:spcPts val="1300"/>
              </a:lnSpc>
              <a:buNone/>
            </a:pPr>
            <a:r>
              <a:rPr lang="en-US" sz="950" i="1" dirty="0">
                <a:solidFill>
                  <a:srgbClr val="132A4F"/>
                </a:solidFill>
                <a:latin typeface="Calibri" pitchFamily="34" charset="0"/>
                <a:ea typeface="Calibri" pitchFamily="34" charset="-122"/>
                <a:cs typeface="Calibri" pitchFamily="34" charset="-120"/>
              </a:rPr>
              <a:t>Recurring · High margin · Scales globally</a:t>
            </a:r>
            <a:endParaRPr lang="en-US" sz="950" dirty="0"/>
          </a:p>
        </p:txBody>
      </p:sp>
      <p:sp>
        <p:nvSpPr>
          <p:cNvPr id="9" name="Shape 7"/>
          <p:cNvSpPr/>
          <p:nvPr/>
        </p:nvSpPr>
        <p:spPr>
          <a:xfrm>
            <a:off x="4343400" y="1691640"/>
            <a:ext cx="3520440" cy="3246120"/>
          </a:xfrm>
          <a:prstGeom prst="rect">
            <a:avLst/>
          </a:prstGeom>
          <a:solidFill>
            <a:srgbClr val="F3F6F9"/>
          </a:solidFill>
          <a:ln/>
        </p:spPr>
      </p:sp>
      <p:sp>
        <p:nvSpPr>
          <p:cNvPr id="10" name="Text 8"/>
          <p:cNvSpPr/>
          <p:nvPr/>
        </p:nvSpPr>
        <p:spPr>
          <a:xfrm>
            <a:off x="4599432" y="1947672"/>
            <a:ext cx="3017520" cy="237744"/>
          </a:xfrm>
          <a:prstGeom prst="rect">
            <a:avLst/>
          </a:prstGeom>
          <a:noFill/>
          <a:ln/>
        </p:spPr>
        <p:txBody>
          <a:bodyPr wrap="square" lIns="0" tIns="0" rIns="0" bIns="0" rtlCol="0" anchor="ctr"/>
          <a:lstStyle/>
          <a:p>
            <a:pPr indent="0" marL="0">
              <a:buNone/>
            </a:pPr>
            <a:r>
              <a:rPr lang="en-US" sz="850" b="1" spc="200" kern="0" dirty="0">
                <a:solidFill>
                  <a:srgbClr val="9A7B3F"/>
                </a:solidFill>
                <a:latin typeface="Calibri" pitchFamily="34" charset="0"/>
                <a:ea typeface="Calibri" pitchFamily="34" charset="-122"/>
                <a:cs typeface="Calibri" pitchFamily="34" charset="-120"/>
              </a:rPr>
              <a:t>02 · PREMIUM SERVICES</a:t>
            </a:r>
            <a:endParaRPr lang="en-US" sz="850" dirty="0"/>
          </a:p>
        </p:txBody>
      </p:sp>
      <p:sp>
        <p:nvSpPr>
          <p:cNvPr id="11" name="Text 9"/>
          <p:cNvSpPr/>
          <p:nvPr/>
        </p:nvSpPr>
        <p:spPr>
          <a:xfrm>
            <a:off x="4599432" y="2231136"/>
            <a:ext cx="3017520" cy="310896"/>
          </a:xfrm>
          <a:prstGeom prst="rect">
            <a:avLst/>
          </a:prstGeom>
          <a:noFill/>
          <a:ln/>
        </p:spPr>
        <p:txBody>
          <a:bodyPr wrap="square" lIns="0" tIns="0" rIns="0" bIns="0" rtlCol="0" anchor="ctr"/>
          <a:lstStyle/>
          <a:p>
            <a:pPr indent="0" marL="0">
              <a:buNone/>
            </a:pPr>
            <a:r>
              <a:rPr lang="en-US" sz="1450" b="1" dirty="0">
                <a:solidFill>
                  <a:srgbClr val="1C2733"/>
                </a:solidFill>
                <a:latin typeface="Calibri" pitchFamily="34" charset="0"/>
                <a:ea typeface="Calibri" pitchFamily="34" charset="-122"/>
                <a:cs typeface="Calibri" pitchFamily="34" charset="-120"/>
              </a:rPr>
              <a:t>Coaching &amp; Placement</a:t>
            </a:r>
            <a:endParaRPr lang="en-US" sz="1450" dirty="0"/>
          </a:p>
        </p:txBody>
      </p:sp>
      <p:sp>
        <p:nvSpPr>
          <p:cNvPr id="12" name="Text 10"/>
          <p:cNvSpPr/>
          <p:nvPr/>
        </p:nvSpPr>
        <p:spPr>
          <a:xfrm>
            <a:off x="4599432" y="2615184"/>
            <a:ext cx="3017520" cy="141732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Mentor-led programs and outcome-based placement offerings — the Company’s proven, high-ARPU franchise since 2016.</a:t>
            </a:r>
            <a:endParaRPr lang="en-US" sz="1050" dirty="0"/>
          </a:p>
        </p:txBody>
      </p:sp>
      <p:sp>
        <p:nvSpPr>
          <p:cNvPr id="13" name="Text 11"/>
          <p:cNvSpPr/>
          <p:nvPr/>
        </p:nvSpPr>
        <p:spPr>
          <a:xfrm>
            <a:off x="4599432" y="4279392"/>
            <a:ext cx="3017520" cy="457200"/>
          </a:xfrm>
          <a:prstGeom prst="rect">
            <a:avLst/>
          </a:prstGeom>
          <a:noFill/>
          <a:ln/>
        </p:spPr>
        <p:txBody>
          <a:bodyPr wrap="square" lIns="0" tIns="0" rIns="0" bIns="0" rtlCol="0" anchor="t"/>
          <a:lstStyle/>
          <a:p>
            <a:pPr indent="0" marL="0">
              <a:lnSpc>
                <a:spcPts val="1300"/>
              </a:lnSpc>
              <a:buNone/>
            </a:pPr>
            <a:r>
              <a:rPr lang="en-US" sz="950" i="1" dirty="0">
                <a:solidFill>
                  <a:srgbClr val="132A4F"/>
                </a:solidFill>
                <a:latin typeface="Calibri" pitchFamily="34" charset="0"/>
                <a:ea typeface="Calibri" pitchFamily="34" charset="-122"/>
                <a:cs typeface="Calibri" pitchFamily="34" charset="-120"/>
              </a:rPr>
              <a:t>High ARPU · Proven demand · Cash generative</a:t>
            </a:r>
            <a:endParaRPr lang="en-US" sz="950" dirty="0"/>
          </a:p>
        </p:txBody>
      </p:sp>
      <p:sp>
        <p:nvSpPr>
          <p:cNvPr id="14" name="Shape 12"/>
          <p:cNvSpPr/>
          <p:nvPr/>
        </p:nvSpPr>
        <p:spPr>
          <a:xfrm>
            <a:off x="8119872" y="1691640"/>
            <a:ext cx="3520440" cy="3246120"/>
          </a:xfrm>
          <a:prstGeom prst="rect">
            <a:avLst/>
          </a:prstGeom>
          <a:solidFill>
            <a:srgbClr val="F3F6F9"/>
          </a:solidFill>
          <a:ln/>
        </p:spPr>
      </p:sp>
      <p:sp>
        <p:nvSpPr>
          <p:cNvPr id="15" name="Text 13"/>
          <p:cNvSpPr/>
          <p:nvPr/>
        </p:nvSpPr>
        <p:spPr>
          <a:xfrm>
            <a:off x="8375904" y="1947672"/>
            <a:ext cx="3017520" cy="237744"/>
          </a:xfrm>
          <a:prstGeom prst="rect">
            <a:avLst/>
          </a:prstGeom>
          <a:noFill/>
          <a:ln/>
        </p:spPr>
        <p:txBody>
          <a:bodyPr wrap="square" lIns="0" tIns="0" rIns="0" bIns="0" rtlCol="0" anchor="ctr"/>
          <a:lstStyle/>
          <a:p>
            <a:pPr indent="0" marL="0">
              <a:buNone/>
            </a:pPr>
            <a:r>
              <a:rPr lang="en-US" sz="850" b="1" spc="200" kern="0" dirty="0">
                <a:solidFill>
                  <a:srgbClr val="9A7B3F"/>
                </a:solidFill>
                <a:latin typeface="Calibri" pitchFamily="34" charset="0"/>
                <a:ea typeface="Calibri" pitchFamily="34" charset="-122"/>
                <a:cs typeface="Calibri" pitchFamily="34" charset="-120"/>
              </a:rPr>
              <a:t>03 · ENTERPRISE &amp; INSTITUTIONS</a:t>
            </a:r>
            <a:endParaRPr lang="en-US" sz="850" dirty="0"/>
          </a:p>
        </p:txBody>
      </p:sp>
      <p:sp>
        <p:nvSpPr>
          <p:cNvPr id="16" name="Text 14"/>
          <p:cNvSpPr/>
          <p:nvPr/>
        </p:nvSpPr>
        <p:spPr>
          <a:xfrm>
            <a:off x="8375904" y="2231136"/>
            <a:ext cx="3017520" cy="310896"/>
          </a:xfrm>
          <a:prstGeom prst="rect">
            <a:avLst/>
          </a:prstGeom>
          <a:noFill/>
          <a:ln/>
        </p:spPr>
        <p:txBody>
          <a:bodyPr wrap="square" lIns="0" tIns="0" rIns="0" bIns="0" rtlCol="0" anchor="ctr"/>
          <a:lstStyle/>
          <a:p>
            <a:pPr indent="0" marL="0">
              <a:buNone/>
            </a:pPr>
            <a:r>
              <a:rPr lang="en-US" sz="1450" b="1" dirty="0">
                <a:solidFill>
                  <a:srgbClr val="1C2733"/>
                </a:solidFill>
                <a:latin typeface="Calibri" pitchFamily="34" charset="0"/>
                <a:ea typeface="Calibri" pitchFamily="34" charset="-122"/>
                <a:cs typeface="Calibri" pitchFamily="34" charset="-120"/>
              </a:rPr>
              <a:t>Employer SaaS</a:t>
            </a:r>
            <a:endParaRPr lang="en-US" sz="1450" dirty="0"/>
          </a:p>
        </p:txBody>
      </p:sp>
      <p:sp>
        <p:nvSpPr>
          <p:cNvPr id="17" name="Text 15"/>
          <p:cNvSpPr/>
          <p:nvPr/>
        </p:nvSpPr>
        <p:spPr>
          <a:xfrm>
            <a:off x="8375904" y="2615184"/>
            <a:ext cx="3017520" cy="1417320"/>
          </a:xfrm>
          <a:prstGeom prst="rect">
            <a:avLst/>
          </a:prstGeom>
          <a:noFill/>
          <a:ln/>
        </p:spPr>
        <p:txBody>
          <a:bodyPr wrap="square" lIns="0" tIns="0" rIns="0" bIns="0" rtlCol="0" anchor="t"/>
          <a:lstStyle/>
          <a:p>
            <a:pPr indent="0" marL="0">
              <a:lnSpc>
                <a:spcPts val="1500"/>
              </a:lnSpc>
              <a:buNone/>
            </a:pPr>
            <a:r>
              <a:rPr lang="en-US" sz="1050" dirty="0">
                <a:solidFill>
                  <a:srgbClr val="5A6B7E"/>
                </a:solidFill>
                <a:latin typeface="Calibri" pitchFamily="34" charset="0"/>
                <a:ea typeface="Calibri" pitchFamily="34" charset="-122"/>
                <a:cs typeface="Calibri" pitchFamily="34" charset="-120"/>
              </a:rPr>
              <a:t>AI screening, talent evaluation, and posting optimization for employers; partnerships with universities and institutions.</a:t>
            </a:r>
            <a:endParaRPr lang="en-US" sz="1050" dirty="0"/>
          </a:p>
        </p:txBody>
      </p:sp>
      <p:sp>
        <p:nvSpPr>
          <p:cNvPr id="18" name="Text 16"/>
          <p:cNvSpPr/>
          <p:nvPr/>
        </p:nvSpPr>
        <p:spPr>
          <a:xfrm>
            <a:off x="8375904" y="4279392"/>
            <a:ext cx="3017520" cy="457200"/>
          </a:xfrm>
          <a:prstGeom prst="rect">
            <a:avLst/>
          </a:prstGeom>
          <a:noFill/>
          <a:ln/>
        </p:spPr>
        <p:txBody>
          <a:bodyPr wrap="square" lIns="0" tIns="0" rIns="0" bIns="0" rtlCol="0" anchor="t"/>
          <a:lstStyle/>
          <a:p>
            <a:pPr indent="0" marL="0">
              <a:lnSpc>
                <a:spcPts val="1300"/>
              </a:lnSpc>
              <a:buNone/>
            </a:pPr>
            <a:r>
              <a:rPr lang="en-US" sz="950" i="1" dirty="0">
                <a:solidFill>
                  <a:srgbClr val="132A4F"/>
                </a:solidFill>
                <a:latin typeface="Calibri" pitchFamily="34" charset="0"/>
                <a:ea typeface="Calibri" pitchFamily="34" charset="-122"/>
                <a:cs typeface="Calibri" pitchFamily="34" charset="-120"/>
              </a:rPr>
              <a:t>B2B · Land-and-expand · Data flywheel</a:t>
            </a:r>
            <a:endParaRPr lang="en-US" sz="950" dirty="0"/>
          </a:p>
        </p:txBody>
      </p:sp>
      <p:sp>
        <p:nvSpPr>
          <p:cNvPr id="19" name="Text 17"/>
          <p:cNvSpPr/>
          <p:nvPr/>
        </p:nvSpPr>
        <p:spPr>
          <a:xfrm>
            <a:off x="566928" y="5349240"/>
            <a:ext cx="3657600" cy="274320"/>
          </a:xfrm>
          <a:prstGeom prst="rect">
            <a:avLst/>
          </a:prstGeom>
          <a:noFill/>
          <a:ln/>
        </p:spPr>
        <p:txBody>
          <a:bodyPr wrap="square" lIns="0" tIns="0" rIns="0" bIns="0" rtlCol="0" anchor="ctr"/>
          <a:lstStyle/>
          <a:p>
            <a:pPr indent="0" marL="0">
              <a:buNone/>
            </a:pPr>
            <a:r>
              <a:rPr lang="en-US" sz="1300" b="1" dirty="0">
                <a:solidFill>
                  <a:srgbClr val="1C2733"/>
                </a:solidFill>
                <a:latin typeface="Calibri" pitchFamily="34" charset="0"/>
                <a:ea typeface="Calibri" pitchFamily="34" charset="-122"/>
                <a:cs typeface="Calibri" pitchFamily="34" charset="-120"/>
              </a:rPr>
              <a:t>Model evolution</a:t>
            </a:r>
            <a:endParaRPr lang="en-US" sz="1300" dirty="0"/>
          </a:p>
        </p:txBody>
      </p:sp>
      <p:sp>
        <p:nvSpPr>
          <p:cNvPr id="20" name="Text 18"/>
          <p:cNvSpPr/>
          <p:nvPr/>
        </p:nvSpPr>
        <p:spPr>
          <a:xfrm>
            <a:off x="566928" y="5669280"/>
            <a:ext cx="11057839" cy="310896"/>
          </a:xfrm>
          <a:prstGeom prst="rect">
            <a:avLst/>
          </a:prstGeom>
          <a:noFill/>
          <a:ln/>
        </p:spPr>
        <p:txBody>
          <a:bodyPr wrap="square" lIns="0" tIns="0" rIns="0" bIns="0" rtlCol="0" anchor="ctr"/>
          <a:lstStyle/>
          <a:p>
            <a:pPr indent="0" marL="0">
              <a:buNone/>
            </a:pPr>
            <a:r>
              <a:rPr lang="en-US" sz="1200" b="1" dirty="0">
                <a:solidFill>
                  <a:srgbClr val="132A4F"/>
                </a:solidFill>
                <a:latin typeface="Calibri" pitchFamily="34" charset="0"/>
                <a:ea typeface="Calibri" pitchFamily="34" charset="-122"/>
                <a:cs typeface="Calibri" pitchFamily="34" charset="-120"/>
              </a:rPr>
              <a:t>Services-led </a:t>
            </a:r>
            <a:pPr indent="0" marL="0">
              <a:buNone/>
            </a:pPr>
            <a:r>
              <a:rPr lang="en-US" sz="1200" dirty="0">
                <a:solidFill>
                  <a:srgbClr val="5A6B7E"/>
                </a:solidFill>
                <a:latin typeface="Calibri" pitchFamily="34" charset="0"/>
                <a:ea typeface="Calibri" pitchFamily="34" charset="-122"/>
                <a:cs typeface="Calibri" pitchFamily="34" charset="-120"/>
              </a:rPr>
              <a:t>(today)</a:t>
            </a:r>
            <a:pPr indent="0" marL="0">
              <a:buNone/>
            </a:pPr>
            <a:r>
              <a:rPr lang="en-US" sz="1200" b="1" dirty="0">
                <a:solidFill>
                  <a:srgbClr val="9A7B3F"/>
                </a:solidFill>
                <a:latin typeface="Calibri" pitchFamily="34" charset="0"/>
                <a:ea typeface="Calibri" pitchFamily="34" charset="-122"/>
                <a:cs typeface="Calibri" pitchFamily="34" charset="-120"/>
              </a:rPr>
              <a:t>      →      </a:t>
            </a:r>
            <a:pPr indent="0" marL="0">
              <a:buNone/>
            </a:pPr>
            <a:r>
              <a:rPr lang="en-US" sz="1200" b="1" dirty="0">
                <a:solidFill>
                  <a:srgbClr val="132A4F"/>
                </a:solidFill>
                <a:latin typeface="Calibri" pitchFamily="34" charset="0"/>
                <a:ea typeface="Calibri" pitchFamily="34" charset="-122"/>
                <a:cs typeface="Calibri" pitchFamily="34" charset="-120"/>
              </a:rPr>
              <a:t>Blended mix </a:t>
            </a:r>
            <a:pPr indent="0" marL="0">
              <a:buNone/>
            </a:pPr>
            <a:r>
              <a:rPr lang="en-US" sz="1200" dirty="0">
                <a:solidFill>
                  <a:srgbClr val="5A6B7E"/>
                </a:solidFill>
                <a:latin typeface="Calibri" pitchFamily="34" charset="0"/>
                <a:ea typeface="Calibri" pitchFamily="34" charset="-122"/>
                <a:cs typeface="Calibri" pitchFamily="34" charset="-120"/>
              </a:rPr>
              <a:t>(2027)</a:t>
            </a:r>
            <a:pPr indent="0" marL="0">
              <a:buNone/>
            </a:pPr>
            <a:r>
              <a:rPr lang="en-US" sz="1200" b="1" dirty="0">
                <a:solidFill>
                  <a:srgbClr val="9A7B3F"/>
                </a:solidFill>
                <a:latin typeface="Calibri" pitchFamily="34" charset="0"/>
                <a:ea typeface="Calibri" pitchFamily="34" charset="-122"/>
                <a:cs typeface="Calibri" pitchFamily="34" charset="-120"/>
              </a:rPr>
              <a:t>      →      </a:t>
            </a:r>
            <a:pPr indent="0" marL="0">
              <a:buNone/>
            </a:pPr>
            <a:r>
              <a:rPr lang="en-US" sz="1200" b="1" dirty="0">
                <a:solidFill>
                  <a:srgbClr val="132A4F"/>
                </a:solidFill>
                <a:latin typeface="Calibri" pitchFamily="34" charset="0"/>
                <a:ea typeface="Calibri" pitchFamily="34" charset="-122"/>
                <a:cs typeface="Calibri" pitchFamily="34" charset="-120"/>
              </a:rPr>
              <a:t>Software-led </a:t>
            </a:r>
            <a:pPr indent="0" marL="0">
              <a:buNone/>
            </a:pPr>
            <a:r>
              <a:rPr lang="en-US" sz="1200" dirty="0">
                <a:solidFill>
                  <a:srgbClr val="5A6B7E"/>
                </a:solidFill>
                <a:latin typeface="Calibri" pitchFamily="34" charset="0"/>
                <a:ea typeface="Calibri" pitchFamily="34" charset="-122"/>
                <a:cs typeface="Calibri" pitchFamily="34" charset="-120"/>
              </a:rPr>
              <a:t>(2029)  —  expanding gross margin as the platform scales</a:t>
            </a:r>
            <a:endParaRPr lang="en-US" sz="1200" dirty="0"/>
          </a:p>
        </p:txBody>
      </p:sp>
      <p:sp>
        <p:nvSpPr>
          <p:cNvPr id="21" name="Text 19"/>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22" name="Text 20"/>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TRACTION</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A Real Business, Not a Concept</a:t>
            </a:r>
            <a:endParaRPr lang="en-US" sz="3000" dirty="0"/>
          </a:p>
        </p:txBody>
      </p:sp>
      <p:sp>
        <p:nvSpPr>
          <p:cNvPr id="4" name="Text 2"/>
          <p:cNvSpPr/>
          <p:nvPr/>
        </p:nvSpPr>
        <p:spPr>
          <a:xfrm>
            <a:off x="566928" y="1664208"/>
            <a:ext cx="2651760" cy="65836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10 yrs</a:t>
            </a:r>
            <a:endParaRPr lang="en-US" sz="3000" dirty="0"/>
          </a:p>
        </p:txBody>
      </p:sp>
      <p:sp>
        <p:nvSpPr>
          <p:cNvPr id="5" name="Text 3"/>
          <p:cNvSpPr/>
          <p:nvPr/>
        </p:nvSpPr>
        <p:spPr>
          <a:xfrm>
            <a:off x="566928" y="2340864"/>
            <a:ext cx="2651760" cy="475488"/>
          </a:xfrm>
          <a:prstGeom prst="rect">
            <a:avLst/>
          </a:prstGeom>
          <a:noFill/>
          <a:ln/>
        </p:spPr>
        <p:txBody>
          <a:bodyPr wrap="square" lIns="0" tIns="0" rIns="0" bIns="0" rtlCol="0" anchor="ctr"/>
          <a:lstStyle/>
          <a:p>
            <a:pPr indent="0" marL="0">
              <a:lnSpc>
                <a:spcPts val="1200"/>
              </a:lnSpc>
              <a:buNone/>
            </a:pPr>
            <a:r>
              <a:rPr lang="en-US" sz="850" spc="150" kern="0" dirty="0">
                <a:solidFill>
                  <a:srgbClr val="5A6B7E"/>
                </a:solidFill>
                <a:latin typeface="Calibri" pitchFamily="34" charset="0"/>
                <a:ea typeface="Calibri" pitchFamily="34" charset="-122"/>
                <a:cs typeface="Calibri" pitchFamily="34" charset="-120"/>
              </a:rPr>
              <a:t>OPERATING HISTORY SINCE 2016</a:t>
            </a:r>
            <a:endParaRPr lang="en-US" sz="850" dirty="0"/>
          </a:p>
        </p:txBody>
      </p:sp>
      <p:sp>
        <p:nvSpPr>
          <p:cNvPr id="6" name="Text 4"/>
          <p:cNvSpPr/>
          <p:nvPr/>
        </p:nvSpPr>
        <p:spPr>
          <a:xfrm>
            <a:off x="3401568" y="1664208"/>
            <a:ext cx="2651760" cy="65836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US$10M+</a:t>
            </a:r>
            <a:endParaRPr lang="en-US" sz="3000" dirty="0"/>
          </a:p>
        </p:txBody>
      </p:sp>
      <p:sp>
        <p:nvSpPr>
          <p:cNvPr id="7" name="Text 5"/>
          <p:cNvSpPr/>
          <p:nvPr/>
        </p:nvSpPr>
        <p:spPr>
          <a:xfrm>
            <a:off x="3401568" y="2340864"/>
            <a:ext cx="2651760" cy="475488"/>
          </a:xfrm>
          <a:prstGeom prst="rect">
            <a:avLst/>
          </a:prstGeom>
          <a:noFill/>
          <a:ln/>
        </p:spPr>
        <p:txBody>
          <a:bodyPr wrap="square" lIns="0" tIns="0" rIns="0" bIns="0" rtlCol="0" anchor="ctr"/>
          <a:lstStyle/>
          <a:p>
            <a:pPr indent="0" marL="0">
              <a:lnSpc>
                <a:spcPts val="1200"/>
              </a:lnSpc>
              <a:buNone/>
            </a:pPr>
            <a:r>
              <a:rPr lang="en-US" sz="850" spc="150" kern="0" dirty="0">
                <a:solidFill>
                  <a:srgbClr val="5A6B7E"/>
                </a:solidFill>
                <a:latin typeface="Calibri" pitchFamily="34" charset="0"/>
                <a:ea typeface="Calibri" pitchFamily="34" charset="-122"/>
                <a:cs typeface="Calibri" pitchFamily="34" charset="-120"/>
              </a:rPr>
              <a:t>ANNUAL REVENUE (2025, EST.)†</a:t>
            </a:r>
            <a:endParaRPr lang="en-US" sz="850" dirty="0"/>
          </a:p>
        </p:txBody>
      </p:sp>
      <p:sp>
        <p:nvSpPr>
          <p:cNvPr id="8" name="Text 6"/>
          <p:cNvSpPr/>
          <p:nvPr/>
        </p:nvSpPr>
        <p:spPr>
          <a:xfrm>
            <a:off x="6236208" y="1664208"/>
            <a:ext cx="2651760" cy="65836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≈50</a:t>
            </a:r>
            <a:endParaRPr lang="en-US" sz="3000" dirty="0"/>
          </a:p>
        </p:txBody>
      </p:sp>
      <p:sp>
        <p:nvSpPr>
          <p:cNvPr id="9" name="Text 7"/>
          <p:cNvSpPr/>
          <p:nvPr/>
        </p:nvSpPr>
        <p:spPr>
          <a:xfrm>
            <a:off x="6236208" y="2340864"/>
            <a:ext cx="2651760" cy="475488"/>
          </a:xfrm>
          <a:prstGeom prst="rect">
            <a:avLst/>
          </a:prstGeom>
          <a:noFill/>
          <a:ln/>
        </p:spPr>
        <p:txBody>
          <a:bodyPr wrap="square" lIns="0" tIns="0" rIns="0" bIns="0" rtlCol="0" anchor="ctr"/>
          <a:lstStyle/>
          <a:p>
            <a:pPr indent="0" marL="0">
              <a:lnSpc>
                <a:spcPts val="1200"/>
              </a:lnSpc>
              <a:buNone/>
            </a:pPr>
            <a:r>
              <a:rPr lang="en-US" sz="850" spc="150" kern="0" dirty="0">
                <a:solidFill>
                  <a:srgbClr val="5A6B7E"/>
                </a:solidFill>
                <a:latin typeface="Calibri" pitchFamily="34" charset="0"/>
                <a:ea typeface="Calibri" pitchFamily="34" charset="-122"/>
                <a:cs typeface="Calibri" pitchFamily="34" charset="-120"/>
              </a:rPr>
              <a:t>PROFESSIONALS WORLDWIDE†</a:t>
            </a:r>
            <a:endParaRPr lang="en-US" sz="850" dirty="0"/>
          </a:p>
        </p:txBody>
      </p:sp>
      <p:sp>
        <p:nvSpPr>
          <p:cNvPr id="10" name="Text 8"/>
          <p:cNvSpPr/>
          <p:nvPr/>
        </p:nvSpPr>
        <p:spPr>
          <a:xfrm>
            <a:off x="9070848" y="1664208"/>
            <a:ext cx="2651760" cy="65836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8+</a:t>
            </a:r>
            <a:endParaRPr lang="en-US" sz="3000" dirty="0"/>
          </a:p>
        </p:txBody>
      </p:sp>
      <p:sp>
        <p:nvSpPr>
          <p:cNvPr id="11" name="Text 9"/>
          <p:cNvSpPr/>
          <p:nvPr/>
        </p:nvSpPr>
        <p:spPr>
          <a:xfrm>
            <a:off x="9070848" y="2340864"/>
            <a:ext cx="2651760" cy="475488"/>
          </a:xfrm>
          <a:prstGeom prst="rect">
            <a:avLst/>
          </a:prstGeom>
          <a:noFill/>
          <a:ln/>
        </p:spPr>
        <p:txBody>
          <a:bodyPr wrap="square" lIns="0" tIns="0" rIns="0" bIns="0" rtlCol="0" anchor="ctr"/>
          <a:lstStyle/>
          <a:p>
            <a:pPr indent="0" marL="0">
              <a:lnSpc>
                <a:spcPts val="1200"/>
              </a:lnSpc>
              <a:buNone/>
            </a:pPr>
            <a:r>
              <a:rPr lang="en-US" sz="850" spc="150" kern="0" dirty="0">
                <a:solidFill>
                  <a:srgbClr val="5A6B7E"/>
                </a:solidFill>
                <a:latin typeface="Calibri" pitchFamily="34" charset="0"/>
                <a:ea typeface="Calibri" pitchFamily="34" charset="-122"/>
                <a:cs typeface="Calibri" pitchFamily="34" charset="-120"/>
              </a:rPr>
              <a:t>COUNTRIES OF OPERATION</a:t>
            </a:r>
            <a:endParaRPr lang="en-US" sz="850" dirty="0"/>
          </a:p>
        </p:txBody>
      </p:sp>
      <p:sp>
        <p:nvSpPr>
          <p:cNvPr id="12" name="Text 10"/>
          <p:cNvSpPr/>
          <p:nvPr/>
        </p:nvSpPr>
        <p:spPr>
          <a:xfrm>
            <a:off x="566928" y="3154680"/>
            <a:ext cx="5486400" cy="274320"/>
          </a:xfrm>
          <a:prstGeom prst="rect">
            <a:avLst/>
          </a:prstGeom>
          <a:noFill/>
          <a:ln/>
        </p:spPr>
        <p:txBody>
          <a:bodyPr wrap="square" lIns="0" tIns="0" rIns="0" bIns="0" rtlCol="0" anchor="ctr"/>
          <a:lstStyle/>
          <a:p>
            <a:pPr indent="0" marL="0">
              <a:buNone/>
            </a:pPr>
            <a:r>
              <a:rPr lang="en-US" sz="1300" b="1" dirty="0">
                <a:solidFill>
                  <a:srgbClr val="1C2733"/>
                </a:solidFill>
                <a:latin typeface="Calibri" pitchFamily="34" charset="0"/>
                <a:ea typeface="Calibri" pitchFamily="34" charset="-122"/>
                <a:cs typeface="Calibri" pitchFamily="34" charset="-120"/>
              </a:rPr>
              <a:t>Selected milestones</a:t>
            </a:r>
            <a:endParaRPr lang="en-US" sz="1300" dirty="0"/>
          </a:p>
        </p:txBody>
      </p:sp>
      <p:sp>
        <p:nvSpPr>
          <p:cNvPr id="13" name="Text 11"/>
          <p:cNvSpPr/>
          <p:nvPr/>
        </p:nvSpPr>
        <p:spPr>
          <a:xfrm>
            <a:off x="566928" y="3529584"/>
            <a:ext cx="868680" cy="457200"/>
          </a:xfrm>
          <a:prstGeom prst="rect">
            <a:avLst/>
          </a:prstGeom>
          <a:noFill/>
          <a:ln/>
        </p:spPr>
        <p:txBody>
          <a:bodyPr wrap="square" lIns="0" tIns="0" rIns="0" bIns="0" rtlCol="0" anchor="ctr"/>
          <a:lstStyle/>
          <a:p>
            <a:pPr indent="0" marL="0">
              <a:buNone/>
            </a:pPr>
            <a:r>
              <a:rPr lang="en-US" sz="1000" b="1" dirty="0">
                <a:solidFill>
                  <a:srgbClr val="9A7B3F"/>
                </a:solidFill>
                <a:latin typeface="Calibri" pitchFamily="34" charset="0"/>
                <a:ea typeface="Calibri" pitchFamily="34" charset="-122"/>
                <a:cs typeface="Calibri" pitchFamily="34" charset="-120"/>
              </a:rPr>
              <a:t>2016</a:t>
            </a:r>
            <a:endParaRPr lang="en-US" sz="1000" dirty="0"/>
          </a:p>
        </p:txBody>
      </p:sp>
      <p:sp>
        <p:nvSpPr>
          <p:cNvPr id="14" name="Text 12"/>
          <p:cNvSpPr/>
          <p:nvPr/>
        </p:nvSpPr>
        <p:spPr>
          <a:xfrm>
            <a:off x="1536192" y="3529584"/>
            <a:ext cx="4892040" cy="457200"/>
          </a:xfrm>
          <a:prstGeom prst="rect">
            <a:avLst/>
          </a:prstGeom>
          <a:noFill/>
          <a:ln/>
        </p:spPr>
        <p:txBody>
          <a:bodyPr wrap="square" lIns="0" tIns="0" rIns="0" bIns="0" rtlCol="0" anchor="t"/>
          <a:lstStyle/>
          <a:p>
            <a:pPr indent="0" marL="0">
              <a:lnSpc>
                <a:spcPts val="1350"/>
              </a:lnSpc>
              <a:buNone/>
            </a:pPr>
            <a:r>
              <a:rPr lang="en-US" sz="1050" dirty="0">
                <a:solidFill>
                  <a:srgbClr val="5A6B7E"/>
                </a:solidFill>
                <a:latin typeface="Calibri" pitchFamily="34" charset="0"/>
                <a:ea typeface="Calibri" pitchFamily="34" charset="-122"/>
                <a:cs typeface="Calibri" pitchFamily="34" charset="-120"/>
              </a:rPr>
              <a:t>Founded in New York as a premium career-consulting firm for international students</a:t>
            </a:r>
            <a:endParaRPr lang="en-US" sz="1050" dirty="0"/>
          </a:p>
        </p:txBody>
      </p:sp>
      <p:sp>
        <p:nvSpPr>
          <p:cNvPr id="15" name="Text 13"/>
          <p:cNvSpPr/>
          <p:nvPr/>
        </p:nvSpPr>
        <p:spPr>
          <a:xfrm>
            <a:off x="566928" y="4041648"/>
            <a:ext cx="868680" cy="457200"/>
          </a:xfrm>
          <a:prstGeom prst="rect">
            <a:avLst/>
          </a:prstGeom>
          <a:noFill/>
          <a:ln/>
        </p:spPr>
        <p:txBody>
          <a:bodyPr wrap="square" lIns="0" tIns="0" rIns="0" bIns="0" rtlCol="0" anchor="ctr"/>
          <a:lstStyle/>
          <a:p>
            <a:pPr indent="0" marL="0">
              <a:buNone/>
            </a:pPr>
            <a:r>
              <a:rPr lang="en-US" sz="1000" b="1" dirty="0">
                <a:solidFill>
                  <a:srgbClr val="9A7B3F"/>
                </a:solidFill>
                <a:latin typeface="Calibri" pitchFamily="34" charset="0"/>
                <a:ea typeface="Calibri" pitchFamily="34" charset="-122"/>
                <a:cs typeface="Calibri" pitchFamily="34" charset="-120"/>
              </a:rPr>
              <a:t>2016–24</a:t>
            </a:r>
            <a:endParaRPr lang="en-US" sz="1000" dirty="0"/>
          </a:p>
        </p:txBody>
      </p:sp>
      <p:sp>
        <p:nvSpPr>
          <p:cNvPr id="16" name="Text 14"/>
          <p:cNvSpPr/>
          <p:nvPr/>
        </p:nvSpPr>
        <p:spPr>
          <a:xfrm>
            <a:off x="1536192" y="4041648"/>
            <a:ext cx="4892040" cy="457200"/>
          </a:xfrm>
          <a:prstGeom prst="rect">
            <a:avLst/>
          </a:prstGeom>
          <a:noFill/>
          <a:ln/>
        </p:spPr>
        <p:txBody>
          <a:bodyPr wrap="square" lIns="0" tIns="0" rIns="0" bIns="0" rtlCol="0" anchor="t"/>
          <a:lstStyle/>
          <a:p>
            <a:pPr indent="0" marL="0">
              <a:lnSpc>
                <a:spcPts val="1350"/>
              </a:lnSpc>
              <a:buNone/>
            </a:pPr>
            <a:r>
              <a:rPr lang="en-US" sz="1050" dirty="0">
                <a:solidFill>
                  <a:srgbClr val="5A6B7E"/>
                </a:solidFill>
                <a:latin typeface="Calibri" pitchFamily="34" charset="0"/>
                <a:ea typeface="Calibri" pitchFamily="34" charset="-122"/>
                <a:cs typeface="Calibri" pitchFamily="34" charset="-120"/>
              </a:rPr>
              <a:t>Scaled the coaching, referral, and placement franchise across the U.S. and Greater China</a:t>
            </a:r>
            <a:endParaRPr lang="en-US" sz="1050" dirty="0"/>
          </a:p>
        </p:txBody>
      </p:sp>
      <p:sp>
        <p:nvSpPr>
          <p:cNvPr id="17" name="Text 15"/>
          <p:cNvSpPr/>
          <p:nvPr/>
        </p:nvSpPr>
        <p:spPr>
          <a:xfrm>
            <a:off x="566928" y="4553712"/>
            <a:ext cx="868680" cy="457200"/>
          </a:xfrm>
          <a:prstGeom prst="rect">
            <a:avLst/>
          </a:prstGeom>
          <a:noFill/>
          <a:ln/>
        </p:spPr>
        <p:txBody>
          <a:bodyPr wrap="square" lIns="0" tIns="0" rIns="0" bIns="0" rtlCol="0" anchor="ctr"/>
          <a:lstStyle/>
          <a:p>
            <a:pPr indent="0" marL="0">
              <a:buNone/>
            </a:pPr>
            <a:r>
              <a:rPr lang="en-US" sz="1000" b="1" dirty="0">
                <a:solidFill>
                  <a:srgbClr val="9A7B3F"/>
                </a:solidFill>
                <a:latin typeface="Calibri" pitchFamily="34" charset="0"/>
                <a:ea typeface="Calibri" pitchFamily="34" charset="-122"/>
                <a:cs typeface="Calibri" pitchFamily="34" charset="-120"/>
              </a:rPr>
              <a:t>Jul 2025</a:t>
            </a:r>
            <a:endParaRPr lang="en-US" sz="1000" dirty="0"/>
          </a:p>
        </p:txBody>
      </p:sp>
      <p:sp>
        <p:nvSpPr>
          <p:cNvPr id="18" name="Text 16"/>
          <p:cNvSpPr/>
          <p:nvPr/>
        </p:nvSpPr>
        <p:spPr>
          <a:xfrm>
            <a:off x="1536192" y="4553712"/>
            <a:ext cx="4892040" cy="457200"/>
          </a:xfrm>
          <a:prstGeom prst="rect">
            <a:avLst/>
          </a:prstGeom>
          <a:noFill/>
          <a:ln/>
        </p:spPr>
        <p:txBody>
          <a:bodyPr wrap="square" lIns="0" tIns="0" rIns="0" bIns="0" rtlCol="0" anchor="t"/>
          <a:lstStyle/>
          <a:p>
            <a:pPr indent="0" marL="0">
              <a:lnSpc>
                <a:spcPts val="1350"/>
              </a:lnSpc>
              <a:buNone/>
            </a:pPr>
            <a:r>
              <a:rPr lang="en-US" sz="1050" dirty="0">
                <a:solidFill>
                  <a:srgbClr val="5A6B7E"/>
                </a:solidFill>
                <a:latin typeface="Calibri" pitchFamily="34" charset="0"/>
                <a:ea typeface="Calibri" pitchFamily="34" charset="-122"/>
                <a:cs typeface="Calibri" pitchFamily="34" charset="-120"/>
              </a:rPr>
              <a:t>Strategic AI partnership with Alibaba Cloud (Tongyi LLM, NLP, semantic search)</a:t>
            </a:r>
            <a:endParaRPr lang="en-US" sz="1050" dirty="0"/>
          </a:p>
        </p:txBody>
      </p:sp>
      <p:sp>
        <p:nvSpPr>
          <p:cNvPr id="19" name="Text 17"/>
          <p:cNvSpPr/>
          <p:nvPr/>
        </p:nvSpPr>
        <p:spPr>
          <a:xfrm>
            <a:off x="566928" y="5065776"/>
            <a:ext cx="868680" cy="457200"/>
          </a:xfrm>
          <a:prstGeom prst="rect">
            <a:avLst/>
          </a:prstGeom>
          <a:noFill/>
          <a:ln/>
        </p:spPr>
        <p:txBody>
          <a:bodyPr wrap="square" lIns="0" tIns="0" rIns="0" bIns="0" rtlCol="0" anchor="ctr"/>
          <a:lstStyle/>
          <a:p>
            <a:pPr indent="0" marL="0">
              <a:buNone/>
            </a:pPr>
            <a:r>
              <a:rPr lang="en-US" sz="1000" b="1" dirty="0">
                <a:solidFill>
                  <a:srgbClr val="9A7B3F"/>
                </a:solidFill>
                <a:latin typeface="Calibri" pitchFamily="34" charset="0"/>
                <a:ea typeface="Calibri" pitchFamily="34" charset="-122"/>
                <a:cs typeface="Calibri" pitchFamily="34" charset="-120"/>
              </a:rPr>
              <a:t>2025</a:t>
            </a:r>
            <a:endParaRPr lang="en-US" sz="1000" dirty="0"/>
          </a:p>
        </p:txBody>
      </p:sp>
      <p:sp>
        <p:nvSpPr>
          <p:cNvPr id="20" name="Text 18"/>
          <p:cNvSpPr/>
          <p:nvPr/>
        </p:nvSpPr>
        <p:spPr>
          <a:xfrm>
            <a:off x="1536192" y="5065776"/>
            <a:ext cx="4892040" cy="457200"/>
          </a:xfrm>
          <a:prstGeom prst="rect">
            <a:avLst/>
          </a:prstGeom>
          <a:noFill/>
          <a:ln/>
        </p:spPr>
        <p:txBody>
          <a:bodyPr wrap="square" lIns="0" tIns="0" rIns="0" bIns="0" rtlCol="0" anchor="t"/>
          <a:lstStyle/>
          <a:p>
            <a:pPr indent="0" marL="0">
              <a:lnSpc>
                <a:spcPts val="1350"/>
              </a:lnSpc>
              <a:buNone/>
            </a:pPr>
            <a:r>
              <a:rPr lang="en-US" sz="1050" dirty="0">
                <a:solidFill>
                  <a:srgbClr val="5A6B7E"/>
                </a:solidFill>
                <a:latin typeface="Calibri" pitchFamily="34" charset="0"/>
                <a:ea typeface="Calibri" pitchFamily="34" charset="-122"/>
                <a:cs typeface="Calibri" pitchFamily="34" charset="-120"/>
              </a:rPr>
              <a:t>Launched 51Careers.AI — the Company’s AI-powered global career platform</a:t>
            </a:r>
            <a:endParaRPr lang="en-US" sz="1050" dirty="0"/>
          </a:p>
        </p:txBody>
      </p:sp>
      <p:sp>
        <p:nvSpPr>
          <p:cNvPr id="21" name="Text 19"/>
          <p:cNvSpPr/>
          <p:nvPr/>
        </p:nvSpPr>
        <p:spPr>
          <a:xfrm>
            <a:off x="566928" y="5577840"/>
            <a:ext cx="868680" cy="457200"/>
          </a:xfrm>
          <a:prstGeom prst="rect">
            <a:avLst/>
          </a:prstGeom>
          <a:noFill/>
          <a:ln/>
        </p:spPr>
        <p:txBody>
          <a:bodyPr wrap="square" lIns="0" tIns="0" rIns="0" bIns="0" rtlCol="0" anchor="ctr"/>
          <a:lstStyle/>
          <a:p>
            <a:pPr indent="0" marL="0">
              <a:buNone/>
            </a:pPr>
            <a:r>
              <a:rPr lang="en-US" sz="1000" b="1" dirty="0">
                <a:solidFill>
                  <a:srgbClr val="9A7B3F"/>
                </a:solidFill>
                <a:latin typeface="Calibri" pitchFamily="34" charset="0"/>
                <a:ea typeface="Calibri" pitchFamily="34" charset="-122"/>
                <a:cs typeface="Calibri" pitchFamily="34" charset="-120"/>
              </a:rPr>
              <a:t>2026</a:t>
            </a:r>
            <a:endParaRPr lang="en-US" sz="1000" dirty="0"/>
          </a:p>
        </p:txBody>
      </p:sp>
      <p:sp>
        <p:nvSpPr>
          <p:cNvPr id="22" name="Text 20"/>
          <p:cNvSpPr/>
          <p:nvPr/>
        </p:nvSpPr>
        <p:spPr>
          <a:xfrm>
            <a:off x="1536192" y="5577840"/>
            <a:ext cx="4892040" cy="457200"/>
          </a:xfrm>
          <a:prstGeom prst="rect">
            <a:avLst/>
          </a:prstGeom>
          <a:noFill/>
          <a:ln/>
        </p:spPr>
        <p:txBody>
          <a:bodyPr wrap="square" lIns="0" tIns="0" rIns="0" bIns="0" rtlCol="0" anchor="t"/>
          <a:lstStyle/>
          <a:p>
            <a:pPr indent="0" marL="0">
              <a:lnSpc>
                <a:spcPts val="1350"/>
              </a:lnSpc>
              <a:buNone/>
            </a:pPr>
            <a:r>
              <a:rPr lang="en-US" sz="1050" dirty="0">
                <a:solidFill>
                  <a:srgbClr val="5A6B7E"/>
                </a:solidFill>
                <a:latin typeface="Calibri" pitchFamily="34" charset="0"/>
                <a:ea typeface="Calibri" pitchFamily="34" charset="-122"/>
                <a:cs typeface="Calibri" pitchFamily="34" charset="-120"/>
              </a:rPr>
              <a:t>Global platform expansion underway across eight-plus countries</a:t>
            </a:r>
            <a:endParaRPr lang="en-US" sz="1050" dirty="0"/>
          </a:p>
        </p:txBody>
      </p:sp>
      <p:sp>
        <p:nvSpPr>
          <p:cNvPr id="23" name="Text 21"/>
          <p:cNvSpPr/>
          <p:nvPr/>
        </p:nvSpPr>
        <p:spPr>
          <a:xfrm>
            <a:off x="6903720" y="3154680"/>
            <a:ext cx="4709160" cy="274320"/>
          </a:xfrm>
          <a:prstGeom prst="rect">
            <a:avLst/>
          </a:prstGeom>
          <a:noFill/>
          <a:ln/>
        </p:spPr>
        <p:txBody>
          <a:bodyPr wrap="square" lIns="0" tIns="0" rIns="0" bIns="0" rtlCol="0" anchor="ctr"/>
          <a:lstStyle/>
          <a:p>
            <a:pPr indent="0" marL="0">
              <a:buNone/>
            </a:pPr>
            <a:r>
              <a:rPr lang="en-US" sz="1300" b="1" dirty="0">
                <a:solidFill>
                  <a:srgbClr val="1C2733"/>
                </a:solidFill>
                <a:latin typeface="Calibri" pitchFamily="34" charset="0"/>
                <a:ea typeface="Calibri" pitchFamily="34" charset="-122"/>
                <a:cs typeface="Calibri" pitchFamily="34" charset="-120"/>
              </a:rPr>
              <a:t>Why it matters</a:t>
            </a:r>
            <a:endParaRPr lang="en-US" sz="1300" dirty="0"/>
          </a:p>
        </p:txBody>
      </p:sp>
      <p:sp>
        <p:nvSpPr>
          <p:cNvPr id="24" name="Text 22"/>
          <p:cNvSpPr/>
          <p:nvPr/>
        </p:nvSpPr>
        <p:spPr>
          <a:xfrm>
            <a:off x="6903720" y="3529584"/>
            <a:ext cx="4709160" cy="2286000"/>
          </a:xfrm>
          <a:prstGeom prst="rect">
            <a:avLst/>
          </a:prstGeom>
          <a:noFill/>
          <a:ln/>
        </p:spPr>
        <p:txBody>
          <a:bodyPr wrap="square" lIns="0" tIns="0" rIns="0" bIns="0" rtlCol="0" anchor="t"/>
          <a:lstStyle/>
          <a:p>
            <a:pPr marL="152400" indent="-152400">
              <a:lnSpc>
                <a:spcPts val="1400"/>
              </a:lnSpc>
              <a:spcAft>
                <a:spcPts val="800"/>
              </a:spcAft>
              <a:buSzPct val="100000"/>
              <a:buChar char="•"/>
            </a:pPr>
            <a:r>
              <a:rPr lang="en-US" sz="1050" dirty="0">
                <a:solidFill>
                  <a:srgbClr val="5A6B7E"/>
                </a:solidFill>
                <a:latin typeface="Calibri" pitchFamily="34" charset="0"/>
                <a:ea typeface="Calibri" pitchFamily="34" charset="-122"/>
                <a:cs typeface="Calibri" pitchFamily="34" charset="-120"/>
              </a:rPr>
              <a:t>Durable, decade-long demand with proven willingness to pay</a:t>
            </a:r>
            <a:endParaRPr lang="en-US" sz="1050" dirty="0"/>
          </a:p>
          <a:p>
            <a:pPr marL="152400" indent="-152400">
              <a:lnSpc>
                <a:spcPts val="1400"/>
              </a:lnSpc>
              <a:spcAft>
                <a:spcPts val="800"/>
              </a:spcAft>
              <a:buSzPct val="100000"/>
              <a:buChar char="•"/>
            </a:pPr>
            <a:r>
              <a:rPr lang="en-US" sz="1050" dirty="0">
                <a:solidFill>
                  <a:srgbClr val="5A6B7E"/>
                </a:solidFill>
                <a:latin typeface="Calibri" pitchFamily="34" charset="0"/>
                <a:ea typeface="Calibri" pitchFamily="34" charset="-122"/>
                <a:cs typeface="Calibri" pitchFamily="34" charset="-120"/>
              </a:rPr>
              <a:t>Cross-border delivery capability that is difficult to replicate</a:t>
            </a:r>
            <a:endParaRPr lang="en-US" sz="1050" dirty="0"/>
          </a:p>
          <a:p>
            <a:pPr marL="152400" indent="-152400">
              <a:lnSpc>
                <a:spcPts val="1400"/>
              </a:lnSpc>
              <a:spcAft>
                <a:spcPts val="800"/>
              </a:spcAft>
              <a:buSzPct val="100000"/>
              <a:buChar char="•"/>
            </a:pPr>
            <a:r>
              <a:rPr lang="en-US" sz="1050" dirty="0">
                <a:solidFill>
                  <a:srgbClr val="5A6B7E"/>
                </a:solidFill>
                <a:latin typeface="Calibri" pitchFamily="34" charset="0"/>
                <a:ea typeface="Calibri" pitchFamily="34" charset="-122"/>
                <a:cs typeface="Calibri" pitchFamily="34" charset="-120"/>
              </a:rPr>
              <a:t>AI now layers operating leverage onto an established service core</a:t>
            </a:r>
            <a:endParaRPr lang="en-US" sz="1050" dirty="0"/>
          </a:p>
          <a:p>
            <a:pPr marL="152400" indent="-152400">
              <a:lnSpc>
                <a:spcPts val="1400"/>
              </a:lnSpc>
              <a:spcAft>
                <a:spcPts val="800"/>
              </a:spcAft>
              <a:buSzPct val="100000"/>
              <a:buChar char="•"/>
            </a:pPr>
            <a:r>
              <a:rPr lang="en-US" sz="1050" dirty="0">
                <a:solidFill>
                  <a:srgbClr val="5A6B7E"/>
                </a:solidFill>
                <a:latin typeface="Calibri" pitchFamily="34" charset="0"/>
                <a:ea typeface="Calibri" pitchFamily="34" charset="-122"/>
                <a:cs typeface="Calibri" pitchFamily="34" charset="-120"/>
              </a:rPr>
              <a:t>Existing revenue de-risks the platform transition</a:t>
            </a:r>
            <a:endParaRPr lang="en-US" sz="1050" dirty="0"/>
          </a:p>
        </p:txBody>
      </p:sp>
      <p:sp>
        <p:nvSpPr>
          <p:cNvPr id="25" name="Text 23"/>
          <p:cNvSpPr/>
          <p:nvPr/>
        </p:nvSpPr>
        <p:spPr>
          <a:xfrm>
            <a:off x="566928" y="6236208"/>
            <a:ext cx="11057839" cy="237744"/>
          </a:xfrm>
          <a:prstGeom prst="rect">
            <a:avLst/>
          </a:prstGeom>
          <a:noFill/>
          <a:ln/>
        </p:spPr>
        <p:txBody>
          <a:bodyPr wrap="square" lIns="0" tIns="0" rIns="0" bIns="0" rtlCol="0" anchor="ctr"/>
          <a:lstStyle/>
          <a:p>
            <a:pPr indent="0" marL="0">
              <a:buNone/>
            </a:pPr>
            <a:r>
              <a:rPr lang="en-US" sz="750" i="1" dirty="0">
                <a:solidFill>
                  <a:srgbClr val="5A6B7E"/>
                </a:solidFill>
                <a:latin typeface="Calibri" pitchFamily="34" charset="0"/>
                <a:ea typeface="Calibri" pitchFamily="34" charset="-122"/>
                <a:cs typeface="Calibri" pitchFamily="34" charset="-120"/>
              </a:rPr>
              <a:t>† Third-party estimates (ZoomInfo; LeadIQ, 2025–26) ranging US$9.7–15M revenue and ≈30–50 staff; to be confirmed in due diligence.</a:t>
            </a:r>
            <a:endParaRPr lang="en-US" sz="750" dirty="0"/>
          </a:p>
        </p:txBody>
      </p:sp>
      <p:sp>
        <p:nvSpPr>
          <p:cNvPr id="26" name="Text 24"/>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27" name="Text 25"/>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COMPETITIVE POSITIONING</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Differentiated at the Intersection of AI and Outcomes</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7839" cy="914400"/>
        </p:xfrm>
        <a:graphic>
          <a:graphicData uri="http://schemas.openxmlformats.org/drawingml/2006/table">
            <a:tbl>
              <a:tblPr/>
              <a:tblGrid>
                <a:gridCol w="3429000"/>
                <a:gridCol w="1691640"/>
                <a:gridCol w="1481328"/>
                <a:gridCol w="1481328"/>
                <a:gridCol w="1572768"/>
                <a:gridCol w="1399032"/>
              </a:tblGrid>
              <a:tr h="475488">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Capability</a:t>
                      </a:r>
                      <a:endParaRPr lang="en-US" sz="10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32A4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51Careers.AI</a:t>
                      </a:r>
                      <a:endParaRPr lang="en-US" sz="10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32A4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Job Boards</a:t>
                      </a:r>
                      <a:endParaRPr lang="en-US" sz="10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32A4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Prep Apps</a:t>
                      </a:r>
                      <a:endParaRPr lang="en-US" sz="10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32A4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Coaching Firms</a:t>
                      </a:r>
                      <a:endParaRPr lang="en-US" sz="10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32A4F"/>
                    </a:solidFill>
                  </a:tcPr>
                </a:tc>
                <a:tc>
                  <a:txBody>
                    <a:bodyPr/>
                    <a:lstStyle/>
                    <a:p>
                      <a:pPr algn="ctr" indent="0" marL="0">
                        <a:buNone/>
                      </a:pPr>
                      <a:r>
                        <a:rPr lang="en-US" sz="1000" b="1" dirty="0">
                          <a:solidFill>
                            <a:srgbClr val="FFFFFF"/>
                          </a:solidFill>
                          <a:latin typeface="Calibri" pitchFamily="34" charset="0"/>
                          <a:ea typeface="Calibri" pitchFamily="34" charset="-122"/>
                          <a:cs typeface="Calibri" pitchFamily="34" charset="-120"/>
                        </a:rPr>
                        <a:t>Staffing Agencies</a:t>
                      </a:r>
                      <a:endParaRPr lang="en-US" sz="10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132A4F"/>
                    </a:solidFill>
                  </a:tcPr>
                </a:tc>
              </a:tr>
              <a:tr h="475488">
                <a:tc>
                  <a:txBody>
                    <a:bodyPr/>
                    <a:lstStyle/>
                    <a:p>
                      <a:pPr algn="l" indent="0" marL="0">
                        <a:buNone/>
                      </a:pPr>
                      <a:r>
                        <a:rPr lang="en-US" sz="1050" dirty="0">
                          <a:solidFill>
                            <a:srgbClr val="1C2733"/>
                          </a:solidFill>
                          <a:latin typeface="Calibri" pitchFamily="34" charset="0"/>
                          <a:ea typeface="Calibri" pitchFamily="34" charset="-122"/>
                          <a:cs typeface="Calibri" pitchFamily="34" charset="-120"/>
                        </a:rPr>
                        <a:t>AI-personalized interview practice</a:t>
                      </a:r>
                      <a:endParaRPr lang="en-US" sz="105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132A4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EF3F9"/>
                    </a:solidFill>
                  </a:tcPr>
                </a:tc>
                <a:tc>
                  <a:txBody>
                    <a:bodyPr/>
                    <a:lstStyle/>
                    <a:p>
                      <a:pPr algn="ctr" indent="0" marL="0">
                        <a:buNone/>
                      </a:pPr>
                      <a:r>
                        <a:rPr lang="en-US" sz="1100" dirty="0">
                          <a:solidFill>
                            <a:srgbClr val="C9D2D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5A6B7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5A6B7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dirty="0">
                          <a:solidFill>
                            <a:srgbClr val="C9D2D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475488">
                <a:tc>
                  <a:txBody>
                    <a:bodyPr/>
                    <a:lstStyle/>
                    <a:p>
                      <a:pPr algn="l" indent="0" marL="0">
                        <a:buNone/>
                      </a:pPr>
                      <a:r>
                        <a:rPr lang="en-US" sz="1050" dirty="0">
                          <a:solidFill>
                            <a:srgbClr val="1C2733"/>
                          </a:solidFill>
                          <a:latin typeface="Calibri" pitchFamily="34" charset="0"/>
                          <a:ea typeface="Calibri" pitchFamily="34" charset="-122"/>
                          <a:cs typeface="Calibri" pitchFamily="34" charset="-120"/>
                        </a:rPr>
                        <a:t>Proprietary real-question banks</a:t>
                      </a:r>
                      <a:endParaRPr lang="en-US" sz="105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132A4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EF3F9"/>
                    </a:solidFill>
                  </a:tcPr>
                </a:tc>
                <a:tc>
                  <a:txBody>
                    <a:bodyPr/>
                    <a:lstStyle/>
                    <a:p>
                      <a:pPr algn="ctr" indent="0" marL="0">
                        <a:buNone/>
                      </a:pPr>
                      <a:r>
                        <a:rPr lang="en-US" sz="1100" dirty="0">
                          <a:solidFill>
                            <a:srgbClr val="C9D2D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5A6B7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5A6B7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dirty="0">
                          <a:solidFill>
                            <a:srgbClr val="C9D2D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475488">
                <a:tc>
                  <a:txBody>
                    <a:bodyPr/>
                    <a:lstStyle/>
                    <a:p>
                      <a:pPr algn="l" indent="0" marL="0">
                        <a:buNone/>
                      </a:pPr>
                      <a:r>
                        <a:rPr lang="en-US" sz="1050" dirty="0">
                          <a:solidFill>
                            <a:srgbClr val="1C2733"/>
                          </a:solidFill>
                          <a:latin typeface="Calibri" pitchFamily="34" charset="0"/>
                          <a:ea typeface="Calibri" pitchFamily="34" charset="-122"/>
                          <a:cs typeface="Calibri" pitchFamily="34" charset="-120"/>
                        </a:rPr>
                        <a:t>Human mentor network</a:t>
                      </a:r>
                      <a:endParaRPr lang="en-US" sz="105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132A4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EF3F9"/>
                    </a:solidFill>
                  </a:tcPr>
                </a:tc>
                <a:tc>
                  <a:txBody>
                    <a:bodyPr/>
                    <a:lstStyle/>
                    <a:p>
                      <a:pPr algn="ctr" indent="0" marL="0">
                        <a:buNone/>
                      </a:pPr>
                      <a:r>
                        <a:rPr lang="en-US" sz="1100" dirty="0">
                          <a:solidFill>
                            <a:srgbClr val="C9D2D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dirty="0">
                          <a:solidFill>
                            <a:srgbClr val="C9D2D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132A4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5A6B7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475488">
                <a:tc>
                  <a:txBody>
                    <a:bodyPr/>
                    <a:lstStyle/>
                    <a:p>
                      <a:pPr algn="l" indent="0" marL="0">
                        <a:buNone/>
                      </a:pPr>
                      <a:r>
                        <a:rPr lang="en-US" sz="1050" dirty="0">
                          <a:solidFill>
                            <a:srgbClr val="1C2733"/>
                          </a:solidFill>
                          <a:latin typeface="Calibri" pitchFamily="34" charset="0"/>
                          <a:ea typeface="Calibri" pitchFamily="34" charset="-122"/>
                          <a:cs typeface="Calibri" pitchFamily="34" charset="-120"/>
                        </a:rPr>
                        <a:t>Outcome-based placement programs</a:t>
                      </a:r>
                      <a:endParaRPr lang="en-US" sz="105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132A4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EF3F9"/>
                    </a:solidFill>
                  </a:tcPr>
                </a:tc>
                <a:tc>
                  <a:txBody>
                    <a:bodyPr/>
                    <a:lstStyle/>
                    <a:p>
                      <a:pPr algn="ctr" indent="0" marL="0">
                        <a:buNone/>
                      </a:pPr>
                      <a:r>
                        <a:rPr lang="en-US" sz="1100" dirty="0">
                          <a:solidFill>
                            <a:srgbClr val="C9D2D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dirty="0">
                          <a:solidFill>
                            <a:srgbClr val="C9D2D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5A6B7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132A4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475488">
                <a:tc>
                  <a:txBody>
                    <a:bodyPr/>
                    <a:lstStyle/>
                    <a:p>
                      <a:pPr algn="l" indent="0" marL="0">
                        <a:buNone/>
                      </a:pPr>
                      <a:r>
                        <a:rPr lang="en-US" sz="1050" dirty="0">
                          <a:solidFill>
                            <a:srgbClr val="1C2733"/>
                          </a:solidFill>
                          <a:latin typeface="Calibri" pitchFamily="34" charset="0"/>
                          <a:ea typeface="Calibri" pitchFamily="34" charset="-122"/>
                          <a:cs typeface="Calibri" pitchFamily="34" charset="-120"/>
                        </a:rPr>
                        <a:t>Employer-side AI screening</a:t>
                      </a:r>
                      <a:endParaRPr lang="en-US" sz="105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132A4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EF3F9"/>
                    </a:solidFill>
                  </a:tcPr>
                </a:tc>
                <a:tc>
                  <a:txBody>
                    <a:bodyPr/>
                    <a:lstStyle/>
                    <a:p>
                      <a:pPr algn="ctr" indent="0" marL="0">
                        <a:buNone/>
                      </a:pPr>
                      <a:r>
                        <a:rPr lang="en-US" sz="1200" dirty="0">
                          <a:solidFill>
                            <a:srgbClr val="5A6B7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dirty="0">
                          <a:solidFill>
                            <a:srgbClr val="C9D2D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dirty="0">
                          <a:solidFill>
                            <a:srgbClr val="C9D2D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5A6B7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r h="475488">
                <a:tc>
                  <a:txBody>
                    <a:bodyPr/>
                    <a:lstStyle/>
                    <a:p>
                      <a:pPr algn="l" indent="0" marL="0">
                        <a:buNone/>
                      </a:pPr>
                      <a:r>
                        <a:rPr lang="en-US" sz="1050" dirty="0">
                          <a:solidFill>
                            <a:srgbClr val="1C2733"/>
                          </a:solidFill>
                          <a:latin typeface="Calibri" pitchFamily="34" charset="0"/>
                          <a:ea typeface="Calibri" pitchFamily="34" charset="-122"/>
                          <a:cs typeface="Calibri" pitchFamily="34" charset="-120"/>
                        </a:rPr>
                        <a:t>Cross-border early-career focus</a:t>
                      </a:r>
                      <a:endParaRPr lang="en-US" sz="105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132A4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solidFill>
                      <a:srgbClr val="EEF3F9"/>
                    </a:solidFill>
                  </a:tcPr>
                </a:tc>
                <a:tc>
                  <a:txBody>
                    <a:bodyPr/>
                    <a:lstStyle/>
                    <a:p>
                      <a:pPr algn="ctr" indent="0" marL="0">
                        <a:buNone/>
                      </a:pPr>
                      <a:r>
                        <a:rPr lang="en-US" sz="1200" dirty="0">
                          <a:solidFill>
                            <a:srgbClr val="5A6B7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100" dirty="0">
                          <a:solidFill>
                            <a:srgbClr val="C9D2DC"/>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5A6B7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c>
                  <a:txBody>
                    <a:bodyPr/>
                    <a:lstStyle/>
                    <a:p>
                      <a:pPr algn="ctr" indent="0" marL="0">
                        <a:buNone/>
                      </a:pPr>
                      <a:r>
                        <a:rPr lang="en-US" sz="1200" dirty="0">
                          <a:solidFill>
                            <a:srgbClr val="5A6B7E"/>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73152" marT="36576" marB="36576" anchor="ctr">
                    <a:lnL w="6350" cap="flat" cmpd="sng" algn="ctr">
                      <a:solidFill>
                        <a:srgbClr val="D5DCE4"/>
                      </a:solidFill>
                      <a:prstDash val="solid"/>
                      <a:round/>
                      <a:headEnd type="none" w="med" len="med"/>
                      <a:tailEnd type="none" w="med" len="med"/>
                    </a:lnL>
                    <a:lnR w="6350" cap="flat" cmpd="sng" algn="ctr">
                      <a:solidFill>
                        <a:srgbClr val="D5DCE4"/>
                      </a:solidFill>
                      <a:prstDash val="solid"/>
                      <a:round/>
                      <a:headEnd type="none" w="med" len="med"/>
                      <a:tailEnd type="none" w="med" len="med"/>
                    </a:lnR>
                    <a:lnT w="6350" cap="flat" cmpd="sng" algn="ctr">
                      <a:solidFill>
                        <a:srgbClr val="D5DCE4"/>
                      </a:solidFill>
                      <a:prstDash val="solid"/>
                      <a:round/>
                      <a:headEnd type="none" w="med" len="med"/>
                      <a:tailEnd type="none" w="med" len="med"/>
                    </a:lnT>
                    <a:lnB w="6350" cap="flat" cmpd="sng" algn="ctr">
                      <a:solidFill>
                        <a:srgbClr val="D5DCE4"/>
                      </a:solidFill>
                      <a:prstDash val="solid"/>
                      <a:round/>
                      <a:headEnd type="none" w="med" len="med"/>
                      <a:tailEnd type="none" w="med" len="med"/>
                    </a:lnB>
                  </a:tcPr>
                </a:tc>
              </a:tr>
            </a:tbl>
          </a:graphicData>
        </a:graphic>
      </p:graphicFrame>
      <p:sp>
        <p:nvSpPr>
          <p:cNvPr id="5" name="Text 2"/>
          <p:cNvSpPr/>
          <p:nvPr/>
        </p:nvSpPr>
        <p:spPr>
          <a:xfrm>
            <a:off x="566928" y="5230368"/>
            <a:ext cx="7315200" cy="237744"/>
          </a:xfrm>
          <a:prstGeom prst="rect">
            <a:avLst/>
          </a:prstGeom>
          <a:noFill/>
          <a:ln/>
        </p:spPr>
        <p:txBody>
          <a:bodyPr wrap="square" lIns="0" tIns="0" rIns="0" bIns="0" rtlCol="0" anchor="ctr"/>
          <a:lstStyle/>
          <a:p>
            <a:pPr indent="0" marL="0">
              <a:buNone/>
            </a:pPr>
            <a:r>
              <a:rPr lang="en-US" sz="900" dirty="0">
                <a:solidFill>
                  <a:srgbClr val="5A6B7E"/>
                </a:solidFill>
                <a:latin typeface="Calibri" pitchFamily="34" charset="0"/>
                <a:ea typeface="Calibri" pitchFamily="34" charset="-122"/>
                <a:cs typeface="Calibri" pitchFamily="34" charset="-120"/>
              </a:rPr>
              <a:t>●  Full capability      ○  Partial      —  Not offered</a:t>
            </a:r>
            <a:endParaRPr lang="en-US" sz="900" dirty="0"/>
          </a:p>
        </p:txBody>
      </p:sp>
      <p:sp>
        <p:nvSpPr>
          <p:cNvPr id="6" name="Text 3"/>
          <p:cNvSpPr/>
          <p:nvPr/>
        </p:nvSpPr>
        <p:spPr>
          <a:xfrm>
            <a:off x="566928" y="5650992"/>
            <a:ext cx="11057839" cy="310896"/>
          </a:xfrm>
          <a:prstGeom prst="rect">
            <a:avLst/>
          </a:prstGeom>
          <a:noFill/>
          <a:ln/>
        </p:spPr>
        <p:txBody>
          <a:bodyPr wrap="square" lIns="0" tIns="0" rIns="0" bIns="0" rtlCol="0" anchor="ctr"/>
          <a:lstStyle/>
          <a:p>
            <a:pPr indent="0" marL="0">
              <a:buNone/>
            </a:pPr>
            <a:r>
              <a:rPr lang="en-US" sz="1200" i="1" dirty="0">
                <a:solidFill>
                  <a:srgbClr val="132A4F"/>
                </a:solidFill>
                <a:latin typeface="Calibri" pitchFamily="34" charset="0"/>
                <a:ea typeface="Calibri" pitchFamily="34" charset="-122"/>
                <a:cs typeface="Calibri" pitchFamily="34" charset="-120"/>
              </a:rPr>
              <a:t>51Careers.AI is the only platform combining AI-native preparation, human mentorship, and outcome-based placement across borders.</a:t>
            </a:r>
            <a:endParaRPr lang="en-US" sz="1200" dirty="0"/>
          </a:p>
        </p:txBody>
      </p:sp>
      <p:sp>
        <p:nvSpPr>
          <p:cNvPr id="7" name="Text 4"/>
          <p:cNvSpPr/>
          <p:nvPr/>
        </p:nvSpPr>
        <p:spPr>
          <a:xfrm>
            <a:off x="566928" y="6236208"/>
            <a:ext cx="11057839" cy="237744"/>
          </a:xfrm>
          <a:prstGeom prst="rect">
            <a:avLst/>
          </a:prstGeom>
          <a:noFill/>
          <a:ln/>
        </p:spPr>
        <p:txBody>
          <a:bodyPr wrap="square" lIns="0" tIns="0" rIns="0" bIns="0" rtlCol="0" anchor="ctr"/>
          <a:lstStyle/>
          <a:p>
            <a:pPr indent="0" marL="0">
              <a:buNone/>
            </a:pPr>
            <a:r>
              <a:rPr lang="en-US" sz="750" i="1" dirty="0">
                <a:solidFill>
                  <a:srgbClr val="5A6B7E"/>
                </a:solidFill>
                <a:latin typeface="Calibri" pitchFamily="34" charset="0"/>
                <a:ea typeface="Calibri" pitchFamily="34" charset="-122"/>
                <a:cs typeface="Calibri" pitchFamily="34" charset="-120"/>
              </a:rPr>
              <a:t>Illustrative category comparison based on management assessment of publicly available offerings.</a:t>
            </a:r>
            <a:endParaRPr lang="en-US" sz="750" dirty="0"/>
          </a:p>
        </p:txBody>
      </p:sp>
      <p:sp>
        <p:nvSpPr>
          <p:cNvPr id="8" name="Text 5"/>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9" name="Text 6"/>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GROWTH STRATEGY</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A Phased Path to Global Scale</a:t>
            </a:r>
            <a:endParaRPr lang="en-US" sz="3000" dirty="0"/>
          </a:p>
        </p:txBody>
      </p:sp>
      <p:sp>
        <p:nvSpPr>
          <p:cNvPr id="4" name="Text 2"/>
          <p:cNvSpPr/>
          <p:nvPr/>
        </p:nvSpPr>
        <p:spPr>
          <a:xfrm>
            <a:off x="566928" y="1737360"/>
            <a:ext cx="3520440" cy="548640"/>
          </a:xfrm>
          <a:prstGeom prst="rect">
            <a:avLst/>
          </a:prstGeom>
          <a:noFill/>
          <a:ln/>
        </p:spPr>
        <p:txBody>
          <a:bodyPr wrap="square" lIns="0" tIns="0" rIns="0" bIns="0" rtlCol="0" anchor="ctr"/>
          <a:lstStyle/>
          <a:p>
            <a:pPr indent="0" marL="0">
              <a:buNone/>
            </a:pPr>
            <a:r>
              <a:rPr lang="en-US" sz="2800" b="1" dirty="0">
                <a:solidFill>
                  <a:srgbClr val="9A7B3F"/>
                </a:solidFill>
                <a:latin typeface="Century Schoolbook" pitchFamily="34" charset="0"/>
                <a:ea typeface="Century Schoolbook" pitchFamily="34" charset="-122"/>
                <a:cs typeface="Century Schoolbook" pitchFamily="34" charset="-120"/>
              </a:rPr>
              <a:t>2026</a:t>
            </a:r>
            <a:endParaRPr lang="en-US" sz="2800" dirty="0"/>
          </a:p>
        </p:txBody>
      </p:sp>
      <p:sp>
        <p:nvSpPr>
          <p:cNvPr id="5" name="Text 3"/>
          <p:cNvSpPr/>
          <p:nvPr/>
        </p:nvSpPr>
        <p:spPr>
          <a:xfrm>
            <a:off x="566928" y="2340864"/>
            <a:ext cx="3520440" cy="292608"/>
          </a:xfrm>
          <a:prstGeom prst="rect">
            <a:avLst/>
          </a:prstGeom>
          <a:noFill/>
          <a:ln/>
        </p:spPr>
        <p:txBody>
          <a:bodyPr wrap="square" lIns="0" tIns="0" rIns="0" bIns="0" rtlCol="0" anchor="ctr"/>
          <a:lstStyle/>
          <a:p>
            <a:pPr indent="0" marL="0">
              <a:buNone/>
            </a:pPr>
            <a:r>
              <a:rPr lang="en-US" sz="1350" b="1" dirty="0">
                <a:solidFill>
                  <a:srgbClr val="1C2733"/>
                </a:solidFill>
                <a:latin typeface="Calibri" pitchFamily="34" charset="0"/>
                <a:ea typeface="Calibri" pitchFamily="34" charset="-122"/>
                <a:cs typeface="Calibri" pitchFamily="34" charset="-120"/>
              </a:rPr>
              <a:t>Strengthen the core</a:t>
            </a:r>
            <a:endParaRPr lang="en-US" sz="1350" dirty="0"/>
          </a:p>
        </p:txBody>
      </p:sp>
      <p:sp>
        <p:nvSpPr>
          <p:cNvPr id="6" name="Text 4"/>
          <p:cNvSpPr/>
          <p:nvPr/>
        </p:nvSpPr>
        <p:spPr>
          <a:xfrm>
            <a:off x="566928" y="2743200"/>
            <a:ext cx="3520440" cy="2286000"/>
          </a:xfrm>
          <a:prstGeom prst="rect">
            <a:avLst/>
          </a:prstGeom>
          <a:noFill/>
          <a:ln/>
        </p:spPr>
        <p:txBody>
          <a:bodyPr wrap="square" lIns="0" tIns="0" rIns="0" bIns="0" rtlCol="0" anchor="t"/>
          <a:lstStyle/>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Scale the AI platform across the U.S. and Greater China</a:t>
            </a:r>
            <a:endParaRPr lang="en-US" sz="1050" dirty="0"/>
          </a:p>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Migrate the coaching client base onto the platform</a:t>
            </a:r>
            <a:endParaRPr lang="en-US" sz="1050" dirty="0"/>
          </a:p>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Expand question-bank and assessment coverage by role and employer</a:t>
            </a:r>
            <a:endParaRPr lang="en-US" sz="1050" dirty="0"/>
          </a:p>
        </p:txBody>
      </p:sp>
      <p:sp>
        <p:nvSpPr>
          <p:cNvPr id="7" name="Text 5"/>
          <p:cNvSpPr/>
          <p:nvPr/>
        </p:nvSpPr>
        <p:spPr>
          <a:xfrm>
            <a:off x="4343400" y="1737360"/>
            <a:ext cx="3520440" cy="548640"/>
          </a:xfrm>
          <a:prstGeom prst="rect">
            <a:avLst/>
          </a:prstGeom>
          <a:noFill/>
          <a:ln/>
        </p:spPr>
        <p:txBody>
          <a:bodyPr wrap="square" lIns="0" tIns="0" rIns="0" bIns="0" rtlCol="0" anchor="ctr"/>
          <a:lstStyle/>
          <a:p>
            <a:pPr indent="0" marL="0">
              <a:buNone/>
            </a:pPr>
            <a:r>
              <a:rPr lang="en-US" sz="2800" b="1" dirty="0">
                <a:solidFill>
                  <a:srgbClr val="9A7B3F"/>
                </a:solidFill>
                <a:latin typeface="Century Schoolbook" pitchFamily="34" charset="0"/>
                <a:ea typeface="Century Schoolbook" pitchFamily="34" charset="-122"/>
                <a:cs typeface="Century Schoolbook" pitchFamily="34" charset="-120"/>
              </a:rPr>
              <a:t>2027</a:t>
            </a:r>
            <a:endParaRPr lang="en-US" sz="2800" dirty="0"/>
          </a:p>
        </p:txBody>
      </p:sp>
      <p:sp>
        <p:nvSpPr>
          <p:cNvPr id="8" name="Text 6"/>
          <p:cNvSpPr/>
          <p:nvPr/>
        </p:nvSpPr>
        <p:spPr>
          <a:xfrm>
            <a:off x="4343400" y="2340864"/>
            <a:ext cx="3520440" cy="292608"/>
          </a:xfrm>
          <a:prstGeom prst="rect">
            <a:avLst/>
          </a:prstGeom>
          <a:noFill/>
          <a:ln/>
        </p:spPr>
        <p:txBody>
          <a:bodyPr wrap="square" lIns="0" tIns="0" rIns="0" bIns="0" rtlCol="0" anchor="ctr"/>
          <a:lstStyle/>
          <a:p>
            <a:pPr indent="0" marL="0">
              <a:buNone/>
            </a:pPr>
            <a:r>
              <a:rPr lang="en-US" sz="1350" b="1" dirty="0">
                <a:solidFill>
                  <a:srgbClr val="1C2733"/>
                </a:solidFill>
                <a:latin typeface="Calibri" pitchFamily="34" charset="0"/>
                <a:ea typeface="Calibri" pitchFamily="34" charset="-122"/>
                <a:cs typeface="Calibri" pitchFamily="34" charset="-120"/>
              </a:rPr>
              <a:t>Extend the footprint</a:t>
            </a:r>
            <a:endParaRPr lang="en-US" sz="1350" dirty="0"/>
          </a:p>
        </p:txBody>
      </p:sp>
      <p:sp>
        <p:nvSpPr>
          <p:cNvPr id="9" name="Text 7"/>
          <p:cNvSpPr/>
          <p:nvPr/>
        </p:nvSpPr>
        <p:spPr>
          <a:xfrm>
            <a:off x="4343400" y="2743200"/>
            <a:ext cx="3520440" cy="2286000"/>
          </a:xfrm>
          <a:prstGeom prst="rect">
            <a:avLst/>
          </a:prstGeom>
          <a:noFill/>
          <a:ln/>
        </p:spPr>
        <p:txBody>
          <a:bodyPr wrap="square" lIns="0" tIns="0" rIns="0" bIns="0" rtlCol="0" anchor="t"/>
          <a:lstStyle/>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Full go-to-market in the U.K., Singapore, South Korea, Canada, and India</a:t>
            </a:r>
            <a:endParaRPr lang="en-US" sz="1050" dirty="0"/>
          </a:p>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University and institutional partnership programs</a:t>
            </a:r>
            <a:endParaRPr lang="en-US" sz="1050" dirty="0"/>
          </a:p>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Convert employer pilots into paid SaaS relationships</a:t>
            </a:r>
            <a:endParaRPr lang="en-US" sz="1050" dirty="0"/>
          </a:p>
        </p:txBody>
      </p:sp>
      <p:sp>
        <p:nvSpPr>
          <p:cNvPr id="10" name="Text 8"/>
          <p:cNvSpPr/>
          <p:nvPr/>
        </p:nvSpPr>
        <p:spPr>
          <a:xfrm>
            <a:off x="8119872" y="1737360"/>
            <a:ext cx="3520440" cy="548640"/>
          </a:xfrm>
          <a:prstGeom prst="rect">
            <a:avLst/>
          </a:prstGeom>
          <a:noFill/>
          <a:ln/>
        </p:spPr>
        <p:txBody>
          <a:bodyPr wrap="square" lIns="0" tIns="0" rIns="0" bIns="0" rtlCol="0" anchor="ctr"/>
          <a:lstStyle/>
          <a:p>
            <a:pPr indent="0" marL="0">
              <a:buNone/>
            </a:pPr>
            <a:r>
              <a:rPr lang="en-US" sz="2800" b="1" dirty="0">
                <a:solidFill>
                  <a:srgbClr val="9A7B3F"/>
                </a:solidFill>
                <a:latin typeface="Century Schoolbook" pitchFamily="34" charset="0"/>
                <a:ea typeface="Century Schoolbook" pitchFamily="34" charset="-122"/>
                <a:cs typeface="Century Schoolbook" pitchFamily="34" charset="-120"/>
              </a:rPr>
              <a:t>2028+</a:t>
            </a:r>
            <a:endParaRPr lang="en-US" sz="2800" dirty="0"/>
          </a:p>
        </p:txBody>
      </p:sp>
      <p:sp>
        <p:nvSpPr>
          <p:cNvPr id="11" name="Text 9"/>
          <p:cNvSpPr/>
          <p:nvPr/>
        </p:nvSpPr>
        <p:spPr>
          <a:xfrm>
            <a:off x="8119872" y="2340864"/>
            <a:ext cx="3520440" cy="292608"/>
          </a:xfrm>
          <a:prstGeom prst="rect">
            <a:avLst/>
          </a:prstGeom>
          <a:noFill/>
          <a:ln/>
        </p:spPr>
        <p:txBody>
          <a:bodyPr wrap="square" lIns="0" tIns="0" rIns="0" bIns="0" rtlCol="0" anchor="ctr"/>
          <a:lstStyle/>
          <a:p>
            <a:pPr indent="0" marL="0">
              <a:buNone/>
            </a:pPr>
            <a:r>
              <a:rPr lang="en-US" sz="1350" b="1" dirty="0">
                <a:solidFill>
                  <a:srgbClr val="1C2733"/>
                </a:solidFill>
                <a:latin typeface="Calibri" pitchFamily="34" charset="0"/>
                <a:ea typeface="Calibri" pitchFamily="34" charset="-122"/>
                <a:cs typeface="Calibri" pitchFamily="34" charset="-120"/>
              </a:rPr>
              <a:t>Compound the platform</a:t>
            </a:r>
            <a:endParaRPr lang="en-US" sz="1350" dirty="0"/>
          </a:p>
        </p:txBody>
      </p:sp>
      <p:sp>
        <p:nvSpPr>
          <p:cNvPr id="12" name="Text 10"/>
          <p:cNvSpPr/>
          <p:nvPr/>
        </p:nvSpPr>
        <p:spPr>
          <a:xfrm>
            <a:off x="8119872" y="2743200"/>
            <a:ext cx="3520440" cy="2286000"/>
          </a:xfrm>
          <a:prstGeom prst="rect">
            <a:avLst/>
          </a:prstGeom>
          <a:noFill/>
          <a:ln/>
        </p:spPr>
        <p:txBody>
          <a:bodyPr wrap="square" lIns="0" tIns="0" rIns="0" bIns="0" rtlCol="0" anchor="t"/>
          <a:lstStyle/>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Employer SaaS at scale across core geographies</a:t>
            </a:r>
            <a:endParaRPr lang="en-US" sz="1050" dirty="0"/>
          </a:p>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Additional languages, verticals, and seniority segments</a:t>
            </a:r>
            <a:endParaRPr lang="en-US" sz="1050" dirty="0"/>
          </a:p>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Selective M&amp;A of regional career-services assets</a:t>
            </a:r>
            <a:endParaRPr lang="en-US" sz="1050" dirty="0"/>
          </a:p>
        </p:txBody>
      </p:sp>
      <p:sp>
        <p:nvSpPr>
          <p:cNvPr id="13" name="Shape 11"/>
          <p:cNvSpPr/>
          <p:nvPr/>
        </p:nvSpPr>
        <p:spPr>
          <a:xfrm>
            <a:off x="566928" y="5440680"/>
            <a:ext cx="11057839" cy="713232"/>
          </a:xfrm>
          <a:prstGeom prst="rect">
            <a:avLst/>
          </a:prstGeom>
          <a:solidFill>
            <a:srgbClr val="F3F6F9"/>
          </a:solidFill>
          <a:ln/>
        </p:spPr>
      </p:sp>
      <p:sp>
        <p:nvSpPr>
          <p:cNvPr id="14" name="Text 12"/>
          <p:cNvSpPr/>
          <p:nvPr/>
        </p:nvSpPr>
        <p:spPr>
          <a:xfrm>
            <a:off x="841248" y="5504688"/>
            <a:ext cx="10509199" cy="585216"/>
          </a:xfrm>
          <a:prstGeom prst="rect">
            <a:avLst/>
          </a:prstGeom>
          <a:noFill/>
          <a:ln/>
        </p:spPr>
        <p:txBody>
          <a:bodyPr wrap="square" lIns="0" tIns="0" rIns="0" bIns="0" rtlCol="0" anchor="ctr"/>
          <a:lstStyle/>
          <a:p>
            <a:pPr indent="0" marL="0">
              <a:buNone/>
            </a:pPr>
            <a:r>
              <a:rPr lang="en-US" sz="1150" b="1" i="1" dirty="0">
                <a:solidFill>
                  <a:srgbClr val="132A4F"/>
                </a:solidFill>
                <a:latin typeface="Calibri" pitchFamily="34" charset="0"/>
                <a:ea typeface="Calibri" pitchFamily="34" charset="-122"/>
                <a:cs typeface="Calibri" pitchFamily="34" charset="-120"/>
              </a:rPr>
              <a:t>Sequencing follows the existing footprint — </a:t>
            </a:r>
            <a:pPr indent="0" marL="0">
              <a:buNone/>
            </a:pPr>
            <a:r>
              <a:rPr lang="en-US" sz="1150" i="1" dirty="0">
                <a:solidFill>
                  <a:srgbClr val="5A6B7E"/>
                </a:solidFill>
                <a:latin typeface="Calibri" pitchFamily="34" charset="0"/>
                <a:ea typeface="Calibri" pitchFamily="34" charset="-122"/>
                <a:cs typeface="Calibri" pitchFamily="34" charset="-120"/>
              </a:rPr>
              <a:t>new capital extends proven demand in markets the Company already serves, rather than funding market discovery.</a:t>
            </a:r>
            <a:endParaRPr lang="en-US" sz="1150" dirty="0"/>
          </a:p>
        </p:txBody>
      </p:sp>
      <p:sp>
        <p:nvSpPr>
          <p:cNvPr id="15" name="Text 13"/>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16" name="Text 14"/>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FINANCIAL OUTLOOK</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Illustrative Five-Year Trajectory</a:t>
            </a:r>
            <a:endParaRPr lang="en-US" sz="3000" dirty="0"/>
          </a:p>
        </p:txBody>
      </p:sp>
      <p:sp>
        <p:nvSpPr>
          <p:cNvPr id="4" name="Text 2"/>
          <p:cNvSpPr/>
          <p:nvPr/>
        </p:nvSpPr>
        <p:spPr>
          <a:xfrm>
            <a:off x="566928" y="1572768"/>
            <a:ext cx="4572000" cy="237744"/>
          </a:xfrm>
          <a:prstGeom prst="rect">
            <a:avLst/>
          </a:prstGeom>
          <a:noFill/>
          <a:ln/>
        </p:spPr>
        <p:txBody>
          <a:bodyPr wrap="square" lIns="0" tIns="0" rIns="0" bIns="0" rtlCol="0" anchor="ctr"/>
          <a:lstStyle/>
          <a:p>
            <a:pPr indent="0" marL="0">
              <a:buNone/>
            </a:pPr>
            <a:r>
              <a:rPr lang="en-US" sz="1000" b="1" spc="100" kern="0" dirty="0">
                <a:solidFill>
                  <a:srgbClr val="5A6B7E"/>
                </a:solidFill>
                <a:latin typeface="Calibri" pitchFamily="34" charset="0"/>
                <a:ea typeface="Calibri" pitchFamily="34" charset="-122"/>
                <a:cs typeface="Calibri" pitchFamily="34" charset="-120"/>
              </a:rPr>
              <a:t>Revenue, US$ millions</a:t>
            </a:r>
            <a:endParaRPr lang="en-US" sz="1000" dirty="0"/>
          </a:p>
        </p:txBody>
      </p:sp>
      <p:graphicFrame>
        <p:nvGraphicFramePr>
          <p:cNvPr id="5" name="Chart 0" descr=""/>
          <p:cNvGraphicFramePr/>
          <p:nvPr/>
        </p:nvGraphicFramePr>
        <p:xfrm>
          <a:off x="566928" y="1874520"/>
          <a:ext cx="6675120" cy="397764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7726680" y="1783080"/>
            <a:ext cx="3886200" cy="658368"/>
          </a:xfrm>
          <a:prstGeom prst="rect">
            <a:avLst/>
          </a:prstGeom>
          <a:noFill/>
          <a:ln/>
        </p:spPr>
        <p:txBody>
          <a:bodyPr wrap="square" lIns="0" tIns="0" rIns="0" bIns="0" rtlCol="0" anchor="ctr"/>
          <a:lstStyle/>
          <a:p>
            <a:pPr indent="0" marL="0">
              <a:buNone/>
            </a:pPr>
            <a:r>
              <a:rPr lang="en-US" sz="3600" b="1" dirty="0">
                <a:solidFill>
                  <a:srgbClr val="132A4F"/>
                </a:solidFill>
                <a:latin typeface="Century Schoolbook" pitchFamily="34" charset="0"/>
                <a:ea typeface="Century Schoolbook" pitchFamily="34" charset="-122"/>
                <a:cs typeface="Century Schoolbook" pitchFamily="34" charset="-120"/>
              </a:rPr>
              <a:t>≈50%</a:t>
            </a:r>
            <a:endParaRPr lang="en-US" sz="3600" dirty="0"/>
          </a:p>
        </p:txBody>
      </p:sp>
      <p:sp>
        <p:nvSpPr>
          <p:cNvPr id="7" name="Text 4"/>
          <p:cNvSpPr/>
          <p:nvPr/>
        </p:nvSpPr>
        <p:spPr>
          <a:xfrm>
            <a:off x="7726680" y="2468880"/>
            <a:ext cx="3886200" cy="237744"/>
          </a:xfrm>
          <a:prstGeom prst="rect">
            <a:avLst/>
          </a:prstGeom>
          <a:noFill/>
          <a:ln/>
        </p:spPr>
        <p:txBody>
          <a:bodyPr wrap="square" lIns="0" tIns="0" rIns="0" bIns="0" rtlCol="0" anchor="ctr"/>
          <a:lstStyle/>
          <a:p>
            <a:pPr indent="0" marL="0">
              <a:buNone/>
            </a:pPr>
            <a:r>
              <a:rPr lang="en-US" sz="850" spc="150" kern="0" dirty="0">
                <a:solidFill>
                  <a:srgbClr val="5A6B7E"/>
                </a:solidFill>
                <a:latin typeface="Calibri" pitchFamily="34" charset="0"/>
                <a:ea typeface="Calibri" pitchFamily="34" charset="-122"/>
                <a:cs typeface="Calibri" pitchFamily="34" charset="-120"/>
              </a:rPr>
              <a:t>REVENUE CAGR, 2025E–2029E</a:t>
            </a:r>
            <a:endParaRPr lang="en-US" sz="850" dirty="0"/>
          </a:p>
        </p:txBody>
      </p:sp>
      <p:sp>
        <p:nvSpPr>
          <p:cNvPr id="8" name="Text 5"/>
          <p:cNvSpPr/>
          <p:nvPr/>
        </p:nvSpPr>
        <p:spPr>
          <a:xfrm>
            <a:off x="7726680" y="3017520"/>
            <a:ext cx="3886200" cy="274320"/>
          </a:xfrm>
          <a:prstGeom prst="rect">
            <a:avLst/>
          </a:prstGeom>
          <a:noFill/>
          <a:ln/>
        </p:spPr>
        <p:txBody>
          <a:bodyPr wrap="square" lIns="0" tIns="0" rIns="0" bIns="0" rtlCol="0" anchor="ctr"/>
          <a:lstStyle/>
          <a:p>
            <a:pPr indent="0" marL="0">
              <a:buNone/>
            </a:pPr>
            <a:r>
              <a:rPr lang="en-US" sz="1300" b="1" dirty="0">
                <a:solidFill>
                  <a:srgbClr val="1C2733"/>
                </a:solidFill>
                <a:latin typeface="Calibri" pitchFamily="34" charset="0"/>
                <a:ea typeface="Calibri" pitchFamily="34" charset="-122"/>
                <a:cs typeface="Calibri" pitchFamily="34" charset="-120"/>
              </a:rPr>
              <a:t>Key drivers</a:t>
            </a:r>
            <a:endParaRPr lang="en-US" sz="1300" dirty="0"/>
          </a:p>
        </p:txBody>
      </p:sp>
      <p:sp>
        <p:nvSpPr>
          <p:cNvPr id="9" name="Text 6"/>
          <p:cNvSpPr/>
          <p:nvPr/>
        </p:nvSpPr>
        <p:spPr>
          <a:xfrm>
            <a:off x="7726680" y="3383280"/>
            <a:ext cx="3886200" cy="2377440"/>
          </a:xfrm>
          <a:prstGeom prst="rect">
            <a:avLst/>
          </a:prstGeom>
          <a:noFill/>
          <a:ln/>
        </p:spPr>
        <p:txBody>
          <a:bodyPr wrap="square" lIns="0" tIns="0" rIns="0" bIns="0" rtlCol="0" anchor="t"/>
          <a:lstStyle/>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Self-serve platform subscriptions compounding across markets</a:t>
            </a:r>
            <a:endParaRPr lang="en-US" sz="1050" dirty="0"/>
          </a:p>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Mix shift from services to software lifting gross margin toward 65%+</a:t>
            </a:r>
            <a:endParaRPr lang="en-US" sz="1050" dirty="0"/>
          </a:p>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Employer SaaS ramping from 2027</a:t>
            </a:r>
            <a:endParaRPr lang="en-US" sz="1050" dirty="0"/>
          </a:p>
          <a:p>
            <a:pPr marL="152400" indent="-152400">
              <a:lnSpc>
                <a:spcPts val="1450"/>
              </a:lnSpc>
              <a:spcAft>
                <a:spcPts val="900"/>
              </a:spcAft>
              <a:buSzPct val="100000"/>
              <a:buChar char="•"/>
            </a:pPr>
            <a:r>
              <a:rPr lang="en-US" sz="1050" dirty="0">
                <a:solidFill>
                  <a:srgbClr val="5A6B7E"/>
                </a:solidFill>
                <a:latin typeface="Calibri" pitchFamily="34" charset="0"/>
                <a:ea typeface="Calibri" pitchFamily="34" charset="-122"/>
                <a:cs typeface="Calibri" pitchFamily="34" charset="-120"/>
              </a:rPr>
              <a:t>AI-assisted delivery driving operating leverage</a:t>
            </a:r>
            <a:endParaRPr lang="en-US" sz="1050" dirty="0"/>
          </a:p>
        </p:txBody>
      </p:sp>
      <p:sp>
        <p:nvSpPr>
          <p:cNvPr id="10" name="Text 7"/>
          <p:cNvSpPr/>
          <p:nvPr/>
        </p:nvSpPr>
        <p:spPr>
          <a:xfrm>
            <a:off x="566928" y="6236208"/>
            <a:ext cx="11057839" cy="237744"/>
          </a:xfrm>
          <a:prstGeom prst="rect">
            <a:avLst/>
          </a:prstGeom>
          <a:noFill/>
          <a:ln/>
        </p:spPr>
        <p:txBody>
          <a:bodyPr wrap="square" lIns="0" tIns="0" rIns="0" bIns="0" rtlCol="0" anchor="ctr"/>
          <a:lstStyle/>
          <a:p>
            <a:pPr indent="0" marL="0">
              <a:buNone/>
            </a:pPr>
            <a:r>
              <a:rPr lang="en-US" sz="750" i="1" dirty="0">
                <a:solidFill>
                  <a:srgbClr val="5A6B7E"/>
                </a:solidFill>
                <a:latin typeface="Calibri" pitchFamily="34" charset="0"/>
                <a:ea typeface="Calibri" pitchFamily="34" charset="-122"/>
                <a:cs typeface="Calibri" pitchFamily="34" charset="-120"/>
              </a:rPr>
              <a:t>Illustrative management projections, not a forecast; 2025 base reflects third-party revenue estimates. Actual results will differ.</a:t>
            </a:r>
            <a:endParaRPr lang="en-US" sz="750" dirty="0"/>
          </a:p>
        </p:txBody>
      </p:sp>
      <p:sp>
        <p:nvSpPr>
          <p:cNvPr id="11" name="Text 8"/>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12" name="Text 9"/>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THE OFFERING</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RMB 20 Million to Accelerate Global Leadership</a:t>
            </a:r>
            <a:endParaRPr lang="en-US" sz="3000" dirty="0"/>
          </a:p>
        </p:txBody>
      </p:sp>
      <p:sp>
        <p:nvSpPr>
          <p:cNvPr id="4" name="Shape 2"/>
          <p:cNvSpPr/>
          <p:nvPr/>
        </p:nvSpPr>
        <p:spPr>
          <a:xfrm>
            <a:off x="566928" y="1691640"/>
            <a:ext cx="5166360" cy="3977640"/>
          </a:xfrm>
          <a:prstGeom prst="rect">
            <a:avLst/>
          </a:prstGeom>
          <a:solidFill>
            <a:srgbClr val="F3F6F9"/>
          </a:solidFill>
          <a:ln/>
        </p:spPr>
      </p:sp>
      <p:sp>
        <p:nvSpPr>
          <p:cNvPr id="5" name="Text 3"/>
          <p:cNvSpPr/>
          <p:nvPr/>
        </p:nvSpPr>
        <p:spPr>
          <a:xfrm>
            <a:off x="859536" y="1938528"/>
            <a:ext cx="4480560" cy="237744"/>
          </a:xfrm>
          <a:prstGeom prst="rect">
            <a:avLst/>
          </a:prstGeom>
          <a:noFill/>
          <a:ln/>
        </p:spPr>
        <p:txBody>
          <a:bodyPr wrap="square" lIns="0" tIns="0" rIns="0" bIns="0" rtlCol="0" anchor="ctr"/>
          <a:lstStyle/>
          <a:p>
            <a:pPr indent="0" marL="0">
              <a:buNone/>
            </a:pPr>
            <a:r>
              <a:rPr lang="en-US" sz="900" b="1" spc="250" kern="0" dirty="0">
                <a:solidFill>
                  <a:srgbClr val="9A7B3F"/>
                </a:solidFill>
                <a:latin typeface="Calibri" pitchFamily="34" charset="0"/>
                <a:ea typeface="Calibri" pitchFamily="34" charset="-122"/>
                <a:cs typeface="Calibri" pitchFamily="34" charset="-120"/>
              </a:rPr>
              <a:t>INDICATIVE TERMS</a:t>
            </a:r>
            <a:endParaRPr lang="en-US" sz="900" dirty="0"/>
          </a:p>
        </p:txBody>
      </p:sp>
      <p:sp>
        <p:nvSpPr>
          <p:cNvPr id="6" name="Text 4"/>
          <p:cNvSpPr/>
          <p:nvPr/>
        </p:nvSpPr>
        <p:spPr>
          <a:xfrm>
            <a:off x="859536" y="2304288"/>
            <a:ext cx="1600200" cy="310896"/>
          </a:xfrm>
          <a:prstGeom prst="rect">
            <a:avLst/>
          </a:prstGeom>
          <a:noFill/>
          <a:ln/>
        </p:spPr>
        <p:txBody>
          <a:bodyPr wrap="square" lIns="0" tIns="0" rIns="0" bIns="0" rtlCol="0" anchor="ctr"/>
          <a:lstStyle/>
          <a:p>
            <a:pPr indent="0" marL="0">
              <a:buNone/>
            </a:pPr>
            <a:r>
              <a:rPr lang="en-US" sz="1050" dirty="0">
                <a:solidFill>
                  <a:srgbClr val="5A6B7E"/>
                </a:solidFill>
                <a:latin typeface="Calibri" pitchFamily="34" charset="0"/>
                <a:ea typeface="Calibri" pitchFamily="34" charset="-122"/>
                <a:cs typeface="Calibri" pitchFamily="34" charset="-120"/>
              </a:rPr>
              <a:t>Round size</a:t>
            </a:r>
            <a:endParaRPr lang="en-US" sz="1050" dirty="0"/>
          </a:p>
        </p:txBody>
      </p:sp>
      <p:sp>
        <p:nvSpPr>
          <p:cNvPr id="7" name="Text 5"/>
          <p:cNvSpPr/>
          <p:nvPr/>
        </p:nvSpPr>
        <p:spPr>
          <a:xfrm>
            <a:off x="2505456" y="2304288"/>
            <a:ext cx="3017520" cy="310896"/>
          </a:xfrm>
          <a:prstGeom prst="rect">
            <a:avLst/>
          </a:prstGeom>
          <a:noFill/>
          <a:ln/>
        </p:spPr>
        <p:txBody>
          <a:bodyPr wrap="square" lIns="0" tIns="0" rIns="0" bIns="0" rtlCol="0" anchor="ctr"/>
          <a:lstStyle/>
          <a:p>
            <a:pPr indent="0" marL="0">
              <a:buNone/>
            </a:pPr>
            <a:r>
              <a:rPr lang="en-US" sz="1150" b="1" dirty="0">
                <a:solidFill>
                  <a:srgbClr val="1C2733"/>
                </a:solidFill>
                <a:latin typeface="Calibri" pitchFamily="34" charset="0"/>
                <a:ea typeface="Calibri" pitchFamily="34" charset="-122"/>
                <a:cs typeface="Calibri" pitchFamily="34" charset="-120"/>
              </a:rPr>
              <a:t>RMB 20.0M · 10% · ≈ US$2.97M</a:t>
            </a:r>
            <a:endParaRPr lang="en-US" sz="1150" dirty="0"/>
          </a:p>
        </p:txBody>
      </p:sp>
      <p:sp>
        <p:nvSpPr>
          <p:cNvPr id="8" name="Text 6"/>
          <p:cNvSpPr/>
          <p:nvPr/>
        </p:nvSpPr>
        <p:spPr>
          <a:xfrm>
            <a:off x="859536" y="2871216"/>
            <a:ext cx="1600200" cy="310896"/>
          </a:xfrm>
          <a:prstGeom prst="rect">
            <a:avLst/>
          </a:prstGeom>
          <a:noFill/>
          <a:ln/>
        </p:spPr>
        <p:txBody>
          <a:bodyPr wrap="square" lIns="0" tIns="0" rIns="0" bIns="0" rtlCol="0" anchor="ctr"/>
          <a:lstStyle/>
          <a:p>
            <a:pPr indent="0" marL="0">
              <a:buNone/>
            </a:pPr>
            <a:r>
              <a:rPr lang="en-US" sz="1050" dirty="0">
                <a:solidFill>
                  <a:srgbClr val="5A6B7E"/>
                </a:solidFill>
                <a:latin typeface="Calibri" pitchFamily="34" charset="0"/>
                <a:ea typeface="Calibri" pitchFamily="34" charset="-122"/>
                <a:cs typeface="Calibri" pitchFamily="34" charset="-120"/>
              </a:rPr>
              <a:t>Valuation</a:t>
            </a:r>
            <a:endParaRPr lang="en-US" sz="1050" dirty="0"/>
          </a:p>
        </p:txBody>
      </p:sp>
      <p:sp>
        <p:nvSpPr>
          <p:cNvPr id="9" name="Text 7"/>
          <p:cNvSpPr/>
          <p:nvPr/>
        </p:nvSpPr>
        <p:spPr>
          <a:xfrm>
            <a:off x="2505456" y="2871216"/>
            <a:ext cx="3017520" cy="310896"/>
          </a:xfrm>
          <a:prstGeom prst="rect">
            <a:avLst/>
          </a:prstGeom>
          <a:noFill/>
          <a:ln/>
        </p:spPr>
        <p:txBody>
          <a:bodyPr wrap="square" lIns="0" tIns="0" rIns="0" bIns="0" rtlCol="0" anchor="ctr"/>
          <a:lstStyle/>
          <a:p>
            <a:pPr indent="0" marL="0">
              <a:buNone/>
            </a:pPr>
            <a:r>
              <a:rPr lang="en-US" sz="1150" b="1" dirty="0">
                <a:solidFill>
                  <a:srgbClr val="1C2733"/>
                </a:solidFill>
                <a:latin typeface="Calibri" pitchFamily="34" charset="0"/>
                <a:ea typeface="Calibri" pitchFamily="34" charset="-122"/>
                <a:cs typeface="Calibri" pitchFamily="34" charset="-120"/>
              </a:rPr>
              <a:t>RMB 200M pre-money · ≈ US$29.7M</a:t>
            </a:r>
            <a:endParaRPr lang="en-US" sz="1150" dirty="0"/>
          </a:p>
        </p:txBody>
      </p:sp>
      <p:sp>
        <p:nvSpPr>
          <p:cNvPr id="10" name="Text 8"/>
          <p:cNvSpPr/>
          <p:nvPr/>
        </p:nvSpPr>
        <p:spPr>
          <a:xfrm>
            <a:off x="859536" y="3438144"/>
            <a:ext cx="1600200" cy="310896"/>
          </a:xfrm>
          <a:prstGeom prst="rect">
            <a:avLst/>
          </a:prstGeom>
          <a:noFill/>
          <a:ln/>
        </p:spPr>
        <p:txBody>
          <a:bodyPr wrap="square" lIns="0" tIns="0" rIns="0" bIns="0" rtlCol="0" anchor="ctr"/>
          <a:lstStyle/>
          <a:p>
            <a:pPr indent="0" marL="0">
              <a:buNone/>
            </a:pPr>
            <a:r>
              <a:rPr lang="en-US" sz="1050" dirty="0">
                <a:solidFill>
                  <a:srgbClr val="5A6B7E"/>
                </a:solidFill>
                <a:latin typeface="Calibri" pitchFamily="34" charset="0"/>
                <a:ea typeface="Calibri" pitchFamily="34" charset="-122"/>
                <a:cs typeface="Calibri" pitchFamily="34" charset="-120"/>
              </a:rPr>
              <a:t>Structure</a:t>
            </a:r>
            <a:endParaRPr lang="en-US" sz="1050" dirty="0"/>
          </a:p>
        </p:txBody>
      </p:sp>
      <p:sp>
        <p:nvSpPr>
          <p:cNvPr id="11" name="Text 9"/>
          <p:cNvSpPr/>
          <p:nvPr/>
        </p:nvSpPr>
        <p:spPr>
          <a:xfrm>
            <a:off x="2505456" y="3438144"/>
            <a:ext cx="3017520" cy="310896"/>
          </a:xfrm>
          <a:prstGeom prst="rect">
            <a:avLst/>
          </a:prstGeom>
          <a:noFill/>
          <a:ln/>
        </p:spPr>
        <p:txBody>
          <a:bodyPr wrap="square" lIns="0" tIns="0" rIns="0" bIns="0" rtlCol="0" anchor="ctr"/>
          <a:lstStyle/>
          <a:p>
            <a:pPr indent="0" marL="0">
              <a:buNone/>
            </a:pPr>
            <a:r>
              <a:rPr lang="en-US" sz="1150" b="1" dirty="0">
                <a:solidFill>
                  <a:srgbClr val="1C2733"/>
                </a:solidFill>
                <a:latin typeface="Calibri" pitchFamily="34" charset="0"/>
                <a:ea typeface="Calibri" pitchFamily="34" charset="-122"/>
                <a:cs typeface="Calibri" pitchFamily="34" charset="-120"/>
              </a:rPr>
              <a:t>Preferred equity</a:t>
            </a:r>
            <a:endParaRPr lang="en-US" sz="1150" dirty="0"/>
          </a:p>
        </p:txBody>
      </p:sp>
      <p:sp>
        <p:nvSpPr>
          <p:cNvPr id="12" name="Text 10"/>
          <p:cNvSpPr/>
          <p:nvPr/>
        </p:nvSpPr>
        <p:spPr>
          <a:xfrm>
            <a:off x="859536" y="4005072"/>
            <a:ext cx="1600200" cy="310896"/>
          </a:xfrm>
          <a:prstGeom prst="rect">
            <a:avLst/>
          </a:prstGeom>
          <a:noFill/>
          <a:ln/>
        </p:spPr>
        <p:txBody>
          <a:bodyPr wrap="square" lIns="0" tIns="0" rIns="0" bIns="0" rtlCol="0" anchor="ctr"/>
          <a:lstStyle/>
          <a:p>
            <a:pPr indent="0" marL="0">
              <a:buNone/>
            </a:pPr>
            <a:r>
              <a:rPr lang="en-US" sz="1050" dirty="0">
                <a:solidFill>
                  <a:srgbClr val="5A6B7E"/>
                </a:solidFill>
                <a:latin typeface="Calibri" pitchFamily="34" charset="0"/>
                <a:ea typeface="Calibri" pitchFamily="34" charset="-122"/>
                <a:cs typeface="Calibri" pitchFamily="34" charset="-120"/>
              </a:rPr>
              <a:t>Use of funds</a:t>
            </a:r>
            <a:endParaRPr lang="en-US" sz="1050" dirty="0"/>
          </a:p>
        </p:txBody>
      </p:sp>
      <p:sp>
        <p:nvSpPr>
          <p:cNvPr id="13" name="Text 11"/>
          <p:cNvSpPr/>
          <p:nvPr/>
        </p:nvSpPr>
        <p:spPr>
          <a:xfrm>
            <a:off x="2505456" y="4005072"/>
            <a:ext cx="3017520" cy="310896"/>
          </a:xfrm>
          <a:prstGeom prst="rect">
            <a:avLst/>
          </a:prstGeom>
          <a:noFill/>
          <a:ln/>
        </p:spPr>
        <p:txBody>
          <a:bodyPr wrap="square" lIns="0" tIns="0" rIns="0" bIns="0" rtlCol="0" anchor="ctr"/>
          <a:lstStyle/>
          <a:p>
            <a:pPr indent="0" marL="0">
              <a:buNone/>
            </a:pPr>
            <a:r>
              <a:rPr lang="en-US" sz="1150" b="1" dirty="0">
                <a:solidFill>
                  <a:srgbClr val="1C2733"/>
                </a:solidFill>
                <a:latin typeface="Calibri" pitchFamily="34" charset="0"/>
                <a:ea typeface="Calibri" pitchFamily="34" charset="-122"/>
                <a:cs typeface="Calibri" pitchFamily="34" charset="-120"/>
              </a:rPr>
              <a:t>Personnel, marketing &amp; product</a:t>
            </a:r>
            <a:endParaRPr lang="en-US" sz="1150" dirty="0"/>
          </a:p>
        </p:txBody>
      </p:sp>
      <p:sp>
        <p:nvSpPr>
          <p:cNvPr id="14" name="Text 12"/>
          <p:cNvSpPr/>
          <p:nvPr/>
        </p:nvSpPr>
        <p:spPr>
          <a:xfrm>
            <a:off x="859536" y="4572000"/>
            <a:ext cx="1600200" cy="310896"/>
          </a:xfrm>
          <a:prstGeom prst="rect">
            <a:avLst/>
          </a:prstGeom>
          <a:noFill/>
          <a:ln/>
        </p:spPr>
        <p:txBody>
          <a:bodyPr wrap="square" lIns="0" tIns="0" rIns="0" bIns="0" rtlCol="0" anchor="ctr"/>
          <a:lstStyle/>
          <a:p>
            <a:pPr indent="0" marL="0">
              <a:buNone/>
            </a:pPr>
            <a:r>
              <a:rPr lang="en-US" sz="1050" dirty="0">
                <a:solidFill>
                  <a:srgbClr val="5A6B7E"/>
                </a:solidFill>
                <a:latin typeface="Calibri" pitchFamily="34" charset="0"/>
                <a:ea typeface="Calibri" pitchFamily="34" charset="-122"/>
                <a:cs typeface="Calibri" pitchFamily="34" charset="-120"/>
              </a:rPr>
              <a:t>Target close</a:t>
            </a:r>
            <a:endParaRPr lang="en-US" sz="1050" dirty="0"/>
          </a:p>
        </p:txBody>
      </p:sp>
      <p:sp>
        <p:nvSpPr>
          <p:cNvPr id="15" name="Text 13"/>
          <p:cNvSpPr/>
          <p:nvPr/>
        </p:nvSpPr>
        <p:spPr>
          <a:xfrm>
            <a:off x="2505456" y="4572000"/>
            <a:ext cx="3017520" cy="310896"/>
          </a:xfrm>
          <a:prstGeom prst="rect">
            <a:avLst/>
          </a:prstGeom>
          <a:noFill/>
          <a:ln/>
        </p:spPr>
        <p:txBody>
          <a:bodyPr wrap="square" lIns="0" tIns="0" rIns="0" bIns="0" rtlCol="0" anchor="ctr"/>
          <a:lstStyle/>
          <a:p>
            <a:pPr indent="0" marL="0">
              <a:buNone/>
            </a:pPr>
            <a:r>
              <a:rPr lang="en-US" sz="1150" b="1" dirty="0">
                <a:solidFill>
                  <a:srgbClr val="1C2733"/>
                </a:solidFill>
                <a:latin typeface="Calibri" pitchFamily="34" charset="0"/>
                <a:ea typeface="Calibri" pitchFamily="34" charset="-122"/>
                <a:cs typeface="Calibri" pitchFamily="34" charset="-120"/>
              </a:rPr>
              <a:t>2H 2026</a:t>
            </a:r>
            <a:endParaRPr lang="en-US" sz="1150" dirty="0"/>
          </a:p>
        </p:txBody>
      </p:sp>
      <p:sp>
        <p:nvSpPr>
          <p:cNvPr id="16" name="Text 14"/>
          <p:cNvSpPr/>
          <p:nvPr/>
        </p:nvSpPr>
        <p:spPr>
          <a:xfrm>
            <a:off x="859536" y="5230368"/>
            <a:ext cx="4480560" cy="237744"/>
          </a:xfrm>
          <a:prstGeom prst="rect">
            <a:avLst/>
          </a:prstGeom>
          <a:noFill/>
          <a:ln/>
        </p:spPr>
        <p:txBody>
          <a:bodyPr wrap="square" lIns="0" tIns="0" rIns="0" bIns="0" rtlCol="0" anchor="ctr"/>
          <a:lstStyle/>
          <a:p>
            <a:pPr indent="0" marL="0">
              <a:buNone/>
            </a:pPr>
            <a:r>
              <a:rPr lang="en-US" sz="850" i="1" dirty="0">
                <a:solidFill>
                  <a:srgbClr val="5A6B7E"/>
                </a:solidFill>
                <a:latin typeface="Calibri" pitchFamily="34" charset="0"/>
                <a:ea typeface="Calibri" pitchFamily="34" charset="-122"/>
                <a:cs typeface="Calibri" pitchFamily="34" charset="-120"/>
              </a:rPr>
              <a:t>Indicative only; subject to definitive documentation.</a:t>
            </a:r>
            <a:endParaRPr lang="en-US" sz="850" dirty="0"/>
          </a:p>
        </p:txBody>
      </p:sp>
      <p:sp>
        <p:nvSpPr>
          <p:cNvPr id="17" name="Text 15"/>
          <p:cNvSpPr/>
          <p:nvPr/>
        </p:nvSpPr>
        <p:spPr>
          <a:xfrm>
            <a:off x="6537960" y="1691640"/>
            <a:ext cx="4937760" cy="274320"/>
          </a:xfrm>
          <a:prstGeom prst="rect">
            <a:avLst/>
          </a:prstGeom>
          <a:noFill/>
          <a:ln/>
        </p:spPr>
        <p:txBody>
          <a:bodyPr wrap="square" lIns="0" tIns="0" rIns="0" bIns="0" rtlCol="0" anchor="ctr"/>
          <a:lstStyle/>
          <a:p>
            <a:pPr indent="0" marL="0">
              <a:buNone/>
            </a:pPr>
            <a:r>
              <a:rPr lang="en-US" sz="1300" b="1" dirty="0">
                <a:solidFill>
                  <a:srgbClr val="1C2733"/>
                </a:solidFill>
                <a:latin typeface="Calibri" pitchFamily="34" charset="0"/>
                <a:ea typeface="Calibri" pitchFamily="34" charset="-122"/>
                <a:cs typeface="Calibri" pitchFamily="34" charset="-120"/>
              </a:rPr>
              <a:t>Use of proceeds</a:t>
            </a:r>
            <a:endParaRPr lang="en-US" sz="1300" dirty="0"/>
          </a:p>
        </p:txBody>
      </p:sp>
      <p:graphicFrame>
        <p:nvGraphicFramePr>
          <p:cNvPr id="18" name="Chart 0" descr=""/>
          <p:cNvGraphicFramePr/>
          <p:nvPr/>
        </p:nvGraphicFramePr>
        <p:xfrm>
          <a:off x="6355080" y="2011680"/>
          <a:ext cx="5349240" cy="361188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p:nvPr/>
        </p:nvSpPr>
        <p:spPr>
          <a:xfrm>
            <a:off x="566928" y="5870448"/>
            <a:ext cx="11057839" cy="310896"/>
          </a:xfrm>
          <a:prstGeom prst="rect">
            <a:avLst/>
          </a:prstGeom>
          <a:noFill/>
          <a:ln/>
        </p:spPr>
        <p:txBody>
          <a:bodyPr wrap="square" lIns="0" tIns="0" rIns="0" bIns="0" rtlCol="0" anchor="ctr"/>
          <a:lstStyle/>
          <a:p>
            <a:pPr indent="0" marL="0">
              <a:buNone/>
            </a:pPr>
            <a:r>
              <a:rPr lang="en-US" sz="1150" b="1" dirty="0">
                <a:solidFill>
                  <a:srgbClr val="132A4F"/>
                </a:solidFill>
                <a:latin typeface="Calibri" pitchFamily="34" charset="0"/>
                <a:ea typeface="Calibri" pitchFamily="34" charset="-122"/>
                <a:cs typeface="Calibri" pitchFamily="34" charset="-120"/>
              </a:rPr>
              <a:t>What this capital achieves — </a:t>
            </a:r>
            <a:pPr indent="0" marL="0">
              <a:buNone/>
            </a:pPr>
            <a:r>
              <a:rPr lang="en-US" sz="1150" dirty="0">
                <a:solidFill>
                  <a:srgbClr val="5A6B7E"/>
                </a:solidFill>
                <a:latin typeface="Calibri" pitchFamily="34" charset="0"/>
                <a:ea typeface="Calibri" pitchFamily="34" charset="-122"/>
                <a:cs typeface="Calibri" pitchFamily="34" charset="-120"/>
              </a:rPr>
              <a:t>next-generation platform release · go-to-market in three additional countries · employer SaaS general availability · scaled global mentor network.</a:t>
            </a:r>
            <a:endParaRPr lang="en-US" sz="1150" dirty="0"/>
          </a:p>
        </p:txBody>
      </p:sp>
      <p:sp>
        <p:nvSpPr>
          <p:cNvPr id="20" name="Text 17"/>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21" name="Text 18"/>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1057839" cy="256032"/>
          </a:xfrm>
          <a:prstGeom prst="rect">
            <a:avLst/>
          </a:prstGeom>
          <a:noFill/>
          <a:ln/>
        </p:spPr>
        <p:txBody>
          <a:bodyPr wrap="square" lIns="0" tIns="0" rIns="0" bIns="0" rtlCol="0" anchor="ctr"/>
          <a:lstStyle/>
          <a:p>
            <a:pPr indent="0" marL="0">
              <a:buNone/>
            </a:pPr>
            <a:r>
              <a:rPr lang="en-US" sz="1000" b="1" spc="300" kern="0" dirty="0">
                <a:solidFill>
                  <a:srgbClr val="9A7B3F"/>
                </a:solidFill>
                <a:latin typeface="Calibri" pitchFamily="34" charset="0"/>
                <a:ea typeface="Calibri" pitchFamily="34" charset="-122"/>
                <a:cs typeface="Calibri" pitchFamily="34" charset="-120"/>
              </a:rPr>
              <a:t>LEADERSHIP</a:t>
            </a:r>
            <a:endParaRPr lang="en-US" sz="1000" dirty="0"/>
          </a:p>
        </p:txBody>
      </p:sp>
      <p:sp>
        <p:nvSpPr>
          <p:cNvPr id="3" name="Text 1"/>
          <p:cNvSpPr/>
          <p:nvPr/>
        </p:nvSpPr>
        <p:spPr>
          <a:xfrm>
            <a:off x="566928" y="658368"/>
            <a:ext cx="11057839" cy="566928"/>
          </a:xfrm>
          <a:prstGeom prst="rect">
            <a:avLst/>
          </a:prstGeom>
          <a:noFill/>
          <a:ln/>
        </p:spPr>
        <p:txBody>
          <a:bodyPr wrap="square" lIns="0" tIns="0" rIns="0" bIns="0" rtlCol="0" anchor="ctr"/>
          <a:lstStyle/>
          <a:p>
            <a:pPr indent="0" marL="0">
              <a:buNone/>
            </a:pPr>
            <a:r>
              <a:rPr lang="en-US" sz="3000" b="1" dirty="0">
                <a:solidFill>
                  <a:srgbClr val="132A4F"/>
                </a:solidFill>
                <a:latin typeface="Century Schoolbook" pitchFamily="34" charset="0"/>
                <a:ea typeface="Century Schoolbook" pitchFamily="34" charset="-122"/>
                <a:cs typeface="Century Schoolbook" pitchFamily="34" charset="-120"/>
              </a:rPr>
              <a:t>Founder-Led, Globally Distributed</a:t>
            </a:r>
            <a:endParaRPr lang="en-US" sz="3000" dirty="0"/>
          </a:p>
        </p:txBody>
      </p:sp>
      <p:sp>
        <p:nvSpPr>
          <p:cNvPr id="4" name="Text 2"/>
          <p:cNvSpPr/>
          <p:nvPr/>
        </p:nvSpPr>
        <p:spPr>
          <a:xfrm>
            <a:off x="566928" y="1783080"/>
            <a:ext cx="5760720" cy="457200"/>
          </a:xfrm>
          <a:prstGeom prst="rect">
            <a:avLst/>
          </a:prstGeom>
          <a:noFill/>
          <a:ln/>
        </p:spPr>
        <p:txBody>
          <a:bodyPr wrap="square" lIns="0" tIns="0" rIns="0" bIns="0" rtlCol="0" anchor="ctr"/>
          <a:lstStyle/>
          <a:p>
            <a:pPr indent="0" marL="0">
              <a:buNone/>
            </a:pPr>
            <a:r>
              <a:rPr lang="en-US" sz="2400" b="1" dirty="0">
                <a:solidFill>
                  <a:srgbClr val="132A4F"/>
                </a:solidFill>
                <a:latin typeface="Century Schoolbook" pitchFamily="34" charset="0"/>
                <a:ea typeface="Century Schoolbook" pitchFamily="34" charset="-122"/>
                <a:cs typeface="Century Schoolbook" pitchFamily="34" charset="-120"/>
              </a:rPr>
              <a:t>Rocky Chen</a:t>
            </a:r>
            <a:endParaRPr lang="en-US" sz="2400" dirty="0"/>
          </a:p>
        </p:txBody>
      </p:sp>
      <p:sp>
        <p:nvSpPr>
          <p:cNvPr id="5" name="Text 3"/>
          <p:cNvSpPr/>
          <p:nvPr/>
        </p:nvSpPr>
        <p:spPr>
          <a:xfrm>
            <a:off x="566928" y="2286000"/>
            <a:ext cx="5760720" cy="237744"/>
          </a:xfrm>
          <a:prstGeom prst="rect">
            <a:avLst/>
          </a:prstGeom>
          <a:noFill/>
          <a:ln/>
        </p:spPr>
        <p:txBody>
          <a:bodyPr wrap="square" lIns="0" tIns="0" rIns="0" bIns="0" rtlCol="0" anchor="ctr"/>
          <a:lstStyle/>
          <a:p>
            <a:pPr indent="0" marL="0">
              <a:buNone/>
            </a:pPr>
            <a:r>
              <a:rPr lang="en-US" sz="950" b="1" spc="200" kern="0" dirty="0">
                <a:solidFill>
                  <a:srgbClr val="9A7B3F"/>
                </a:solidFill>
                <a:latin typeface="Calibri" pitchFamily="34" charset="0"/>
                <a:ea typeface="Calibri" pitchFamily="34" charset="-122"/>
                <a:cs typeface="Calibri" pitchFamily="34" charset="-120"/>
              </a:rPr>
              <a:t>FOUNDER &amp; CHIEF EXECUTIVE OFFICER</a:t>
            </a:r>
            <a:endParaRPr lang="en-US" sz="950" dirty="0"/>
          </a:p>
        </p:txBody>
      </p:sp>
      <p:sp>
        <p:nvSpPr>
          <p:cNvPr id="6" name="Text 4"/>
          <p:cNvSpPr/>
          <p:nvPr/>
        </p:nvSpPr>
        <p:spPr>
          <a:xfrm>
            <a:off x="566928" y="2670048"/>
            <a:ext cx="5760720" cy="1417320"/>
          </a:xfrm>
          <a:prstGeom prst="rect">
            <a:avLst/>
          </a:prstGeom>
          <a:noFill/>
          <a:ln/>
        </p:spPr>
        <p:txBody>
          <a:bodyPr wrap="square" lIns="0" tIns="0" rIns="0" bIns="0" rtlCol="0" anchor="t"/>
          <a:lstStyle/>
          <a:p>
            <a:pPr indent="0" marL="0">
              <a:lnSpc>
                <a:spcPts val="1550"/>
              </a:lnSpc>
              <a:buNone/>
            </a:pPr>
            <a:r>
              <a:rPr lang="en-US" sz="1100" dirty="0">
                <a:solidFill>
                  <a:srgbClr val="5A6B7E"/>
                </a:solidFill>
                <a:latin typeface="Calibri" pitchFamily="34" charset="0"/>
                <a:ea typeface="Calibri" pitchFamily="34" charset="-122"/>
                <a:cs typeface="Calibri" pitchFamily="34" charset="-120"/>
              </a:rPr>
              <a:t>Founded 51 Careers in New York in 2016 and built it from a boutique consultancy into a multi-market career-services and technology business. Architect of the Company’s AI-first strategy, including the 2025 strategic partnership with Alibaba Cloud AI, and of its expansion across North America, Europe, and Asia.</a:t>
            </a:r>
            <a:endParaRPr lang="en-US" sz="1100" dirty="0"/>
          </a:p>
        </p:txBody>
      </p:sp>
      <p:sp>
        <p:nvSpPr>
          <p:cNvPr id="7" name="Text 5"/>
          <p:cNvSpPr/>
          <p:nvPr/>
        </p:nvSpPr>
        <p:spPr>
          <a:xfrm>
            <a:off x="566928" y="4343400"/>
            <a:ext cx="5760720" cy="274320"/>
          </a:xfrm>
          <a:prstGeom prst="rect">
            <a:avLst/>
          </a:prstGeom>
          <a:noFill/>
          <a:ln/>
        </p:spPr>
        <p:txBody>
          <a:bodyPr wrap="square" lIns="0" tIns="0" rIns="0" bIns="0" rtlCol="0" anchor="ctr"/>
          <a:lstStyle/>
          <a:p>
            <a:pPr indent="0" marL="0">
              <a:buNone/>
            </a:pPr>
            <a:r>
              <a:rPr lang="en-US" sz="1300" b="1" dirty="0">
                <a:solidFill>
                  <a:srgbClr val="1C2733"/>
                </a:solidFill>
                <a:latin typeface="Calibri" pitchFamily="34" charset="0"/>
                <a:ea typeface="Calibri" pitchFamily="34" charset="-122"/>
                <a:cs typeface="Calibri" pitchFamily="34" charset="-120"/>
              </a:rPr>
              <a:t>Supporting bench</a:t>
            </a:r>
            <a:endParaRPr lang="en-US" sz="1300" dirty="0"/>
          </a:p>
        </p:txBody>
      </p:sp>
      <p:sp>
        <p:nvSpPr>
          <p:cNvPr id="8" name="Text 6"/>
          <p:cNvSpPr/>
          <p:nvPr/>
        </p:nvSpPr>
        <p:spPr>
          <a:xfrm>
            <a:off x="566928" y="4681728"/>
            <a:ext cx="5760720" cy="1097280"/>
          </a:xfrm>
          <a:prstGeom prst="rect">
            <a:avLst/>
          </a:prstGeom>
          <a:noFill/>
          <a:ln/>
        </p:spPr>
        <p:txBody>
          <a:bodyPr wrap="square" lIns="0" tIns="0" rIns="0" bIns="0" rtlCol="0" anchor="t"/>
          <a:lstStyle/>
          <a:p>
            <a:pPr indent="0" marL="0">
              <a:lnSpc>
                <a:spcPts val="1550"/>
              </a:lnSpc>
              <a:buNone/>
            </a:pPr>
            <a:r>
              <a:rPr lang="en-US" sz="1100" dirty="0">
                <a:solidFill>
                  <a:srgbClr val="5A6B7E"/>
                </a:solidFill>
                <a:latin typeface="Calibri" pitchFamily="34" charset="0"/>
                <a:ea typeface="Calibri" pitchFamily="34" charset="-122"/>
                <a:cs typeface="Calibri" pitchFamily="34" charset="-120"/>
              </a:rPr>
              <a:t>Senior partners across business development, coaching operations, and engineering, supported by a mentor network of practitioners at leading global employers. Complete management biographies are available in the data room.</a:t>
            </a:r>
            <a:endParaRPr lang="en-US" sz="1100" dirty="0"/>
          </a:p>
        </p:txBody>
      </p:sp>
      <p:sp>
        <p:nvSpPr>
          <p:cNvPr id="9" name="Shape 7"/>
          <p:cNvSpPr/>
          <p:nvPr/>
        </p:nvSpPr>
        <p:spPr>
          <a:xfrm>
            <a:off x="6903720" y="1691640"/>
            <a:ext cx="4709160" cy="4114800"/>
          </a:xfrm>
          <a:prstGeom prst="rect">
            <a:avLst/>
          </a:prstGeom>
          <a:solidFill>
            <a:srgbClr val="F3F6F9"/>
          </a:solidFill>
          <a:ln/>
        </p:spPr>
      </p:sp>
      <p:sp>
        <p:nvSpPr>
          <p:cNvPr id="10" name="Text 8"/>
          <p:cNvSpPr/>
          <p:nvPr/>
        </p:nvSpPr>
        <p:spPr>
          <a:xfrm>
            <a:off x="7196328" y="1938528"/>
            <a:ext cx="4114800" cy="237744"/>
          </a:xfrm>
          <a:prstGeom prst="rect">
            <a:avLst/>
          </a:prstGeom>
          <a:noFill/>
          <a:ln/>
        </p:spPr>
        <p:txBody>
          <a:bodyPr wrap="square" lIns="0" tIns="0" rIns="0" bIns="0" rtlCol="0" anchor="ctr"/>
          <a:lstStyle/>
          <a:p>
            <a:pPr indent="0" marL="0">
              <a:buNone/>
            </a:pPr>
            <a:r>
              <a:rPr lang="en-US" sz="900" b="1" spc="250" kern="0" dirty="0">
                <a:solidFill>
                  <a:srgbClr val="9A7B3F"/>
                </a:solidFill>
                <a:latin typeface="Calibri" pitchFamily="34" charset="0"/>
                <a:ea typeface="Calibri" pitchFamily="34" charset="-122"/>
                <a:cs typeface="Calibri" pitchFamily="34" charset="-120"/>
              </a:rPr>
              <a:t>GLOBAL ORGANIZATION</a:t>
            </a:r>
            <a:endParaRPr lang="en-US" sz="900" dirty="0"/>
          </a:p>
        </p:txBody>
      </p:sp>
      <p:sp>
        <p:nvSpPr>
          <p:cNvPr id="11" name="Text 9"/>
          <p:cNvSpPr/>
          <p:nvPr/>
        </p:nvSpPr>
        <p:spPr>
          <a:xfrm>
            <a:off x="7196328" y="2340864"/>
            <a:ext cx="4114800" cy="274320"/>
          </a:xfrm>
          <a:prstGeom prst="rect">
            <a:avLst/>
          </a:prstGeom>
          <a:noFill/>
          <a:ln/>
        </p:spPr>
        <p:txBody>
          <a:bodyPr wrap="square" lIns="0" tIns="0" rIns="0" bIns="0" rtlCol="0" anchor="ctr"/>
          <a:lstStyle/>
          <a:p>
            <a:pPr indent="0" marL="0">
              <a:buNone/>
            </a:pPr>
            <a:r>
              <a:rPr lang="en-US" sz="1200" b="1" dirty="0">
                <a:solidFill>
                  <a:srgbClr val="132A4F"/>
                </a:solidFill>
                <a:latin typeface="Calibri" pitchFamily="34" charset="0"/>
                <a:ea typeface="Calibri" pitchFamily="34" charset="-122"/>
                <a:cs typeface="Calibri" pitchFamily="34" charset="-120"/>
              </a:rPr>
              <a:t>≈50 professionals</a:t>
            </a:r>
            <a:endParaRPr lang="en-US" sz="1200" dirty="0"/>
          </a:p>
        </p:txBody>
      </p:sp>
      <p:sp>
        <p:nvSpPr>
          <p:cNvPr id="12" name="Text 10"/>
          <p:cNvSpPr/>
          <p:nvPr/>
        </p:nvSpPr>
        <p:spPr>
          <a:xfrm>
            <a:off x="7196328" y="2633472"/>
            <a:ext cx="4114800" cy="566928"/>
          </a:xfrm>
          <a:prstGeom prst="rect">
            <a:avLst/>
          </a:prstGeom>
          <a:noFill/>
          <a:ln/>
        </p:spPr>
        <p:txBody>
          <a:bodyPr wrap="square" lIns="0" tIns="0" rIns="0" bIns="0" rtlCol="0" anchor="t"/>
          <a:lstStyle/>
          <a:p>
            <a:pPr indent="0" marL="0">
              <a:lnSpc>
                <a:spcPts val="1400"/>
              </a:lnSpc>
              <a:buNone/>
            </a:pPr>
            <a:r>
              <a:rPr lang="en-US" sz="1050" dirty="0">
                <a:solidFill>
                  <a:srgbClr val="5A6B7E"/>
                </a:solidFill>
                <a:latin typeface="Calibri" pitchFamily="34" charset="0"/>
                <a:ea typeface="Calibri" pitchFamily="34" charset="-122"/>
                <a:cs typeface="Calibri" pitchFamily="34" charset="-120"/>
              </a:rPr>
              <a:t>Distributed across four continents†</a:t>
            </a:r>
            <a:endParaRPr lang="en-US" sz="1050" dirty="0"/>
          </a:p>
        </p:txBody>
      </p:sp>
      <p:sp>
        <p:nvSpPr>
          <p:cNvPr id="13" name="Text 11"/>
          <p:cNvSpPr/>
          <p:nvPr/>
        </p:nvSpPr>
        <p:spPr>
          <a:xfrm>
            <a:off x="7196328" y="3419856"/>
            <a:ext cx="4114800" cy="274320"/>
          </a:xfrm>
          <a:prstGeom prst="rect">
            <a:avLst/>
          </a:prstGeom>
          <a:noFill/>
          <a:ln/>
        </p:spPr>
        <p:txBody>
          <a:bodyPr wrap="square" lIns="0" tIns="0" rIns="0" bIns="0" rtlCol="0" anchor="ctr"/>
          <a:lstStyle/>
          <a:p>
            <a:pPr indent="0" marL="0">
              <a:buNone/>
            </a:pPr>
            <a:r>
              <a:rPr lang="en-US" sz="1200" b="1" dirty="0">
                <a:solidFill>
                  <a:srgbClr val="132A4F"/>
                </a:solidFill>
                <a:latin typeface="Calibri" pitchFamily="34" charset="0"/>
                <a:ea typeface="Calibri" pitchFamily="34" charset="-122"/>
                <a:cs typeface="Calibri" pitchFamily="34" charset="-120"/>
              </a:rPr>
              <a:t>Hubs</a:t>
            </a:r>
            <a:endParaRPr lang="en-US" sz="1200" dirty="0"/>
          </a:p>
        </p:txBody>
      </p:sp>
      <p:sp>
        <p:nvSpPr>
          <p:cNvPr id="14" name="Text 12"/>
          <p:cNvSpPr/>
          <p:nvPr/>
        </p:nvSpPr>
        <p:spPr>
          <a:xfrm>
            <a:off x="7196328" y="3712464"/>
            <a:ext cx="4114800" cy="566928"/>
          </a:xfrm>
          <a:prstGeom prst="rect">
            <a:avLst/>
          </a:prstGeom>
          <a:noFill/>
          <a:ln/>
        </p:spPr>
        <p:txBody>
          <a:bodyPr wrap="square" lIns="0" tIns="0" rIns="0" bIns="0" rtlCol="0" anchor="t"/>
          <a:lstStyle/>
          <a:p>
            <a:pPr indent="0" marL="0">
              <a:lnSpc>
                <a:spcPts val="1400"/>
              </a:lnSpc>
              <a:buNone/>
            </a:pPr>
            <a:r>
              <a:rPr lang="en-US" sz="1050" dirty="0">
                <a:solidFill>
                  <a:srgbClr val="5A6B7E"/>
                </a:solidFill>
                <a:latin typeface="Calibri" pitchFamily="34" charset="0"/>
                <a:ea typeface="Calibri" pitchFamily="34" charset="-122"/>
                <a:cs typeface="Calibri" pitchFamily="34" charset="-120"/>
              </a:rPr>
              <a:t>New York &amp; Shanghai; presence in London, Singapore, Seoul, Toronto, and Delhi</a:t>
            </a:r>
            <a:endParaRPr lang="en-US" sz="1050" dirty="0"/>
          </a:p>
        </p:txBody>
      </p:sp>
      <p:sp>
        <p:nvSpPr>
          <p:cNvPr id="15" name="Text 13"/>
          <p:cNvSpPr/>
          <p:nvPr/>
        </p:nvSpPr>
        <p:spPr>
          <a:xfrm>
            <a:off x="7196328" y="4498848"/>
            <a:ext cx="4114800" cy="274320"/>
          </a:xfrm>
          <a:prstGeom prst="rect">
            <a:avLst/>
          </a:prstGeom>
          <a:noFill/>
          <a:ln/>
        </p:spPr>
        <p:txBody>
          <a:bodyPr wrap="square" lIns="0" tIns="0" rIns="0" bIns="0" rtlCol="0" anchor="ctr"/>
          <a:lstStyle/>
          <a:p>
            <a:pPr indent="0" marL="0">
              <a:buNone/>
            </a:pPr>
            <a:r>
              <a:rPr lang="en-US" sz="1200" b="1" dirty="0">
                <a:solidFill>
                  <a:srgbClr val="132A4F"/>
                </a:solidFill>
                <a:latin typeface="Calibri" pitchFamily="34" charset="0"/>
                <a:ea typeface="Calibri" pitchFamily="34" charset="-122"/>
                <a:cs typeface="Calibri" pitchFamily="34" charset="-120"/>
              </a:rPr>
              <a:t>Functions</a:t>
            </a:r>
            <a:endParaRPr lang="en-US" sz="1200" dirty="0"/>
          </a:p>
        </p:txBody>
      </p:sp>
      <p:sp>
        <p:nvSpPr>
          <p:cNvPr id="16" name="Text 14"/>
          <p:cNvSpPr/>
          <p:nvPr/>
        </p:nvSpPr>
        <p:spPr>
          <a:xfrm>
            <a:off x="7196328" y="4791456"/>
            <a:ext cx="4114800" cy="566928"/>
          </a:xfrm>
          <a:prstGeom prst="rect">
            <a:avLst/>
          </a:prstGeom>
          <a:noFill/>
          <a:ln/>
        </p:spPr>
        <p:txBody>
          <a:bodyPr wrap="square" lIns="0" tIns="0" rIns="0" bIns="0" rtlCol="0" anchor="t"/>
          <a:lstStyle/>
          <a:p>
            <a:pPr indent="0" marL="0">
              <a:lnSpc>
                <a:spcPts val="1400"/>
              </a:lnSpc>
              <a:buNone/>
            </a:pPr>
            <a:r>
              <a:rPr lang="en-US" sz="1050" dirty="0">
                <a:solidFill>
                  <a:srgbClr val="5A6B7E"/>
                </a:solidFill>
                <a:latin typeface="Calibri" pitchFamily="34" charset="0"/>
                <a:ea typeface="Calibri" pitchFamily="34" charset="-122"/>
                <a:cs typeface="Calibri" pitchFamily="34" charset="-120"/>
              </a:rPr>
              <a:t>AI &amp; engineering · coaching &amp; mentor network · placement operations · employer partnerships</a:t>
            </a:r>
            <a:endParaRPr lang="en-US" sz="1050" dirty="0"/>
          </a:p>
        </p:txBody>
      </p:sp>
      <p:sp>
        <p:nvSpPr>
          <p:cNvPr id="17" name="Text 15"/>
          <p:cNvSpPr/>
          <p:nvPr/>
        </p:nvSpPr>
        <p:spPr>
          <a:xfrm>
            <a:off x="566928" y="6236208"/>
            <a:ext cx="11057839" cy="237744"/>
          </a:xfrm>
          <a:prstGeom prst="rect">
            <a:avLst/>
          </a:prstGeom>
          <a:noFill/>
          <a:ln/>
        </p:spPr>
        <p:txBody>
          <a:bodyPr wrap="square" lIns="0" tIns="0" rIns="0" bIns="0" rtlCol="0" anchor="ctr"/>
          <a:lstStyle/>
          <a:p>
            <a:pPr indent="0" marL="0">
              <a:buNone/>
            </a:pPr>
            <a:r>
              <a:rPr lang="en-US" sz="750" i="1" dirty="0">
                <a:solidFill>
                  <a:srgbClr val="5A6B7E"/>
                </a:solidFill>
                <a:latin typeface="Calibri" pitchFamily="34" charset="0"/>
                <a:ea typeface="Calibri" pitchFamily="34" charset="-122"/>
                <a:cs typeface="Calibri" pitchFamily="34" charset="-120"/>
              </a:rPr>
              <a:t>† Headcount per third-party estimates (2025); to be confirmed in due diligence.</a:t>
            </a:r>
            <a:endParaRPr lang="en-US" sz="750" dirty="0"/>
          </a:p>
        </p:txBody>
      </p:sp>
      <p:sp>
        <p:nvSpPr>
          <p:cNvPr id="18" name="Text 16"/>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19" name="Text 17"/>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16</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3F6F9"/>
        </a:solidFill>
      </p:bgPr>
    </p:bg>
    <p:spTree>
      <p:nvGrpSpPr>
        <p:cNvPr id="1" name=""/>
        <p:cNvGrpSpPr/>
        <p:nvPr/>
      </p:nvGrpSpPr>
      <p:grpSpPr>
        <a:xfrm>
          <a:off x="0" y="0"/>
          <a:ext cx="0" cy="0"/>
          <a:chOff x="0" y="0"/>
          <a:chExt cx="0" cy="0"/>
        </a:xfrm>
      </p:grpSpPr>
      <p:sp>
        <p:nvSpPr>
          <p:cNvPr id="2" name="Text 0"/>
          <p:cNvSpPr/>
          <p:nvPr/>
        </p:nvSpPr>
        <p:spPr>
          <a:xfrm>
            <a:off x="1527048" y="1874520"/>
            <a:ext cx="9144000" cy="1097280"/>
          </a:xfrm>
          <a:prstGeom prst="rect">
            <a:avLst/>
          </a:prstGeom>
          <a:noFill/>
          <a:ln/>
        </p:spPr>
        <p:txBody>
          <a:bodyPr wrap="square" lIns="0" tIns="0" rIns="0" bIns="0" rtlCol="0" anchor="ctr"/>
          <a:lstStyle/>
          <a:p>
            <a:pPr algn="ctr" indent="0" marL="0">
              <a:lnSpc>
                <a:spcPts val="3600"/>
              </a:lnSpc>
              <a:buNone/>
            </a:pPr>
            <a:r>
              <a:rPr lang="en-US" sz="2700" b="1" i="1" dirty="0">
                <a:solidFill>
                  <a:srgbClr val="132A4F"/>
                </a:solidFill>
                <a:latin typeface="Century Schoolbook" pitchFamily="34" charset="0"/>
                <a:ea typeface="Century Schoolbook" pitchFamily="34" charset="-122"/>
                <a:cs typeface="Century Schoolbook" pitchFamily="34" charset="-120"/>
              </a:rPr>
              <a:t>“Our mission is to make great jobs accessible to everyone.”</a:t>
            </a:r>
            <a:endParaRPr lang="en-US" sz="2700" dirty="0"/>
          </a:p>
        </p:txBody>
      </p:sp>
      <p:sp>
        <p:nvSpPr>
          <p:cNvPr id="3" name="Text 1"/>
          <p:cNvSpPr/>
          <p:nvPr/>
        </p:nvSpPr>
        <p:spPr>
          <a:xfrm>
            <a:off x="1527048" y="3246120"/>
            <a:ext cx="9144000" cy="548640"/>
          </a:xfrm>
          <a:prstGeom prst="rect">
            <a:avLst/>
          </a:prstGeom>
          <a:noFill/>
          <a:ln/>
        </p:spPr>
        <p:txBody>
          <a:bodyPr wrap="square" lIns="0" tIns="0" rIns="0" bIns="0" rtlCol="0" anchor="ctr"/>
          <a:lstStyle/>
          <a:p>
            <a:pPr algn="ctr" indent="0" marL="0">
              <a:buNone/>
            </a:pPr>
            <a:r>
              <a:rPr lang="en-US" sz="2400" b="1" dirty="0">
                <a:solidFill>
                  <a:srgbClr val="132A4F"/>
                </a:solidFill>
                <a:latin typeface="Century Schoolbook" pitchFamily="34" charset="0"/>
                <a:ea typeface="Century Schoolbook" pitchFamily="34" charset="-122"/>
                <a:cs typeface="Century Schoolbook" pitchFamily="34" charset="-120"/>
              </a:rPr>
              <a:t>51CAREERS</a:t>
            </a:r>
            <a:pPr algn="ctr" indent="0" marL="0">
              <a:buNone/>
            </a:pPr>
            <a:r>
              <a:rPr lang="en-US" sz="2400" b="1" dirty="0">
                <a:solidFill>
                  <a:srgbClr val="9A7B3F"/>
                </a:solidFill>
                <a:latin typeface="Century Schoolbook" pitchFamily="34" charset="0"/>
                <a:ea typeface="Century Schoolbook" pitchFamily="34" charset="-122"/>
                <a:cs typeface="Century Schoolbook" pitchFamily="34" charset="-120"/>
              </a:rPr>
              <a:t>.AI</a:t>
            </a:r>
            <a:endParaRPr lang="en-US" sz="2400" dirty="0"/>
          </a:p>
        </p:txBody>
      </p:sp>
      <p:sp>
        <p:nvSpPr>
          <p:cNvPr id="4" name="Text 2"/>
          <p:cNvSpPr/>
          <p:nvPr/>
        </p:nvSpPr>
        <p:spPr>
          <a:xfrm>
            <a:off x="1527048" y="4251960"/>
            <a:ext cx="9144000" cy="274320"/>
          </a:xfrm>
          <a:prstGeom prst="rect">
            <a:avLst/>
          </a:prstGeom>
          <a:noFill/>
          <a:ln/>
        </p:spPr>
        <p:txBody>
          <a:bodyPr wrap="square" lIns="0" tIns="0" rIns="0" bIns="0" rtlCol="0" anchor="ctr"/>
          <a:lstStyle/>
          <a:p>
            <a:pPr algn="ctr" indent="0" marL="0">
              <a:buNone/>
            </a:pPr>
            <a:r>
              <a:rPr lang="en-US" sz="1200" b="1" dirty="0">
                <a:solidFill>
                  <a:srgbClr val="1C2733"/>
                </a:solidFill>
                <a:latin typeface="Calibri" pitchFamily="34" charset="0"/>
                <a:ea typeface="Calibri" pitchFamily="34" charset="-122"/>
                <a:cs typeface="Calibri" pitchFamily="34" charset="-120"/>
              </a:rPr>
              <a:t>Rocky Chen  ·  Founder &amp; Chief Executive Officer</a:t>
            </a:r>
            <a:endParaRPr lang="en-US" sz="1200" dirty="0"/>
          </a:p>
        </p:txBody>
      </p:sp>
      <p:sp>
        <p:nvSpPr>
          <p:cNvPr id="5" name="Text 3"/>
          <p:cNvSpPr/>
          <p:nvPr/>
        </p:nvSpPr>
        <p:spPr>
          <a:xfrm>
            <a:off x="1527048" y="4572000"/>
            <a:ext cx="9144000" cy="274320"/>
          </a:xfrm>
          <a:prstGeom prst="rect">
            <a:avLst/>
          </a:prstGeom>
          <a:noFill/>
          <a:ln/>
        </p:spPr>
        <p:txBody>
          <a:bodyPr wrap="square" lIns="0" tIns="0" rIns="0" bIns="0" rtlCol="0" anchor="ctr"/>
          <a:lstStyle/>
          <a:p>
            <a:pPr algn="ctr" indent="0" marL="0">
              <a:buNone/>
            </a:pPr>
            <a:r>
              <a:rPr lang="en-US" sz="1100" dirty="0">
                <a:solidFill>
                  <a:srgbClr val="5A6B7E"/>
                </a:solidFill>
                <a:latin typeface="Calibri" pitchFamily="34" charset="0"/>
                <a:ea typeface="Calibri" pitchFamily="34" charset="-122"/>
                <a:cs typeface="Calibri" pitchFamily="34" charset="-120"/>
              </a:rPr>
              <a:t>info@51careers.com      ·      www.51careers.ai</a:t>
            </a:r>
            <a:endParaRPr lang="en-US" sz="1100" dirty="0"/>
          </a:p>
        </p:txBody>
      </p:sp>
      <p:sp>
        <p:nvSpPr>
          <p:cNvPr id="6" name="Text 4"/>
          <p:cNvSpPr/>
          <p:nvPr/>
        </p:nvSpPr>
        <p:spPr>
          <a:xfrm>
            <a:off x="1527048" y="4864608"/>
            <a:ext cx="9144000" cy="274320"/>
          </a:xfrm>
          <a:prstGeom prst="rect">
            <a:avLst/>
          </a:prstGeom>
          <a:noFill/>
          <a:ln/>
        </p:spPr>
        <p:txBody>
          <a:bodyPr wrap="square" lIns="0" tIns="0" rIns="0" bIns="0" rtlCol="0" anchor="ctr"/>
          <a:lstStyle/>
          <a:p>
            <a:pPr algn="ctr" indent="0" marL="0">
              <a:buNone/>
            </a:pPr>
            <a:r>
              <a:rPr lang="en-US" sz="1100" dirty="0">
                <a:solidFill>
                  <a:srgbClr val="5A6B7E"/>
                </a:solidFill>
                <a:latin typeface="Calibri" pitchFamily="34" charset="0"/>
                <a:ea typeface="Calibri" pitchFamily="34" charset="-122"/>
                <a:cs typeface="Calibri" pitchFamily="34" charset="-120"/>
              </a:rPr>
              <a:t>48 Wall Street, 11th Floor, New York, NY 10005</a:t>
            </a:r>
            <a:endParaRPr lang="en-US" sz="1100" dirty="0"/>
          </a:p>
        </p:txBody>
      </p:sp>
      <p:sp>
        <p:nvSpPr>
          <p:cNvPr id="7" name="Text 5"/>
          <p:cNvSpPr/>
          <p:nvPr/>
        </p:nvSpPr>
        <p:spPr>
          <a:xfrm>
            <a:off x="566928" y="6519672"/>
            <a:ext cx="5029200" cy="228600"/>
          </a:xfrm>
          <a:prstGeom prst="rect">
            <a:avLst/>
          </a:prstGeom>
          <a:noFill/>
          <a:ln/>
        </p:spPr>
        <p:txBody>
          <a:bodyPr wrap="square" lIns="0" tIns="0" rIns="0" bIns="0" rtlCol="0" anchor="ctr"/>
          <a:lstStyle/>
          <a:p>
            <a:pPr indent="0" marL="0">
              <a:buNone/>
            </a:pPr>
            <a:r>
              <a:rPr lang="en-US" sz="750" spc="150" kern="0" dirty="0">
                <a:solidFill>
                  <a:srgbClr val="5A6B7E"/>
                </a:solidFill>
                <a:latin typeface="Calibri" pitchFamily="34" charset="0"/>
                <a:ea typeface="Calibri" pitchFamily="34" charset="-122"/>
                <a:cs typeface="Calibri" pitchFamily="34" charset="-120"/>
              </a:rPr>
              <a:t>51CAREERS.AI   ·   CONFIDENTIAL</a:t>
            </a:r>
            <a:endParaRPr lang="en-US" sz="750" dirty="0"/>
          </a:p>
        </p:txBody>
      </p:sp>
      <p:sp>
        <p:nvSpPr>
          <p:cNvPr id="8" name="Text 6"/>
          <p:cNvSpPr/>
          <p:nvPr/>
        </p:nvSpPr>
        <p:spPr>
          <a:xfrm>
            <a:off x="11292840" y="6519672"/>
            <a:ext cx="329184" cy="228600"/>
          </a:xfrm>
          <a:prstGeom prst="rect">
            <a:avLst/>
          </a:prstGeom>
          <a:noFill/>
          <a:ln/>
        </p:spPr>
        <p:txBody>
          <a:bodyPr wrap="square" lIns="0" tIns="0" rIns="0" bIns="0" rtlCol="0" anchor="ctr"/>
          <a:lstStyle/>
          <a:p>
            <a:pPr algn="r" indent="0" marL="0">
              <a:buNone/>
            </a:pPr>
            <a:r>
              <a:rPr lang="en-US" sz="800" dirty="0">
                <a:solidFill>
                  <a:srgbClr val="5A6B7E"/>
                </a:solidFill>
                <a:latin typeface="Calibri" pitchFamily="34" charset="0"/>
                <a:ea typeface="Calibri" pitchFamily="34" charset="-122"/>
                <a:cs typeface="Calibri" pitchFamily="34" charset="-120"/>
              </a:rPr>
              <a:t>17</a:t>
            </a:r>
            <a:endParaRPr lang="en-US" sz="8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256032"/>
          </a:xfrm>
          <a:prstGeom prst="rect">
            <a:avLst/>
          </a:prstGeom>
          <a:noFill/>
        </p:spPr>
        <p:txBody>
          <a:bodyPr wrap="square" anchor="t"/>
          <a:lstStyle/>
          <a:p>
            <a:pPr algn="l"/>
            <a:r>
              <a:rPr sz="1000" b="1" i="0">
                <a:solidFill>
                  <a:srgbClr val="9A7B3F"/>
                </a:solidFill>
                <a:latin typeface="Calibri"/>
              </a:rPr>
              <a:t>USE OF FUNDS</a:t>
            </a:r>
          </a:p>
        </p:txBody>
      </p:sp>
      <p:sp>
        <p:nvSpPr>
          <p:cNvPr id="3" name="TextBox 2"/>
          <p:cNvSpPr txBox="1"/>
          <p:nvPr/>
        </p:nvSpPr>
        <p:spPr>
          <a:xfrm>
            <a:off x="566928" y="658368"/>
            <a:ext cx="11057839" cy="457200"/>
          </a:xfrm>
          <a:prstGeom prst="rect">
            <a:avLst/>
          </a:prstGeom>
          <a:noFill/>
        </p:spPr>
        <p:txBody>
          <a:bodyPr wrap="square" anchor="t"/>
          <a:lstStyle/>
          <a:p>
            <a:pPr algn="l"/>
            <a:r>
              <a:rPr sz="2600" b="1" i="0">
                <a:solidFill>
                  <a:srgbClr val="132A4F"/>
                </a:solidFill>
                <a:latin typeface="Century Schoolbook"/>
              </a:rPr>
              <a:t>Marketing &amp; Promotion Budget</a:t>
            </a:r>
          </a:p>
        </p:txBody>
      </p:sp>
      <p:sp>
        <p:nvSpPr>
          <p:cNvPr id="4" name="TextBox 3"/>
          <p:cNvSpPr txBox="1"/>
          <p:nvPr/>
        </p:nvSpPr>
        <p:spPr>
          <a:xfrm>
            <a:off x="566928" y="1097280"/>
            <a:ext cx="11057839" cy="256032"/>
          </a:xfrm>
          <a:prstGeom prst="rect">
            <a:avLst/>
          </a:prstGeom>
          <a:noFill/>
        </p:spPr>
        <p:txBody>
          <a:bodyPr wrap="square" anchor="t"/>
          <a:lstStyle/>
          <a:p>
            <a:pPr algn="l"/>
            <a:r>
              <a:rPr sz="1200" b="0" i="0">
                <a:solidFill>
                  <a:srgbClr val="5A6B7E"/>
                </a:solidFill>
                <a:latin typeface="Calibri"/>
              </a:rPr>
              <a:t>Annual personnel costs — RMB with English-dollar (US$) translations</a:t>
            </a:r>
          </a:p>
        </p:txBody>
      </p:sp>
      <p:sp>
        <p:nvSpPr>
          <p:cNvPr id="5" name="Rectangle 4"/>
          <p:cNvSpPr/>
          <p:nvPr/>
        </p:nvSpPr>
        <p:spPr>
          <a:xfrm>
            <a:off x="566928" y="1371600"/>
            <a:ext cx="5532120" cy="4389120"/>
          </a:xfrm>
          <a:prstGeom prst="rect">
            <a:avLst/>
          </a:prstGeom>
          <a:solidFill>
            <a:srgbClr val="F3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300216" y="1371600"/>
            <a:ext cx="5321808" cy="4389120"/>
          </a:xfrm>
          <a:prstGeom prst="rect">
            <a:avLst/>
          </a:prstGeom>
          <a:solidFill>
            <a:srgbClr val="F3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499616"/>
            <a:ext cx="5166360" cy="256032"/>
          </a:xfrm>
          <a:prstGeom prst="rect">
            <a:avLst/>
          </a:prstGeom>
          <a:noFill/>
        </p:spPr>
        <p:txBody>
          <a:bodyPr wrap="square" anchor="t"/>
          <a:lstStyle/>
          <a:p>
            <a:pPr algn="l"/>
            <a:r>
              <a:rPr sz="900" b="1" i="0">
                <a:solidFill>
                  <a:srgbClr val="9A7B3F"/>
                </a:solidFill>
                <a:latin typeface="Calibri"/>
              </a:rPr>
              <a:t>CHINA-BASED TECHNICAL TEAM</a:t>
            </a:r>
          </a:p>
        </p:txBody>
      </p:sp>
      <p:sp>
        <p:nvSpPr>
          <p:cNvPr id="8" name="TextBox 7"/>
          <p:cNvSpPr txBox="1"/>
          <p:nvPr/>
        </p:nvSpPr>
        <p:spPr>
          <a:xfrm>
            <a:off x="768096" y="1810512"/>
            <a:ext cx="4489704" cy="237744"/>
          </a:xfrm>
          <a:prstGeom prst="rect">
            <a:avLst/>
          </a:prstGeom>
          <a:noFill/>
        </p:spPr>
        <p:txBody>
          <a:bodyPr wrap="square" anchor="t"/>
          <a:lstStyle/>
          <a:p>
            <a:pPr algn="l"/>
            <a:r>
              <a:rPr sz="1100" b="1" i="0">
                <a:solidFill>
                  <a:srgbClr val="1C2733"/>
                </a:solidFill>
                <a:latin typeface="Calibri"/>
              </a:rPr>
              <a:t>Mid-Level Product Manager</a:t>
            </a:r>
          </a:p>
        </p:txBody>
      </p:sp>
      <p:sp>
        <p:nvSpPr>
          <p:cNvPr id="9" name="TextBox 8"/>
          <p:cNvSpPr txBox="1"/>
          <p:nvPr/>
        </p:nvSpPr>
        <p:spPr>
          <a:xfrm>
            <a:off x="5330952" y="1810512"/>
            <a:ext cx="457200" cy="237744"/>
          </a:xfrm>
          <a:prstGeom prst="rect">
            <a:avLst/>
          </a:prstGeom>
          <a:noFill/>
        </p:spPr>
        <p:txBody>
          <a:bodyPr wrap="square" anchor="t"/>
          <a:lstStyle/>
          <a:p>
            <a:pPr algn="r"/>
            <a:r>
              <a:rPr sz="1100" b="1" i="0">
                <a:solidFill>
                  <a:srgbClr val="9A7B3F"/>
                </a:solidFill>
                <a:latin typeface="Calibri"/>
              </a:rPr>
              <a:t>1</a:t>
            </a:r>
          </a:p>
        </p:txBody>
      </p:sp>
      <p:sp>
        <p:nvSpPr>
          <p:cNvPr id="10" name="TextBox 9"/>
          <p:cNvSpPr txBox="1"/>
          <p:nvPr/>
        </p:nvSpPr>
        <p:spPr>
          <a:xfrm>
            <a:off x="768096" y="2029968"/>
            <a:ext cx="5129784" cy="329184"/>
          </a:xfrm>
          <a:prstGeom prst="rect">
            <a:avLst/>
          </a:prstGeom>
          <a:noFill/>
        </p:spPr>
        <p:txBody>
          <a:bodyPr wrap="square" anchor="t"/>
          <a:lstStyle/>
          <a:p>
            <a:pPr algn="l">
              <a:spcAft>
                <a:spcPts val="0"/>
              </a:spcAft>
            </a:pPr>
            <a:r>
              <a:rPr sz="1000" b="0" i="0">
                <a:solidFill>
                  <a:srgbClr val="5A6B7E"/>
                </a:solidFill>
                <a:latin typeface="Calibri"/>
              </a:rPr>
              <a:t>RMB 25,000 / month   ·   US$3,715</a:t>
            </a:r>
          </a:p>
          <a:p>
            <a:pPr algn="l"/>
            <a:r>
              <a:rPr sz="1000" b="0" i="0">
                <a:solidFill>
                  <a:srgbClr val="5A6B7E"/>
                </a:solidFill>
                <a:latin typeface="Calibri"/>
              </a:rPr>
              <a:t>RMB 300,000 / year    ·   US$44,573</a:t>
            </a:r>
          </a:p>
        </p:txBody>
      </p:sp>
      <p:sp>
        <p:nvSpPr>
          <p:cNvPr id="11" name="TextBox 10"/>
          <p:cNvSpPr txBox="1"/>
          <p:nvPr/>
        </p:nvSpPr>
        <p:spPr>
          <a:xfrm>
            <a:off x="768096" y="2450592"/>
            <a:ext cx="4489704" cy="237744"/>
          </a:xfrm>
          <a:prstGeom prst="rect">
            <a:avLst/>
          </a:prstGeom>
          <a:noFill/>
        </p:spPr>
        <p:txBody>
          <a:bodyPr wrap="square" anchor="t"/>
          <a:lstStyle/>
          <a:p>
            <a:pPr algn="l"/>
            <a:r>
              <a:rPr sz="1100" b="1" i="0">
                <a:solidFill>
                  <a:srgbClr val="1C2733"/>
                </a:solidFill>
                <a:latin typeface="Calibri"/>
              </a:rPr>
              <a:t>Designer</a:t>
            </a:r>
          </a:p>
        </p:txBody>
      </p:sp>
      <p:sp>
        <p:nvSpPr>
          <p:cNvPr id="12" name="TextBox 11"/>
          <p:cNvSpPr txBox="1"/>
          <p:nvPr/>
        </p:nvSpPr>
        <p:spPr>
          <a:xfrm>
            <a:off x="5330952" y="2450592"/>
            <a:ext cx="457200" cy="237744"/>
          </a:xfrm>
          <a:prstGeom prst="rect">
            <a:avLst/>
          </a:prstGeom>
          <a:noFill/>
        </p:spPr>
        <p:txBody>
          <a:bodyPr wrap="square" anchor="t"/>
          <a:lstStyle/>
          <a:p>
            <a:pPr algn="r"/>
            <a:r>
              <a:rPr sz="1100" b="1" i="0">
                <a:solidFill>
                  <a:srgbClr val="9A7B3F"/>
                </a:solidFill>
                <a:latin typeface="Calibri"/>
              </a:rPr>
              <a:t>1</a:t>
            </a:r>
          </a:p>
        </p:txBody>
      </p:sp>
      <p:sp>
        <p:nvSpPr>
          <p:cNvPr id="13" name="TextBox 12"/>
          <p:cNvSpPr txBox="1"/>
          <p:nvPr/>
        </p:nvSpPr>
        <p:spPr>
          <a:xfrm>
            <a:off x="768096" y="2670048"/>
            <a:ext cx="5129784" cy="329184"/>
          </a:xfrm>
          <a:prstGeom prst="rect">
            <a:avLst/>
          </a:prstGeom>
          <a:noFill/>
        </p:spPr>
        <p:txBody>
          <a:bodyPr wrap="square" anchor="t"/>
          <a:lstStyle/>
          <a:p>
            <a:pPr algn="l">
              <a:spcAft>
                <a:spcPts val="0"/>
              </a:spcAft>
            </a:pPr>
            <a:r>
              <a:rPr sz="1000" b="0" i="0">
                <a:solidFill>
                  <a:srgbClr val="5A6B7E"/>
                </a:solidFill>
                <a:latin typeface="Calibri"/>
              </a:rPr>
              <a:t>RMB 20,000 / month   ·   US$2,972</a:t>
            </a:r>
          </a:p>
          <a:p>
            <a:pPr algn="l"/>
            <a:r>
              <a:rPr sz="1000" b="0" i="0">
                <a:solidFill>
                  <a:srgbClr val="5A6B7E"/>
                </a:solidFill>
                <a:latin typeface="Calibri"/>
              </a:rPr>
              <a:t>RMB 240,000 / year    ·   US$35,658</a:t>
            </a:r>
          </a:p>
        </p:txBody>
      </p:sp>
      <p:sp>
        <p:nvSpPr>
          <p:cNvPr id="14" name="TextBox 13"/>
          <p:cNvSpPr txBox="1"/>
          <p:nvPr/>
        </p:nvSpPr>
        <p:spPr>
          <a:xfrm>
            <a:off x="768096" y="3090672"/>
            <a:ext cx="4489704" cy="237744"/>
          </a:xfrm>
          <a:prstGeom prst="rect">
            <a:avLst/>
          </a:prstGeom>
          <a:noFill/>
        </p:spPr>
        <p:txBody>
          <a:bodyPr wrap="square" anchor="t"/>
          <a:lstStyle/>
          <a:p>
            <a:pPr algn="l"/>
            <a:r>
              <a:rPr sz="1100" b="1" i="0">
                <a:solidFill>
                  <a:srgbClr val="1C2733"/>
                </a:solidFill>
                <a:latin typeface="Calibri"/>
              </a:rPr>
              <a:t>QA / Test Engineer</a:t>
            </a:r>
          </a:p>
        </p:txBody>
      </p:sp>
      <p:sp>
        <p:nvSpPr>
          <p:cNvPr id="15" name="TextBox 14"/>
          <p:cNvSpPr txBox="1"/>
          <p:nvPr/>
        </p:nvSpPr>
        <p:spPr>
          <a:xfrm>
            <a:off x="5330952" y="3090672"/>
            <a:ext cx="457200" cy="237744"/>
          </a:xfrm>
          <a:prstGeom prst="rect">
            <a:avLst/>
          </a:prstGeom>
          <a:noFill/>
        </p:spPr>
        <p:txBody>
          <a:bodyPr wrap="square" anchor="t"/>
          <a:lstStyle/>
          <a:p>
            <a:pPr algn="r"/>
            <a:r>
              <a:rPr sz="1100" b="1" i="0">
                <a:solidFill>
                  <a:srgbClr val="9A7B3F"/>
                </a:solidFill>
                <a:latin typeface="Calibri"/>
              </a:rPr>
              <a:t>1</a:t>
            </a:r>
          </a:p>
        </p:txBody>
      </p:sp>
      <p:sp>
        <p:nvSpPr>
          <p:cNvPr id="16" name="TextBox 15"/>
          <p:cNvSpPr txBox="1"/>
          <p:nvPr/>
        </p:nvSpPr>
        <p:spPr>
          <a:xfrm>
            <a:off x="768096" y="3310128"/>
            <a:ext cx="5129784" cy="329184"/>
          </a:xfrm>
          <a:prstGeom prst="rect">
            <a:avLst/>
          </a:prstGeom>
          <a:noFill/>
        </p:spPr>
        <p:txBody>
          <a:bodyPr wrap="square" anchor="t"/>
          <a:lstStyle/>
          <a:p>
            <a:pPr algn="l">
              <a:spcAft>
                <a:spcPts val="0"/>
              </a:spcAft>
            </a:pPr>
            <a:r>
              <a:rPr sz="1000" b="0" i="0">
                <a:solidFill>
                  <a:srgbClr val="5A6B7E"/>
                </a:solidFill>
                <a:latin typeface="Calibri"/>
              </a:rPr>
              <a:t>RMB 15,000 / month   ·   US$2,229</a:t>
            </a:r>
          </a:p>
          <a:p>
            <a:pPr algn="l"/>
            <a:r>
              <a:rPr sz="1000" b="0" i="0">
                <a:solidFill>
                  <a:srgbClr val="5A6B7E"/>
                </a:solidFill>
                <a:latin typeface="Calibri"/>
              </a:rPr>
              <a:t>RMB 180,000 / year    ·   US$26,744</a:t>
            </a:r>
          </a:p>
        </p:txBody>
      </p:sp>
      <p:sp>
        <p:nvSpPr>
          <p:cNvPr id="17" name="TextBox 16"/>
          <p:cNvSpPr txBox="1"/>
          <p:nvPr/>
        </p:nvSpPr>
        <p:spPr>
          <a:xfrm>
            <a:off x="768096" y="3730752"/>
            <a:ext cx="4489704" cy="237744"/>
          </a:xfrm>
          <a:prstGeom prst="rect">
            <a:avLst/>
          </a:prstGeom>
          <a:noFill/>
        </p:spPr>
        <p:txBody>
          <a:bodyPr wrap="square" anchor="t"/>
          <a:lstStyle/>
          <a:p>
            <a:pPr algn="l"/>
            <a:r>
              <a:rPr sz="1100" b="1" i="0">
                <a:solidFill>
                  <a:srgbClr val="1C2733"/>
                </a:solidFill>
                <a:latin typeface="Calibri"/>
              </a:rPr>
              <a:t>Front-End Engineer</a:t>
            </a:r>
          </a:p>
        </p:txBody>
      </p:sp>
      <p:sp>
        <p:nvSpPr>
          <p:cNvPr id="18" name="TextBox 17"/>
          <p:cNvSpPr txBox="1"/>
          <p:nvPr/>
        </p:nvSpPr>
        <p:spPr>
          <a:xfrm>
            <a:off x="5330952" y="3730752"/>
            <a:ext cx="457200" cy="237744"/>
          </a:xfrm>
          <a:prstGeom prst="rect">
            <a:avLst/>
          </a:prstGeom>
          <a:noFill/>
        </p:spPr>
        <p:txBody>
          <a:bodyPr wrap="square" anchor="t"/>
          <a:lstStyle/>
          <a:p>
            <a:pPr algn="r"/>
            <a:r>
              <a:rPr sz="1100" b="1" i="0">
                <a:solidFill>
                  <a:srgbClr val="9A7B3F"/>
                </a:solidFill>
                <a:latin typeface="Calibri"/>
              </a:rPr>
              <a:t>1</a:t>
            </a:r>
          </a:p>
        </p:txBody>
      </p:sp>
      <p:sp>
        <p:nvSpPr>
          <p:cNvPr id="19" name="TextBox 18"/>
          <p:cNvSpPr txBox="1"/>
          <p:nvPr/>
        </p:nvSpPr>
        <p:spPr>
          <a:xfrm>
            <a:off x="768096" y="3950208"/>
            <a:ext cx="5129784" cy="329184"/>
          </a:xfrm>
          <a:prstGeom prst="rect">
            <a:avLst/>
          </a:prstGeom>
          <a:noFill/>
        </p:spPr>
        <p:txBody>
          <a:bodyPr wrap="square" anchor="t"/>
          <a:lstStyle/>
          <a:p>
            <a:pPr algn="l">
              <a:spcAft>
                <a:spcPts val="0"/>
              </a:spcAft>
            </a:pPr>
            <a:r>
              <a:rPr sz="1000" b="0" i="0">
                <a:solidFill>
                  <a:srgbClr val="5A6B7E"/>
                </a:solidFill>
                <a:latin typeface="Calibri"/>
              </a:rPr>
              <a:t>RMB 25,000 / month   ·   US$3,715</a:t>
            </a:r>
          </a:p>
          <a:p>
            <a:pPr algn="l"/>
            <a:r>
              <a:rPr sz="1000" b="0" i="0">
                <a:solidFill>
                  <a:srgbClr val="5A6B7E"/>
                </a:solidFill>
                <a:latin typeface="Calibri"/>
              </a:rPr>
              <a:t>RMB 300,000 / year    ·   US$44,573</a:t>
            </a:r>
          </a:p>
        </p:txBody>
      </p:sp>
      <p:sp>
        <p:nvSpPr>
          <p:cNvPr id="20" name="TextBox 19"/>
          <p:cNvSpPr txBox="1"/>
          <p:nvPr/>
        </p:nvSpPr>
        <p:spPr>
          <a:xfrm>
            <a:off x="768096" y="4370832"/>
            <a:ext cx="4489704" cy="237744"/>
          </a:xfrm>
          <a:prstGeom prst="rect">
            <a:avLst/>
          </a:prstGeom>
          <a:noFill/>
        </p:spPr>
        <p:txBody>
          <a:bodyPr wrap="square" anchor="t"/>
          <a:lstStyle/>
          <a:p>
            <a:pPr algn="l"/>
            <a:r>
              <a:rPr sz="1100" b="1" i="0">
                <a:solidFill>
                  <a:srgbClr val="1C2733"/>
                </a:solidFill>
                <a:latin typeface="Calibri"/>
              </a:rPr>
              <a:t>Back-End Engineers</a:t>
            </a:r>
          </a:p>
        </p:txBody>
      </p:sp>
      <p:sp>
        <p:nvSpPr>
          <p:cNvPr id="21" name="TextBox 20"/>
          <p:cNvSpPr txBox="1"/>
          <p:nvPr/>
        </p:nvSpPr>
        <p:spPr>
          <a:xfrm>
            <a:off x="5330952" y="4370832"/>
            <a:ext cx="457200" cy="237744"/>
          </a:xfrm>
          <a:prstGeom prst="rect">
            <a:avLst/>
          </a:prstGeom>
          <a:noFill/>
        </p:spPr>
        <p:txBody>
          <a:bodyPr wrap="square" anchor="t"/>
          <a:lstStyle/>
          <a:p>
            <a:pPr algn="r"/>
            <a:r>
              <a:rPr sz="1100" b="1" i="0">
                <a:solidFill>
                  <a:srgbClr val="9A7B3F"/>
                </a:solidFill>
                <a:latin typeface="Calibri"/>
              </a:rPr>
              <a:t>2</a:t>
            </a:r>
          </a:p>
        </p:txBody>
      </p:sp>
      <p:sp>
        <p:nvSpPr>
          <p:cNvPr id="22" name="TextBox 21"/>
          <p:cNvSpPr txBox="1"/>
          <p:nvPr/>
        </p:nvSpPr>
        <p:spPr>
          <a:xfrm>
            <a:off x="768096" y="4590288"/>
            <a:ext cx="5129784" cy="329184"/>
          </a:xfrm>
          <a:prstGeom prst="rect">
            <a:avLst/>
          </a:prstGeom>
          <a:noFill/>
        </p:spPr>
        <p:txBody>
          <a:bodyPr wrap="square" anchor="t"/>
          <a:lstStyle/>
          <a:p>
            <a:pPr algn="l">
              <a:spcAft>
                <a:spcPts val="0"/>
              </a:spcAft>
            </a:pPr>
            <a:r>
              <a:rPr sz="1000" b="0" i="0">
                <a:solidFill>
                  <a:srgbClr val="5A6B7E"/>
                </a:solidFill>
                <a:latin typeface="Calibri"/>
              </a:rPr>
              <a:t>RMB 30,000 / month each   ·   US$4,458 each</a:t>
            </a:r>
          </a:p>
          <a:p>
            <a:pPr algn="l"/>
            <a:r>
              <a:rPr sz="1000" b="0" i="0">
                <a:solidFill>
                  <a:srgbClr val="5A6B7E"/>
                </a:solidFill>
                <a:latin typeface="Calibri"/>
              </a:rPr>
              <a:t>RMB 720,000 / year total   ·   US$107,334</a:t>
            </a:r>
          </a:p>
        </p:txBody>
      </p:sp>
      <p:sp>
        <p:nvSpPr>
          <p:cNvPr id="23" name="TextBox 22"/>
          <p:cNvSpPr txBox="1"/>
          <p:nvPr/>
        </p:nvSpPr>
        <p:spPr>
          <a:xfrm>
            <a:off x="768096" y="5010912"/>
            <a:ext cx="4489704" cy="237744"/>
          </a:xfrm>
          <a:prstGeom prst="rect">
            <a:avLst/>
          </a:prstGeom>
          <a:noFill/>
        </p:spPr>
        <p:txBody>
          <a:bodyPr wrap="square" anchor="t"/>
          <a:lstStyle/>
          <a:p>
            <a:pPr algn="l"/>
            <a:r>
              <a:rPr sz="1100" b="1" i="0">
                <a:solidFill>
                  <a:srgbClr val="1C2733"/>
                </a:solidFill>
                <a:latin typeface="Calibri"/>
              </a:rPr>
              <a:t>AI Engineer</a:t>
            </a:r>
          </a:p>
        </p:txBody>
      </p:sp>
      <p:sp>
        <p:nvSpPr>
          <p:cNvPr id="24" name="TextBox 23"/>
          <p:cNvSpPr txBox="1"/>
          <p:nvPr/>
        </p:nvSpPr>
        <p:spPr>
          <a:xfrm>
            <a:off x="5330952" y="5010912"/>
            <a:ext cx="457200" cy="237744"/>
          </a:xfrm>
          <a:prstGeom prst="rect">
            <a:avLst/>
          </a:prstGeom>
          <a:noFill/>
        </p:spPr>
        <p:txBody>
          <a:bodyPr wrap="square" anchor="t"/>
          <a:lstStyle/>
          <a:p>
            <a:pPr algn="r"/>
            <a:r>
              <a:rPr sz="1100" b="1" i="0">
                <a:solidFill>
                  <a:srgbClr val="9A7B3F"/>
                </a:solidFill>
                <a:latin typeface="Calibri"/>
              </a:rPr>
              <a:t>1</a:t>
            </a:r>
          </a:p>
        </p:txBody>
      </p:sp>
      <p:sp>
        <p:nvSpPr>
          <p:cNvPr id="25" name="TextBox 24"/>
          <p:cNvSpPr txBox="1"/>
          <p:nvPr/>
        </p:nvSpPr>
        <p:spPr>
          <a:xfrm>
            <a:off x="768096" y="5230368"/>
            <a:ext cx="5129784" cy="329184"/>
          </a:xfrm>
          <a:prstGeom prst="rect">
            <a:avLst/>
          </a:prstGeom>
          <a:noFill/>
        </p:spPr>
        <p:txBody>
          <a:bodyPr wrap="square" anchor="t"/>
          <a:lstStyle/>
          <a:p>
            <a:pPr algn="l">
              <a:spcAft>
                <a:spcPts val="0"/>
              </a:spcAft>
            </a:pPr>
            <a:r>
              <a:rPr sz="1000" b="0" i="0">
                <a:solidFill>
                  <a:srgbClr val="5A6B7E"/>
                </a:solidFill>
                <a:latin typeface="Calibri"/>
              </a:rPr>
              <a:t>RMB 40,000 / month   ·   US$5,943</a:t>
            </a:r>
          </a:p>
          <a:p>
            <a:pPr algn="l"/>
            <a:r>
              <a:rPr sz="1000" b="0" i="0">
                <a:solidFill>
                  <a:srgbClr val="5A6B7E"/>
                </a:solidFill>
                <a:latin typeface="Calibri"/>
              </a:rPr>
              <a:t>RMB 480,000 / year    ·   US$71,317</a:t>
            </a:r>
          </a:p>
        </p:txBody>
      </p:sp>
      <p:sp>
        <p:nvSpPr>
          <p:cNvPr id="26" name="TextBox 25"/>
          <p:cNvSpPr txBox="1"/>
          <p:nvPr/>
        </p:nvSpPr>
        <p:spPr>
          <a:xfrm>
            <a:off x="6501384" y="1499616"/>
            <a:ext cx="4956048" cy="256032"/>
          </a:xfrm>
          <a:prstGeom prst="rect">
            <a:avLst/>
          </a:prstGeom>
          <a:noFill/>
        </p:spPr>
        <p:txBody>
          <a:bodyPr wrap="square" anchor="t"/>
          <a:lstStyle/>
          <a:p>
            <a:pPr algn="l"/>
            <a:r>
              <a:rPr sz="900" b="1" i="0">
                <a:solidFill>
                  <a:srgbClr val="9A7B3F"/>
                </a:solidFill>
                <a:latin typeface="Calibri"/>
              </a:rPr>
              <a:t>CHINA-BASED MARKETING &amp; BUSINESS DEVELOPMENT</a:t>
            </a:r>
          </a:p>
        </p:txBody>
      </p:sp>
      <p:sp>
        <p:nvSpPr>
          <p:cNvPr id="27" name="TextBox 26"/>
          <p:cNvSpPr txBox="1"/>
          <p:nvPr/>
        </p:nvSpPr>
        <p:spPr>
          <a:xfrm>
            <a:off x="6501384" y="1792224"/>
            <a:ext cx="4279392" cy="237744"/>
          </a:xfrm>
          <a:prstGeom prst="rect">
            <a:avLst/>
          </a:prstGeom>
          <a:noFill/>
        </p:spPr>
        <p:txBody>
          <a:bodyPr wrap="square" anchor="t"/>
          <a:lstStyle/>
          <a:p>
            <a:pPr algn="l"/>
            <a:r>
              <a:rPr sz="1100" b="1" i="0">
                <a:solidFill>
                  <a:srgbClr val="1C2733"/>
                </a:solidFill>
                <a:latin typeface="Calibri"/>
              </a:rPr>
              <a:t>Marketing / Advertising Specialist</a:t>
            </a:r>
          </a:p>
        </p:txBody>
      </p:sp>
      <p:sp>
        <p:nvSpPr>
          <p:cNvPr id="28" name="TextBox 27"/>
          <p:cNvSpPr txBox="1"/>
          <p:nvPr/>
        </p:nvSpPr>
        <p:spPr>
          <a:xfrm>
            <a:off x="10853928" y="1792224"/>
            <a:ext cx="457200" cy="237744"/>
          </a:xfrm>
          <a:prstGeom prst="rect">
            <a:avLst/>
          </a:prstGeom>
          <a:noFill/>
        </p:spPr>
        <p:txBody>
          <a:bodyPr wrap="square" anchor="t"/>
          <a:lstStyle/>
          <a:p>
            <a:pPr algn="r"/>
            <a:r>
              <a:rPr sz="1100" b="1" i="0">
                <a:solidFill>
                  <a:srgbClr val="9A7B3F"/>
                </a:solidFill>
                <a:latin typeface="Calibri"/>
              </a:rPr>
              <a:t>1</a:t>
            </a:r>
          </a:p>
        </p:txBody>
      </p:sp>
      <p:sp>
        <p:nvSpPr>
          <p:cNvPr id="29" name="TextBox 28"/>
          <p:cNvSpPr txBox="1"/>
          <p:nvPr/>
        </p:nvSpPr>
        <p:spPr>
          <a:xfrm>
            <a:off x="6501384" y="2011680"/>
            <a:ext cx="4919472" cy="329184"/>
          </a:xfrm>
          <a:prstGeom prst="rect">
            <a:avLst/>
          </a:prstGeom>
          <a:noFill/>
        </p:spPr>
        <p:txBody>
          <a:bodyPr wrap="square" anchor="t"/>
          <a:lstStyle/>
          <a:p>
            <a:pPr algn="l">
              <a:spcAft>
                <a:spcPts val="0"/>
              </a:spcAft>
            </a:pPr>
            <a:r>
              <a:rPr sz="1000" b="0" i="0">
                <a:solidFill>
                  <a:srgbClr val="5A6B7E"/>
                </a:solidFill>
                <a:latin typeface="Calibri"/>
              </a:rPr>
              <a:t>RMB 20,000 / month   ·   US$2,972</a:t>
            </a:r>
          </a:p>
          <a:p>
            <a:pPr algn="l"/>
            <a:r>
              <a:rPr sz="1000" b="0" i="0">
                <a:solidFill>
                  <a:srgbClr val="5A6B7E"/>
                </a:solidFill>
                <a:latin typeface="Calibri"/>
              </a:rPr>
              <a:t>RMB 240,000 / year    ·   US$35,658</a:t>
            </a:r>
          </a:p>
        </p:txBody>
      </p:sp>
      <p:sp>
        <p:nvSpPr>
          <p:cNvPr id="30" name="TextBox 29"/>
          <p:cNvSpPr txBox="1"/>
          <p:nvPr/>
        </p:nvSpPr>
        <p:spPr>
          <a:xfrm>
            <a:off x="6501384" y="2432304"/>
            <a:ext cx="4279392" cy="237744"/>
          </a:xfrm>
          <a:prstGeom prst="rect">
            <a:avLst/>
          </a:prstGeom>
          <a:noFill/>
        </p:spPr>
        <p:txBody>
          <a:bodyPr wrap="square" anchor="t"/>
          <a:lstStyle/>
          <a:p>
            <a:pPr algn="l"/>
            <a:r>
              <a:rPr sz="1100" b="1" i="0">
                <a:solidFill>
                  <a:srgbClr val="1C2733"/>
                </a:solidFill>
                <a:latin typeface="Calibri"/>
              </a:rPr>
              <a:t>B2B Business Development Specialist</a:t>
            </a:r>
          </a:p>
        </p:txBody>
      </p:sp>
      <p:sp>
        <p:nvSpPr>
          <p:cNvPr id="31" name="TextBox 30"/>
          <p:cNvSpPr txBox="1"/>
          <p:nvPr/>
        </p:nvSpPr>
        <p:spPr>
          <a:xfrm>
            <a:off x="10853928" y="2432304"/>
            <a:ext cx="457200" cy="237744"/>
          </a:xfrm>
          <a:prstGeom prst="rect">
            <a:avLst/>
          </a:prstGeom>
          <a:noFill/>
        </p:spPr>
        <p:txBody>
          <a:bodyPr wrap="square" anchor="t"/>
          <a:lstStyle/>
          <a:p>
            <a:pPr algn="r"/>
            <a:r>
              <a:rPr sz="1100" b="1" i="0">
                <a:solidFill>
                  <a:srgbClr val="9A7B3F"/>
                </a:solidFill>
                <a:latin typeface="Calibri"/>
              </a:rPr>
              <a:t>1</a:t>
            </a:r>
          </a:p>
        </p:txBody>
      </p:sp>
      <p:sp>
        <p:nvSpPr>
          <p:cNvPr id="32" name="TextBox 31"/>
          <p:cNvSpPr txBox="1"/>
          <p:nvPr/>
        </p:nvSpPr>
        <p:spPr>
          <a:xfrm>
            <a:off x="6501384" y="2651760"/>
            <a:ext cx="4919472" cy="329184"/>
          </a:xfrm>
          <a:prstGeom prst="rect">
            <a:avLst/>
          </a:prstGeom>
          <a:noFill/>
        </p:spPr>
        <p:txBody>
          <a:bodyPr wrap="square" anchor="t"/>
          <a:lstStyle/>
          <a:p>
            <a:pPr algn="l">
              <a:spcAft>
                <a:spcPts val="0"/>
              </a:spcAft>
            </a:pPr>
            <a:r>
              <a:rPr sz="1000" b="0" i="0">
                <a:solidFill>
                  <a:srgbClr val="5A6B7E"/>
                </a:solidFill>
                <a:latin typeface="Calibri"/>
              </a:rPr>
              <a:t>RMB 20,000 / month   ·   US$2,972</a:t>
            </a:r>
          </a:p>
          <a:p>
            <a:pPr algn="l"/>
            <a:r>
              <a:rPr sz="1000" b="0" i="0">
                <a:solidFill>
                  <a:srgbClr val="5A6B7E"/>
                </a:solidFill>
                <a:latin typeface="Calibri"/>
              </a:rPr>
              <a:t>RMB 240,000 / year    ·   US$35,658</a:t>
            </a:r>
          </a:p>
        </p:txBody>
      </p:sp>
      <p:sp>
        <p:nvSpPr>
          <p:cNvPr id="33" name="TextBox 32"/>
          <p:cNvSpPr txBox="1"/>
          <p:nvPr/>
        </p:nvSpPr>
        <p:spPr>
          <a:xfrm>
            <a:off x="6501384" y="3127248"/>
            <a:ext cx="4956048" cy="256032"/>
          </a:xfrm>
          <a:prstGeom prst="rect">
            <a:avLst/>
          </a:prstGeom>
          <a:noFill/>
        </p:spPr>
        <p:txBody>
          <a:bodyPr wrap="square" anchor="t"/>
          <a:lstStyle/>
          <a:p>
            <a:pPr algn="l"/>
            <a:r>
              <a:rPr sz="900" b="1" i="0">
                <a:solidFill>
                  <a:srgbClr val="9A7B3F"/>
                </a:solidFill>
                <a:latin typeface="Calibri"/>
              </a:rPr>
              <a:t>U.S.-BASED MARKETING &amp; PROMOTION TEAM</a:t>
            </a:r>
          </a:p>
        </p:txBody>
      </p:sp>
      <p:sp>
        <p:nvSpPr>
          <p:cNvPr id="34" name="TextBox 33"/>
          <p:cNvSpPr txBox="1"/>
          <p:nvPr/>
        </p:nvSpPr>
        <p:spPr>
          <a:xfrm>
            <a:off x="6501384" y="3419856"/>
            <a:ext cx="4279392" cy="237744"/>
          </a:xfrm>
          <a:prstGeom prst="rect">
            <a:avLst/>
          </a:prstGeom>
          <a:noFill/>
        </p:spPr>
        <p:txBody>
          <a:bodyPr wrap="square" anchor="t"/>
          <a:lstStyle/>
          <a:p>
            <a:pPr algn="l"/>
            <a:r>
              <a:rPr sz="1100" b="1" i="0">
                <a:solidFill>
                  <a:srgbClr val="1C2733"/>
                </a:solidFill>
                <a:latin typeface="Calibri"/>
              </a:rPr>
              <a:t>Advertising / Media Buying Specialist</a:t>
            </a:r>
          </a:p>
        </p:txBody>
      </p:sp>
      <p:sp>
        <p:nvSpPr>
          <p:cNvPr id="35" name="TextBox 34"/>
          <p:cNvSpPr txBox="1"/>
          <p:nvPr/>
        </p:nvSpPr>
        <p:spPr>
          <a:xfrm>
            <a:off x="10853928" y="3419856"/>
            <a:ext cx="457200" cy="237744"/>
          </a:xfrm>
          <a:prstGeom prst="rect">
            <a:avLst/>
          </a:prstGeom>
          <a:noFill/>
        </p:spPr>
        <p:txBody>
          <a:bodyPr wrap="square" anchor="t"/>
          <a:lstStyle/>
          <a:p>
            <a:pPr algn="r"/>
            <a:r>
              <a:rPr sz="1100" b="1" i="0">
                <a:solidFill>
                  <a:srgbClr val="9A7B3F"/>
                </a:solidFill>
                <a:latin typeface="Calibri"/>
              </a:rPr>
              <a:t>1</a:t>
            </a:r>
          </a:p>
        </p:txBody>
      </p:sp>
      <p:sp>
        <p:nvSpPr>
          <p:cNvPr id="36" name="TextBox 35"/>
          <p:cNvSpPr txBox="1"/>
          <p:nvPr/>
        </p:nvSpPr>
        <p:spPr>
          <a:xfrm>
            <a:off x="6501384" y="3639312"/>
            <a:ext cx="4919472" cy="329184"/>
          </a:xfrm>
          <a:prstGeom prst="rect">
            <a:avLst/>
          </a:prstGeom>
          <a:noFill/>
        </p:spPr>
        <p:txBody>
          <a:bodyPr wrap="square" anchor="t"/>
          <a:lstStyle/>
          <a:p>
            <a:pPr algn="l">
              <a:spcAft>
                <a:spcPts val="0"/>
              </a:spcAft>
            </a:pPr>
            <a:r>
              <a:rPr sz="1000" b="0" i="0">
                <a:solidFill>
                  <a:srgbClr val="5A6B7E"/>
                </a:solidFill>
                <a:latin typeface="Calibri"/>
              </a:rPr>
              <a:t>RMB 80,000 / month   ·   US$11,886</a:t>
            </a:r>
          </a:p>
          <a:p>
            <a:pPr algn="l"/>
            <a:r>
              <a:rPr sz="1000" b="0" i="0">
                <a:solidFill>
                  <a:srgbClr val="5A6B7E"/>
                </a:solidFill>
                <a:latin typeface="Calibri"/>
              </a:rPr>
              <a:t>RMB 960,000 / year    ·   US$142,634</a:t>
            </a:r>
          </a:p>
        </p:txBody>
      </p:sp>
      <p:sp>
        <p:nvSpPr>
          <p:cNvPr id="37" name="TextBox 36"/>
          <p:cNvSpPr txBox="1"/>
          <p:nvPr/>
        </p:nvSpPr>
        <p:spPr>
          <a:xfrm>
            <a:off x="6501384" y="4059936"/>
            <a:ext cx="4279392" cy="237744"/>
          </a:xfrm>
          <a:prstGeom prst="rect">
            <a:avLst/>
          </a:prstGeom>
          <a:noFill/>
        </p:spPr>
        <p:txBody>
          <a:bodyPr wrap="square" anchor="t"/>
          <a:lstStyle/>
          <a:p>
            <a:pPr algn="l"/>
            <a:r>
              <a:rPr sz="1100" b="1" i="0">
                <a:solidFill>
                  <a:srgbClr val="1C2733"/>
                </a:solidFill>
                <a:latin typeface="Calibri"/>
              </a:rPr>
              <a:t>Field Marketing Representatives</a:t>
            </a:r>
          </a:p>
        </p:txBody>
      </p:sp>
      <p:sp>
        <p:nvSpPr>
          <p:cNvPr id="38" name="TextBox 37"/>
          <p:cNvSpPr txBox="1"/>
          <p:nvPr/>
        </p:nvSpPr>
        <p:spPr>
          <a:xfrm>
            <a:off x="10853928" y="4059936"/>
            <a:ext cx="457200" cy="237744"/>
          </a:xfrm>
          <a:prstGeom prst="rect">
            <a:avLst/>
          </a:prstGeom>
          <a:noFill/>
        </p:spPr>
        <p:txBody>
          <a:bodyPr wrap="square" anchor="t"/>
          <a:lstStyle/>
          <a:p>
            <a:pPr algn="r"/>
            <a:r>
              <a:rPr sz="1100" b="1" i="0">
                <a:solidFill>
                  <a:srgbClr val="9A7B3F"/>
                </a:solidFill>
                <a:latin typeface="Calibri"/>
              </a:rPr>
              <a:t>2</a:t>
            </a:r>
          </a:p>
        </p:txBody>
      </p:sp>
      <p:sp>
        <p:nvSpPr>
          <p:cNvPr id="39" name="TextBox 38"/>
          <p:cNvSpPr txBox="1"/>
          <p:nvPr/>
        </p:nvSpPr>
        <p:spPr>
          <a:xfrm>
            <a:off x="6501384" y="4279392"/>
            <a:ext cx="4919472" cy="329184"/>
          </a:xfrm>
          <a:prstGeom prst="rect">
            <a:avLst/>
          </a:prstGeom>
          <a:noFill/>
        </p:spPr>
        <p:txBody>
          <a:bodyPr wrap="square" anchor="t"/>
          <a:lstStyle/>
          <a:p>
            <a:pPr algn="l">
              <a:spcAft>
                <a:spcPts val="0"/>
              </a:spcAft>
            </a:pPr>
            <a:r>
              <a:rPr sz="1000" b="0" i="0">
                <a:solidFill>
                  <a:srgbClr val="5A6B7E"/>
                </a:solidFill>
                <a:latin typeface="Calibri"/>
              </a:rPr>
              <a:t>RMB 40,000 / month each   ·   US$5,943 each</a:t>
            </a:r>
          </a:p>
          <a:p>
            <a:pPr algn="l"/>
            <a:r>
              <a:rPr sz="1000" b="0" i="0">
                <a:solidFill>
                  <a:srgbClr val="5A6B7E"/>
                </a:solidFill>
                <a:latin typeface="Calibri"/>
              </a:rPr>
              <a:t>RMB 960,000 / year total   ·   US$142,634</a:t>
            </a:r>
          </a:p>
        </p:txBody>
      </p:sp>
      <p:sp>
        <p:nvSpPr>
          <p:cNvPr id="40" name="TextBox 39"/>
          <p:cNvSpPr txBox="1"/>
          <p:nvPr/>
        </p:nvSpPr>
        <p:spPr>
          <a:xfrm>
            <a:off x="6501384" y="4754880"/>
            <a:ext cx="4956048" cy="256032"/>
          </a:xfrm>
          <a:prstGeom prst="rect">
            <a:avLst/>
          </a:prstGeom>
          <a:noFill/>
        </p:spPr>
        <p:txBody>
          <a:bodyPr wrap="square" anchor="t"/>
          <a:lstStyle/>
          <a:p>
            <a:pPr algn="l"/>
            <a:r>
              <a:rPr sz="900" b="1" i="0">
                <a:solidFill>
                  <a:srgbClr val="9A7B3F"/>
                </a:solidFill>
                <a:latin typeface="Calibri"/>
              </a:rPr>
              <a:t>FOUNDING TEAM</a:t>
            </a:r>
          </a:p>
        </p:txBody>
      </p:sp>
      <p:sp>
        <p:nvSpPr>
          <p:cNvPr id="41" name="TextBox 40"/>
          <p:cNvSpPr txBox="1"/>
          <p:nvPr/>
        </p:nvSpPr>
        <p:spPr>
          <a:xfrm>
            <a:off x="6501384" y="5047488"/>
            <a:ext cx="4279392" cy="237744"/>
          </a:xfrm>
          <a:prstGeom prst="rect">
            <a:avLst/>
          </a:prstGeom>
          <a:noFill/>
        </p:spPr>
        <p:txBody>
          <a:bodyPr wrap="square" anchor="t"/>
          <a:lstStyle/>
          <a:p>
            <a:pPr algn="l"/>
            <a:r>
              <a:rPr sz="1100" b="1" i="0">
                <a:solidFill>
                  <a:srgbClr val="1C2733"/>
                </a:solidFill>
                <a:latin typeface="Calibri"/>
              </a:rPr>
              <a:t>Founders — base salary</a:t>
            </a:r>
          </a:p>
        </p:txBody>
      </p:sp>
      <p:sp>
        <p:nvSpPr>
          <p:cNvPr id="42" name="TextBox 41"/>
          <p:cNvSpPr txBox="1"/>
          <p:nvPr/>
        </p:nvSpPr>
        <p:spPr>
          <a:xfrm>
            <a:off x="10853928" y="5047488"/>
            <a:ext cx="457200" cy="237744"/>
          </a:xfrm>
          <a:prstGeom prst="rect">
            <a:avLst/>
          </a:prstGeom>
          <a:noFill/>
        </p:spPr>
        <p:txBody>
          <a:bodyPr wrap="square" anchor="t"/>
          <a:lstStyle/>
          <a:p>
            <a:pPr algn="r"/>
            <a:r>
              <a:rPr sz="1100" b="1" i="0">
                <a:solidFill>
                  <a:srgbClr val="9A7B3F"/>
                </a:solidFill>
                <a:latin typeface="Calibri"/>
              </a:rPr>
              <a:t>4</a:t>
            </a:r>
          </a:p>
        </p:txBody>
      </p:sp>
      <p:sp>
        <p:nvSpPr>
          <p:cNvPr id="43" name="TextBox 42"/>
          <p:cNvSpPr txBox="1"/>
          <p:nvPr/>
        </p:nvSpPr>
        <p:spPr>
          <a:xfrm>
            <a:off x="6501384" y="5266944"/>
            <a:ext cx="4919472" cy="329184"/>
          </a:xfrm>
          <a:prstGeom prst="rect">
            <a:avLst/>
          </a:prstGeom>
          <a:noFill/>
        </p:spPr>
        <p:txBody>
          <a:bodyPr wrap="square" anchor="t"/>
          <a:lstStyle/>
          <a:p>
            <a:pPr algn="l">
              <a:spcAft>
                <a:spcPts val="0"/>
              </a:spcAft>
            </a:pPr>
            <a:r>
              <a:rPr sz="1000" b="0" i="0">
                <a:solidFill>
                  <a:srgbClr val="5A6B7E"/>
                </a:solidFill>
                <a:latin typeface="Calibri"/>
              </a:rPr>
              <a:t>RMB 10,000 / month per person   ·   US$1,486</a:t>
            </a:r>
          </a:p>
          <a:p>
            <a:pPr algn="l"/>
            <a:r>
              <a:rPr sz="1000" b="0" i="0">
                <a:solidFill>
                  <a:srgbClr val="5A6B7E"/>
                </a:solidFill>
                <a:latin typeface="Calibri"/>
              </a:rPr>
              <a:t>RMB 480,000 / year total   ·   US$71,317</a:t>
            </a:r>
          </a:p>
        </p:txBody>
      </p:sp>
      <p:sp>
        <p:nvSpPr>
          <p:cNvPr id="44" name="Rectangle 43"/>
          <p:cNvSpPr/>
          <p:nvPr/>
        </p:nvSpPr>
        <p:spPr>
          <a:xfrm>
            <a:off x="566928" y="5833872"/>
            <a:ext cx="11057839" cy="365760"/>
          </a:xfrm>
          <a:prstGeom prst="rect">
            <a:avLst/>
          </a:prstGeom>
          <a:solidFill>
            <a:srgbClr val="132A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8096" y="5888736"/>
            <a:ext cx="3840480" cy="274320"/>
          </a:xfrm>
          <a:prstGeom prst="rect">
            <a:avLst/>
          </a:prstGeom>
          <a:noFill/>
        </p:spPr>
        <p:txBody>
          <a:bodyPr wrap="square" anchor="ctr"/>
          <a:lstStyle/>
          <a:p>
            <a:pPr algn="l"/>
            <a:r>
              <a:rPr sz="1100" b="1" i="0">
                <a:solidFill>
                  <a:srgbClr val="FFFFFF"/>
                </a:solidFill>
                <a:latin typeface="Calibri"/>
              </a:rPr>
              <a:t>PERSONNEL SUBTOTAL  ·  16 PEOPLE</a:t>
            </a:r>
          </a:p>
        </p:txBody>
      </p:sp>
      <p:sp>
        <p:nvSpPr>
          <p:cNvPr id="46" name="TextBox 45"/>
          <p:cNvSpPr txBox="1"/>
          <p:nvPr/>
        </p:nvSpPr>
        <p:spPr>
          <a:xfrm>
            <a:off x="5852160" y="5888736"/>
            <a:ext cx="5577840" cy="274320"/>
          </a:xfrm>
          <a:prstGeom prst="rect">
            <a:avLst/>
          </a:prstGeom>
          <a:noFill/>
        </p:spPr>
        <p:txBody>
          <a:bodyPr wrap="square" anchor="ctr"/>
          <a:lstStyle/>
          <a:p>
            <a:pPr algn="r"/>
            <a:r>
              <a:rPr sz="1200" b="1" i="0">
                <a:solidFill>
                  <a:srgbClr val="FFFFFF"/>
                </a:solidFill>
                <a:latin typeface="Calibri"/>
              </a:rPr>
              <a:t>RMB 5,100,000     ·     ≈ US$758,100 per year</a:t>
            </a:r>
          </a:p>
        </p:txBody>
      </p:sp>
      <p:sp>
        <p:nvSpPr>
          <p:cNvPr id="47" name="TextBox 46"/>
          <p:cNvSpPr txBox="1"/>
          <p:nvPr/>
        </p:nvSpPr>
        <p:spPr>
          <a:xfrm>
            <a:off x="566928" y="6254496"/>
            <a:ext cx="11057839" cy="201168"/>
          </a:xfrm>
          <a:prstGeom prst="rect">
            <a:avLst/>
          </a:prstGeom>
          <a:noFill/>
        </p:spPr>
        <p:txBody>
          <a:bodyPr wrap="square" anchor="t"/>
          <a:lstStyle/>
          <a:p>
            <a:pPr algn="l"/>
            <a:r>
              <a:rPr sz="800" b="0" i="0">
                <a:solidFill>
                  <a:srgbClr val="5A6B7E"/>
                </a:solidFill>
                <a:latin typeface="Calibri"/>
              </a:rPr>
              <a:t>Additional hires may be added as needed.  USD equivalents at an illustrative rate of RMB 6.73 per US$1.</a:t>
            </a:r>
          </a:p>
        </p:txBody>
      </p:sp>
      <p:sp>
        <p:nvSpPr>
          <p:cNvPr id="48" name="TextBox 47"/>
          <p:cNvSpPr txBox="1"/>
          <p:nvPr/>
        </p:nvSpPr>
        <p:spPr>
          <a:xfrm>
            <a:off x="566928" y="6519672"/>
            <a:ext cx="5029200" cy="228600"/>
          </a:xfrm>
          <a:prstGeom prst="rect">
            <a:avLst/>
          </a:prstGeom>
          <a:noFill/>
        </p:spPr>
        <p:txBody>
          <a:bodyPr wrap="square" anchor="t"/>
          <a:lstStyle/>
          <a:p>
            <a:pPr algn="l"/>
            <a:r>
              <a:rPr sz="750" b="0" i="0">
                <a:solidFill>
                  <a:srgbClr val="5A6B7E"/>
                </a:solidFill>
                <a:latin typeface="Calibri"/>
              </a:rPr>
              <a:t>51CAREERS.AI   ·   CONFIDENTIAL</a:t>
            </a:r>
          </a:p>
        </p:txBody>
      </p:sp>
      <p:sp>
        <p:nvSpPr>
          <p:cNvPr id="49" name="TextBox 48"/>
          <p:cNvSpPr txBox="1"/>
          <p:nvPr/>
        </p:nvSpPr>
        <p:spPr>
          <a:xfrm>
            <a:off x="11292840" y="6519672"/>
            <a:ext cx="329184" cy="228600"/>
          </a:xfrm>
          <a:prstGeom prst="rect">
            <a:avLst/>
          </a:prstGeom>
          <a:noFill/>
        </p:spPr>
        <p:txBody>
          <a:bodyPr wrap="square" anchor="t"/>
          <a:lstStyle/>
          <a:p>
            <a:pPr algn="r"/>
            <a:r>
              <a:rPr sz="800" b="0" i="0">
                <a:solidFill>
                  <a:srgbClr val="5A6B7E"/>
                </a:solidFill>
                <a:latin typeface="Calibri"/>
              </a:rPr>
              <a:t>14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384048"/>
            <a:ext cx="11057839" cy="256032"/>
          </a:xfrm>
          <a:prstGeom prst="rect">
            <a:avLst/>
          </a:prstGeom>
          <a:noFill/>
        </p:spPr>
        <p:txBody>
          <a:bodyPr wrap="square" anchor="t"/>
          <a:lstStyle/>
          <a:p>
            <a:pPr algn="l"/>
            <a:r>
              <a:rPr sz="1000" b="1" i="0">
                <a:solidFill>
                  <a:srgbClr val="9A7B3F"/>
                </a:solidFill>
                <a:latin typeface="Calibri"/>
              </a:rPr>
              <a:t>USE OF FUNDS</a:t>
            </a:r>
          </a:p>
        </p:txBody>
      </p:sp>
      <p:sp>
        <p:nvSpPr>
          <p:cNvPr id="3" name="TextBox 2"/>
          <p:cNvSpPr txBox="1"/>
          <p:nvPr/>
        </p:nvSpPr>
        <p:spPr>
          <a:xfrm>
            <a:off x="566928" y="658368"/>
            <a:ext cx="11057839" cy="457200"/>
          </a:xfrm>
          <a:prstGeom prst="rect">
            <a:avLst/>
          </a:prstGeom>
          <a:noFill/>
        </p:spPr>
        <p:txBody>
          <a:bodyPr wrap="square" anchor="t"/>
          <a:lstStyle/>
          <a:p>
            <a:pPr algn="l"/>
            <a:r>
              <a:rPr sz="2600" b="1" i="0">
                <a:solidFill>
                  <a:srgbClr val="132A4F"/>
                </a:solidFill>
                <a:latin typeface="Century Schoolbook"/>
              </a:rPr>
              <a:t>Advertising Spend, Total Budget &amp; Raise</a:t>
            </a:r>
          </a:p>
        </p:txBody>
      </p:sp>
      <p:sp>
        <p:nvSpPr>
          <p:cNvPr id="4" name="Rectangle 3"/>
          <p:cNvSpPr/>
          <p:nvPr/>
        </p:nvSpPr>
        <p:spPr>
          <a:xfrm>
            <a:off x="566928" y="1261872"/>
            <a:ext cx="3520440" cy="2084831"/>
          </a:xfrm>
          <a:prstGeom prst="rect">
            <a:avLst/>
          </a:prstGeom>
          <a:solidFill>
            <a:srgbClr val="F3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68096" y="1408176"/>
            <a:ext cx="3154680" cy="237744"/>
          </a:xfrm>
          <a:prstGeom prst="rect">
            <a:avLst/>
          </a:prstGeom>
          <a:noFill/>
        </p:spPr>
        <p:txBody>
          <a:bodyPr wrap="square" anchor="t"/>
          <a:lstStyle/>
          <a:p>
            <a:pPr algn="l"/>
            <a:r>
              <a:rPr sz="900" b="1" i="0">
                <a:solidFill>
                  <a:srgbClr val="9A7B3F"/>
                </a:solidFill>
                <a:latin typeface="Calibri"/>
              </a:rPr>
              <a:t>CHINA ADVERTISING</a:t>
            </a:r>
          </a:p>
        </p:txBody>
      </p:sp>
      <p:sp>
        <p:nvSpPr>
          <p:cNvPr id="6" name="TextBox 5"/>
          <p:cNvSpPr txBox="1"/>
          <p:nvPr/>
        </p:nvSpPr>
        <p:spPr>
          <a:xfrm>
            <a:off x="768096" y="1664208"/>
            <a:ext cx="3154680" cy="530352"/>
          </a:xfrm>
          <a:prstGeom prst="rect">
            <a:avLst/>
          </a:prstGeom>
          <a:noFill/>
        </p:spPr>
        <p:txBody>
          <a:bodyPr wrap="square" anchor="t"/>
          <a:lstStyle/>
          <a:p>
            <a:pPr algn="l"/>
            <a:r>
              <a:rPr sz="2800" b="1" i="0">
                <a:solidFill>
                  <a:srgbClr val="132A4F"/>
                </a:solidFill>
                <a:latin typeface="Century Schoolbook"/>
              </a:rPr>
              <a:t>RMB 1.0M</a:t>
            </a:r>
          </a:p>
        </p:txBody>
      </p:sp>
      <p:sp>
        <p:nvSpPr>
          <p:cNvPr id="7" name="TextBox 6"/>
          <p:cNvSpPr txBox="1"/>
          <p:nvPr/>
        </p:nvSpPr>
        <p:spPr>
          <a:xfrm>
            <a:off x="768096" y="2212848"/>
            <a:ext cx="3154680" cy="256032"/>
          </a:xfrm>
          <a:prstGeom prst="rect">
            <a:avLst/>
          </a:prstGeom>
          <a:noFill/>
        </p:spPr>
        <p:txBody>
          <a:bodyPr wrap="square" anchor="t"/>
          <a:lstStyle/>
          <a:p>
            <a:pPr algn="l"/>
            <a:r>
              <a:rPr sz="1200" b="1" i="0">
                <a:solidFill>
                  <a:srgbClr val="1C2733"/>
                </a:solidFill>
                <a:latin typeface="Calibri"/>
              </a:rPr>
              <a:t>≈ US$148,575 per year</a:t>
            </a:r>
          </a:p>
        </p:txBody>
      </p:sp>
      <p:sp>
        <p:nvSpPr>
          <p:cNvPr id="8" name="TextBox 7"/>
          <p:cNvSpPr txBox="1"/>
          <p:nvPr/>
        </p:nvSpPr>
        <p:spPr>
          <a:xfrm>
            <a:off x="768096" y="2505456"/>
            <a:ext cx="3154680" cy="658368"/>
          </a:xfrm>
          <a:prstGeom prst="rect">
            <a:avLst/>
          </a:prstGeom>
          <a:noFill/>
        </p:spPr>
        <p:txBody>
          <a:bodyPr wrap="square" anchor="t"/>
          <a:lstStyle/>
          <a:p>
            <a:pPr algn="l"/>
            <a:r>
              <a:rPr sz="1100" b="0" i="0">
                <a:solidFill>
                  <a:srgbClr val="5A6B7E"/>
                </a:solidFill>
                <a:latin typeface="Calibri"/>
              </a:rPr>
              <a:t>Annual advertising &amp; marketing spend in China.</a:t>
            </a:r>
          </a:p>
        </p:txBody>
      </p:sp>
      <p:sp>
        <p:nvSpPr>
          <p:cNvPr id="9" name="Rectangle 8"/>
          <p:cNvSpPr/>
          <p:nvPr/>
        </p:nvSpPr>
        <p:spPr>
          <a:xfrm>
            <a:off x="4334256" y="1261872"/>
            <a:ext cx="3520440" cy="2084831"/>
          </a:xfrm>
          <a:prstGeom prst="rect">
            <a:avLst/>
          </a:prstGeom>
          <a:solidFill>
            <a:srgbClr val="F3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35424" y="1408176"/>
            <a:ext cx="3154680" cy="237744"/>
          </a:xfrm>
          <a:prstGeom prst="rect">
            <a:avLst/>
          </a:prstGeom>
          <a:noFill/>
        </p:spPr>
        <p:txBody>
          <a:bodyPr wrap="square" anchor="t"/>
          <a:lstStyle/>
          <a:p>
            <a:pPr algn="l"/>
            <a:r>
              <a:rPr sz="900" b="1" i="0">
                <a:solidFill>
                  <a:srgbClr val="9A7B3F"/>
                </a:solidFill>
                <a:latin typeface="Calibri"/>
              </a:rPr>
              <a:t>UNITED STATES ADVERTISING</a:t>
            </a:r>
          </a:p>
        </p:txBody>
      </p:sp>
      <p:sp>
        <p:nvSpPr>
          <p:cNvPr id="11" name="TextBox 10"/>
          <p:cNvSpPr txBox="1"/>
          <p:nvPr/>
        </p:nvSpPr>
        <p:spPr>
          <a:xfrm>
            <a:off x="4535424" y="1664208"/>
            <a:ext cx="3154680" cy="530352"/>
          </a:xfrm>
          <a:prstGeom prst="rect">
            <a:avLst/>
          </a:prstGeom>
          <a:noFill/>
        </p:spPr>
        <p:txBody>
          <a:bodyPr wrap="square" anchor="t"/>
          <a:lstStyle/>
          <a:p>
            <a:pPr algn="l"/>
            <a:r>
              <a:rPr sz="2800" b="1" i="0">
                <a:solidFill>
                  <a:srgbClr val="132A4F"/>
                </a:solidFill>
                <a:latin typeface="Century Schoolbook"/>
              </a:rPr>
              <a:t>RMB 7.0M</a:t>
            </a:r>
          </a:p>
        </p:txBody>
      </p:sp>
      <p:sp>
        <p:nvSpPr>
          <p:cNvPr id="12" name="TextBox 11"/>
          <p:cNvSpPr txBox="1"/>
          <p:nvPr/>
        </p:nvSpPr>
        <p:spPr>
          <a:xfrm>
            <a:off x="4535424" y="2212848"/>
            <a:ext cx="3154680" cy="256032"/>
          </a:xfrm>
          <a:prstGeom prst="rect">
            <a:avLst/>
          </a:prstGeom>
          <a:noFill/>
        </p:spPr>
        <p:txBody>
          <a:bodyPr wrap="square" anchor="t"/>
          <a:lstStyle/>
          <a:p>
            <a:pPr algn="l"/>
            <a:r>
              <a:rPr sz="1200" b="1" i="0">
                <a:solidFill>
                  <a:srgbClr val="1C2733"/>
                </a:solidFill>
                <a:latin typeface="Calibri"/>
              </a:rPr>
              <a:t>≈ US$1,040,025 per year</a:t>
            </a:r>
          </a:p>
        </p:txBody>
      </p:sp>
      <p:sp>
        <p:nvSpPr>
          <p:cNvPr id="13" name="TextBox 12"/>
          <p:cNvSpPr txBox="1"/>
          <p:nvPr/>
        </p:nvSpPr>
        <p:spPr>
          <a:xfrm>
            <a:off x="4535424" y="2505456"/>
            <a:ext cx="3154680" cy="658368"/>
          </a:xfrm>
          <a:prstGeom prst="rect">
            <a:avLst/>
          </a:prstGeom>
          <a:noFill/>
        </p:spPr>
        <p:txBody>
          <a:bodyPr wrap="square" anchor="t"/>
          <a:lstStyle/>
          <a:p>
            <a:pPr algn="l"/>
            <a:r>
              <a:rPr sz="1100" b="0" i="0">
                <a:solidFill>
                  <a:srgbClr val="5A6B7E"/>
                </a:solidFill>
                <a:latin typeface="Calibri"/>
              </a:rPr>
              <a:t>Annual advertising &amp; marketing spend in the United States.</a:t>
            </a:r>
          </a:p>
        </p:txBody>
      </p:sp>
      <p:sp>
        <p:nvSpPr>
          <p:cNvPr id="14" name="Rectangle 13"/>
          <p:cNvSpPr/>
          <p:nvPr/>
        </p:nvSpPr>
        <p:spPr>
          <a:xfrm>
            <a:off x="8101584" y="1261872"/>
            <a:ext cx="3520440" cy="2084831"/>
          </a:xfrm>
          <a:prstGeom prst="rect">
            <a:avLst/>
          </a:prstGeom>
          <a:solidFill>
            <a:srgbClr val="F3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02752" y="1408176"/>
            <a:ext cx="3154680" cy="237744"/>
          </a:xfrm>
          <a:prstGeom prst="rect">
            <a:avLst/>
          </a:prstGeom>
          <a:noFill/>
        </p:spPr>
        <p:txBody>
          <a:bodyPr wrap="square" anchor="t"/>
          <a:lstStyle/>
          <a:p>
            <a:pPr algn="l"/>
            <a:r>
              <a:rPr sz="900" b="1" i="0">
                <a:solidFill>
                  <a:srgbClr val="9A7B3F"/>
                </a:solidFill>
                <a:latin typeface="Calibri"/>
              </a:rPr>
              <a:t>TOTAL ANNUAL BUDGET</a:t>
            </a:r>
          </a:p>
        </p:txBody>
      </p:sp>
      <p:sp>
        <p:nvSpPr>
          <p:cNvPr id="16" name="TextBox 15"/>
          <p:cNvSpPr txBox="1"/>
          <p:nvPr/>
        </p:nvSpPr>
        <p:spPr>
          <a:xfrm>
            <a:off x="8302752" y="1664208"/>
            <a:ext cx="3154680" cy="530352"/>
          </a:xfrm>
          <a:prstGeom prst="rect">
            <a:avLst/>
          </a:prstGeom>
          <a:noFill/>
        </p:spPr>
        <p:txBody>
          <a:bodyPr wrap="square" anchor="t"/>
          <a:lstStyle/>
          <a:p>
            <a:pPr algn="l"/>
            <a:r>
              <a:rPr sz="2800" b="1" i="0">
                <a:solidFill>
                  <a:srgbClr val="132A4F"/>
                </a:solidFill>
                <a:latin typeface="Century Schoolbook"/>
              </a:rPr>
              <a:t>RMB 13.1M</a:t>
            </a:r>
          </a:p>
        </p:txBody>
      </p:sp>
      <p:sp>
        <p:nvSpPr>
          <p:cNvPr id="17" name="TextBox 16"/>
          <p:cNvSpPr txBox="1"/>
          <p:nvPr/>
        </p:nvSpPr>
        <p:spPr>
          <a:xfrm>
            <a:off x="8302752" y="2212848"/>
            <a:ext cx="3154680" cy="256032"/>
          </a:xfrm>
          <a:prstGeom prst="rect">
            <a:avLst/>
          </a:prstGeom>
          <a:noFill/>
        </p:spPr>
        <p:txBody>
          <a:bodyPr wrap="square" anchor="t"/>
          <a:lstStyle/>
          <a:p>
            <a:pPr algn="l"/>
            <a:r>
              <a:rPr sz="1200" b="1" i="0">
                <a:solidFill>
                  <a:srgbClr val="1C2733"/>
                </a:solidFill>
                <a:latin typeface="Calibri"/>
              </a:rPr>
              <a:t>≈ US$1,946,333</a:t>
            </a:r>
          </a:p>
        </p:txBody>
      </p:sp>
      <p:sp>
        <p:nvSpPr>
          <p:cNvPr id="18" name="TextBox 17"/>
          <p:cNvSpPr txBox="1"/>
          <p:nvPr/>
        </p:nvSpPr>
        <p:spPr>
          <a:xfrm>
            <a:off x="8302752" y="2505456"/>
            <a:ext cx="3154680" cy="658368"/>
          </a:xfrm>
          <a:prstGeom prst="rect">
            <a:avLst/>
          </a:prstGeom>
          <a:noFill/>
        </p:spPr>
        <p:txBody>
          <a:bodyPr wrap="square" anchor="t"/>
          <a:lstStyle/>
          <a:p>
            <a:pPr algn="l"/>
            <a:r>
              <a:rPr sz="1100" b="0" i="0">
                <a:solidFill>
                  <a:srgbClr val="5A6B7E"/>
                </a:solidFill>
                <a:latin typeface="Calibri"/>
              </a:rPr>
              <a:t>Personnel plus advertising — the operating plan this round funds.</a:t>
            </a:r>
          </a:p>
        </p:txBody>
      </p:sp>
      <p:sp>
        <p:nvSpPr>
          <p:cNvPr id="19" name="Rectangle 18"/>
          <p:cNvSpPr/>
          <p:nvPr/>
        </p:nvSpPr>
        <p:spPr>
          <a:xfrm>
            <a:off x="566928" y="3511296"/>
            <a:ext cx="5532120" cy="2743200"/>
          </a:xfrm>
          <a:prstGeom prst="rect">
            <a:avLst/>
          </a:prstGeom>
          <a:solidFill>
            <a:srgbClr val="F3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3675888"/>
            <a:ext cx="5074920" cy="237744"/>
          </a:xfrm>
          <a:prstGeom prst="rect">
            <a:avLst/>
          </a:prstGeom>
          <a:noFill/>
        </p:spPr>
        <p:txBody>
          <a:bodyPr wrap="square" anchor="t"/>
          <a:lstStyle/>
          <a:p>
            <a:pPr algn="l"/>
            <a:r>
              <a:rPr sz="900" b="1" i="0">
                <a:solidFill>
                  <a:srgbClr val="9A7B3F"/>
                </a:solidFill>
                <a:latin typeface="Calibri"/>
              </a:rPr>
              <a:t>FUNDRAISING TARGET</a:t>
            </a:r>
          </a:p>
        </p:txBody>
      </p:sp>
      <p:sp>
        <p:nvSpPr>
          <p:cNvPr id="21" name="TextBox 20"/>
          <p:cNvSpPr txBox="1"/>
          <p:nvPr/>
        </p:nvSpPr>
        <p:spPr>
          <a:xfrm>
            <a:off x="822960" y="3950208"/>
            <a:ext cx="5074920" cy="530352"/>
          </a:xfrm>
          <a:prstGeom prst="rect">
            <a:avLst/>
          </a:prstGeom>
          <a:noFill/>
        </p:spPr>
        <p:txBody>
          <a:bodyPr wrap="square" anchor="t"/>
          <a:lstStyle/>
          <a:p>
            <a:pPr algn="l"/>
            <a:r>
              <a:rPr sz="2800" b="1" i="0">
                <a:solidFill>
                  <a:srgbClr val="132A4F"/>
                </a:solidFill>
                <a:latin typeface="Century Schoolbook"/>
              </a:rPr>
              <a:t>RMB 20,000,000</a:t>
            </a:r>
          </a:p>
        </p:txBody>
      </p:sp>
      <p:sp>
        <p:nvSpPr>
          <p:cNvPr id="22" name="TextBox 21"/>
          <p:cNvSpPr txBox="1"/>
          <p:nvPr/>
        </p:nvSpPr>
        <p:spPr>
          <a:xfrm>
            <a:off x="822960" y="4517136"/>
            <a:ext cx="5074920" cy="292608"/>
          </a:xfrm>
          <a:prstGeom prst="rect">
            <a:avLst/>
          </a:prstGeom>
          <a:noFill/>
        </p:spPr>
        <p:txBody>
          <a:bodyPr wrap="square" anchor="t"/>
          <a:lstStyle/>
          <a:p>
            <a:pPr algn="l"/>
            <a:r>
              <a:rPr sz="1600" b="1" i="0">
                <a:solidFill>
                  <a:srgbClr val="1C2733"/>
                </a:solidFill>
                <a:latin typeface="Calibri"/>
              </a:rPr>
              <a:t>≈ US$2,971,500</a:t>
            </a:r>
          </a:p>
        </p:txBody>
      </p:sp>
      <p:sp>
        <p:nvSpPr>
          <p:cNvPr id="23" name="TextBox 22"/>
          <p:cNvSpPr txBox="1"/>
          <p:nvPr/>
        </p:nvSpPr>
        <p:spPr>
          <a:xfrm>
            <a:off x="822960" y="4864608"/>
            <a:ext cx="5074920" cy="1188720"/>
          </a:xfrm>
          <a:prstGeom prst="rect">
            <a:avLst/>
          </a:prstGeom>
          <a:noFill/>
        </p:spPr>
        <p:txBody>
          <a:bodyPr wrap="square" anchor="t"/>
          <a:lstStyle/>
          <a:p>
            <a:pPr algn="l">
              <a:spcAft>
                <a:spcPts val="800"/>
              </a:spcAft>
            </a:pPr>
            <a:r>
              <a:rPr sz="1200" b="0" i="0">
                <a:solidFill>
                  <a:srgbClr val="5A6B7E"/>
                </a:solidFill>
                <a:latin typeface="Calibri"/>
              </a:rPr>
              <a:t>10% of a RMB 200,000,000 pre-money valuation (≈ US$29.7 million).</a:t>
            </a:r>
          </a:p>
          <a:p>
            <a:pPr algn="l"/>
            <a:r>
              <a:rPr sz="1200" b="0" i="0">
                <a:solidFill>
                  <a:srgbClr val="5A6B7E"/>
                </a:solidFill>
                <a:latin typeface="Calibri"/>
              </a:rPr>
              <a:t>The target fundraising amount can be raised in two stages. Preferred equity; indicative close 2H 2026.</a:t>
            </a:r>
          </a:p>
        </p:txBody>
      </p:sp>
      <p:sp>
        <p:nvSpPr>
          <p:cNvPr id="24" name="Rectangle 23"/>
          <p:cNvSpPr/>
          <p:nvPr/>
        </p:nvSpPr>
        <p:spPr>
          <a:xfrm>
            <a:off x="6300216" y="3511296"/>
            <a:ext cx="5321808" cy="2743200"/>
          </a:xfrm>
          <a:prstGeom prst="rect">
            <a:avLst/>
          </a:prstGeom>
          <a:solidFill>
            <a:srgbClr val="F3F6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56248" y="3675888"/>
            <a:ext cx="4864608" cy="237744"/>
          </a:xfrm>
          <a:prstGeom prst="rect">
            <a:avLst/>
          </a:prstGeom>
          <a:noFill/>
        </p:spPr>
        <p:txBody>
          <a:bodyPr wrap="square" anchor="t"/>
          <a:lstStyle/>
          <a:p>
            <a:pPr algn="l"/>
            <a:r>
              <a:rPr sz="900" b="1" i="0">
                <a:solidFill>
                  <a:srgbClr val="9A7B3F"/>
                </a:solidFill>
                <a:latin typeface="Calibri"/>
              </a:rPr>
              <a:t>ALLOCATION OF THE RMB 20 MILLION RAISE</a:t>
            </a:r>
          </a:p>
        </p:txBody>
      </p:sp>
      <p:sp>
        <p:nvSpPr>
          <p:cNvPr id="26" name="TextBox 25"/>
          <p:cNvSpPr txBox="1"/>
          <p:nvPr/>
        </p:nvSpPr>
        <p:spPr>
          <a:xfrm>
            <a:off x="6556248" y="4023360"/>
            <a:ext cx="2697480" cy="237744"/>
          </a:xfrm>
          <a:prstGeom prst="rect">
            <a:avLst/>
          </a:prstGeom>
          <a:noFill/>
        </p:spPr>
        <p:txBody>
          <a:bodyPr wrap="square" anchor="t"/>
          <a:lstStyle/>
          <a:p>
            <a:pPr algn="l"/>
            <a:r>
              <a:rPr sz="1200" b="1" i="0">
                <a:solidFill>
                  <a:srgbClr val="1C2733"/>
                </a:solidFill>
                <a:latin typeface="Calibri"/>
              </a:rPr>
              <a:t>Advertising &amp; marketing</a:t>
            </a:r>
          </a:p>
        </p:txBody>
      </p:sp>
      <p:sp>
        <p:nvSpPr>
          <p:cNvPr id="27" name="TextBox 26"/>
          <p:cNvSpPr txBox="1"/>
          <p:nvPr/>
        </p:nvSpPr>
        <p:spPr>
          <a:xfrm>
            <a:off x="9317736" y="4023360"/>
            <a:ext cx="2011680" cy="237744"/>
          </a:xfrm>
          <a:prstGeom prst="rect">
            <a:avLst/>
          </a:prstGeom>
          <a:noFill/>
        </p:spPr>
        <p:txBody>
          <a:bodyPr wrap="square" anchor="t"/>
          <a:lstStyle/>
          <a:p>
            <a:pPr algn="r"/>
            <a:r>
              <a:rPr sz="1200" b="1" i="0">
                <a:solidFill>
                  <a:srgbClr val="132A4F"/>
                </a:solidFill>
                <a:latin typeface="Calibri"/>
              </a:rPr>
              <a:t>RMB 8.0M   40%</a:t>
            </a:r>
          </a:p>
        </p:txBody>
      </p:sp>
      <p:sp>
        <p:nvSpPr>
          <p:cNvPr id="28" name="TextBox 27"/>
          <p:cNvSpPr txBox="1"/>
          <p:nvPr/>
        </p:nvSpPr>
        <p:spPr>
          <a:xfrm>
            <a:off x="6556248" y="4261104"/>
            <a:ext cx="4864608" cy="219456"/>
          </a:xfrm>
          <a:prstGeom prst="rect">
            <a:avLst/>
          </a:prstGeom>
          <a:noFill/>
        </p:spPr>
        <p:txBody>
          <a:bodyPr wrap="square" anchor="t"/>
          <a:lstStyle/>
          <a:p>
            <a:pPr algn="l"/>
            <a:r>
              <a:rPr sz="1100" b="0" i="0">
                <a:solidFill>
                  <a:srgbClr val="5A6B7E"/>
                </a:solidFill>
                <a:latin typeface="Calibri"/>
              </a:rPr>
              <a:t>≈ US$1,188,600</a:t>
            </a:r>
          </a:p>
        </p:txBody>
      </p:sp>
      <p:sp>
        <p:nvSpPr>
          <p:cNvPr id="29" name="TextBox 28"/>
          <p:cNvSpPr txBox="1"/>
          <p:nvPr/>
        </p:nvSpPr>
        <p:spPr>
          <a:xfrm>
            <a:off x="6556248" y="4718304"/>
            <a:ext cx="2697480" cy="237744"/>
          </a:xfrm>
          <a:prstGeom prst="rect">
            <a:avLst/>
          </a:prstGeom>
          <a:noFill/>
        </p:spPr>
        <p:txBody>
          <a:bodyPr wrap="square" anchor="t"/>
          <a:lstStyle/>
          <a:p>
            <a:pPr algn="l"/>
            <a:r>
              <a:rPr sz="1200" b="1" i="0">
                <a:solidFill>
                  <a:srgbClr val="1C2733"/>
                </a:solidFill>
                <a:latin typeface="Calibri"/>
              </a:rPr>
              <a:t>Talent &amp; personnel</a:t>
            </a:r>
          </a:p>
        </p:txBody>
      </p:sp>
      <p:sp>
        <p:nvSpPr>
          <p:cNvPr id="30" name="TextBox 29"/>
          <p:cNvSpPr txBox="1"/>
          <p:nvPr/>
        </p:nvSpPr>
        <p:spPr>
          <a:xfrm>
            <a:off x="9317736" y="4718304"/>
            <a:ext cx="2011680" cy="237744"/>
          </a:xfrm>
          <a:prstGeom prst="rect">
            <a:avLst/>
          </a:prstGeom>
          <a:noFill/>
        </p:spPr>
        <p:txBody>
          <a:bodyPr wrap="square" anchor="t"/>
          <a:lstStyle/>
          <a:p>
            <a:pPr algn="r"/>
            <a:r>
              <a:rPr sz="1200" b="1" i="0">
                <a:solidFill>
                  <a:srgbClr val="132A4F"/>
                </a:solidFill>
                <a:latin typeface="Calibri"/>
              </a:rPr>
              <a:t>RMB 5.1M   25.5%</a:t>
            </a:r>
          </a:p>
        </p:txBody>
      </p:sp>
      <p:sp>
        <p:nvSpPr>
          <p:cNvPr id="31" name="TextBox 30"/>
          <p:cNvSpPr txBox="1"/>
          <p:nvPr/>
        </p:nvSpPr>
        <p:spPr>
          <a:xfrm>
            <a:off x="6556248" y="4956048"/>
            <a:ext cx="4864608" cy="219456"/>
          </a:xfrm>
          <a:prstGeom prst="rect">
            <a:avLst/>
          </a:prstGeom>
          <a:noFill/>
        </p:spPr>
        <p:txBody>
          <a:bodyPr wrap="square" anchor="t"/>
          <a:lstStyle/>
          <a:p>
            <a:pPr algn="l"/>
            <a:r>
              <a:rPr sz="1100" b="0" i="0">
                <a:solidFill>
                  <a:srgbClr val="5A6B7E"/>
                </a:solidFill>
                <a:latin typeface="Calibri"/>
              </a:rPr>
              <a:t>≈ US$758,100</a:t>
            </a:r>
          </a:p>
        </p:txBody>
      </p:sp>
      <p:sp>
        <p:nvSpPr>
          <p:cNvPr id="32" name="TextBox 31"/>
          <p:cNvSpPr txBox="1"/>
          <p:nvPr/>
        </p:nvSpPr>
        <p:spPr>
          <a:xfrm>
            <a:off x="6556248" y="5413248"/>
            <a:ext cx="2697480" cy="237744"/>
          </a:xfrm>
          <a:prstGeom prst="rect">
            <a:avLst/>
          </a:prstGeom>
          <a:noFill/>
        </p:spPr>
        <p:txBody>
          <a:bodyPr wrap="square" anchor="t"/>
          <a:lstStyle/>
          <a:p>
            <a:pPr algn="l"/>
            <a:r>
              <a:rPr sz="1200" b="1" i="0">
                <a:solidFill>
                  <a:srgbClr val="1C2733"/>
                </a:solidFill>
                <a:latin typeface="Calibri"/>
              </a:rPr>
              <a:t>Product, expansion &amp; reserves</a:t>
            </a:r>
          </a:p>
        </p:txBody>
      </p:sp>
      <p:sp>
        <p:nvSpPr>
          <p:cNvPr id="33" name="TextBox 32"/>
          <p:cNvSpPr txBox="1"/>
          <p:nvPr/>
        </p:nvSpPr>
        <p:spPr>
          <a:xfrm>
            <a:off x="9317736" y="5413248"/>
            <a:ext cx="2011680" cy="237744"/>
          </a:xfrm>
          <a:prstGeom prst="rect">
            <a:avLst/>
          </a:prstGeom>
          <a:noFill/>
        </p:spPr>
        <p:txBody>
          <a:bodyPr wrap="square" anchor="t"/>
          <a:lstStyle/>
          <a:p>
            <a:pPr algn="r"/>
            <a:r>
              <a:rPr sz="1200" b="1" i="0">
                <a:solidFill>
                  <a:srgbClr val="132A4F"/>
                </a:solidFill>
                <a:latin typeface="Calibri"/>
              </a:rPr>
              <a:t>RMB 6.9M   34.5%</a:t>
            </a:r>
          </a:p>
        </p:txBody>
      </p:sp>
      <p:sp>
        <p:nvSpPr>
          <p:cNvPr id="34" name="TextBox 33"/>
          <p:cNvSpPr txBox="1"/>
          <p:nvPr/>
        </p:nvSpPr>
        <p:spPr>
          <a:xfrm>
            <a:off x="6556248" y="5650992"/>
            <a:ext cx="4864608" cy="219456"/>
          </a:xfrm>
          <a:prstGeom prst="rect">
            <a:avLst/>
          </a:prstGeom>
          <a:noFill/>
        </p:spPr>
        <p:txBody>
          <a:bodyPr wrap="square" anchor="t"/>
          <a:lstStyle/>
          <a:p>
            <a:pPr algn="l"/>
            <a:r>
              <a:rPr sz="1100" b="0" i="0">
                <a:solidFill>
                  <a:srgbClr val="5A6B7E"/>
                </a:solidFill>
                <a:latin typeface="Calibri"/>
              </a:rPr>
              <a:t>≈ US$1,025,167</a:t>
            </a:r>
          </a:p>
        </p:txBody>
      </p:sp>
      <p:sp>
        <p:nvSpPr>
          <p:cNvPr id="35" name="TextBox 34"/>
          <p:cNvSpPr txBox="1"/>
          <p:nvPr/>
        </p:nvSpPr>
        <p:spPr>
          <a:xfrm>
            <a:off x="566928" y="6309360"/>
            <a:ext cx="11057839" cy="182880"/>
          </a:xfrm>
          <a:prstGeom prst="rect">
            <a:avLst/>
          </a:prstGeom>
          <a:noFill/>
        </p:spPr>
        <p:txBody>
          <a:bodyPr wrap="square" anchor="t"/>
          <a:lstStyle/>
          <a:p>
            <a:pPr algn="l"/>
            <a:r>
              <a:rPr sz="800" b="0" i="0">
                <a:solidFill>
                  <a:srgbClr val="5A6B7E"/>
                </a:solidFill>
                <a:latin typeface="Calibri"/>
              </a:rPr>
              <a:t>USD equivalents at an illustrative rate of RMB 6.73 per US$1.</a:t>
            </a:r>
          </a:p>
        </p:txBody>
      </p:sp>
      <p:sp>
        <p:nvSpPr>
          <p:cNvPr id="36" name="TextBox 35"/>
          <p:cNvSpPr txBox="1"/>
          <p:nvPr/>
        </p:nvSpPr>
        <p:spPr>
          <a:xfrm>
            <a:off x="566928" y="6519672"/>
            <a:ext cx="5029200" cy="228600"/>
          </a:xfrm>
          <a:prstGeom prst="rect">
            <a:avLst/>
          </a:prstGeom>
          <a:noFill/>
        </p:spPr>
        <p:txBody>
          <a:bodyPr wrap="square" anchor="t"/>
          <a:lstStyle/>
          <a:p>
            <a:pPr algn="l"/>
            <a:r>
              <a:rPr sz="750" b="0" i="0">
                <a:solidFill>
                  <a:srgbClr val="5A6B7E"/>
                </a:solidFill>
                <a:latin typeface="Calibri"/>
              </a:rPr>
              <a:t>51CAREERS.AI   ·   CONFIDENTIAL</a:t>
            </a:r>
          </a:p>
        </p:txBody>
      </p:sp>
      <p:sp>
        <p:nvSpPr>
          <p:cNvPr id="37" name="TextBox 36"/>
          <p:cNvSpPr txBox="1"/>
          <p:nvPr/>
        </p:nvSpPr>
        <p:spPr>
          <a:xfrm>
            <a:off x="11292840" y="6519672"/>
            <a:ext cx="329184" cy="228600"/>
          </a:xfrm>
          <a:prstGeom prst="rect">
            <a:avLst/>
          </a:prstGeom>
          <a:noFill/>
        </p:spPr>
        <p:txBody>
          <a:bodyPr wrap="square" anchor="t"/>
          <a:lstStyle/>
          <a:p>
            <a:pPr algn="r"/>
            <a:r>
              <a:rPr sz="800" b="0" i="0">
                <a:solidFill>
                  <a:srgbClr val="5A6B7E"/>
                </a:solidFill>
                <a:latin typeface="Calibr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51Careers.AI — Investor Presentation</dc:title>
  <dc:subject>PptxGenJS Presentation</dc:subject>
  <dc:creator>51Careers.AI</dc:creator>
  <cp:lastModifiedBy>51Careers.AI</cp:lastModifiedBy>
  <cp:revision>1</cp:revision>
  <dcterms:created xsi:type="dcterms:W3CDTF">2026-07-27T18:37:39Z</dcterms:created>
  <dcterms:modified xsi:type="dcterms:W3CDTF">2026-07-27T18:37:39Z</dcterms:modified>
</cp:coreProperties>
</file>